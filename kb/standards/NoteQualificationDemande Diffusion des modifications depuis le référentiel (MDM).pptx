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4" r:id="rId6"/>
  </p:sldMasterIdLst>
  <p:notesMasterIdLst>
    <p:notesMasterId r:id="rId19"/>
  </p:notesMasterIdLst>
  <p:handoutMasterIdLst>
    <p:handoutMasterId r:id="rId20"/>
  </p:handoutMasterIdLst>
  <p:sldIdLst>
    <p:sldId id="325" r:id="rId7"/>
    <p:sldId id="422" r:id="rId8"/>
    <p:sldId id="424" r:id="rId9"/>
    <p:sldId id="423" r:id="rId10"/>
    <p:sldId id="427" r:id="rId11"/>
    <p:sldId id="428" r:id="rId12"/>
    <p:sldId id="425" r:id="rId13"/>
    <p:sldId id="429" r:id="rId14"/>
    <p:sldId id="405" r:id="rId15"/>
    <p:sldId id="419" r:id="rId16"/>
    <p:sldId id="394" r:id="rId17"/>
    <p:sldId id="426" r:id="rId18"/>
  </p:sldIdLst>
  <p:sldSz cx="12192000" cy="6858000"/>
  <p:notesSz cx="6858000" cy="9144000"/>
  <p:embeddedFontLst>
    <p:embeddedFont>
      <p:font typeface="Avenir Next LT Pro" panose="020B0504020202020204" pitchFamily="34" charset="0"/>
      <p:regular r:id="rId21"/>
      <p:bold r:id="rId22"/>
      <p:italic r:id="rId23"/>
      <p:boldItalic r:id="rId24"/>
    </p:embeddedFont>
    <p:embeddedFont>
      <p:font typeface="Laetijoy 1" panose="020B0604020202020204" charset="0"/>
      <p:regular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BERON-VALENTI, Brigitte" initials="BB" lastIdx="54" clrIdx="0">
    <p:extLst>
      <p:ext uri="{19B8F6BF-5375-455C-9EA6-DF929625EA0E}">
        <p15:presenceInfo xmlns:p15="http://schemas.microsoft.com/office/powerpoint/2012/main" userId="S::b.biberon-valenti@bouygues-construction.com::eea9d74a-6827-43e7-8dae-ad820b4420b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A28"/>
    <a:srgbClr val="CCCCCC"/>
    <a:srgbClr val="FFDB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32" Type="http://schemas.openxmlformats.org/officeDocument/2006/relationships/viewProps" Target="viewProps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font" Target="fonts/font4.fntdata"/><Relationship Id="rId28" Type="http://schemas.openxmlformats.org/officeDocument/2006/relationships/font" Target="fonts/font8.fntdata"/><Relationship Id="rId15" Type="http://schemas.openxmlformats.org/officeDocument/2006/relationships/slide" Target="slides/slide9.xml"/><Relationship Id="rId23" Type="http://schemas.openxmlformats.org/officeDocument/2006/relationships/font" Target="fonts/font3.fntdata"/><Relationship Id="rId36" Type="http://schemas.openxmlformats.org/officeDocument/2006/relationships/customXml" Target="../customXml/item7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commentAuthors" Target="commentAuthors.xml"/><Relationship Id="rId35" Type="http://schemas.openxmlformats.org/officeDocument/2006/relationships/customXml" Target="../customXml/item6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4CA46F8-94E0-0F6B-E287-CE0E680B85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903B3F6-33FC-8CFD-205A-0FD4F07AD4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4CF99-4D5E-44C0-92CB-2654BFFCE5B0}" type="datetimeFigureOut">
              <a:rPr lang="fr-FR" smtClean="0"/>
              <a:t>24/07/2024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C6F004-9B43-AD13-3EDE-70DF785E52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B Biberon-Valenti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8D6A39-5BEA-109B-AC91-EB2FE30514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95207-3BB9-4207-8D94-9D61C6D5D8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5342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2373D-CE9B-441E-91F2-DB7390C4A646}" type="datetimeFigureOut">
              <a:rPr lang="fr-FR" smtClean="0"/>
              <a:t>24/07/2024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B Biberon-Valenti 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E9EB8-660F-45CA-BB8B-8F6DBBA2DF5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9309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B Biberon-Valenti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735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B Biberon-Valenti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825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B Biberon-Valenti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8569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B Biberon-Valenti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254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la présentation">
    <p:bg>
      <p:bgPr>
        <a:blipFill dpi="0" rotWithShape="1">
          <a:blip r:embed="rId2">
            <a:lum/>
          </a:blip>
          <a:srcRect/>
          <a:stretch>
            <a:fillRect l="-20000" t="-9000" r="20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que 12">
            <a:extLst>
              <a:ext uri="{FF2B5EF4-FFF2-40B4-BE49-F238E27FC236}">
                <a16:creationId xmlns:a16="http://schemas.microsoft.com/office/drawing/2014/main" id="{E003C40C-4420-D9F5-FE78-869CB8A459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51760" y="0"/>
            <a:ext cx="954024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F6855FC-1404-9994-3FF3-777083097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1205" y="2584153"/>
            <a:ext cx="5572195" cy="1477328"/>
          </a:xfrm>
        </p:spPr>
        <p:txBody>
          <a:bodyPr anchor="b" anchorCtr="0">
            <a:spAutoFit/>
          </a:bodyPr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3E54CBA-FFFF-C031-4649-F0FBFE9022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91204" y="4120914"/>
            <a:ext cx="5572195" cy="563231"/>
          </a:xfrm>
        </p:spPr>
        <p:txBody>
          <a:bodyPr>
            <a:spAutoFit/>
          </a:bodyPr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A3200E19-0A90-3D3A-479F-C707C4BD87C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2341" y="5846171"/>
            <a:ext cx="1799872" cy="39293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BC2FA4FA-1637-95B0-0117-136CC2464AE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6830" y="574073"/>
            <a:ext cx="1655724" cy="848054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445B4F-E38C-4B63-9A90-587654C7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68273" y="5919525"/>
            <a:ext cx="2008008" cy="246221"/>
          </a:xfrm>
          <a:prstGeom prst="rect">
            <a:avLst/>
          </a:prstGeom>
        </p:spPr>
        <p:txBody>
          <a:bodyPr tIns="0" bIns="0"/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24/07/2023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31D3CBFF-56C3-8F60-D8DA-23D8271A9B1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98696" y="574073"/>
            <a:ext cx="1656000" cy="1086285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Votre logo</a:t>
            </a:r>
          </a:p>
        </p:txBody>
      </p:sp>
    </p:spTree>
    <p:extLst>
      <p:ext uri="{BB962C8B-B14F-4D97-AF65-F5344CB8AC3E}">
        <p14:creationId xmlns:p14="http://schemas.microsoft.com/office/powerpoint/2010/main" val="329511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raphique 25">
            <a:extLst>
              <a:ext uri="{FF2B5EF4-FFF2-40B4-BE49-F238E27FC236}">
                <a16:creationId xmlns:a16="http://schemas.microsoft.com/office/drawing/2014/main" id="{5439DF37-BE75-E13A-0A12-48C57A8F0805}"/>
              </a:ext>
            </a:extLst>
          </p:cNvPr>
          <p:cNvSpPr/>
          <p:nvPr userDrawn="1"/>
        </p:nvSpPr>
        <p:spPr>
          <a:xfrm>
            <a:off x="8431067" y="-43405"/>
            <a:ext cx="3760933" cy="6944810"/>
          </a:xfrm>
          <a:custGeom>
            <a:avLst/>
            <a:gdLst>
              <a:gd name="connsiteX0" fmla="*/ 238125 w 3127343"/>
              <a:gd name="connsiteY0" fmla="*/ 0 h 5143500"/>
              <a:gd name="connsiteX1" fmla="*/ 0 w 3127343"/>
              <a:gd name="connsiteY1" fmla="*/ 2618518 h 5143500"/>
              <a:gd name="connsiteX2" fmla="*/ 238125 w 3127343"/>
              <a:gd name="connsiteY2" fmla="*/ 5143500 h 5143500"/>
              <a:gd name="connsiteX3" fmla="*/ 3127343 w 3127343"/>
              <a:gd name="connsiteY3" fmla="*/ 5143500 h 5143500"/>
              <a:gd name="connsiteX4" fmla="*/ 3127343 w 3127343"/>
              <a:gd name="connsiteY4" fmla="*/ 0 h 5143500"/>
              <a:gd name="connsiteX5" fmla="*/ 238125 w 3127343"/>
              <a:gd name="connsiteY5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7343" h="5143500">
                <a:moveTo>
                  <a:pt x="238125" y="0"/>
                </a:moveTo>
                <a:cubicBezTo>
                  <a:pt x="238125" y="0"/>
                  <a:pt x="0" y="1208818"/>
                  <a:pt x="0" y="2618518"/>
                </a:cubicBezTo>
                <a:cubicBezTo>
                  <a:pt x="0" y="4028218"/>
                  <a:pt x="238125" y="5143500"/>
                  <a:pt x="238125" y="5143500"/>
                </a:cubicBezTo>
                <a:lnTo>
                  <a:pt x="3127343" y="5143500"/>
                </a:lnTo>
                <a:lnTo>
                  <a:pt x="3127343" y="0"/>
                </a:lnTo>
                <a:lnTo>
                  <a:pt x="238125" y="0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E8497F2-810E-6B5A-97F2-F8F6C32D6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862061"/>
            <a:ext cx="7673682" cy="590931"/>
          </a:xfrm>
        </p:spPr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9" name="Espace réservé du texte 48">
            <a:extLst>
              <a:ext uri="{FF2B5EF4-FFF2-40B4-BE49-F238E27FC236}">
                <a16:creationId xmlns:a16="http://schemas.microsoft.com/office/drawing/2014/main" id="{93F8D3D5-7E69-0368-57E7-2B0778C8E0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8163" y="2124075"/>
            <a:ext cx="7673682" cy="41148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0DC1C31A-6435-7CC6-2E99-64C8EB55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24/07/2023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9D00371F-BA40-0DEA-8CFE-D0EE76BB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 Biberon-Valenti BOUYGUES CONSTRUCTION | </a:t>
            </a:r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102AC8B8-B450-08AF-8618-F73A15C45071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91A37899-EDCB-0155-D061-69C0C052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69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982B8E-19E0-88C1-51B4-FF0E2F397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33663BA0-DDDD-9236-BDED-9F1950AFBDF5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6DE86FCF-AA4D-7351-22A3-89182C84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24/07/2023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3C4D3CD9-77C7-E480-FE92-337DAF7F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 Biberon-Valenti BOUYGUES CONSTRUCTION | </a:t>
            </a:r>
          </a:p>
        </p:txBody>
      </p:sp>
      <p:sp>
        <p:nvSpPr>
          <p:cNvPr id="12" name="Espace réservé du numéro de diapositive 4">
            <a:extLst>
              <a:ext uri="{FF2B5EF4-FFF2-40B4-BE49-F238E27FC236}">
                <a16:creationId xmlns:a16="http://schemas.microsoft.com/office/drawing/2014/main" id="{F69A84FF-9530-9038-A1B0-F19F4778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40C276D-D460-A398-B304-EE6B1B0F237A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4" name="Forme libre 11">
              <a:extLst>
                <a:ext uri="{FF2B5EF4-FFF2-40B4-BE49-F238E27FC236}">
                  <a16:creationId xmlns:a16="http://schemas.microsoft.com/office/drawing/2014/main" id="{8BACE2B5-A27B-AB0A-CE25-783E9EF8B43D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5" name="Forme libre 12">
              <a:extLst>
                <a:ext uri="{FF2B5EF4-FFF2-40B4-BE49-F238E27FC236}">
                  <a16:creationId xmlns:a16="http://schemas.microsoft.com/office/drawing/2014/main" id="{7E9422F8-98C1-C9C1-7A2D-D24B4C43607B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CE5DF485-3F77-8130-C972-1AF1104D64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89984247-9725-92BF-1C3D-B33A296114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770571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0C9F5D-CE34-A01E-7DE3-327B3D9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934172D6-6481-00C7-6BCE-45A6EF32D1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665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96DEB718-B1A0-5075-B5E8-8044BCC7AE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65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E1277626-7B66-B3BE-AB57-F7192B3F25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81337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FAE8A845-1607-8E8D-70A2-79A344C491C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81337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4B00D130-28AC-F4E8-E698-1A61042E5D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34009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489AFAF3-512B-07BC-6B5C-F1B0C39179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34009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4F379713-8488-1672-7CA3-F2E5761BA38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21F0BE90-3B1F-09AC-1100-AB104DDD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24/07/2023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848B5F75-7266-F802-EB96-FD48BA26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 Biberon-Valenti BOUYGUES CONSTRUCTION | 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F92F5DCC-3E61-B250-BB6F-00021BB3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C371C93-02AD-1AFC-074D-4AA2FD0084E0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6" name="Forme libre 11">
              <a:extLst>
                <a:ext uri="{FF2B5EF4-FFF2-40B4-BE49-F238E27FC236}">
                  <a16:creationId xmlns:a16="http://schemas.microsoft.com/office/drawing/2014/main" id="{4B272BF3-9CF1-D6DB-2FBF-5B392E0A65A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9" name="Forme libre 12">
              <a:extLst>
                <a:ext uri="{FF2B5EF4-FFF2-40B4-BE49-F238E27FC236}">
                  <a16:creationId xmlns:a16="http://schemas.microsoft.com/office/drawing/2014/main" id="{77E48F25-3F80-8211-6E54-5508EFFC9A50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9ECE1B18-4079-C278-EAB0-A2B8BA1DBC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4C0EC8F6-2951-A3FC-9DFB-2BC69A769F2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60908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merciements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rme libre 19">
            <a:extLst>
              <a:ext uri="{FF2B5EF4-FFF2-40B4-BE49-F238E27FC236}">
                <a16:creationId xmlns:a16="http://schemas.microsoft.com/office/drawing/2014/main" id="{9B8C6DA8-3FF8-9373-6B64-64F362294DF2}"/>
              </a:ext>
            </a:extLst>
          </p:cNvPr>
          <p:cNvSpPr/>
          <p:nvPr userDrawn="1"/>
        </p:nvSpPr>
        <p:spPr>
          <a:xfrm>
            <a:off x="0" y="-19990"/>
            <a:ext cx="6319777" cy="6877990"/>
          </a:xfrm>
          <a:custGeom>
            <a:avLst/>
            <a:gdLst>
              <a:gd name="connsiteX0" fmla="*/ 0 w 6301409"/>
              <a:gd name="connsiteY0" fmla="*/ 0 h 6858000"/>
              <a:gd name="connsiteX1" fmla="*/ 6301409 w 6301409"/>
              <a:gd name="connsiteY1" fmla="*/ 0 h 6858000"/>
              <a:gd name="connsiteX2" fmla="*/ 6301409 w 6301409"/>
              <a:gd name="connsiteY2" fmla="*/ 4958 h 6858000"/>
              <a:gd name="connsiteX3" fmla="*/ 5573767 w 6301409"/>
              <a:gd name="connsiteY3" fmla="*/ 4958 h 6858000"/>
              <a:gd name="connsiteX4" fmla="*/ 5657530 w 6301409"/>
              <a:gd name="connsiteY4" fmla="*/ 211263 h 6858000"/>
              <a:gd name="connsiteX5" fmla="*/ 5938263 w 6301409"/>
              <a:gd name="connsiteY5" fmla="*/ 1756569 h 6858000"/>
              <a:gd name="connsiteX6" fmla="*/ 5938263 w 6301409"/>
              <a:gd name="connsiteY6" fmla="*/ 1761519 h 6858000"/>
              <a:gd name="connsiteX7" fmla="*/ 4656115 w 6301409"/>
              <a:gd name="connsiteY7" fmla="*/ 4858644 h 6858000"/>
              <a:gd name="connsiteX8" fmla="*/ 2664521 w 6301409"/>
              <a:gd name="connsiteY8" fmla="*/ 6853042 h 6858000"/>
              <a:gd name="connsiteX9" fmla="*/ 6301409 w 6301409"/>
              <a:gd name="connsiteY9" fmla="*/ 6853042 h 6858000"/>
              <a:gd name="connsiteX10" fmla="*/ 6301409 w 6301409"/>
              <a:gd name="connsiteY10" fmla="*/ 6858000 h 6858000"/>
              <a:gd name="connsiteX11" fmla="*/ 0 w 6301409"/>
              <a:gd name="connsiteY11" fmla="*/ 6858000 h 6858000"/>
              <a:gd name="connsiteX12" fmla="*/ 0 w 6301409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01409" h="6858000">
                <a:moveTo>
                  <a:pt x="0" y="0"/>
                </a:moveTo>
                <a:lnTo>
                  <a:pt x="6301409" y="0"/>
                </a:lnTo>
                <a:lnTo>
                  <a:pt x="6301409" y="4958"/>
                </a:lnTo>
                <a:lnTo>
                  <a:pt x="5573767" y="4958"/>
                </a:lnTo>
                <a:lnTo>
                  <a:pt x="5657530" y="211263"/>
                </a:lnTo>
                <a:cubicBezTo>
                  <a:pt x="5844352" y="708260"/>
                  <a:pt x="5937930" y="1232317"/>
                  <a:pt x="5938263" y="1756569"/>
                </a:cubicBezTo>
                <a:lnTo>
                  <a:pt x="5938263" y="1761519"/>
                </a:lnTo>
                <a:cubicBezTo>
                  <a:pt x="5937629" y="2882646"/>
                  <a:pt x="5510289" y="4003394"/>
                  <a:pt x="4656115" y="4858644"/>
                </a:cubicBezTo>
                <a:lnTo>
                  <a:pt x="2664521" y="6853042"/>
                </a:lnTo>
                <a:lnTo>
                  <a:pt x="6301409" y="6853042"/>
                </a:lnTo>
                <a:lnTo>
                  <a:pt x="630140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13EE61-17AB-0468-84AC-06D83F476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709225"/>
            <a:ext cx="4440825" cy="830997"/>
          </a:xfrm>
        </p:spPr>
        <p:txBody>
          <a:bodyPr lIns="0" tIns="0" rIns="0" bIns="0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fr-FR"/>
              <a:t>Merci</a:t>
            </a:r>
          </a:p>
        </p:txBody>
      </p:sp>
      <p:sp>
        <p:nvSpPr>
          <p:cNvPr id="23" name="Espace réservé du texte 48">
            <a:extLst>
              <a:ext uri="{FF2B5EF4-FFF2-40B4-BE49-F238E27FC236}">
                <a16:creationId xmlns:a16="http://schemas.microsoft.com/office/drawing/2014/main" id="{F2A86746-C112-CF3C-C315-3E1350718F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573" y="2573919"/>
            <a:ext cx="444082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1F9F0E-6B68-F3EA-E15C-7DDA99FED5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77745" y="5448402"/>
            <a:ext cx="360000" cy="360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680C985-85E9-988C-D0B6-19C144FB68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7660" y="5448402"/>
            <a:ext cx="360000" cy="36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B6A29D2-E715-5EF8-1C6A-63F304254A6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7575" y="5448468"/>
            <a:ext cx="360000" cy="36000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8633A241-0227-B87A-140A-5C5A57F3797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7575" y="6042302"/>
            <a:ext cx="1054283" cy="540000"/>
          </a:xfrm>
          <a:prstGeom prst="rect">
            <a:avLst/>
          </a:prstGeom>
        </p:spPr>
      </p:pic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2ADCC2CA-006E-2254-D2F2-C280E66667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7573" y="3003506"/>
            <a:ext cx="4440825" cy="83099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Fonction</a:t>
            </a:r>
          </a:p>
          <a:p>
            <a:pPr lvl="0"/>
            <a:r>
              <a:rPr lang="fr-FR"/>
              <a:t>Email</a:t>
            </a:r>
          </a:p>
          <a:p>
            <a:pPr lvl="0"/>
            <a:r>
              <a:rPr lang="fr-FR"/>
              <a:t>Téléphone 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5693FC0E-0802-F0EB-4BCE-1051DA822E6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7573" y="2144332"/>
            <a:ext cx="444082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29397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e libre 25">
            <a:extLst>
              <a:ext uri="{FF2B5EF4-FFF2-40B4-BE49-F238E27FC236}">
                <a16:creationId xmlns:a16="http://schemas.microsoft.com/office/drawing/2014/main" id="{1F86ED98-ECB6-B545-B96D-487DB096D68B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4A61B3-8DF8-A1A6-BC1C-0E727CB2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849535"/>
            <a:ext cx="11086578" cy="5909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692DB4-FE59-0C09-79A5-C9DD1B631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575" y="2175048"/>
            <a:ext cx="11086578" cy="3820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399531-832D-5914-A0E6-C1277C081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48077" y="6426109"/>
            <a:ext cx="835015" cy="215444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24/07/2023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E7768A-5EBE-0A78-FD15-72356CDE7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55632" y="6426110"/>
            <a:ext cx="2492445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B Biberon-Valenti BOUYGUES CONSTRUCTION | </a:t>
            </a:r>
          </a:p>
        </p:txBody>
      </p:sp>
      <p:sp>
        <p:nvSpPr>
          <p:cNvPr id="30" name="Espace réservé du numéro de diapositive 29">
            <a:extLst>
              <a:ext uri="{FF2B5EF4-FFF2-40B4-BE49-F238E27FC236}">
                <a16:creationId xmlns:a16="http://schemas.microsoft.com/office/drawing/2014/main" id="{6980B1DF-90E7-C3FD-93C1-9975E2A0E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908" y="6382485"/>
            <a:ext cx="560986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260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700" r:id="rId2"/>
    <p:sldLayoutId id="2147483704" r:id="rId3"/>
    <p:sldLayoutId id="2147483705" r:id="rId4"/>
    <p:sldLayoutId id="2147483717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3400"/>
        </a:spcBef>
        <a:buFont typeface="Arial" panose="020B0604020202020204" pitchFamily="34" charset="0"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jpeg"/><Relationship Id="rId17" Type="http://schemas.openxmlformats.org/officeDocument/2006/relationships/image" Target="../media/image31.jpeg"/><Relationship Id="rId2" Type="http://schemas.openxmlformats.org/officeDocument/2006/relationships/image" Target="../media/image16.png"/><Relationship Id="rId16" Type="http://schemas.openxmlformats.org/officeDocument/2006/relationships/image" Target="../media/image30.jpe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jpeg"/><Relationship Id="rId10" Type="http://schemas.openxmlformats.org/officeDocument/2006/relationships/image" Target="../media/image24.jpeg"/><Relationship Id="rId19" Type="http://schemas.openxmlformats.org/officeDocument/2006/relationships/image" Target="../media/image33.jpe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948942-DB9D-64D9-B681-33C35A66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1205" y="1845491"/>
            <a:ext cx="5572195" cy="2215991"/>
          </a:xfrm>
        </p:spPr>
        <p:txBody>
          <a:bodyPr/>
          <a:lstStyle/>
          <a:p>
            <a:r>
              <a:rPr lang="fr-FR" sz="4000">
                <a:latin typeface="Avenir Next LT Pro" panose="020B0504020202020204" pitchFamily="34" charset="0"/>
              </a:rPr>
              <a:t>Note de qualification </a:t>
            </a:r>
            <a:br>
              <a:rPr lang="fr-FR" sz="4000">
                <a:latin typeface="Avenir Next LT Pro" panose="020B0504020202020204" pitchFamily="34" charset="0"/>
              </a:rPr>
            </a:br>
            <a:r>
              <a:rPr lang="fr-FR" sz="4000">
                <a:latin typeface="Avenir Next LT Pro" panose="020B0504020202020204" pitchFamily="34" charset="0"/>
              </a:rPr>
              <a:t>de la demande digitale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FD5F38-0D3C-8927-169A-69A62460C4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1204" y="4120914"/>
            <a:ext cx="5572195" cy="1505027"/>
          </a:xfrm>
        </p:spPr>
        <p:txBody>
          <a:bodyPr/>
          <a:lstStyle/>
          <a:p>
            <a:r>
              <a:rPr lang="fr-FR">
                <a:latin typeface="Avenir Next LT Pro" panose="020B0504020202020204" pitchFamily="34" charset="0"/>
              </a:rPr>
              <a:t>Diffusion des modifications depuis le référentiel (MDM)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B9FC9A-B898-D474-8A90-6B081F8A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6791" y="5995411"/>
            <a:ext cx="3271839" cy="246221"/>
          </a:xfrm>
        </p:spPr>
        <p:txBody>
          <a:bodyPr/>
          <a:lstStyle/>
          <a:p>
            <a:r>
              <a:rPr lang="fr-FR">
                <a:latin typeface="Avenir Next LT Pro" panose="020B0504020202020204" pitchFamily="34" charset="0"/>
              </a:rPr>
              <a:t>08/07/2024</a:t>
            </a:r>
          </a:p>
        </p:txBody>
      </p:sp>
      <p:pic>
        <p:nvPicPr>
          <p:cNvPr id="12" name="Espace réservé pour une image  11">
            <a:extLst>
              <a:ext uri="{FF2B5EF4-FFF2-40B4-BE49-F238E27FC236}">
                <a16:creationId xmlns:a16="http://schemas.microsoft.com/office/drawing/2014/main" id="{B693E141-9586-040B-F589-81B0EF8F3A4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2" b="179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15244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6F6A1-7FB3-0BB2-A03F-DA676973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862061"/>
            <a:ext cx="7673682" cy="1089529"/>
          </a:xfrm>
        </p:spPr>
        <p:txBody>
          <a:bodyPr/>
          <a:lstStyle/>
          <a:p>
            <a:r>
              <a:rPr lang="fr-FR" sz="3600"/>
              <a:t>Objet du document : qualification</a:t>
            </a:r>
            <a:br>
              <a:rPr lang="fr-FR" sz="3600"/>
            </a:br>
            <a:r>
              <a:rPr lang="fr-FR"/>
              <a:t>d’une demande digitale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CA0CE1-570C-2BB0-763E-4D2EE5CED0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32500" lnSpcReduction="2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Cette demande doit être </a:t>
            </a:r>
            <a:r>
              <a:rPr lang="fr-FR" sz="3700" b="1">
                <a:solidFill>
                  <a:schemeClr val="accent3"/>
                </a:solidFill>
              </a:rPr>
              <a:t>explicitée et sa valeur vérifiée. </a:t>
            </a:r>
            <a:br>
              <a:rPr lang="fr-FR" sz="3700" b="1">
                <a:solidFill>
                  <a:schemeClr val="accent3"/>
                </a:solidFill>
              </a:rPr>
            </a:br>
            <a:r>
              <a:rPr lang="fr-FR" sz="3700" b="1">
                <a:solidFill>
                  <a:schemeClr val="accent3"/>
                </a:solidFill>
              </a:rPr>
              <a:t>- Seule une description simple est attendue</a:t>
            </a:r>
            <a:br>
              <a:rPr lang="fr-FR" sz="3700" b="1">
                <a:solidFill>
                  <a:schemeClr val="accent3"/>
                </a:solidFill>
              </a:rPr>
            </a:br>
            <a:r>
              <a:rPr lang="fr-FR" sz="3700" b="1"/>
              <a:t>-</a:t>
            </a:r>
            <a:r>
              <a:rPr lang="fr-FR" sz="3700" b="1">
                <a:solidFill>
                  <a:schemeClr val="accent3"/>
                </a:solidFill>
              </a:rPr>
              <a:t> </a:t>
            </a:r>
            <a:r>
              <a:rPr lang="fr-FR" sz="3700"/>
              <a:t>Il n’est </a:t>
            </a:r>
            <a:r>
              <a:rPr lang="fr-FR" sz="3700" b="1" u="sng"/>
              <a:t>pas</a:t>
            </a:r>
            <a:r>
              <a:rPr lang="fr-FR" sz="3700" b="1"/>
              <a:t> nécessaire de faire une description détaillée du besoin</a:t>
            </a:r>
            <a:r>
              <a:rPr lang="fr-FR" sz="3700"/>
              <a:t> avant d’avoir valider son intérêt. </a:t>
            </a:r>
            <a:br>
              <a:rPr lang="fr-FR" sz="3700"/>
            </a:br>
            <a:r>
              <a:rPr lang="fr-FR" sz="3700"/>
              <a:t>- Il ne s’agit </a:t>
            </a:r>
            <a:r>
              <a:rPr lang="fr-FR" sz="3700" b="1" u="sng"/>
              <a:t>pas</a:t>
            </a:r>
            <a:r>
              <a:rPr lang="fr-FR" sz="3700" b="1"/>
              <a:t> de décrire une solution ou un moyen</a:t>
            </a:r>
            <a:r>
              <a:rPr lang="fr-FR" sz="3700"/>
              <a:t>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Le porteur de la demande digitale/ demandeur métier est dans les </a:t>
            </a:r>
            <a:r>
              <a:rPr lang="fr-FR" sz="3700" b="1"/>
              <a:t>Direction Métiers (entités, UO, filières…). </a:t>
            </a:r>
            <a:r>
              <a:rPr lang="fr-FR" sz="3700"/>
              <a:t>Une personne de l’IT peut participer ou rédiger la qualification de cette demande  par délégation du porteur. </a:t>
            </a:r>
            <a:br>
              <a:rPr lang="fr-FR" sz="3700"/>
            </a:br>
            <a:r>
              <a:rPr lang="fr-FR" sz="3700"/>
              <a:t>Pour les </a:t>
            </a:r>
            <a:r>
              <a:rPr lang="fr-FR" sz="3700" b="1"/>
              <a:t>demandes IT </a:t>
            </a:r>
            <a:r>
              <a:rPr lang="fr-FR" sz="3700"/>
              <a:t>répondant à la stratégie technologique, le métier est porté par la </a:t>
            </a:r>
            <a:r>
              <a:rPr lang="fr-FR" sz="3700" b="1"/>
              <a:t>Direction informatique.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Ce document </a:t>
            </a:r>
            <a:r>
              <a:rPr lang="fr-FR" sz="3700" b="1"/>
              <a:t>permettra de décider de la suite à donner lors de la sélection </a:t>
            </a:r>
            <a:br>
              <a:rPr lang="fr-FR" sz="3700"/>
            </a:br>
            <a:r>
              <a:rPr lang="fr-FR" sz="3700"/>
              <a:t>- demande sélectionnée pour cadrage projet</a:t>
            </a:r>
            <a:br>
              <a:rPr lang="fr-FR" sz="3700"/>
            </a:br>
            <a:r>
              <a:rPr lang="fr-FR" sz="3700"/>
              <a:t>- demande décalée </a:t>
            </a:r>
            <a:br>
              <a:rPr lang="fr-FR" sz="3700"/>
            </a:br>
            <a:r>
              <a:rPr lang="fr-FR" sz="3700"/>
              <a:t>- ou abandonné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 b="1"/>
              <a:t>A vous de l’adapter à votre demande</a:t>
            </a:r>
            <a:r>
              <a:rPr lang="fr-FR" sz="3700"/>
              <a:t>. La formalisation et le mode de sélection doivent être adaptés à la taille et aux enjeux de la demande. La sélection peut donc avoir lieu au niveau d’une direction ~ </a:t>
            </a:r>
            <a:r>
              <a:rPr lang="fr-FR" sz="3700" err="1"/>
              <a:t>auto-sélection</a:t>
            </a:r>
            <a:r>
              <a:rPr lang="fr-FR" sz="3700"/>
              <a:t>, de plusieurs directions, DSI. </a:t>
            </a:r>
          </a:p>
          <a:p>
            <a:pPr algn="ctr"/>
            <a:r>
              <a:rPr lang="fr-FR" sz="3700" i="1"/>
              <a:t>Page à supprimer avant diffusion du document</a:t>
            </a:r>
            <a:endParaRPr lang="fr-FR" sz="3700" b="1" i="1"/>
          </a:p>
          <a:p>
            <a:endParaRPr lang="fr-FR" sz="2000" i="1"/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9AE1CF-AFA4-3885-65BD-264AA06F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24/07/2023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35CB1C-DE16-5ACA-2A1C-5543DC27D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 </a:t>
            </a:r>
            <a:r>
              <a:rPr lang="fr-FR" err="1"/>
              <a:t>Biberon-Valenti</a:t>
            </a:r>
            <a:r>
              <a:rPr lang="fr-FR"/>
              <a:t> BOUYGUES CONSTRUCTION |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95FA75-B876-5691-08C8-970E0158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6EB1-B284-8541-B839-321F682B6B0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900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6F6A1-7FB3-0BB2-A03F-DA676973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862061"/>
            <a:ext cx="7673682" cy="590931"/>
          </a:xfrm>
        </p:spPr>
        <p:txBody>
          <a:bodyPr/>
          <a:lstStyle/>
          <a:p>
            <a:r>
              <a:rPr lang="fr-FR" sz="3600"/>
              <a:t>Objectifs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CA0CE1-570C-2BB0-763E-4D2EE5CED0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Répondre au cas d’usage MDM =&gt; Applications consommatrice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Répondre par la suite au cas d’usage de besoin d’un broker de message (exemple : Archivage)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Alignement avec la stratégie technologique ?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9AE1CF-AFA4-3885-65BD-264AA06F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24/07/2023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35CB1C-DE16-5ACA-2A1C-5543DC27D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 </a:t>
            </a:r>
            <a:r>
              <a:rPr lang="fr-FR" err="1"/>
              <a:t>Biberon-Valenti</a:t>
            </a:r>
            <a:r>
              <a:rPr lang="fr-FR"/>
              <a:t> BOUYGUES CONSTRUCTION |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95FA75-B876-5691-08C8-970E0158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6EB1-B284-8541-B839-321F682B6B0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400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6F6A1-7FB3-0BB2-A03F-DA676973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86561"/>
            <a:ext cx="7673682" cy="590931"/>
          </a:xfrm>
        </p:spPr>
        <p:txBody>
          <a:bodyPr/>
          <a:lstStyle/>
          <a:p>
            <a:r>
              <a:rPr lang="fr-FR" sz="3600"/>
              <a:t>Evaluation des charges / coûts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CA0CE1-570C-2BB0-763E-4D2EE5CED0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3" y="677492"/>
            <a:ext cx="7673682" cy="4785883"/>
          </a:xfrm>
        </p:spPr>
        <p:txBody>
          <a:bodyPr>
            <a:normAutofit fontScale="25000" lnSpcReduction="2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Identification du cas d’usage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fr-FR" sz="3700"/>
              <a:t>Source: Référentiel des projets (</a:t>
            </a:r>
            <a:r>
              <a:rPr lang="fr-FR" sz="3700" b="1"/>
              <a:t>MDM/Projets</a:t>
            </a:r>
            <a:r>
              <a:rPr lang="fr-FR" sz="3700"/>
              <a:t>)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fr-FR" sz="3700"/>
              <a:t>Cible: </a:t>
            </a:r>
            <a:r>
              <a:rPr lang="fr-FR" sz="3700" b="1" err="1"/>
              <a:t>TopSite</a:t>
            </a:r>
            <a:endParaRPr lang="fr-FR" sz="3700" b="1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fr-FR" sz="3700"/>
              <a:t>KPI: Les mises à jour réalisées au sein du MDM sont bien reportées dans la base de données </a:t>
            </a:r>
            <a:r>
              <a:rPr lang="fr-FR" sz="3700" err="1"/>
              <a:t>TopSite</a:t>
            </a:r>
            <a:r>
              <a:rPr lang="fr-FR" sz="3700"/>
              <a:t> (ajout, modification, suppression)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/!\ Responsabilité de l’infra/administration pendant le MVP (zone prototype): DADI/MEDIATION/Xavier &amp; DADI/DA/</a:t>
            </a:r>
            <a:r>
              <a:rPr lang="fr-FR" sz="3700" err="1"/>
              <a:t>Fréd</a:t>
            </a:r>
            <a:endParaRPr lang="fr-FR" sz="370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/!\ Délai de réalisation + projection pour bascule en LZA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Préparation du MVP: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fr-FR" sz="3700"/>
              <a:t>Conception de la solution technique:</a:t>
            </a: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fr-FR" sz="3700"/>
              <a:t>Objet: connu (MDM – Objet pivot : Projet)</a:t>
            </a: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fr-FR" sz="3700"/>
              <a:t>Message et Header: 1j (DADI/DA/Sylvain)</a:t>
            </a: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fr-FR" sz="3700"/>
              <a:t>Interfaces (</a:t>
            </a:r>
            <a:r>
              <a:rPr lang="fr-FR" sz="3700" err="1"/>
              <a:t>MuleApps</a:t>
            </a:r>
            <a:r>
              <a:rPr lang="fr-FR" sz="3700"/>
              <a:t>): 1j DADI/DA/Sylvain + 1h DADI/MEDIATION + 1j CSP Maroc</a:t>
            </a: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fr-FR" sz="3700"/>
              <a:t>Service Bus </a:t>
            </a:r>
            <a:r>
              <a:rPr lang="fr-FR" sz="3700" err="1"/>
              <a:t>Namespaces</a:t>
            </a:r>
            <a:r>
              <a:rPr lang="fr-FR" sz="3700"/>
              <a:t>: définition des Topics  0.5j  DADI/DA/Sylvain + 0.5j DADI/DA/</a:t>
            </a:r>
            <a:r>
              <a:rPr lang="fr-FR" sz="3700" err="1"/>
              <a:t>Fréd</a:t>
            </a:r>
            <a:endParaRPr lang="fr-FR" sz="3700"/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fr-FR" sz="3700"/>
              <a:t>Infrastructure: Schéma (draft existant) + Implémentation : 2j (DADI/DA)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3700"/>
              <a:t>Azure Service Bus privatisé derrière App Gateway (cible LZA simulée en prototype) : 1j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3700" err="1"/>
              <a:t>IaC</a:t>
            </a:r>
            <a:r>
              <a:rPr lang="fr-FR" sz="3700"/>
              <a:t> pour réutilisation possible : 1j (DADI/DA)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Exécution du </a:t>
            </a:r>
            <a:r>
              <a:rPr lang="fr-FR" sz="3700" err="1"/>
              <a:t>PoC</a:t>
            </a:r>
            <a:r>
              <a:rPr lang="fr-FR" sz="3700"/>
              <a:t>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fr-FR" sz="3700"/>
              <a:t>Développement </a:t>
            </a:r>
            <a:r>
              <a:rPr lang="fr-FR" sz="3700" err="1"/>
              <a:t>SecureAgent</a:t>
            </a:r>
            <a:r>
              <a:rPr lang="fr-FR" sz="3700"/>
              <a:t>: 3j CSP Maroc/Informatica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fr-FR" sz="3700"/>
              <a:t>Développement interface MDM-</a:t>
            </a:r>
            <a:r>
              <a:rPr lang="fr-FR" sz="3700" err="1"/>
              <a:t>MuleApp</a:t>
            </a:r>
            <a:r>
              <a:rPr lang="fr-FR" sz="3700"/>
              <a:t>-MOM: 10j CSP Maroc/</a:t>
            </a:r>
            <a:r>
              <a:rPr lang="fr-FR" sz="3700" err="1"/>
              <a:t>Mulesoft</a:t>
            </a:r>
            <a:endParaRPr lang="fr-FR" sz="3700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fr-FR" sz="3700"/>
              <a:t>Développement interface MOM-</a:t>
            </a:r>
            <a:r>
              <a:rPr lang="fr-FR" sz="3700" err="1"/>
              <a:t>MuleApp</a:t>
            </a:r>
            <a:r>
              <a:rPr lang="fr-FR" sz="3700"/>
              <a:t>-</a:t>
            </a:r>
            <a:r>
              <a:rPr lang="fr-FR" sz="3700" err="1"/>
              <a:t>TopSite</a:t>
            </a:r>
            <a:r>
              <a:rPr lang="fr-FR" sz="3700"/>
              <a:t>: 10j CSP Maroc/</a:t>
            </a:r>
            <a:r>
              <a:rPr lang="fr-FR" sz="3700" err="1"/>
              <a:t>Mulesoft</a:t>
            </a:r>
            <a:endParaRPr lang="fr-FR" sz="3700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fr-FR" sz="3700"/>
              <a:t>Tests: 2j DADI/DA/Sylvain (MOM/MDM) + 2j DADI/MDM/Christelle (MDM) + 2j DADI/MEDIATION/Xavier (</a:t>
            </a:r>
            <a:r>
              <a:rPr lang="fr-FR" sz="3700" err="1"/>
              <a:t>Mulesoft</a:t>
            </a:r>
            <a:r>
              <a:rPr lang="fr-FR" sz="3700"/>
              <a:t>) + 2j DADI/INNO/Vincent (</a:t>
            </a:r>
            <a:r>
              <a:rPr lang="fr-FR" sz="3700" err="1"/>
              <a:t>TopSite</a:t>
            </a:r>
            <a:r>
              <a:rPr lang="fr-FR" sz="3700"/>
              <a:t>) + 1j DADI/DA/</a:t>
            </a:r>
            <a:r>
              <a:rPr lang="fr-FR" sz="3700" err="1"/>
              <a:t>Fréd</a:t>
            </a:r>
            <a:r>
              <a:rPr lang="fr-FR" sz="3700"/>
              <a:t> (support Azure)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700"/>
              <a:t>Bascule en LZA : à initier au cours du MVP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fr-FR" sz="3700"/>
              <a:t>Préparation industrialisation / reprise par GLOPS sur LZA: </a:t>
            </a:r>
            <a:r>
              <a:rPr lang="fr-FR" sz="3700" b="1"/>
              <a:t>6</a:t>
            </a:r>
            <a:r>
              <a:rPr lang="fr-FR" sz="3700"/>
              <a:t>j</a:t>
            </a: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fr-FR" sz="3700"/>
              <a:t>Standardisation du composant Azure Service Bus: Paramétrages, </a:t>
            </a:r>
            <a:r>
              <a:rPr lang="fr-FR" sz="3700" err="1"/>
              <a:t>policies</a:t>
            </a:r>
            <a:r>
              <a:rPr lang="fr-FR" sz="3700"/>
              <a:t> Azure, Monitoring : 3j (DADI/DA/</a:t>
            </a:r>
            <a:r>
              <a:rPr lang="fr-FR" sz="3700" err="1"/>
              <a:t>Fréd</a:t>
            </a:r>
            <a:r>
              <a:rPr lang="fr-FR" sz="3700"/>
              <a:t>)</a:t>
            </a: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fr-FR" sz="3700"/>
              <a:t>Transfert du </a:t>
            </a:r>
            <a:r>
              <a:rPr lang="fr-FR" sz="3700" err="1"/>
              <a:t>IaC</a:t>
            </a:r>
            <a:r>
              <a:rPr lang="fr-FR" sz="3700"/>
              <a:t> vers GLOPS: 1j (DADI/DA/</a:t>
            </a:r>
            <a:r>
              <a:rPr lang="fr-FR" sz="3700" err="1"/>
              <a:t>Fréd</a:t>
            </a:r>
            <a:r>
              <a:rPr lang="fr-FR" sz="3700"/>
              <a:t>)</a:t>
            </a: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fr-FR" sz="3700"/>
              <a:t>Procédure de gestion du MOM: 2j (DADI/DA/</a:t>
            </a:r>
            <a:r>
              <a:rPr lang="fr-FR" sz="3700" err="1"/>
              <a:t>Fréd</a:t>
            </a:r>
            <a:r>
              <a:rPr lang="fr-FR" sz="3700"/>
              <a:t>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fr-FR" sz="3700"/>
          </a:p>
          <a:p>
            <a:endParaRPr lang="fr-FR" sz="2000" i="1"/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9AE1CF-AFA4-3885-65BD-264AA06F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24/07/2023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35CB1C-DE16-5ACA-2A1C-5543DC27D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 </a:t>
            </a:r>
            <a:r>
              <a:rPr lang="fr-FR" err="1"/>
              <a:t>Biberon-Valenti</a:t>
            </a:r>
            <a:r>
              <a:rPr lang="fr-FR"/>
              <a:t> BOUYGUES CONSTRUCTION |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95FA75-B876-5691-08C8-970E0158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6EB1-B284-8541-B839-321F682B6B0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78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3B9FCD1D-3C83-6520-508F-E8B495AF92CF}"/>
              </a:ext>
            </a:extLst>
          </p:cNvPr>
          <p:cNvSpPr/>
          <p:nvPr/>
        </p:nvSpPr>
        <p:spPr>
          <a:xfrm>
            <a:off x="4378023" y="2420629"/>
            <a:ext cx="1037752" cy="3061523"/>
          </a:xfrm>
          <a:prstGeom prst="roundRect">
            <a:avLst/>
          </a:prstGeom>
          <a:solidFill>
            <a:srgbClr val="EEEEEC"/>
          </a:solidFill>
        </p:spPr>
        <p:txBody>
          <a:bodyPr wrap="square" lIns="36000" tIns="36000" rIns="36000" bIns="36000" rtlCol="0" anchor="b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LZA (Azure)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6607D663-F177-FB04-6ABB-35775277BE4C}"/>
              </a:ext>
            </a:extLst>
          </p:cNvPr>
          <p:cNvSpPr/>
          <p:nvPr/>
        </p:nvSpPr>
        <p:spPr>
          <a:xfrm>
            <a:off x="1786938" y="2420629"/>
            <a:ext cx="664948" cy="3061523"/>
          </a:xfrm>
          <a:prstGeom prst="roundRect">
            <a:avLst/>
          </a:prstGeom>
          <a:solidFill>
            <a:srgbClr val="EEEEEC"/>
          </a:solidFill>
        </p:spPr>
        <p:txBody>
          <a:bodyPr wrap="square" lIns="36000" tIns="36000" rIns="36000" bIns="36000" rtlCol="0" anchor="b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On </a:t>
            </a:r>
            <a:r>
              <a:rPr kumimoji="0" lang="fr-FR" sz="1100" b="0" i="0" u="none" strike="noStrike" kern="0" cap="none" spc="0" normalizeH="0" baseline="0" noProof="0" err="1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prem</a:t>
            </a:r>
            <a:endParaRPr kumimoji="0" lang="fr-FR" sz="1100" b="0" i="0" u="none" strike="noStrike" kern="0" cap="none" spc="0" normalizeH="0" baseline="0" noProof="0">
              <a:ln>
                <a:noFill/>
              </a:ln>
              <a:solidFill>
                <a:srgbClr val="1E2124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Titre 2">
            <a:extLst>
              <a:ext uri="{FF2B5EF4-FFF2-40B4-BE49-F238E27FC236}">
                <a16:creationId xmlns:a16="http://schemas.microsoft.com/office/drawing/2014/main" id="{3024C1C1-CEDF-3B7E-7864-C6AEC1CAE4F6}"/>
              </a:ext>
            </a:extLst>
          </p:cNvPr>
          <p:cNvSpPr txBox="1">
            <a:spLocks/>
          </p:cNvSpPr>
          <p:nvPr/>
        </p:nvSpPr>
        <p:spPr>
          <a:xfrm>
            <a:off x="539866" y="598891"/>
            <a:ext cx="10344079" cy="4816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>
                <a:solidFill>
                  <a:schemeClr val="tx1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200" b="1" i="0" u="none" strike="noStrike" kern="120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ea typeface="+mj-ea"/>
                <a:cs typeface="Poppins" pitchFamily="2" charset="77"/>
              </a:rPr>
              <a:t>Cible Azure service bus – private enpoint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6A35E21A-B0DE-D728-2F13-2F6973B80463}"/>
              </a:ext>
            </a:extLst>
          </p:cNvPr>
          <p:cNvSpPr/>
          <p:nvPr/>
        </p:nvSpPr>
        <p:spPr>
          <a:xfrm>
            <a:off x="539868" y="2972659"/>
            <a:ext cx="940752" cy="957359"/>
          </a:xfrm>
          <a:prstGeom prst="roundRect">
            <a:avLst/>
          </a:prstGeom>
          <a:solidFill>
            <a:srgbClr val="25C0C2"/>
          </a:solidFill>
        </p:spPr>
        <p:txBody>
          <a:bodyPr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MDM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2B800E9-B86D-0C31-23DE-F4648C10D849}"/>
              </a:ext>
            </a:extLst>
          </p:cNvPr>
          <p:cNvSpPr txBox="1"/>
          <p:nvPr/>
        </p:nvSpPr>
        <p:spPr>
          <a:xfrm>
            <a:off x="1540549" y="3138356"/>
            <a:ext cx="0" cy="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endParaRPr lang="fr-FR">
              <a:solidFill>
                <a:srgbClr val="1E2124"/>
              </a:solidFill>
              <a:latin typeface="Poppins"/>
            </a:endParaRP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030E8284-472A-E17D-A495-D4E56A0B6F99}"/>
              </a:ext>
            </a:extLst>
          </p:cNvPr>
          <p:cNvSpPr/>
          <p:nvPr/>
        </p:nvSpPr>
        <p:spPr>
          <a:xfrm>
            <a:off x="4678784" y="2665813"/>
            <a:ext cx="478679" cy="2327784"/>
          </a:xfrm>
          <a:prstGeom prst="roundRect">
            <a:avLst/>
          </a:prstGeom>
          <a:solidFill>
            <a:srgbClr val="1E2124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MOM</a:t>
            </a:r>
          </a:p>
        </p:txBody>
      </p: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2FDB06FE-7855-FA5A-49FD-2A0843A55F4D}"/>
              </a:ext>
            </a:extLst>
          </p:cNvPr>
          <p:cNvCxnSpPr>
            <a:cxnSpLocks/>
            <a:stCxn id="46" idx="3"/>
            <a:endCxn id="66" idx="1"/>
          </p:cNvCxnSpPr>
          <p:nvPr/>
        </p:nvCxnSpPr>
        <p:spPr>
          <a:xfrm flipV="1">
            <a:off x="1480620" y="3446503"/>
            <a:ext cx="1368932" cy="4836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E98188BF-762E-2097-8845-85A755CE6D46}"/>
              </a:ext>
            </a:extLst>
          </p:cNvPr>
          <p:cNvSpPr/>
          <p:nvPr/>
        </p:nvSpPr>
        <p:spPr>
          <a:xfrm>
            <a:off x="1838629" y="2804718"/>
            <a:ext cx="572763" cy="1293240"/>
          </a:xfrm>
          <a:prstGeom prst="roundRect">
            <a:avLst/>
          </a:prstGeom>
          <a:solidFill>
            <a:srgbClr val="25C0C2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Secure agent </a:t>
            </a: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551A114A-01D9-908A-E1C9-A17BE546FF00}"/>
              </a:ext>
            </a:extLst>
          </p:cNvPr>
          <p:cNvSpPr/>
          <p:nvPr/>
        </p:nvSpPr>
        <p:spPr>
          <a:xfrm>
            <a:off x="7642077" y="3203404"/>
            <a:ext cx="1350120" cy="481671"/>
          </a:xfrm>
          <a:prstGeom prst="roundRect">
            <a:avLst/>
          </a:prstGeom>
          <a:solidFill>
            <a:srgbClr val="EEEEEC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App A</a:t>
            </a:r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863BECB7-16BE-37ED-0D04-47B66540EF1D}"/>
              </a:ext>
            </a:extLst>
          </p:cNvPr>
          <p:cNvCxnSpPr>
            <a:cxnSpLocks/>
            <a:stCxn id="99" idx="1"/>
            <a:endCxn id="73" idx="3"/>
          </p:cNvCxnSpPr>
          <p:nvPr/>
        </p:nvCxnSpPr>
        <p:spPr>
          <a:xfrm flipH="1" flipV="1">
            <a:off x="5389538" y="3446695"/>
            <a:ext cx="867387" cy="1667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3" name="ZoneTexte 62">
            <a:extLst>
              <a:ext uri="{FF2B5EF4-FFF2-40B4-BE49-F238E27FC236}">
                <a16:creationId xmlns:a16="http://schemas.microsoft.com/office/drawing/2014/main" id="{9542114E-D0A6-1791-2D95-83CFE4601E4A}"/>
              </a:ext>
            </a:extLst>
          </p:cNvPr>
          <p:cNvSpPr txBox="1"/>
          <p:nvPr/>
        </p:nvSpPr>
        <p:spPr>
          <a:xfrm>
            <a:off x="2764661" y="1981515"/>
            <a:ext cx="1187496" cy="343667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/>
            <a:r>
              <a:rPr lang="fr-FR" err="1">
                <a:solidFill>
                  <a:srgbClr val="00A5E5"/>
                </a:solidFill>
                <a:latin typeface="Poppins"/>
              </a:rPr>
              <a:t>Mulesoft</a:t>
            </a:r>
            <a:endParaRPr lang="fr-FR">
              <a:solidFill>
                <a:srgbClr val="00A5E5"/>
              </a:solidFill>
              <a:latin typeface="Poppins"/>
            </a:endParaRP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C28C15D2-C2F4-D604-2C9C-094203D3EA78}"/>
              </a:ext>
            </a:extLst>
          </p:cNvPr>
          <p:cNvSpPr/>
          <p:nvPr/>
        </p:nvSpPr>
        <p:spPr>
          <a:xfrm>
            <a:off x="2849552" y="3136588"/>
            <a:ext cx="900915" cy="619829"/>
          </a:xfrm>
          <a:prstGeom prst="roundRect">
            <a:avLst/>
          </a:prstGeom>
          <a:solidFill>
            <a:srgbClr val="00A4E3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Muleapp</a:t>
            </a: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façade MOM</a:t>
            </a:r>
          </a:p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(ingestion)</a:t>
            </a:r>
          </a:p>
        </p:txBody>
      </p:sp>
      <p:sp>
        <p:nvSpPr>
          <p:cNvPr id="71" name="Cylindre 70">
            <a:extLst>
              <a:ext uri="{FF2B5EF4-FFF2-40B4-BE49-F238E27FC236}">
                <a16:creationId xmlns:a16="http://schemas.microsoft.com/office/drawing/2014/main" id="{6D7BB2BF-68A8-25B1-990E-C28D8390C433}"/>
              </a:ext>
            </a:extLst>
          </p:cNvPr>
          <p:cNvSpPr/>
          <p:nvPr/>
        </p:nvSpPr>
        <p:spPr>
          <a:xfrm rot="16200000">
            <a:off x="797744" y="5409622"/>
            <a:ext cx="425003" cy="940752"/>
          </a:xfrm>
          <a:prstGeom prst="can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Internet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78F481DD-A80B-1680-4956-1CDC5607307F}"/>
              </a:ext>
            </a:extLst>
          </p:cNvPr>
          <p:cNvSpPr txBox="1"/>
          <p:nvPr/>
        </p:nvSpPr>
        <p:spPr>
          <a:xfrm>
            <a:off x="2381860" y="3227564"/>
            <a:ext cx="460277" cy="178126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r>
              <a:rPr lang="fr-FR" sz="1100">
                <a:solidFill>
                  <a:srgbClr val="1E2124"/>
                </a:solidFill>
                <a:latin typeface="Poppins"/>
              </a:rPr>
              <a:t>HTTPS</a:t>
            </a:r>
          </a:p>
        </p:txBody>
      </p: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34D991D5-6D0A-5D1C-EF2E-D09913454E43}"/>
              </a:ext>
            </a:extLst>
          </p:cNvPr>
          <p:cNvSpPr/>
          <p:nvPr/>
        </p:nvSpPr>
        <p:spPr>
          <a:xfrm>
            <a:off x="5201792" y="2665813"/>
            <a:ext cx="187746" cy="1561764"/>
          </a:xfrm>
          <a:prstGeom prst="roundRect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APP GW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75F50ED-0747-2DB8-3E24-9270334445DE}"/>
              </a:ext>
            </a:extLst>
          </p:cNvPr>
          <p:cNvSpPr txBox="1"/>
          <p:nvPr/>
        </p:nvSpPr>
        <p:spPr>
          <a:xfrm>
            <a:off x="5542121" y="3251937"/>
            <a:ext cx="608184" cy="195121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r>
              <a:rPr lang="fr-FR" sz="1050">
                <a:solidFill>
                  <a:srgbClr val="1E2124"/>
                </a:solidFill>
                <a:latin typeface="Poppins"/>
              </a:rPr>
              <a:t>HTTPS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ED13142D-3303-C706-ED18-4DEA5F23AB57}"/>
              </a:ext>
            </a:extLst>
          </p:cNvPr>
          <p:cNvSpPr txBox="1"/>
          <p:nvPr/>
        </p:nvSpPr>
        <p:spPr>
          <a:xfrm>
            <a:off x="5417440" y="3526878"/>
            <a:ext cx="711242" cy="77147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050">
                <a:solidFill>
                  <a:srgbClr val="1E2124"/>
                </a:solidFill>
                <a:latin typeface="Poppins"/>
              </a:rPr>
              <a:t>AMQP</a:t>
            </a:r>
          </a:p>
          <a:p>
            <a:pPr algn="ctr"/>
            <a:r>
              <a:rPr lang="fr-FR" sz="1100" i="1">
                <a:solidFill>
                  <a:srgbClr val="1E2124"/>
                </a:solidFill>
                <a:latin typeface="Poppins"/>
              </a:rPr>
              <a:t>(</a:t>
            </a:r>
            <a:r>
              <a:rPr lang="fr-FR" sz="1000" i="1">
                <a:solidFill>
                  <a:srgbClr val="1E2124"/>
                </a:solidFill>
                <a:latin typeface="Poppins"/>
              </a:rPr>
              <a:t>APP GW TCP/IP support</a:t>
            </a:r>
            <a:r>
              <a:rPr lang="fr-FR" sz="1100" i="1">
                <a:solidFill>
                  <a:srgbClr val="1E2124"/>
                </a:solidFill>
                <a:latin typeface="Poppins"/>
              </a:rPr>
              <a:t>)</a:t>
            </a:r>
          </a:p>
        </p:txBody>
      </p:sp>
      <p:sp>
        <p:nvSpPr>
          <p:cNvPr id="83" name="Rectangle : coins arrondis 82">
            <a:extLst>
              <a:ext uri="{FF2B5EF4-FFF2-40B4-BE49-F238E27FC236}">
                <a16:creationId xmlns:a16="http://schemas.microsoft.com/office/drawing/2014/main" id="{BAD92653-223C-FDAB-1F97-4A5BFB371283}"/>
              </a:ext>
            </a:extLst>
          </p:cNvPr>
          <p:cNvSpPr/>
          <p:nvPr/>
        </p:nvSpPr>
        <p:spPr>
          <a:xfrm>
            <a:off x="4460305" y="2665813"/>
            <a:ext cx="187746" cy="1561764"/>
          </a:xfrm>
          <a:prstGeom prst="roundRect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APP GW</a:t>
            </a:r>
          </a:p>
        </p:txBody>
      </p: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CBDB3933-1284-E99E-16CD-4ABC835B0F08}"/>
              </a:ext>
            </a:extLst>
          </p:cNvPr>
          <p:cNvCxnSpPr>
            <a:cxnSpLocks/>
            <a:stCxn id="66" idx="3"/>
            <a:endCxn id="83" idx="1"/>
          </p:cNvCxnSpPr>
          <p:nvPr/>
        </p:nvCxnSpPr>
        <p:spPr>
          <a:xfrm>
            <a:off x="3750467" y="3446503"/>
            <a:ext cx="709838" cy="192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BFC9F4DC-1D86-9D11-01FB-41C0F5CBA3F2}"/>
              </a:ext>
            </a:extLst>
          </p:cNvPr>
          <p:cNvSpPr txBox="1"/>
          <p:nvPr/>
        </p:nvSpPr>
        <p:spPr>
          <a:xfrm>
            <a:off x="3810607" y="3220844"/>
            <a:ext cx="460277" cy="178126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r>
              <a:rPr lang="fr-FR" sz="1100">
                <a:solidFill>
                  <a:srgbClr val="1E2124"/>
                </a:solidFill>
                <a:latin typeface="Poppins"/>
              </a:rPr>
              <a:t>HTTPS</a:t>
            </a:r>
          </a:p>
        </p:txBody>
      </p:sp>
      <p:sp>
        <p:nvSpPr>
          <p:cNvPr id="99" name="Rectangle : coins arrondis 98">
            <a:extLst>
              <a:ext uri="{FF2B5EF4-FFF2-40B4-BE49-F238E27FC236}">
                <a16:creationId xmlns:a16="http://schemas.microsoft.com/office/drawing/2014/main" id="{953F9ADF-375F-CFC5-3C27-3F11B14F9ED4}"/>
              </a:ext>
            </a:extLst>
          </p:cNvPr>
          <p:cNvSpPr/>
          <p:nvPr/>
        </p:nvSpPr>
        <p:spPr>
          <a:xfrm>
            <a:off x="6256925" y="3138447"/>
            <a:ext cx="968387" cy="619829"/>
          </a:xfrm>
          <a:prstGeom prst="roundRect">
            <a:avLst/>
          </a:prstGeom>
          <a:solidFill>
            <a:srgbClr val="00A4E3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Muleapp</a:t>
            </a: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façade App A</a:t>
            </a:r>
          </a:p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(publication)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44ACBB47-BD59-25E7-91F2-ECD09DE68AC2}"/>
              </a:ext>
            </a:extLst>
          </p:cNvPr>
          <p:cNvSpPr txBox="1"/>
          <p:nvPr/>
        </p:nvSpPr>
        <p:spPr>
          <a:xfrm>
            <a:off x="3698956" y="3526878"/>
            <a:ext cx="711242" cy="77147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050">
                <a:solidFill>
                  <a:srgbClr val="1E2124"/>
                </a:solidFill>
                <a:latin typeface="Poppins"/>
              </a:rPr>
              <a:t>AMQP</a:t>
            </a:r>
          </a:p>
          <a:p>
            <a:pPr algn="ctr"/>
            <a:r>
              <a:rPr lang="fr-FR" sz="1100" i="1">
                <a:solidFill>
                  <a:srgbClr val="1E2124"/>
                </a:solidFill>
                <a:latin typeface="Poppins"/>
              </a:rPr>
              <a:t>(</a:t>
            </a:r>
            <a:r>
              <a:rPr lang="fr-FR" sz="1000" i="1">
                <a:solidFill>
                  <a:srgbClr val="1E2124"/>
                </a:solidFill>
                <a:latin typeface="Poppins"/>
              </a:rPr>
              <a:t>APP GW TCP/IP support</a:t>
            </a:r>
            <a:r>
              <a:rPr lang="fr-FR" sz="1100" i="1">
                <a:solidFill>
                  <a:srgbClr val="1E2124"/>
                </a:solidFill>
                <a:latin typeface="Poppins"/>
              </a:rPr>
              <a:t>)</a:t>
            </a:r>
          </a:p>
          <a:p>
            <a:pPr algn="ctr"/>
            <a:endParaRPr lang="fr-FR" sz="1000" i="1">
              <a:solidFill>
                <a:srgbClr val="1E2124"/>
              </a:solidFill>
              <a:latin typeface="Poppins"/>
            </a:endParaRPr>
          </a:p>
        </p:txBody>
      </p:sp>
      <p:sp>
        <p:nvSpPr>
          <p:cNvPr id="2" name="Cylindre 1">
            <a:extLst>
              <a:ext uri="{FF2B5EF4-FFF2-40B4-BE49-F238E27FC236}">
                <a16:creationId xmlns:a16="http://schemas.microsoft.com/office/drawing/2014/main" id="{D0186E14-2A19-BC8E-A64B-48FEAE01BDEE}"/>
              </a:ext>
            </a:extLst>
          </p:cNvPr>
          <p:cNvSpPr/>
          <p:nvPr/>
        </p:nvSpPr>
        <p:spPr>
          <a:xfrm rot="16200000">
            <a:off x="4704716" y="5187192"/>
            <a:ext cx="425005" cy="1385613"/>
          </a:xfrm>
          <a:prstGeom prst="can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BYCN</a:t>
            </a:r>
          </a:p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r-FR" sz="1100" i="1" kern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(</a:t>
            </a:r>
            <a:r>
              <a:rPr lang="fr-FR" sz="1100" i="1" kern="0" err="1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Private</a:t>
            </a:r>
            <a:r>
              <a:rPr lang="fr-FR" sz="1100" i="1" kern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)</a:t>
            </a:r>
            <a:endParaRPr kumimoji="0" lang="fr-FR" sz="11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ylindre 2">
            <a:extLst>
              <a:ext uri="{FF2B5EF4-FFF2-40B4-BE49-F238E27FC236}">
                <a16:creationId xmlns:a16="http://schemas.microsoft.com/office/drawing/2014/main" id="{E39B9682-7F30-5710-6533-418D9D257A12}"/>
              </a:ext>
            </a:extLst>
          </p:cNvPr>
          <p:cNvSpPr/>
          <p:nvPr/>
        </p:nvSpPr>
        <p:spPr>
          <a:xfrm rot="16200000">
            <a:off x="7164849" y="4265150"/>
            <a:ext cx="425003" cy="3229695"/>
          </a:xfrm>
          <a:prstGeom prst="can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Internet</a:t>
            </a:r>
          </a:p>
        </p:txBody>
      </p:sp>
      <p:sp>
        <p:nvSpPr>
          <p:cNvPr id="5" name="Cylindre 4">
            <a:extLst>
              <a:ext uri="{FF2B5EF4-FFF2-40B4-BE49-F238E27FC236}">
                <a16:creationId xmlns:a16="http://schemas.microsoft.com/office/drawing/2014/main" id="{5954A8BD-7617-6BA9-8EC3-8AB29D9B98CF}"/>
              </a:ext>
            </a:extLst>
          </p:cNvPr>
          <p:cNvSpPr/>
          <p:nvPr/>
        </p:nvSpPr>
        <p:spPr>
          <a:xfrm rot="16200000">
            <a:off x="3087507" y="5195533"/>
            <a:ext cx="425003" cy="1368931"/>
          </a:xfrm>
          <a:prstGeom prst="can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Internet</a:t>
            </a:r>
          </a:p>
        </p:txBody>
      </p:sp>
      <p:sp>
        <p:nvSpPr>
          <p:cNvPr id="6" name="Cylindre 5">
            <a:extLst>
              <a:ext uri="{FF2B5EF4-FFF2-40B4-BE49-F238E27FC236}">
                <a16:creationId xmlns:a16="http://schemas.microsoft.com/office/drawing/2014/main" id="{3B21DBBF-70BE-D902-6722-B4BCFC86D6A1}"/>
              </a:ext>
            </a:extLst>
          </p:cNvPr>
          <p:cNvSpPr/>
          <p:nvPr/>
        </p:nvSpPr>
        <p:spPr>
          <a:xfrm rot="16200000">
            <a:off x="1859506" y="5456432"/>
            <a:ext cx="425003" cy="847133"/>
          </a:xfrm>
          <a:prstGeom prst="can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BYCN</a:t>
            </a:r>
          </a:p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r-FR" sz="1100" i="1" kern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(</a:t>
            </a:r>
            <a:r>
              <a:rPr lang="fr-FR" sz="1100" i="1" kern="0" err="1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Private</a:t>
            </a:r>
            <a:r>
              <a:rPr lang="fr-FR" sz="1100" i="1" kern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)</a:t>
            </a:r>
            <a:endParaRPr kumimoji="0" lang="fr-FR" sz="11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47DC850-8E23-3074-E216-61D86C4561E6}"/>
              </a:ext>
            </a:extLst>
          </p:cNvPr>
          <p:cNvCxnSpPr>
            <a:cxnSpLocks/>
            <a:stCxn id="99" idx="3"/>
            <a:endCxn id="57" idx="1"/>
          </p:cNvCxnSpPr>
          <p:nvPr/>
        </p:nvCxnSpPr>
        <p:spPr>
          <a:xfrm flipV="1">
            <a:off x="7225312" y="3444240"/>
            <a:ext cx="416765" cy="4122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C89A3779-AC6B-18E9-6E3A-56CAE419B928}"/>
              </a:ext>
            </a:extLst>
          </p:cNvPr>
          <p:cNvSpPr txBox="1"/>
          <p:nvPr/>
        </p:nvSpPr>
        <p:spPr>
          <a:xfrm>
            <a:off x="6150305" y="1991652"/>
            <a:ext cx="1187496" cy="343667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/>
            <a:r>
              <a:rPr lang="fr-FR" err="1">
                <a:solidFill>
                  <a:srgbClr val="00A5E5"/>
                </a:solidFill>
                <a:latin typeface="Poppins"/>
              </a:rPr>
              <a:t>Mulesoft</a:t>
            </a:r>
            <a:endParaRPr lang="fr-FR">
              <a:solidFill>
                <a:srgbClr val="00A5E5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02744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re 2">
            <a:extLst>
              <a:ext uri="{FF2B5EF4-FFF2-40B4-BE49-F238E27FC236}">
                <a16:creationId xmlns:a16="http://schemas.microsoft.com/office/drawing/2014/main" id="{3024C1C1-CEDF-3B7E-7864-C6AEC1CAE4F6}"/>
              </a:ext>
            </a:extLst>
          </p:cNvPr>
          <p:cNvSpPr txBox="1">
            <a:spLocks/>
          </p:cNvSpPr>
          <p:nvPr/>
        </p:nvSpPr>
        <p:spPr>
          <a:xfrm>
            <a:off x="539866" y="598891"/>
            <a:ext cx="10344079" cy="4816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>
                <a:solidFill>
                  <a:schemeClr val="tx1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200" b="1" i="0" u="none" strike="noStrike" kern="120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ea typeface="+mj-ea"/>
                <a:cs typeface="Poppins" pitchFamily="2" charset="77"/>
              </a:rPr>
              <a:t>Cible Azure service bus – private enpoint</a:t>
            </a:r>
          </a:p>
        </p:txBody>
      </p:sp>
      <p:pic>
        <p:nvPicPr>
          <p:cNvPr id="3" name="Image 2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88B4E009-D8A6-91FA-2904-9B335FB09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66" y="1080561"/>
            <a:ext cx="10164594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25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Publicité en ligne&#10;&#10;Description générée automatiquement">
            <a:extLst>
              <a:ext uri="{FF2B5EF4-FFF2-40B4-BE49-F238E27FC236}">
                <a16:creationId xmlns:a16="http://schemas.microsoft.com/office/drawing/2014/main" id="{2E94487C-FB8A-E16E-A2CF-EC852F877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85" y="233809"/>
            <a:ext cx="10952629" cy="639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48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logiciel, Site web&#10;&#10;Description générée automatiquement">
            <a:extLst>
              <a:ext uri="{FF2B5EF4-FFF2-40B4-BE49-F238E27FC236}">
                <a16:creationId xmlns:a16="http://schemas.microsoft.com/office/drawing/2014/main" id="{834EED2E-DA70-41E0-A363-53627DB4A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84" y="159026"/>
            <a:ext cx="10912872" cy="636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1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4B709AB2-398D-1DC0-6E27-C7B57CF6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24/07/2023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8770980B-9B0A-C3C1-52FE-77F0DBA25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 Biberon-Valenti BOUYGUES CONSTRUCTION |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A813C075-5A99-92C4-FD96-5A3CAA96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6EB1-B284-8541-B839-321F682B6B05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BE5C057E-35FE-21E0-CECB-BF56309B70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1509" y="263014"/>
            <a:ext cx="5064254" cy="375125"/>
          </a:xfrm>
        </p:spPr>
        <p:txBody>
          <a:bodyPr wrap="square" lIns="0" tIns="0" rIns="0" bIns="0" anchor="ctr" anchorCtr="0">
            <a:normAutofit fontScale="92500"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sz="1800"/>
              <a:t>Diffusion des modifications depuis le référentiel (MDM)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637F026-8C9B-988B-5727-3EBFCE99021A}"/>
              </a:ext>
            </a:extLst>
          </p:cNvPr>
          <p:cNvGrpSpPr/>
          <p:nvPr/>
        </p:nvGrpSpPr>
        <p:grpSpPr>
          <a:xfrm>
            <a:off x="0" y="726895"/>
            <a:ext cx="5033553" cy="375126"/>
            <a:chOff x="-5557295" y="172402"/>
            <a:chExt cx="5860125" cy="375126"/>
          </a:xfrm>
          <a:solidFill>
            <a:schemeClr val="accent3"/>
          </a:solidFill>
        </p:grpSpPr>
        <p:sp>
          <p:nvSpPr>
            <p:cNvPr id="4" name="Forme libre 8">
              <a:extLst>
                <a:ext uri="{FF2B5EF4-FFF2-40B4-BE49-F238E27FC236}">
                  <a16:creationId xmlns:a16="http://schemas.microsoft.com/office/drawing/2014/main" id="{B2187CD1-3272-EAC8-61FC-449B93CCF0FF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5" name="Forme libre 9">
              <a:extLst>
                <a:ext uri="{FF2B5EF4-FFF2-40B4-BE49-F238E27FC236}">
                  <a16:creationId xmlns:a16="http://schemas.microsoft.com/office/drawing/2014/main" id="{0624D030-63FD-CBB7-1B40-447F72DA3B02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6" name="Espace réservé du texte 1">
            <a:extLst>
              <a:ext uri="{FF2B5EF4-FFF2-40B4-BE49-F238E27FC236}">
                <a16:creationId xmlns:a16="http://schemas.microsoft.com/office/drawing/2014/main" id="{E27F4882-72C8-0E82-AAA0-40F5FC7BE278}"/>
              </a:ext>
            </a:extLst>
          </p:cNvPr>
          <p:cNvSpPr txBox="1">
            <a:spLocks/>
          </p:cNvSpPr>
          <p:nvPr/>
        </p:nvSpPr>
        <p:spPr>
          <a:xfrm>
            <a:off x="251508" y="724568"/>
            <a:ext cx="4628006" cy="3751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solidFill>
                  <a:srgbClr val="FFFFFF"/>
                </a:solidFill>
                <a:latin typeface="Calibri"/>
              </a:rPr>
              <a:t>01 – Qualification de la demande </a:t>
            </a: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5E42084E-277F-7F05-A2D6-7F43FD0D561B}"/>
              </a:ext>
            </a:extLst>
          </p:cNvPr>
          <p:cNvGrpSpPr>
            <a:grpSpLocks noChangeAspect="1"/>
          </p:cNvGrpSpPr>
          <p:nvPr/>
        </p:nvGrpSpPr>
        <p:grpSpPr>
          <a:xfrm>
            <a:off x="87243" y="3533312"/>
            <a:ext cx="932155" cy="932155"/>
            <a:chOff x="7847126" y="3560854"/>
            <a:chExt cx="2954442" cy="2954442"/>
          </a:xfrm>
        </p:grpSpPr>
        <p:pic>
          <p:nvPicPr>
            <p:cNvPr id="14" name="Image 13" descr="Une image contenant coiffe, casque, graphique vectoriel&#10;&#10;Description générée automatiquement">
              <a:extLst>
                <a:ext uri="{FF2B5EF4-FFF2-40B4-BE49-F238E27FC236}">
                  <a16:creationId xmlns:a16="http://schemas.microsoft.com/office/drawing/2014/main" id="{9DD49865-80F8-6E12-458B-F674D56EC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47126" y="3560854"/>
              <a:ext cx="2954442" cy="2954442"/>
            </a:xfrm>
            <a:prstGeom prst="rect">
              <a:avLst/>
            </a:prstGeom>
          </p:spPr>
        </p:pic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8C7019BB-B5EA-E9D2-095E-CA6F06C7383C}"/>
                </a:ext>
              </a:extLst>
            </p:cNvPr>
            <p:cNvSpPr/>
            <p:nvPr/>
          </p:nvSpPr>
          <p:spPr>
            <a:xfrm rot="411817">
              <a:off x="8935116" y="4350494"/>
              <a:ext cx="940666" cy="233445"/>
            </a:xfrm>
            <a:prstGeom prst="roundRect">
              <a:avLst>
                <a:gd name="adj" fmla="val 584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>
                <a:lnSpc>
                  <a:spcPct val="75000"/>
                </a:lnSpc>
              </a:pPr>
              <a:r>
                <a:rPr lang="fr-FR" sz="800" b="1">
                  <a:solidFill>
                    <a:schemeClr val="bg1"/>
                  </a:solidFill>
                  <a:latin typeface="Laetijoy 1" pitchFamily="2" charset="0"/>
                </a:rPr>
                <a:t>Métier</a:t>
              </a:r>
              <a:endParaRPr lang="fr-FR" sz="1000" b="1">
                <a:solidFill>
                  <a:schemeClr val="bg1"/>
                </a:solidFill>
                <a:latin typeface="Laetijoy 1" pitchFamily="2" charset="0"/>
              </a:endParaRPr>
            </a:p>
          </p:txBody>
        </p:sp>
      </p:grpSp>
      <p:graphicFrame>
        <p:nvGraphicFramePr>
          <p:cNvPr id="21" name="Tableau 6">
            <a:extLst>
              <a:ext uri="{FF2B5EF4-FFF2-40B4-BE49-F238E27FC236}">
                <a16:creationId xmlns:a16="http://schemas.microsoft.com/office/drawing/2014/main" id="{014C4E31-D7EA-886F-61C4-F8A8F5E90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974182"/>
              </p:ext>
            </p:extLst>
          </p:nvPr>
        </p:nvGraphicFramePr>
        <p:xfrm>
          <a:off x="1133181" y="1019584"/>
          <a:ext cx="10223816" cy="5354900"/>
        </p:xfrm>
        <a:graphic>
          <a:graphicData uri="http://schemas.openxmlformats.org/drawingml/2006/table">
            <a:tbl>
              <a:tblPr firstCol="1" bandCol="1">
                <a:tableStyleId>{7DF18680-E054-41AD-8BC1-D1AEF772440D}</a:tableStyleId>
              </a:tblPr>
              <a:tblGrid>
                <a:gridCol w="1107511">
                  <a:extLst>
                    <a:ext uri="{9D8B030D-6E8A-4147-A177-3AD203B41FA5}">
                      <a16:colId xmlns:a16="http://schemas.microsoft.com/office/drawing/2014/main" val="117154774"/>
                    </a:ext>
                  </a:extLst>
                </a:gridCol>
                <a:gridCol w="1469773">
                  <a:extLst>
                    <a:ext uri="{9D8B030D-6E8A-4147-A177-3AD203B41FA5}">
                      <a16:colId xmlns:a16="http://schemas.microsoft.com/office/drawing/2014/main" val="4254955481"/>
                    </a:ext>
                  </a:extLst>
                </a:gridCol>
                <a:gridCol w="1473693">
                  <a:extLst>
                    <a:ext uri="{9D8B030D-6E8A-4147-A177-3AD203B41FA5}">
                      <a16:colId xmlns:a16="http://schemas.microsoft.com/office/drawing/2014/main" val="3457584057"/>
                    </a:ext>
                  </a:extLst>
                </a:gridCol>
                <a:gridCol w="1438182">
                  <a:extLst>
                    <a:ext uri="{9D8B030D-6E8A-4147-A177-3AD203B41FA5}">
                      <a16:colId xmlns:a16="http://schemas.microsoft.com/office/drawing/2014/main" val="2525723323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96050869"/>
                    </a:ext>
                  </a:extLst>
                </a:gridCol>
                <a:gridCol w="1500327">
                  <a:extLst>
                    <a:ext uri="{9D8B030D-6E8A-4147-A177-3AD203B41FA5}">
                      <a16:colId xmlns:a16="http://schemas.microsoft.com/office/drawing/2014/main" val="3702916320"/>
                    </a:ext>
                  </a:extLst>
                </a:gridCol>
                <a:gridCol w="1558745">
                  <a:extLst>
                    <a:ext uri="{9D8B030D-6E8A-4147-A177-3AD203B41FA5}">
                      <a16:colId xmlns:a16="http://schemas.microsoft.com/office/drawing/2014/main" val="3967806763"/>
                    </a:ext>
                  </a:extLst>
                </a:gridCol>
                <a:gridCol w="1558745">
                  <a:extLst>
                    <a:ext uri="{9D8B030D-6E8A-4147-A177-3AD203B41FA5}">
                      <a16:colId xmlns:a16="http://schemas.microsoft.com/office/drawing/2014/main" val="1805777771"/>
                    </a:ext>
                  </a:extLst>
                </a:gridCol>
              </a:tblGrid>
              <a:tr h="49482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/>
                        <a:t>Acteurs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strike="noStrike">
                          <a:solidFill>
                            <a:schemeClr val="tx1"/>
                          </a:solidFill>
                        </a:rPr>
                        <a:t>Demandeur métier </a:t>
                      </a:r>
                      <a:r>
                        <a:rPr lang="fr-FR" sz="1000" strike="noStrike">
                          <a:solidFill>
                            <a:schemeClr val="tx1"/>
                          </a:solidFill>
                        </a:rPr>
                        <a:t>(Demandeur IT pour l’IT)</a:t>
                      </a:r>
                      <a:endParaRPr lang="fr-FR" sz="1100" strike="noStrik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/>
                        <a:t>Frédéric VROMONT</a:t>
                      </a:r>
                      <a:endParaRPr lang="fr-FR" sz="1100" strike="noStrik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Sponsor métier </a:t>
                      </a:r>
                      <a:b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(si connu)</a:t>
                      </a:r>
                      <a:endParaRPr lang="fr-FR" sz="1100" strike="noStrik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/>
                        <a:t>Johan TULMETS</a:t>
                      </a:r>
                      <a:endParaRPr lang="fr-FR" sz="1100" strike="noStrike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strike="noStrik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Direction/OU à l’origine de la demande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DADI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08215"/>
                  </a:ext>
                </a:extLst>
              </a:tr>
              <a:tr h="59076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Pilote Digital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(Référent digital, correspondant IT …)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Sylvain BRENNE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Sponsor Digital</a:t>
                      </a:r>
                      <a:br>
                        <a:rPr lang="fr-FR" sz="1100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1050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(Identifié en séance)</a:t>
                      </a:r>
                      <a:endParaRPr lang="fr-FR" sz="1100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/>
                        <a:t>Johan TULMETS</a:t>
                      </a:r>
                      <a:endParaRPr lang="fr-FR" sz="1100" strike="noStrik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OTP</a:t>
                      </a:r>
                      <a:br>
                        <a:rPr lang="fr-FR" sz="1100"/>
                      </a:br>
                      <a:r>
                        <a:rPr lang="fr-FR" sz="1100"/>
                        <a:t>(OTP générique à la création de la demande)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092982"/>
                  </a:ext>
                </a:extLst>
              </a:tr>
              <a:tr h="562749"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Contexte et besoins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</a:pP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Pourquoi ? Décrire l’origine de la demande/besoin et son contexte</a:t>
                      </a:r>
                    </a:p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</a:pP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Pourquoi maintenant ? Quel est le facteur déclenchant ? Quel est le problème à résoudre ?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Décrire les besoins principaux auxquels il faut répondre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081618"/>
                  </a:ext>
                </a:extLst>
              </a:tr>
              <a:tr h="670620">
                <a:tc>
                  <a:txBody>
                    <a:bodyPr/>
                    <a:lstStyle/>
                    <a:p>
                      <a:pPr algn="ctr"/>
                      <a:r>
                        <a:rPr lang="fr-FR" sz="1200" b="1"/>
                        <a:t>Analyse de la valeur</a:t>
                      </a:r>
                      <a:endParaRPr lang="fr-FR" sz="120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Quelle valeur attendue ? : amélioration du service/processus, amélioration expérience/parcours utilisateurs, développement commercial/affaires, gain financier, réduction impact environnemental, réduction des risques (conformité, santé et sécurité, opérations, finances, cyber, résiliences, PCA ...)</a:t>
                      </a:r>
                    </a:p>
                    <a:p>
                      <a:pPr marL="285750" marR="0" lvl="0" indent="-2857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100"/>
                        <a:t>Préciser les hypothèses de calcul lorsque la valeur attendue peut-être quantifiée dès cette étape (Retour sur Investissement / ROI)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900990"/>
                  </a:ext>
                </a:extLst>
              </a:tr>
              <a:tr h="516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Impacts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Quels domaines métiers sont impactés ? 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Quels processus sont impactés ? Quels domaines techniques ou fonctionnels sont impactés (inclure les dépendances) ? </a:t>
                      </a:r>
                      <a:r>
                        <a:rPr lang="fr-FR" sz="11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732135"/>
                  </a:ext>
                </a:extLst>
              </a:tr>
              <a:tr h="499877"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Utilisateurs cible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FR" sz="1100"/>
                        <a:t>Nombre d’utilisateurs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/>
                        <a:t>&lt; 50 utilisateurs </a:t>
                      </a:r>
                      <a:br>
                        <a:rPr lang="fr-FR" sz="900"/>
                      </a:br>
                      <a:r>
                        <a:rPr lang="fr-FR" sz="900"/>
                        <a:t>50 &gt; Utilisateurs &lt; 100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/>
                        <a:t>100 &gt; Utilisateurs &lt; 500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/>
                        <a:t>500 &gt; Utilisateurs &lt; 1000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/>
                        <a:t>&gt; 1000 utilisateurs</a:t>
                      </a:r>
                      <a:endParaRPr lang="fr-FR" sz="110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 d’impacts</a:t>
                      </a:r>
                      <a:endParaRPr lang="fr-FR" sz="90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FR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Pas d’impact</a:t>
                      </a:r>
                      <a:br>
                        <a:rPr lang="fr-FR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négatif</a:t>
                      </a:r>
                      <a:br>
                        <a:rPr lang="fr-FR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positif faible, Impact positif moyen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fr-FR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positif fort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 connu ou défini en séance :</a:t>
                      </a:r>
                      <a:br>
                        <a:rPr lang="fr-FR" sz="1100" b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1100" b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Où ? : Une ou des entité(s) ? Un ou des pays ? - Quel périmètre de déploiement 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Typologie : Local/mutualisé/mutualisable/groupe  </a:t>
                      </a:r>
                      <a:b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Nota bene : si définit en réunion, conserver cette précision dans le texte</a:t>
                      </a:r>
                      <a:endParaRPr lang="fr-FR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358528"/>
                  </a:ext>
                </a:extLst>
              </a:tr>
              <a:tr h="41874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/>
                        <a:t>Dates et enveloppes budgétaires 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>
                          <a:solidFill>
                            <a:schemeClr val="tx1"/>
                          </a:solidFill>
                        </a:rPr>
                        <a:t>Date envisagée d’engagement 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>
                          <a:solidFill>
                            <a:schemeClr val="tx1"/>
                          </a:solidFill>
                        </a:rPr>
                        <a:t>jj/mm/</a:t>
                      </a:r>
                      <a:r>
                        <a:rPr lang="fr-FR" sz="1100" b="0" err="1">
                          <a:solidFill>
                            <a:schemeClr val="tx1"/>
                          </a:solidFill>
                        </a:rPr>
                        <a:t>aa</a:t>
                      </a:r>
                      <a:r>
                        <a:rPr lang="fr-FR" sz="1100" b="0">
                          <a:solidFill>
                            <a:schemeClr val="tx1"/>
                          </a:solidFill>
                        </a:rPr>
                        <a:t> ou Fin mars 2023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/>
                        <a:t>Nombre de jours estimés pour le cadrage du projet</a:t>
                      </a:r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/>
                        <a:t>Nombre de jours</a:t>
                      </a:r>
                      <a:endParaRPr lang="fr-FR" sz="90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157957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1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>
                          <a:solidFill>
                            <a:schemeClr val="tx1"/>
                          </a:solidFill>
                        </a:rPr>
                        <a:t>Date souhaitée de mise en service 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>
                          <a:solidFill>
                            <a:schemeClr val="tx1"/>
                          </a:solidFill>
                        </a:rPr>
                        <a:t>jj/mm/</a:t>
                      </a:r>
                      <a:r>
                        <a:rPr lang="fr-FR" sz="1100" b="0" err="1">
                          <a:solidFill>
                            <a:schemeClr val="tx1"/>
                          </a:solidFill>
                        </a:rPr>
                        <a:t>aa</a:t>
                      </a:r>
                      <a:r>
                        <a:rPr lang="fr-FR" sz="1100" b="0">
                          <a:solidFill>
                            <a:schemeClr val="tx1"/>
                          </a:solidFill>
                        </a:rPr>
                        <a:t> ou Fin septembre 2024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Enveloppe budgétaire total pluri annuel du projet (software, hardware, main d’œuvre… projet et maintenance)</a:t>
                      </a:r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/>
                        <a:t>Env:&lt; 50K€, 50 k€ &gt; env &lt; 100 k€, </a:t>
                      </a:r>
                      <a:br>
                        <a:rPr lang="fr-FR" sz="1000"/>
                      </a:br>
                      <a:r>
                        <a:rPr lang="fr-FR" sz="1000"/>
                        <a:t>100 k€ &gt; env &lt;  500 k€, 500 k€ &gt; env &lt;  1000 k€, </a:t>
                      </a:r>
                      <a:br>
                        <a:rPr lang="fr-FR" sz="1000"/>
                      </a:br>
                      <a:r>
                        <a:rPr lang="fr-FR" sz="1000"/>
                        <a:t>Env &gt; 1000 K€</a:t>
                      </a:r>
                      <a:endParaRPr lang="fr-FR" sz="11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03957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fr-FR" sz="1000"/>
                        <a:t>Sources envisagées du financement</a:t>
                      </a:r>
                      <a:endParaRPr lang="fr-FR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Répartition par entités, directions, PSI,  …</a:t>
                      </a:r>
                      <a:endParaRPr lang="fr-FR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655645"/>
                  </a:ext>
                </a:extLst>
              </a:tr>
            </a:tbl>
          </a:graphicData>
        </a:graphic>
      </p:graphicFrame>
      <p:pic>
        <p:nvPicPr>
          <p:cNvPr id="23" name="Picture 2">
            <a:extLst>
              <a:ext uri="{FF2B5EF4-FFF2-40B4-BE49-F238E27FC236}">
                <a16:creationId xmlns:a16="http://schemas.microsoft.com/office/drawing/2014/main" id="{EEB3F0FB-70A4-93F5-DB25-BD768C58B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917" y="5119153"/>
            <a:ext cx="1092257" cy="109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BB69DA4-F7E6-70E9-CA78-0AADD5114427}"/>
              </a:ext>
            </a:extLst>
          </p:cNvPr>
          <p:cNvSpPr/>
          <p:nvPr/>
        </p:nvSpPr>
        <p:spPr>
          <a:xfrm rot="20456516">
            <a:off x="11096958" y="5503776"/>
            <a:ext cx="532548" cy="76660"/>
          </a:xfrm>
          <a:prstGeom prst="roundRect">
            <a:avLst>
              <a:gd name="adj" fmla="val 5846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75000"/>
              </a:lnSpc>
            </a:pPr>
            <a:r>
              <a:rPr lang="fr-FR" sz="800" b="1">
                <a:solidFill>
                  <a:schemeClr val="bg1"/>
                </a:solidFill>
                <a:latin typeface="Laetijoy 1" pitchFamily="2" charset="0"/>
              </a:rPr>
              <a:t>IT</a:t>
            </a:r>
            <a:endParaRPr lang="fr-FR" sz="1000" b="1">
              <a:solidFill>
                <a:schemeClr val="bg1"/>
              </a:solidFill>
              <a:latin typeface="Laetijoy 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365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que 20">
            <a:extLst>
              <a:ext uri="{FF2B5EF4-FFF2-40B4-BE49-F238E27FC236}">
                <a16:creationId xmlns:a16="http://schemas.microsoft.com/office/drawing/2014/main" id="{F3EB1695-D944-59D5-4922-7284BB5B5A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7364" y="1951672"/>
            <a:ext cx="1437727" cy="576588"/>
          </a:xfrm>
          <a:prstGeom prst="rect">
            <a:avLst/>
          </a:prstGeom>
        </p:spPr>
      </p:pic>
      <p:sp>
        <p:nvSpPr>
          <p:cNvPr id="31" name="Espace réservé du texte 48">
            <a:extLst>
              <a:ext uri="{FF2B5EF4-FFF2-40B4-BE49-F238E27FC236}">
                <a16:creationId xmlns:a16="http://schemas.microsoft.com/office/drawing/2014/main" id="{525CC9BB-7373-DE9B-8218-4BB5EAC910E7}"/>
              </a:ext>
            </a:extLst>
          </p:cNvPr>
          <p:cNvSpPr txBox="1">
            <a:spLocks/>
          </p:cNvSpPr>
          <p:nvPr/>
        </p:nvSpPr>
        <p:spPr>
          <a:xfrm>
            <a:off x="1101556" y="2082617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Franck </a:t>
            </a:r>
            <a:r>
              <a:rPr kumimoji="0" lang="fr-FR" sz="800" b="0" i="0" u="none" strike="noStrike" kern="1200" cap="none" spc="0" normalizeH="0" baseline="0" noProof="0" err="1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Meriau</a:t>
            </a:r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FACA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Espace réservé du texte 48">
            <a:extLst>
              <a:ext uri="{FF2B5EF4-FFF2-40B4-BE49-F238E27FC236}">
                <a16:creationId xmlns:a16="http://schemas.microsoft.com/office/drawing/2014/main" id="{55B7B31D-9575-585B-C1FD-D0D5D84DD1AF}"/>
              </a:ext>
            </a:extLst>
          </p:cNvPr>
          <p:cNvSpPr txBox="1">
            <a:spLocks/>
          </p:cNvSpPr>
          <p:nvPr/>
        </p:nvSpPr>
        <p:spPr>
          <a:xfrm>
            <a:off x="1101556" y="2241447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DSI BCYN / BYCN CIO</a:t>
            </a:r>
          </a:p>
        </p:txBody>
      </p:sp>
      <p:graphicFrame>
        <p:nvGraphicFramePr>
          <p:cNvPr id="7" name="Tableau 8">
            <a:extLst>
              <a:ext uri="{FF2B5EF4-FFF2-40B4-BE49-F238E27FC236}">
                <a16:creationId xmlns:a16="http://schemas.microsoft.com/office/drawing/2014/main" id="{BB845CF4-3FB6-E754-00A4-E676160EF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410974"/>
              </p:ext>
            </p:extLst>
          </p:nvPr>
        </p:nvGraphicFramePr>
        <p:xfrm>
          <a:off x="5210175" y="1943653"/>
          <a:ext cx="5970112" cy="366706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61392">
                  <a:extLst>
                    <a:ext uri="{9D8B030D-6E8A-4147-A177-3AD203B41FA5}">
                      <a16:colId xmlns:a16="http://schemas.microsoft.com/office/drawing/2014/main" val="2451520638"/>
                    </a:ext>
                  </a:extLst>
                </a:gridCol>
                <a:gridCol w="1108909">
                  <a:extLst>
                    <a:ext uri="{9D8B030D-6E8A-4147-A177-3AD203B41FA5}">
                      <a16:colId xmlns:a16="http://schemas.microsoft.com/office/drawing/2014/main" val="548718615"/>
                    </a:ext>
                  </a:extLst>
                </a:gridCol>
                <a:gridCol w="1078627">
                  <a:extLst>
                    <a:ext uri="{9D8B030D-6E8A-4147-A177-3AD203B41FA5}">
                      <a16:colId xmlns:a16="http://schemas.microsoft.com/office/drawing/2014/main" val="1045670869"/>
                    </a:ext>
                  </a:extLst>
                </a:gridCol>
                <a:gridCol w="2421184">
                  <a:extLst>
                    <a:ext uri="{9D8B030D-6E8A-4147-A177-3AD203B41FA5}">
                      <a16:colId xmlns:a16="http://schemas.microsoft.com/office/drawing/2014/main" val="3660864752"/>
                    </a:ext>
                  </a:extLst>
                </a:gridCol>
              </a:tblGrid>
              <a:tr h="256227">
                <a:tc row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Synthèse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Sélectionné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Oui / Non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207415"/>
                  </a:ext>
                </a:extLst>
              </a:tr>
              <a:tr h="39857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Suspendu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Oui / Non</a:t>
                      </a:r>
                      <a:br>
                        <a:rPr lang="fr-FR" sz="11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Pourquoi ? Date envisagée de prise en compte ? 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797617"/>
                  </a:ext>
                </a:extLst>
              </a:tr>
              <a:tr h="46472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Abandonné</a:t>
                      </a:r>
                      <a:endParaRPr lang="fr-FR" sz="110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Oui / Non</a:t>
                      </a:r>
                      <a:br>
                        <a:rPr lang="fr-FR" sz="11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Explication succincte des raisons</a:t>
                      </a:r>
                      <a:endParaRPr lang="fr-FR" sz="110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543216"/>
                  </a:ext>
                </a:extLst>
              </a:tr>
              <a:tr h="465764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Actions complémentaires 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à prendre en compte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Priorité de la demande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P1 (haute), P2, P3(faible)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097523"/>
                  </a:ext>
                </a:extLst>
              </a:tr>
              <a:tr h="95349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endParaRPr lang="fr-FR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814052"/>
                  </a:ext>
                </a:extLst>
              </a:tr>
              <a:tr h="85342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 du comité de sélection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jj/mm/</a:t>
                      </a:r>
                      <a:r>
                        <a:rPr lang="fr-FR" sz="11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  <a:endParaRPr lang="fr-FR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Statut du document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 cours de rédaction / A valider / Validé</a:t>
                      </a:r>
                    </a:p>
                    <a:p>
                      <a:pPr algn="l"/>
                      <a:endParaRPr lang="fr-FR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>
                          <a:solidFill>
                            <a:schemeClr val="accent3"/>
                          </a:solidFill>
                        </a:rPr>
                        <a:t>/!\ </a:t>
                      </a:r>
                      <a:r>
                        <a:rPr lang="fr-FR" sz="1100" b="0"/>
                        <a:t>Document à stocker dans </a:t>
                      </a:r>
                      <a:r>
                        <a:rPr lang="fr-FR" sz="1100" b="0" err="1">
                          <a:solidFill>
                            <a:schemeClr val="accent3"/>
                          </a:solidFill>
                        </a:rPr>
                        <a:t>Triskell</a:t>
                      </a:r>
                      <a:r>
                        <a:rPr lang="fr-FR" sz="1100" b="0"/>
                        <a:t>, outil de suivi du PPM/portfolio Project Management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812819"/>
                  </a:ext>
                </a:extLst>
              </a:tr>
            </a:tbl>
          </a:graphicData>
        </a:graphic>
      </p:graphicFrame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4B709AB2-398D-1DC0-6E27-C7B57CF6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24/07/2023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8770980B-9B0A-C3C1-52FE-77F0DBA25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 Biberon-Valenti BOUYGUES CONSTRUCTION |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A813C075-5A99-92C4-FD96-5A3CAA96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6EB1-B284-8541-B839-321F682B6B05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BE5C057E-35FE-21E0-CECB-BF56309B70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1509" y="263014"/>
            <a:ext cx="5064254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sz="1800"/>
              <a:t>Nom de la demande digitale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637F026-8C9B-988B-5727-3EBFCE99021A}"/>
              </a:ext>
            </a:extLst>
          </p:cNvPr>
          <p:cNvGrpSpPr/>
          <p:nvPr/>
        </p:nvGrpSpPr>
        <p:grpSpPr>
          <a:xfrm>
            <a:off x="0" y="726895"/>
            <a:ext cx="5033553" cy="375126"/>
            <a:chOff x="-5557295" y="172402"/>
            <a:chExt cx="5860125" cy="375126"/>
          </a:xfrm>
          <a:solidFill>
            <a:schemeClr val="accent3"/>
          </a:solidFill>
        </p:grpSpPr>
        <p:sp>
          <p:nvSpPr>
            <p:cNvPr id="4" name="Forme libre 8">
              <a:extLst>
                <a:ext uri="{FF2B5EF4-FFF2-40B4-BE49-F238E27FC236}">
                  <a16:creationId xmlns:a16="http://schemas.microsoft.com/office/drawing/2014/main" id="{B2187CD1-3272-EAC8-61FC-449B93CCF0FF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5" name="Forme libre 9">
              <a:extLst>
                <a:ext uri="{FF2B5EF4-FFF2-40B4-BE49-F238E27FC236}">
                  <a16:creationId xmlns:a16="http://schemas.microsoft.com/office/drawing/2014/main" id="{0624D030-63FD-CBB7-1B40-447F72DA3B02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6" name="Espace réservé du texte 1">
            <a:extLst>
              <a:ext uri="{FF2B5EF4-FFF2-40B4-BE49-F238E27FC236}">
                <a16:creationId xmlns:a16="http://schemas.microsoft.com/office/drawing/2014/main" id="{E27F4882-72C8-0E82-AAA0-40F5FC7BE278}"/>
              </a:ext>
            </a:extLst>
          </p:cNvPr>
          <p:cNvSpPr txBox="1">
            <a:spLocks/>
          </p:cNvSpPr>
          <p:nvPr/>
        </p:nvSpPr>
        <p:spPr>
          <a:xfrm>
            <a:off x="251508" y="724568"/>
            <a:ext cx="4628006" cy="3751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solidFill>
                  <a:srgbClr val="FFFFFF"/>
                </a:solidFill>
                <a:latin typeface="Calibri"/>
              </a:rPr>
              <a:t>02 – Compte rendu de décision du comité de sélection</a:t>
            </a: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Espace réservé du texte 16">
            <a:extLst>
              <a:ext uri="{FF2B5EF4-FFF2-40B4-BE49-F238E27FC236}">
                <a16:creationId xmlns:a16="http://schemas.microsoft.com/office/drawing/2014/main" id="{1BCC976C-1E65-8522-6937-A1F96FB51F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81014" y="1554090"/>
            <a:ext cx="3709246" cy="22159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1600">
                <a:solidFill>
                  <a:schemeClr val="accent3"/>
                </a:solidFill>
              </a:rPr>
              <a:t>Participants</a:t>
            </a:r>
          </a:p>
        </p:txBody>
      </p:sp>
      <p:pic>
        <p:nvPicPr>
          <p:cNvPr id="13" name="Graphique 11">
            <a:extLst>
              <a:ext uri="{FF2B5EF4-FFF2-40B4-BE49-F238E27FC236}">
                <a16:creationId xmlns:a16="http://schemas.microsoft.com/office/drawing/2014/main" id="{557A1244-2249-5FA8-EC28-DF16A863CAA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1014" y="5491313"/>
            <a:ext cx="1437727" cy="576588"/>
          </a:xfrm>
          <a:prstGeom prst="rect">
            <a:avLst/>
          </a:prstGeom>
        </p:spPr>
      </p:pic>
      <p:pic>
        <p:nvPicPr>
          <p:cNvPr id="16" name="Graphique 12">
            <a:extLst>
              <a:ext uri="{FF2B5EF4-FFF2-40B4-BE49-F238E27FC236}">
                <a16:creationId xmlns:a16="http://schemas.microsoft.com/office/drawing/2014/main" id="{774E0A48-E142-E22C-D342-478DEE92AA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0379" y="4070106"/>
            <a:ext cx="1437727" cy="576588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FCE25004-D254-0832-A04D-561BDA6AA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045" y="2651440"/>
            <a:ext cx="1437727" cy="576588"/>
          </a:xfrm>
          <a:prstGeom prst="rect">
            <a:avLst/>
          </a:prstGeom>
        </p:spPr>
      </p:pic>
      <p:pic>
        <p:nvPicPr>
          <p:cNvPr id="19" name="Graphique 24">
            <a:extLst>
              <a:ext uri="{FF2B5EF4-FFF2-40B4-BE49-F238E27FC236}">
                <a16:creationId xmlns:a16="http://schemas.microsoft.com/office/drawing/2014/main" id="{D8CC15A0-843D-E571-4CD9-B88FC27A98E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0379" y="4772265"/>
            <a:ext cx="1437727" cy="576588"/>
          </a:xfrm>
          <a:prstGeom prst="rect">
            <a:avLst/>
          </a:prstGeom>
        </p:spPr>
      </p:pic>
      <p:pic>
        <p:nvPicPr>
          <p:cNvPr id="20" name="Graphique 28">
            <a:extLst>
              <a:ext uri="{FF2B5EF4-FFF2-40B4-BE49-F238E27FC236}">
                <a16:creationId xmlns:a16="http://schemas.microsoft.com/office/drawing/2014/main" id="{86D9465C-4923-117C-07C2-DB1BFC9F92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045" y="3353599"/>
            <a:ext cx="1437727" cy="576588"/>
          </a:xfrm>
          <a:prstGeom prst="rect">
            <a:avLst/>
          </a:prstGeom>
        </p:spPr>
      </p:pic>
      <p:sp>
        <p:nvSpPr>
          <p:cNvPr id="27" name="Espace réservé du texte 48">
            <a:extLst>
              <a:ext uri="{FF2B5EF4-FFF2-40B4-BE49-F238E27FC236}">
                <a16:creationId xmlns:a16="http://schemas.microsoft.com/office/drawing/2014/main" id="{1B082B88-ECD9-D80C-EDCC-2CE18933C607}"/>
              </a:ext>
            </a:extLst>
          </p:cNvPr>
          <p:cNvSpPr txBox="1">
            <a:spLocks/>
          </p:cNvSpPr>
          <p:nvPr/>
        </p:nvSpPr>
        <p:spPr>
          <a:xfrm>
            <a:off x="1101556" y="4194705"/>
            <a:ext cx="612000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Johan </a:t>
            </a:r>
            <a:r>
              <a:rPr kumimoji="0" lang="fr-FR" sz="800" b="0" i="0" u="none" strike="noStrike" kern="1200" cap="none" spc="0" normalizeH="0" baseline="0" noProof="0" err="1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Tulmets</a:t>
            </a:r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FACA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Espace réservé du texte 48">
            <a:extLst>
              <a:ext uri="{FF2B5EF4-FFF2-40B4-BE49-F238E27FC236}">
                <a16:creationId xmlns:a16="http://schemas.microsoft.com/office/drawing/2014/main" id="{CA2F585A-26DB-CF98-A2D5-90D2FB56707C}"/>
              </a:ext>
            </a:extLst>
          </p:cNvPr>
          <p:cNvSpPr txBox="1">
            <a:spLocks/>
          </p:cNvSpPr>
          <p:nvPr/>
        </p:nvSpPr>
        <p:spPr>
          <a:xfrm>
            <a:off x="1101556" y="4359885"/>
            <a:ext cx="612000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Archi, Data </a:t>
            </a:r>
            <a:b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</a:b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&amp; innovation</a:t>
            </a:r>
          </a:p>
        </p:txBody>
      </p:sp>
      <p:sp>
        <p:nvSpPr>
          <p:cNvPr id="29" name="Espace réservé du texte 48">
            <a:extLst>
              <a:ext uri="{FF2B5EF4-FFF2-40B4-BE49-F238E27FC236}">
                <a16:creationId xmlns:a16="http://schemas.microsoft.com/office/drawing/2014/main" id="{A84C28FA-9D99-DDC7-2DAC-BBADAC32EAD0}"/>
              </a:ext>
            </a:extLst>
          </p:cNvPr>
          <p:cNvSpPr txBox="1">
            <a:spLocks/>
          </p:cNvSpPr>
          <p:nvPr/>
        </p:nvSpPr>
        <p:spPr>
          <a:xfrm>
            <a:off x="1101556" y="2776039"/>
            <a:ext cx="612000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 Schultz</a:t>
            </a:r>
          </a:p>
        </p:txBody>
      </p:sp>
      <p:sp>
        <p:nvSpPr>
          <p:cNvPr id="30" name="Espace réservé du texte 48">
            <a:extLst>
              <a:ext uri="{FF2B5EF4-FFF2-40B4-BE49-F238E27FC236}">
                <a16:creationId xmlns:a16="http://schemas.microsoft.com/office/drawing/2014/main" id="{F6600C8E-D208-485F-32A0-003D18B40623}"/>
              </a:ext>
            </a:extLst>
          </p:cNvPr>
          <p:cNvSpPr txBox="1">
            <a:spLocks/>
          </p:cNvSpPr>
          <p:nvPr/>
        </p:nvSpPr>
        <p:spPr>
          <a:xfrm>
            <a:off x="1101556" y="2941219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Contrôle financier &amp; achats</a:t>
            </a:r>
          </a:p>
        </p:txBody>
      </p:sp>
      <p:sp>
        <p:nvSpPr>
          <p:cNvPr id="35" name="Espace réservé du texte 48">
            <a:extLst>
              <a:ext uri="{FF2B5EF4-FFF2-40B4-BE49-F238E27FC236}">
                <a16:creationId xmlns:a16="http://schemas.microsoft.com/office/drawing/2014/main" id="{6A89E4FD-348F-FD5A-6CD3-5B9555498FC6}"/>
              </a:ext>
            </a:extLst>
          </p:cNvPr>
          <p:cNvSpPr txBox="1">
            <a:spLocks/>
          </p:cNvSpPr>
          <p:nvPr/>
        </p:nvSpPr>
        <p:spPr>
          <a:xfrm>
            <a:off x="1101556" y="3490894"/>
            <a:ext cx="925281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Marais </a:t>
            </a:r>
            <a:r>
              <a:rPr kumimoji="0" lang="fr-FR" sz="800" b="0" i="0" u="none" strike="noStrike" kern="1200" cap="none" spc="0" normalizeH="0" baseline="0" noProof="0" err="1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Machurat</a:t>
            </a:r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FACA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Espace réservé du texte 48">
            <a:extLst>
              <a:ext uri="{FF2B5EF4-FFF2-40B4-BE49-F238E27FC236}">
                <a16:creationId xmlns:a16="http://schemas.microsoft.com/office/drawing/2014/main" id="{0777F5AA-F2DF-D39C-ECCB-EDADD5184041}"/>
              </a:ext>
            </a:extLst>
          </p:cNvPr>
          <p:cNvSpPr txBox="1">
            <a:spLocks/>
          </p:cNvSpPr>
          <p:nvPr/>
        </p:nvSpPr>
        <p:spPr>
          <a:xfrm>
            <a:off x="1101556" y="3650994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Transfo</a:t>
            </a:r>
            <a:b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</a:b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&amp; performances</a:t>
            </a:r>
          </a:p>
        </p:txBody>
      </p:sp>
      <p:sp>
        <p:nvSpPr>
          <p:cNvPr id="40" name="Espace réservé du texte 16">
            <a:extLst>
              <a:ext uri="{FF2B5EF4-FFF2-40B4-BE49-F238E27FC236}">
                <a16:creationId xmlns:a16="http://schemas.microsoft.com/office/drawing/2014/main" id="{D2776E20-C595-8BAB-7A6C-A06E09868EC3}"/>
              </a:ext>
            </a:extLst>
          </p:cNvPr>
          <p:cNvSpPr txBox="1">
            <a:spLocks/>
          </p:cNvSpPr>
          <p:nvPr/>
        </p:nvSpPr>
        <p:spPr>
          <a:xfrm>
            <a:off x="5210175" y="1554090"/>
            <a:ext cx="5970014" cy="2215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fr-FR" sz="1600">
                <a:solidFill>
                  <a:schemeClr val="accent3"/>
                </a:solidFill>
              </a:rPr>
              <a:t>Décisions</a:t>
            </a:r>
          </a:p>
        </p:txBody>
      </p:sp>
      <p:pic>
        <p:nvPicPr>
          <p:cNvPr id="8" name="Graphique 11">
            <a:extLst>
              <a:ext uri="{FF2B5EF4-FFF2-40B4-BE49-F238E27FC236}">
                <a16:creationId xmlns:a16="http://schemas.microsoft.com/office/drawing/2014/main" id="{0819A0F9-8A02-1F03-F0C6-1275CE0F470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5164" y="1951188"/>
            <a:ext cx="1437727" cy="576588"/>
          </a:xfrm>
          <a:prstGeom prst="rect">
            <a:avLst/>
          </a:prstGeom>
        </p:spPr>
      </p:pic>
      <p:sp>
        <p:nvSpPr>
          <p:cNvPr id="38" name="Espace réservé du texte 48">
            <a:extLst>
              <a:ext uri="{FF2B5EF4-FFF2-40B4-BE49-F238E27FC236}">
                <a16:creationId xmlns:a16="http://schemas.microsoft.com/office/drawing/2014/main" id="{4EF9CE49-40AB-81F8-EF7F-9777B8A0570C}"/>
              </a:ext>
            </a:extLst>
          </p:cNvPr>
          <p:cNvSpPr txBox="1">
            <a:spLocks/>
          </p:cNvSpPr>
          <p:nvPr/>
        </p:nvSpPr>
        <p:spPr>
          <a:xfrm>
            <a:off x="2517606" y="2075787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Prénom Nom</a:t>
            </a:r>
          </a:p>
        </p:txBody>
      </p:sp>
      <p:sp>
        <p:nvSpPr>
          <p:cNvPr id="39" name="Espace réservé du texte 48">
            <a:extLst>
              <a:ext uri="{FF2B5EF4-FFF2-40B4-BE49-F238E27FC236}">
                <a16:creationId xmlns:a16="http://schemas.microsoft.com/office/drawing/2014/main" id="{F1414FE4-2DCA-3FE5-09F1-E8A59C0E73E6}"/>
              </a:ext>
            </a:extLst>
          </p:cNvPr>
          <p:cNvSpPr txBox="1">
            <a:spLocks/>
          </p:cNvSpPr>
          <p:nvPr/>
        </p:nvSpPr>
        <p:spPr>
          <a:xfrm>
            <a:off x="2517606" y="2240060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Demandeur métier </a:t>
            </a:r>
          </a:p>
        </p:txBody>
      </p:sp>
      <p:pic>
        <p:nvPicPr>
          <p:cNvPr id="41" name="Graphique 12">
            <a:extLst>
              <a:ext uri="{FF2B5EF4-FFF2-40B4-BE49-F238E27FC236}">
                <a16:creationId xmlns:a16="http://schemas.microsoft.com/office/drawing/2014/main" id="{2455D324-3C1A-0663-1045-26E98033822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58179" y="4784481"/>
            <a:ext cx="1437727" cy="576588"/>
          </a:xfrm>
          <a:prstGeom prst="rect">
            <a:avLst/>
          </a:prstGeom>
        </p:spPr>
      </p:pic>
      <p:pic>
        <p:nvPicPr>
          <p:cNvPr id="42" name="Graphique 16">
            <a:extLst>
              <a:ext uri="{FF2B5EF4-FFF2-40B4-BE49-F238E27FC236}">
                <a16:creationId xmlns:a16="http://schemas.microsoft.com/office/drawing/2014/main" id="{0B5F3DEC-8C39-72CD-2832-ECD79D4855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48845" y="3365815"/>
            <a:ext cx="1437727" cy="576588"/>
          </a:xfrm>
          <a:prstGeom prst="rect">
            <a:avLst/>
          </a:prstGeom>
        </p:spPr>
      </p:pic>
      <p:pic>
        <p:nvPicPr>
          <p:cNvPr id="43" name="Graphique 20">
            <a:extLst>
              <a:ext uri="{FF2B5EF4-FFF2-40B4-BE49-F238E27FC236}">
                <a16:creationId xmlns:a16="http://schemas.microsoft.com/office/drawing/2014/main" id="{9A2DE9DC-DB09-8DCD-5D5E-930DB2B3238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5164" y="2653347"/>
            <a:ext cx="1437727" cy="576588"/>
          </a:xfrm>
          <a:prstGeom prst="rect">
            <a:avLst/>
          </a:prstGeom>
        </p:spPr>
      </p:pic>
      <p:pic>
        <p:nvPicPr>
          <p:cNvPr id="44" name="Graphique 24">
            <a:extLst>
              <a:ext uri="{FF2B5EF4-FFF2-40B4-BE49-F238E27FC236}">
                <a16:creationId xmlns:a16="http://schemas.microsoft.com/office/drawing/2014/main" id="{84FAE9F2-20A4-1BF1-EF16-1F0ACFE577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58179" y="5486640"/>
            <a:ext cx="1437727" cy="576588"/>
          </a:xfrm>
          <a:prstGeom prst="rect">
            <a:avLst/>
          </a:prstGeom>
        </p:spPr>
      </p:pic>
      <p:pic>
        <p:nvPicPr>
          <p:cNvPr id="45" name="Graphique 28">
            <a:extLst>
              <a:ext uri="{FF2B5EF4-FFF2-40B4-BE49-F238E27FC236}">
                <a16:creationId xmlns:a16="http://schemas.microsoft.com/office/drawing/2014/main" id="{49950B5E-4B14-74F0-0082-9AD9F2EA113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48845" y="4067974"/>
            <a:ext cx="1437727" cy="576588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C12927EC-848F-017B-BCEE-6C502BD43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845" y="1948115"/>
            <a:ext cx="540000" cy="543442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EADF1686-F4EC-AC59-88E6-4AF9576D07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2564" y="3372465"/>
            <a:ext cx="411230" cy="540000"/>
          </a:xfrm>
          <a:prstGeom prst="rect">
            <a:avLst/>
          </a:prstGeom>
        </p:spPr>
      </p:pic>
      <p:sp>
        <p:nvSpPr>
          <p:cNvPr id="54" name="Espace réservé du texte 48">
            <a:extLst>
              <a:ext uri="{FF2B5EF4-FFF2-40B4-BE49-F238E27FC236}">
                <a16:creationId xmlns:a16="http://schemas.microsoft.com/office/drawing/2014/main" id="{6BD3FB8C-3A50-EFCB-0ABE-7475862A39D8}"/>
              </a:ext>
            </a:extLst>
          </p:cNvPr>
          <p:cNvSpPr txBox="1">
            <a:spLocks/>
          </p:cNvSpPr>
          <p:nvPr/>
        </p:nvSpPr>
        <p:spPr>
          <a:xfrm>
            <a:off x="2572875" y="4183834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Amandine Cornu</a:t>
            </a:r>
          </a:p>
        </p:txBody>
      </p:sp>
      <p:sp>
        <p:nvSpPr>
          <p:cNvPr id="55" name="Espace réservé du texte 48">
            <a:extLst>
              <a:ext uri="{FF2B5EF4-FFF2-40B4-BE49-F238E27FC236}">
                <a16:creationId xmlns:a16="http://schemas.microsoft.com/office/drawing/2014/main" id="{94EBD1F3-9FA9-1F19-5691-9B569E6F4C4E}"/>
              </a:ext>
            </a:extLst>
          </p:cNvPr>
          <p:cNvSpPr txBox="1">
            <a:spLocks/>
          </p:cNvSpPr>
          <p:nvPr/>
        </p:nvSpPr>
        <p:spPr>
          <a:xfrm>
            <a:off x="2572875" y="4342109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Produits Commerce</a:t>
            </a:r>
          </a:p>
        </p:txBody>
      </p:sp>
      <p:sp>
        <p:nvSpPr>
          <p:cNvPr id="56" name="Espace réservé du texte 48">
            <a:extLst>
              <a:ext uri="{FF2B5EF4-FFF2-40B4-BE49-F238E27FC236}">
                <a16:creationId xmlns:a16="http://schemas.microsoft.com/office/drawing/2014/main" id="{E8D8DD67-855B-535F-5615-199191C6C920}"/>
              </a:ext>
            </a:extLst>
          </p:cNvPr>
          <p:cNvSpPr txBox="1">
            <a:spLocks/>
          </p:cNvSpPr>
          <p:nvPr/>
        </p:nvSpPr>
        <p:spPr>
          <a:xfrm>
            <a:off x="2517606" y="2667532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Anne Laure Bonnin</a:t>
            </a:r>
          </a:p>
        </p:txBody>
      </p:sp>
      <p:sp>
        <p:nvSpPr>
          <p:cNvPr id="57" name="Espace réservé du texte 48">
            <a:extLst>
              <a:ext uri="{FF2B5EF4-FFF2-40B4-BE49-F238E27FC236}">
                <a16:creationId xmlns:a16="http://schemas.microsoft.com/office/drawing/2014/main" id="{53BCCBD3-C8AC-6DB5-129B-45FC3CA8E1F5}"/>
              </a:ext>
            </a:extLst>
          </p:cNvPr>
          <p:cNvSpPr txBox="1">
            <a:spLocks/>
          </p:cNvSpPr>
          <p:nvPr/>
        </p:nvSpPr>
        <p:spPr>
          <a:xfrm>
            <a:off x="2517606" y="2954914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Ressources Humaines</a:t>
            </a:r>
          </a:p>
        </p:txBody>
      </p:sp>
      <p:sp>
        <p:nvSpPr>
          <p:cNvPr id="60" name="Espace réservé du texte 48">
            <a:extLst>
              <a:ext uri="{FF2B5EF4-FFF2-40B4-BE49-F238E27FC236}">
                <a16:creationId xmlns:a16="http://schemas.microsoft.com/office/drawing/2014/main" id="{188387B2-95DF-EF55-8FBD-9F8E666CC26D}"/>
              </a:ext>
            </a:extLst>
          </p:cNvPr>
          <p:cNvSpPr txBox="1">
            <a:spLocks/>
          </p:cNvSpPr>
          <p:nvPr/>
        </p:nvSpPr>
        <p:spPr>
          <a:xfrm>
            <a:off x="1121676" y="4860768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Arnaud Loge </a:t>
            </a:r>
          </a:p>
        </p:txBody>
      </p:sp>
      <p:sp>
        <p:nvSpPr>
          <p:cNvPr id="61" name="Espace réservé du texte 48">
            <a:extLst>
              <a:ext uri="{FF2B5EF4-FFF2-40B4-BE49-F238E27FC236}">
                <a16:creationId xmlns:a16="http://schemas.microsoft.com/office/drawing/2014/main" id="{39046761-EE11-4681-CE10-61B50C3739E0}"/>
              </a:ext>
            </a:extLst>
          </p:cNvPr>
          <p:cNvSpPr txBox="1">
            <a:spLocks/>
          </p:cNvSpPr>
          <p:nvPr/>
        </p:nvSpPr>
        <p:spPr>
          <a:xfrm>
            <a:off x="1121676" y="5029758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Opérations IT Globales</a:t>
            </a:r>
          </a:p>
        </p:txBody>
      </p:sp>
      <p:pic>
        <p:nvPicPr>
          <p:cNvPr id="62" name="Graphique 11">
            <a:extLst>
              <a:ext uri="{FF2B5EF4-FFF2-40B4-BE49-F238E27FC236}">
                <a16:creationId xmlns:a16="http://schemas.microsoft.com/office/drawing/2014/main" id="{5B2B65A5-DCDC-A4E3-5445-38F2B646B06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95664" y="1963888"/>
            <a:ext cx="1437727" cy="576588"/>
          </a:xfrm>
          <a:prstGeom prst="rect">
            <a:avLst/>
          </a:prstGeom>
        </p:spPr>
      </p:pic>
      <p:sp>
        <p:nvSpPr>
          <p:cNvPr id="63" name="Espace réservé du texte 48">
            <a:extLst>
              <a:ext uri="{FF2B5EF4-FFF2-40B4-BE49-F238E27FC236}">
                <a16:creationId xmlns:a16="http://schemas.microsoft.com/office/drawing/2014/main" id="{C0C8B9E3-EA12-144F-34F5-81FFC2988421}"/>
              </a:ext>
            </a:extLst>
          </p:cNvPr>
          <p:cNvSpPr txBox="1">
            <a:spLocks/>
          </p:cNvSpPr>
          <p:nvPr/>
        </p:nvSpPr>
        <p:spPr>
          <a:xfrm>
            <a:off x="3978106" y="2088487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Prénom Nom</a:t>
            </a:r>
          </a:p>
        </p:txBody>
      </p:sp>
      <p:sp>
        <p:nvSpPr>
          <p:cNvPr id="64" name="Espace réservé du texte 48">
            <a:extLst>
              <a:ext uri="{FF2B5EF4-FFF2-40B4-BE49-F238E27FC236}">
                <a16:creationId xmlns:a16="http://schemas.microsoft.com/office/drawing/2014/main" id="{F81DCD86-9956-A9B6-D8AD-D2EA947B6F5A}"/>
              </a:ext>
            </a:extLst>
          </p:cNvPr>
          <p:cNvSpPr txBox="1">
            <a:spLocks/>
          </p:cNvSpPr>
          <p:nvPr/>
        </p:nvSpPr>
        <p:spPr>
          <a:xfrm>
            <a:off x="3978106" y="2285337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800" strike="noStrike" kern="1200">
                <a:latin typeface="+mn-lt"/>
                <a:ea typeface="+mn-ea"/>
                <a:cs typeface="+mn-cs"/>
              </a:rPr>
              <a:t>Pilote Digital</a:t>
            </a:r>
          </a:p>
        </p:txBody>
      </p:sp>
      <p:pic>
        <p:nvPicPr>
          <p:cNvPr id="65" name="Graphique 12">
            <a:extLst>
              <a:ext uri="{FF2B5EF4-FFF2-40B4-BE49-F238E27FC236}">
                <a16:creationId xmlns:a16="http://schemas.microsoft.com/office/drawing/2014/main" id="{C6E7FEE0-A786-937C-F349-635E97D86B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18679" y="4797181"/>
            <a:ext cx="1437727" cy="576588"/>
          </a:xfrm>
          <a:prstGeom prst="rect">
            <a:avLst/>
          </a:prstGeom>
        </p:spPr>
      </p:pic>
      <p:pic>
        <p:nvPicPr>
          <p:cNvPr id="66" name="Graphique 16">
            <a:extLst>
              <a:ext uri="{FF2B5EF4-FFF2-40B4-BE49-F238E27FC236}">
                <a16:creationId xmlns:a16="http://schemas.microsoft.com/office/drawing/2014/main" id="{404BB87E-9015-1501-5BA6-E3243164299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9345" y="3378515"/>
            <a:ext cx="1437727" cy="576588"/>
          </a:xfrm>
          <a:prstGeom prst="rect">
            <a:avLst/>
          </a:prstGeom>
        </p:spPr>
      </p:pic>
      <p:pic>
        <p:nvPicPr>
          <p:cNvPr id="67" name="Graphique 20">
            <a:extLst>
              <a:ext uri="{FF2B5EF4-FFF2-40B4-BE49-F238E27FC236}">
                <a16:creationId xmlns:a16="http://schemas.microsoft.com/office/drawing/2014/main" id="{2C171460-DCAB-AC01-F4EF-99CD379C25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95664" y="2666047"/>
            <a:ext cx="1437727" cy="576588"/>
          </a:xfrm>
          <a:prstGeom prst="rect">
            <a:avLst/>
          </a:prstGeom>
        </p:spPr>
      </p:pic>
      <p:pic>
        <p:nvPicPr>
          <p:cNvPr id="68" name="Graphique 24">
            <a:extLst>
              <a:ext uri="{FF2B5EF4-FFF2-40B4-BE49-F238E27FC236}">
                <a16:creationId xmlns:a16="http://schemas.microsoft.com/office/drawing/2014/main" id="{1F6AF846-0ADA-4089-C3FD-CD536FA1DD4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18679" y="5499340"/>
            <a:ext cx="1437727" cy="576588"/>
          </a:xfrm>
          <a:prstGeom prst="rect">
            <a:avLst/>
          </a:prstGeom>
        </p:spPr>
      </p:pic>
      <p:pic>
        <p:nvPicPr>
          <p:cNvPr id="69" name="Graphique 28">
            <a:extLst>
              <a:ext uri="{FF2B5EF4-FFF2-40B4-BE49-F238E27FC236}">
                <a16:creationId xmlns:a16="http://schemas.microsoft.com/office/drawing/2014/main" id="{09550116-5719-2623-BE75-7C3BB971217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9345" y="4080674"/>
            <a:ext cx="1437727" cy="576588"/>
          </a:xfrm>
          <a:prstGeom prst="rect">
            <a:avLst/>
          </a:prstGeom>
        </p:spPr>
      </p:pic>
      <p:pic>
        <p:nvPicPr>
          <p:cNvPr id="70" name="Image 69">
            <a:extLst>
              <a:ext uri="{FF2B5EF4-FFF2-40B4-BE49-F238E27FC236}">
                <a16:creationId xmlns:a16="http://schemas.microsoft.com/office/drawing/2014/main" id="{8BAF3249-3789-B823-7255-8E956FFCF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345" y="1960815"/>
            <a:ext cx="540000" cy="543442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809E423C-D519-5780-A8AB-937DD227BC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8424" y="4803831"/>
            <a:ext cx="411230" cy="540000"/>
          </a:xfrm>
          <a:prstGeom prst="rect">
            <a:avLst/>
          </a:prstGeom>
        </p:spPr>
      </p:pic>
      <p:pic>
        <p:nvPicPr>
          <p:cNvPr id="72" name="Image 71">
            <a:extLst>
              <a:ext uri="{FF2B5EF4-FFF2-40B4-BE49-F238E27FC236}">
                <a16:creationId xmlns:a16="http://schemas.microsoft.com/office/drawing/2014/main" id="{349868F7-B7F7-DDA7-7E66-1B79AC3862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8679" y="3385165"/>
            <a:ext cx="540000" cy="540000"/>
          </a:xfrm>
          <a:prstGeom prst="rect">
            <a:avLst/>
          </a:prstGeom>
        </p:spPr>
      </p:pic>
      <p:pic>
        <p:nvPicPr>
          <p:cNvPr id="73" name="Image 72">
            <a:extLst>
              <a:ext uri="{FF2B5EF4-FFF2-40B4-BE49-F238E27FC236}">
                <a16:creationId xmlns:a16="http://schemas.microsoft.com/office/drawing/2014/main" id="{002F799C-EDA1-BA67-5055-7F8BCF7A51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0347" y="2674296"/>
            <a:ext cx="540000" cy="540000"/>
          </a:xfrm>
          <a:prstGeom prst="rect">
            <a:avLst/>
          </a:prstGeom>
        </p:spPr>
      </p:pic>
      <p:sp>
        <p:nvSpPr>
          <p:cNvPr id="76" name="Espace réservé du texte 48">
            <a:extLst>
              <a:ext uri="{FF2B5EF4-FFF2-40B4-BE49-F238E27FC236}">
                <a16:creationId xmlns:a16="http://schemas.microsoft.com/office/drawing/2014/main" id="{AE458173-ABF3-FC5A-C983-05D5BEE9C433}"/>
              </a:ext>
            </a:extLst>
          </p:cNvPr>
          <p:cNvSpPr txBox="1">
            <a:spLocks/>
          </p:cNvSpPr>
          <p:nvPr/>
        </p:nvSpPr>
        <p:spPr>
          <a:xfrm>
            <a:off x="4109222" y="5599960"/>
            <a:ext cx="612000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Arnaud Mallet</a:t>
            </a:r>
          </a:p>
        </p:txBody>
      </p:sp>
      <p:sp>
        <p:nvSpPr>
          <p:cNvPr id="77" name="Espace réservé du texte 48">
            <a:extLst>
              <a:ext uri="{FF2B5EF4-FFF2-40B4-BE49-F238E27FC236}">
                <a16:creationId xmlns:a16="http://schemas.microsoft.com/office/drawing/2014/main" id="{75840247-E4B8-14E3-0424-B610614756F5}"/>
              </a:ext>
            </a:extLst>
          </p:cNvPr>
          <p:cNvSpPr txBox="1">
            <a:spLocks/>
          </p:cNvSpPr>
          <p:nvPr/>
        </p:nvSpPr>
        <p:spPr>
          <a:xfrm>
            <a:off x="4109222" y="5796810"/>
            <a:ext cx="612000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800">
                <a:solidFill>
                  <a:srgbClr val="FFFFFF"/>
                </a:solidFill>
                <a:latin typeface="Calibri Light"/>
              </a:rPr>
              <a:t>CIO TP</a:t>
            </a:r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8" name="Espace réservé du texte 48">
            <a:extLst>
              <a:ext uri="{FF2B5EF4-FFF2-40B4-BE49-F238E27FC236}">
                <a16:creationId xmlns:a16="http://schemas.microsoft.com/office/drawing/2014/main" id="{BFA58B2D-6139-859A-AE0F-B97EA7371FB6}"/>
              </a:ext>
            </a:extLst>
          </p:cNvPr>
          <p:cNvSpPr txBox="1">
            <a:spLocks/>
          </p:cNvSpPr>
          <p:nvPr/>
        </p:nvSpPr>
        <p:spPr>
          <a:xfrm>
            <a:off x="4033375" y="4119144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Emmanuel </a:t>
            </a:r>
            <a:r>
              <a:rPr kumimoji="0" lang="fr-FR" sz="800" b="0" i="0" u="none" strike="noStrike" kern="1200" cap="none" spc="0" normalizeH="0" baseline="0" noProof="0" err="1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Chalufour</a:t>
            </a:r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FACA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Espace réservé du texte 48">
            <a:extLst>
              <a:ext uri="{FF2B5EF4-FFF2-40B4-BE49-F238E27FC236}">
                <a16:creationId xmlns:a16="http://schemas.microsoft.com/office/drawing/2014/main" id="{E8FB5917-218B-00D1-833D-B402135F3FDE}"/>
              </a:ext>
            </a:extLst>
          </p:cNvPr>
          <p:cNvSpPr txBox="1">
            <a:spLocks/>
          </p:cNvSpPr>
          <p:nvPr/>
        </p:nvSpPr>
        <p:spPr>
          <a:xfrm>
            <a:off x="4033375" y="4394099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CIO BBI</a:t>
            </a:r>
          </a:p>
        </p:txBody>
      </p:sp>
      <p:sp>
        <p:nvSpPr>
          <p:cNvPr id="80" name="Espace réservé du texte 48">
            <a:extLst>
              <a:ext uri="{FF2B5EF4-FFF2-40B4-BE49-F238E27FC236}">
                <a16:creationId xmlns:a16="http://schemas.microsoft.com/office/drawing/2014/main" id="{AD7CF131-9027-D73D-06BA-2987C68BE21F}"/>
              </a:ext>
            </a:extLst>
          </p:cNvPr>
          <p:cNvSpPr txBox="1">
            <a:spLocks/>
          </p:cNvSpPr>
          <p:nvPr/>
        </p:nvSpPr>
        <p:spPr>
          <a:xfrm>
            <a:off x="3978106" y="2803342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Prénom Nom</a:t>
            </a:r>
          </a:p>
        </p:txBody>
      </p:sp>
      <p:sp>
        <p:nvSpPr>
          <p:cNvPr id="81" name="Espace réservé du texte 48">
            <a:extLst>
              <a:ext uri="{FF2B5EF4-FFF2-40B4-BE49-F238E27FC236}">
                <a16:creationId xmlns:a16="http://schemas.microsoft.com/office/drawing/2014/main" id="{5D51252F-E3CF-918A-D0C6-58FC496768CA}"/>
              </a:ext>
            </a:extLst>
          </p:cNvPr>
          <p:cNvSpPr txBox="1">
            <a:spLocks/>
          </p:cNvSpPr>
          <p:nvPr/>
        </p:nvSpPr>
        <p:spPr>
          <a:xfrm>
            <a:off x="3978106" y="3099252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Rôle</a:t>
            </a:r>
          </a:p>
        </p:txBody>
      </p:sp>
      <p:sp>
        <p:nvSpPr>
          <p:cNvPr id="84" name="Espace réservé du texte 48">
            <a:extLst>
              <a:ext uri="{FF2B5EF4-FFF2-40B4-BE49-F238E27FC236}">
                <a16:creationId xmlns:a16="http://schemas.microsoft.com/office/drawing/2014/main" id="{9CBCCDE4-58F3-F0B3-F527-641602BC1417}"/>
              </a:ext>
            </a:extLst>
          </p:cNvPr>
          <p:cNvSpPr txBox="1">
            <a:spLocks/>
          </p:cNvSpPr>
          <p:nvPr/>
        </p:nvSpPr>
        <p:spPr>
          <a:xfrm>
            <a:off x="4033375" y="4896149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Florian Sordoillet</a:t>
            </a:r>
          </a:p>
        </p:txBody>
      </p:sp>
      <p:sp>
        <p:nvSpPr>
          <p:cNvPr id="85" name="Espace réservé du texte 48">
            <a:extLst>
              <a:ext uri="{FF2B5EF4-FFF2-40B4-BE49-F238E27FC236}">
                <a16:creationId xmlns:a16="http://schemas.microsoft.com/office/drawing/2014/main" id="{0474660E-E4F6-44B0-109B-185158B6B8D0}"/>
              </a:ext>
            </a:extLst>
          </p:cNvPr>
          <p:cNvSpPr txBox="1">
            <a:spLocks/>
          </p:cNvSpPr>
          <p:nvPr/>
        </p:nvSpPr>
        <p:spPr>
          <a:xfrm>
            <a:off x="4033375" y="5096809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CIO BBF</a:t>
            </a:r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957E45C5-C985-E591-193E-9763FBF49D03}"/>
              </a:ext>
            </a:extLst>
          </p:cNvPr>
          <p:cNvSpPr txBox="1">
            <a:spLocks/>
          </p:cNvSpPr>
          <p:nvPr/>
        </p:nvSpPr>
        <p:spPr>
          <a:xfrm>
            <a:off x="2556976" y="5523282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Emmanuelle </a:t>
            </a:r>
            <a:r>
              <a:rPr kumimoji="0" lang="fr-FR" sz="800" b="0" i="0" u="none" strike="noStrike" kern="1200" cap="none" spc="0" normalizeH="0" baseline="0" noProof="0" err="1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Verbrugge</a:t>
            </a:r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FACA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Espace réservé du texte 48">
            <a:extLst>
              <a:ext uri="{FF2B5EF4-FFF2-40B4-BE49-F238E27FC236}">
                <a16:creationId xmlns:a16="http://schemas.microsoft.com/office/drawing/2014/main" id="{E22341D7-C18D-A9FD-AA47-FCC122A4F620}"/>
              </a:ext>
            </a:extLst>
          </p:cNvPr>
          <p:cNvSpPr txBox="1">
            <a:spLocks/>
          </p:cNvSpPr>
          <p:nvPr/>
        </p:nvSpPr>
        <p:spPr>
          <a:xfrm>
            <a:off x="2556976" y="5781092"/>
            <a:ext cx="962022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Produits Production </a:t>
            </a:r>
            <a:b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</a:b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&amp; ingénierie</a:t>
            </a:r>
          </a:p>
        </p:txBody>
      </p:sp>
      <p:sp>
        <p:nvSpPr>
          <p:cNvPr id="33" name="Espace réservé du texte 48">
            <a:extLst>
              <a:ext uri="{FF2B5EF4-FFF2-40B4-BE49-F238E27FC236}">
                <a16:creationId xmlns:a16="http://schemas.microsoft.com/office/drawing/2014/main" id="{8EA85C1C-71EA-FF3C-4ED3-FDDBCB87EAE0}"/>
              </a:ext>
            </a:extLst>
          </p:cNvPr>
          <p:cNvSpPr txBox="1">
            <a:spLocks/>
          </p:cNvSpPr>
          <p:nvPr/>
        </p:nvSpPr>
        <p:spPr>
          <a:xfrm>
            <a:off x="2556976" y="4901940"/>
            <a:ext cx="612000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Leila </a:t>
            </a:r>
            <a:r>
              <a:rPr kumimoji="0" lang="fr-FR" sz="800" b="0" i="0" u="none" strike="noStrike" kern="1200" cap="none" spc="0" normalizeH="0" baseline="0" noProof="0" err="1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Vovk</a:t>
            </a:r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FACA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Espace réservé du texte 48">
            <a:extLst>
              <a:ext uri="{FF2B5EF4-FFF2-40B4-BE49-F238E27FC236}">
                <a16:creationId xmlns:a16="http://schemas.microsoft.com/office/drawing/2014/main" id="{3017FDB7-3281-18FD-374E-12E95DF92F52}"/>
              </a:ext>
            </a:extLst>
          </p:cNvPr>
          <p:cNvSpPr txBox="1">
            <a:spLocks/>
          </p:cNvSpPr>
          <p:nvPr/>
        </p:nvSpPr>
        <p:spPr>
          <a:xfrm>
            <a:off x="2556976" y="5046800"/>
            <a:ext cx="612000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Produits </a:t>
            </a:r>
            <a:r>
              <a:rPr kumimoji="0" lang="fr-FR" sz="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Corporate</a:t>
            </a:r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87" name="Espace réservé du texte 48">
            <a:extLst>
              <a:ext uri="{FF2B5EF4-FFF2-40B4-BE49-F238E27FC236}">
                <a16:creationId xmlns:a16="http://schemas.microsoft.com/office/drawing/2014/main" id="{4FC46E36-93D0-5BE8-2D8B-52FC5AC86B87}"/>
              </a:ext>
            </a:extLst>
          </p:cNvPr>
          <p:cNvSpPr txBox="1">
            <a:spLocks/>
          </p:cNvSpPr>
          <p:nvPr/>
        </p:nvSpPr>
        <p:spPr>
          <a:xfrm>
            <a:off x="1121676" y="5630388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Ali </a:t>
            </a:r>
            <a:r>
              <a:rPr kumimoji="0" lang="fr-FR" sz="800" b="0" i="0" u="none" strike="noStrike" kern="1200" cap="none" spc="0" normalizeH="0" baseline="0" noProof="0" err="1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Kharkhach</a:t>
            </a:r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FACA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Espace réservé du texte 48">
            <a:extLst>
              <a:ext uri="{FF2B5EF4-FFF2-40B4-BE49-F238E27FC236}">
                <a16:creationId xmlns:a16="http://schemas.microsoft.com/office/drawing/2014/main" id="{D5D84383-CE1A-DEEB-E6D2-46C282648C04}"/>
              </a:ext>
            </a:extLst>
          </p:cNvPr>
          <p:cNvSpPr txBox="1">
            <a:spLocks/>
          </p:cNvSpPr>
          <p:nvPr/>
        </p:nvSpPr>
        <p:spPr>
          <a:xfrm>
            <a:off x="1121676" y="5753658"/>
            <a:ext cx="743116" cy="2462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Opérations IT Internationales</a:t>
            </a:r>
          </a:p>
        </p:txBody>
      </p:sp>
      <p:sp>
        <p:nvSpPr>
          <p:cNvPr id="89" name="Espace réservé du texte 48">
            <a:extLst>
              <a:ext uri="{FF2B5EF4-FFF2-40B4-BE49-F238E27FC236}">
                <a16:creationId xmlns:a16="http://schemas.microsoft.com/office/drawing/2014/main" id="{297A9FC0-7173-FD05-630E-2D8D64CE01D9}"/>
              </a:ext>
            </a:extLst>
          </p:cNvPr>
          <p:cNvSpPr txBox="1">
            <a:spLocks/>
          </p:cNvSpPr>
          <p:nvPr/>
        </p:nvSpPr>
        <p:spPr>
          <a:xfrm>
            <a:off x="2517606" y="3499302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Prénom Nom</a:t>
            </a:r>
          </a:p>
        </p:txBody>
      </p:sp>
      <p:sp>
        <p:nvSpPr>
          <p:cNvPr id="90" name="Espace réservé du texte 48">
            <a:extLst>
              <a:ext uri="{FF2B5EF4-FFF2-40B4-BE49-F238E27FC236}">
                <a16:creationId xmlns:a16="http://schemas.microsoft.com/office/drawing/2014/main" id="{BAC9023A-53AC-EC7D-2C32-594C622BA422}"/>
              </a:ext>
            </a:extLst>
          </p:cNvPr>
          <p:cNvSpPr txBox="1">
            <a:spLocks/>
          </p:cNvSpPr>
          <p:nvPr/>
        </p:nvSpPr>
        <p:spPr>
          <a:xfrm>
            <a:off x="2517606" y="3696152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Cyber sécurité</a:t>
            </a:r>
          </a:p>
        </p:txBody>
      </p:sp>
      <p:sp>
        <p:nvSpPr>
          <p:cNvPr id="91" name="Espace réservé du texte 48">
            <a:extLst>
              <a:ext uri="{FF2B5EF4-FFF2-40B4-BE49-F238E27FC236}">
                <a16:creationId xmlns:a16="http://schemas.microsoft.com/office/drawing/2014/main" id="{1B5D0A9F-5301-02C9-66C9-0C84C65CF20D}"/>
              </a:ext>
            </a:extLst>
          </p:cNvPr>
          <p:cNvSpPr txBox="1">
            <a:spLocks/>
          </p:cNvSpPr>
          <p:nvPr/>
        </p:nvSpPr>
        <p:spPr>
          <a:xfrm>
            <a:off x="3970486" y="3504382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AC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Prénom Nom</a:t>
            </a:r>
          </a:p>
        </p:txBody>
      </p:sp>
      <p:sp>
        <p:nvSpPr>
          <p:cNvPr id="92" name="Espace réservé du texte 48">
            <a:extLst>
              <a:ext uri="{FF2B5EF4-FFF2-40B4-BE49-F238E27FC236}">
                <a16:creationId xmlns:a16="http://schemas.microsoft.com/office/drawing/2014/main" id="{6CCC9F84-EEF7-0E18-1154-9D6701B307C9}"/>
              </a:ext>
            </a:extLst>
          </p:cNvPr>
          <p:cNvSpPr txBox="1">
            <a:spLocks/>
          </p:cNvSpPr>
          <p:nvPr/>
        </p:nvSpPr>
        <p:spPr>
          <a:xfrm>
            <a:off x="3970486" y="3701232"/>
            <a:ext cx="743116" cy="12311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Rôle</a:t>
            </a:r>
          </a:p>
        </p:txBody>
      </p:sp>
      <p:pic>
        <p:nvPicPr>
          <p:cNvPr id="100" name="Image 99">
            <a:extLst>
              <a:ext uri="{FF2B5EF4-FFF2-40B4-BE49-F238E27FC236}">
                <a16:creationId xmlns:a16="http://schemas.microsoft.com/office/drawing/2014/main" id="{222689E6-BFD6-84E3-0843-5EE6FCC0E0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5638" y="5594156"/>
            <a:ext cx="264080" cy="282612"/>
          </a:xfrm>
          <a:prstGeom prst="rect">
            <a:avLst/>
          </a:prstGeom>
        </p:spPr>
      </p:pic>
      <p:sp>
        <p:nvSpPr>
          <p:cNvPr id="53" name="Espace réservé du texte 2">
            <a:extLst>
              <a:ext uri="{FF2B5EF4-FFF2-40B4-BE49-F238E27FC236}">
                <a16:creationId xmlns:a16="http://schemas.microsoft.com/office/drawing/2014/main" id="{F483305E-A966-B44B-105B-DC653549BC2D}"/>
              </a:ext>
            </a:extLst>
          </p:cNvPr>
          <p:cNvSpPr txBox="1">
            <a:spLocks/>
          </p:cNvSpPr>
          <p:nvPr/>
        </p:nvSpPr>
        <p:spPr>
          <a:xfrm>
            <a:off x="7884043" y="633691"/>
            <a:ext cx="3296146" cy="104391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wrap="square" lIns="0" tIns="0" rIns="0" bIns="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  <a:defRPr sz="2000">
                <a:latin typeface="+mj-lt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b="0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renseigner systématiquement comme compte rendu du comité de sélection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dk1"/>
                </a:solidFill>
                <a:latin typeface="+mn-lt"/>
              </a:rPr>
              <a:t>Participants</a:t>
            </a:r>
            <a:r>
              <a:rPr lang="fr-FR" sz="1200" b="0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à adapter à votre demande. </a:t>
            </a:r>
            <a:r>
              <a:rPr lang="fr-FR" sz="1200"/>
              <a:t>La sélection peut avoir lieu au niveau d’une direction, de plusieurs directions, DSI. </a:t>
            </a:r>
            <a:endParaRPr lang="fr-FR" sz="1200" b="0" kern="120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3D14C4D3-2E16-7489-4CC7-131EA337C14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9814" b="9814"/>
          <a:stretch/>
        </p:blipFill>
        <p:spPr>
          <a:xfrm>
            <a:off x="487364" y="1980619"/>
            <a:ext cx="494646" cy="522050"/>
          </a:xfrm>
          <a:prstGeom prst="teardrop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332E759E-3EE4-C527-CEC3-1B5991987EE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-1119" t="2885" r="1119" b="26754"/>
          <a:stretch/>
        </p:blipFill>
        <p:spPr>
          <a:xfrm>
            <a:off x="1967057" y="5499340"/>
            <a:ext cx="546322" cy="576588"/>
          </a:xfrm>
          <a:prstGeom prst="teardrop">
            <a:avLst/>
          </a:prstGeom>
        </p:spPr>
      </p:pic>
      <p:pic>
        <p:nvPicPr>
          <p:cNvPr id="82" name="Image 81">
            <a:extLst>
              <a:ext uri="{FF2B5EF4-FFF2-40B4-BE49-F238E27FC236}">
                <a16:creationId xmlns:a16="http://schemas.microsoft.com/office/drawing/2014/main" id="{5A5AFA41-69C1-F5CA-753E-992ECD70E06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8571" b="8571"/>
          <a:stretch/>
        </p:blipFill>
        <p:spPr>
          <a:xfrm>
            <a:off x="1965987" y="4082322"/>
            <a:ext cx="546322" cy="576588"/>
          </a:xfrm>
          <a:prstGeom prst="teardrop">
            <a:avLst/>
          </a:prstGeom>
        </p:spPr>
      </p:pic>
      <p:pic>
        <p:nvPicPr>
          <p:cNvPr id="83" name="Image 82">
            <a:extLst>
              <a:ext uri="{FF2B5EF4-FFF2-40B4-BE49-F238E27FC236}">
                <a16:creationId xmlns:a16="http://schemas.microsoft.com/office/drawing/2014/main" id="{DF7292AE-A70F-9720-F60B-C80671FAF2F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6602" b="23038"/>
          <a:stretch/>
        </p:blipFill>
        <p:spPr>
          <a:xfrm>
            <a:off x="1983031" y="4791571"/>
            <a:ext cx="546322" cy="576588"/>
          </a:xfrm>
          <a:prstGeom prst="teardrop">
            <a:avLst/>
          </a:prstGeom>
        </p:spPr>
      </p:pic>
      <p:pic>
        <p:nvPicPr>
          <p:cNvPr id="86" name="Image 85">
            <a:extLst>
              <a:ext uri="{FF2B5EF4-FFF2-40B4-BE49-F238E27FC236}">
                <a16:creationId xmlns:a16="http://schemas.microsoft.com/office/drawing/2014/main" id="{6A9B0D7A-7555-3D51-D81C-DDD4967409E3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9408" b="9408"/>
          <a:stretch/>
        </p:blipFill>
        <p:spPr>
          <a:xfrm>
            <a:off x="525600" y="4789470"/>
            <a:ext cx="521640" cy="550539"/>
          </a:xfrm>
          <a:prstGeom prst="teardrop">
            <a:avLst/>
          </a:prstGeom>
        </p:spPr>
      </p:pic>
      <p:pic>
        <p:nvPicPr>
          <p:cNvPr id="93" name="Image 92">
            <a:extLst>
              <a:ext uri="{FF2B5EF4-FFF2-40B4-BE49-F238E27FC236}">
                <a16:creationId xmlns:a16="http://schemas.microsoft.com/office/drawing/2014/main" id="{5B3D76FF-7F47-91B1-E0C6-48488F4637D3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t="6609" b="24873"/>
          <a:stretch/>
        </p:blipFill>
        <p:spPr>
          <a:xfrm>
            <a:off x="496285" y="5497287"/>
            <a:ext cx="544646" cy="574819"/>
          </a:xfrm>
          <a:prstGeom prst="teardrop">
            <a:avLst/>
          </a:prstGeom>
        </p:spPr>
      </p:pic>
      <p:pic>
        <p:nvPicPr>
          <p:cNvPr id="94" name="Image 93">
            <a:extLst>
              <a:ext uri="{FF2B5EF4-FFF2-40B4-BE49-F238E27FC236}">
                <a16:creationId xmlns:a16="http://schemas.microsoft.com/office/drawing/2014/main" id="{A723357E-198D-CB3B-D208-E6251F0F7539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6821" b="22765"/>
          <a:stretch/>
        </p:blipFill>
        <p:spPr>
          <a:xfrm>
            <a:off x="543878" y="4083111"/>
            <a:ext cx="529756" cy="559104"/>
          </a:xfrm>
          <a:prstGeom prst="teardrop">
            <a:avLst/>
          </a:prstGeom>
        </p:spPr>
      </p:pic>
      <p:pic>
        <p:nvPicPr>
          <p:cNvPr id="95" name="Image 94">
            <a:extLst>
              <a:ext uri="{FF2B5EF4-FFF2-40B4-BE49-F238E27FC236}">
                <a16:creationId xmlns:a16="http://schemas.microsoft.com/office/drawing/2014/main" id="{B56CEAA4-26EF-5605-A4AE-21FD4A4B5FE5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9814" b="9814"/>
          <a:stretch/>
        </p:blipFill>
        <p:spPr>
          <a:xfrm>
            <a:off x="3439808" y="5496975"/>
            <a:ext cx="546322" cy="576588"/>
          </a:xfrm>
          <a:prstGeom prst="teardrop">
            <a:avLst/>
          </a:prstGeom>
        </p:spPr>
      </p:pic>
      <p:pic>
        <p:nvPicPr>
          <p:cNvPr id="96" name="Image 95">
            <a:extLst>
              <a:ext uri="{FF2B5EF4-FFF2-40B4-BE49-F238E27FC236}">
                <a16:creationId xmlns:a16="http://schemas.microsoft.com/office/drawing/2014/main" id="{CBEBBCA7-938D-E55D-2A39-21D42A8E8CA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2625" r="2625"/>
          <a:stretch/>
        </p:blipFill>
        <p:spPr>
          <a:xfrm>
            <a:off x="510349" y="3355821"/>
            <a:ext cx="554155" cy="584855"/>
          </a:xfrm>
          <a:prstGeom prst="teardrop">
            <a:avLst/>
          </a:prstGeom>
        </p:spPr>
      </p:pic>
      <p:pic>
        <p:nvPicPr>
          <p:cNvPr id="98" name="Image 97">
            <a:extLst>
              <a:ext uri="{FF2B5EF4-FFF2-40B4-BE49-F238E27FC236}">
                <a16:creationId xmlns:a16="http://schemas.microsoft.com/office/drawing/2014/main" id="{82100CF1-EB7C-75D7-DC02-539DC6A122CA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t="-794" b="19798"/>
          <a:stretch/>
        </p:blipFill>
        <p:spPr>
          <a:xfrm>
            <a:off x="1952823" y="2666200"/>
            <a:ext cx="518351" cy="547067"/>
          </a:xfrm>
          <a:prstGeom prst="teardrop">
            <a:avLst/>
          </a:prstGeom>
        </p:spPr>
      </p:pic>
      <p:pic>
        <p:nvPicPr>
          <p:cNvPr id="99" name="Image 98">
            <a:extLst>
              <a:ext uri="{FF2B5EF4-FFF2-40B4-BE49-F238E27FC236}">
                <a16:creationId xmlns:a16="http://schemas.microsoft.com/office/drawing/2014/main" id="{3D418741-7586-EB32-A70F-BDFD0695DC6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9814" b="9814"/>
          <a:stretch/>
        </p:blipFill>
        <p:spPr>
          <a:xfrm>
            <a:off x="501326" y="2642871"/>
            <a:ext cx="562738" cy="593913"/>
          </a:xfrm>
          <a:prstGeom prst="teardrop">
            <a:avLst/>
          </a:prstGeom>
        </p:spPr>
      </p:pic>
      <p:pic>
        <p:nvPicPr>
          <p:cNvPr id="101" name="Image 100">
            <a:extLst>
              <a:ext uri="{FF2B5EF4-FFF2-40B4-BE49-F238E27FC236}">
                <a16:creationId xmlns:a16="http://schemas.microsoft.com/office/drawing/2014/main" id="{15EB8C3F-12FE-2AA1-7DF5-1875ACE2375C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-1324" t="1377" r="1324" b="8291"/>
          <a:stretch/>
        </p:blipFill>
        <p:spPr>
          <a:xfrm>
            <a:off x="3425931" y="4102668"/>
            <a:ext cx="529756" cy="559104"/>
          </a:xfrm>
          <a:prstGeom prst="teardrop">
            <a:avLst/>
          </a:prstGeom>
        </p:spPr>
      </p:pic>
    </p:spTree>
    <p:extLst>
      <p:ext uri="{BB962C8B-B14F-4D97-AF65-F5344CB8AC3E}">
        <p14:creationId xmlns:p14="http://schemas.microsoft.com/office/powerpoint/2010/main" val="1310120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1AD931-72F4-E5A2-BFB3-EC98BC8B4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Merci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60606C-78D1-1961-619F-71D1C20139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fr-FR"/>
              <a:t>Brigitte BIBERON-VALENTI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8E7404B-6DAA-A6FE-D19B-F13E099D1D3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fr-FR"/>
              <a:t>Responsable DM&amp;PPM processus</a:t>
            </a:r>
          </a:p>
          <a:p>
            <a:r>
              <a:rPr lang="fr-FR" err="1"/>
              <a:t>b.biberon-valenti@bouygues-construction</a:t>
            </a:r>
            <a:r>
              <a:rPr lang="fr-FR"/>
              <a:t> .com</a:t>
            </a:r>
          </a:p>
          <a:p>
            <a:r>
              <a:rPr lang="fr-FR"/>
              <a:t>Téléphone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3580FAC-D146-1D7C-AA6C-AC3D23D0A6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fr-FR"/>
              <a:t>CONTACT</a:t>
            </a:r>
          </a:p>
        </p:txBody>
      </p:sp>
      <p:graphicFrame>
        <p:nvGraphicFramePr>
          <p:cNvPr id="6" name="Tableau 4">
            <a:extLst>
              <a:ext uri="{FF2B5EF4-FFF2-40B4-BE49-F238E27FC236}">
                <a16:creationId xmlns:a16="http://schemas.microsoft.com/office/drawing/2014/main" id="{2A614DDC-9CAE-BFC3-7016-C373F9CE1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035505"/>
              </p:ext>
            </p:extLst>
          </p:nvPr>
        </p:nvGraphicFramePr>
        <p:xfrm>
          <a:off x="4709319" y="2409951"/>
          <a:ext cx="6903974" cy="2067267"/>
        </p:xfrm>
        <a:graphic>
          <a:graphicData uri="http://schemas.openxmlformats.org/drawingml/2006/table">
            <a:tbl>
              <a:tblPr firstRow="1" bandRow="1"/>
              <a:tblGrid>
                <a:gridCol w="1258135">
                  <a:extLst>
                    <a:ext uri="{9D8B030D-6E8A-4147-A177-3AD203B41FA5}">
                      <a16:colId xmlns:a16="http://schemas.microsoft.com/office/drawing/2014/main" val="939401239"/>
                    </a:ext>
                  </a:extLst>
                </a:gridCol>
                <a:gridCol w="1436480">
                  <a:extLst>
                    <a:ext uri="{9D8B030D-6E8A-4147-A177-3AD203B41FA5}">
                      <a16:colId xmlns:a16="http://schemas.microsoft.com/office/drawing/2014/main" val="737360763"/>
                    </a:ext>
                  </a:extLst>
                </a:gridCol>
                <a:gridCol w="4209359">
                  <a:extLst>
                    <a:ext uri="{9D8B030D-6E8A-4147-A177-3AD203B41FA5}">
                      <a16:colId xmlns:a16="http://schemas.microsoft.com/office/drawing/2014/main" val="3794925596"/>
                    </a:ext>
                  </a:extLst>
                </a:gridCol>
              </a:tblGrid>
              <a:tr h="3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r-FR" sz="1000"/>
                        <a:t>Auteur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r-FR" sz="1000"/>
                        <a:t>Date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r-FR" sz="1000"/>
                        <a:t>Objet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304971"/>
                  </a:ext>
                </a:extLst>
              </a:tr>
              <a:tr h="3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r-FR" sz="1000"/>
                        <a:t>B. </a:t>
                      </a:r>
                      <a:r>
                        <a:rPr lang="fr-FR" sz="1000" err="1"/>
                        <a:t>Biberon-Valenti</a:t>
                      </a:r>
                      <a:endParaRPr lang="fr-FR" sz="1000"/>
                    </a:p>
                    <a:p>
                      <a:r>
                        <a:rPr lang="fr-FR" sz="1000"/>
                        <a:t>J </a:t>
                      </a:r>
                      <a:r>
                        <a:rPr lang="fr-FR" sz="1000" err="1"/>
                        <a:t>Remond</a:t>
                      </a:r>
                      <a:endParaRPr lang="fr-FR" sz="100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r-FR" sz="1000"/>
                        <a:t>24/07/2023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r-FR" sz="1000"/>
                        <a:t>Création du document sur la base des résultats des ateliers PMO (participants PMO) menées les 25/4, 3/05 et 15/05 et des ateliers Refonte </a:t>
                      </a:r>
                      <a:r>
                        <a:rPr lang="fr-FR" sz="1000" err="1"/>
                        <a:t>Triskell</a:t>
                      </a:r>
                      <a:r>
                        <a:rPr lang="fr-FR" sz="1000"/>
                        <a:t> (participants PMO + </a:t>
                      </a:r>
                      <a:r>
                        <a:rPr lang="fr-FR" sz="1000" err="1"/>
                        <a:t>core</a:t>
                      </a:r>
                      <a:r>
                        <a:rPr lang="fr-FR" sz="1000"/>
                        <a:t> Team Refonte Triskell) menés en juin 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851113"/>
                  </a:ext>
                </a:extLst>
              </a:tr>
              <a:tr h="3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/>
                        <a:t>B. </a:t>
                      </a:r>
                      <a:r>
                        <a:rPr lang="fr-FR" sz="1000" err="1"/>
                        <a:t>Biberon-Valenti</a:t>
                      </a:r>
                      <a:endParaRPr lang="fr-FR" sz="1000"/>
                    </a:p>
                    <a:p>
                      <a:endParaRPr lang="fr-FR" sz="100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r-FR" sz="1000"/>
                        <a:t>04/06/2024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r-FR" sz="1000"/>
                        <a:t>Ajout de la remarque sur les besoins à la suite à un constat de la direction I&amp;P qu’ils n’étaient « souvent oubliés » lors de la description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783311"/>
                  </a:ext>
                </a:extLst>
              </a:tr>
              <a:tr h="3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fr-FR" sz="100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fr-FR" sz="100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fr-FR" sz="100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18100"/>
                  </a:ext>
                </a:extLst>
              </a:tr>
              <a:tr h="3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fr-FR" sz="100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fr-FR" sz="100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fr-FR" sz="100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81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07532"/>
                  </a:ext>
                </a:extLst>
              </a:tr>
            </a:tbl>
          </a:graphicData>
        </a:graphic>
      </p:graphicFrame>
      <p:sp>
        <p:nvSpPr>
          <p:cNvPr id="7" name="Espace réservé du texte 1">
            <a:extLst>
              <a:ext uri="{FF2B5EF4-FFF2-40B4-BE49-F238E27FC236}">
                <a16:creationId xmlns:a16="http://schemas.microsoft.com/office/drawing/2014/main" id="{8CAB8184-3E29-1118-2A04-A143A1C9DC94}"/>
              </a:ext>
            </a:extLst>
          </p:cNvPr>
          <p:cNvSpPr>
            <a:spLocks noGrp="1"/>
          </p:cNvSpPr>
          <p:nvPr/>
        </p:nvSpPr>
        <p:spPr>
          <a:xfrm>
            <a:off x="4668546" y="1937819"/>
            <a:ext cx="3295220" cy="1944216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  <a:defRPr sz="2000" b="1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Tx/>
              <a:buNone/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9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324000" indent="-142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MODIFICATIONS</a:t>
            </a:r>
          </a:p>
        </p:txBody>
      </p:sp>
    </p:spTree>
    <p:extLst>
      <p:ext uri="{BB962C8B-B14F-4D97-AF65-F5344CB8AC3E}">
        <p14:creationId xmlns:p14="http://schemas.microsoft.com/office/powerpoint/2010/main" val="1022497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3B9FCD1D-3C83-6520-508F-E8B495AF92CF}"/>
              </a:ext>
            </a:extLst>
          </p:cNvPr>
          <p:cNvSpPr/>
          <p:nvPr/>
        </p:nvSpPr>
        <p:spPr>
          <a:xfrm>
            <a:off x="6418399" y="2320045"/>
            <a:ext cx="1037752" cy="3061523"/>
          </a:xfrm>
          <a:prstGeom prst="roundRect">
            <a:avLst/>
          </a:prstGeom>
          <a:solidFill>
            <a:srgbClr val="EEEEEC"/>
          </a:solidFill>
        </p:spPr>
        <p:txBody>
          <a:bodyPr wrap="square" lIns="36000" tIns="36000" rIns="36000" bIns="36000" rtlCol="0" anchor="b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LZA (Azure)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6607D663-F177-FB04-6ABB-35775277BE4C}"/>
              </a:ext>
            </a:extLst>
          </p:cNvPr>
          <p:cNvSpPr/>
          <p:nvPr/>
        </p:nvSpPr>
        <p:spPr>
          <a:xfrm>
            <a:off x="3827314" y="2320045"/>
            <a:ext cx="664948" cy="3061523"/>
          </a:xfrm>
          <a:prstGeom prst="roundRect">
            <a:avLst/>
          </a:prstGeom>
          <a:solidFill>
            <a:srgbClr val="EEEEEC"/>
          </a:solidFill>
        </p:spPr>
        <p:txBody>
          <a:bodyPr wrap="square" lIns="36000" tIns="36000" rIns="36000" bIns="36000" rtlCol="0" anchor="b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On </a:t>
            </a:r>
            <a:r>
              <a:rPr kumimoji="0" lang="fr-FR" sz="1100" b="0" i="0" u="none" strike="noStrike" kern="0" cap="none" spc="0" normalizeH="0" baseline="0" noProof="0" err="1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prem</a:t>
            </a:r>
            <a:endParaRPr kumimoji="0" lang="fr-FR" sz="1100" b="0" i="0" u="none" strike="noStrike" kern="0" cap="none" spc="0" normalizeH="0" baseline="0" noProof="0">
              <a:ln>
                <a:noFill/>
              </a:ln>
              <a:solidFill>
                <a:srgbClr val="1E2124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Titre 2">
            <a:extLst>
              <a:ext uri="{FF2B5EF4-FFF2-40B4-BE49-F238E27FC236}">
                <a16:creationId xmlns:a16="http://schemas.microsoft.com/office/drawing/2014/main" id="{3024C1C1-CEDF-3B7E-7864-C6AEC1CAE4F6}"/>
              </a:ext>
            </a:extLst>
          </p:cNvPr>
          <p:cNvSpPr txBox="1">
            <a:spLocks/>
          </p:cNvSpPr>
          <p:nvPr/>
        </p:nvSpPr>
        <p:spPr>
          <a:xfrm>
            <a:off x="539866" y="598891"/>
            <a:ext cx="10344079" cy="4816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>
                <a:solidFill>
                  <a:schemeClr val="tx1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200" b="1" i="0" u="none" strike="noStrike" kern="120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ea typeface="+mj-ea"/>
                <a:cs typeface="Poppins" pitchFamily="2" charset="77"/>
              </a:rPr>
              <a:t>Cible Azure service bus – private enpoint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6A35E21A-B0DE-D728-2F13-2F6973B80463}"/>
              </a:ext>
            </a:extLst>
          </p:cNvPr>
          <p:cNvSpPr/>
          <p:nvPr/>
        </p:nvSpPr>
        <p:spPr>
          <a:xfrm>
            <a:off x="3027338" y="2872075"/>
            <a:ext cx="493658" cy="957359"/>
          </a:xfrm>
          <a:prstGeom prst="roundRect">
            <a:avLst/>
          </a:prstGeom>
          <a:solidFill>
            <a:srgbClr val="25C0C2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MDM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2B800E9-B86D-0C31-23DE-F4648C10D849}"/>
              </a:ext>
            </a:extLst>
          </p:cNvPr>
          <p:cNvSpPr txBox="1"/>
          <p:nvPr/>
        </p:nvSpPr>
        <p:spPr>
          <a:xfrm>
            <a:off x="3580925" y="3037772"/>
            <a:ext cx="0" cy="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endParaRPr lang="fr-FR">
              <a:solidFill>
                <a:srgbClr val="1E2124"/>
              </a:solidFill>
              <a:latin typeface="Poppins"/>
            </a:endParaRP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50DACE73-2E71-F8D5-E4F5-E6FA74451411}"/>
              </a:ext>
            </a:extLst>
          </p:cNvPr>
          <p:cNvSpPr/>
          <p:nvPr/>
        </p:nvSpPr>
        <p:spPr>
          <a:xfrm>
            <a:off x="369262" y="3109918"/>
            <a:ext cx="813147" cy="481671"/>
          </a:xfrm>
          <a:prstGeom prst="roundRect">
            <a:avLst/>
          </a:prstGeom>
          <a:solidFill>
            <a:srgbClr val="EEEEEC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App B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FC678B50-7EBE-04B2-011A-83DEE73D37A3}"/>
              </a:ext>
            </a:extLst>
          </p:cNvPr>
          <p:cNvCxnSpPr>
            <a:cxnSpLocks/>
            <a:stCxn id="50" idx="3"/>
            <a:endCxn id="46" idx="1"/>
          </p:cNvCxnSpPr>
          <p:nvPr/>
        </p:nvCxnSpPr>
        <p:spPr>
          <a:xfrm>
            <a:off x="2464028" y="3345919"/>
            <a:ext cx="563310" cy="4836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4F7C81D7-F1F2-6A18-E808-880666AC1F96}"/>
              </a:ext>
            </a:extLst>
          </p:cNvPr>
          <p:cNvSpPr/>
          <p:nvPr/>
        </p:nvSpPr>
        <p:spPr>
          <a:xfrm>
            <a:off x="1522561" y="3036004"/>
            <a:ext cx="941467" cy="619829"/>
          </a:xfrm>
          <a:prstGeom prst="roundRect">
            <a:avLst/>
          </a:prstGeom>
          <a:solidFill>
            <a:srgbClr val="00A4E3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Optionnal</a:t>
            </a: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façade App B</a:t>
            </a:r>
          </a:p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(intégration)</a:t>
            </a: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3F9108C1-3596-ABF0-E246-25DFFA7FD48C}"/>
              </a:ext>
            </a:extLst>
          </p:cNvPr>
          <p:cNvSpPr/>
          <p:nvPr/>
        </p:nvSpPr>
        <p:spPr>
          <a:xfrm>
            <a:off x="9682453" y="2490172"/>
            <a:ext cx="1350120" cy="481671"/>
          </a:xfrm>
          <a:prstGeom prst="roundRect">
            <a:avLst/>
          </a:prstGeom>
          <a:solidFill>
            <a:srgbClr val="EEEEEC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App A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558D1081-438A-A440-3EC3-3B777E1D36C3}"/>
              </a:ext>
            </a:extLst>
          </p:cNvPr>
          <p:cNvSpPr txBox="1"/>
          <p:nvPr/>
        </p:nvSpPr>
        <p:spPr>
          <a:xfrm>
            <a:off x="316291" y="1888640"/>
            <a:ext cx="1049046" cy="328249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r>
              <a:rPr lang="fr-FR">
                <a:solidFill>
                  <a:srgbClr val="1E2124"/>
                </a:solidFill>
                <a:latin typeface="Poppins"/>
              </a:rPr>
              <a:t>Sources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67BFFE2-693D-C015-BE35-E8AB9B599FF4}"/>
              </a:ext>
            </a:extLst>
          </p:cNvPr>
          <p:cNvSpPr txBox="1"/>
          <p:nvPr/>
        </p:nvSpPr>
        <p:spPr>
          <a:xfrm>
            <a:off x="1526239" y="1880931"/>
            <a:ext cx="1187496" cy="343667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r>
              <a:rPr lang="fr-FR" err="1">
                <a:solidFill>
                  <a:srgbClr val="00A5E5"/>
                </a:solidFill>
                <a:latin typeface="Poppins"/>
              </a:rPr>
              <a:t>Mulesoft</a:t>
            </a:r>
            <a:endParaRPr lang="fr-FR">
              <a:solidFill>
                <a:srgbClr val="00A5E5"/>
              </a:solidFill>
              <a:latin typeface="Poppins"/>
            </a:endParaRP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030E8284-472A-E17D-A495-D4E56A0B6F99}"/>
              </a:ext>
            </a:extLst>
          </p:cNvPr>
          <p:cNvSpPr/>
          <p:nvPr/>
        </p:nvSpPr>
        <p:spPr>
          <a:xfrm>
            <a:off x="6719160" y="2565229"/>
            <a:ext cx="478679" cy="2327784"/>
          </a:xfrm>
          <a:prstGeom prst="roundRect">
            <a:avLst/>
          </a:prstGeom>
          <a:solidFill>
            <a:srgbClr val="1E2124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MOM</a:t>
            </a:r>
          </a:p>
        </p:txBody>
      </p: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2FDB06FE-7855-FA5A-49FD-2A0843A55F4D}"/>
              </a:ext>
            </a:extLst>
          </p:cNvPr>
          <p:cNvCxnSpPr>
            <a:cxnSpLocks/>
            <a:stCxn id="46" idx="3"/>
            <a:endCxn id="66" idx="1"/>
          </p:cNvCxnSpPr>
          <p:nvPr/>
        </p:nvCxnSpPr>
        <p:spPr>
          <a:xfrm flipV="1">
            <a:off x="3520996" y="3345919"/>
            <a:ext cx="1368932" cy="4836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E98188BF-762E-2097-8845-85A755CE6D46}"/>
              </a:ext>
            </a:extLst>
          </p:cNvPr>
          <p:cNvSpPr/>
          <p:nvPr/>
        </p:nvSpPr>
        <p:spPr>
          <a:xfrm>
            <a:off x="3879005" y="2704134"/>
            <a:ext cx="572763" cy="1293240"/>
          </a:xfrm>
          <a:prstGeom prst="roundRect">
            <a:avLst/>
          </a:prstGeom>
          <a:solidFill>
            <a:srgbClr val="25C0C2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Secure agent </a:t>
            </a: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551A114A-01D9-908A-E1C9-A17BE546FF00}"/>
              </a:ext>
            </a:extLst>
          </p:cNvPr>
          <p:cNvSpPr/>
          <p:nvPr/>
        </p:nvSpPr>
        <p:spPr>
          <a:xfrm>
            <a:off x="9682453" y="3102820"/>
            <a:ext cx="1350120" cy="481671"/>
          </a:xfrm>
          <a:prstGeom prst="roundRect">
            <a:avLst/>
          </a:prstGeom>
          <a:solidFill>
            <a:srgbClr val="EEEEEC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1E2124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App B</a:t>
            </a:r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EB810A6E-8E2B-3BB8-F380-F75608B7D1F5}"/>
              </a:ext>
            </a:extLst>
          </p:cNvPr>
          <p:cNvCxnSpPr>
            <a:cxnSpLocks/>
            <a:stCxn id="51" idx="1"/>
          </p:cNvCxnSpPr>
          <p:nvPr/>
        </p:nvCxnSpPr>
        <p:spPr>
          <a:xfrm flipH="1" flipV="1">
            <a:off x="7457816" y="2704134"/>
            <a:ext cx="2224637" cy="26874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863BECB7-16BE-37ED-0D04-47B66540EF1D}"/>
              </a:ext>
            </a:extLst>
          </p:cNvPr>
          <p:cNvCxnSpPr>
            <a:cxnSpLocks/>
            <a:stCxn id="99" idx="1"/>
            <a:endCxn id="73" idx="3"/>
          </p:cNvCxnSpPr>
          <p:nvPr/>
        </p:nvCxnSpPr>
        <p:spPr>
          <a:xfrm flipH="1" flipV="1">
            <a:off x="7429914" y="3346111"/>
            <a:ext cx="867387" cy="1667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3" name="ZoneTexte 62">
            <a:extLst>
              <a:ext uri="{FF2B5EF4-FFF2-40B4-BE49-F238E27FC236}">
                <a16:creationId xmlns:a16="http://schemas.microsoft.com/office/drawing/2014/main" id="{9542114E-D0A6-1791-2D95-83CFE4601E4A}"/>
              </a:ext>
            </a:extLst>
          </p:cNvPr>
          <p:cNvSpPr txBox="1"/>
          <p:nvPr/>
        </p:nvSpPr>
        <p:spPr>
          <a:xfrm>
            <a:off x="4805037" y="1880931"/>
            <a:ext cx="1187496" cy="343667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r>
              <a:rPr lang="fr-FR" err="1">
                <a:solidFill>
                  <a:srgbClr val="00A5E5"/>
                </a:solidFill>
                <a:latin typeface="Poppins"/>
              </a:rPr>
              <a:t>Mulesoft</a:t>
            </a:r>
            <a:endParaRPr lang="fr-FR">
              <a:solidFill>
                <a:srgbClr val="00A5E5"/>
              </a:solidFill>
              <a:latin typeface="Poppins"/>
            </a:endParaRP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B5C36306-A6B5-77FC-7B2A-FB2F417914D5}"/>
              </a:ext>
            </a:extLst>
          </p:cNvPr>
          <p:cNvSpPr txBox="1"/>
          <p:nvPr/>
        </p:nvSpPr>
        <p:spPr>
          <a:xfrm>
            <a:off x="9587514" y="1888640"/>
            <a:ext cx="1049046" cy="328249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r>
              <a:rPr lang="fr-FR">
                <a:solidFill>
                  <a:srgbClr val="1E2124"/>
                </a:solidFill>
                <a:latin typeface="Poppins"/>
              </a:rPr>
              <a:t>Destinataires</a:t>
            </a: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C28C15D2-C2F4-D604-2C9C-094203D3EA78}"/>
              </a:ext>
            </a:extLst>
          </p:cNvPr>
          <p:cNvSpPr/>
          <p:nvPr/>
        </p:nvSpPr>
        <p:spPr>
          <a:xfrm>
            <a:off x="4889928" y="3036004"/>
            <a:ext cx="900915" cy="619829"/>
          </a:xfrm>
          <a:prstGeom prst="roundRect">
            <a:avLst/>
          </a:prstGeom>
          <a:solidFill>
            <a:srgbClr val="00A4E3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Muleapp</a:t>
            </a: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façade MOM</a:t>
            </a:r>
          </a:p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(ingestion)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5F3AFD59-61DC-9D8E-9477-7ACB6ADE03E9}"/>
              </a:ext>
            </a:extLst>
          </p:cNvPr>
          <p:cNvSpPr txBox="1"/>
          <p:nvPr/>
        </p:nvSpPr>
        <p:spPr>
          <a:xfrm>
            <a:off x="2403972" y="3130343"/>
            <a:ext cx="647458" cy="178126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/>
            <a:r>
              <a:rPr lang="fr-FR" sz="1100">
                <a:solidFill>
                  <a:srgbClr val="1E2124"/>
                </a:solidFill>
                <a:latin typeface="Poppins"/>
              </a:rPr>
              <a:t>HTTPS</a:t>
            </a:r>
          </a:p>
        </p:txBody>
      </p:sp>
      <p:sp>
        <p:nvSpPr>
          <p:cNvPr id="71" name="Cylindre 70">
            <a:extLst>
              <a:ext uri="{FF2B5EF4-FFF2-40B4-BE49-F238E27FC236}">
                <a16:creationId xmlns:a16="http://schemas.microsoft.com/office/drawing/2014/main" id="{6D7BB2BF-68A8-25B1-990E-C28D8390C433}"/>
              </a:ext>
            </a:extLst>
          </p:cNvPr>
          <p:cNvSpPr/>
          <p:nvPr/>
        </p:nvSpPr>
        <p:spPr>
          <a:xfrm rot="16200000">
            <a:off x="2206472" y="4677390"/>
            <a:ext cx="425003" cy="2204048"/>
          </a:xfrm>
          <a:prstGeom prst="can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Internet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78F481DD-A80B-1680-4956-1CDC5607307F}"/>
              </a:ext>
            </a:extLst>
          </p:cNvPr>
          <p:cNvSpPr txBox="1"/>
          <p:nvPr/>
        </p:nvSpPr>
        <p:spPr>
          <a:xfrm>
            <a:off x="4422236" y="3126980"/>
            <a:ext cx="460277" cy="178126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r>
              <a:rPr lang="fr-FR" sz="1100">
                <a:solidFill>
                  <a:srgbClr val="1E2124"/>
                </a:solidFill>
                <a:latin typeface="Poppins"/>
              </a:rPr>
              <a:t>HTTPS</a:t>
            </a:r>
          </a:p>
        </p:txBody>
      </p: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34D991D5-6D0A-5D1C-EF2E-D09913454E43}"/>
              </a:ext>
            </a:extLst>
          </p:cNvPr>
          <p:cNvSpPr/>
          <p:nvPr/>
        </p:nvSpPr>
        <p:spPr>
          <a:xfrm>
            <a:off x="7242168" y="2565229"/>
            <a:ext cx="187746" cy="1561764"/>
          </a:xfrm>
          <a:prstGeom prst="roundRect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APP GW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75F50ED-0747-2DB8-3E24-9270334445DE}"/>
              </a:ext>
            </a:extLst>
          </p:cNvPr>
          <p:cNvSpPr txBox="1"/>
          <p:nvPr/>
        </p:nvSpPr>
        <p:spPr>
          <a:xfrm>
            <a:off x="7582497" y="3151353"/>
            <a:ext cx="608184" cy="195121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r>
              <a:rPr lang="fr-FR" sz="1050">
                <a:solidFill>
                  <a:srgbClr val="1E2124"/>
                </a:solidFill>
                <a:latin typeface="Poppins"/>
              </a:rPr>
              <a:t>HTTPS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ED13142D-3303-C706-ED18-4DEA5F23AB57}"/>
              </a:ext>
            </a:extLst>
          </p:cNvPr>
          <p:cNvSpPr txBox="1"/>
          <p:nvPr/>
        </p:nvSpPr>
        <p:spPr>
          <a:xfrm>
            <a:off x="7457816" y="3426294"/>
            <a:ext cx="711242" cy="77147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050">
                <a:solidFill>
                  <a:srgbClr val="1E2124"/>
                </a:solidFill>
                <a:latin typeface="Poppins"/>
              </a:rPr>
              <a:t>AMQP</a:t>
            </a:r>
          </a:p>
          <a:p>
            <a:pPr algn="ctr"/>
            <a:r>
              <a:rPr lang="fr-FR" sz="1100" i="1">
                <a:solidFill>
                  <a:srgbClr val="1E2124"/>
                </a:solidFill>
                <a:latin typeface="Poppins"/>
              </a:rPr>
              <a:t>(</a:t>
            </a:r>
            <a:r>
              <a:rPr lang="fr-FR" sz="1000" i="1">
                <a:solidFill>
                  <a:srgbClr val="1E2124"/>
                </a:solidFill>
                <a:latin typeface="Poppins"/>
              </a:rPr>
              <a:t>APP GW TCP/IP support</a:t>
            </a:r>
            <a:r>
              <a:rPr lang="fr-FR" sz="1100" i="1">
                <a:solidFill>
                  <a:srgbClr val="1E2124"/>
                </a:solidFill>
                <a:latin typeface="Poppins"/>
              </a:rPr>
              <a:t>)</a:t>
            </a:r>
          </a:p>
        </p:txBody>
      </p:sp>
      <p:sp>
        <p:nvSpPr>
          <p:cNvPr id="83" name="Rectangle : coins arrondis 82">
            <a:extLst>
              <a:ext uri="{FF2B5EF4-FFF2-40B4-BE49-F238E27FC236}">
                <a16:creationId xmlns:a16="http://schemas.microsoft.com/office/drawing/2014/main" id="{BAD92653-223C-FDAB-1F97-4A5BFB371283}"/>
              </a:ext>
            </a:extLst>
          </p:cNvPr>
          <p:cNvSpPr/>
          <p:nvPr/>
        </p:nvSpPr>
        <p:spPr>
          <a:xfrm>
            <a:off x="6500681" y="2565229"/>
            <a:ext cx="187746" cy="1561764"/>
          </a:xfrm>
          <a:prstGeom prst="roundRect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APP GW</a:t>
            </a:r>
          </a:p>
        </p:txBody>
      </p: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C424F684-4D53-EF5A-2390-E95972F90319}"/>
              </a:ext>
            </a:extLst>
          </p:cNvPr>
          <p:cNvCxnSpPr>
            <a:cxnSpLocks/>
            <a:stCxn id="50" idx="1"/>
            <a:endCxn id="48" idx="3"/>
          </p:cNvCxnSpPr>
          <p:nvPr/>
        </p:nvCxnSpPr>
        <p:spPr>
          <a:xfrm flipH="1">
            <a:off x="1182409" y="3345919"/>
            <a:ext cx="340152" cy="4835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CBDB3933-1284-E99E-16CD-4ABC835B0F08}"/>
              </a:ext>
            </a:extLst>
          </p:cNvPr>
          <p:cNvCxnSpPr>
            <a:cxnSpLocks/>
            <a:stCxn id="66" idx="3"/>
            <a:endCxn id="83" idx="1"/>
          </p:cNvCxnSpPr>
          <p:nvPr/>
        </p:nvCxnSpPr>
        <p:spPr>
          <a:xfrm>
            <a:off x="5790843" y="3345919"/>
            <a:ext cx="709838" cy="192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BFC9F4DC-1D86-9D11-01FB-41C0F5CBA3F2}"/>
              </a:ext>
            </a:extLst>
          </p:cNvPr>
          <p:cNvSpPr txBox="1"/>
          <p:nvPr/>
        </p:nvSpPr>
        <p:spPr>
          <a:xfrm>
            <a:off x="5850983" y="3120260"/>
            <a:ext cx="460277" cy="178126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r>
              <a:rPr lang="fr-FR" sz="1100">
                <a:solidFill>
                  <a:srgbClr val="1E2124"/>
                </a:solidFill>
                <a:latin typeface="Poppins"/>
              </a:rPr>
              <a:t>HTTPS</a:t>
            </a:r>
          </a:p>
        </p:txBody>
      </p:sp>
      <p:sp>
        <p:nvSpPr>
          <p:cNvPr id="99" name="Rectangle : coins arrondis 98">
            <a:extLst>
              <a:ext uri="{FF2B5EF4-FFF2-40B4-BE49-F238E27FC236}">
                <a16:creationId xmlns:a16="http://schemas.microsoft.com/office/drawing/2014/main" id="{953F9ADF-375F-CFC5-3C27-3F11B14F9ED4}"/>
              </a:ext>
            </a:extLst>
          </p:cNvPr>
          <p:cNvSpPr/>
          <p:nvPr/>
        </p:nvSpPr>
        <p:spPr>
          <a:xfrm>
            <a:off x="8297301" y="3037863"/>
            <a:ext cx="968387" cy="619829"/>
          </a:xfrm>
          <a:prstGeom prst="roundRect">
            <a:avLst/>
          </a:prstGeom>
          <a:solidFill>
            <a:srgbClr val="00A4E3"/>
          </a:solidFill>
        </p:spPr>
        <p:txBody>
          <a:bodyPr wrap="square" lIns="36000" tIns="36000" rIns="36000" bIns="36000" rtlCol="0" anchor="ctr"/>
          <a:lstStyle/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Muleapp</a:t>
            </a: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façade App B</a:t>
            </a:r>
          </a:p>
          <a:p>
            <a:pPr marL="0" marR="0" lvl="0" indent="0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(ingestion)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44ACBB47-BD59-25E7-91F2-ECD09DE68AC2}"/>
              </a:ext>
            </a:extLst>
          </p:cNvPr>
          <p:cNvSpPr txBox="1"/>
          <p:nvPr/>
        </p:nvSpPr>
        <p:spPr>
          <a:xfrm>
            <a:off x="5739332" y="3426294"/>
            <a:ext cx="711242" cy="77147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050">
                <a:solidFill>
                  <a:srgbClr val="1E2124"/>
                </a:solidFill>
                <a:latin typeface="Poppins"/>
              </a:rPr>
              <a:t>AMQP</a:t>
            </a:r>
          </a:p>
          <a:p>
            <a:pPr algn="ctr"/>
            <a:r>
              <a:rPr lang="fr-FR" sz="1100" i="1">
                <a:solidFill>
                  <a:srgbClr val="1E2124"/>
                </a:solidFill>
                <a:latin typeface="Poppins"/>
              </a:rPr>
              <a:t>(</a:t>
            </a:r>
            <a:r>
              <a:rPr lang="fr-FR" sz="1000" i="1">
                <a:solidFill>
                  <a:srgbClr val="1E2124"/>
                </a:solidFill>
                <a:latin typeface="Poppins"/>
              </a:rPr>
              <a:t>APP GW TCP/IP support</a:t>
            </a:r>
            <a:r>
              <a:rPr lang="fr-FR" sz="1100" i="1">
                <a:solidFill>
                  <a:srgbClr val="1E2124"/>
                </a:solidFill>
                <a:latin typeface="Poppins"/>
              </a:rPr>
              <a:t>)</a:t>
            </a:r>
          </a:p>
          <a:p>
            <a:pPr algn="ctr"/>
            <a:endParaRPr lang="fr-FR" sz="1000" i="1">
              <a:solidFill>
                <a:srgbClr val="1E2124"/>
              </a:solidFill>
              <a:latin typeface="Poppins"/>
            </a:endParaRPr>
          </a:p>
        </p:txBody>
      </p:sp>
      <p:sp>
        <p:nvSpPr>
          <p:cNvPr id="2" name="Cylindre 1">
            <a:extLst>
              <a:ext uri="{FF2B5EF4-FFF2-40B4-BE49-F238E27FC236}">
                <a16:creationId xmlns:a16="http://schemas.microsoft.com/office/drawing/2014/main" id="{D0186E14-2A19-BC8E-A64B-48FEAE01BDEE}"/>
              </a:ext>
            </a:extLst>
          </p:cNvPr>
          <p:cNvSpPr/>
          <p:nvPr/>
        </p:nvSpPr>
        <p:spPr>
          <a:xfrm rot="16200000">
            <a:off x="6745092" y="5086608"/>
            <a:ext cx="425005" cy="1385613"/>
          </a:xfrm>
          <a:prstGeom prst="can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BYCN</a:t>
            </a:r>
          </a:p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r-FR" sz="1100" i="1" kern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(</a:t>
            </a:r>
            <a:r>
              <a:rPr lang="fr-FR" sz="1100" i="1" kern="0" err="1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Private</a:t>
            </a:r>
            <a:r>
              <a:rPr lang="fr-FR" sz="1100" i="1" kern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)</a:t>
            </a:r>
            <a:endParaRPr kumimoji="0" lang="fr-FR" sz="11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ylindre 2">
            <a:extLst>
              <a:ext uri="{FF2B5EF4-FFF2-40B4-BE49-F238E27FC236}">
                <a16:creationId xmlns:a16="http://schemas.microsoft.com/office/drawing/2014/main" id="{E39B9682-7F30-5710-6533-418D9D257A12}"/>
              </a:ext>
            </a:extLst>
          </p:cNvPr>
          <p:cNvSpPr/>
          <p:nvPr/>
        </p:nvSpPr>
        <p:spPr>
          <a:xfrm rot="16200000">
            <a:off x="8482695" y="4887097"/>
            <a:ext cx="425003" cy="1784634"/>
          </a:xfrm>
          <a:prstGeom prst="can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Internet</a:t>
            </a:r>
          </a:p>
        </p:txBody>
      </p:sp>
      <p:sp>
        <p:nvSpPr>
          <p:cNvPr id="5" name="Cylindre 4">
            <a:extLst>
              <a:ext uri="{FF2B5EF4-FFF2-40B4-BE49-F238E27FC236}">
                <a16:creationId xmlns:a16="http://schemas.microsoft.com/office/drawing/2014/main" id="{5954A8BD-7617-6BA9-8EC3-8AB29D9B98CF}"/>
              </a:ext>
            </a:extLst>
          </p:cNvPr>
          <p:cNvSpPr/>
          <p:nvPr/>
        </p:nvSpPr>
        <p:spPr>
          <a:xfrm rot="16200000">
            <a:off x="5127883" y="5094949"/>
            <a:ext cx="425003" cy="1368931"/>
          </a:xfrm>
          <a:prstGeom prst="can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Internet</a:t>
            </a:r>
          </a:p>
        </p:txBody>
      </p:sp>
      <p:sp>
        <p:nvSpPr>
          <p:cNvPr id="6" name="Cylindre 5">
            <a:extLst>
              <a:ext uri="{FF2B5EF4-FFF2-40B4-BE49-F238E27FC236}">
                <a16:creationId xmlns:a16="http://schemas.microsoft.com/office/drawing/2014/main" id="{3B21DBBF-70BE-D902-6722-B4BCFC86D6A1}"/>
              </a:ext>
            </a:extLst>
          </p:cNvPr>
          <p:cNvSpPr/>
          <p:nvPr/>
        </p:nvSpPr>
        <p:spPr>
          <a:xfrm rot="16200000">
            <a:off x="3899882" y="5355848"/>
            <a:ext cx="425003" cy="847133"/>
          </a:xfrm>
          <a:prstGeom prst="can">
            <a:avLst/>
          </a:prstGeom>
          <a:solidFill>
            <a:srgbClr val="1E2124"/>
          </a:solidFill>
        </p:spPr>
        <p:txBody>
          <a:bodyPr vert="vert" wrap="square" lIns="36000" tIns="36000" rIns="36000" bIns="36000" rtlCol="0" anchor="ctr"/>
          <a:lstStyle/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BYCN</a:t>
            </a:r>
          </a:p>
          <a:p>
            <a:pPr marL="0" marR="0" lvl="0" indent="0" algn="ctr" defTabSz="55449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r-FR" sz="1100" i="1" kern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(</a:t>
            </a:r>
            <a:r>
              <a:rPr lang="fr-FR" sz="1100" i="1" kern="0" err="1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Private</a:t>
            </a:r>
            <a:r>
              <a:rPr lang="fr-FR" sz="1100" i="1" kern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)</a:t>
            </a:r>
            <a:endParaRPr kumimoji="0" lang="fr-FR" sz="11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47DC850-8E23-3074-E216-61D86C4561E6}"/>
              </a:ext>
            </a:extLst>
          </p:cNvPr>
          <p:cNvCxnSpPr>
            <a:cxnSpLocks/>
            <a:stCxn id="99" idx="3"/>
            <a:endCxn id="57" idx="1"/>
          </p:cNvCxnSpPr>
          <p:nvPr/>
        </p:nvCxnSpPr>
        <p:spPr>
          <a:xfrm flipV="1">
            <a:off x="9265688" y="3343656"/>
            <a:ext cx="416765" cy="4122"/>
          </a:xfrm>
          <a:prstGeom prst="straightConnector1">
            <a:avLst/>
          </a:prstGeom>
          <a:noFill/>
          <a:ln w="6350" cap="flat" cmpd="sng" algn="ctr">
            <a:solidFill>
              <a:srgbClr val="00A4E3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16797507"/>
      </p:ext>
    </p:extLst>
  </p:cSld>
  <p:clrMapOvr>
    <a:masterClrMapping/>
  </p:clrMapOvr>
</p:sld>
</file>

<file path=ppt/theme/theme1.xml><?xml version="1.0" encoding="utf-8"?>
<a:theme xmlns:a="http://schemas.openxmlformats.org/drawingml/2006/main" name="Présentation bureautique">
  <a:themeElements>
    <a:clrScheme name="Bouygues_colors">
      <a:dk1>
        <a:srgbClr val="102031"/>
      </a:dk1>
      <a:lt1>
        <a:srgbClr val="FFFFFF"/>
      </a:lt1>
      <a:dk2>
        <a:srgbClr val="FACA00"/>
      </a:dk2>
      <a:lt2>
        <a:srgbClr val="FACA00"/>
      </a:lt2>
      <a:accent1>
        <a:srgbClr val="00A885"/>
      </a:accent1>
      <a:accent2>
        <a:srgbClr val="F1A500"/>
      </a:accent2>
      <a:accent3>
        <a:srgbClr val="E65012"/>
      </a:accent3>
      <a:accent4>
        <a:srgbClr val="00B7B5"/>
      </a:accent4>
      <a:accent5>
        <a:srgbClr val="93C52A"/>
      </a:accent5>
      <a:accent6>
        <a:srgbClr val="4A4A49"/>
      </a:accent6>
      <a:hlink>
        <a:srgbClr val="102031"/>
      </a:hlink>
      <a:folHlink>
        <a:srgbClr val="1C2959"/>
      </a:folHlink>
    </a:clrScheme>
    <a:fontScheme name="Personnalisé Calibri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C2959"/>
        </a:solidFill>
        <a:ln w="1266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ésentation1" id="{0A38A2D6-6E90-4A21-8F80-28C6C580E71B}" vid="{D4FBEBBA-6767-4A20-BFF9-9EB14473DDF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Word BYCN" ma:contentTypeID="0x01010004BBCBFDEBB3864BA0EFED7044CA4B280100222927912BB0CA48ACEE941457F47D3D" ma:contentTypeVersion="2" ma:contentTypeDescription="Crée un document." ma:contentTypeScope="" ma:versionID="48f76b356e2a273513c774be43b948d0">
  <xsd:schema xmlns:xsd="http://www.w3.org/2001/XMLSchema" xmlns:xs="http://www.w3.org/2001/XMLSchema" xmlns:p="http://schemas.microsoft.com/office/2006/metadata/properties" xmlns:ns2="95235cfd-2d18-42eb-8ffc-01f090d3b392" xmlns:ns3="f6329d8e-d2fd-45b3-959d-40cdcd9012bf" targetNamespace="http://schemas.microsoft.com/office/2006/metadata/properties" ma:root="true" ma:fieldsID="e4d95a59392d72518761bcd25c831055" ns2:_="" ns3:_="">
    <xsd:import namespace="95235cfd-2d18-42eb-8ffc-01f090d3b392"/>
    <xsd:import namespace="f6329d8e-d2fd-45b3-959d-40cdcd9012bf"/>
    <xsd:element name="properties">
      <xsd:complexType>
        <xsd:sequence>
          <xsd:element name="documentManagement">
            <xsd:complexType>
              <xsd:all>
                <xsd:element ref="ns2:b7665f99c0fe44919cb3218cc8e5302c" minOccurs="0"/>
                <xsd:element ref="ns2:TaxCatchAll" minOccurs="0"/>
                <xsd:element ref="ns2:TaxCatchAllLabel" minOccurs="0"/>
                <xsd:element ref="ns2:ComUnityFolder" minOccurs="0"/>
                <xsd:element ref="ns2:bc25f8494e694b549ba275b5de656855" minOccurs="0"/>
                <xsd:element ref="ns2:b1c94e71d43e47329629adb2299a7407" minOccurs="0"/>
                <xsd:element ref="ns2:n052ae6ce5fe48d585b4ce219bb73d0e" minOccurs="0"/>
                <xsd:element ref="ns2:aa574486944c4b4183531de588537b4d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35cfd-2d18-42eb-8ffc-01f090d3b392" elementFormDefault="qualified">
    <xsd:import namespace="http://schemas.microsoft.com/office/2006/documentManagement/types"/>
    <xsd:import namespace="http://schemas.microsoft.com/office/infopath/2007/PartnerControls"/>
    <xsd:element name="b7665f99c0fe44919cb3218cc8e5302c" ma:index="8" nillable="true" ma:taxonomy="true" ma:internalName="b7665f99c0fe44919cb3218cc8e5302c" ma:taxonomyFieldName="ArchiveClassificationPlan" ma:displayName="Archive Classification Plan" ma:default="1;#00 00 A classer|06ef1ee2-e7bf-4474-9d1e-c5fbf4f3b42b" ma:fieldId="{b7665f99-c0fe-4491-9cb3-218cc8e5302c}" ma:sspId="18ace0e7-60a4-4acf-87da-1c47a991bb86" ma:termSetId="26353664-7461-4f07-87dd-daa2874ea87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7709a2b8-d2df-4bd6-a21a-abff81a1aeb9}" ma:internalName="TaxCatchAll" ma:showField="CatchAllData" ma:web="f6329d8e-d2fd-45b3-959d-40cdcd9012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7709a2b8-d2df-4bd6-a21a-abff81a1aeb9}" ma:internalName="TaxCatchAllLabel" ma:readOnly="true" ma:showField="CatchAllDataLabel" ma:web="f6329d8e-d2fd-45b3-959d-40cdcd9012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mUnityFolder" ma:index="12" nillable="true" ma:displayName="Dossier" ma:internalName="ComUnityFolder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bc25f8494e694b549ba275b5de656855" ma:index="13" nillable="true" ma:taxonomy="true" ma:internalName="bc25f8494e694b549ba275b5de656855" ma:taxonomyFieldName="Organisation" ma:displayName="Organisation" ma:fieldId="{bc25f849-4e69-4b54-9ba2-75b5de656855}" ma:sspId="18ace0e7-60a4-4acf-87da-1c47a991bb86" ma:termSetId="45cd4057-b767-4ebf-98f6-4028b8e5bef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1c94e71d43e47329629adb2299a7407" ma:index="15" nillable="true" ma:taxonomy="true" ma:internalName="b1c94e71d43e47329629adb2299a7407" ma:taxonomyFieldName="WorkspaceClassification" ma:displayName="Workspace classification" ma:fieldId="{b1c94e71-d43e-4732-9629-adb2299a7407}" ma:sspId="18ace0e7-60a4-4acf-87da-1c47a991bb86" ma:termSetId="22f1860e-f59a-4db1-b21a-a41c5c8ed1e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2ae6ce5fe48d585b4ce219bb73d0e" ma:index="17" nillable="true" ma:taxonomy="true" ma:internalName="n052ae6ce5fe48d585b4ce219bb73d0e" ma:taxonomyFieldName="SupportServices" ma:displayName="Support services" ma:fieldId="{7052ae6c-e5fe-48d5-85b4-ce219bb73d0e}" ma:sspId="18ace0e7-60a4-4acf-87da-1c47a991bb86" ma:termSetId="813098a9-32ee-4127-b4ec-488cb7a254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a574486944c4b4183531de588537b4d" ma:index="19" nillable="true" ma:taxonomy="true" ma:internalName="aa574486944c4b4183531de588537b4d" ma:taxonomyFieldName="ClassificationLevel" ma:displayName="Classification level" ma:fieldId="{aa574486-944c-4b41-8353-1de588537b4d}" ma:sspId="18ace0e7-60a4-4acf-87da-1c47a991bb86" ma:termSetId="b84a82df-7dfe-42a8-9650-82042eeb9fd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29d8e-d2fd-45b3-959d-40cdcd9012bf" elementFormDefault="qualified">
    <xsd:import namespace="http://schemas.microsoft.com/office/2006/documentManagement/types"/>
    <xsd:import namespace="http://schemas.microsoft.com/office/infopath/2007/PartnerControls"/>
    <xsd:element name="_dlc_DocId" ma:index="21" nillable="true" ma:displayName="Valeur d’ID de document" ma:description="Valeur de l’ID de document affecté à cet élément." ma:indexed="true" ma:internalName="_dlc_DocId" ma:readOnly="true">
      <xsd:simpleType>
        <xsd:restriction base="dms:Text"/>
      </xsd:simpleType>
    </xsd:element>
    <xsd:element name="_dlc_DocIdUrl" ma:index="22" nillable="true" ma:displayName="ID de document" ma:description="Lien permanent vers ce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3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Word BYCN" ma:contentTypeID="0x01010004BBCBFDEBB3864BA0EFED7044CA4B2801004C8FE6902124594285FC1C1285DCF30B" ma:contentTypeVersion="2" ma:contentTypeDescription="Create a new document." ma:contentTypeScope="" ma:versionID="fd14c3e0d22c58c23ac04c57ff2f828a">
  <xsd:schema xmlns:xsd="http://www.w3.org/2001/XMLSchema" xmlns:xs="http://www.w3.org/2001/XMLSchema" xmlns:p="http://schemas.microsoft.com/office/2006/metadata/properties" xmlns:ns2="95235cfd-2d18-42eb-8ffc-01f090d3b392" xmlns:ns3="55b30ecb-2f58-4ebc-8d15-16073e63dc56" targetNamespace="http://schemas.microsoft.com/office/2006/metadata/properties" ma:root="true" ma:fieldsID="3244a9b4a5729db8bab5b77e93dd427c" ns2:_="" ns3:_="">
    <xsd:import namespace="95235cfd-2d18-42eb-8ffc-01f090d3b392"/>
    <xsd:import namespace="55b30ecb-2f58-4ebc-8d15-16073e63dc56"/>
    <xsd:element name="properties">
      <xsd:complexType>
        <xsd:sequence>
          <xsd:element name="documentManagement">
            <xsd:complexType>
              <xsd:all>
                <xsd:element ref="ns2:b7665f99c0fe44919cb3218cc8e5302c" minOccurs="0"/>
                <xsd:element ref="ns2:TaxCatchAll" minOccurs="0"/>
                <xsd:element ref="ns2:TaxCatchAllLabel" minOccurs="0"/>
                <xsd:element ref="ns2:ComUnityFolder" minOccurs="0"/>
                <xsd:element ref="ns2:bc25f8494e694b549ba275b5de656855" minOccurs="0"/>
                <xsd:element ref="ns2:b1c94e71d43e47329629adb2299a7407" minOccurs="0"/>
                <xsd:element ref="ns2:n052ae6ce5fe48d585b4ce219bb73d0e" minOccurs="0"/>
                <xsd:element ref="ns2:aa574486944c4b4183531de588537b4d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35cfd-2d18-42eb-8ffc-01f090d3b392" elementFormDefault="qualified">
    <xsd:import namespace="http://schemas.microsoft.com/office/2006/documentManagement/types"/>
    <xsd:import namespace="http://schemas.microsoft.com/office/infopath/2007/PartnerControls"/>
    <xsd:element name="b7665f99c0fe44919cb3218cc8e5302c" ma:index="8" nillable="true" ma:taxonomy="true" ma:internalName="b7665f99c0fe44919cb3218cc8e5302c" ma:taxonomyFieldName="ArchiveClassificationPlan" ma:displayName="Archive Classification Plan" ma:default="1;#00 00 A classer|06ef1ee2-e7bf-4474-9d1e-c5fbf4f3b42b" ma:fieldId="{b7665f99-c0fe-4491-9cb3-218cc8e5302c}" ma:sspId="18ace0e7-60a4-4acf-87da-1c47a991bb86" ma:termSetId="26353664-7461-4f07-87dd-daa2874ea87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e85c52b0-9dc1-4b7d-8333-5b994c516a88}" ma:internalName="TaxCatchAll" ma:showField="CatchAllData" ma:web="55b30ecb-2f58-4ebc-8d15-16073e63d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e85c52b0-9dc1-4b7d-8333-5b994c516a88}" ma:internalName="TaxCatchAllLabel" ma:readOnly="true" ma:showField="CatchAllDataLabel" ma:web="55b30ecb-2f58-4ebc-8d15-16073e63d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mUnityFolder" ma:index="12" nillable="true" ma:displayName="Folder" ma:internalName="ComUnityFolder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bc25f8494e694b549ba275b5de656855" ma:index="13" nillable="true" ma:taxonomy="true" ma:internalName="bc25f8494e694b549ba275b5de656855" ma:taxonomyFieldName="Organisation" ma:displayName="Organisation" ma:fieldId="{bc25f849-4e69-4b54-9ba2-75b5de656855}" ma:sspId="18ace0e7-60a4-4acf-87da-1c47a991bb86" ma:termSetId="45cd4057-b767-4ebf-98f6-4028b8e5bef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1c94e71d43e47329629adb2299a7407" ma:index="15" nillable="true" ma:taxonomy="true" ma:internalName="b1c94e71d43e47329629adb2299a7407" ma:taxonomyFieldName="WorkspaceClassification" ma:displayName="Workspace classification" ma:fieldId="{b1c94e71-d43e-4732-9629-adb2299a7407}" ma:sspId="18ace0e7-60a4-4acf-87da-1c47a991bb86" ma:termSetId="22f1860e-f59a-4db1-b21a-a41c5c8ed1e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2ae6ce5fe48d585b4ce219bb73d0e" ma:index="17" nillable="true" ma:taxonomy="true" ma:internalName="n052ae6ce5fe48d585b4ce219bb73d0e" ma:taxonomyFieldName="SupportServices" ma:displayName="Support services" ma:fieldId="{7052ae6c-e5fe-48d5-85b4-ce219bb73d0e}" ma:sspId="18ace0e7-60a4-4acf-87da-1c47a991bb86" ma:termSetId="813098a9-32ee-4127-b4ec-488cb7a254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a574486944c4b4183531de588537b4d" ma:index="19" nillable="true" ma:taxonomy="true" ma:internalName="aa574486944c4b4183531de588537b4d" ma:taxonomyFieldName="ClassificationLevel" ma:displayName="Classification level" ma:fieldId="{aa574486-944c-4b41-8353-1de588537b4d}" ma:sspId="18ace0e7-60a4-4acf-87da-1c47a991bb86" ma:termSetId="b84a82df-7dfe-42a8-9650-82042eeb9fd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b30ecb-2f58-4ebc-8d15-16073e63dc56" elementFormDefault="qualified">
    <xsd:import namespace="http://schemas.microsoft.com/office/2006/documentManagement/types"/>
    <xsd:import namespace="http://schemas.microsoft.com/office/infopath/2007/PartnerControls"/>
    <xsd:element name="_dlc_DocId" ma:index="21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3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052ae6ce5fe48d585b4ce219bb73d0e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Communication</TermName>
          <TermId xmlns="http://schemas.microsoft.com/office/infopath/2007/PartnerControls">4ff005ae-723a-41d5-a69e-450e03275eb0</TermId>
        </TermInfo>
      </Terms>
    </n052ae6ce5fe48d585b4ce219bb73d0e>
    <b7665f99c0fe44919cb3218cc8e5302c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00 00 A classer</TermName>
          <TermId xmlns="http://schemas.microsoft.com/office/infopath/2007/PartnerControls">06ef1ee2-e7bf-4474-9d1e-c5fbf4f3b42b</TermId>
        </TermInfo>
      </Terms>
    </b7665f99c0fe44919cb3218cc8e5302c>
    <TaxCatchAll xmlns="95235cfd-2d18-42eb-8ffc-01f090d3b392">
      <Value>8</Value>
      <Value>5</Value>
      <Value>10</Value>
      <Value>9</Value>
      <Value>1</Value>
    </TaxCatchAll>
    <ComUnityFolder xmlns="95235cfd-2d18-42eb-8ffc-01f090d3b392">
      <Url xsi:nil="true"/>
      <Description xsi:nil="true"/>
    </ComUnityFolder>
    <b1c94e71d43e47329629adb2299a7407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Tools and applications</TermName>
          <TermId xmlns="http://schemas.microsoft.com/office/infopath/2007/PartnerControls">7d4bec38-aa23-4cee-ba77-b2d6001cb28b</TermId>
        </TermInfo>
      </Terms>
    </b1c94e71d43e47329629adb2299a7407>
    <aa574486944c4b4183531de588537b4d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Internal</TermName>
          <TermId xmlns="http://schemas.microsoft.com/office/infopath/2007/PartnerControls">86d58d27-cc8e-4bfd-a785-ea3ef4347509</TermId>
        </TermInfo>
      </Terms>
    </aa574486944c4b4183531de588537b4d>
    <bc25f8494e694b549ba275b5de656855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BYCN</TermName>
          <TermId xmlns="http://schemas.microsoft.com/office/infopath/2007/PartnerControls">1d177850-a4b0-4712-afa6-b8bd9074e1fe</TermId>
        </TermInfo>
      </Terms>
    </bc25f8494e694b549ba275b5de656855>
    <_dlc_DocId xmlns="55b30ecb-2f58-4ebc-8d15-16073e63dc56">CWKSP-501984039-25598</_dlc_DocId>
    <_dlc_DocIdUrl xmlns="55b30ecb-2f58-4ebc-8d15-16073e63dc56">
      <Url>https://bouyguesconstruction.sharepoint.com/sites/bycnitarchitecture/_layouts/15/DocIdRedir.aspx?ID=CWKSP-501984039-25598</Url>
      <Description>CWKSP-501984039-25598</Description>
    </_dlc_DocIdUrl>
  </documentManagement>
</p:properties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6.xml><?xml version="1.0" encoding="utf-8"?>
<?mso-contentType ?>
<SharedContentType xmlns="Microsoft.SharePoint.Taxonomy.ContentTypeSync" SourceId="18ace0e7-60a4-4acf-87da-1c47a991bb86" ContentTypeId="0x01010004BBCBFDEBB3864BA0EFED7044CA4B2801" PreviousValue="false" LastSyncTimeStamp="2019-08-12T06:53:30.573Z"/>
</file>

<file path=customXml/item7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60D94B1F-0823-4B61-90B0-D951D2576404}">
  <ds:schemaRefs>
    <ds:schemaRef ds:uri="95235cfd-2d18-42eb-8ffc-01f090d3b392"/>
    <ds:schemaRef ds:uri="f6329d8e-d2fd-45b3-959d-40cdcd9012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C00B41-5A6D-4068-BDA0-454F9C85125E}"/>
</file>

<file path=customXml/itemProps3.xml><?xml version="1.0" encoding="utf-8"?>
<ds:datastoreItem xmlns:ds="http://schemas.openxmlformats.org/officeDocument/2006/customXml" ds:itemID="{323F6369-838B-45BB-AE96-C09F004F0E6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C18534D-12E7-4EF4-85F3-39FC003F5105}">
  <ds:schemaRefs>
    <ds:schemaRef ds:uri="16386bbd-822a-4544-bcb8-bdddecbc6b8a"/>
    <ds:schemaRef ds:uri="3eb98b34-8aac-46a9-9df8-ca651a774c4a"/>
    <ds:schemaRef ds:uri="95235cfd-2d18-42eb-8ffc-01f090d3b392"/>
    <ds:schemaRef ds:uri="f6329d8e-d2fd-45b3-959d-40cdcd9012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8ACC23C6-A754-48CC-9C3C-EC05FFBCF718}">
  <ds:schemaRefs>
    <ds:schemaRef ds:uri="http://schemas.microsoft.com/sharepoint/events"/>
  </ds:schemaRefs>
</ds:datastoreItem>
</file>

<file path=customXml/itemProps6.xml><?xml version="1.0" encoding="utf-8"?>
<ds:datastoreItem xmlns:ds="http://schemas.openxmlformats.org/officeDocument/2006/customXml" ds:itemID="{C265A91C-5E7E-44EE-91C3-F0EF437704F7}"/>
</file>

<file path=customXml/itemProps7.xml><?xml version="1.0" encoding="utf-8"?>
<ds:datastoreItem xmlns:ds="http://schemas.openxmlformats.org/officeDocument/2006/customXml" ds:itemID="{9D6B091A-73FF-420A-BDCD-21FEB44ED8D1}"/>
</file>

<file path=docMetadata/LabelInfo.xml><?xml version="1.0" encoding="utf-8"?>
<clbl:labelList xmlns:clbl="http://schemas.microsoft.com/office/2020/mipLabelMetadata">
  <clbl:label id="{dfdd9a14-7b84-416b-97e8-b834b0f98713}" enabled="1" method="Standard" siteId="{4a3d9983-e936-4837-9552-9d9126a92eb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BYCN_Modèle_PPT_2021</Template>
  <TotalTime>0</TotalTime>
  <Words>1571</Words>
  <Application>Microsoft Office PowerPoint</Application>
  <PresentationFormat>Grand écran</PresentationFormat>
  <Paragraphs>254</Paragraphs>
  <Slides>12</Slides>
  <Notes>4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Avenir Next LT Pro</vt:lpstr>
      <vt:lpstr>Laetijoy 1</vt:lpstr>
      <vt:lpstr>Poppins</vt:lpstr>
      <vt:lpstr>Présentation bureautique</vt:lpstr>
      <vt:lpstr>Note de qualification  de la demande digitale</vt:lpstr>
      <vt:lpstr>Objet du document : qualification d’une demande digitale</vt:lpstr>
      <vt:lpstr>Objectifs</vt:lpstr>
      <vt:lpstr>Evaluation des charges / coûts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</vt:lpstr>
      <vt:lpstr>Présentation PowerPoint</vt:lpstr>
    </vt:vector>
  </TitlesOfParts>
  <Company>Bouygues Construction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b.biberon-valenti@bouygues-construction.com</dc:creator>
  <cp:lastModifiedBy>GIRAUD, Gilles (ONEPOINT)</cp:lastModifiedBy>
  <cp:revision>1</cp:revision>
  <dcterms:created xsi:type="dcterms:W3CDTF">2021-01-25T15:42:30Z</dcterms:created>
  <dcterms:modified xsi:type="dcterms:W3CDTF">2024-07-24T15:07:09Z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0x01010004BBCBFDEBB3864BA0EFED7044CA4B2801004C8FE6902124594285FC1C1285DCF30B</vt:lpwstr>
  </property>
  <property fmtid="{D5CDD505-2E9C-101B-9397-08002B2CF9AE}" pid="3" name="ArchiveClassificationPlan">
    <vt:lpwstr>1;#00 00 A classer|06ef1ee2-e7bf-4474-9d1e-c5fbf4f3b42b</vt:lpwstr>
  </property>
  <property fmtid="{D5CDD505-2E9C-101B-9397-08002B2CF9AE}" pid="4" name="ClassificationLevel">
    <vt:lpwstr>5;#Internal|86d58d27-cc8e-4bfd-a785-ea3ef4347509</vt:lpwstr>
  </property>
  <property fmtid="{D5CDD505-2E9C-101B-9397-08002B2CF9AE}" pid="5" name="SupportServices">
    <vt:lpwstr>10;#Communication|4ff005ae-723a-41d5-a69e-450e03275eb0</vt:lpwstr>
  </property>
  <property fmtid="{D5CDD505-2E9C-101B-9397-08002B2CF9AE}" pid="6" name="Organisation">
    <vt:lpwstr>8;#BYCN|1d177850-a4b0-4712-afa6-b8bd9074e1fe</vt:lpwstr>
  </property>
  <property fmtid="{D5CDD505-2E9C-101B-9397-08002B2CF9AE}" pid="7" name="WorkspaceClassification">
    <vt:lpwstr>9;#Tools and applications|7d4bec38-aa23-4cee-ba77-b2d6001cb28b</vt:lpwstr>
  </property>
  <property fmtid="{D5CDD505-2E9C-101B-9397-08002B2CF9AE}" pid="8" name="MediaServiceImageTags">
    <vt:lpwstr/>
  </property>
  <property fmtid="{D5CDD505-2E9C-101B-9397-08002B2CF9AE}" pid="9" name="lcf76f155ced4ddcb4097134ff3c332f">
    <vt:lpwstr/>
  </property>
  <property fmtid="{D5CDD505-2E9C-101B-9397-08002B2CF9AE}" pid="10" name="_dlc_DocIdItemGuid">
    <vt:lpwstr>ef514b24-8858-4514-8eb6-78f499179665</vt:lpwstr>
  </property>
  <property fmtid="{D5CDD505-2E9C-101B-9397-08002B2CF9AE}" pid="11" name="SharedWithUsers">
    <vt:lpwstr>609;#MICHEL, Philippe (BYTP);#1568;#GRANIER, Alain;#1271;#PIERSON, Nicolas;#310;#GAILLARD, Charly;#218;#DESDOITS, Magali;#156;#BRITAINE, Isabelle;#71;#LUISET, Patrice;#659;#LE COMPAGNON, Christophe;#534;#BERRAUD, Olivier;#354;#LOURY, Jean-Jacques;#2738;#FIGUEROA, Leticia;#606;#VIGNEAU, Cyril;#241;#RAKOTOMALALA, Christian;#87;#SLEZAKOVA, Jana</vt:lpwstr>
  </property>
  <property fmtid="{D5CDD505-2E9C-101B-9397-08002B2CF9AE}" pid="12" name="aa574486944c4b4183531de588537b4d">
    <vt:lpwstr>Internal|86d58d27-cc8e-4bfd-a785-ea3ef4347509</vt:lpwstr>
  </property>
  <property fmtid="{D5CDD505-2E9C-101B-9397-08002B2CF9AE}" pid="13" name="xd_ProgID">
    <vt:lpwstr/>
  </property>
  <property fmtid="{D5CDD505-2E9C-101B-9397-08002B2CF9AE}" pid="14" name="_dlc_DocId">
    <vt:lpwstr>CWKSP-1572697757-796</vt:lpwstr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_dlc_DocIdUrl">
    <vt:lpwstr>https://bouyguesconstruction.sharepoint.com/sites/bycnitbycnitdacdsarchitecture/_layouts/15/DocIdRedir.aspx?ID=CWKSP-1572697757-796, CWKSP-1572697757-796</vt:lpwstr>
  </property>
  <property fmtid="{D5CDD505-2E9C-101B-9397-08002B2CF9AE}" pid="21" name="ComUnityFolder">
    <vt:lpwstr>, </vt:lpwstr>
  </property>
  <property fmtid="{D5CDD505-2E9C-101B-9397-08002B2CF9AE}" pid="22" name="b1c94e71d43e47329629adb2299a7407">
    <vt:lpwstr>Tools and applications|7d4bec38-aa23-4cee-ba77-b2d6001cb28b</vt:lpwstr>
  </property>
  <property fmtid="{D5CDD505-2E9C-101B-9397-08002B2CF9AE}" pid="23" name="xd_Signature">
    <vt:lpwstr/>
  </property>
  <property fmtid="{D5CDD505-2E9C-101B-9397-08002B2CF9AE}" pid="24" name="n052ae6ce5fe48d585b4ce219bb73d0e">
    <vt:lpwstr>Communication|4ff005ae-723a-41d5-a69e-450e03275eb0</vt:lpwstr>
  </property>
  <property fmtid="{D5CDD505-2E9C-101B-9397-08002B2CF9AE}" pid="25" name="b7665f99c0fe44919cb3218cc8e5302c">
    <vt:lpwstr>00 00 A classer|06ef1ee2-e7bf-4474-9d1e-c5fbf4f3b42b</vt:lpwstr>
  </property>
  <property fmtid="{D5CDD505-2E9C-101B-9397-08002B2CF9AE}" pid="26" name="bc25f8494e694b549ba275b5de656855">
    <vt:lpwstr>BYCN|1d177850-a4b0-4712-afa6-b8bd9074e1fe</vt:lpwstr>
  </property>
  <property fmtid="{D5CDD505-2E9C-101B-9397-08002B2CF9AE}" pid="27" name="TriggerFlowInfo">
    <vt:lpwstr/>
  </property>
</Properties>
</file>