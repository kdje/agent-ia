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64C08_EE00B238.xml" ContentType="application/vnd.ms-powerpoint.comments+xml"/>
  <Override PartName="/ppt/tags/tag71.xml" ContentType="application/vnd.openxmlformats-officedocument.presentationml.tags+xml"/>
  <Override PartName="/ppt/notesSlides/notesSlide6.xml" ContentType="application/vnd.openxmlformats-officedocument.presentationml.notesSlide+xml"/>
  <Override PartName="/ppt/comments/modernComment_7FF64C09_2F5D6948.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7FF64BF1_EDF8E84B.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7FF64BF5_17788A3F.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7FF64BFB_3A0B63D2.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7FF64BFD_A99DE547.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7FF64C07_36AC0FA7.xml" ContentType="application/vnd.ms-powerpoint.comments+xml"/>
  <Override PartName="/ppt/notesSlides/notesSlide24.xml" ContentType="application/vnd.openxmlformats-officedocument.presentationml.notesSlide+xml"/>
  <Override PartName="/ppt/comments/modernComment_7FF64C0C_A297012D.xml" ContentType="application/vnd.ms-powerpoint.comments+xml"/>
  <Override PartName="/ppt/notesSlides/notesSlide25.xml" ContentType="application/vnd.openxmlformats-officedocument.presentationml.notesSlide+xml"/>
  <Override PartName="/ppt/comments/modernComment_7FF64BFE_2B5ACE45.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23" r:id="rId6"/>
  </p:sldMasterIdLst>
  <p:notesMasterIdLst>
    <p:notesMasterId r:id="rId62"/>
  </p:notesMasterIdLst>
  <p:handoutMasterIdLst>
    <p:handoutMasterId r:id="rId63"/>
  </p:handoutMasterIdLst>
  <p:sldIdLst>
    <p:sldId id="2142534272" r:id="rId7"/>
    <p:sldId id="2146847709" r:id="rId8"/>
    <p:sldId id="2146847710" r:id="rId9"/>
    <p:sldId id="2146847708" r:id="rId10"/>
    <p:sldId id="2146847692" r:id="rId11"/>
    <p:sldId id="423" r:id="rId12"/>
    <p:sldId id="2146847693" r:id="rId13"/>
    <p:sldId id="2146847694" r:id="rId14"/>
    <p:sldId id="2146847695" r:id="rId15"/>
    <p:sldId id="2146847696" r:id="rId16"/>
    <p:sldId id="2146847714" r:id="rId17"/>
    <p:sldId id="2146847752" r:id="rId18"/>
    <p:sldId id="2146847753" r:id="rId19"/>
    <p:sldId id="2146847754" r:id="rId20"/>
    <p:sldId id="2146847755" r:id="rId21"/>
    <p:sldId id="2146847729" r:id="rId22"/>
    <p:sldId id="2146847728" r:id="rId23"/>
    <p:sldId id="2146847735" r:id="rId24"/>
    <p:sldId id="2146847737" r:id="rId25"/>
    <p:sldId id="2146847738" r:id="rId26"/>
    <p:sldId id="2146847733" r:id="rId27"/>
    <p:sldId id="2146847743" r:id="rId28"/>
    <p:sldId id="2146847739" r:id="rId29"/>
    <p:sldId id="2146847745" r:id="rId30"/>
    <p:sldId id="2146847741" r:id="rId31"/>
    <p:sldId id="2146847746" r:id="rId32"/>
    <p:sldId id="2146847748" r:id="rId33"/>
    <p:sldId id="2146847749" r:id="rId34"/>
    <p:sldId id="2146847750" r:id="rId35"/>
    <p:sldId id="2146847751" r:id="rId36"/>
    <p:sldId id="2146847756" r:id="rId37"/>
    <p:sldId id="2146847742" r:id="rId38"/>
    <p:sldId id="2146847731" r:id="rId39"/>
    <p:sldId id="2146847740" r:id="rId40"/>
    <p:sldId id="2146847757" r:id="rId41"/>
    <p:sldId id="2146847758" r:id="rId42"/>
    <p:sldId id="2146847732" r:id="rId43"/>
    <p:sldId id="2146847730" r:id="rId44"/>
    <p:sldId id="2146847759" r:id="rId45"/>
    <p:sldId id="2146847760" r:id="rId46"/>
    <p:sldId id="2146847761" r:id="rId47"/>
    <p:sldId id="2146847762" r:id="rId48"/>
    <p:sldId id="2146847763" r:id="rId49"/>
    <p:sldId id="2146847764" r:id="rId50"/>
    <p:sldId id="2146847707" r:id="rId51"/>
    <p:sldId id="2146847697" r:id="rId52"/>
    <p:sldId id="2146847698" r:id="rId53"/>
    <p:sldId id="2146847699" r:id="rId54"/>
    <p:sldId id="2146847700" r:id="rId55"/>
    <p:sldId id="2146847701" r:id="rId56"/>
    <p:sldId id="2146847706" r:id="rId57"/>
    <p:sldId id="2146847703" r:id="rId58"/>
    <p:sldId id="2146847682" r:id="rId59"/>
    <p:sldId id="2146847704" r:id="rId60"/>
    <p:sldId id="2146847705" r:id="rId61"/>
  </p:sldIdLst>
  <p:sldSz cx="12192000" cy="6858000"/>
  <p:notesSz cx="6858000" cy="9144000"/>
  <p:embeddedFontLst>
    <p:embeddedFont>
      <p:font typeface="Arial Black" panose="020B0A04020102020204" pitchFamily="34" charset="0"/>
      <p:bold r:id="rId64"/>
    </p:embeddedFont>
    <p:embeddedFont>
      <p:font typeface="Arial Narrow" panose="020B0606020202030204" pitchFamily="34" charset="0"/>
      <p:regular r:id="rId65"/>
      <p:bold r:id="rId66"/>
      <p:italic r:id="rId67"/>
      <p:boldItalic r:id="rId68"/>
    </p:embeddedFont>
    <p:embeddedFont>
      <p:font typeface="Avenir LT 35 Light" panose="020B0604020202020204" charset="0"/>
      <p:regular r:id="rId69"/>
      <p:italic r:id="rId70"/>
    </p:embeddedFont>
    <p:embeddedFont>
      <p:font typeface="Avenir Next LT Pro" panose="020B0504020202020204" pitchFamily="34" charset="0"/>
      <p:regular r:id="rId71"/>
      <p:bold r:id="rId72"/>
      <p:italic r:id="rId73"/>
      <p:boldItalic r:id="rId74"/>
    </p:embeddedFont>
    <p:embeddedFont>
      <p:font typeface="Impact" panose="020B0806030902050204" pitchFamily="34" charset="0"/>
      <p:regular r:id="rId75"/>
    </p:embeddedFont>
    <p:embeddedFont>
      <p:font typeface="Poppins" panose="00000500000000000000" pitchFamily="2" charset="0"/>
      <p:regular r:id="rId76"/>
      <p:bold r:id="rId77"/>
      <p:italic r:id="rId78"/>
      <p:boldItalic r:id="rId79"/>
    </p:embeddedFont>
    <p:embeddedFont>
      <p:font typeface="Poppins Light" panose="00000400000000000000" pitchFamily="2" charset="0"/>
      <p:regular r:id="rId80"/>
      <p:italic r:id="rId81"/>
    </p:embeddedFont>
    <p:embeddedFont>
      <p:font typeface="Segoe UI Symbol" panose="020B0502040204020203" pitchFamily="34" charset="0"/>
      <p:regular r:id="rId82"/>
    </p:embeddedFont>
    <p:embeddedFont>
      <p:font typeface="Webdings" panose="05030102010509060703" pitchFamily="18" charset="2"/>
      <p:regular r:id="rId83"/>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BEC37E-A5C2-3007-610D-1C65CA254308}" name="BRENNE, Sylvain" initials="SB" userId="S::s.brenne@bouygues-construction.com::6d646a6c-e4cf-4ee9-a257-f01fc78dace0" providerId="AD"/>
  <p188:author id="{7978C3AE-DFAD-86AE-D66A-F99F6808361C}" name="GIRAUD, Gilles (ONEPOINT)" initials="GG" userId="S::g.giraud.ext@bouygues-construction.com::6d20c896-481c-410b-a8c0-2d4a97d55c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006D"/>
    <a:srgbClr val="102031"/>
    <a:srgbClr val="45A0D9"/>
    <a:srgbClr val="FDFDFD"/>
    <a:srgbClr val="00B7B5"/>
    <a:srgbClr val="93C52A"/>
    <a:srgbClr val="E65012"/>
    <a:srgbClr val="F5C56F"/>
    <a:srgbClr val="00A88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handoutMaster" Target="handoutMasters/handoutMaster1.xml"/><Relationship Id="rId68" Type="http://schemas.openxmlformats.org/officeDocument/2006/relationships/font" Target="fonts/font5.fntdata"/><Relationship Id="rId84" Type="http://schemas.openxmlformats.org/officeDocument/2006/relationships/presProps" Target="pres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font" Target="fonts/font11.fntdata"/><Relationship Id="rId79" Type="http://schemas.openxmlformats.org/officeDocument/2006/relationships/font" Target="fonts/font16.fntdata"/><Relationship Id="rId5" Type="http://schemas.openxmlformats.org/officeDocument/2006/relationships/customXml" Target="../customXml/item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font" Target="fonts/font14.fntdata"/><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font" Target="fonts/font9.fntdata"/><Relationship Id="rId80" Type="http://schemas.openxmlformats.org/officeDocument/2006/relationships/font" Target="fonts/font17.fntdata"/><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font" Target="fonts/font4.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notesMaster" Target="notesMasters/notesMaster1.xml"/><Relationship Id="rId70" Type="http://schemas.openxmlformats.org/officeDocument/2006/relationships/font" Target="fonts/font7.fntdata"/><Relationship Id="rId75" Type="http://schemas.openxmlformats.org/officeDocument/2006/relationships/font" Target="fonts/font12.fntdata"/><Relationship Id="rId83" Type="http://schemas.openxmlformats.org/officeDocument/2006/relationships/font" Target="fonts/font20.fntdata"/><Relationship Id="rId88"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font" Target="fonts/font15.fntdata"/><Relationship Id="rId81" Type="http://schemas.openxmlformats.org/officeDocument/2006/relationships/font" Target="fonts/font18.fntdata"/><Relationship Id="rId86"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font" Target="fonts/font13.fntdata"/><Relationship Id="rId7" Type="http://schemas.openxmlformats.org/officeDocument/2006/relationships/slide" Target="slides/slide1.xml"/><Relationship Id="rId71" Type="http://schemas.openxmlformats.org/officeDocument/2006/relationships/font" Target="fonts/font8.fntdata"/><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font" Target="fonts/font3.fntdata"/><Relationship Id="rId87" Type="http://schemas.openxmlformats.org/officeDocument/2006/relationships/tableStyles" Target="tableStyles.xml"/><Relationship Id="rId61" Type="http://schemas.openxmlformats.org/officeDocument/2006/relationships/slide" Target="slides/slide55.xml"/><Relationship Id="rId82" Type="http://schemas.openxmlformats.org/officeDocument/2006/relationships/font" Target="fonts/font19.fntdata"/></Relationships>
</file>

<file path=ppt/comments/modernComment_7FF64BF1_EDF8E84B.xml><?xml version="1.0" encoding="utf-8"?>
<p188:cmLst xmlns:a="http://schemas.openxmlformats.org/drawingml/2006/main" xmlns:r="http://schemas.openxmlformats.org/officeDocument/2006/relationships" xmlns:p188="http://schemas.microsoft.com/office/powerpoint/2018/8/main">
  <p188:cm id="{3EF8222F-22C0-4636-9DD0-7ABE4A746265}" authorId="{DBBEC37E-A5C2-3007-610D-1C65CA254308}" created="2024-11-05T08:54:52.391">
    <ac:deMkLst xmlns:ac="http://schemas.microsoft.com/office/drawing/2013/main/command">
      <pc:docMk xmlns:pc="http://schemas.microsoft.com/office/powerpoint/2013/main/command"/>
      <pc:sldMk xmlns:pc="http://schemas.microsoft.com/office/powerpoint/2013/main/command" cId="3992512587" sldId="2146847729"/>
      <ac:spMk id="11" creationId="{241CD0F5-6F46-FAEA-D992-33CDF60C4FCA}"/>
    </ac:deMkLst>
    <p188:replyLst>
      <p188:reply id="{8F14423F-2A0D-4875-9BBC-36789E150181}" authorId="{7978C3AE-DFAD-86AE-D66A-F99F6808361C}" created="2024-11-08T07:00:56.904">
        <p188:txBody>
          <a:bodyPr/>
          <a:lstStyle/>
          <a:p>
            <a:r>
              <a:rPr lang="fr-FR"/>
              <a:t>Pas compris Sylvain.
C’est pourtant la définition qu’il y a dans le cadre de Réf. Et que Quentin a envoyé pour validation. Non ?</a:t>
            </a:r>
          </a:p>
        </p188:txBody>
      </p188:reply>
    </p188:replyLst>
    <p188:txBody>
      <a:bodyPr/>
      <a:lstStyle/>
      <a:p>
        <a:r>
          <a:rPr lang="fr-FR"/>
          <a:t>Euh… c’est violent là…. 
C’est plutôt la norme OCTO….
De la publication de ressources sous forme d’URL, avec une nomenclature stricte, et des verbes HTTP pour indiquer les actions…
ODATA est la vision un cran au dessus de celle-ci...</a:t>
        </a:r>
      </a:p>
    </p188:txBody>
  </p188:cm>
</p188:cmLst>
</file>

<file path=ppt/comments/modernComment_7FF64BF5_17788A3F.xml><?xml version="1.0" encoding="utf-8"?>
<p188:cmLst xmlns:a="http://schemas.openxmlformats.org/drawingml/2006/main" xmlns:r="http://schemas.openxmlformats.org/officeDocument/2006/relationships" xmlns:p188="http://schemas.microsoft.com/office/powerpoint/2018/8/main">
  <p188:cm id="{E11DA56B-9D07-40A4-8946-9E50DF08DBD8}" authorId="{DBBEC37E-A5C2-3007-610D-1C65CA254308}" created="2024-11-05T08:59:16.033">
    <pc:sldMkLst xmlns:pc="http://schemas.microsoft.com/office/powerpoint/2013/main/command">
      <pc:docMk/>
      <pc:sldMk cId="393775679" sldId="2146847733"/>
    </pc:sldMkLst>
    <p188:replyLst>
      <p188:reply id="{8EE516EA-8A54-4CC7-B9A8-EA1DC2F0A884}" authorId="{7978C3AE-DFAD-86AE-D66A-F99F6808361C}" created="2024-11-08T07:02:51.352">
        <p188:txBody>
          <a:bodyPr/>
          <a:lstStyle/>
          <a:p>
            <a:r>
              <a:rPr lang="fr-FR"/>
              <a:t>Oui. C’est évident</a:t>
            </a:r>
          </a:p>
        </p188:txBody>
      </p188:reply>
    </p188:replyLst>
    <p188:txBody>
      <a:bodyPr/>
      <a:lstStyle/>
      <a:p>
        <a:r>
          <a:rPr lang="fr-FR"/>
          <a:t>Euh…. Non, on peut aussi mettre des System API sur des applications non monolithiques...</a:t>
        </a:r>
      </a:p>
    </p188:txBody>
  </p188:cm>
  <p188:cm id="{AD70CB1F-1E31-4CDB-918A-F3ADC56CE541}" authorId="{DBBEC37E-A5C2-3007-610D-1C65CA254308}" created="2024-11-05T09:00:08.863">
    <ac:deMkLst xmlns:ac="http://schemas.microsoft.com/office/drawing/2013/main/command">
      <pc:docMk xmlns:pc="http://schemas.microsoft.com/office/powerpoint/2013/main/command"/>
      <pc:sldMk xmlns:pc="http://schemas.microsoft.com/office/powerpoint/2013/main/command" cId="393775679" sldId="2146847733"/>
      <ac:spMk id="18" creationId="{23D5DD67-ED73-8EFE-40FD-41028BCEFFD5}"/>
    </ac:deMkLst>
    <p188:replyLst>
      <p188:reply id="{AE9161D5-DD87-4CDA-A196-699120B30393}" authorId="{7978C3AE-DFAD-86AE-D66A-F99F6808361C}" created="2024-11-08T07:04:43.758">
        <p188:txBody>
          <a:bodyPr/>
          <a:lstStyle/>
          <a:p>
            <a:r>
              <a:rPr lang="fr-FR"/>
              <a:t>Oui. Je vais regarder. Ce n’est guère important. J’ai fait le choix (bon ou mauvais) de ne pas parler que très peu de la XAPI. </a:t>
            </a:r>
          </a:p>
        </p188:txBody>
      </p188:reply>
    </p188:replyLst>
    <p188:txBody>
      <a:bodyPr/>
      <a:lstStyle/>
      <a:p>
        <a:r>
          <a:rPr lang="fr-FR"/>
          <a:t>L’Experience API doit toujours appeler une Process API il me semble… Elle ne peut normalement pas appeler une System API… (enfin dans le concept LED)</a:t>
        </a:r>
      </a:p>
    </p188:txBody>
  </p188:cm>
</p188:cmLst>
</file>

<file path=ppt/comments/modernComment_7FF64BFB_3A0B63D2.xml><?xml version="1.0" encoding="utf-8"?>
<p188:cmLst xmlns:a="http://schemas.openxmlformats.org/drawingml/2006/main" xmlns:r="http://schemas.openxmlformats.org/officeDocument/2006/relationships" xmlns:p188="http://schemas.microsoft.com/office/powerpoint/2018/8/main">
  <p188:cm id="{45EDD298-ABDB-455C-A3F6-4BF913BA2B3B}" authorId="{DBBEC37E-A5C2-3007-610D-1C65CA254308}" created="2024-11-05T14:18:33.215">
    <pc:sldMkLst xmlns:pc="http://schemas.microsoft.com/office/powerpoint/2013/main/command">
      <pc:docMk/>
      <pc:sldMk cId="973824978" sldId="2146847739"/>
    </pc:sldMkLst>
    <p188:replyLst>
      <p188:reply id="{3EEA5B65-06D3-449E-A3A1-2D0719F59717}" authorId="{7978C3AE-DFAD-86AE-D66A-F99F6808361C}" created="2024-11-08T07:05:36.110">
        <p188:txBody>
          <a:bodyPr/>
          <a:lstStyle/>
          <a:p>
            <a:r>
              <a:rPr lang="fr-FR"/>
              <a:t>Il y a bien les flux 2 et 3</a:t>
            </a:r>
          </a:p>
        </p188:txBody>
      </p188:reply>
    </p188:replyLst>
    <p188:txBody>
      <a:bodyPr/>
      <a:lstStyle/>
      <a:p>
        <a:r>
          <a:rPr lang="fr-FR"/>
          <a:t>Sur ce schéma, il eut été peut être intéressant de montrer égaleemnt une appli vers une appli dans un même domaine…
Ca c’est autorisé</a:t>
        </a:r>
      </a:p>
    </p188:txBody>
  </p188:cm>
</p188:cmLst>
</file>

<file path=ppt/comments/modernComment_7FF64BFD_A99DE547.xml><?xml version="1.0" encoding="utf-8"?>
<p188:cmLst xmlns:a="http://schemas.openxmlformats.org/drawingml/2006/main" xmlns:r="http://schemas.openxmlformats.org/officeDocument/2006/relationships" xmlns:p188="http://schemas.microsoft.com/office/powerpoint/2018/8/main">
  <p188:cm id="{579C614F-C152-4010-8D76-F467AEECBE20}" authorId="{DBBEC37E-A5C2-3007-610D-1C65CA254308}" created="2024-11-05T14:20:47.697">
    <ac:deMkLst xmlns:ac="http://schemas.microsoft.com/office/drawing/2013/main/command">
      <pc:docMk xmlns:pc="http://schemas.microsoft.com/office/powerpoint/2013/main/command"/>
      <pc:sldMk xmlns:pc="http://schemas.microsoft.com/office/powerpoint/2013/main/command" cId="2845697351" sldId="2146847741"/>
      <ac:spMk id="10" creationId="{49AA6886-4B6E-721E-A65D-CEFF593AC71A}"/>
    </ac:deMkLst>
    <p188:replyLst>
      <p188:reply id="{27CCE498-452F-4416-928D-6593102542A8}" authorId="{7978C3AE-DFAD-86AE-D66A-F99F6808361C}" created="2024-11-08T07:06:45.590">
        <p188:txBody>
          <a:bodyPr/>
          <a:lstStyle/>
          <a:p>
            <a:r>
              <a:rPr lang="fr-FR"/>
              <a:t>Ok. A rediscuter</a:t>
            </a:r>
          </a:p>
        </p188:txBody>
      </p188:reply>
    </p188:replyLst>
    <p188:txBody>
      <a:bodyPr/>
      <a:lstStyle/>
      <a:p>
        <a:r>
          <a:rPr lang="fr-FR"/>
          <a:t>Suis pas totalement en phase avec ce propos….
L’arborescence de Processus API, concept de l’API Led =&gt; API Flow + 2 API Produits</a:t>
        </a:r>
      </a:p>
    </p188:txBody>
  </p188:cm>
</p188:cmLst>
</file>

<file path=ppt/comments/modernComment_7FF64BFE_2B5ACE45.xml><?xml version="1.0" encoding="utf-8"?>
<p188:cmLst xmlns:a="http://schemas.openxmlformats.org/drawingml/2006/main" xmlns:r="http://schemas.openxmlformats.org/officeDocument/2006/relationships" xmlns:p188="http://schemas.microsoft.com/office/powerpoint/2018/8/main">
  <p188:cm id="{266C19D0-44F9-4B36-A34B-2D4B3462FF33}" authorId="{DBBEC37E-A5C2-3007-610D-1C65CA254308}" created="2024-11-05T15:42:17.518">
    <ac:deMkLst xmlns:ac="http://schemas.microsoft.com/office/drawing/2013/main/command">
      <pc:docMk xmlns:pc="http://schemas.microsoft.com/office/powerpoint/2013/main/command"/>
      <pc:sldMk xmlns:pc="http://schemas.microsoft.com/office/powerpoint/2013/main/command" cId="727371333" sldId="2146847742"/>
      <ac:picMk id="16" creationId="{98989A24-0BEC-AA05-263E-061B3AA775D5}"/>
    </ac:deMkLst>
    <p188:replyLst>
      <p188:reply id="{04961870-4D0E-4C5B-99F7-C3C2DE55CC12}" authorId="{7978C3AE-DFAD-86AE-D66A-F99F6808361C}" created="2024-11-08T07:10:24.583">
        <p188:txBody>
          <a:bodyPr/>
          <a:lstStyle/>
          <a:p>
            <a:r>
              <a:rPr lang="fr-FR"/>
              <a:t>Le débat est là.</a:t>
            </a:r>
          </a:p>
        </p188:txBody>
      </p188:reply>
    </p188:replyLst>
    <p188:txBody>
      <a:bodyPr/>
      <a:lstStyle/>
      <a:p>
        <a:r>
          <a:rPr lang="fr-FR"/>
          <a:t>La complexité de mettre en rapport deux API produits qui ne travaillent pas au même niveau… porté dans l’une des API Produit en la victimisant contraindra l’intégralité des demandeurs de cette API</a:t>
        </a:r>
      </a:p>
    </p188:txBody>
  </p188:cm>
</p188:cmLst>
</file>

<file path=ppt/comments/modernComment_7FF64C0C_A297012D.xml><?xml version="1.0" encoding="utf-8"?>
<p188:cmLst xmlns:a="http://schemas.openxmlformats.org/drawingml/2006/main" xmlns:r="http://schemas.openxmlformats.org/officeDocument/2006/relationships" xmlns:p188="http://schemas.microsoft.com/office/powerpoint/2018/8/main">
  <p188:cm id="{F614580C-5EEA-4E84-B5A1-112219D939B9}" authorId="{DBBEC37E-A5C2-3007-610D-1C65CA254308}" created="2024-11-05T15:40:16.941">
    <ac:txMkLst xmlns:ac="http://schemas.microsoft.com/office/drawing/2013/main/command">
      <pc:docMk xmlns:pc="http://schemas.microsoft.com/office/powerpoint/2013/main/command"/>
      <pc:sldMk xmlns:pc="http://schemas.microsoft.com/office/powerpoint/2013/main/command" cId="2727805229" sldId="2146847756"/>
      <ac:spMk id="16" creationId="{E0F657F9-222D-8E72-5DF5-F36797FCAF8E}"/>
      <ac:txMk cp="377" len="279">
        <ac:context len="657" hash="1200249508"/>
      </ac:txMk>
    </ac:txMkLst>
    <p188:pos x="3253690" y="1843102"/>
    <p188:replyLst>
      <p188:reply id="{161F9AAE-5D4A-4352-8F6B-36D83AB534BF}" authorId="{7978C3AE-DFAD-86AE-D66A-F99F6808361C}" created="2024-11-08T07:09:06.577">
        <p188:txBody>
          <a:bodyPr/>
          <a:lstStyle/>
          <a:p>
            <a:r>
              <a:rPr lang="fr-FR"/>
              <a:t>C’est bien ce que je finis par proposer</a:t>
            </a:r>
          </a:p>
        </p188:txBody>
      </p188:reply>
    </p188:replyLst>
    <p188:txBody>
      <a:bodyPr/>
      <a:lstStyle/>
      <a:p>
        <a:r>
          <a:rPr lang="fr-FR"/>
          <a:t>L’asynchronisme est même plutôt porté par les API produit, afin de rendre un service offrant par essence la garantie de livraison</a:t>
        </a:r>
      </a:p>
    </p188:txBody>
  </p188:cm>
</p188:cmLst>
</file>

<file path=ppt/comments/modernComment_7FF64C07_36AC0FA7.xml><?xml version="1.0" encoding="utf-8"?>
<p188:cmLst xmlns:a="http://schemas.openxmlformats.org/drawingml/2006/main" xmlns:r="http://schemas.openxmlformats.org/officeDocument/2006/relationships" xmlns:p188="http://schemas.microsoft.com/office/powerpoint/2018/8/main">
  <p188:cm id="{0608B64D-3C8D-4385-BFE0-37E5B7579D64}" authorId="{DBBEC37E-A5C2-3007-610D-1C65CA254308}" created="2024-11-05T15:38:36.765">
    <ac:deMkLst xmlns:ac="http://schemas.microsoft.com/office/drawing/2013/main/command">
      <pc:docMk xmlns:pc="http://schemas.microsoft.com/office/powerpoint/2013/main/command"/>
      <pc:sldMk xmlns:pc="http://schemas.microsoft.com/office/powerpoint/2013/main/command" cId="917245863" sldId="2146847751"/>
      <ac:spMk id="11" creationId="{F684BC56-CEA3-A8A7-5D76-F490BB9555E1}"/>
    </ac:deMkLst>
    <p188:replyLst>
      <p188:reply id="{8CEA18F1-57BF-4276-9C1B-167E91F702DD}" authorId="{7978C3AE-DFAD-86AE-D66A-F99F6808361C}" created="2024-11-08T07:08:25.626">
        <p188:txBody>
          <a:bodyPr/>
          <a:lstStyle/>
          <a:p>
            <a:r>
              <a:rPr lang="fr-FR"/>
              <a:t>Pour moi oui</a:t>
            </a:r>
          </a:p>
        </p188:txBody>
      </p188:reply>
      <p188:reply id="{5FB0021E-0AD5-4023-84DC-9F04305D3B63}" authorId="{DBBEC37E-A5C2-3007-610D-1C65CA254308}" created="2024-11-08T07:34:15.522">
        <p188:txBody>
          <a:bodyPr/>
          <a:lstStyle/>
          <a:p>
            <a:r>
              <a:rPr lang="fr-FR"/>
              <a:t>Y a un débat aussi ici...</a:t>
            </a:r>
          </a:p>
        </p188:txBody>
      </p188:reply>
    </p188:replyLst>
    <p188:txBody>
      <a:bodyPr/>
      <a:lstStyle/>
      <a:p>
        <a:r>
          <a:rPr lang="fr-FR"/>
          <a:t>Transformer un IDARGOS en IDMDMCoWorker… ==&gt; Est-ce réellement de l’enrichissement métier ?</a:t>
        </a:r>
      </a:p>
    </p188:txBody>
  </p188:cm>
</p188:cmLst>
</file>

<file path=ppt/comments/modernComment_7FF64C08_EE00B238.xml><?xml version="1.0" encoding="utf-8"?>
<p188:cmLst xmlns:a="http://schemas.openxmlformats.org/drawingml/2006/main" xmlns:r="http://schemas.openxmlformats.org/officeDocument/2006/relationships" xmlns:p188="http://schemas.microsoft.com/office/powerpoint/2018/8/main">
  <p188:cm id="{26DCB891-5D35-44AE-AB2F-FDA3B61E2774}" authorId="{DBBEC37E-A5C2-3007-610D-1C65CA254308}" created="2024-11-05T08:45:20.721">
    <ac:deMkLst xmlns:ac="http://schemas.microsoft.com/office/drawing/2013/main/command">
      <pc:docMk xmlns:pc="http://schemas.microsoft.com/office/powerpoint/2013/main/command"/>
      <pc:sldMk xmlns:pc="http://schemas.microsoft.com/office/powerpoint/2013/main/command" cId="3993023032" sldId="2146847752"/>
      <ac:spMk id="33" creationId="{C3073E1C-0BAF-E42C-45BD-AD7AA3DCFE96}"/>
    </ac:deMkLst>
    <p188:txBody>
      <a:bodyPr/>
      <a:lstStyle/>
      <a:p>
        <a:r>
          <a:rPr lang="fr-FR"/>
          <a:t>Bof…
Généralement, l’utilisation de l’ETL consiste à aller piocher dans la base de données…
Le connecteur natif étant simplement le connecteur adapté pour aller requêter dans tout type de base de données…
==&gt; Couplage FORT clairement, puisque forte adhérence aux modèles de données des applications</a:t>
        </a:r>
      </a:p>
    </p188:txBody>
  </p188:cm>
  <p188:cm id="{4E91C8ED-51A2-4E15-AC33-E57839EFE241}" authorId="{DBBEC37E-A5C2-3007-610D-1C65CA254308}" created="2024-11-05T08:45:46.270">
    <ac:deMkLst xmlns:ac="http://schemas.microsoft.com/office/drawing/2013/main/command">
      <pc:docMk xmlns:pc="http://schemas.microsoft.com/office/powerpoint/2013/main/command"/>
      <pc:sldMk xmlns:pc="http://schemas.microsoft.com/office/powerpoint/2013/main/command" cId="3993023032" sldId="2146847752"/>
      <ac:spMk id="37" creationId="{666051C5-2413-100B-70AC-F4A8836DCDF5}"/>
    </ac:deMkLst>
    <p188:txBody>
      <a:bodyPr/>
      <a:lstStyle/>
      <a:p>
        <a:r>
          <a:rPr lang="fr-FR"/>
          <a:t>Couplage lâche, ici, clairement</a:t>
        </a:r>
      </a:p>
    </p188:txBody>
  </p188:cm>
</p188:cmLst>
</file>

<file path=ppt/comments/modernComment_7FF64C09_2F5D6948.xml><?xml version="1.0" encoding="utf-8"?>
<p188:cmLst xmlns:a="http://schemas.openxmlformats.org/drawingml/2006/main" xmlns:r="http://schemas.openxmlformats.org/officeDocument/2006/relationships" xmlns:p188="http://schemas.microsoft.com/office/powerpoint/2018/8/main">
  <p188:cm id="{DC351B9D-36DA-4F29-8366-641D3A2B538B}" authorId="{DBBEC37E-A5C2-3007-610D-1C65CA254308}" created="2024-11-05T08:48:44.235">
    <ac:deMkLst xmlns:ac="http://schemas.microsoft.com/office/drawing/2013/main/command">
      <pc:docMk xmlns:pc="http://schemas.microsoft.com/office/powerpoint/2013/main/command"/>
      <pc:sldMk xmlns:pc="http://schemas.microsoft.com/office/powerpoint/2013/main/command" cId="794650952" sldId="2146847753"/>
      <ac:spMk id="75" creationId="{3840FA1E-A30A-5D87-0CDD-33D20AB54A30}"/>
    </ac:deMkLst>
    <p188:txBody>
      <a:bodyPr/>
      <a:lstStyle/>
      <a:p>
        <a:r>
          <a:rPr lang="fr-FR"/>
          <a:t>La responsabilité de la donnée varie en fonction du cycle de vie…
Il vaut mieux parler des responsabilités des activités du processus métier…
Qui valide un appel d’offre, qui valide une commande, qui porte la responsabilité de la gestion du stock</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77F2E85-CB41-388F-C35F-F7578776D2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51A2AE2-82B4-6605-E299-C4D337AED6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2419D0-F4AC-4BAC-ADA9-8BCC814B3981}" type="datetimeFigureOut">
              <a:rPr lang="fr-FR" smtClean="0"/>
              <a:t>01/10/2025</a:t>
            </a:fld>
            <a:endParaRPr lang="fr-FR"/>
          </a:p>
        </p:txBody>
      </p:sp>
      <p:sp>
        <p:nvSpPr>
          <p:cNvPr id="4" name="Espace réservé du pied de page 3">
            <a:extLst>
              <a:ext uri="{FF2B5EF4-FFF2-40B4-BE49-F238E27FC236}">
                <a16:creationId xmlns:a16="http://schemas.microsoft.com/office/drawing/2014/main" id="{8B419337-AD91-E942-0B1E-97AF3AD97F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FEAA0D4-C7B5-831E-D417-5E776636A9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5E516E-AD98-464B-9F8D-77B2CDCB6715}" type="slidenum">
              <a:rPr lang="fr-FR" smtClean="0"/>
              <a:t>‹N°›</a:t>
            </a:fld>
            <a:endParaRPr lang="fr-FR"/>
          </a:p>
        </p:txBody>
      </p:sp>
    </p:spTree>
    <p:extLst>
      <p:ext uri="{BB962C8B-B14F-4D97-AF65-F5344CB8AC3E}">
        <p14:creationId xmlns:p14="http://schemas.microsoft.com/office/powerpoint/2010/main" val="271039289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49ED4-2EA5-44C1-88FD-FFD1EC85579F}" type="datetimeFigureOut">
              <a:rPr lang="fr-FR" smtClean="0"/>
              <a:t>01/10/2025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924BDF-58BE-4F0A-81E7-1ED057B91AE9}" type="slidenum">
              <a:rPr lang="fr-FR" smtClean="0"/>
              <a:t>‹N°›</a:t>
            </a:fld>
            <a:endParaRPr lang="fr-FR"/>
          </a:p>
        </p:txBody>
      </p:sp>
    </p:spTree>
    <p:extLst>
      <p:ext uri="{BB962C8B-B14F-4D97-AF65-F5344CB8AC3E}">
        <p14:creationId xmlns:p14="http://schemas.microsoft.com/office/powerpoint/2010/main" val="1755942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1</a:t>
            </a:fld>
            <a:endParaRPr lang="fr-FR"/>
          </a:p>
        </p:txBody>
      </p:sp>
    </p:spTree>
    <p:extLst>
      <p:ext uri="{BB962C8B-B14F-4D97-AF65-F5344CB8AC3E}">
        <p14:creationId xmlns:p14="http://schemas.microsoft.com/office/powerpoint/2010/main" val="231655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4</a:t>
            </a:fld>
            <a:endParaRPr lang="fr-FR"/>
          </a:p>
        </p:txBody>
      </p:sp>
    </p:spTree>
    <p:extLst>
      <p:ext uri="{BB962C8B-B14F-4D97-AF65-F5344CB8AC3E}">
        <p14:creationId xmlns:p14="http://schemas.microsoft.com/office/powerpoint/2010/main" val="3533075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7</a:t>
            </a:fld>
            <a:endParaRPr lang="fr-FR"/>
          </a:p>
        </p:txBody>
      </p:sp>
    </p:spTree>
    <p:extLst>
      <p:ext uri="{BB962C8B-B14F-4D97-AF65-F5344CB8AC3E}">
        <p14:creationId xmlns:p14="http://schemas.microsoft.com/office/powerpoint/2010/main" val="4199504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1. Intégration par échange de messages</a:t>
            </a:r>
          </a:p>
          <a:p>
            <a:pPr>
              <a:buFont typeface="Arial" panose="020B0604020202020204" pitchFamily="34" charset="0"/>
              <a:buChar char="•"/>
            </a:pPr>
            <a:r>
              <a:rPr lang="fr-FR" b="1"/>
              <a:t>Description</a:t>
            </a:r>
            <a:r>
              <a:rPr lang="fr-FR"/>
              <a:t> : Les applications communiquent en échangeant des messages au sein d'une architecture basée sur les messages. Ce pattern est souvent utilisé dans une architecture orientée événements.</a:t>
            </a:r>
          </a:p>
          <a:p>
            <a:pPr>
              <a:buFont typeface="Arial" panose="020B0604020202020204" pitchFamily="34" charset="0"/>
              <a:buChar char="•"/>
            </a:pPr>
            <a:r>
              <a:rPr lang="fr-FR" b="1"/>
              <a:t>Exemples</a:t>
            </a:r>
            <a:r>
              <a:rPr lang="fr-FR"/>
              <a:t> : Message Queue (MQ), </a:t>
            </a:r>
            <a:r>
              <a:rPr lang="fr-FR" err="1"/>
              <a:t>Publish-Subscribe</a:t>
            </a:r>
            <a:r>
              <a:rPr lang="fr-FR"/>
              <a:t>.</a:t>
            </a:r>
          </a:p>
          <a:p>
            <a:pPr>
              <a:buFont typeface="Arial" panose="020B0604020202020204" pitchFamily="34" charset="0"/>
              <a:buChar char="•"/>
            </a:pPr>
            <a:r>
              <a:rPr lang="fr-FR" b="1"/>
              <a:t>Avantages</a:t>
            </a:r>
            <a:r>
              <a:rPr lang="fr-FR"/>
              <a:t> : Découplage fort entre les systèmes, adaptabilité.</a:t>
            </a:r>
          </a:p>
          <a:p>
            <a:pPr>
              <a:buFont typeface="Arial" panose="020B0604020202020204" pitchFamily="34" charset="0"/>
              <a:buChar char="•"/>
            </a:pPr>
            <a:r>
              <a:rPr lang="fr-FR" b="1"/>
              <a:t>Limites</a:t>
            </a:r>
            <a:r>
              <a:rPr lang="fr-FR"/>
              <a:t> : Peut être complexe à mettre en place et à monitorer.</a:t>
            </a:r>
          </a:p>
          <a:p>
            <a:r>
              <a:rPr lang="fr-FR" b="1"/>
              <a:t>2. Pattern de service (SOA - Service-</a:t>
            </a:r>
            <a:r>
              <a:rPr lang="fr-FR" b="1" err="1"/>
              <a:t>Oriented</a:t>
            </a:r>
            <a:r>
              <a:rPr lang="fr-FR" b="1"/>
              <a:t> Architecture)</a:t>
            </a:r>
          </a:p>
          <a:p>
            <a:pPr>
              <a:buFont typeface="Arial" panose="020B0604020202020204" pitchFamily="34" charset="0"/>
              <a:buChar char="•"/>
            </a:pPr>
            <a:r>
              <a:rPr lang="fr-FR" b="1"/>
              <a:t>Description</a:t>
            </a:r>
            <a:r>
              <a:rPr lang="fr-FR"/>
              <a:t> : Les applications exposent des services bien définis qui peuvent être consommés par d'autres applications, souvent via des API REST ou SOAP. Les services sont généralement autonomes et peuvent être combinés pour former des processus plus complexes.</a:t>
            </a:r>
          </a:p>
          <a:p>
            <a:pPr>
              <a:buFont typeface="Arial" panose="020B0604020202020204" pitchFamily="34" charset="0"/>
              <a:buChar char="•"/>
            </a:pPr>
            <a:r>
              <a:rPr lang="fr-FR" b="1"/>
              <a:t>Exemples</a:t>
            </a:r>
            <a:r>
              <a:rPr lang="fr-FR"/>
              <a:t> : API RESTful, Web Services.</a:t>
            </a:r>
          </a:p>
          <a:p>
            <a:pPr>
              <a:buFont typeface="Arial" panose="020B0604020202020204" pitchFamily="34" charset="0"/>
              <a:buChar char="•"/>
            </a:pPr>
            <a:r>
              <a:rPr lang="fr-FR" b="1"/>
              <a:t>Avantages</a:t>
            </a:r>
            <a:r>
              <a:rPr lang="fr-FR"/>
              <a:t> : Réutilisation de services, flexibilité.</a:t>
            </a:r>
          </a:p>
          <a:p>
            <a:pPr>
              <a:buFont typeface="Arial" panose="020B0604020202020204" pitchFamily="34" charset="0"/>
              <a:buChar char="•"/>
            </a:pPr>
            <a:r>
              <a:rPr lang="fr-FR" b="1"/>
              <a:t>Limites</a:t>
            </a:r>
            <a:r>
              <a:rPr lang="fr-FR"/>
              <a:t> : Complexité de gestion des services, gouvernance.</a:t>
            </a:r>
          </a:p>
          <a:p>
            <a:r>
              <a:rPr lang="fr-FR" b="1"/>
              <a:t>3. Pattern d'intégration par partage de données (Data Sharing)</a:t>
            </a:r>
          </a:p>
          <a:p>
            <a:pPr>
              <a:buFont typeface="Arial" panose="020B0604020202020204" pitchFamily="34" charset="0"/>
              <a:buChar char="•"/>
            </a:pPr>
            <a:r>
              <a:rPr lang="fr-FR" b="1"/>
              <a:t>Description</a:t>
            </a:r>
            <a:r>
              <a:rPr lang="fr-FR"/>
              <a:t> : Les applications partagent directement des données au niveau de la base de données, ou via un entrepôt de données (Data Warehouse) ou un lac de données (Data Lake).</a:t>
            </a:r>
          </a:p>
          <a:p>
            <a:pPr>
              <a:buFont typeface="Arial" panose="020B0604020202020204" pitchFamily="34" charset="0"/>
              <a:buChar char="•"/>
            </a:pPr>
            <a:r>
              <a:rPr lang="fr-FR" b="1"/>
              <a:t>Exemples</a:t>
            </a:r>
            <a:r>
              <a:rPr lang="fr-FR"/>
              <a:t> : Entrepôt de données, réplication de bases de données.</a:t>
            </a:r>
          </a:p>
          <a:p>
            <a:pPr>
              <a:buFont typeface="Arial" panose="020B0604020202020204" pitchFamily="34" charset="0"/>
              <a:buChar char="•"/>
            </a:pPr>
            <a:r>
              <a:rPr lang="fr-FR" b="1"/>
              <a:t>Avantages</a:t>
            </a:r>
            <a:r>
              <a:rPr lang="fr-FR"/>
              <a:t> : Accès direct aux données, centralisation des informations.</a:t>
            </a:r>
          </a:p>
          <a:p>
            <a:pPr>
              <a:buFont typeface="Arial" panose="020B0604020202020204" pitchFamily="34" charset="0"/>
              <a:buChar char="•"/>
            </a:pPr>
            <a:r>
              <a:rPr lang="fr-FR" b="1"/>
              <a:t>Limites</a:t>
            </a:r>
            <a:r>
              <a:rPr lang="fr-FR"/>
              <a:t> : Risque de sécurité et de performance, dépendance étroite.</a:t>
            </a:r>
          </a:p>
          <a:p>
            <a:r>
              <a:rPr lang="fr-FR" b="1"/>
              <a:t>4. Pattern d'intégration via un ESB (Enterprise Service Bus)</a:t>
            </a:r>
          </a:p>
          <a:p>
            <a:pPr>
              <a:buFont typeface="Arial" panose="020B0604020202020204" pitchFamily="34" charset="0"/>
              <a:buChar char="•"/>
            </a:pPr>
            <a:r>
              <a:rPr lang="fr-FR" b="1"/>
              <a:t>Description</a:t>
            </a:r>
            <a:r>
              <a:rPr lang="fr-FR"/>
              <a:t> : L'ESB agit comme un bus central où transitent tous les messages, ce qui facilite la communication entre les applications sans connexion point-à-point.</a:t>
            </a:r>
          </a:p>
          <a:p>
            <a:pPr>
              <a:buFont typeface="Arial" panose="020B0604020202020204" pitchFamily="34" charset="0"/>
              <a:buChar char="•"/>
            </a:pPr>
            <a:r>
              <a:rPr lang="fr-FR" b="1"/>
              <a:t>Exemples</a:t>
            </a:r>
            <a:r>
              <a:rPr lang="fr-FR"/>
              <a:t> : ESB </a:t>
            </a:r>
            <a:r>
              <a:rPr lang="fr-FR" err="1"/>
              <a:t>MuleSoft</a:t>
            </a:r>
            <a:r>
              <a:rPr lang="fr-FR"/>
              <a:t>, Apache Camel.</a:t>
            </a:r>
          </a:p>
          <a:p>
            <a:pPr>
              <a:buFont typeface="Arial" panose="020B0604020202020204" pitchFamily="34" charset="0"/>
              <a:buChar char="•"/>
            </a:pPr>
            <a:r>
              <a:rPr lang="fr-FR" b="1"/>
              <a:t>Avantages</a:t>
            </a:r>
            <a:r>
              <a:rPr lang="fr-FR"/>
              <a:t> : Facilite la scalabilité, réduit les intégrations point-à-point.</a:t>
            </a:r>
          </a:p>
          <a:p>
            <a:pPr>
              <a:buFont typeface="Arial" panose="020B0604020202020204" pitchFamily="34" charset="0"/>
              <a:buChar char="•"/>
            </a:pPr>
            <a:r>
              <a:rPr lang="fr-FR" b="1"/>
              <a:t>Limites</a:t>
            </a:r>
            <a:r>
              <a:rPr lang="fr-FR"/>
              <a:t> : Peut être un point de défaillance unique, maintenance complexe.</a:t>
            </a:r>
          </a:p>
          <a:p>
            <a:r>
              <a:rPr lang="fr-FR" b="1"/>
              <a:t>5. Pattern de gestion d'événements (Event-Driven </a:t>
            </a:r>
            <a:r>
              <a:rPr lang="fr-FR" b="1" err="1"/>
              <a:t>Integration</a:t>
            </a:r>
            <a:r>
              <a:rPr lang="fr-FR" b="1"/>
              <a:t>)</a:t>
            </a:r>
          </a:p>
          <a:p>
            <a:pPr>
              <a:buFont typeface="Arial" panose="020B0604020202020204" pitchFamily="34" charset="0"/>
              <a:buChar char="•"/>
            </a:pPr>
            <a:r>
              <a:rPr lang="fr-FR" b="1"/>
              <a:t>Description</a:t>
            </a:r>
            <a:r>
              <a:rPr lang="fr-FR"/>
              <a:t> : Les applications réagissent aux événements produits par d'autres applications, ce qui permet de déclencher des actions en temps réel.</a:t>
            </a:r>
          </a:p>
          <a:p>
            <a:pPr>
              <a:buFont typeface="Arial" panose="020B0604020202020204" pitchFamily="34" charset="0"/>
              <a:buChar char="•"/>
            </a:pPr>
            <a:r>
              <a:rPr lang="fr-FR" b="1"/>
              <a:t>Exemples</a:t>
            </a:r>
            <a:r>
              <a:rPr lang="fr-FR"/>
              <a:t> : Architecture événementielle avec Kafka, </a:t>
            </a:r>
            <a:r>
              <a:rPr lang="fr-FR" err="1"/>
              <a:t>RabbitMQ</a:t>
            </a:r>
            <a:r>
              <a:rPr lang="fr-FR"/>
              <a:t>.</a:t>
            </a:r>
          </a:p>
          <a:p>
            <a:pPr>
              <a:buFont typeface="Arial" panose="020B0604020202020204" pitchFamily="34" charset="0"/>
              <a:buChar char="•"/>
            </a:pPr>
            <a:r>
              <a:rPr lang="fr-FR" b="1"/>
              <a:t>Avantages</a:t>
            </a:r>
            <a:r>
              <a:rPr lang="fr-FR"/>
              <a:t> : Réactivité en temps réel, faible couplage.</a:t>
            </a:r>
          </a:p>
          <a:p>
            <a:pPr>
              <a:buFont typeface="Arial" panose="020B0604020202020204" pitchFamily="34" charset="0"/>
              <a:buChar char="•"/>
            </a:pPr>
            <a:r>
              <a:rPr lang="fr-FR" b="1"/>
              <a:t>Limites</a:t>
            </a:r>
            <a:r>
              <a:rPr lang="fr-FR"/>
              <a:t> : Nécessite une gestion complexe des événements.</a:t>
            </a:r>
          </a:p>
          <a:p>
            <a:r>
              <a:rPr lang="fr-FR" b="1"/>
              <a:t>6. Pattern d'intégration par ETL (</a:t>
            </a:r>
            <a:r>
              <a:rPr lang="fr-FR" b="1" err="1"/>
              <a:t>Extract</a:t>
            </a:r>
            <a:r>
              <a:rPr lang="fr-FR" b="1"/>
              <a:t>, </a:t>
            </a:r>
            <a:r>
              <a:rPr lang="fr-FR" b="1" err="1"/>
              <a:t>Transform</a:t>
            </a:r>
            <a:r>
              <a:rPr lang="fr-FR" b="1"/>
              <a:t>, </a:t>
            </a:r>
            <a:r>
              <a:rPr lang="fr-FR" b="1" err="1"/>
              <a:t>Load</a:t>
            </a:r>
            <a:r>
              <a:rPr lang="fr-FR" b="1"/>
              <a:t>)</a:t>
            </a:r>
          </a:p>
          <a:p>
            <a:pPr>
              <a:buFont typeface="Arial" panose="020B0604020202020204" pitchFamily="34" charset="0"/>
              <a:buChar char="•"/>
            </a:pPr>
            <a:r>
              <a:rPr lang="fr-FR" b="1"/>
              <a:t>Description</a:t>
            </a:r>
            <a:r>
              <a:rPr lang="fr-FR"/>
              <a:t> : Ce pattern est couramment utilisé pour intégrer des données de différentes sources vers un entrepôt de données, avec un processus d'extraction, de transformation et de chargement.</a:t>
            </a:r>
          </a:p>
          <a:p>
            <a:pPr>
              <a:buFont typeface="Arial" panose="020B0604020202020204" pitchFamily="34" charset="0"/>
              <a:buChar char="•"/>
            </a:pPr>
            <a:r>
              <a:rPr lang="fr-FR" b="1"/>
              <a:t>Exemples</a:t>
            </a:r>
            <a:r>
              <a:rPr lang="fr-FR"/>
              <a:t> : Talend, Informatica.</a:t>
            </a:r>
          </a:p>
          <a:p>
            <a:pPr>
              <a:buFont typeface="Arial" panose="020B0604020202020204" pitchFamily="34" charset="0"/>
              <a:buChar char="•"/>
            </a:pPr>
            <a:r>
              <a:rPr lang="fr-FR" b="1"/>
              <a:t>Avantages</a:t>
            </a:r>
            <a:r>
              <a:rPr lang="fr-FR"/>
              <a:t> : Adapté pour le reporting et les analyses, assure la cohérence des données.</a:t>
            </a:r>
          </a:p>
          <a:p>
            <a:pPr>
              <a:buFont typeface="Arial" panose="020B0604020202020204" pitchFamily="34" charset="0"/>
              <a:buChar char="•"/>
            </a:pPr>
            <a:r>
              <a:rPr lang="fr-FR" b="1"/>
              <a:t>Limites</a:t>
            </a:r>
            <a:r>
              <a:rPr lang="fr-FR"/>
              <a:t> : Processus parfois long, pas idéal pour les intégrations en temps réel.</a:t>
            </a:r>
          </a:p>
          <a:p>
            <a:r>
              <a:rPr lang="fr-FR" b="1"/>
              <a:t>7. Pattern d'intégration par </a:t>
            </a:r>
            <a:r>
              <a:rPr lang="fr-FR" b="1" err="1"/>
              <a:t>iPaaS</a:t>
            </a:r>
            <a:r>
              <a:rPr lang="fr-FR" b="1"/>
              <a:t> (</a:t>
            </a:r>
            <a:r>
              <a:rPr lang="fr-FR" b="1" err="1"/>
              <a:t>Integration</a:t>
            </a:r>
            <a:r>
              <a:rPr lang="fr-FR" b="1"/>
              <a:t> Platform as a Service)</a:t>
            </a:r>
          </a:p>
          <a:p>
            <a:pPr>
              <a:buFont typeface="Arial" panose="020B0604020202020204" pitchFamily="34" charset="0"/>
              <a:buChar char="•"/>
            </a:pPr>
            <a:r>
              <a:rPr lang="fr-FR" b="1"/>
              <a:t>Description</a:t>
            </a:r>
            <a:r>
              <a:rPr lang="fr-FR"/>
              <a:t> : Une plateforme d'intégration en tant que service simplifie les intégrations entre applications SaaS et sur site, avec des connecteurs prêts à l'emploi et des fonctionnalités d'automatisation des flux.</a:t>
            </a:r>
          </a:p>
          <a:p>
            <a:pPr>
              <a:buFont typeface="Arial" panose="020B0604020202020204" pitchFamily="34" charset="0"/>
              <a:buChar char="•"/>
            </a:pPr>
            <a:r>
              <a:rPr lang="fr-FR" b="1"/>
              <a:t>Exemples</a:t>
            </a:r>
            <a:r>
              <a:rPr lang="fr-FR"/>
              <a:t> : Dell </a:t>
            </a:r>
            <a:r>
              <a:rPr lang="fr-FR" err="1"/>
              <a:t>Boomi</a:t>
            </a:r>
            <a:r>
              <a:rPr lang="fr-FR"/>
              <a:t>, </a:t>
            </a:r>
            <a:r>
              <a:rPr lang="fr-FR" err="1"/>
              <a:t>Zapier</a:t>
            </a:r>
            <a:r>
              <a:rPr lang="fr-FR"/>
              <a:t>, </a:t>
            </a:r>
            <a:r>
              <a:rPr lang="fr-FR" err="1"/>
              <a:t>MuleSoft</a:t>
            </a:r>
            <a:r>
              <a:rPr lang="fr-FR"/>
              <a:t> </a:t>
            </a:r>
            <a:r>
              <a:rPr lang="fr-FR" err="1"/>
              <a:t>Anypoint</a:t>
            </a:r>
            <a:r>
              <a:rPr lang="fr-FR"/>
              <a:t>.</a:t>
            </a:r>
          </a:p>
          <a:p>
            <a:pPr>
              <a:buFont typeface="Arial" panose="020B0604020202020204" pitchFamily="34" charset="0"/>
              <a:buChar char="•"/>
            </a:pPr>
            <a:r>
              <a:rPr lang="fr-FR" b="1"/>
              <a:t>Avantages</a:t>
            </a:r>
            <a:r>
              <a:rPr lang="fr-FR"/>
              <a:t> : Rapidité d'intégration, flexibilité.</a:t>
            </a:r>
          </a:p>
          <a:p>
            <a:pPr>
              <a:buFont typeface="Arial" panose="020B0604020202020204" pitchFamily="34" charset="0"/>
              <a:buChar char="•"/>
            </a:pPr>
            <a:r>
              <a:rPr lang="fr-FR" b="1"/>
              <a:t>Limites</a:t>
            </a:r>
            <a:r>
              <a:rPr lang="fr-FR"/>
              <a:t> : Dépendance au fournisseur, coût potentiel.</a:t>
            </a:r>
          </a:p>
          <a:p>
            <a:r>
              <a:rPr lang="fr-FR" b="1"/>
              <a:t>8. Pattern d'intégration hybride</a:t>
            </a:r>
          </a:p>
          <a:p>
            <a:pPr>
              <a:buFont typeface="Arial" panose="020B0604020202020204" pitchFamily="34" charset="0"/>
              <a:buChar char="•"/>
            </a:pPr>
            <a:r>
              <a:rPr lang="fr-FR" b="1"/>
              <a:t>Description</a:t>
            </a:r>
            <a:r>
              <a:rPr lang="fr-FR"/>
              <a:t> : Combine plusieurs patterns pour s’adapter à des environnements complexes et répondre aux besoins variés des entreprises.</a:t>
            </a:r>
          </a:p>
          <a:p>
            <a:pPr>
              <a:buFont typeface="Arial" panose="020B0604020202020204" pitchFamily="34" charset="0"/>
              <a:buChar char="•"/>
            </a:pPr>
            <a:r>
              <a:rPr lang="fr-FR" b="1"/>
              <a:t>Exemples</a:t>
            </a:r>
            <a:r>
              <a:rPr lang="fr-FR"/>
              <a:t> : ESB + </a:t>
            </a:r>
            <a:r>
              <a:rPr lang="fr-FR" err="1"/>
              <a:t>iPaaS</a:t>
            </a:r>
            <a:r>
              <a:rPr lang="fr-FR"/>
              <a:t> pour une flexibilité maximale entre les applications sur site et dans le cloud.</a:t>
            </a:r>
          </a:p>
          <a:p>
            <a:pPr>
              <a:buFont typeface="Arial" panose="020B0604020202020204" pitchFamily="34" charset="0"/>
              <a:buChar char="•"/>
            </a:pPr>
            <a:r>
              <a:rPr lang="fr-FR" b="1"/>
              <a:t>Avantages</a:t>
            </a:r>
            <a:r>
              <a:rPr lang="fr-FR"/>
              <a:t> : Optimisation de chaque système en fonction de ses besoins spécifiques.</a:t>
            </a:r>
          </a:p>
          <a:p>
            <a:pPr>
              <a:buFont typeface="Arial" panose="020B0604020202020204" pitchFamily="34" charset="0"/>
              <a:buChar char="•"/>
            </a:pPr>
            <a:r>
              <a:rPr lang="fr-FR" b="1"/>
              <a:t>Limites</a:t>
            </a:r>
            <a:r>
              <a:rPr lang="fr-FR"/>
              <a:t> : Peut être complexe à implémenter et à maintenir.</a:t>
            </a:r>
          </a:p>
          <a:p>
            <a:r>
              <a:rPr lang="fr-FR"/>
              <a:t>Ces patterns peuvent être combinés selon les besoins pour répondre aux exigences spécifiques de l’entreprise en termes de volume de données, de sécurité, de temps réel et de maintenance.</a:t>
            </a:r>
          </a:p>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11</a:t>
            </a:fld>
            <a:endParaRPr lang="fr-FR"/>
          </a:p>
        </p:txBody>
      </p:sp>
    </p:spTree>
    <p:extLst>
      <p:ext uri="{BB962C8B-B14F-4D97-AF65-F5344CB8AC3E}">
        <p14:creationId xmlns:p14="http://schemas.microsoft.com/office/powerpoint/2010/main" val="709746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FF04-AEED-3DA9-D2DC-1551C621CE5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F1AFFD-52D8-9DD0-E858-F1F5E941C4E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DF1306A-C059-D97A-DF2F-C1D5C768D6A6}"/>
              </a:ext>
            </a:extLst>
          </p:cNvPr>
          <p:cNvSpPr>
            <a:spLocks noGrp="1"/>
          </p:cNvSpPr>
          <p:nvPr>
            <p:ph type="body" idx="1"/>
          </p:nvPr>
        </p:nvSpPr>
        <p:spPr/>
        <p:txBody>
          <a:bodyPr/>
          <a:lstStyle/>
          <a:p>
            <a:r>
              <a:rPr lang="fr-FR" b="1"/>
              <a:t>1. Intégration par échange de messages</a:t>
            </a:r>
          </a:p>
          <a:p>
            <a:pPr>
              <a:buFont typeface="Arial" panose="020B0604020202020204" pitchFamily="34" charset="0"/>
              <a:buChar char="•"/>
            </a:pPr>
            <a:r>
              <a:rPr lang="fr-FR" b="1"/>
              <a:t>Description</a:t>
            </a:r>
            <a:r>
              <a:rPr lang="fr-FR"/>
              <a:t> : Les applications communiquent en échangeant des messages au sein d'une architecture basée sur les messages. Ce pattern est souvent utilisé dans une architecture orientée événements.</a:t>
            </a:r>
          </a:p>
          <a:p>
            <a:pPr>
              <a:buFont typeface="Arial" panose="020B0604020202020204" pitchFamily="34" charset="0"/>
              <a:buChar char="•"/>
            </a:pPr>
            <a:r>
              <a:rPr lang="fr-FR" b="1"/>
              <a:t>Exemples</a:t>
            </a:r>
            <a:r>
              <a:rPr lang="fr-FR"/>
              <a:t> : Message Queue (MQ), </a:t>
            </a:r>
            <a:r>
              <a:rPr lang="fr-FR" err="1"/>
              <a:t>Publish-Subscribe</a:t>
            </a:r>
            <a:r>
              <a:rPr lang="fr-FR"/>
              <a:t>.</a:t>
            </a:r>
          </a:p>
          <a:p>
            <a:pPr>
              <a:buFont typeface="Arial" panose="020B0604020202020204" pitchFamily="34" charset="0"/>
              <a:buChar char="•"/>
            </a:pPr>
            <a:r>
              <a:rPr lang="fr-FR" b="1"/>
              <a:t>Avantages</a:t>
            </a:r>
            <a:r>
              <a:rPr lang="fr-FR"/>
              <a:t> : Découplage fort entre les systèmes, adaptabilité.</a:t>
            </a:r>
          </a:p>
          <a:p>
            <a:pPr>
              <a:buFont typeface="Arial" panose="020B0604020202020204" pitchFamily="34" charset="0"/>
              <a:buChar char="•"/>
            </a:pPr>
            <a:r>
              <a:rPr lang="fr-FR" b="1"/>
              <a:t>Limites</a:t>
            </a:r>
            <a:r>
              <a:rPr lang="fr-FR"/>
              <a:t> : Peut être complexe à mettre en place et à monitorer.</a:t>
            </a:r>
          </a:p>
          <a:p>
            <a:r>
              <a:rPr lang="fr-FR" b="1"/>
              <a:t>2. Pattern de service (SOA - Service-</a:t>
            </a:r>
            <a:r>
              <a:rPr lang="fr-FR" b="1" err="1"/>
              <a:t>Oriented</a:t>
            </a:r>
            <a:r>
              <a:rPr lang="fr-FR" b="1"/>
              <a:t> Architecture)</a:t>
            </a:r>
          </a:p>
          <a:p>
            <a:pPr>
              <a:buFont typeface="Arial" panose="020B0604020202020204" pitchFamily="34" charset="0"/>
              <a:buChar char="•"/>
            </a:pPr>
            <a:r>
              <a:rPr lang="fr-FR" b="1"/>
              <a:t>Description</a:t>
            </a:r>
            <a:r>
              <a:rPr lang="fr-FR"/>
              <a:t> : Les applications exposent des services bien définis qui peuvent être consommés par d'autres applications, souvent via des API REST ou SOAP. Les services sont généralement autonomes et peuvent être combinés pour former des processus plus complexes.</a:t>
            </a:r>
          </a:p>
          <a:p>
            <a:pPr>
              <a:buFont typeface="Arial" panose="020B0604020202020204" pitchFamily="34" charset="0"/>
              <a:buChar char="•"/>
            </a:pPr>
            <a:r>
              <a:rPr lang="fr-FR" b="1"/>
              <a:t>Exemples</a:t>
            </a:r>
            <a:r>
              <a:rPr lang="fr-FR"/>
              <a:t> : API RESTful, Web Services.</a:t>
            </a:r>
          </a:p>
          <a:p>
            <a:pPr>
              <a:buFont typeface="Arial" panose="020B0604020202020204" pitchFamily="34" charset="0"/>
              <a:buChar char="•"/>
            </a:pPr>
            <a:r>
              <a:rPr lang="fr-FR" b="1"/>
              <a:t>Avantages</a:t>
            </a:r>
            <a:r>
              <a:rPr lang="fr-FR"/>
              <a:t> : Réutilisation de services, flexibilité.</a:t>
            </a:r>
          </a:p>
          <a:p>
            <a:pPr>
              <a:buFont typeface="Arial" panose="020B0604020202020204" pitchFamily="34" charset="0"/>
              <a:buChar char="•"/>
            </a:pPr>
            <a:r>
              <a:rPr lang="fr-FR" b="1"/>
              <a:t>Limites</a:t>
            </a:r>
            <a:r>
              <a:rPr lang="fr-FR"/>
              <a:t> : Complexité de gestion des services, gouvernance.</a:t>
            </a:r>
          </a:p>
          <a:p>
            <a:r>
              <a:rPr lang="fr-FR" b="1"/>
              <a:t>3. Pattern d'intégration par partage de données (Data Sharing)</a:t>
            </a:r>
          </a:p>
          <a:p>
            <a:pPr>
              <a:buFont typeface="Arial" panose="020B0604020202020204" pitchFamily="34" charset="0"/>
              <a:buChar char="•"/>
            </a:pPr>
            <a:r>
              <a:rPr lang="fr-FR" b="1"/>
              <a:t>Description</a:t>
            </a:r>
            <a:r>
              <a:rPr lang="fr-FR"/>
              <a:t> : Les applications partagent directement des données au niveau de la base de données, ou via un entrepôt de données (Data Warehouse) ou un lac de données (Data Lake).</a:t>
            </a:r>
          </a:p>
          <a:p>
            <a:pPr>
              <a:buFont typeface="Arial" panose="020B0604020202020204" pitchFamily="34" charset="0"/>
              <a:buChar char="•"/>
            </a:pPr>
            <a:r>
              <a:rPr lang="fr-FR" b="1"/>
              <a:t>Exemples</a:t>
            </a:r>
            <a:r>
              <a:rPr lang="fr-FR"/>
              <a:t> : Entrepôt de données, réplication de bases de données.</a:t>
            </a:r>
          </a:p>
          <a:p>
            <a:pPr>
              <a:buFont typeface="Arial" panose="020B0604020202020204" pitchFamily="34" charset="0"/>
              <a:buChar char="•"/>
            </a:pPr>
            <a:r>
              <a:rPr lang="fr-FR" b="1"/>
              <a:t>Avantages</a:t>
            </a:r>
            <a:r>
              <a:rPr lang="fr-FR"/>
              <a:t> : Accès direct aux données, centralisation des informations.</a:t>
            </a:r>
          </a:p>
          <a:p>
            <a:pPr>
              <a:buFont typeface="Arial" panose="020B0604020202020204" pitchFamily="34" charset="0"/>
              <a:buChar char="•"/>
            </a:pPr>
            <a:r>
              <a:rPr lang="fr-FR" b="1"/>
              <a:t>Limites</a:t>
            </a:r>
            <a:r>
              <a:rPr lang="fr-FR"/>
              <a:t> : Risque de sécurité et de performance, dépendance étroite.</a:t>
            </a:r>
          </a:p>
          <a:p>
            <a:r>
              <a:rPr lang="fr-FR" b="1"/>
              <a:t>4. Pattern d'intégration via un ESB (Enterprise Service Bus)</a:t>
            </a:r>
          </a:p>
          <a:p>
            <a:pPr>
              <a:buFont typeface="Arial" panose="020B0604020202020204" pitchFamily="34" charset="0"/>
              <a:buChar char="•"/>
            </a:pPr>
            <a:r>
              <a:rPr lang="fr-FR" b="1"/>
              <a:t>Description</a:t>
            </a:r>
            <a:r>
              <a:rPr lang="fr-FR"/>
              <a:t> : L'ESB agit comme un bus central où transitent tous les messages, ce qui facilite la communication entre les applications sans connexion point-à-point.</a:t>
            </a:r>
          </a:p>
          <a:p>
            <a:pPr>
              <a:buFont typeface="Arial" panose="020B0604020202020204" pitchFamily="34" charset="0"/>
              <a:buChar char="•"/>
            </a:pPr>
            <a:r>
              <a:rPr lang="fr-FR" b="1"/>
              <a:t>Exemples</a:t>
            </a:r>
            <a:r>
              <a:rPr lang="fr-FR"/>
              <a:t> : ESB </a:t>
            </a:r>
            <a:r>
              <a:rPr lang="fr-FR" err="1"/>
              <a:t>MuleSoft</a:t>
            </a:r>
            <a:r>
              <a:rPr lang="fr-FR"/>
              <a:t>, Apache Camel.</a:t>
            </a:r>
          </a:p>
          <a:p>
            <a:pPr>
              <a:buFont typeface="Arial" panose="020B0604020202020204" pitchFamily="34" charset="0"/>
              <a:buChar char="•"/>
            </a:pPr>
            <a:r>
              <a:rPr lang="fr-FR" b="1"/>
              <a:t>Avantages</a:t>
            </a:r>
            <a:r>
              <a:rPr lang="fr-FR"/>
              <a:t> : Facilite la scalabilité, réduit les intégrations point-à-point.</a:t>
            </a:r>
          </a:p>
          <a:p>
            <a:pPr>
              <a:buFont typeface="Arial" panose="020B0604020202020204" pitchFamily="34" charset="0"/>
              <a:buChar char="•"/>
            </a:pPr>
            <a:r>
              <a:rPr lang="fr-FR" b="1"/>
              <a:t>Limites</a:t>
            </a:r>
            <a:r>
              <a:rPr lang="fr-FR"/>
              <a:t> : Peut être un point de défaillance unique, maintenance complexe.</a:t>
            </a:r>
          </a:p>
          <a:p>
            <a:r>
              <a:rPr lang="fr-FR" b="1"/>
              <a:t>5. Pattern de gestion d'événements (Event-Driven </a:t>
            </a:r>
            <a:r>
              <a:rPr lang="fr-FR" b="1" err="1"/>
              <a:t>Integration</a:t>
            </a:r>
            <a:r>
              <a:rPr lang="fr-FR" b="1"/>
              <a:t>)</a:t>
            </a:r>
          </a:p>
          <a:p>
            <a:pPr>
              <a:buFont typeface="Arial" panose="020B0604020202020204" pitchFamily="34" charset="0"/>
              <a:buChar char="•"/>
            </a:pPr>
            <a:r>
              <a:rPr lang="fr-FR" b="1"/>
              <a:t>Description</a:t>
            </a:r>
            <a:r>
              <a:rPr lang="fr-FR"/>
              <a:t> : Les applications réagissent aux événements produits par d'autres applications, ce qui permet de déclencher des actions en temps réel.</a:t>
            </a:r>
          </a:p>
          <a:p>
            <a:pPr>
              <a:buFont typeface="Arial" panose="020B0604020202020204" pitchFamily="34" charset="0"/>
              <a:buChar char="•"/>
            </a:pPr>
            <a:r>
              <a:rPr lang="fr-FR" b="1"/>
              <a:t>Exemples</a:t>
            </a:r>
            <a:r>
              <a:rPr lang="fr-FR"/>
              <a:t> : Architecture événementielle avec Kafka, </a:t>
            </a:r>
            <a:r>
              <a:rPr lang="fr-FR" err="1"/>
              <a:t>RabbitMQ</a:t>
            </a:r>
            <a:r>
              <a:rPr lang="fr-FR"/>
              <a:t>.</a:t>
            </a:r>
          </a:p>
          <a:p>
            <a:pPr>
              <a:buFont typeface="Arial" panose="020B0604020202020204" pitchFamily="34" charset="0"/>
              <a:buChar char="•"/>
            </a:pPr>
            <a:r>
              <a:rPr lang="fr-FR" b="1"/>
              <a:t>Avantages</a:t>
            </a:r>
            <a:r>
              <a:rPr lang="fr-FR"/>
              <a:t> : Réactivité en temps réel, faible couplage.</a:t>
            </a:r>
          </a:p>
          <a:p>
            <a:pPr>
              <a:buFont typeface="Arial" panose="020B0604020202020204" pitchFamily="34" charset="0"/>
              <a:buChar char="•"/>
            </a:pPr>
            <a:r>
              <a:rPr lang="fr-FR" b="1"/>
              <a:t>Limites</a:t>
            </a:r>
            <a:r>
              <a:rPr lang="fr-FR"/>
              <a:t> : Nécessite une gestion complexe des événements.</a:t>
            </a:r>
          </a:p>
          <a:p>
            <a:r>
              <a:rPr lang="fr-FR" b="1"/>
              <a:t>6. Pattern d'intégration par ETL (</a:t>
            </a:r>
            <a:r>
              <a:rPr lang="fr-FR" b="1" err="1"/>
              <a:t>Extract</a:t>
            </a:r>
            <a:r>
              <a:rPr lang="fr-FR" b="1"/>
              <a:t>, </a:t>
            </a:r>
            <a:r>
              <a:rPr lang="fr-FR" b="1" err="1"/>
              <a:t>Transform</a:t>
            </a:r>
            <a:r>
              <a:rPr lang="fr-FR" b="1"/>
              <a:t>, </a:t>
            </a:r>
            <a:r>
              <a:rPr lang="fr-FR" b="1" err="1"/>
              <a:t>Load</a:t>
            </a:r>
            <a:r>
              <a:rPr lang="fr-FR" b="1"/>
              <a:t>)</a:t>
            </a:r>
          </a:p>
          <a:p>
            <a:pPr>
              <a:buFont typeface="Arial" panose="020B0604020202020204" pitchFamily="34" charset="0"/>
              <a:buChar char="•"/>
            </a:pPr>
            <a:r>
              <a:rPr lang="fr-FR" b="1"/>
              <a:t>Description</a:t>
            </a:r>
            <a:r>
              <a:rPr lang="fr-FR"/>
              <a:t> : Ce pattern est couramment utilisé pour intégrer des données de différentes sources vers un entrepôt de données, avec un processus d'extraction, de transformation et de chargement.</a:t>
            </a:r>
          </a:p>
          <a:p>
            <a:pPr>
              <a:buFont typeface="Arial" panose="020B0604020202020204" pitchFamily="34" charset="0"/>
              <a:buChar char="•"/>
            </a:pPr>
            <a:r>
              <a:rPr lang="fr-FR" b="1"/>
              <a:t>Exemples</a:t>
            </a:r>
            <a:r>
              <a:rPr lang="fr-FR"/>
              <a:t> : Talend, Informatica.</a:t>
            </a:r>
          </a:p>
          <a:p>
            <a:pPr>
              <a:buFont typeface="Arial" panose="020B0604020202020204" pitchFamily="34" charset="0"/>
              <a:buChar char="•"/>
            </a:pPr>
            <a:r>
              <a:rPr lang="fr-FR" b="1"/>
              <a:t>Avantages</a:t>
            </a:r>
            <a:r>
              <a:rPr lang="fr-FR"/>
              <a:t> : Adapté pour le reporting et les analyses, assure la cohérence des données.</a:t>
            </a:r>
          </a:p>
          <a:p>
            <a:pPr>
              <a:buFont typeface="Arial" panose="020B0604020202020204" pitchFamily="34" charset="0"/>
              <a:buChar char="•"/>
            </a:pPr>
            <a:r>
              <a:rPr lang="fr-FR" b="1"/>
              <a:t>Limites</a:t>
            </a:r>
            <a:r>
              <a:rPr lang="fr-FR"/>
              <a:t> : Processus parfois long, pas idéal pour les intégrations en temps réel.</a:t>
            </a:r>
          </a:p>
          <a:p>
            <a:r>
              <a:rPr lang="fr-FR" b="1"/>
              <a:t>7. Pattern d'intégration par </a:t>
            </a:r>
            <a:r>
              <a:rPr lang="fr-FR" b="1" err="1"/>
              <a:t>iPaaS</a:t>
            </a:r>
            <a:r>
              <a:rPr lang="fr-FR" b="1"/>
              <a:t> (</a:t>
            </a:r>
            <a:r>
              <a:rPr lang="fr-FR" b="1" err="1"/>
              <a:t>Integration</a:t>
            </a:r>
            <a:r>
              <a:rPr lang="fr-FR" b="1"/>
              <a:t> Platform as a Service)</a:t>
            </a:r>
          </a:p>
          <a:p>
            <a:pPr>
              <a:buFont typeface="Arial" panose="020B0604020202020204" pitchFamily="34" charset="0"/>
              <a:buChar char="•"/>
            </a:pPr>
            <a:r>
              <a:rPr lang="fr-FR" b="1"/>
              <a:t>Description</a:t>
            </a:r>
            <a:r>
              <a:rPr lang="fr-FR"/>
              <a:t> : Une plateforme d'intégration en tant que service simplifie les intégrations entre applications SaaS et sur site, avec des connecteurs prêts à l'emploi et des fonctionnalités d'automatisation des flux.</a:t>
            </a:r>
          </a:p>
          <a:p>
            <a:pPr>
              <a:buFont typeface="Arial" panose="020B0604020202020204" pitchFamily="34" charset="0"/>
              <a:buChar char="•"/>
            </a:pPr>
            <a:r>
              <a:rPr lang="fr-FR" b="1"/>
              <a:t>Exemples</a:t>
            </a:r>
            <a:r>
              <a:rPr lang="fr-FR"/>
              <a:t> : Dell </a:t>
            </a:r>
            <a:r>
              <a:rPr lang="fr-FR" err="1"/>
              <a:t>Boomi</a:t>
            </a:r>
            <a:r>
              <a:rPr lang="fr-FR"/>
              <a:t>, </a:t>
            </a:r>
            <a:r>
              <a:rPr lang="fr-FR" err="1"/>
              <a:t>Zapier</a:t>
            </a:r>
            <a:r>
              <a:rPr lang="fr-FR"/>
              <a:t>, </a:t>
            </a:r>
            <a:r>
              <a:rPr lang="fr-FR" err="1"/>
              <a:t>MuleSoft</a:t>
            </a:r>
            <a:r>
              <a:rPr lang="fr-FR"/>
              <a:t> </a:t>
            </a:r>
            <a:r>
              <a:rPr lang="fr-FR" err="1"/>
              <a:t>Anypoint</a:t>
            </a:r>
            <a:r>
              <a:rPr lang="fr-FR"/>
              <a:t>.</a:t>
            </a:r>
          </a:p>
          <a:p>
            <a:pPr>
              <a:buFont typeface="Arial" panose="020B0604020202020204" pitchFamily="34" charset="0"/>
              <a:buChar char="•"/>
            </a:pPr>
            <a:r>
              <a:rPr lang="fr-FR" b="1"/>
              <a:t>Avantages</a:t>
            </a:r>
            <a:r>
              <a:rPr lang="fr-FR"/>
              <a:t> : Rapidité d'intégration, flexibilité.</a:t>
            </a:r>
          </a:p>
          <a:p>
            <a:pPr>
              <a:buFont typeface="Arial" panose="020B0604020202020204" pitchFamily="34" charset="0"/>
              <a:buChar char="•"/>
            </a:pPr>
            <a:r>
              <a:rPr lang="fr-FR" b="1"/>
              <a:t>Limites</a:t>
            </a:r>
            <a:r>
              <a:rPr lang="fr-FR"/>
              <a:t> : Dépendance au fournisseur, coût potentiel.</a:t>
            </a:r>
          </a:p>
          <a:p>
            <a:r>
              <a:rPr lang="fr-FR" b="1"/>
              <a:t>8. Pattern d'intégration hybride</a:t>
            </a:r>
          </a:p>
          <a:p>
            <a:pPr>
              <a:buFont typeface="Arial" panose="020B0604020202020204" pitchFamily="34" charset="0"/>
              <a:buChar char="•"/>
            </a:pPr>
            <a:r>
              <a:rPr lang="fr-FR" b="1"/>
              <a:t>Description</a:t>
            </a:r>
            <a:r>
              <a:rPr lang="fr-FR"/>
              <a:t> : Combine plusieurs patterns pour s’adapter à des environnements complexes et répondre aux besoins variés des entreprises.</a:t>
            </a:r>
          </a:p>
          <a:p>
            <a:pPr>
              <a:buFont typeface="Arial" panose="020B0604020202020204" pitchFamily="34" charset="0"/>
              <a:buChar char="•"/>
            </a:pPr>
            <a:r>
              <a:rPr lang="fr-FR" b="1"/>
              <a:t>Exemples</a:t>
            </a:r>
            <a:r>
              <a:rPr lang="fr-FR"/>
              <a:t> : ESB + </a:t>
            </a:r>
            <a:r>
              <a:rPr lang="fr-FR" err="1"/>
              <a:t>iPaaS</a:t>
            </a:r>
            <a:r>
              <a:rPr lang="fr-FR"/>
              <a:t> pour une flexibilité maximale entre les applications sur site et dans le cloud.</a:t>
            </a:r>
          </a:p>
          <a:p>
            <a:pPr>
              <a:buFont typeface="Arial" panose="020B0604020202020204" pitchFamily="34" charset="0"/>
              <a:buChar char="•"/>
            </a:pPr>
            <a:r>
              <a:rPr lang="fr-FR" b="1"/>
              <a:t>Avantages</a:t>
            </a:r>
            <a:r>
              <a:rPr lang="fr-FR"/>
              <a:t> : Optimisation de chaque système en fonction de ses besoins spécifiques.</a:t>
            </a:r>
          </a:p>
          <a:p>
            <a:pPr>
              <a:buFont typeface="Arial" panose="020B0604020202020204" pitchFamily="34" charset="0"/>
              <a:buChar char="•"/>
            </a:pPr>
            <a:r>
              <a:rPr lang="fr-FR" b="1"/>
              <a:t>Limites</a:t>
            </a:r>
            <a:r>
              <a:rPr lang="fr-FR"/>
              <a:t> : Peut être complexe à implémenter et à maintenir.</a:t>
            </a:r>
          </a:p>
          <a:p>
            <a:r>
              <a:rPr lang="fr-FR"/>
              <a:t>Ces patterns peuvent être combinés selon les besoins pour répondre aux exigences spécifiques de l’entreprise en termes de volume de données, de sécurité, de temps réel et de maintenance.</a:t>
            </a:r>
          </a:p>
          <a:p>
            <a:endParaRPr lang="fr-FR"/>
          </a:p>
        </p:txBody>
      </p:sp>
      <p:sp>
        <p:nvSpPr>
          <p:cNvPr id="4" name="Espace réservé du numéro de diapositive 3">
            <a:extLst>
              <a:ext uri="{FF2B5EF4-FFF2-40B4-BE49-F238E27FC236}">
                <a16:creationId xmlns:a16="http://schemas.microsoft.com/office/drawing/2014/main" id="{48480AAD-6060-F249-AF89-56A4C7164D7E}"/>
              </a:ext>
            </a:extLst>
          </p:cNvPr>
          <p:cNvSpPr>
            <a:spLocks noGrp="1"/>
          </p:cNvSpPr>
          <p:nvPr>
            <p:ph type="sldNum" sz="quarter" idx="5"/>
          </p:nvPr>
        </p:nvSpPr>
        <p:spPr/>
        <p:txBody>
          <a:bodyPr/>
          <a:lstStyle/>
          <a:p>
            <a:fld id="{C9924BDF-58BE-4F0A-81E7-1ED057B91AE9}" type="slidenum">
              <a:rPr lang="fr-FR" smtClean="0"/>
              <a:t>12</a:t>
            </a:fld>
            <a:endParaRPr lang="fr-FR"/>
          </a:p>
        </p:txBody>
      </p:sp>
    </p:spTree>
    <p:extLst>
      <p:ext uri="{BB962C8B-B14F-4D97-AF65-F5344CB8AC3E}">
        <p14:creationId xmlns:p14="http://schemas.microsoft.com/office/powerpoint/2010/main" val="2556231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42A1-F334-9EE1-DAFE-77C9D54FF2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5B34D1-A0D4-B35C-559E-3B42FF31C1F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B8DCAF6-44EB-67EE-E9CF-8E267AE91121}"/>
              </a:ext>
            </a:extLst>
          </p:cNvPr>
          <p:cNvSpPr>
            <a:spLocks noGrp="1"/>
          </p:cNvSpPr>
          <p:nvPr>
            <p:ph type="body" idx="1"/>
          </p:nvPr>
        </p:nvSpPr>
        <p:spPr/>
        <p:txBody>
          <a:bodyPr/>
          <a:lstStyle/>
          <a:p>
            <a:r>
              <a:rPr lang="fr-FR" b="1"/>
              <a:t>1. Intégration par échange de messages</a:t>
            </a:r>
          </a:p>
          <a:p>
            <a:pPr>
              <a:buFont typeface="Arial" panose="020B0604020202020204" pitchFamily="34" charset="0"/>
              <a:buChar char="•"/>
            </a:pPr>
            <a:r>
              <a:rPr lang="fr-FR" b="1"/>
              <a:t>Description</a:t>
            </a:r>
            <a:r>
              <a:rPr lang="fr-FR"/>
              <a:t> : Les applications communiquent en échangeant des messages au sein d'une architecture basée sur les messages. Ce pattern est souvent utilisé dans une architecture orientée événements.</a:t>
            </a:r>
          </a:p>
          <a:p>
            <a:pPr>
              <a:buFont typeface="Arial" panose="020B0604020202020204" pitchFamily="34" charset="0"/>
              <a:buChar char="•"/>
            </a:pPr>
            <a:r>
              <a:rPr lang="fr-FR" b="1"/>
              <a:t>Exemples</a:t>
            </a:r>
            <a:r>
              <a:rPr lang="fr-FR"/>
              <a:t> : Message Queue (MQ), </a:t>
            </a:r>
            <a:r>
              <a:rPr lang="fr-FR" err="1"/>
              <a:t>Publish-Subscribe</a:t>
            </a:r>
            <a:r>
              <a:rPr lang="fr-FR"/>
              <a:t>.</a:t>
            </a:r>
          </a:p>
          <a:p>
            <a:pPr>
              <a:buFont typeface="Arial" panose="020B0604020202020204" pitchFamily="34" charset="0"/>
              <a:buChar char="•"/>
            </a:pPr>
            <a:r>
              <a:rPr lang="fr-FR" b="1"/>
              <a:t>Avantages</a:t>
            </a:r>
            <a:r>
              <a:rPr lang="fr-FR"/>
              <a:t> : Découplage fort entre les systèmes, adaptabilité.</a:t>
            </a:r>
          </a:p>
          <a:p>
            <a:pPr>
              <a:buFont typeface="Arial" panose="020B0604020202020204" pitchFamily="34" charset="0"/>
              <a:buChar char="•"/>
            </a:pPr>
            <a:r>
              <a:rPr lang="fr-FR" b="1"/>
              <a:t>Limites</a:t>
            </a:r>
            <a:r>
              <a:rPr lang="fr-FR"/>
              <a:t> : Peut être complexe à mettre en place et à monitorer.</a:t>
            </a:r>
          </a:p>
          <a:p>
            <a:r>
              <a:rPr lang="fr-FR" b="1"/>
              <a:t>2. Pattern de service (SOA - Service-</a:t>
            </a:r>
            <a:r>
              <a:rPr lang="fr-FR" b="1" err="1"/>
              <a:t>Oriented</a:t>
            </a:r>
            <a:r>
              <a:rPr lang="fr-FR" b="1"/>
              <a:t> Architecture)</a:t>
            </a:r>
          </a:p>
          <a:p>
            <a:pPr>
              <a:buFont typeface="Arial" panose="020B0604020202020204" pitchFamily="34" charset="0"/>
              <a:buChar char="•"/>
            </a:pPr>
            <a:r>
              <a:rPr lang="fr-FR" b="1"/>
              <a:t>Description</a:t>
            </a:r>
            <a:r>
              <a:rPr lang="fr-FR"/>
              <a:t> : Les applications exposent des services bien définis qui peuvent être consommés par d'autres applications, souvent via des API REST ou SOAP. Les services sont généralement autonomes et peuvent être combinés pour former des processus plus complexes.</a:t>
            </a:r>
          </a:p>
          <a:p>
            <a:pPr>
              <a:buFont typeface="Arial" panose="020B0604020202020204" pitchFamily="34" charset="0"/>
              <a:buChar char="•"/>
            </a:pPr>
            <a:r>
              <a:rPr lang="fr-FR" b="1"/>
              <a:t>Exemples</a:t>
            </a:r>
            <a:r>
              <a:rPr lang="fr-FR"/>
              <a:t> : API RESTful, Web Services.</a:t>
            </a:r>
          </a:p>
          <a:p>
            <a:pPr>
              <a:buFont typeface="Arial" panose="020B0604020202020204" pitchFamily="34" charset="0"/>
              <a:buChar char="•"/>
            </a:pPr>
            <a:r>
              <a:rPr lang="fr-FR" b="1"/>
              <a:t>Avantages</a:t>
            </a:r>
            <a:r>
              <a:rPr lang="fr-FR"/>
              <a:t> : Réutilisation de services, flexibilité.</a:t>
            </a:r>
          </a:p>
          <a:p>
            <a:pPr>
              <a:buFont typeface="Arial" panose="020B0604020202020204" pitchFamily="34" charset="0"/>
              <a:buChar char="•"/>
            </a:pPr>
            <a:r>
              <a:rPr lang="fr-FR" b="1"/>
              <a:t>Limites</a:t>
            </a:r>
            <a:r>
              <a:rPr lang="fr-FR"/>
              <a:t> : Complexité de gestion des services, gouvernance.</a:t>
            </a:r>
          </a:p>
          <a:p>
            <a:r>
              <a:rPr lang="fr-FR" b="1"/>
              <a:t>3. Pattern d'intégration par partage de données (Data Sharing)</a:t>
            </a:r>
          </a:p>
          <a:p>
            <a:pPr>
              <a:buFont typeface="Arial" panose="020B0604020202020204" pitchFamily="34" charset="0"/>
              <a:buChar char="•"/>
            </a:pPr>
            <a:r>
              <a:rPr lang="fr-FR" b="1"/>
              <a:t>Description</a:t>
            </a:r>
            <a:r>
              <a:rPr lang="fr-FR"/>
              <a:t> : Les applications partagent directement des données au niveau de la base de données, ou via un entrepôt de données (Data Warehouse) ou un lac de données (Data Lake).</a:t>
            </a:r>
          </a:p>
          <a:p>
            <a:pPr>
              <a:buFont typeface="Arial" panose="020B0604020202020204" pitchFamily="34" charset="0"/>
              <a:buChar char="•"/>
            </a:pPr>
            <a:r>
              <a:rPr lang="fr-FR" b="1"/>
              <a:t>Exemples</a:t>
            </a:r>
            <a:r>
              <a:rPr lang="fr-FR"/>
              <a:t> : Entrepôt de données, réplication de bases de données.</a:t>
            </a:r>
          </a:p>
          <a:p>
            <a:pPr>
              <a:buFont typeface="Arial" panose="020B0604020202020204" pitchFamily="34" charset="0"/>
              <a:buChar char="•"/>
            </a:pPr>
            <a:r>
              <a:rPr lang="fr-FR" b="1"/>
              <a:t>Avantages</a:t>
            </a:r>
            <a:r>
              <a:rPr lang="fr-FR"/>
              <a:t> : Accès direct aux données, centralisation des informations.</a:t>
            </a:r>
          </a:p>
          <a:p>
            <a:pPr>
              <a:buFont typeface="Arial" panose="020B0604020202020204" pitchFamily="34" charset="0"/>
              <a:buChar char="•"/>
            </a:pPr>
            <a:r>
              <a:rPr lang="fr-FR" b="1"/>
              <a:t>Limites</a:t>
            </a:r>
            <a:r>
              <a:rPr lang="fr-FR"/>
              <a:t> : Risque de sécurité et de performance, dépendance étroite.</a:t>
            </a:r>
          </a:p>
          <a:p>
            <a:r>
              <a:rPr lang="fr-FR" b="1"/>
              <a:t>4. Pattern d'intégration via un ESB (Enterprise Service Bus)</a:t>
            </a:r>
          </a:p>
          <a:p>
            <a:pPr>
              <a:buFont typeface="Arial" panose="020B0604020202020204" pitchFamily="34" charset="0"/>
              <a:buChar char="•"/>
            </a:pPr>
            <a:r>
              <a:rPr lang="fr-FR" b="1"/>
              <a:t>Description</a:t>
            </a:r>
            <a:r>
              <a:rPr lang="fr-FR"/>
              <a:t> : L'ESB agit comme un bus central où transitent tous les messages, ce qui facilite la communication entre les applications sans connexion point-à-point.</a:t>
            </a:r>
          </a:p>
          <a:p>
            <a:pPr>
              <a:buFont typeface="Arial" panose="020B0604020202020204" pitchFamily="34" charset="0"/>
              <a:buChar char="•"/>
            </a:pPr>
            <a:r>
              <a:rPr lang="fr-FR" b="1"/>
              <a:t>Exemples</a:t>
            </a:r>
            <a:r>
              <a:rPr lang="fr-FR"/>
              <a:t> : ESB </a:t>
            </a:r>
            <a:r>
              <a:rPr lang="fr-FR" err="1"/>
              <a:t>MuleSoft</a:t>
            </a:r>
            <a:r>
              <a:rPr lang="fr-FR"/>
              <a:t>, Apache Camel.</a:t>
            </a:r>
          </a:p>
          <a:p>
            <a:pPr>
              <a:buFont typeface="Arial" panose="020B0604020202020204" pitchFamily="34" charset="0"/>
              <a:buChar char="•"/>
            </a:pPr>
            <a:r>
              <a:rPr lang="fr-FR" b="1"/>
              <a:t>Avantages</a:t>
            </a:r>
            <a:r>
              <a:rPr lang="fr-FR"/>
              <a:t> : Facilite la scalabilité, réduit les intégrations point-à-point.</a:t>
            </a:r>
          </a:p>
          <a:p>
            <a:pPr>
              <a:buFont typeface="Arial" panose="020B0604020202020204" pitchFamily="34" charset="0"/>
              <a:buChar char="•"/>
            </a:pPr>
            <a:r>
              <a:rPr lang="fr-FR" b="1"/>
              <a:t>Limites</a:t>
            </a:r>
            <a:r>
              <a:rPr lang="fr-FR"/>
              <a:t> : Peut être un point de défaillance unique, maintenance complexe.</a:t>
            </a:r>
          </a:p>
          <a:p>
            <a:r>
              <a:rPr lang="fr-FR" b="1"/>
              <a:t>5. Pattern de gestion d'événements (Event-Driven </a:t>
            </a:r>
            <a:r>
              <a:rPr lang="fr-FR" b="1" err="1"/>
              <a:t>Integration</a:t>
            </a:r>
            <a:r>
              <a:rPr lang="fr-FR" b="1"/>
              <a:t>)</a:t>
            </a:r>
          </a:p>
          <a:p>
            <a:pPr>
              <a:buFont typeface="Arial" panose="020B0604020202020204" pitchFamily="34" charset="0"/>
              <a:buChar char="•"/>
            </a:pPr>
            <a:r>
              <a:rPr lang="fr-FR" b="1"/>
              <a:t>Description</a:t>
            </a:r>
            <a:r>
              <a:rPr lang="fr-FR"/>
              <a:t> : Les applications réagissent aux événements produits par d'autres applications, ce qui permet de déclencher des actions en temps réel.</a:t>
            </a:r>
          </a:p>
          <a:p>
            <a:pPr>
              <a:buFont typeface="Arial" panose="020B0604020202020204" pitchFamily="34" charset="0"/>
              <a:buChar char="•"/>
            </a:pPr>
            <a:r>
              <a:rPr lang="fr-FR" b="1"/>
              <a:t>Exemples</a:t>
            </a:r>
            <a:r>
              <a:rPr lang="fr-FR"/>
              <a:t> : Architecture événementielle avec Kafka, </a:t>
            </a:r>
            <a:r>
              <a:rPr lang="fr-FR" err="1"/>
              <a:t>RabbitMQ</a:t>
            </a:r>
            <a:r>
              <a:rPr lang="fr-FR"/>
              <a:t>.</a:t>
            </a:r>
          </a:p>
          <a:p>
            <a:pPr>
              <a:buFont typeface="Arial" panose="020B0604020202020204" pitchFamily="34" charset="0"/>
              <a:buChar char="•"/>
            </a:pPr>
            <a:r>
              <a:rPr lang="fr-FR" b="1"/>
              <a:t>Avantages</a:t>
            </a:r>
            <a:r>
              <a:rPr lang="fr-FR"/>
              <a:t> : Réactivité en temps réel, faible couplage.</a:t>
            </a:r>
          </a:p>
          <a:p>
            <a:pPr>
              <a:buFont typeface="Arial" panose="020B0604020202020204" pitchFamily="34" charset="0"/>
              <a:buChar char="•"/>
            </a:pPr>
            <a:r>
              <a:rPr lang="fr-FR" b="1"/>
              <a:t>Limites</a:t>
            </a:r>
            <a:r>
              <a:rPr lang="fr-FR"/>
              <a:t> : Nécessite une gestion complexe des événements.</a:t>
            </a:r>
          </a:p>
          <a:p>
            <a:r>
              <a:rPr lang="fr-FR" b="1"/>
              <a:t>6. Pattern d'intégration par ETL (</a:t>
            </a:r>
            <a:r>
              <a:rPr lang="fr-FR" b="1" err="1"/>
              <a:t>Extract</a:t>
            </a:r>
            <a:r>
              <a:rPr lang="fr-FR" b="1"/>
              <a:t>, </a:t>
            </a:r>
            <a:r>
              <a:rPr lang="fr-FR" b="1" err="1"/>
              <a:t>Transform</a:t>
            </a:r>
            <a:r>
              <a:rPr lang="fr-FR" b="1"/>
              <a:t>, </a:t>
            </a:r>
            <a:r>
              <a:rPr lang="fr-FR" b="1" err="1"/>
              <a:t>Load</a:t>
            </a:r>
            <a:r>
              <a:rPr lang="fr-FR" b="1"/>
              <a:t>)</a:t>
            </a:r>
          </a:p>
          <a:p>
            <a:pPr>
              <a:buFont typeface="Arial" panose="020B0604020202020204" pitchFamily="34" charset="0"/>
              <a:buChar char="•"/>
            </a:pPr>
            <a:r>
              <a:rPr lang="fr-FR" b="1"/>
              <a:t>Description</a:t>
            </a:r>
            <a:r>
              <a:rPr lang="fr-FR"/>
              <a:t> : Ce pattern est couramment utilisé pour intégrer des données de différentes sources vers un entrepôt de données, avec un processus d'extraction, de transformation et de chargement.</a:t>
            </a:r>
          </a:p>
          <a:p>
            <a:pPr>
              <a:buFont typeface="Arial" panose="020B0604020202020204" pitchFamily="34" charset="0"/>
              <a:buChar char="•"/>
            </a:pPr>
            <a:r>
              <a:rPr lang="fr-FR" b="1"/>
              <a:t>Exemples</a:t>
            </a:r>
            <a:r>
              <a:rPr lang="fr-FR"/>
              <a:t> : Talend, Informatica.</a:t>
            </a:r>
          </a:p>
          <a:p>
            <a:pPr>
              <a:buFont typeface="Arial" panose="020B0604020202020204" pitchFamily="34" charset="0"/>
              <a:buChar char="•"/>
            </a:pPr>
            <a:r>
              <a:rPr lang="fr-FR" b="1"/>
              <a:t>Avantages</a:t>
            </a:r>
            <a:r>
              <a:rPr lang="fr-FR"/>
              <a:t> : Adapté pour le reporting et les analyses, assure la cohérence des données.</a:t>
            </a:r>
          </a:p>
          <a:p>
            <a:pPr>
              <a:buFont typeface="Arial" panose="020B0604020202020204" pitchFamily="34" charset="0"/>
              <a:buChar char="•"/>
            </a:pPr>
            <a:r>
              <a:rPr lang="fr-FR" b="1"/>
              <a:t>Limites</a:t>
            </a:r>
            <a:r>
              <a:rPr lang="fr-FR"/>
              <a:t> : Processus parfois long, pas idéal pour les intégrations en temps réel.</a:t>
            </a:r>
          </a:p>
          <a:p>
            <a:r>
              <a:rPr lang="fr-FR" b="1"/>
              <a:t>7. Pattern d'intégration par </a:t>
            </a:r>
            <a:r>
              <a:rPr lang="fr-FR" b="1" err="1"/>
              <a:t>iPaaS</a:t>
            </a:r>
            <a:r>
              <a:rPr lang="fr-FR" b="1"/>
              <a:t> (</a:t>
            </a:r>
            <a:r>
              <a:rPr lang="fr-FR" b="1" err="1"/>
              <a:t>Integration</a:t>
            </a:r>
            <a:r>
              <a:rPr lang="fr-FR" b="1"/>
              <a:t> Platform as a Service)</a:t>
            </a:r>
          </a:p>
          <a:p>
            <a:pPr>
              <a:buFont typeface="Arial" panose="020B0604020202020204" pitchFamily="34" charset="0"/>
              <a:buChar char="•"/>
            </a:pPr>
            <a:r>
              <a:rPr lang="fr-FR" b="1"/>
              <a:t>Description</a:t>
            </a:r>
            <a:r>
              <a:rPr lang="fr-FR"/>
              <a:t> : Une plateforme d'intégration en tant que service simplifie les intégrations entre applications SaaS et sur site, avec des connecteurs prêts à l'emploi et des fonctionnalités d'automatisation des flux.</a:t>
            </a:r>
          </a:p>
          <a:p>
            <a:pPr>
              <a:buFont typeface="Arial" panose="020B0604020202020204" pitchFamily="34" charset="0"/>
              <a:buChar char="•"/>
            </a:pPr>
            <a:r>
              <a:rPr lang="fr-FR" b="1"/>
              <a:t>Exemples</a:t>
            </a:r>
            <a:r>
              <a:rPr lang="fr-FR"/>
              <a:t> : Dell </a:t>
            </a:r>
            <a:r>
              <a:rPr lang="fr-FR" err="1"/>
              <a:t>Boomi</a:t>
            </a:r>
            <a:r>
              <a:rPr lang="fr-FR"/>
              <a:t>, </a:t>
            </a:r>
            <a:r>
              <a:rPr lang="fr-FR" err="1"/>
              <a:t>Zapier</a:t>
            </a:r>
            <a:r>
              <a:rPr lang="fr-FR"/>
              <a:t>, </a:t>
            </a:r>
            <a:r>
              <a:rPr lang="fr-FR" err="1"/>
              <a:t>MuleSoft</a:t>
            </a:r>
            <a:r>
              <a:rPr lang="fr-FR"/>
              <a:t> </a:t>
            </a:r>
            <a:r>
              <a:rPr lang="fr-FR" err="1"/>
              <a:t>Anypoint</a:t>
            </a:r>
            <a:r>
              <a:rPr lang="fr-FR"/>
              <a:t>.</a:t>
            </a:r>
          </a:p>
          <a:p>
            <a:pPr>
              <a:buFont typeface="Arial" panose="020B0604020202020204" pitchFamily="34" charset="0"/>
              <a:buChar char="•"/>
            </a:pPr>
            <a:r>
              <a:rPr lang="fr-FR" b="1"/>
              <a:t>Avantages</a:t>
            </a:r>
            <a:r>
              <a:rPr lang="fr-FR"/>
              <a:t> : Rapidité d'intégration, flexibilité.</a:t>
            </a:r>
          </a:p>
          <a:p>
            <a:pPr>
              <a:buFont typeface="Arial" panose="020B0604020202020204" pitchFamily="34" charset="0"/>
              <a:buChar char="•"/>
            </a:pPr>
            <a:r>
              <a:rPr lang="fr-FR" b="1"/>
              <a:t>Limites</a:t>
            </a:r>
            <a:r>
              <a:rPr lang="fr-FR"/>
              <a:t> : Dépendance au fournisseur, coût potentiel.</a:t>
            </a:r>
          </a:p>
          <a:p>
            <a:r>
              <a:rPr lang="fr-FR" b="1"/>
              <a:t>8. Pattern d'intégration hybride</a:t>
            </a:r>
          </a:p>
          <a:p>
            <a:pPr>
              <a:buFont typeface="Arial" panose="020B0604020202020204" pitchFamily="34" charset="0"/>
              <a:buChar char="•"/>
            </a:pPr>
            <a:r>
              <a:rPr lang="fr-FR" b="1"/>
              <a:t>Description</a:t>
            </a:r>
            <a:r>
              <a:rPr lang="fr-FR"/>
              <a:t> : Combine plusieurs patterns pour s’adapter à des environnements complexes et répondre aux besoins variés des entreprises.</a:t>
            </a:r>
          </a:p>
          <a:p>
            <a:pPr>
              <a:buFont typeface="Arial" panose="020B0604020202020204" pitchFamily="34" charset="0"/>
              <a:buChar char="•"/>
            </a:pPr>
            <a:r>
              <a:rPr lang="fr-FR" b="1"/>
              <a:t>Exemples</a:t>
            </a:r>
            <a:r>
              <a:rPr lang="fr-FR"/>
              <a:t> : ESB + </a:t>
            </a:r>
            <a:r>
              <a:rPr lang="fr-FR" err="1"/>
              <a:t>iPaaS</a:t>
            </a:r>
            <a:r>
              <a:rPr lang="fr-FR"/>
              <a:t> pour une flexibilité maximale entre les applications sur site et dans le cloud.</a:t>
            </a:r>
          </a:p>
          <a:p>
            <a:pPr>
              <a:buFont typeface="Arial" panose="020B0604020202020204" pitchFamily="34" charset="0"/>
              <a:buChar char="•"/>
            </a:pPr>
            <a:r>
              <a:rPr lang="fr-FR" b="1"/>
              <a:t>Avantages</a:t>
            </a:r>
            <a:r>
              <a:rPr lang="fr-FR"/>
              <a:t> : Optimisation de chaque système en fonction de ses besoins spécifiques.</a:t>
            </a:r>
          </a:p>
          <a:p>
            <a:pPr>
              <a:buFont typeface="Arial" panose="020B0604020202020204" pitchFamily="34" charset="0"/>
              <a:buChar char="•"/>
            </a:pPr>
            <a:r>
              <a:rPr lang="fr-FR" b="1"/>
              <a:t>Limites</a:t>
            </a:r>
            <a:r>
              <a:rPr lang="fr-FR"/>
              <a:t> : Peut être complexe à implémenter et à maintenir.</a:t>
            </a:r>
          </a:p>
          <a:p>
            <a:r>
              <a:rPr lang="fr-FR"/>
              <a:t>Ces patterns peuvent être combinés selon les besoins pour répondre aux exigences spécifiques de l’entreprise en termes de volume de données, de sécurité, de temps réel et de maintenance.</a:t>
            </a:r>
          </a:p>
          <a:p>
            <a:endParaRPr lang="fr-FR"/>
          </a:p>
        </p:txBody>
      </p:sp>
      <p:sp>
        <p:nvSpPr>
          <p:cNvPr id="4" name="Espace réservé du numéro de diapositive 3">
            <a:extLst>
              <a:ext uri="{FF2B5EF4-FFF2-40B4-BE49-F238E27FC236}">
                <a16:creationId xmlns:a16="http://schemas.microsoft.com/office/drawing/2014/main" id="{F7D33EA2-B002-3103-5535-8DBCFB4CE8FD}"/>
              </a:ext>
            </a:extLst>
          </p:cNvPr>
          <p:cNvSpPr>
            <a:spLocks noGrp="1"/>
          </p:cNvSpPr>
          <p:nvPr>
            <p:ph type="sldNum" sz="quarter" idx="5"/>
          </p:nvPr>
        </p:nvSpPr>
        <p:spPr/>
        <p:txBody>
          <a:bodyPr/>
          <a:lstStyle/>
          <a:p>
            <a:fld id="{C9924BDF-58BE-4F0A-81E7-1ED057B91AE9}" type="slidenum">
              <a:rPr lang="fr-FR" smtClean="0"/>
              <a:t>13</a:t>
            </a:fld>
            <a:endParaRPr lang="fr-FR"/>
          </a:p>
        </p:txBody>
      </p:sp>
    </p:spTree>
    <p:extLst>
      <p:ext uri="{BB962C8B-B14F-4D97-AF65-F5344CB8AC3E}">
        <p14:creationId xmlns:p14="http://schemas.microsoft.com/office/powerpoint/2010/main" val="1256632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D65F7-ECDF-C06E-908A-0C7FDBAB18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4E037C0-29BC-A606-300F-FD0D392D4C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570B636-E1E3-D69A-B981-BA4C997FDE6D}"/>
              </a:ext>
            </a:extLst>
          </p:cNvPr>
          <p:cNvSpPr>
            <a:spLocks noGrp="1"/>
          </p:cNvSpPr>
          <p:nvPr>
            <p:ph type="body" idx="1"/>
          </p:nvPr>
        </p:nvSpPr>
        <p:spPr/>
        <p:txBody>
          <a:bodyPr/>
          <a:lstStyle/>
          <a:p>
            <a:r>
              <a:rPr lang="fr-FR" b="1"/>
              <a:t>1. Intégration par échange de messages</a:t>
            </a:r>
          </a:p>
          <a:p>
            <a:pPr>
              <a:buFont typeface="Arial" panose="020B0604020202020204" pitchFamily="34" charset="0"/>
              <a:buChar char="•"/>
            </a:pPr>
            <a:r>
              <a:rPr lang="fr-FR" b="1"/>
              <a:t>Description</a:t>
            </a:r>
            <a:r>
              <a:rPr lang="fr-FR"/>
              <a:t> : Les applications communiquent en échangeant des messages au sein d'une architecture basée sur les messages. Ce pattern est souvent utilisé dans une architecture orientée événements.</a:t>
            </a:r>
          </a:p>
          <a:p>
            <a:pPr>
              <a:buFont typeface="Arial" panose="020B0604020202020204" pitchFamily="34" charset="0"/>
              <a:buChar char="•"/>
            </a:pPr>
            <a:r>
              <a:rPr lang="fr-FR" b="1"/>
              <a:t>Exemples</a:t>
            </a:r>
            <a:r>
              <a:rPr lang="fr-FR"/>
              <a:t> : Message Queue (MQ), </a:t>
            </a:r>
            <a:r>
              <a:rPr lang="fr-FR" err="1"/>
              <a:t>Publish-Subscribe</a:t>
            </a:r>
            <a:r>
              <a:rPr lang="fr-FR"/>
              <a:t>.</a:t>
            </a:r>
          </a:p>
          <a:p>
            <a:pPr>
              <a:buFont typeface="Arial" panose="020B0604020202020204" pitchFamily="34" charset="0"/>
              <a:buChar char="•"/>
            </a:pPr>
            <a:r>
              <a:rPr lang="fr-FR" b="1"/>
              <a:t>Avantages</a:t>
            </a:r>
            <a:r>
              <a:rPr lang="fr-FR"/>
              <a:t> : Découplage fort entre les systèmes, adaptabilité.</a:t>
            </a:r>
          </a:p>
          <a:p>
            <a:pPr>
              <a:buFont typeface="Arial" panose="020B0604020202020204" pitchFamily="34" charset="0"/>
              <a:buChar char="•"/>
            </a:pPr>
            <a:r>
              <a:rPr lang="fr-FR" b="1"/>
              <a:t>Limites</a:t>
            </a:r>
            <a:r>
              <a:rPr lang="fr-FR"/>
              <a:t> : Peut être complexe à mettre en place et à monitorer.</a:t>
            </a:r>
          </a:p>
          <a:p>
            <a:r>
              <a:rPr lang="fr-FR" b="1"/>
              <a:t>2. Pattern de service (SOA - Service-</a:t>
            </a:r>
            <a:r>
              <a:rPr lang="fr-FR" b="1" err="1"/>
              <a:t>Oriented</a:t>
            </a:r>
            <a:r>
              <a:rPr lang="fr-FR" b="1"/>
              <a:t> Architecture)</a:t>
            </a:r>
          </a:p>
          <a:p>
            <a:pPr>
              <a:buFont typeface="Arial" panose="020B0604020202020204" pitchFamily="34" charset="0"/>
              <a:buChar char="•"/>
            </a:pPr>
            <a:r>
              <a:rPr lang="fr-FR" b="1"/>
              <a:t>Description</a:t>
            </a:r>
            <a:r>
              <a:rPr lang="fr-FR"/>
              <a:t> : Les applications exposent des services bien définis qui peuvent être consommés par d'autres applications, souvent via des API REST ou SOAP. Les services sont généralement autonomes et peuvent être combinés pour former des processus plus complexes.</a:t>
            </a:r>
          </a:p>
          <a:p>
            <a:pPr>
              <a:buFont typeface="Arial" panose="020B0604020202020204" pitchFamily="34" charset="0"/>
              <a:buChar char="•"/>
            </a:pPr>
            <a:r>
              <a:rPr lang="fr-FR" b="1"/>
              <a:t>Exemples</a:t>
            </a:r>
            <a:r>
              <a:rPr lang="fr-FR"/>
              <a:t> : API RESTful, Web Services.</a:t>
            </a:r>
          </a:p>
          <a:p>
            <a:pPr>
              <a:buFont typeface="Arial" panose="020B0604020202020204" pitchFamily="34" charset="0"/>
              <a:buChar char="•"/>
            </a:pPr>
            <a:r>
              <a:rPr lang="fr-FR" b="1"/>
              <a:t>Avantages</a:t>
            </a:r>
            <a:r>
              <a:rPr lang="fr-FR"/>
              <a:t> : Réutilisation de services, flexibilité.</a:t>
            </a:r>
          </a:p>
          <a:p>
            <a:pPr>
              <a:buFont typeface="Arial" panose="020B0604020202020204" pitchFamily="34" charset="0"/>
              <a:buChar char="•"/>
            </a:pPr>
            <a:r>
              <a:rPr lang="fr-FR" b="1"/>
              <a:t>Limites</a:t>
            </a:r>
            <a:r>
              <a:rPr lang="fr-FR"/>
              <a:t> : Complexité de gestion des services, gouvernance.</a:t>
            </a:r>
          </a:p>
          <a:p>
            <a:r>
              <a:rPr lang="fr-FR" b="1"/>
              <a:t>3. Pattern d'intégration par partage de données (Data Sharing)</a:t>
            </a:r>
          </a:p>
          <a:p>
            <a:pPr>
              <a:buFont typeface="Arial" panose="020B0604020202020204" pitchFamily="34" charset="0"/>
              <a:buChar char="•"/>
            </a:pPr>
            <a:r>
              <a:rPr lang="fr-FR" b="1"/>
              <a:t>Description</a:t>
            </a:r>
            <a:r>
              <a:rPr lang="fr-FR"/>
              <a:t> : Les applications partagent directement des données au niveau de la base de données, ou via un entrepôt de données (Data Warehouse) ou un lac de données (Data Lake).</a:t>
            </a:r>
          </a:p>
          <a:p>
            <a:pPr>
              <a:buFont typeface="Arial" panose="020B0604020202020204" pitchFamily="34" charset="0"/>
              <a:buChar char="•"/>
            </a:pPr>
            <a:r>
              <a:rPr lang="fr-FR" b="1"/>
              <a:t>Exemples</a:t>
            </a:r>
            <a:r>
              <a:rPr lang="fr-FR"/>
              <a:t> : Entrepôt de données, réplication de bases de données.</a:t>
            </a:r>
          </a:p>
          <a:p>
            <a:pPr>
              <a:buFont typeface="Arial" panose="020B0604020202020204" pitchFamily="34" charset="0"/>
              <a:buChar char="•"/>
            </a:pPr>
            <a:r>
              <a:rPr lang="fr-FR" b="1"/>
              <a:t>Avantages</a:t>
            </a:r>
            <a:r>
              <a:rPr lang="fr-FR"/>
              <a:t> : Accès direct aux données, centralisation des informations.</a:t>
            </a:r>
          </a:p>
          <a:p>
            <a:pPr>
              <a:buFont typeface="Arial" panose="020B0604020202020204" pitchFamily="34" charset="0"/>
              <a:buChar char="•"/>
            </a:pPr>
            <a:r>
              <a:rPr lang="fr-FR" b="1"/>
              <a:t>Limites</a:t>
            </a:r>
            <a:r>
              <a:rPr lang="fr-FR"/>
              <a:t> : Risque de sécurité et de performance, dépendance étroite.</a:t>
            </a:r>
          </a:p>
          <a:p>
            <a:r>
              <a:rPr lang="fr-FR" b="1"/>
              <a:t>4. Pattern d'intégration via un ESB (Enterprise Service Bus)</a:t>
            </a:r>
          </a:p>
          <a:p>
            <a:pPr>
              <a:buFont typeface="Arial" panose="020B0604020202020204" pitchFamily="34" charset="0"/>
              <a:buChar char="•"/>
            </a:pPr>
            <a:r>
              <a:rPr lang="fr-FR" b="1"/>
              <a:t>Description</a:t>
            </a:r>
            <a:r>
              <a:rPr lang="fr-FR"/>
              <a:t> : L'ESB agit comme un bus central où transitent tous les messages, ce qui facilite la communication entre les applications sans connexion point-à-point.</a:t>
            </a:r>
          </a:p>
          <a:p>
            <a:pPr>
              <a:buFont typeface="Arial" panose="020B0604020202020204" pitchFamily="34" charset="0"/>
              <a:buChar char="•"/>
            </a:pPr>
            <a:r>
              <a:rPr lang="fr-FR" b="1"/>
              <a:t>Exemples</a:t>
            </a:r>
            <a:r>
              <a:rPr lang="fr-FR"/>
              <a:t> : ESB </a:t>
            </a:r>
            <a:r>
              <a:rPr lang="fr-FR" err="1"/>
              <a:t>MuleSoft</a:t>
            </a:r>
            <a:r>
              <a:rPr lang="fr-FR"/>
              <a:t>, Apache Camel.</a:t>
            </a:r>
          </a:p>
          <a:p>
            <a:pPr>
              <a:buFont typeface="Arial" panose="020B0604020202020204" pitchFamily="34" charset="0"/>
              <a:buChar char="•"/>
            </a:pPr>
            <a:r>
              <a:rPr lang="fr-FR" b="1"/>
              <a:t>Avantages</a:t>
            </a:r>
            <a:r>
              <a:rPr lang="fr-FR"/>
              <a:t> : Facilite la scalabilité, réduit les intégrations point-à-point.</a:t>
            </a:r>
          </a:p>
          <a:p>
            <a:pPr>
              <a:buFont typeface="Arial" panose="020B0604020202020204" pitchFamily="34" charset="0"/>
              <a:buChar char="•"/>
            </a:pPr>
            <a:r>
              <a:rPr lang="fr-FR" b="1"/>
              <a:t>Limites</a:t>
            </a:r>
            <a:r>
              <a:rPr lang="fr-FR"/>
              <a:t> : Peut être un point de défaillance unique, maintenance complexe.</a:t>
            </a:r>
          </a:p>
          <a:p>
            <a:r>
              <a:rPr lang="fr-FR" b="1"/>
              <a:t>5. Pattern de gestion d'événements (Event-Driven </a:t>
            </a:r>
            <a:r>
              <a:rPr lang="fr-FR" b="1" err="1"/>
              <a:t>Integration</a:t>
            </a:r>
            <a:r>
              <a:rPr lang="fr-FR" b="1"/>
              <a:t>)</a:t>
            </a:r>
          </a:p>
          <a:p>
            <a:pPr>
              <a:buFont typeface="Arial" panose="020B0604020202020204" pitchFamily="34" charset="0"/>
              <a:buChar char="•"/>
            </a:pPr>
            <a:r>
              <a:rPr lang="fr-FR" b="1"/>
              <a:t>Description</a:t>
            </a:r>
            <a:r>
              <a:rPr lang="fr-FR"/>
              <a:t> : Les applications réagissent aux événements produits par d'autres applications, ce qui permet de déclencher des actions en temps réel.</a:t>
            </a:r>
          </a:p>
          <a:p>
            <a:pPr>
              <a:buFont typeface="Arial" panose="020B0604020202020204" pitchFamily="34" charset="0"/>
              <a:buChar char="•"/>
            </a:pPr>
            <a:r>
              <a:rPr lang="fr-FR" b="1"/>
              <a:t>Exemples</a:t>
            </a:r>
            <a:r>
              <a:rPr lang="fr-FR"/>
              <a:t> : Architecture événementielle avec Kafka, </a:t>
            </a:r>
            <a:r>
              <a:rPr lang="fr-FR" err="1"/>
              <a:t>RabbitMQ</a:t>
            </a:r>
            <a:r>
              <a:rPr lang="fr-FR"/>
              <a:t>.</a:t>
            </a:r>
          </a:p>
          <a:p>
            <a:pPr>
              <a:buFont typeface="Arial" panose="020B0604020202020204" pitchFamily="34" charset="0"/>
              <a:buChar char="•"/>
            </a:pPr>
            <a:r>
              <a:rPr lang="fr-FR" b="1"/>
              <a:t>Avantages</a:t>
            </a:r>
            <a:r>
              <a:rPr lang="fr-FR"/>
              <a:t> : Réactivité en temps réel, faible couplage.</a:t>
            </a:r>
          </a:p>
          <a:p>
            <a:pPr>
              <a:buFont typeface="Arial" panose="020B0604020202020204" pitchFamily="34" charset="0"/>
              <a:buChar char="•"/>
            </a:pPr>
            <a:r>
              <a:rPr lang="fr-FR" b="1"/>
              <a:t>Limites</a:t>
            </a:r>
            <a:r>
              <a:rPr lang="fr-FR"/>
              <a:t> : Nécessite une gestion complexe des événements.</a:t>
            </a:r>
          </a:p>
          <a:p>
            <a:r>
              <a:rPr lang="fr-FR" b="1"/>
              <a:t>6. Pattern d'intégration par ETL (</a:t>
            </a:r>
            <a:r>
              <a:rPr lang="fr-FR" b="1" err="1"/>
              <a:t>Extract</a:t>
            </a:r>
            <a:r>
              <a:rPr lang="fr-FR" b="1"/>
              <a:t>, </a:t>
            </a:r>
            <a:r>
              <a:rPr lang="fr-FR" b="1" err="1"/>
              <a:t>Transform</a:t>
            </a:r>
            <a:r>
              <a:rPr lang="fr-FR" b="1"/>
              <a:t>, </a:t>
            </a:r>
            <a:r>
              <a:rPr lang="fr-FR" b="1" err="1"/>
              <a:t>Load</a:t>
            </a:r>
            <a:r>
              <a:rPr lang="fr-FR" b="1"/>
              <a:t>)</a:t>
            </a:r>
          </a:p>
          <a:p>
            <a:pPr>
              <a:buFont typeface="Arial" panose="020B0604020202020204" pitchFamily="34" charset="0"/>
              <a:buChar char="•"/>
            </a:pPr>
            <a:r>
              <a:rPr lang="fr-FR" b="1"/>
              <a:t>Description</a:t>
            </a:r>
            <a:r>
              <a:rPr lang="fr-FR"/>
              <a:t> : Ce pattern est couramment utilisé pour intégrer des données de différentes sources vers un entrepôt de données, avec un processus d'extraction, de transformation et de chargement.</a:t>
            </a:r>
          </a:p>
          <a:p>
            <a:pPr>
              <a:buFont typeface="Arial" panose="020B0604020202020204" pitchFamily="34" charset="0"/>
              <a:buChar char="•"/>
            </a:pPr>
            <a:r>
              <a:rPr lang="fr-FR" b="1"/>
              <a:t>Exemples</a:t>
            </a:r>
            <a:r>
              <a:rPr lang="fr-FR"/>
              <a:t> : Talend, Informatica.</a:t>
            </a:r>
          </a:p>
          <a:p>
            <a:pPr>
              <a:buFont typeface="Arial" panose="020B0604020202020204" pitchFamily="34" charset="0"/>
              <a:buChar char="•"/>
            </a:pPr>
            <a:r>
              <a:rPr lang="fr-FR" b="1"/>
              <a:t>Avantages</a:t>
            </a:r>
            <a:r>
              <a:rPr lang="fr-FR"/>
              <a:t> : Adapté pour le reporting et les analyses, assure la cohérence des données.</a:t>
            </a:r>
          </a:p>
          <a:p>
            <a:pPr>
              <a:buFont typeface="Arial" panose="020B0604020202020204" pitchFamily="34" charset="0"/>
              <a:buChar char="•"/>
            </a:pPr>
            <a:r>
              <a:rPr lang="fr-FR" b="1"/>
              <a:t>Limites</a:t>
            </a:r>
            <a:r>
              <a:rPr lang="fr-FR"/>
              <a:t> : Processus parfois long, pas idéal pour les intégrations en temps réel.</a:t>
            </a:r>
          </a:p>
          <a:p>
            <a:r>
              <a:rPr lang="fr-FR" b="1"/>
              <a:t>7. Pattern d'intégration par </a:t>
            </a:r>
            <a:r>
              <a:rPr lang="fr-FR" b="1" err="1"/>
              <a:t>iPaaS</a:t>
            </a:r>
            <a:r>
              <a:rPr lang="fr-FR" b="1"/>
              <a:t> (</a:t>
            </a:r>
            <a:r>
              <a:rPr lang="fr-FR" b="1" err="1"/>
              <a:t>Integration</a:t>
            </a:r>
            <a:r>
              <a:rPr lang="fr-FR" b="1"/>
              <a:t> Platform as a Service)</a:t>
            </a:r>
          </a:p>
          <a:p>
            <a:pPr>
              <a:buFont typeface="Arial" panose="020B0604020202020204" pitchFamily="34" charset="0"/>
              <a:buChar char="•"/>
            </a:pPr>
            <a:r>
              <a:rPr lang="fr-FR" b="1"/>
              <a:t>Description</a:t>
            </a:r>
            <a:r>
              <a:rPr lang="fr-FR"/>
              <a:t> : Une plateforme d'intégration en tant que service simplifie les intégrations entre applications SaaS et sur site, avec des connecteurs prêts à l'emploi et des fonctionnalités d'automatisation des flux.</a:t>
            </a:r>
          </a:p>
          <a:p>
            <a:pPr>
              <a:buFont typeface="Arial" panose="020B0604020202020204" pitchFamily="34" charset="0"/>
              <a:buChar char="•"/>
            </a:pPr>
            <a:r>
              <a:rPr lang="fr-FR" b="1"/>
              <a:t>Exemples</a:t>
            </a:r>
            <a:r>
              <a:rPr lang="fr-FR"/>
              <a:t> : Dell </a:t>
            </a:r>
            <a:r>
              <a:rPr lang="fr-FR" err="1"/>
              <a:t>Boomi</a:t>
            </a:r>
            <a:r>
              <a:rPr lang="fr-FR"/>
              <a:t>, </a:t>
            </a:r>
            <a:r>
              <a:rPr lang="fr-FR" err="1"/>
              <a:t>Zapier</a:t>
            </a:r>
            <a:r>
              <a:rPr lang="fr-FR"/>
              <a:t>, </a:t>
            </a:r>
            <a:r>
              <a:rPr lang="fr-FR" err="1"/>
              <a:t>MuleSoft</a:t>
            </a:r>
            <a:r>
              <a:rPr lang="fr-FR"/>
              <a:t> </a:t>
            </a:r>
            <a:r>
              <a:rPr lang="fr-FR" err="1"/>
              <a:t>Anypoint</a:t>
            </a:r>
            <a:r>
              <a:rPr lang="fr-FR"/>
              <a:t>.</a:t>
            </a:r>
          </a:p>
          <a:p>
            <a:pPr>
              <a:buFont typeface="Arial" panose="020B0604020202020204" pitchFamily="34" charset="0"/>
              <a:buChar char="•"/>
            </a:pPr>
            <a:r>
              <a:rPr lang="fr-FR" b="1"/>
              <a:t>Avantages</a:t>
            </a:r>
            <a:r>
              <a:rPr lang="fr-FR"/>
              <a:t> : Rapidité d'intégration, flexibilité.</a:t>
            </a:r>
          </a:p>
          <a:p>
            <a:pPr>
              <a:buFont typeface="Arial" panose="020B0604020202020204" pitchFamily="34" charset="0"/>
              <a:buChar char="•"/>
            </a:pPr>
            <a:r>
              <a:rPr lang="fr-FR" b="1"/>
              <a:t>Limites</a:t>
            </a:r>
            <a:r>
              <a:rPr lang="fr-FR"/>
              <a:t> : Dépendance au fournisseur, coût potentiel.</a:t>
            </a:r>
          </a:p>
          <a:p>
            <a:r>
              <a:rPr lang="fr-FR" b="1"/>
              <a:t>8. Pattern d'intégration hybride</a:t>
            </a:r>
          </a:p>
          <a:p>
            <a:pPr>
              <a:buFont typeface="Arial" panose="020B0604020202020204" pitchFamily="34" charset="0"/>
              <a:buChar char="•"/>
            </a:pPr>
            <a:r>
              <a:rPr lang="fr-FR" b="1"/>
              <a:t>Description</a:t>
            </a:r>
            <a:r>
              <a:rPr lang="fr-FR"/>
              <a:t> : Combine plusieurs patterns pour s’adapter à des environnements complexes et répondre aux besoins variés des entreprises.</a:t>
            </a:r>
          </a:p>
          <a:p>
            <a:pPr>
              <a:buFont typeface="Arial" panose="020B0604020202020204" pitchFamily="34" charset="0"/>
              <a:buChar char="•"/>
            </a:pPr>
            <a:r>
              <a:rPr lang="fr-FR" b="1"/>
              <a:t>Exemples</a:t>
            </a:r>
            <a:r>
              <a:rPr lang="fr-FR"/>
              <a:t> : ESB + </a:t>
            </a:r>
            <a:r>
              <a:rPr lang="fr-FR" err="1"/>
              <a:t>iPaaS</a:t>
            </a:r>
            <a:r>
              <a:rPr lang="fr-FR"/>
              <a:t> pour une flexibilité maximale entre les applications sur site et dans le cloud.</a:t>
            </a:r>
          </a:p>
          <a:p>
            <a:pPr>
              <a:buFont typeface="Arial" panose="020B0604020202020204" pitchFamily="34" charset="0"/>
              <a:buChar char="•"/>
            </a:pPr>
            <a:r>
              <a:rPr lang="fr-FR" b="1"/>
              <a:t>Avantages</a:t>
            </a:r>
            <a:r>
              <a:rPr lang="fr-FR"/>
              <a:t> : Optimisation de chaque système en fonction de ses besoins spécifiques.</a:t>
            </a:r>
          </a:p>
          <a:p>
            <a:pPr>
              <a:buFont typeface="Arial" panose="020B0604020202020204" pitchFamily="34" charset="0"/>
              <a:buChar char="•"/>
            </a:pPr>
            <a:r>
              <a:rPr lang="fr-FR" b="1"/>
              <a:t>Limites</a:t>
            </a:r>
            <a:r>
              <a:rPr lang="fr-FR"/>
              <a:t> : Peut être complexe à implémenter et à maintenir.</a:t>
            </a:r>
          </a:p>
          <a:p>
            <a:r>
              <a:rPr lang="fr-FR"/>
              <a:t>Ces patterns peuvent être combinés selon les besoins pour répondre aux exigences spécifiques de l’entreprise en termes de volume de données, de sécurité, de temps réel et de maintenance.</a:t>
            </a:r>
          </a:p>
          <a:p>
            <a:endParaRPr lang="fr-FR"/>
          </a:p>
        </p:txBody>
      </p:sp>
      <p:sp>
        <p:nvSpPr>
          <p:cNvPr id="4" name="Espace réservé du numéro de diapositive 3">
            <a:extLst>
              <a:ext uri="{FF2B5EF4-FFF2-40B4-BE49-F238E27FC236}">
                <a16:creationId xmlns:a16="http://schemas.microsoft.com/office/drawing/2014/main" id="{E281115B-C197-36B7-A88D-A725354E31F8}"/>
              </a:ext>
            </a:extLst>
          </p:cNvPr>
          <p:cNvSpPr>
            <a:spLocks noGrp="1"/>
          </p:cNvSpPr>
          <p:nvPr>
            <p:ph type="sldNum" sz="quarter" idx="5"/>
          </p:nvPr>
        </p:nvSpPr>
        <p:spPr/>
        <p:txBody>
          <a:bodyPr/>
          <a:lstStyle/>
          <a:p>
            <a:fld id="{C9924BDF-58BE-4F0A-81E7-1ED057B91AE9}" type="slidenum">
              <a:rPr lang="fr-FR" smtClean="0"/>
              <a:t>14</a:t>
            </a:fld>
            <a:endParaRPr lang="fr-FR"/>
          </a:p>
        </p:txBody>
      </p:sp>
    </p:spTree>
    <p:extLst>
      <p:ext uri="{BB962C8B-B14F-4D97-AF65-F5344CB8AC3E}">
        <p14:creationId xmlns:p14="http://schemas.microsoft.com/office/powerpoint/2010/main" val="1136866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3E83F-3550-95AD-75F1-E5620B468F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21C197-59A1-C2F0-288C-86305186DDA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0AE669-BBE3-D83C-48EA-8B244860C4F3}"/>
              </a:ext>
            </a:extLst>
          </p:cNvPr>
          <p:cNvSpPr>
            <a:spLocks noGrp="1"/>
          </p:cNvSpPr>
          <p:nvPr>
            <p:ph type="body" idx="1"/>
          </p:nvPr>
        </p:nvSpPr>
        <p:spPr/>
        <p:txBody>
          <a:bodyPr/>
          <a:lstStyle/>
          <a:p>
            <a:r>
              <a:rPr lang="fr-FR" b="1"/>
              <a:t>1. Intégration par échange de messages</a:t>
            </a:r>
          </a:p>
          <a:p>
            <a:pPr>
              <a:buFont typeface="Arial" panose="020B0604020202020204" pitchFamily="34" charset="0"/>
              <a:buChar char="•"/>
            </a:pPr>
            <a:r>
              <a:rPr lang="fr-FR" b="1"/>
              <a:t>Description</a:t>
            </a:r>
            <a:r>
              <a:rPr lang="fr-FR"/>
              <a:t> : Les applications communiquent en échangeant des messages au sein d'une architecture basée sur les messages. Ce pattern est souvent utilisé dans une architecture orientée événements.</a:t>
            </a:r>
          </a:p>
          <a:p>
            <a:pPr>
              <a:buFont typeface="Arial" panose="020B0604020202020204" pitchFamily="34" charset="0"/>
              <a:buChar char="•"/>
            </a:pPr>
            <a:r>
              <a:rPr lang="fr-FR" b="1"/>
              <a:t>Exemples</a:t>
            </a:r>
            <a:r>
              <a:rPr lang="fr-FR"/>
              <a:t> : Message Queue (MQ), </a:t>
            </a:r>
            <a:r>
              <a:rPr lang="fr-FR" err="1"/>
              <a:t>Publish-Subscribe</a:t>
            </a:r>
            <a:r>
              <a:rPr lang="fr-FR"/>
              <a:t>.</a:t>
            </a:r>
          </a:p>
          <a:p>
            <a:pPr>
              <a:buFont typeface="Arial" panose="020B0604020202020204" pitchFamily="34" charset="0"/>
              <a:buChar char="•"/>
            </a:pPr>
            <a:r>
              <a:rPr lang="fr-FR" b="1"/>
              <a:t>Avantages</a:t>
            </a:r>
            <a:r>
              <a:rPr lang="fr-FR"/>
              <a:t> : Découplage fort entre les systèmes, adaptabilité.</a:t>
            </a:r>
          </a:p>
          <a:p>
            <a:pPr>
              <a:buFont typeface="Arial" panose="020B0604020202020204" pitchFamily="34" charset="0"/>
              <a:buChar char="•"/>
            </a:pPr>
            <a:r>
              <a:rPr lang="fr-FR" b="1"/>
              <a:t>Limites</a:t>
            </a:r>
            <a:r>
              <a:rPr lang="fr-FR"/>
              <a:t> : Peut être complexe à mettre en place et à monitorer.</a:t>
            </a:r>
          </a:p>
          <a:p>
            <a:r>
              <a:rPr lang="fr-FR" b="1"/>
              <a:t>2. Pattern de service (SOA - Service-</a:t>
            </a:r>
            <a:r>
              <a:rPr lang="fr-FR" b="1" err="1"/>
              <a:t>Oriented</a:t>
            </a:r>
            <a:r>
              <a:rPr lang="fr-FR" b="1"/>
              <a:t> Architecture)</a:t>
            </a:r>
          </a:p>
          <a:p>
            <a:pPr>
              <a:buFont typeface="Arial" panose="020B0604020202020204" pitchFamily="34" charset="0"/>
              <a:buChar char="•"/>
            </a:pPr>
            <a:r>
              <a:rPr lang="fr-FR" b="1"/>
              <a:t>Description</a:t>
            </a:r>
            <a:r>
              <a:rPr lang="fr-FR"/>
              <a:t> : Les applications exposent des services bien définis qui peuvent être consommés par d'autres applications, souvent via des API REST ou SOAP. Les services sont généralement autonomes et peuvent être combinés pour former des processus plus complexes.</a:t>
            </a:r>
          </a:p>
          <a:p>
            <a:pPr>
              <a:buFont typeface="Arial" panose="020B0604020202020204" pitchFamily="34" charset="0"/>
              <a:buChar char="•"/>
            </a:pPr>
            <a:r>
              <a:rPr lang="fr-FR" b="1"/>
              <a:t>Exemples</a:t>
            </a:r>
            <a:r>
              <a:rPr lang="fr-FR"/>
              <a:t> : API RESTful, Web Services.</a:t>
            </a:r>
          </a:p>
          <a:p>
            <a:pPr>
              <a:buFont typeface="Arial" panose="020B0604020202020204" pitchFamily="34" charset="0"/>
              <a:buChar char="•"/>
            </a:pPr>
            <a:r>
              <a:rPr lang="fr-FR" b="1"/>
              <a:t>Avantages</a:t>
            </a:r>
            <a:r>
              <a:rPr lang="fr-FR"/>
              <a:t> : Réutilisation de services, flexibilité.</a:t>
            </a:r>
          </a:p>
          <a:p>
            <a:pPr>
              <a:buFont typeface="Arial" panose="020B0604020202020204" pitchFamily="34" charset="0"/>
              <a:buChar char="•"/>
            </a:pPr>
            <a:r>
              <a:rPr lang="fr-FR" b="1"/>
              <a:t>Limites</a:t>
            </a:r>
            <a:r>
              <a:rPr lang="fr-FR"/>
              <a:t> : Complexité de gestion des services, gouvernance.</a:t>
            </a:r>
          </a:p>
          <a:p>
            <a:r>
              <a:rPr lang="fr-FR" b="1"/>
              <a:t>3. Pattern d'intégration par partage de données (Data Sharing)</a:t>
            </a:r>
          </a:p>
          <a:p>
            <a:pPr>
              <a:buFont typeface="Arial" panose="020B0604020202020204" pitchFamily="34" charset="0"/>
              <a:buChar char="•"/>
            </a:pPr>
            <a:r>
              <a:rPr lang="fr-FR" b="1"/>
              <a:t>Description</a:t>
            </a:r>
            <a:r>
              <a:rPr lang="fr-FR"/>
              <a:t> : Les applications partagent directement des données au niveau de la base de données, ou via un entrepôt de données (Data Warehouse) ou un lac de données (Data Lake).</a:t>
            </a:r>
          </a:p>
          <a:p>
            <a:pPr>
              <a:buFont typeface="Arial" panose="020B0604020202020204" pitchFamily="34" charset="0"/>
              <a:buChar char="•"/>
            </a:pPr>
            <a:r>
              <a:rPr lang="fr-FR" b="1"/>
              <a:t>Exemples</a:t>
            </a:r>
            <a:r>
              <a:rPr lang="fr-FR"/>
              <a:t> : Entrepôt de données, réplication de bases de données.</a:t>
            </a:r>
          </a:p>
          <a:p>
            <a:pPr>
              <a:buFont typeface="Arial" panose="020B0604020202020204" pitchFamily="34" charset="0"/>
              <a:buChar char="•"/>
            </a:pPr>
            <a:r>
              <a:rPr lang="fr-FR" b="1"/>
              <a:t>Avantages</a:t>
            </a:r>
            <a:r>
              <a:rPr lang="fr-FR"/>
              <a:t> : Accès direct aux données, centralisation des informations.</a:t>
            </a:r>
          </a:p>
          <a:p>
            <a:pPr>
              <a:buFont typeface="Arial" panose="020B0604020202020204" pitchFamily="34" charset="0"/>
              <a:buChar char="•"/>
            </a:pPr>
            <a:r>
              <a:rPr lang="fr-FR" b="1"/>
              <a:t>Limites</a:t>
            </a:r>
            <a:r>
              <a:rPr lang="fr-FR"/>
              <a:t> : Risque de sécurité et de performance, dépendance étroite.</a:t>
            </a:r>
          </a:p>
          <a:p>
            <a:r>
              <a:rPr lang="fr-FR" b="1"/>
              <a:t>4. Pattern d'intégration via un ESB (Enterprise Service Bus)</a:t>
            </a:r>
          </a:p>
          <a:p>
            <a:pPr>
              <a:buFont typeface="Arial" panose="020B0604020202020204" pitchFamily="34" charset="0"/>
              <a:buChar char="•"/>
            </a:pPr>
            <a:r>
              <a:rPr lang="fr-FR" b="1"/>
              <a:t>Description</a:t>
            </a:r>
            <a:r>
              <a:rPr lang="fr-FR"/>
              <a:t> : L'ESB agit comme un bus central où transitent tous les messages, ce qui facilite la communication entre les applications sans connexion point-à-point.</a:t>
            </a:r>
          </a:p>
          <a:p>
            <a:pPr>
              <a:buFont typeface="Arial" panose="020B0604020202020204" pitchFamily="34" charset="0"/>
              <a:buChar char="•"/>
            </a:pPr>
            <a:r>
              <a:rPr lang="fr-FR" b="1"/>
              <a:t>Exemples</a:t>
            </a:r>
            <a:r>
              <a:rPr lang="fr-FR"/>
              <a:t> : ESB </a:t>
            </a:r>
            <a:r>
              <a:rPr lang="fr-FR" err="1"/>
              <a:t>MuleSoft</a:t>
            </a:r>
            <a:r>
              <a:rPr lang="fr-FR"/>
              <a:t>, Apache Camel.</a:t>
            </a:r>
          </a:p>
          <a:p>
            <a:pPr>
              <a:buFont typeface="Arial" panose="020B0604020202020204" pitchFamily="34" charset="0"/>
              <a:buChar char="•"/>
            </a:pPr>
            <a:r>
              <a:rPr lang="fr-FR" b="1"/>
              <a:t>Avantages</a:t>
            </a:r>
            <a:r>
              <a:rPr lang="fr-FR"/>
              <a:t> : Facilite la scalabilité, réduit les intégrations point-à-point.</a:t>
            </a:r>
          </a:p>
          <a:p>
            <a:pPr>
              <a:buFont typeface="Arial" panose="020B0604020202020204" pitchFamily="34" charset="0"/>
              <a:buChar char="•"/>
            </a:pPr>
            <a:r>
              <a:rPr lang="fr-FR" b="1"/>
              <a:t>Limites</a:t>
            </a:r>
            <a:r>
              <a:rPr lang="fr-FR"/>
              <a:t> : Peut être un point de défaillance unique, maintenance complexe.</a:t>
            </a:r>
          </a:p>
          <a:p>
            <a:r>
              <a:rPr lang="fr-FR" b="1"/>
              <a:t>5. Pattern de gestion d'événements (Event-Driven </a:t>
            </a:r>
            <a:r>
              <a:rPr lang="fr-FR" b="1" err="1"/>
              <a:t>Integration</a:t>
            </a:r>
            <a:r>
              <a:rPr lang="fr-FR" b="1"/>
              <a:t>)</a:t>
            </a:r>
          </a:p>
          <a:p>
            <a:pPr>
              <a:buFont typeface="Arial" panose="020B0604020202020204" pitchFamily="34" charset="0"/>
              <a:buChar char="•"/>
            </a:pPr>
            <a:r>
              <a:rPr lang="fr-FR" b="1"/>
              <a:t>Description</a:t>
            </a:r>
            <a:r>
              <a:rPr lang="fr-FR"/>
              <a:t> : Les applications réagissent aux événements produits par d'autres applications, ce qui permet de déclencher des actions en temps réel.</a:t>
            </a:r>
          </a:p>
          <a:p>
            <a:pPr>
              <a:buFont typeface="Arial" panose="020B0604020202020204" pitchFamily="34" charset="0"/>
              <a:buChar char="•"/>
            </a:pPr>
            <a:r>
              <a:rPr lang="fr-FR" b="1"/>
              <a:t>Exemples</a:t>
            </a:r>
            <a:r>
              <a:rPr lang="fr-FR"/>
              <a:t> : Architecture événementielle avec Kafka, </a:t>
            </a:r>
            <a:r>
              <a:rPr lang="fr-FR" err="1"/>
              <a:t>RabbitMQ</a:t>
            </a:r>
            <a:r>
              <a:rPr lang="fr-FR"/>
              <a:t>.</a:t>
            </a:r>
          </a:p>
          <a:p>
            <a:pPr>
              <a:buFont typeface="Arial" panose="020B0604020202020204" pitchFamily="34" charset="0"/>
              <a:buChar char="•"/>
            </a:pPr>
            <a:r>
              <a:rPr lang="fr-FR" b="1"/>
              <a:t>Avantages</a:t>
            </a:r>
            <a:r>
              <a:rPr lang="fr-FR"/>
              <a:t> : Réactivité en temps réel, faible couplage.</a:t>
            </a:r>
          </a:p>
          <a:p>
            <a:pPr>
              <a:buFont typeface="Arial" panose="020B0604020202020204" pitchFamily="34" charset="0"/>
              <a:buChar char="•"/>
            </a:pPr>
            <a:r>
              <a:rPr lang="fr-FR" b="1"/>
              <a:t>Limites</a:t>
            </a:r>
            <a:r>
              <a:rPr lang="fr-FR"/>
              <a:t> : Nécessite une gestion complexe des événements.</a:t>
            </a:r>
          </a:p>
          <a:p>
            <a:r>
              <a:rPr lang="fr-FR" b="1"/>
              <a:t>6. Pattern d'intégration par ETL (</a:t>
            </a:r>
            <a:r>
              <a:rPr lang="fr-FR" b="1" err="1"/>
              <a:t>Extract</a:t>
            </a:r>
            <a:r>
              <a:rPr lang="fr-FR" b="1"/>
              <a:t>, </a:t>
            </a:r>
            <a:r>
              <a:rPr lang="fr-FR" b="1" err="1"/>
              <a:t>Transform</a:t>
            </a:r>
            <a:r>
              <a:rPr lang="fr-FR" b="1"/>
              <a:t>, </a:t>
            </a:r>
            <a:r>
              <a:rPr lang="fr-FR" b="1" err="1"/>
              <a:t>Load</a:t>
            </a:r>
            <a:r>
              <a:rPr lang="fr-FR" b="1"/>
              <a:t>)</a:t>
            </a:r>
          </a:p>
          <a:p>
            <a:pPr>
              <a:buFont typeface="Arial" panose="020B0604020202020204" pitchFamily="34" charset="0"/>
              <a:buChar char="•"/>
            </a:pPr>
            <a:r>
              <a:rPr lang="fr-FR" b="1"/>
              <a:t>Description</a:t>
            </a:r>
            <a:r>
              <a:rPr lang="fr-FR"/>
              <a:t> : Ce pattern est couramment utilisé pour intégrer des données de différentes sources vers un entrepôt de données, avec un processus d'extraction, de transformation et de chargement.</a:t>
            </a:r>
          </a:p>
          <a:p>
            <a:pPr>
              <a:buFont typeface="Arial" panose="020B0604020202020204" pitchFamily="34" charset="0"/>
              <a:buChar char="•"/>
            </a:pPr>
            <a:r>
              <a:rPr lang="fr-FR" b="1"/>
              <a:t>Exemples</a:t>
            </a:r>
            <a:r>
              <a:rPr lang="fr-FR"/>
              <a:t> : Talend, Informatica.</a:t>
            </a:r>
          </a:p>
          <a:p>
            <a:pPr>
              <a:buFont typeface="Arial" panose="020B0604020202020204" pitchFamily="34" charset="0"/>
              <a:buChar char="•"/>
            </a:pPr>
            <a:r>
              <a:rPr lang="fr-FR" b="1"/>
              <a:t>Avantages</a:t>
            </a:r>
            <a:r>
              <a:rPr lang="fr-FR"/>
              <a:t> : Adapté pour le reporting et les analyses, assure la cohérence des données.</a:t>
            </a:r>
          </a:p>
          <a:p>
            <a:pPr>
              <a:buFont typeface="Arial" panose="020B0604020202020204" pitchFamily="34" charset="0"/>
              <a:buChar char="•"/>
            </a:pPr>
            <a:r>
              <a:rPr lang="fr-FR" b="1"/>
              <a:t>Limites</a:t>
            </a:r>
            <a:r>
              <a:rPr lang="fr-FR"/>
              <a:t> : Processus parfois long, pas idéal pour les intégrations en temps réel.</a:t>
            </a:r>
          </a:p>
          <a:p>
            <a:r>
              <a:rPr lang="fr-FR" b="1"/>
              <a:t>7. Pattern d'intégration par </a:t>
            </a:r>
            <a:r>
              <a:rPr lang="fr-FR" b="1" err="1"/>
              <a:t>iPaaS</a:t>
            </a:r>
            <a:r>
              <a:rPr lang="fr-FR" b="1"/>
              <a:t> (</a:t>
            </a:r>
            <a:r>
              <a:rPr lang="fr-FR" b="1" err="1"/>
              <a:t>Integration</a:t>
            </a:r>
            <a:r>
              <a:rPr lang="fr-FR" b="1"/>
              <a:t> Platform as a Service)</a:t>
            </a:r>
          </a:p>
          <a:p>
            <a:pPr>
              <a:buFont typeface="Arial" panose="020B0604020202020204" pitchFamily="34" charset="0"/>
              <a:buChar char="•"/>
            </a:pPr>
            <a:r>
              <a:rPr lang="fr-FR" b="1"/>
              <a:t>Description</a:t>
            </a:r>
            <a:r>
              <a:rPr lang="fr-FR"/>
              <a:t> : Une plateforme d'intégration en tant que service simplifie les intégrations entre applications SaaS et sur site, avec des connecteurs prêts à l'emploi et des fonctionnalités d'automatisation des flux.</a:t>
            </a:r>
          </a:p>
          <a:p>
            <a:pPr>
              <a:buFont typeface="Arial" panose="020B0604020202020204" pitchFamily="34" charset="0"/>
              <a:buChar char="•"/>
            </a:pPr>
            <a:r>
              <a:rPr lang="fr-FR" b="1"/>
              <a:t>Exemples</a:t>
            </a:r>
            <a:r>
              <a:rPr lang="fr-FR"/>
              <a:t> : Dell </a:t>
            </a:r>
            <a:r>
              <a:rPr lang="fr-FR" err="1"/>
              <a:t>Boomi</a:t>
            </a:r>
            <a:r>
              <a:rPr lang="fr-FR"/>
              <a:t>, </a:t>
            </a:r>
            <a:r>
              <a:rPr lang="fr-FR" err="1"/>
              <a:t>Zapier</a:t>
            </a:r>
            <a:r>
              <a:rPr lang="fr-FR"/>
              <a:t>, </a:t>
            </a:r>
            <a:r>
              <a:rPr lang="fr-FR" err="1"/>
              <a:t>MuleSoft</a:t>
            </a:r>
            <a:r>
              <a:rPr lang="fr-FR"/>
              <a:t> </a:t>
            </a:r>
            <a:r>
              <a:rPr lang="fr-FR" err="1"/>
              <a:t>Anypoint</a:t>
            </a:r>
            <a:r>
              <a:rPr lang="fr-FR"/>
              <a:t>.</a:t>
            </a:r>
          </a:p>
          <a:p>
            <a:pPr>
              <a:buFont typeface="Arial" panose="020B0604020202020204" pitchFamily="34" charset="0"/>
              <a:buChar char="•"/>
            </a:pPr>
            <a:r>
              <a:rPr lang="fr-FR" b="1"/>
              <a:t>Avantages</a:t>
            </a:r>
            <a:r>
              <a:rPr lang="fr-FR"/>
              <a:t> : Rapidité d'intégration, flexibilité.</a:t>
            </a:r>
          </a:p>
          <a:p>
            <a:pPr>
              <a:buFont typeface="Arial" panose="020B0604020202020204" pitchFamily="34" charset="0"/>
              <a:buChar char="•"/>
            </a:pPr>
            <a:r>
              <a:rPr lang="fr-FR" b="1"/>
              <a:t>Limites</a:t>
            </a:r>
            <a:r>
              <a:rPr lang="fr-FR"/>
              <a:t> : Dépendance au fournisseur, coût potentiel.</a:t>
            </a:r>
          </a:p>
          <a:p>
            <a:r>
              <a:rPr lang="fr-FR" b="1"/>
              <a:t>8. Pattern d'intégration hybride</a:t>
            </a:r>
          </a:p>
          <a:p>
            <a:pPr>
              <a:buFont typeface="Arial" panose="020B0604020202020204" pitchFamily="34" charset="0"/>
              <a:buChar char="•"/>
            </a:pPr>
            <a:r>
              <a:rPr lang="fr-FR" b="1"/>
              <a:t>Description</a:t>
            </a:r>
            <a:r>
              <a:rPr lang="fr-FR"/>
              <a:t> : Combine plusieurs patterns pour s’adapter à des environnements complexes et répondre aux besoins variés des entreprises.</a:t>
            </a:r>
          </a:p>
          <a:p>
            <a:pPr>
              <a:buFont typeface="Arial" panose="020B0604020202020204" pitchFamily="34" charset="0"/>
              <a:buChar char="•"/>
            </a:pPr>
            <a:r>
              <a:rPr lang="fr-FR" b="1"/>
              <a:t>Exemples</a:t>
            </a:r>
            <a:r>
              <a:rPr lang="fr-FR"/>
              <a:t> : ESB + </a:t>
            </a:r>
            <a:r>
              <a:rPr lang="fr-FR" err="1"/>
              <a:t>iPaaS</a:t>
            </a:r>
            <a:r>
              <a:rPr lang="fr-FR"/>
              <a:t> pour une flexibilité maximale entre les applications sur site et dans le cloud.</a:t>
            </a:r>
          </a:p>
          <a:p>
            <a:pPr>
              <a:buFont typeface="Arial" panose="020B0604020202020204" pitchFamily="34" charset="0"/>
              <a:buChar char="•"/>
            </a:pPr>
            <a:r>
              <a:rPr lang="fr-FR" b="1"/>
              <a:t>Avantages</a:t>
            </a:r>
            <a:r>
              <a:rPr lang="fr-FR"/>
              <a:t> : Optimisation de chaque système en fonction de ses besoins spécifiques.</a:t>
            </a:r>
          </a:p>
          <a:p>
            <a:pPr>
              <a:buFont typeface="Arial" panose="020B0604020202020204" pitchFamily="34" charset="0"/>
              <a:buChar char="•"/>
            </a:pPr>
            <a:r>
              <a:rPr lang="fr-FR" b="1"/>
              <a:t>Limites</a:t>
            </a:r>
            <a:r>
              <a:rPr lang="fr-FR"/>
              <a:t> : Peut être complexe à implémenter et à maintenir.</a:t>
            </a:r>
          </a:p>
          <a:p>
            <a:r>
              <a:rPr lang="fr-FR"/>
              <a:t>Ces patterns peuvent être combinés selon les besoins pour répondre aux exigences spécifiques de l’entreprise en termes de volume de données, de sécurité, de temps réel et de maintenance.</a:t>
            </a:r>
          </a:p>
          <a:p>
            <a:endParaRPr lang="fr-FR"/>
          </a:p>
        </p:txBody>
      </p:sp>
      <p:sp>
        <p:nvSpPr>
          <p:cNvPr id="4" name="Espace réservé du numéro de diapositive 3">
            <a:extLst>
              <a:ext uri="{FF2B5EF4-FFF2-40B4-BE49-F238E27FC236}">
                <a16:creationId xmlns:a16="http://schemas.microsoft.com/office/drawing/2014/main" id="{D85AEBD4-1134-6474-6EC3-A827EDCF5D7B}"/>
              </a:ext>
            </a:extLst>
          </p:cNvPr>
          <p:cNvSpPr>
            <a:spLocks noGrp="1"/>
          </p:cNvSpPr>
          <p:nvPr>
            <p:ph type="sldNum" sz="quarter" idx="5"/>
          </p:nvPr>
        </p:nvSpPr>
        <p:spPr/>
        <p:txBody>
          <a:bodyPr/>
          <a:lstStyle/>
          <a:p>
            <a:fld id="{C9924BDF-58BE-4F0A-81E7-1ED057B91AE9}" type="slidenum">
              <a:rPr lang="fr-FR" smtClean="0"/>
              <a:t>15</a:t>
            </a:fld>
            <a:endParaRPr lang="fr-FR"/>
          </a:p>
        </p:txBody>
      </p:sp>
    </p:spTree>
    <p:extLst>
      <p:ext uri="{BB962C8B-B14F-4D97-AF65-F5344CB8AC3E}">
        <p14:creationId xmlns:p14="http://schemas.microsoft.com/office/powerpoint/2010/main" val="3699371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8EBC1-FDC9-3957-E508-F314C3467E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2232F2-EF66-AE85-BC56-805C4A544FB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859DBD-FBC1-1455-BA84-4EA4C4860E4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D5C19AE-C978-A0DE-33F9-4B6B3F4D9A80}"/>
              </a:ext>
            </a:extLst>
          </p:cNvPr>
          <p:cNvSpPr>
            <a:spLocks noGrp="1"/>
          </p:cNvSpPr>
          <p:nvPr>
            <p:ph type="sldNum" sz="quarter" idx="5"/>
          </p:nvPr>
        </p:nvSpPr>
        <p:spPr/>
        <p:txBody>
          <a:bodyPr/>
          <a:lstStyle/>
          <a:p>
            <a:fld id="{C9924BDF-58BE-4F0A-81E7-1ED057B91AE9}" type="slidenum">
              <a:rPr lang="fr-FR" smtClean="0"/>
              <a:t>16</a:t>
            </a:fld>
            <a:endParaRPr lang="fr-FR"/>
          </a:p>
        </p:txBody>
      </p:sp>
    </p:spTree>
    <p:extLst>
      <p:ext uri="{BB962C8B-B14F-4D97-AF65-F5344CB8AC3E}">
        <p14:creationId xmlns:p14="http://schemas.microsoft.com/office/powerpoint/2010/main" val="2905628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83D41-19E7-1D09-B08C-B00AF6CB05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E476E8-A740-2318-3450-D52065CD051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047A34-035D-3D55-ECB6-70CF3D34F535}"/>
              </a:ext>
            </a:extLst>
          </p:cNvPr>
          <p:cNvSpPr>
            <a:spLocks noGrp="1"/>
          </p:cNvSpPr>
          <p:nvPr>
            <p:ph type="body" idx="1"/>
          </p:nvPr>
        </p:nvSpPr>
        <p:spPr/>
        <p:txBody>
          <a:bodyPr/>
          <a:lstStyle/>
          <a:p>
            <a:pPr>
              <a:lnSpc>
                <a:spcPct val="78000"/>
              </a:lnSpc>
            </a:pPr>
            <a:r>
              <a:rPr lang="fr-FR">
                <a:ln w="1905">
                  <a:solidFill>
                    <a:srgbClr val="102031">
                      <a:alpha val="60000"/>
                    </a:srgbClr>
                  </a:solidFill>
                </a:ln>
                <a:solidFill>
                  <a:schemeClr val="tx1">
                    <a:alpha val="60000"/>
                  </a:schemeClr>
                </a:solidFill>
              </a:rPr>
              <a:t>Donner les définitions de chaque API au sens API-</a:t>
            </a:r>
            <a:r>
              <a:rPr lang="fr-FR" err="1">
                <a:ln w="1905">
                  <a:solidFill>
                    <a:srgbClr val="102031">
                      <a:alpha val="60000"/>
                    </a:srgbClr>
                  </a:solidFill>
                </a:ln>
                <a:solidFill>
                  <a:schemeClr val="tx1">
                    <a:alpha val="60000"/>
                  </a:schemeClr>
                </a:solidFill>
              </a:rPr>
              <a:t>led</a:t>
            </a:r>
            <a:endParaRPr lang="fr-FR">
              <a:ln w="1905">
                <a:solidFill>
                  <a:srgbClr val="102031">
                    <a:alpha val="60000"/>
                  </a:srgbClr>
                </a:solidFill>
              </a:ln>
              <a:solidFill>
                <a:schemeClr val="tx1">
                  <a:alpha val="60000"/>
                </a:schemeClr>
              </a:solidFill>
            </a:endParaRPr>
          </a:p>
          <a:p>
            <a:pPr>
              <a:lnSpc>
                <a:spcPct val="78000"/>
              </a:lnSpc>
            </a:pPr>
            <a:r>
              <a:rPr lang="fr-FR">
                <a:ln w="1905">
                  <a:solidFill>
                    <a:srgbClr val="102031">
                      <a:alpha val="60000"/>
                    </a:srgbClr>
                  </a:solidFill>
                </a:ln>
                <a:solidFill>
                  <a:schemeClr val="tx1">
                    <a:alpha val="60000"/>
                  </a:schemeClr>
                </a:solidFill>
              </a:rPr>
              <a:t>Et recouper avec les définitions du cadre de réf.</a:t>
            </a:r>
            <a:br>
              <a:rPr lang="fr-FR">
                <a:ln w="1905">
                  <a:solidFill>
                    <a:srgbClr val="102031">
                      <a:alpha val="60000"/>
                    </a:srgbClr>
                  </a:solidFill>
                </a:ln>
                <a:solidFill>
                  <a:schemeClr val="tx1">
                    <a:alpha val="60000"/>
                  </a:schemeClr>
                </a:solidFill>
              </a:rPr>
            </a:br>
            <a:r>
              <a:rPr lang="fr-FR" err="1">
                <a:ln w="1905">
                  <a:solidFill>
                    <a:srgbClr val="102031">
                      <a:alpha val="60000"/>
                    </a:srgbClr>
                  </a:solidFill>
                </a:ln>
                <a:solidFill>
                  <a:schemeClr val="tx1">
                    <a:alpha val="60000"/>
                  </a:schemeClr>
                </a:solidFill>
              </a:rPr>
              <a:t>Regardetr</a:t>
            </a:r>
            <a:r>
              <a:rPr lang="fr-FR">
                <a:ln w="1905">
                  <a:solidFill>
                    <a:srgbClr val="102031">
                      <a:alpha val="60000"/>
                    </a:srgbClr>
                  </a:solidFill>
                </a:ln>
                <a:solidFill>
                  <a:schemeClr val="tx1">
                    <a:alpha val="60000"/>
                  </a:schemeClr>
                </a:solidFill>
              </a:rPr>
              <a:t> aussi celle dans le doc. OP.</a:t>
            </a:r>
          </a:p>
          <a:p>
            <a:endParaRPr lang="fr-FR"/>
          </a:p>
        </p:txBody>
      </p:sp>
      <p:sp>
        <p:nvSpPr>
          <p:cNvPr id="4" name="Espace réservé du numéro de diapositive 3">
            <a:extLst>
              <a:ext uri="{FF2B5EF4-FFF2-40B4-BE49-F238E27FC236}">
                <a16:creationId xmlns:a16="http://schemas.microsoft.com/office/drawing/2014/main" id="{47FFD534-0A5E-8EFE-0356-7626B4474CEC}"/>
              </a:ext>
            </a:extLst>
          </p:cNvPr>
          <p:cNvSpPr>
            <a:spLocks noGrp="1"/>
          </p:cNvSpPr>
          <p:nvPr>
            <p:ph type="sldNum" sz="quarter" idx="5"/>
          </p:nvPr>
        </p:nvSpPr>
        <p:spPr/>
        <p:txBody>
          <a:bodyPr/>
          <a:lstStyle/>
          <a:p>
            <a:fld id="{C9924BDF-58BE-4F0A-81E7-1ED057B91AE9}" type="slidenum">
              <a:rPr lang="fr-FR" smtClean="0"/>
              <a:t>17</a:t>
            </a:fld>
            <a:endParaRPr lang="fr-FR"/>
          </a:p>
        </p:txBody>
      </p:sp>
    </p:spTree>
    <p:extLst>
      <p:ext uri="{BB962C8B-B14F-4D97-AF65-F5344CB8AC3E}">
        <p14:creationId xmlns:p14="http://schemas.microsoft.com/office/powerpoint/2010/main" val="2648493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58552-F2F2-6DF3-66DD-7FAFB205A4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E554A50-7C33-6AAD-BE2E-3215D322284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B78FD44-5DFE-C0B3-9914-46A2E2B9B520}"/>
              </a:ext>
            </a:extLst>
          </p:cNvPr>
          <p:cNvSpPr>
            <a:spLocks noGrp="1"/>
          </p:cNvSpPr>
          <p:nvPr>
            <p:ph type="body" idx="1"/>
          </p:nvPr>
        </p:nvSpPr>
        <p:spPr/>
        <p:txBody>
          <a:bodyPr/>
          <a:lstStyle/>
          <a:p>
            <a:pPr>
              <a:lnSpc>
                <a:spcPct val="78000"/>
              </a:lnSpc>
            </a:pPr>
            <a:r>
              <a:rPr lang="fr-FR">
                <a:ln w="1905">
                  <a:solidFill>
                    <a:srgbClr val="102031">
                      <a:alpha val="60000"/>
                    </a:srgbClr>
                  </a:solidFill>
                </a:ln>
                <a:solidFill>
                  <a:schemeClr val="tx1">
                    <a:alpha val="60000"/>
                  </a:schemeClr>
                </a:solidFill>
              </a:rPr>
              <a:t>Donner les définitions de chaque API au sens API-</a:t>
            </a:r>
            <a:r>
              <a:rPr lang="fr-FR" err="1">
                <a:ln w="1905">
                  <a:solidFill>
                    <a:srgbClr val="102031">
                      <a:alpha val="60000"/>
                    </a:srgbClr>
                  </a:solidFill>
                </a:ln>
                <a:solidFill>
                  <a:schemeClr val="tx1">
                    <a:alpha val="60000"/>
                  </a:schemeClr>
                </a:solidFill>
              </a:rPr>
              <a:t>led</a:t>
            </a:r>
            <a:endParaRPr lang="fr-FR">
              <a:ln w="1905">
                <a:solidFill>
                  <a:srgbClr val="102031">
                    <a:alpha val="60000"/>
                  </a:srgbClr>
                </a:solidFill>
              </a:ln>
              <a:solidFill>
                <a:schemeClr val="tx1">
                  <a:alpha val="60000"/>
                </a:schemeClr>
              </a:solidFill>
            </a:endParaRPr>
          </a:p>
          <a:p>
            <a:pPr>
              <a:lnSpc>
                <a:spcPct val="78000"/>
              </a:lnSpc>
            </a:pPr>
            <a:r>
              <a:rPr lang="fr-FR">
                <a:ln w="1905">
                  <a:solidFill>
                    <a:srgbClr val="102031">
                      <a:alpha val="60000"/>
                    </a:srgbClr>
                  </a:solidFill>
                </a:ln>
                <a:solidFill>
                  <a:schemeClr val="tx1">
                    <a:alpha val="60000"/>
                  </a:schemeClr>
                </a:solidFill>
              </a:rPr>
              <a:t>Et recouper avec les définitions du cadre de réf.</a:t>
            </a:r>
            <a:br>
              <a:rPr lang="fr-FR">
                <a:ln w="1905">
                  <a:solidFill>
                    <a:srgbClr val="102031">
                      <a:alpha val="60000"/>
                    </a:srgbClr>
                  </a:solidFill>
                </a:ln>
                <a:solidFill>
                  <a:schemeClr val="tx1">
                    <a:alpha val="60000"/>
                  </a:schemeClr>
                </a:solidFill>
              </a:rPr>
            </a:br>
            <a:r>
              <a:rPr lang="fr-FR" err="1">
                <a:ln w="1905">
                  <a:solidFill>
                    <a:srgbClr val="102031">
                      <a:alpha val="60000"/>
                    </a:srgbClr>
                  </a:solidFill>
                </a:ln>
                <a:solidFill>
                  <a:schemeClr val="tx1">
                    <a:alpha val="60000"/>
                  </a:schemeClr>
                </a:solidFill>
              </a:rPr>
              <a:t>Regardetr</a:t>
            </a:r>
            <a:r>
              <a:rPr lang="fr-FR">
                <a:ln w="1905">
                  <a:solidFill>
                    <a:srgbClr val="102031">
                      <a:alpha val="60000"/>
                    </a:srgbClr>
                  </a:solidFill>
                </a:ln>
                <a:solidFill>
                  <a:schemeClr val="tx1">
                    <a:alpha val="60000"/>
                  </a:schemeClr>
                </a:solidFill>
              </a:rPr>
              <a:t> aussi celle dans le doc. OP.</a:t>
            </a:r>
          </a:p>
          <a:p>
            <a:endParaRPr lang="fr-FR"/>
          </a:p>
        </p:txBody>
      </p:sp>
      <p:sp>
        <p:nvSpPr>
          <p:cNvPr id="4" name="Espace réservé du numéro de diapositive 3">
            <a:extLst>
              <a:ext uri="{FF2B5EF4-FFF2-40B4-BE49-F238E27FC236}">
                <a16:creationId xmlns:a16="http://schemas.microsoft.com/office/drawing/2014/main" id="{3A2B7EA9-BAC3-C2E3-3288-234D1AC84AEF}"/>
              </a:ext>
            </a:extLst>
          </p:cNvPr>
          <p:cNvSpPr>
            <a:spLocks noGrp="1"/>
          </p:cNvSpPr>
          <p:nvPr>
            <p:ph type="sldNum" sz="quarter" idx="5"/>
          </p:nvPr>
        </p:nvSpPr>
        <p:spPr/>
        <p:txBody>
          <a:bodyPr/>
          <a:lstStyle/>
          <a:p>
            <a:fld id="{C9924BDF-58BE-4F0A-81E7-1ED057B91AE9}" type="slidenum">
              <a:rPr lang="fr-FR" smtClean="0"/>
              <a:t>18</a:t>
            </a:fld>
            <a:endParaRPr lang="fr-FR"/>
          </a:p>
        </p:txBody>
      </p:sp>
    </p:spTree>
    <p:extLst>
      <p:ext uri="{BB962C8B-B14F-4D97-AF65-F5344CB8AC3E}">
        <p14:creationId xmlns:p14="http://schemas.microsoft.com/office/powerpoint/2010/main" val="347970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765D9-CC25-B870-124B-186E17714F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1B27A6-CE33-2769-4B52-FB20871F0F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F5B744-8EEC-BDD0-13AE-EB73CB0DB184}"/>
              </a:ext>
            </a:extLst>
          </p:cNvPr>
          <p:cNvSpPr>
            <a:spLocks noGrp="1"/>
          </p:cNvSpPr>
          <p:nvPr>
            <p:ph type="body" idx="1"/>
          </p:nvPr>
        </p:nvSpPr>
        <p:spPr/>
        <p:txBody>
          <a:bodyPr/>
          <a:lstStyle/>
          <a:p>
            <a:pPr>
              <a:lnSpc>
                <a:spcPct val="78000"/>
              </a:lnSpc>
            </a:pPr>
            <a:r>
              <a:rPr lang="fr-FR">
                <a:ln w="1905">
                  <a:solidFill>
                    <a:srgbClr val="102031">
                      <a:alpha val="60000"/>
                    </a:srgbClr>
                  </a:solidFill>
                </a:ln>
                <a:solidFill>
                  <a:schemeClr val="tx1">
                    <a:alpha val="60000"/>
                  </a:schemeClr>
                </a:solidFill>
              </a:rPr>
              <a:t>La liberté prise par BYCN est une décision plutôt saine car elle évite d’ajouter de la complexité dès l’implémentation d’un sAPI.</a:t>
            </a:r>
          </a:p>
          <a:p>
            <a:endParaRPr lang="fr-FR"/>
          </a:p>
        </p:txBody>
      </p:sp>
      <p:sp>
        <p:nvSpPr>
          <p:cNvPr id="4" name="Espace réservé du numéro de diapositive 3">
            <a:extLst>
              <a:ext uri="{FF2B5EF4-FFF2-40B4-BE49-F238E27FC236}">
                <a16:creationId xmlns:a16="http://schemas.microsoft.com/office/drawing/2014/main" id="{F11CA63E-27DA-FE8A-658F-C7CE63A52E0A}"/>
              </a:ext>
            </a:extLst>
          </p:cNvPr>
          <p:cNvSpPr>
            <a:spLocks noGrp="1"/>
          </p:cNvSpPr>
          <p:nvPr>
            <p:ph type="sldNum" sz="quarter" idx="5"/>
          </p:nvPr>
        </p:nvSpPr>
        <p:spPr/>
        <p:txBody>
          <a:bodyPr/>
          <a:lstStyle/>
          <a:p>
            <a:fld id="{C9924BDF-58BE-4F0A-81E7-1ED057B91AE9}" type="slidenum">
              <a:rPr lang="fr-FR" smtClean="0"/>
              <a:t>19</a:t>
            </a:fld>
            <a:endParaRPr lang="fr-FR"/>
          </a:p>
        </p:txBody>
      </p:sp>
    </p:spTree>
    <p:extLst>
      <p:ext uri="{BB962C8B-B14F-4D97-AF65-F5344CB8AC3E}">
        <p14:creationId xmlns:p14="http://schemas.microsoft.com/office/powerpoint/2010/main" val="3142970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DCFCD-85E4-7EAC-8120-D7B042577B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61BFA2-4433-AF66-9F6C-26BC395675D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6626DB5-4911-2F63-D948-FB6742D83A1B}"/>
              </a:ext>
            </a:extLst>
          </p:cNvPr>
          <p:cNvSpPr>
            <a:spLocks noGrp="1"/>
          </p:cNvSpPr>
          <p:nvPr>
            <p:ph type="body" idx="1"/>
          </p:nvPr>
        </p:nvSpPr>
        <p:spPr/>
        <p:txBody>
          <a:bodyPr/>
          <a:lstStyle/>
          <a:p>
            <a:pPr>
              <a:lnSpc>
                <a:spcPct val="78000"/>
              </a:lnSpc>
            </a:pPr>
            <a:r>
              <a:rPr lang="fr-FR">
                <a:ln w="1905">
                  <a:solidFill>
                    <a:srgbClr val="102031">
                      <a:alpha val="60000"/>
                    </a:srgbClr>
                  </a:solidFill>
                </a:ln>
                <a:solidFill>
                  <a:schemeClr val="tx1">
                    <a:alpha val="60000"/>
                  </a:schemeClr>
                </a:solidFill>
              </a:rPr>
              <a:t>La liberté prise par BYCN est une décision plutôt saine car elle évite d’ajouter de la complexité dès l’implémentation d’un sAPI.</a:t>
            </a:r>
          </a:p>
          <a:p>
            <a:endParaRPr lang="fr-FR"/>
          </a:p>
        </p:txBody>
      </p:sp>
      <p:sp>
        <p:nvSpPr>
          <p:cNvPr id="4" name="Espace réservé du numéro de diapositive 3">
            <a:extLst>
              <a:ext uri="{FF2B5EF4-FFF2-40B4-BE49-F238E27FC236}">
                <a16:creationId xmlns:a16="http://schemas.microsoft.com/office/drawing/2014/main" id="{1458E4BF-A862-8D4E-F3A4-B0785987B1BA}"/>
              </a:ext>
            </a:extLst>
          </p:cNvPr>
          <p:cNvSpPr>
            <a:spLocks noGrp="1"/>
          </p:cNvSpPr>
          <p:nvPr>
            <p:ph type="sldNum" sz="quarter" idx="5"/>
          </p:nvPr>
        </p:nvSpPr>
        <p:spPr/>
        <p:txBody>
          <a:bodyPr/>
          <a:lstStyle/>
          <a:p>
            <a:fld id="{C9924BDF-58BE-4F0A-81E7-1ED057B91AE9}" type="slidenum">
              <a:rPr lang="fr-FR" smtClean="0"/>
              <a:t>20</a:t>
            </a:fld>
            <a:endParaRPr lang="fr-FR"/>
          </a:p>
        </p:txBody>
      </p:sp>
    </p:spTree>
    <p:extLst>
      <p:ext uri="{BB962C8B-B14F-4D97-AF65-F5344CB8AC3E}">
        <p14:creationId xmlns:p14="http://schemas.microsoft.com/office/powerpoint/2010/main" val="3512271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828E5-D3DC-5ABA-0E11-6304FD39AB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4CAA0BF-8D08-27E1-0EDE-78BB24F2CE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49561A-839E-693A-D78E-9781D74D7AE9}"/>
              </a:ext>
            </a:extLst>
          </p:cNvPr>
          <p:cNvSpPr>
            <a:spLocks noGrp="1"/>
          </p:cNvSpPr>
          <p:nvPr>
            <p:ph type="body" idx="1"/>
          </p:nvPr>
        </p:nvSpPr>
        <p:spPr/>
        <p:txBody>
          <a:bodyPr/>
          <a:lstStyle/>
          <a:p>
            <a:pPr>
              <a:lnSpc>
                <a:spcPct val="78000"/>
              </a:lnSpc>
            </a:pPr>
            <a:r>
              <a:rPr lang="fr-FR">
                <a:ln w="1905">
                  <a:solidFill>
                    <a:srgbClr val="102031">
                      <a:alpha val="60000"/>
                    </a:srgbClr>
                  </a:solidFill>
                </a:ln>
                <a:solidFill>
                  <a:schemeClr val="tx1">
                    <a:alpha val="60000"/>
                  </a:schemeClr>
                </a:solidFill>
              </a:rPr>
              <a:t>Donner les définitions de chaque API au sens API-</a:t>
            </a:r>
            <a:r>
              <a:rPr lang="fr-FR" err="1">
                <a:ln w="1905">
                  <a:solidFill>
                    <a:srgbClr val="102031">
                      <a:alpha val="60000"/>
                    </a:srgbClr>
                  </a:solidFill>
                </a:ln>
                <a:solidFill>
                  <a:schemeClr val="tx1">
                    <a:alpha val="60000"/>
                  </a:schemeClr>
                </a:solidFill>
              </a:rPr>
              <a:t>led</a:t>
            </a:r>
            <a:endParaRPr lang="fr-FR">
              <a:ln w="1905">
                <a:solidFill>
                  <a:srgbClr val="102031">
                    <a:alpha val="60000"/>
                  </a:srgbClr>
                </a:solidFill>
              </a:ln>
              <a:solidFill>
                <a:schemeClr val="tx1">
                  <a:alpha val="60000"/>
                </a:schemeClr>
              </a:solidFill>
            </a:endParaRPr>
          </a:p>
          <a:p>
            <a:pPr>
              <a:lnSpc>
                <a:spcPct val="78000"/>
              </a:lnSpc>
            </a:pPr>
            <a:r>
              <a:rPr lang="fr-FR">
                <a:ln w="1905">
                  <a:solidFill>
                    <a:srgbClr val="102031">
                      <a:alpha val="60000"/>
                    </a:srgbClr>
                  </a:solidFill>
                </a:ln>
                <a:solidFill>
                  <a:schemeClr val="tx1">
                    <a:alpha val="60000"/>
                  </a:schemeClr>
                </a:solidFill>
              </a:rPr>
              <a:t>Et recouper avec les définitions du cadre de réf.</a:t>
            </a:r>
            <a:br>
              <a:rPr lang="fr-FR">
                <a:ln w="1905">
                  <a:solidFill>
                    <a:srgbClr val="102031">
                      <a:alpha val="60000"/>
                    </a:srgbClr>
                  </a:solidFill>
                </a:ln>
                <a:solidFill>
                  <a:schemeClr val="tx1">
                    <a:alpha val="60000"/>
                  </a:schemeClr>
                </a:solidFill>
              </a:rPr>
            </a:br>
            <a:r>
              <a:rPr lang="fr-FR" err="1">
                <a:ln w="1905">
                  <a:solidFill>
                    <a:srgbClr val="102031">
                      <a:alpha val="60000"/>
                    </a:srgbClr>
                  </a:solidFill>
                </a:ln>
                <a:solidFill>
                  <a:schemeClr val="tx1">
                    <a:alpha val="60000"/>
                  </a:schemeClr>
                </a:solidFill>
              </a:rPr>
              <a:t>Regardetr</a:t>
            </a:r>
            <a:r>
              <a:rPr lang="fr-FR">
                <a:ln w="1905">
                  <a:solidFill>
                    <a:srgbClr val="102031">
                      <a:alpha val="60000"/>
                    </a:srgbClr>
                  </a:solidFill>
                </a:ln>
                <a:solidFill>
                  <a:schemeClr val="tx1">
                    <a:alpha val="60000"/>
                  </a:schemeClr>
                </a:solidFill>
              </a:rPr>
              <a:t> aussi celle dans le doc. OP.</a:t>
            </a:r>
          </a:p>
          <a:p>
            <a:endParaRPr lang="fr-FR"/>
          </a:p>
        </p:txBody>
      </p:sp>
      <p:sp>
        <p:nvSpPr>
          <p:cNvPr id="4" name="Espace réservé du numéro de diapositive 3">
            <a:extLst>
              <a:ext uri="{FF2B5EF4-FFF2-40B4-BE49-F238E27FC236}">
                <a16:creationId xmlns:a16="http://schemas.microsoft.com/office/drawing/2014/main" id="{A25DF9D7-1AF4-7E7A-DEBB-74BD5DC98320}"/>
              </a:ext>
            </a:extLst>
          </p:cNvPr>
          <p:cNvSpPr>
            <a:spLocks noGrp="1"/>
          </p:cNvSpPr>
          <p:nvPr>
            <p:ph type="sldNum" sz="quarter" idx="5"/>
          </p:nvPr>
        </p:nvSpPr>
        <p:spPr/>
        <p:txBody>
          <a:bodyPr/>
          <a:lstStyle/>
          <a:p>
            <a:fld id="{C9924BDF-58BE-4F0A-81E7-1ED057B91AE9}" type="slidenum">
              <a:rPr lang="fr-FR" smtClean="0"/>
              <a:t>21</a:t>
            </a:fld>
            <a:endParaRPr lang="fr-FR"/>
          </a:p>
        </p:txBody>
      </p:sp>
    </p:spTree>
    <p:extLst>
      <p:ext uri="{BB962C8B-B14F-4D97-AF65-F5344CB8AC3E}">
        <p14:creationId xmlns:p14="http://schemas.microsoft.com/office/powerpoint/2010/main" val="4035831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989A-6538-DF6C-B0F8-B33EF2E7279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A4567D-116F-CE9A-9E2C-10B9D0A7221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03CC4F4-BEA4-3E14-CEDB-C403DBB978D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C3F0999-CBF6-3321-1EA1-BC7E6D64B0FA}"/>
              </a:ext>
            </a:extLst>
          </p:cNvPr>
          <p:cNvSpPr>
            <a:spLocks noGrp="1"/>
          </p:cNvSpPr>
          <p:nvPr>
            <p:ph type="sldNum" sz="quarter" idx="5"/>
          </p:nvPr>
        </p:nvSpPr>
        <p:spPr/>
        <p:txBody>
          <a:bodyPr/>
          <a:lstStyle/>
          <a:p>
            <a:fld id="{C9924BDF-58BE-4F0A-81E7-1ED057B91AE9}" type="slidenum">
              <a:rPr lang="fr-FR" smtClean="0"/>
              <a:t>22</a:t>
            </a:fld>
            <a:endParaRPr lang="fr-FR"/>
          </a:p>
        </p:txBody>
      </p:sp>
    </p:spTree>
    <p:extLst>
      <p:ext uri="{BB962C8B-B14F-4D97-AF65-F5344CB8AC3E}">
        <p14:creationId xmlns:p14="http://schemas.microsoft.com/office/powerpoint/2010/main" val="826215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FBDF9-23EC-6645-D520-3ADE5AA0E91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9E90B9-2D43-1F2D-492C-5300111DBC8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1F9F99-8641-3AFB-BFD4-2FB7C621F08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05622CF-DB4E-4CCE-50EE-C7B1BF7BDD8D}"/>
              </a:ext>
            </a:extLst>
          </p:cNvPr>
          <p:cNvSpPr>
            <a:spLocks noGrp="1"/>
          </p:cNvSpPr>
          <p:nvPr>
            <p:ph type="sldNum" sz="quarter" idx="5"/>
          </p:nvPr>
        </p:nvSpPr>
        <p:spPr/>
        <p:txBody>
          <a:bodyPr/>
          <a:lstStyle/>
          <a:p>
            <a:fld id="{C9924BDF-58BE-4F0A-81E7-1ED057B91AE9}" type="slidenum">
              <a:rPr lang="fr-FR" smtClean="0"/>
              <a:t>23</a:t>
            </a:fld>
            <a:endParaRPr lang="fr-FR"/>
          </a:p>
        </p:txBody>
      </p:sp>
    </p:spTree>
    <p:extLst>
      <p:ext uri="{BB962C8B-B14F-4D97-AF65-F5344CB8AC3E}">
        <p14:creationId xmlns:p14="http://schemas.microsoft.com/office/powerpoint/2010/main" val="3579908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B68CB-64E5-A05F-BB56-F7F419E729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B6E88F-A31E-ED45-E4BD-81A51ED6B8D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0FFCEDF-696A-8C83-4622-64E9D6D1EDC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0A8310B-FC18-65BB-40E6-7CE52DC71D81}"/>
              </a:ext>
            </a:extLst>
          </p:cNvPr>
          <p:cNvSpPr>
            <a:spLocks noGrp="1"/>
          </p:cNvSpPr>
          <p:nvPr>
            <p:ph type="sldNum" sz="quarter" idx="5"/>
          </p:nvPr>
        </p:nvSpPr>
        <p:spPr/>
        <p:txBody>
          <a:bodyPr/>
          <a:lstStyle/>
          <a:p>
            <a:fld id="{C9924BDF-58BE-4F0A-81E7-1ED057B91AE9}" type="slidenum">
              <a:rPr lang="fr-FR" smtClean="0"/>
              <a:t>24</a:t>
            </a:fld>
            <a:endParaRPr lang="fr-FR"/>
          </a:p>
        </p:txBody>
      </p:sp>
    </p:spTree>
    <p:extLst>
      <p:ext uri="{BB962C8B-B14F-4D97-AF65-F5344CB8AC3E}">
        <p14:creationId xmlns:p14="http://schemas.microsoft.com/office/powerpoint/2010/main" val="2928443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891AF-9627-914C-EEB3-8E22A45696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1E4E53-5D30-2DBC-317B-F2A5B75D6A5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B2794F1-3D3E-5923-7A9C-F31DF58C3CF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FDDC1E6B-4ED2-DCA9-D4F7-E51E08B9D5D3}"/>
              </a:ext>
            </a:extLst>
          </p:cNvPr>
          <p:cNvSpPr>
            <a:spLocks noGrp="1"/>
          </p:cNvSpPr>
          <p:nvPr>
            <p:ph type="sldNum" sz="quarter" idx="5"/>
          </p:nvPr>
        </p:nvSpPr>
        <p:spPr/>
        <p:txBody>
          <a:bodyPr/>
          <a:lstStyle/>
          <a:p>
            <a:fld id="{C9924BDF-58BE-4F0A-81E7-1ED057B91AE9}" type="slidenum">
              <a:rPr lang="fr-FR" smtClean="0"/>
              <a:t>25</a:t>
            </a:fld>
            <a:endParaRPr lang="fr-FR"/>
          </a:p>
        </p:txBody>
      </p:sp>
    </p:spTree>
    <p:extLst>
      <p:ext uri="{BB962C8B-B14F-4D97-AF65-F5344CB8AC3E}">
        <p14:creationId xmlns:p14="http://schemas.microsoft.com/office/powerpoint/2010/main" val="2113425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4BB66-3BD7-CE45-4AA3-F593BB7F94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B7F747-A0AE-5071-6A33-4BF4C2F5769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E31578-4136-E085-354B-C771BEA2A88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2581B68-609F-8C98-EF24-83DD4E45C74F}"/>
              </a:ext>
            </a:extLst>
          </p:cNvPr>
          <p:cNvSpPr>
            <a:spLocks noGrp="1"/>
          </p:cNvSpPr>
          <p:nvPr>
            <p:ph type="sldNum" sz="quarter" idx="5"/>
          </p:nvPr>
        </p:nvSpPr>
        <p:spPr/>
        <p:txBody>
          <a:bodyPr/>
          <a:lstStyle/>
          <a:p>
            <a:fld id="{C9924BDF-58BE-4F0A-81E7-1ED057B91AE9}" type="slidenum">
              <a:rPr lang="fr-FR" smtClean="0"/>
              <a:t>26</a:t>
            </a:fld>
            <a:endParaRPr lang="fr-FR"/>
          </a:p>
        </p:txBody>
      </p:sp>
    </p:spTree>
    <p:extLst>
      <p:ext uri="{BB962C8B-B14F-4D97-AF65-F5344CB8AC3E}">
        <p14:creationId xmlns:p14="http://schemas.microsoft.com/office/powerpoint/2010/main" val="1936775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F40F1-6863-2BBE-F08B-4EA80C5814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5DCBE2-1136-345C-254A-5F32506B05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7904777-B921-D0ED-1000-426BCB7CC91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764E7AE-0951-114A-5148-1D3C7F6A2CDA}"/>
              </a:ext>
            </a:extLst>
          </p:cNvPr>
          <p:cNvSpPr>
            <a:spLocks noGrp="1"/>
          </p:cNvSpPr>
          <p:nvPr>
            <p:ph type="sldNum" sz="quarter" idx="5"/>
          </p:nvPr>
        </p:nvSpPr>
        <p:spPr/>
        <p:txBody>
          <a:bodyPr/>
          <a:lstStyle/>
          <a:p>
            <a:fld id="{C9924BDF-58BE-4F0A-81E7-1ED057B91AE9}" type="slidenum">
              <a:rPr lang="fr-FR" smtClean="0"/>
              <a:t>27</a:t>
            </a:fld>
            <a:endParaRPr lang="fr-FR"/>
          </a:p>
        </p:txBody>
      </p:sp>
    </p:spTree>
    <p:extLst>
      <p:ext uri="{BB962C8B-B14F-4D97-AF65-F5344CB8AC3E}">
        <p14:creationId xmlns:p14="http://schemas.microsoft.com/office/powerpoint/2010/main" val="2091918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C9E0E-E440-185E-9B00-921E109F576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6AE860-421B-9F37-18E0-985D2585E89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F55692-F5CF-0D99-1AC0-3F1F9C2A00E0}"/>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014C276-3D9F-97C4-15E2-5089EC1F8669}"/>
              </a:ext>
            </a:extLst>
          </p:cNvPr>
          <p:cNvSpPr>
            <a:spLocks noGrp="1"/>
          </p:cNvSpPr>
          <p:nvPr>
            <p:ph type="sldNum" sz="quarter" idx="5"/>
          </p:nvPr>
        </p:nvSpPr>
        <p:spPr/>
        <p:txBody>
          <a:bodyPr/>
          <a:lstStyle/>
          <a:p>
            <a:fld id="{C9924BDF-58BE-4F0A-81E7-1ED057B91AE9}" type="slidenum">
              <a:rPr lang="fr-FR" smtClean="0"/>
              <a:t>28</a:t>
            </a:fld>
            <a:endParaRPr lang="fr-FR"/>
          </a:p>
        </p:txBody>
      </p:sp>
    </p:spTree>
    <p:extLst>
      <p:ext uri="{BB962C8B-B14F-4D97-AF65-F5344CB8AC3E}">
        <p14:creationId xmlns:p14="http://schemas.microsoft.com/office/powerpoint/2010/main" val="2398563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6F33-C8E2-569A-A03E-D8AA152C44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D20EDC2-9068-0737-D865-0087B7317D2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7B9C47-9804-D2D8-54F8-8036F877A2DD}"/>
              </a:ext>
            </a:extLst>
          </p:cNvPr>
          <p:cNvSpPr>
            <a:spLocks noGrp="1"/>
          </p:cNvSpPr>
          <p:nvPr>
            <p:ph type="body" idx="1"/>
          </p:nvPr>
        </p:nvSpPr>
        <p:spPr/>
        <p:txBody>
          <a:bodyPr/>
          <a:lstStyle/>
          <a:p>
            <a:r>
              <a:rPr lang="fr-FR" sz="1800"/>
              <a:t>Focus : Complexité de gestion à m’intérieur de la solution Cloud Hub.</a:t>
            </a:r>
          </a:p>
        </p:txBody>
      </p:sp>
      <p:sp>
        <p:nvSpPr>
          <p:cNvPr id="4" name="Espace réservé du numéro de diapositive 3">
            <a:extLst>
              <a:ext uri="{FF2B5EF4-FFF2-40B4-BE49-F238E27FC236}">
                <a16:creationId xmlns:a16="http://schemas.microsoft.com/office/drawing/2014/main" id="{E03ACD71-A7A3-45A2-CBD0-F932B8E63A28}"/>
              </a:ext>
            </a:extLst>
          </p:cNvPr>
          <p:cNvSpPr>
            <a:spLocks noGrp="1"/>
          </p:cNvSpPr>
          <p:nvPr>
            <p:ph type="sldNum" sz="quarter" idx="5"/>
          </p:nvPr>
        </p:nvSpPr>
        <p:spPr/>
        <p:txBody>
          <a:bodyPr/>
          <a:lstStyle/>
          <a:p>
            <a:fld id="{C9924BDF-58BE-4F0A-81E7-1ED057B91AE9}" type="slidenum">
              <a:rPr lang="fr-FR" smtClean="0"/>
              <a:t>29</a:t>
            </a:fld>
            <a:endParaRPr lang="fr-FR"/>
          </a:p>
        </p:txBody>
      </p:sp>
    </p:spTree>
    <p:extLst>
      <p:ext uri="{BB962C8B-B14F-4D97-AF65-F5344CB8AC3E}">
        <p14:creationId xmlns:p14="http://schemas.microsoft.com/office/powerpoint/2010/main" val="32637003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DF778-8B69-5860-7EAE-D162694223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C11C80B-407D-6C42-A00A-5136A304CDE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C48B97E-FC02-3E85-2589-62CDB497C90A}"/>
              </a:ext>
            </a:extLst>
          </p:cNvPr>
          <p:cNvSpPr>
            <a:spLocks noGrp="1"/>
          </p:cNvSpPr>
          <p:nvPr>
            <p:ph type="body" idx="1"/>
          </p:nvPr>
        </p:nvSpPr>
        <p:spPr/>
        <p:txBody>
          <a:bodyPr/>
          <a:lstStyle/>
          <a:p>
            <a:r>
              <a:rPr lang="fr-FR"/>
              <a:t>L’enrichissement devrait être laissé au domaine qui le </a:t>
            </a:r>
            <a:r>
              <a:rPr lang="fr-FR" err="1"/>
              <a:t>requiet</a:t>
            </a:r>
            <a:r>
              <a:rPr lang="fr-FR"/>
              <a:t>.</a:t>
            </a:r>
          </a:p>
          <a:p>
            <a:endParaRPr lang="fr-FR"/>
          </a:p>
        </p:txBody>
      </p:sp>
      <p:sp>
        <p:nvSpPr>
          <p:cNvPr id="4" name="Espace réservé du numéro de diapositive 3">
            <a:extLst>
              <a:ext uri="{FF2B5EF4-FFF2-40B4-BE49-F238E27FC236}">
                <a16:creationId xmlns:a16="http://schemas.microsoft.com/office/drawing/2014/main" id="{AC3FFD3D-A781-677D-4FAD-D252C935048C}"/>
              </a:ext>
            </a:extLst>
          </p:cNvPr>
          <p:cNvSpPr>
            <a:spLocks noGrp="1"/>
          </p:cNvSpPr>
          <p:nvPr>
            <p:ph type="sldNum" sz="quarter" idx="5"/>
          </p:nvPr>
        </p:nvSpPr>
        <p:spPr/>
        <p:txBody>
          <a:bodyPr/>
          <a:lstStyle/>
          <a:p>
            <a:fld id="{C9924BDF-58BE-4F0A-81E7-1ED057B91AE9}" type="slidenum">
              <a:rPr lang="fr-FR" smtClean="0"/>
              <a:t>30</a:t>
            </a:fld>
            <a:endParaRPr lang="fr-FR"/>
          </a:p>
        </p:txBody>
      </p:sp>
    </p:spTree>
    <p:extLst>
      <p:ext uri="{BB962C8B-B14F-4D97-AF65-F5344CB8AC3E}">
        <p14:creationId xmlns:p14="http://schemas.microsoft.com/office/powerpoint/2010/main" val="39607586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E77A3-E364-C720-683B-01EA1B63A5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E68156-02E3-CB3B-1064-257D0E7AEF5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57328F-5C2E-FF0D-BA0D-B0E77FABA660}"/>
              </a:ext>
            </a:extLst>
          </p:cNvPr>
          <p:cNvSpPr>
            <a:spLocks noGrp="1"/>
          </p:cNvSpPr>
          <p:nvPr>
            <p:ph type="body" idx="1"/>
          </p:nvPr>
        </p:nvSpPr>
        <p:spPr/>
        <p:txBody>
          <a:bodyPr/>
          <a:lstStyle/>
          <a:p>
            <a:r>
              <a:rPr lang="fr-FR"/>
              <a:t>L’enrichissement devrait être laissé au domaine qui le </a:t>
            </a:r>
            <a:r>
              <a:rPr lang="fr-FR" err="1"/>
              <a:t>requiet</a:t>
            </a:r>
            <a:r>
              <a:rPr lang="fr-FR"/>
              <a:t>.</a:t>
            </a:r>
          </a:p>
          <a:p>
            <a:endParaRPr lang="fr-FR"/>
          </a:p>
        </p:txBody>
      </p:sp>
      <p:sp>
        <p:nvSpPr>
          <p:cNvPr id="4" name="Espace réservé du numéro de diapositive 3">
            <a:extLst>
              <a:ext uri="{FF2B5EF4-FFF2-40B4-BE49-F238E27FC236}">
                <a16:creationId xmlns:a16="http://schemas.microsoft.com/office/drawing/2014/main" id="{7D45C22E-B105-E0B8-E66A-B25EBD0ECEDC}"/>
              </a:ext>
            </a:extLst>
          </p:cNvPr>
          <p:cNvSpPr>
            <a:spLocks noGrp="1"/>
          </p:cNvSpPr>
          <p:nvPr>
            <p:ph type="sldNum" sz="quarter" idx="5"/>
          </p:nvPr>
        </p:nvSpPr>
        <p:spPr/>
        <p:txBody>
          <a:bodyPr/>
          <a:lstStyle/>
          <a:p>
            <a:fld id="{C9924BDF-58BE-4F0A-81E7-1ED057B91AE9}" type="slidenum">
              <a:rPr lang="fr-FR" smtClean="0"/>
              <a:t>31</a:t>
            </a:fld>
            <a:endParaRPr lang="fr-FR"/>
          </a:p>
        </p:txBody>
      </p:sp>
    </p:spTree>
    <p:extLst>
      <p:ext uri="{BB962C8B-B14F-4D97-AF65-F5344CB8AC3E}">
        <p14:creationId xmlns:p14="http://schemas.microsoft.com/office/powerpoint/2010/main" val="2495520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1C85A-9421-3957-75B9-9C78D388F0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58A03A-AB4F-55AE-47EB-3B81109B15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7AF579F-571F-12D3-3D86-78D5AF8F710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ADA8F61-72F0-2EF6-62AB-92267C5E644D}"/>
              </a:ext>
            </a:extLst>
          </p:cNvPr>
          <p:cNvSpPr>
            <a:spLocks noGrp="1"/>
          </p:cNvSpPr>
          <p:nvPr>
            <p:ph type="sldNum" sz="quarter" idx="5"/>
          </p:nvPr>
        </p:nvSpPr>
        <p:spPr/>
        <p:txBody>
          <a:bodyPr/>
          <a:lstStyle/>
          <a:p>
            <a:fld id="{C9924BDF-58BE-4F0A-81E7-1ED057B91AE9}" type="slidenum">
              <a:rPr lang="fr-FR" smtClean="0"/>
              <a:t>32</a:t>
            </a:fld>
            <a:endParaRPr lang="fr-FR"/>
          </a:p>
        </p:txBody>
      </p:sp>
    </p:spTree>
    <p:extLst>
      <p:ext uri="{BB962C8B-B14F-4D97-AF65-F5344CB8AC3E}">
        <p14:creationId xmlns:p14="http://schemas.microsoft.com/office/powerpoint/2010/main" val="1025536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B135A-2216-4865-4160-3707EED887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F491BF-CE4B-4C3A-B0F2-2C7E8C2D8C8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E60BDD6-00C1-CBD1-E10C-39FD1311E7D4}"/>
              </a:ext>
            </a:extLst>
          </p:cNvPr>
          <p:cNvSpPr>
            <a:spLocks noGrp="1"/>
          </p:cNvSpPr>
          <p:nvPr>
            <p:ph type="body" idx="1"/>
          </p:nvPr>
        </p:nvSpPr>
        <p:spPr/>
        <p:txBody>
          <a:bodyPr/>
          <a:lstStyle/>
          <a:p>
            <a:pPr>
              <a:spcBef>
                <a:spcPts val="600"/>
              </a:spcBef>
              <a:buClr>
                <a:schemeClr val="tx2">
                  <a:lumMod val="60000"/>
                  <a:lumOff val="40000"/>
                </a:schemeClr>
              </a:buClr>
            </a:pPr>
            <a:r>
              <a:rPr lang="fr-FR" sz="1200" b="1">
                <a:solidFill>
                  <a:schemeClr val="tx2"/>
                </a:solidFill>
                <a:latin typeface="Arial" pitchFamily="34" charset="0"/>
                <a:cs typeface="Arial" pitchFamily="34" charset="0"/>
              </a:rPr>
              <a:t>Syntaxe</a:t>
            </a:r>
            <a:r>
              <a:rPr lang="fr-FR" sz="1200">
                <a:solidFill>
                  <a:schemeClr val="tx1"/>
                </a:solidFill>
                <a:latin typeface="Arial" pitchFamily="34" charset="0"/>
                <a:cs typeface="Arial" pitchFamily="34" charset="0"/>
              </a:rPr>
              <a:t> : Envoyer du courrier via l’usage de lettres timbrées de formats multiples</a:t>
            </a:r>
          </a:p>
          <a:p>
            <a:pPr>
              <a:spcBef>
                <a:spcPts val="600"/>
              </a:spcBef>
              <a:buClr>
                <a:schemeClr val="tx2">
                  <a:lumMod val="60000"/>
                  <a:lumOff val="40000"/>
                </a:schemeClr>
              </a:buClr>
            </a:pPr>
            <a:r>
              <a:rPr lang="fr-FR" sz="1200" b="1">
                <a:solidFill>
                  <a:schemeClr val="tx2"/>
                </a:solidFill>
                <a:latin typeface="Arial" pitchFamily="34" charset="0"/>
                <a:cs typeface="Arial" pitchFamily="34" charset="0"/>
              </a:rPr>
              <a:t>Sémantique</a:t>
            </a:r>
            <a:r>
              <a:rPr lang="fr-FR" sz="1200">
                <a:solidFill>
                  <a:schemeClr val="tx1"/>
                </a:solidFill>
                <a:latin typeface="Arial" pitchFamily="34" charset="0"/>
                <a:cs typeface="Arial" pitchFamily="34" charset="0"/>
              </a:rPr>
              <a:t> : Lettres au-dessus d’un certain format sont considérées comme des colis</a:t>
            </a:r>
          </a:p>
          <a:p>
            <a:pPr>
              <a:spcBef>
                <a:spcPts val="600"/>
              </a:spcBef>
              <a:buClr>
                <a:schemeClr val="tx2">
                  <a:lumMod val="60000"/>
                  <a:lumOff val="40000"/>
                </a:schemeClr>
              </a:buClr>
            </a:pPr>
            <a:r>
              <a:rPr lang="fr-FR" sz="1200" b="1">
                <a:solidFill>
                  <a:schemeClr val="tx2"/>
                </a:solidFill>
                <a:latin typeface="Arial" pitchFamily="34" charset="0"/>
                <a:cs typeface="Arial" pitchFamily="34" charset="0"/>
              </a:rPr>
              <a:t>SLA</a:t>
            </a:r>
            <a:r>
              <a:rPr lang="fr-FR" sz="1200">
                <a:solidFill>
                  <a:schemeClr val="tx1"/>
                </a:solidFill>
                <a:latin typeface="Arial" pitchFamily="34" charset="0"/>
                <a:cs typeface="Arial" pitchFamily="34" charset="0"/>
              </a:rPr>
              <a:t> : Acheminement sous 2 jours en utilisant un timbre vert</a:t>
            </a:r>
          </a:p>
          <a:p>
            <a:endParaRPr lang="fr-FR"/>
          </a:p>
        </p:txBody>
      </p:sp>
      <p:sp>
        <p:nvSpPr>
          <p:cNvPr id="4" name="Espace réservé du numéro de diapositive 3">
            <a:extLst>
              <a:ext uri="{FF2B5EF4-FFF2-40B4-BE49-F238E27FC236}">
                <a16:creationId xmlns:a16="http://schemas.microsoft.com/office/drawing/2014/main" id="{DCF4362C-B458-495B-57CF-F6E37F3440A1}"/>
              </a:ext>
            </a:extLst>
          </p:cNvPr>
          <p:cNvSpPr>
            <a:spLocks noGrp="1"/>
          </p:cNvSpPr>
          <p:nvPr>
            <p:ph type="sldNum" sz="quarter" idx="5"/>
          </p:nvPr>
        </p:nvSpPr>
        <p:spPr/>
        <p:txBody>
          <a:bodyPr/>
          <a:lstStyle/>
          <a:p>
            <a:fld id="{C9924BDF-58BE-4F0A-81E7-1ED057B91AE9}" type="slidenum">
              <a:rPr lang="fr-FR" smtClean="0"/>
              <a:t>33</a:t>
            </a:fld>
            <a:endParaRPr lang="fr-FR"/>
          </a:p>
        </p:txBody>
      </p:sp>
    </p:spTree>
    <p:extLst>
      <p:ext uri="{BB962C8B-B14F-4D97-AF65-F5344CB8AC3E}">
        <p14:creationId xmlns:p14="http://schemas.microsoft.com/office/powerpoint/2010/main" val="12673337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DF488-5CC4-32FD-44BD-249D3A357E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BCDC9D-6485-DEEF-456B-D2520CB16BC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A48BDE-102F-A6B5-8CBF-0525782C59E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85F3695-C270-7DCB-8E2F-45B4695FE69B}"/>
              </a:ext>
            </a:extLst>
          </p:cNvPr>
          <p:cNvSpPr>
            <a:spLocks noGrp="1"/>
          </p:cNvSpPr>
          <p:nvPr>
            <p:ph type="sldNum" sz="quarter" idx="5"/>
          </p:nvPr>
        </p:nvSpPr>
        <p:spPr/>
        <p:txBody>
          <a:bodyPr/>
          <a:lstStyle/>
          <a:p>
            <a:fld id="{C9924BDF-58BE-4F0A-81E7-1ED057B91AE9}" type="slidenum">
              <a:rPr lang="fr-FR" smtClean="0"/>
              <a:t>34</a:t>
            </a:fld>
            <a:endParaRPr lang="fr-FR"/>
          </a:p>
        </p:txBody>
      </p:sp>
    </p:spTree>
    <p:extLst>
      <p:ext uri="{BB962C8B-B14F-4D97-AF65-F5344CB8AC3E}">
        <p14:creationId xmlns:p14="http://schemas.microsoft.com/office/powerpoint/2010/main" val="37373041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6AD59-FB05-22C8-BEF1-97954BA3767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DCD215-0634-6FD5-5CEA-DD3EF3A66C3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B60CC5-7BFE-A449-21C1-6DB781DAAE8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6959AA5-82D6-9FE5-E8A2-68375DA74D52}"/>
              </a:ext>
            </a:extLst>
          </p:cNvPr>
          <p:cNvSpPr>
            <a:spLocks noGrp="1"/>
          </p:cNvSpPr>
          <p:nvPr>
            <p:ph type="sldNum" sz="quarter" idx="5"/>
          </p:nvPr>
        </p:nvSpPr>
        <p:spPr/>
        <p:txBody>
          <a:bodyPr/>
          <a:lstStyle/>
          <a:p>
            <a:fld id="{C9924BDF-58BE-4F0A-81E7-1ED057B91AE9}" type="slidenum">
              <a:rPr lang="fr-FR" smtClean="0"/>
              <a:t>35</a:t>
            </a:fld>
            <a:endParaRPr lang="fr-FR"/>
          </a:p>
        </p:txBody>
      </p:sp>
    </p:spTree>
    <p:extLst>
      <p:ext uri="{BB962C8B-B14F-4D97-AF65-F5344CB8AC3E}">
        <p14:creationId xmlns:p14="http://schemas.microsoft.com/office/powerpoint/2010/main" val="35257895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79CAA-4BA2-04B7-EF01-99A40256EF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F96093D-400F-AFB0-AE78-40E8FB026BF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FEDE666-E92C-2416-BE33-204BA90E522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E810854-A258-A047-19DE-C2DBC8A08983}"/>
              </a:ext>
            </a:extLst>
          </p:cNvPr>
          <p:cNvSpPr>
            <a:spLocks noGrp="1"/>
          </p:cNvSpPr>
          <p:nvPr>
            <p:ph type="sldNum" sz="quarter" idx="5"/>
          </p:nvPr>
        </p:nvSpPr>
        <p:spPr/>
        <p:txBody>
          <a:bodyPr/>
          <a:lstStyle/>
          <a:p>
            <a:fld id="{C9924BDF-58BE-4F0A-81E7-1ED057B91AE9}" type="slidenum">
              <a:rPr lang="fr-FR" smtClean="0"/>
              <a:t>36</a:t>
            </a:fld>
            <a:endParaRPr lang="fr-FR"/>
          </a:p>
        </p:txBody>
      </p:sp>
    </p:spTree>
    <p:extLst>
      <p:ext uri="{BB962C8B-B14F-4D97-AF65-F5344CB8AC3E}">
        <p14:creationId xmlns:p14="http://schemas.microsoft.com/office/powerpoint/2010/main" val="3867911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6A2E0-4CBE-8F5A-A88D-6B24EF47D9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B19011-4D14-4E0E-0F6E-672A774EE20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62F1D9-901D-0300-3403-1A3D8499C944}"/>
              </a:ext>
            </a:extLst>
          </p:cNvPr>
          <p:cNvSpPr>
            <a:spLocks noGrp="1"/>
          </p:cNvSpPr>
          <p:nvPr>
            <p:ph type="body" idx="1"/>
          </p:nvPr>
        </p:nvSpPr>
        <p:spPr/>
        <p:txBody>
          <a:bodyPr/>
          <a:lstStyle/>
          <a:p>
            <a:r>
              <a:rPr lang="fr-FR" b="1"/>
              <a:t>Violation de la séparation des responsabilités</a:t>
            </a:r>
          </a:p>
          <a:p>
            <a:pPr>
              <a:buFont typeface="Arial" panose="020B0604020202020204" pitchFamily="34" charset="0"/>
              <a:buChar char="•"/>
            </a:pPr>
            <a:r>
              <a:rPr lang="fr-FR"/>
              <a:t>La couche de médiation est censée gérer uniquement la communication et l'intégration entre les systèmes. En ajoutant du code métier dans cette couche, on mélange deux responsabilités : la médiation (ou l'intégration) et la logique métier.</a:t>
            </a:r>
          </a:p>
          <a:p>
            <a:pPr>
              <a:buFont typeface="Arial" panose="020B0604020202020204" pitchFamily="34" charset="0"/>
              <a:buChar char="•"/>
            </a:pPr>
            <a:r>
              <a:rPr lang="fr-FR"/>
              <a:t>Cela peut rendre le code moins modulaire et plus difficile à maintenir, car la couche de médiation n'est pas initialement conçue pour gérer les règles métier. La logique métier devrait idéalement être contenue dans une couche dédiée pour assurer une séparation claire.</a:t>
            </a:r>
          </a:p>
          <a:p>
            <a:r>
              <a:rPr lang="fr-FR" b="1"/>
              <a:t>2. Complexité accrue de la couche de médiation</a:t>
            </a:r>
          </a:p>
          <a:p>
            <a:pPr>
              <a:buFont typeface="Arial" panose="020B0604020202020204" pitchFamily="34" charset="0"/>
              <a:buChar char="•"/>
            </a:pPr>
            <a:r>
              <a:rPr lang="fr-FR"/>
              <a:t>La couche de médiation est déjà responsable de la transformation, du routage, et de l'orchestration des messages entre les systèmes. En y ajoutant de la logique métier, on augmente sa complexité, ce qui peut rendre le code plus difficile à comprendre, à tester et à déboguer.</a:t>
            </a:r>
          </a:p>
          <a:p>
            <a:pPr>
              <a:buFont typeface="Arial" panose="020B0604020202020204" pitchFamily="34" charset="0"/>
              <a:buChar char="•"/>
            </a:pPr>
            <a:r>
              <a:rPr lang="fr-FR"/>
              <a:t>Cette complexité peut également mener à une augmentation des erreurs et des difficultés de mise à jour de la couche de médiation, car toute modification du code métier dans cette couche peut impacter le comportement d'intégration et vice versa.</a:t>
            </a:r>
          </a:p>
          <a:p>
            <a:r>
              <a:rPr lang="fr-FR" b="1"/>
              <a:t>3. Difficultés de maintenance et de mise à jour</a:t>
            </a:r>
          </a:p>
          <a:p>
            <a:pPr>
              <a:buFont typeface="Arial" panose="020B0604020202020204" pitchFamily="34" charset="0"/>
              <a:buChar char="•"/>
            </a:pPr>
            <a:r>
              <a:rPr lang="fr-FR"/>
              <a:t>Lorsque la logique métier est placée dans la couche de médiation, toute modification de cette logique peut nécessiter des changements importants dans les flux d'intégration. Cela rend les mises à jour plus complexes et moins modulaires.</a:t>
            </a:r>
          </a:p>
          <a:p>
            <a:pPr>
              <a:buFont typeface="Arial" panose="020B0604020202020204" pitchFamily="34" charset="0"/>
              <a:buChar char="•"/>
            </a:pPr>
            <a:r>
              <a:rPr lang="fr-FR"/>
              <a:t>De plus, en cas de changements fréquents dans les règles métier, l'augmentation de la complexité de la couche de médiation pourrait rallonger les cycles de développement, rendant la maintenance plus coûteuse et plus chronophage.</a:t>
            </a:r>
          </a:p>
          <a:p>
            <a:r>
              <a:rPr lang="fr-FR" b="1"/>
              <a:t>4. Problèmes de performance</a:t>
            </a:r>
          </a:p>
          <a:p>
            <a:pPr>
              <a:buFont typeface="Arial" panose="020B0604020202020204" pitchFamily="34" charset="0"/>
              <a:buChar char="•"/>
            </a:pPr>
            <a:r>
              <a:rPr lang="fr-FR"/>
              <a:t>La couche de médiation peut être utilisée pour orchestrer des appels à différents services, souvent via des API ou des </a:t>
            </a:r>
            <a:r>
              <a:rPr lang="fr-FR" err="1"/>
              <a:t>microservices</a:t>
            </a:r>
            <a:r>
              <a:rPr lang="fr-FR"/>
              <a:t>. Si on y ajoute des règles métier complexes, cela peut ralentir les traitements, car la couche de médiation pourrait alors devenir un point de goulet d'étranglement.</a:t>
            </a:r>
          </a:p>
          <a:p>
            <a:pPr>
              <a:buFont typeface="Arial" panose="020B0604020202020204" pitchFamily="34" charset="0"/>
              <a:buChar char="•"/>
            </a:pPr>
            <a:r>
              <a:rPr lang="fr-FR"/>
              <a:t>Parfois, les règles métier nécessitent des traitements intensifs (comme des calculs complexes ou des validations multiples) qui sont plus adaptés à une couche métier dédiée qu'à la couche de médiation.</a:t>
            </a:r>
          </a:p>
          <a:p>
            <a:r>
              <a:rPr lang="fr-FR" b="1"/>
              <a:t>5. Perte de réutilisabilité</a:t>
            </a:r>
          </a:p>
          <a:p>
            <a:pPr>
              <a:buFont typeface="Arial" panose="020B0604020202020204" pitchFamily="34" charset="0"/>
              <a:buChar char="•"/>
            </a:pPr>
            <a:r>
              <a:rPr lang="fr-FR"/>
              <a:t>En plaçant la logique métier dans la couche de médiation, celle-ci devient moins facilement réutilisable dans d'autres contextes. Par exemple, si une règle métier doit être utilisée directement par une interface utilisateur ou un autre service, il devient compliqué d'accéder à cette logique si elle est enfermée dans la couche de médiation.</a:t>
            </a:r>
          </a:p>
          <a:p>
            <a:pPr>
              <a:buFont typeface="Arial" panose="020B0604020202020204" pitchFamily="34" charset="0"/>
              <a:buChar char="•"/>
            </a:pPr>
            <a:r>
              <a:rPr lang="fr-FR"/>
              <a:t>Cela limite également la flexibilité pour adapter ou étendre la logique métier dans d'autres modules, car la logique est alors étroitement liée aux processus d'intégration.</a:t>
            </a:r>
          </a:p>
          <a:p>
            <a:r>
              <a:rPr lang="fr-FR" b="1"/>
              <a:t>6. Risques de manque de testabilité et de transparence</a:t>
            </a:r>
          </a:p>
          <a:p>
            <a:pPr>
              <a:buFont typeface="Arial" panose="020B0604020202020204" pitchFamily="34" charset="0"/>
              <a:buChar char="•"/>
            </a:pPr>
            <a:r>
              <a:rPr lang="fr-FR"/>
              <a:t>La couche de médiation étant conçue pour gérer les flux d'intégration, elle est généralement moins adaptée pour héberger des règles métier complexes qui nécessitent des tests unitaires ou des tests d'intégration poussés.</a:t>
            </a:r>
          </a:p>
          <a:p>
            <a:pPr>
              <a:buFont typeface="Arial" panose="020B0604020202020204" pitchFamily="34" charset="0"/>
              <a:buChar char="•"/>
            </a:pPr>
            <a:r>
              <a:rPr lang="fr-FR"/>
              <a:t>Les outils de médiation peuvent parfois manquer de flexibilité pour tester de manière isolée les règles métier, rendant les tests plus complexes et limitant la transparence sur le fonctionnement de la logique métier.</a:t>
            </a:r>
          </a:p>
          <a:p>
            <a:r>
              <a:rPr lang="fr-FR" b="1"/>
              <a:t>7. Problèmes de sécurité et de conformité</a:t>
            </a:r>
          </a:p>
          <a:p>
            <a:pPr>
              <a:buFont typeface="Arial" panose="020B0604020202020204" pitchFamily="34" charset="0"/>
              <a:buChar char="•"/>
            </a:pPr>
            <a:r>
              <a:rPr lang="fr-FR"/>
              <a:t>La logique métier peut inclure des règles de sécurité et de conformité importantes, et une mauvaise gestion de ces règles dans une couche de médiation peut mener à des failles de sécurité.</a:t>
            </a:r>
          </a:p>
          <a:p>
            <a:pPr>
              <a:buFont typeface="Arial" panose="020B0604020202020204" pitchFamily="34" charset="0"/>
              <a:buChar char="•"/>
            </a:pPr>
            <a:r>
              <a:rPr lang="fr-FR"/>
              <a:t>Si la couche de médiation est responsable de gérer à la fois la sécurité, les règles métier et les flux d'intégration, cela augmente le risque d'oubli ou de mauvaise application des politiques de conformité et de sécurité, ce qui peut poser des risques importants pour l'entreprise.</a:t>
            </a:r>
          </a:p>
          <a:p>
            <a:endParaRPr lang="fr-FR"/>
          </a:p>
        </p:txBody>
      </p:sp>
      <p:sp>
        <p:nvSpPr>
          <p:cNvPr id="4" name="Espace réservé du numéro de diapositive 3">
            <a:extLst>
              <a:ext uri="{FF2B5EF4-FFF2-40B4-BE49-F238E27FC236}">
                <a16:creationId xmlns:a16="http://schemas.microsoft.com/office/drawing/2014/main" id="{A338C6E5-EF82-DD7F-A636-1D23091B47C1}"/>
              </a:ext>
            </a:extLst>
          </p:cNvPr>
          <p:cNvSpPr>
            <a:spLocks noGrp="1"/>
          </p:cNvSpPr>
          <p:nvPr>
            <p:ph type="sldNum" sz="quarter" idx="5"/>
          </p:nvPr>
        </p:nvSpPr>
        <p:spPr/>
        <p:txBody>
          <a:bodyPr/>
          <a:lstStyle/>
          <a:p>
            <a:fld id="{C9924BDF-58BE-4F0A-81E7-1ED057B91AE9}" type="slidenum">
              <a:rPr lang="fr-FR" smtClean="0"/>
              <a:t>37</a:t>
            </a:fld>
            <a:endParaRPr lang="fr-FR"/>
          </a:p>
        </p:txBody>
      </p:sp>
    </p:spTree>
    <p:extLst>
      <p:ext uri="{BB962C8B-B14F-4D97-AF65-F5344CB8AC3E}">
        <p14:creationId xmlns:p14="http://schemas.microsoft.com/office/powerpoint/2010/main" val="38724651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93556-4E4E-A49A-5393-59E5D92BFE3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6668E9-69A9-0948-18CB-017C416DC63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AD8F978-16EC-50DA-70C0-78AD57EBDAE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8BFD7C0-2E11-D1E5-D68E-CB79D9058CC2}"/>
              </a:ext>
            </a:extLst>
          </p:cNvPr>
          <p:cNvSpPr>
            <a:spLocks noGrp="1"/>
          </p:cNvSpPr>
          <p:nvPr>
            <p:ph type="sldNum" sz="quarter" idx="5"/>
          </p:nvPr>
        </p:nvSpPr>
        <p:spPr/>
        <p:txBody>
          <a:bodyPr/>
          <a:lstStyle/>
          <a:p>
            <a:fld id="{C9924BDF-58BE-4F0A-81E7-1ED057B91AE9}" type="slidenum">
              <a:rPr lang="fr-FR" smtClean="0"/>
              <a:t>38</a:t>
            </a:fld>
            <a:endParaRPr lang="fr-FR"/>
          </a:p>
        </p:txBody>
      </p:sp>
    </p:spTree>
    <p:extLst>
      <p:ext uri="{BB962C8B-B14F-4D97-AF65-F5344CB8AC3E}">
        <p14:creationId xmlns:p14="http://schemas.microsoft.com/office/powerpoint/2010/main" val="2851527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C2EE1-B9F2-A6DA-2467-5EA6378023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561FDF-A344-1269-A667-1BC2933E67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68FC85-7634-F508-D168-881216C55F6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EAE316B-8FC4-8809-5747-DA53180CA6E4}"/>
              </a:ext>
            </a:extLst>
          </p:cNvPr>
          <p:cNvSpPr>
            <a:spLocks noGrp="1"/>
          </p:cNvSpPr>
          <p:nvPr>
            <p:ph type="sldNum" sz="quarter" idx="5"/>
          </p:nvPr>
        </p:nvSpPr>
        <p:spPr/>
        <p:txBody>
          <a:bodyPr/>
          <a:lstStyle/>
          <a:p>
            <a:fld id="{C9924BDF-58BE-4F0A-81E7-1ED057B91AE9}" type="slidenum">
              <a:rPr lang="fr-FR" smtClean="0"/>
              <a:t>39</a:t>
            </a:fld>
            <a:endParaRPr lang="fr-FR"/>
          </a:p>
        </p:txBody>
      </p:sp>
    </p:spTree>
    <p:extLst>
      <p:ext uri="{BB962C8B-B14F-4D97-AF65-F5344CB8AC3E}">
        <p14:creationId xmlns:p14="http://schemas.microsoft.com/office/powerpoint/2010/main" val="34478840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75F11-8F0E-FB26-DCC5-C3B1CC21870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B910E2-3191-008B-1EC0-D9F40B80870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A2D476D-9159-AE82-5A5B-557C267105C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1CA3875-E4C5-ACE4-DF40-6E4A6AB2666B}"/>
              </a:ext>
            </a:extLst>
          </p:cNvPr>
          <p:cNvSpPr>
            <a:spLocks noGrp="1"/>
          </p:cNvSpPr>
          <p:nvPr>
            <p:ph type="sldNum" sz="quarter" idx="5"/>
          </p:nvPr>
        </p:nvSpPr>
        <p:spPr/>
        <p:txBody>
          <a:bodyPr/>
          <a:lstStyle/>
          <a:p>
            <a:fld id="{C9924BDF-58BE-4F0A-81E7-1ED057B91AE9}" type="slidenum">
              <a:rPr lang="fr-FR" smtClean="0"/>
              <a:t>40</a:t>
            </a:fld>
            <a:endParaRPr lang="fr-FR"/>
          </a:p>
        </p:txBody>
      </p:sp>
    </p:spTree>
    <p:extLst>
      <p:ext uri="{BB962C8B-B14F-4D97-AF65-F5344CB8AC3E}">
        <p14:creationId xmlns:p14="http://schemas.microsoft.com/office/powerpoint/2010/main" val="16718429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86DB1-4D7C-A7E7-C5DA-6BC1BD47AC8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902F2C-7E48-D644-9105-A2ED55B2115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C622D90-F806-7434-119B-994E95B7F41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15FBB5F-C20E-FFD7-3F4B-14C13789D63F}"/>
              </a:ext>
            </a:extLst>
          </p:cNvPr>
          <p:cNvSpPr>
            <a:spLocks noGrp="1"/>
          </p:cNvSpPr>
          <p:nvPr>
            <p:ph type="sldNum" sz="quarter" idx="5"/>
          </p:nvPr>
        </p:nvSpPr>
        <p:spPr/>
        <p:txBody>
          <a:bodyPr/>
          <a:lstStyle/>
          <a:p>
            <a:fld id="{C9924BDF-58BE-4F0A-81E7-1ED057B91AE9}" type="slidenum">
              <a:rPr lang="fr-FR" smtClean="0"/>
              <a:t>41</a:t>
            </a:fld>
            <a:endParaRPr lang="fr-FR"/>
          </a:p>
        </p:txBody>
      </p:sp>
    </p:spTree>
    <p:extLst>
      <p:ext uri="{BB962C8B-B14F-4D97-AF65-F5344CB8AC3E}">
        <p14:creationId xmlns:p14="http://schemas.microsoft.com/office/powerpoint/2010/main" val="34044136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DF09-981F-66B5-66BE-7539E9094D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3A80822-FF74-78B9-E43D-BA381471170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88FCC86-FD44-890C-272C-9584EACD3C1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7DA63A7-A2D2-F9E8-0A3D-C064CE02BA3B}"/>
              </a:ext>
            </a:extLst>
          </p:cNvPr>
          <p:cNvSpPr>
            <a:spLocks noGrp="1"/>
          </p:cNvSpPr>
          <p:nvPr>
            <p:ph type="sldNum" sz="quarter" idx="5"/>
          </p:nvPr>
        </p:nvSpPr>
        <p:spPr/>
        <p:txBody>
          <a:bodyPr/>
          <a:lstStyle/>
          <a:p>
            <a:fld id="{C9924BDF-58BE-4F0A-81E7-1ED057B91AE9}" type="slidenum">
              <a:rPr lang="fr-FR" smtClean="0"/>
              <a:t>42</a:t>
            </a:fld>
            <a:endParaRPr lang="fr-FR"/>
          </a:p>
        </p:txBody>
      </p:sp>
    </p:spTree>
    <p:extLst>
      <p:ext uri="{BB962C8B-B14F-4D97-AF65-F5344CB8AC3E}">
        <p14:creationId xmlns:p14="http://schemas.microsoft.com/office/powerpoint/2010/main" val="31247126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B652-9562-37C7-8995-C559BEAB4E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A8138B-6760-FED1-A647-0D3944CED44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BB46BE1-9B57-5929-D347-8F5EAA1D1CF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A93F081-0B86-AC1B-3915-B3440A978505}"/>
              </a:ext>
            </a:extLst>
          </p:cNvPr>
          <p:cNvSpPr>
            <a:spLocks noGrp="1"/>
          </p:cNvSpPr>
          <p:nvPr>
            <p:ph type="sldNum" sz="quarter" idx="5"/>
          </p:nvPr>
        </p:nvSpPr>
        <p:spPr/>
        <p:txBody>
          <a:bodyPr/>
          <a:lstStyle/>
          <a:p>
            <a:fld id="{C9924BDF-58BE-4F0A-81E7-1ED057B91AE9}" type="slidenum">
              <a:rPr lang="fr-FR" smtClean="0"/>
              <a:t>43</a:t>
            </a:fld>
            <a:endParaRPr lang="fr-FR"/>
          </a:p>
        </p:txBody>
      </p:sp>
    </p:spTree>
    <p:extLst>
      <p:ext uri="{BB962C8B-B14F-4D97-AF65-F5344CB8AC3E}">
        <p14:creationId xmlns:p14="http://schemas.microsoft.com/office/powerpoint/2010/main" val="7376588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88145-3713-B2BD-AF4B-37CD012306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453927-01B9-77F7-731D-FCAC89CBE23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71EC1C-7451-8388-7A85-2FCDA502341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B60BD2F-9E8B-0299-EB17-0305C63ECF84}"/>
              </a:ext>
            </a:extLst>
          </p:cNvPr>
          <p:cNvSpPr>
            <a:spLocks noGrp="1"/>
          </p:cNvSpPr>
          <p:nvPr>
            <p:ph type="sldNum" sz="quarter" idx="5"/>
          </p:nvPr>
        </p:nvSpPr>
        <p:spPr/>
        <p:txBody>
          <a:bodyPr/>
          <a:lstStyle/>
          <a:p>
            <a:fld id="{C9924BDF-58BE-4F0A-81E7-1ED057B91AE9}" type="slidenum">
              <a:rPr lang="fr-FR" smtClean="0"/>
              <a:t>44</a:t>
            </a:fld>
            <a:endParaRPr lang="fr-FR"/>
          </a:p>
        </p:txBody>
      </p:sp>
    </p:spTree>
    <p:extLst>
      <p:ext uri="{BB962C8B-B14F-4D97-AF65-F5344CB8AC3E}">
        <p14:creationId xmlns:p14="http://schemas.microsoft.com/office/powerpoint/2010/main" val="2401748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svg"/><Relationship Id="rId2" Type="http://schemas.openxmlformats.org/officeDocument/2006/relationships/image" Target="../media/image15.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8.png"/><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p:bg>
      <p:bgPr>
        <a:blipFill dpi="0" rotWithShape="1">
          <a:blip r:embed="rId2">
            <a:lum/>
          </a:blip>
          <a:srcRect/>
          <a:stretch>
            <a:fillRect l="-20000" t="-9000" r="20000" b="-9000"/>
          </a:stretch>
        </a:blipFill>
        <a:effectLst/>
      </p:bgPr>
    </p:bg>
    <p:spTree>
      <p:nvGrpSpPr>
        <p:cNvPr id="1" name=""/>
        <p:cNvGrpSpPr/>
        <p:nvPr/>
      </p:nvGrpSpPr>
      <p:grpSpPr>
        <a:xfrm>
          <a:off x="0" y="0"/>
          <a:ext cx="0" cy="0"/>
          <a:chOff x="0" y="0"/>
          <a:chExt cx="0" cy="0"/>
        </a:xfrm>
      </p:grpSpPr>
      <p:pic>
        <p:nvPicPr>
          <p:cNvPr id="13" name="Graphique 12">
            <a:extLst>
              <a:ext uri="{FF2B5EF4-FFF2-40B4-BE49-F238E27FC236}">
                <a16:creationId xmlns:a16="http://schemas.microsoft.com/office/drawing/2014/main" id="{E003C40C-4420-D9F5-FE78-869CB8A4590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651760" y="0"/>
            <a:ext cx="9540240" cy="6858000"/>
          </a:xfrm>
          <a:prstGeom prst="rect">
            <a:avLst/>
          </a:prstGeom>
        </p:spPr>
      </p:pic>
      <p:sp>
        <p:nvSpPr>
          <p:cNvPr id="2" name="Titre 1">
            <a:extLst>
              <a:ext uri="{FF2B5EF4-FFF2-40B4-BE49-F238E27FC236}">
                <a16:creationId xmlns:a16="http://schemas.microsoft.com/office/drawing/2014/main" id="{9F6855FC-1404-9994-3FF3-77708309751A}"/>
              </a:ext>
            </a:extLst>
          </p:cNvPr>
          <p:cNvSpPr>
            <a:spLocks noGrp="1"/>
          </p:cNvSpPr>
          <p:nvPr>
            <p:ph type="title" hasCustomPrompt="1"/>
          </p:nvPr>
        </p:nvSpPr>
        <p:spPr>
          <a:xfrm>
            <a:off x="6391205" y="2584153"/>
            <a:ext cx="5572195" cy="1477328"/>
          </a:xfrm>
        </p:spPr>
        <p:txBody>
          <a:bodyPr anchor="b" anchorCtr="0">
            <a:spAutoFit/>
          </a:bodyPr>
          <a:lstStyle>
            <a:lvl1pPr>
              <a:defRPr sz="5000">
                <a:solidFill>
                  <a:schemeClr val="bg1"/>
                </a:solidFill>
              </a:defRPr>
            </a:lvl1pPr>
          </a:lstStyle>
          <a:p>
            <a:r>
              <a:rPr lang="fr-FR"/>
              <a:t>Titre de la présentation</a:t>
            </a:r>
          </a:p>
        </p:txBody>
      </p:sp>
      <p:sp>
        <p:nvSpPr>
          <p:cNvPr id="7" name="Espace réservé du texte 6">
            <a:extLst>
              <a:ext uri="{FF2B5EF4-FFF2-40B4-BE49-F238E27FC236}">
                <a16:creationId xmlns:a16="http://schemas.microsoft.com/office/drawing/2014/main" id="{33E54CBA-FFFF-C031-4649-F0FBFE902281}"/>
              </a:ext>
            </a:extLst>
          </p:cNvPr>
          <p:cNvSpPr>
            <a:spLocks noGrp="1"/>
          </p:cNvSpPr>
          <p:nvPr>
            <p:ph type="body" sz="quarter" idx="13" hasCustomPrompt="1"/>
          </p:nvPr>
        </p:nvSpPr>
        <p:spPr>
          <a:xfrm>
            <a:off x="6391204" y="4120914"/>
            <a:ext cx="5572195" cy="563231"/>
          </a:xfrm>
        </p:spPr>
        <p:txBody>
          <a:bodyPr>
            <a:spAutoFit/>
          </a:bodyPr>
          <a:lstStyle>
            <a:lvl1pPr>
              <a:defRPr sz="3400">
                <a:solidFill>
                  <a:schemeClr val="bg1"/>
                </a:solidFill>
              </a:defRPr>
            </a:lvl1pPr>
          </a:lstStyle>
          <a:p>
            <a:pPr lvl="0"/>
            <a:r>
              <a:rPr lang="fr-FR"/>
              <a:t>Sous titre</a:t>
            </a:r>
          </a:p>
        </p:txBody>
      </p:sp>
      <p:pic>
        <p:nvPicPr>
          <p:cNvPr id="9" name="Graphique 8">
            <a:extLst>
              <a:ext uri="{FF2B5EF4-FFF2-40B4-BE49-F238E27FC236}">
                <a16:creationId xmlns:a16="http://schemas.microsoft.com/office/drawing/2014/main" id="{A3200E19-0A90-3D3A-479F-C707C4BD87C0}"/>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rcRect/>
          <a:stretch/>
        </p:blipFill>
        <p:spPr>
          <a:xfrm>
            <a:off x="6472341" y="5846171"/>
            <a:ext cx="1799872" cy="392930"/>
          </a:xfrm>
          <a:prstGeom prst="rect">
            <a:avLst/>
          </a:prstGeom>
        </p:spPr>
      </p:pic>
      <p:pic>
        <p:nvPicPr>
          <p:cNvPr id="11" name="Graphique 10">
            <a:extLst>
              <a:ext uri="{FF2B5EF4-FFF2-40B4-BE49-F238E27FC236}">
                <a16:creationId xmlns:a16="http://schemas.microsoft.com/office/drawing/2014/main" id="{BC2FA4FA-1637-95B0-0117-136CC2464AE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466830" y="574073"/>
            <a:ext cx="1655724" cy="848054"/>
          </a:xfrm>
          <a:prstGeom prst="rect">
            <a:avLst/>
          </a:prstGeom>
        </p:spPr>
      </p:pic>
      <p:sp>
        <p:nvSpPr>
          <p:cNvPr id="3" name="Espace réservé de la date 2">
            <a:extLst>
              <a:ext uri="{FF2B5EF4-FFF2-40B4-BE49-F238E27FC236}">
                <a16:creationId xmlns:a16="http://schemas.microsoft.com/office/drawing/2014/main" id="{1B445B4F-E38C-4B63-9A90-587654C709AD}"/>
              </a:ext>
            </a:extLst>
          </p:cNvPr>
          <p:cNvSpPr>
            <a:spLocks noGrp="1"/>
          </p:cNvSpPr>
          <p:nvPr>
            <p:ph type="dt" sz="half" idx="10"/>
          </p:nvPr>
        </p:nvSpPr>
        <p:spPr>
          <a:xfrm>
            <a:off x="6368273" y="5919525"/>
            <a:ext cx="2008008" cy="246221"/>
          </a:xfrm>
          <a:prstGeom prst="rect">
            <a:avLst/>
          </a:prstGeom>
        </p:spPr>
        <p:txBody>
          <a:bodyPr tIns="0" bIns="0"/>
          <a:lstStyle>
            <a:lvl1pPr algn="ctr">
              <a:defRPr sz="1600">
                <a:solidFill>
                  <a:schemeClr val="bg1"/>
                </a:solidFill>
                <a:latin typeface="+mj-lt"/>
              </a:defRPr>
            </a:lvl1pPr>
          </a:lstStyle>
          <a:p>
            <a:r>
              <a:rPr lang="fr-FR"/>
              <a:t>Juin 2024</a:t>
            </a:r>
          </a:p>
        </p:txBody>
      </p:sp>
      <p:sp>
        <p:nvSpPr>
          <p:cNvPr id="4" name="Espace réservé pour une image  7">
            <a:extLst>
              <a:ext uri="{FF2B5EF4-FFF2-40B4-BE49-F238E27FC236}">
                <a16:creationId xmlns:a16="http://schemas.microsoft.com/office/drawing/2014/main" id="{31D3CBFF-56C3-8F60-D8DA-23D8271A9B11}"/>
              </a:ext>
            </a:extLst>
          </p:cNvPr>
          <p:cNvSpPr>
            <a:spLocks noGrp="1"/>
          </p:cNvSpPr>
          <p:nvPr>
            <p:ph type="pic" sz="quarter" idx="14" hasCustomPrompt="1"/>
          </p:nvPr>
        </p:nvSpPr>
        <p:spPr>
          <a:xfrm>
            <a:off x="8298696" y="574073"/>
            <a:ext cx="1656000" cy="1086285"/>
          </a:xfrm>
        </p:spPr>
        <p:txBody>
          <a:bodyPr/>
          <a:lstStyle>
            <a:lvl1pPr>
              <a:defRPr/>
            </a:lvl1pPr>
          </a:lstStyle>
          <a:p>
            <a:r>
              <a:rPr lang="fr-FR"/>
              <a:t>Votre logo</a:t>
            </a:r>
          </a:p>
        </p:txBody>
      </p:sp>
    </p:spTree>
    <p:extLst>
      <p:ext uri="{BB962C8B-B14F-4D97-AF65-F5344CB8AC3E}">
        <p14:creationId xmlns:p14="http://schemas.microsoft.com/office/powerpoint/2010/main" val="283312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section">
    <p:bg>
      <p:bgPr>
        <a:blipFill dpi="0" rotWithShape="1">
          <a:blip r:embed="rId2">
            <a:lum/>
          </a:blip>
          <a:srcRect/>
          <a:stretch>
            <a:fillRect l="-25000" t="-9000" r="25000" b="-9000"/>
          </a:stretch>
        </a:blipFill>
        <a:effectLst/>
      </p:bgPr>
    </p:bg>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BE485984-223D-75E4-942F-0F603A787B0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1220"/>
            <a:ext cx="12191998" cy="6856780"/>
          </a:xfrm>
          <a:prstGeom prst="rect">
            <a:avLst/>
          </a:prstGeom>
        </p:spPr>
      </p:pic>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6005769" y="3324828"/>
            <a:ext cx="5696237" cy="784830"/>
          </a:xfrm>
        </p:spPr>
        <p:txBody>
          <a:bodyPr/>
          <a:lstStyle>
            <a:lvl1pPr>
              <a:defRPr sz="5000">
                <a:solidFill>
                  <a:schemeClr val="bg1"/>
                </a:solidFill>
              </a:defRPr>
            </a:lvl1pPr>
          </a:lstStyle>
          <a:p>
            <a:r>
              <a:rPr lang="fr-FR"/>
              <a:t>Titre de 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5762703" y="421674"/>
            <a:ext cx="5939304" cy="3216265"/>
          </a:xfrm>
        </p:spPr>
        <p:txBody>
          <a:bodyPr wrap="square" anchor="b" anchorCtr="0">
            <a:spAutoFit/>
          </a:bodyPr>
          <a:lstStyle>
            <a:lvl1pPr>
              <a:lnSpc>
                <a:spcPct val="100000"/>
              </a:lnSpc>
              <a:defRPr sz="20300">
                <a:solidFill>
                  <a:schemeClr val="bg1"/>
                </a:solidFill>
                <a:latin typeface="+mj-lt"/>
              </a:defRPr>
            </a:lvl1pPr>
          </a:lstStyle>
          <a:p>
            <a:pPr lvl="0"/>
            <a:r>
              <a:rPr lang="fr-FR"/>
              <a:t>01</a:t>
            </a:r>
          </a:p>
        </p:txBody>
      </p:sp>
      <p:pic>
        <p:nvPicPr>
          <p:cNvPr id="12" name="Graphique 11">
            <a:extLst>
              <a:ext uri="{FF2B5EF4-FFF2-40B4-BE49-F238E27FC236}">
                <a16:creationId xmlns:a16="http://schemas.microsoft.com/office/drawing/2014/main" id="{5BB28729-11C6-5C85-8F64-EEBBFE57E4F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384084" y="956901"/>
            <a:ext cx="3997063" cy="3997063"/>
          </a:xfrm>
          <a:prstGeom prst="rect">
            <a:avLst/>
          </a:prstGeom>
        </p:spPr>
      </p:pic>
      <p:sp>
        <p:nvSpPr>
          <p:cNvPr id="6" name="Forme libre 12">
            <a:extLst>
              <a:ext uri="{FF2B5EF4-FFF2-40B4-BE49-F238E27FC236}">
                <a16:creationId xmlns:a16="http://schemas.microsoft.com/office/drawing/2014/main" id="{65C18737-81C3-2DDD-39FB-7E95576D5EB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2D09E51-E38C-0432-DA7B-6E26CDB87A10}"/>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Juin 2024</a:t>
            </a:r>
          </a:p>
        </p:txBody>
      </p:sp>
      <p:sp>
        <p:nvSpPr>
          <p:cNvPr id="9" name="Espace réservé du pied de page 3">
            <a:extLst>
              <a:ext uri="{FF2B5EF4-FFF2-40B4-BE49-F238E27FC236}">
                <a16:creationId xmlns:a16="http://schemas.microsoft.com/office/drawing/2014/main" id="{BC51D972-31E2-97F4-3E20-14BBF62FDF2A}"/>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32A0096F-BF4D-A177-D783-638A85030D78}"/>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276673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sous-section">
    <p:bg>
      <p:bgPr>
        <a:solidFill>
          <a:schemeClr val="bg1"/>
        </a:solidFill>
        <a:effectLst/>
      </p:bgPr>
    </p:bg>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3A20D5C4-44D2-A52C-1CEA-491F848CA0A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550236" y="3672068"/>
            <a:ext cx="4450028" cy="1477328"/>
          </a:xfrm>
        </p:spPr>
        <p:txBody>
          <a:bodyPr/>
          <a:lstStyle>
            <a:lvl1pPr>
              <a:defRPr sz="5000">
                <a:solidFill>
                  <a:schemeClr val="tx1"/>
                </a:solidFill>
              </a:defRPr>
            </a:lvl1pPr>
          </a:lstStyle>
          <a:p>
            <a:r>
              <a:rPr lang="fr-FR"/>
              <a:t>Titre de sous-section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335665" y="-291680"/>
            <a:ext cx="4123242" cy="3570208"/>
          </a:xfrm>
        </p:spPr>
        <p:txBody>
          <a:bodyPr wrap="square" anchor="b" anchorCtr="0">
            <a:spAutoFit/>
          </a:bodyPr>
          <a:lstStyle>
            <a:lvl1pPr algn="l">
              <a:lnSpc>
                <a:spcPct val="100000"/>
              </a:lnSpc>
              <a:defRPr sz="22600">
                <a:ln>
                  <a:solidFill>
                    <a:schemeClr val="tx1"/>
                  </a:solidFill>
                </a:ln>
                <a:noFill/>
                <a:latin typeface="+mj-lt"/>
              </a:defRPr>
            </a:lvl1pPr>
          </a:lstStyle>
          <a:p>
            <a:pPr lvl="0"/>
            <a:r>
              <a:rPr lang="fr-FR"/>
              <a:t>01</a:t>
            </a:r>
          </a:p>
        </p:txBody>
      </p:sp>
      <p:pic>
        <p:nvPicPr>
          <p:cNvPr id="19" name="Graphique 18">
            <a:extLst>
              <a:ext uri="{FF2B5EF4-FFF2-40B4-BE49-F238E27FC236}">
                <a16:creationId xmlns:a16="http://schemas.microsoft.com/office/drawing/2014/main" id="{3225D2D9-3F19-757A-702A-11588E1C7D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96000" y="-1379521"/>
            <a:ext cx="7197908" cy="7465441"/>
          </a:xfrm>
          <a:prstGeom prst="rect">
            <a:avLst/>
          </a:prstGeom>
        </p:spPr>
      </p:pic>
      <p:sp>
        <p:nvSpPr>
          <p:cNvPr id="6" name="Espace réservé de la date 2">
            <a:extLst>
              <a:ext uri="{FF2B5EF4-FFF2-40B4-BE49-F238E27FC236}">
                <a16:creationId xmlns:a16="http://schemas.microsoft.com/office/drawing/2014/main" id="{75FA347F-1B1B-40AF-17D2-6D0D361C3F6B}"/>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28DBC22E-E756-5C75-2832-F7BB57224464}"/>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A1DA8DF3-6A91-9DC8-1C70-24BFA4C01C41}"/>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229061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94AD789-71B0-EB17-F83B-15CE4CF01F7F}"/>
              </a:ext>
            </a:extLst>
          </p:cNvPr>
          <p:cNvPicPr>
            <a:picLocks noChangeAspect="1"/>
          </p:cNvPicPr>
          <p:nvPr userDrawn="1"/>
        </p:nvPicPr>
        <p:blipFill>
          <a:blip r:embed="rId2">
            <a:alphaModFix amt="20000"/>
          </a:blip>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lvl1pPr>
          </a:lstStyle>
          <a:p>
            <a:r>
              <a:rPr lang="fr-FR"/>
              <a:t>Table des matières</a:t>
            </a:r>
          </a:p>
        </p:txBody>
      </p:sp>
      <p:sp>
        <p:nvSpPr>
          <p:cNvPr id="6" name="Espace réservé du texte 48">
            <a:extLst>
              <a:ext uri="{FF2B5EF4-FFF2-40B4-BE49-F238E27FC236}">
                <a16:creationId xmlns:a16="http://schemas.microsoft.com/office/drawing/2014/main" id="{356EBF43-EBB9-CECB-CFBE-5DAE9C879EB4}"/>
              </a:ext>
            </a:extLst>
          </p:cNvPr>
          <p:cNvSpPr>
            <a:spLocks noGrp="1"/>
          </p:cNvSpPr>
          <p:nvPr>
            <p:ph type="body" sz="quarter" idx="21" hasCustomPrompt="1"/>
          </p:nvPr>
        </p:nvSpPr>
        <p:spPr>
          <a:xfrm>
            <a:off x="62866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7" name="Espace réservé du texte 48">
            <a:extLst>
              <a:ext uri="{FF2B5EF4-FFF2-40B4-BE49-F238E27FC236}">
                <a16:creationId xmlns:a16="http://schemas.microsoft.com/office/drawing/2014/main" id="{1185732E-2238-C332-7E9C-EA3399B6EB97}"/>
              </a:ext>
            </a:extLst>
          </p:cNvPr>
          <p:cNvSpPr>
            <a:spLocks noGrp="1"/>
          </p:cNvSpPr>
          <p:nvPr>
            <p:ph type="body" sz="quarter" idx="22" hasCustomPrompt="1"/>
          </p:nvPr>
        </p:nvSpPr>
        <p:spPr>
          <a:xfrm>
            <a:off x="92991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9" name="Espace réservé du texte 48">
            <a:extLst>
              <a:ext uri="{FF2B5EF4-FFF2-40B4-BE49-F238E27FC236}">
                <a16:creationId xmlns:a16="http://schemas.microsoft.com/office/drawing/2014/main" id="{043205BE-CA39-8038-E67E-BC8DB504526E}"/>
              </a:ext>
            </a:extLst>
          </p:cNvPr>
          <p:cNvSpPr>
            <a:spLocks noGrp="1"/>
          </p:cNvSpPr>
          <p:nvPr>
            <p:ph type="body" sz="quarter" idx="24" hasCustomPrompt="1"/>
          </p:nvPr>
        </p:nvSpPr>
        <p:spPr>
          <a:xfrm>
            <a:off x="92991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0" name="Espace réservé du texte 48">
            <a:extLst>
              <a:ext uri="{FF2B5EF4-FFF2-40B4-BE49-F238E27FC236}">
                <a16:creationId xmlns:a16="http://schemas.microsoft.com/office/drawing/2014/main" id="{D8FFBD9A-0FFF-3CA4-B667-B169CD14A2F5}"/>
              </a:ext>
            </a:extLst>
          </p:cNvPr>
          <p:cNvSpPr>
            <a:spLocks noGrp="1"/>
          </p:cNvSpPr>
          <p:nvPr>
            <p:ph type="body" sz="quarter" idx="25" hasCustomPrompt="1"/>
          </p:nvPr>
        </p:nvSpPr>
        <p:spPr>
          <a:xfrm>
            <a:off x="38196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1" name="Espace réservé du texte 48">
            <a:extLst>
              <a:ext uri="{FF2B5EF4-FFF2-40B4-BE49-F238E27FC236}">
                <a16:creationId xmlns:a16="http://schemas.microsoft.com/office/drawing/2014/main" id="{941831AF-37F9-4B3E-692D-48483C324F3F}"/>
              </a:ext>
            </a:extLst>
          </p:cNvPr>
          <p:cNvSpPr>
            <a:spLocks noGrp="1"/>
          </p:cNvSpPr>
          <p:nvPr>
            <p:ph type="body" sz="quarter" idx="26" hasCustomPrompt="1"/>
          </p:nvPr>
        </p:nvSpPr>
        <p:spPr>
          <a:xfrm>
            <a:off x="38196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2E1F500B-6010-14D2-08D2-099EC2CDE79D}"/>
              </a:ext>
            </a:extLst>
          </p:cNvPr>
          <p:cNvSpPr>
            <a:spLocks noGrp="1"/>
          </p:cNvSpPr>
          <p:nvPr>
            <p:ph type="body" sz="quarter" idx="27" hasCustomPrompt="1"/>
          </p:nvPr>
        </p:nvSpPr>
        <p:spPr>
          <a:xfrm>
            <a:off x="4494610"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3" name="Espace réservé du texte 48">
            <a:extLst>
              <a:ext uri="{FF2B5EF4-FFF2-40B4-BE49-F238E27FC236}">
                <a16:creationId xmlns:a16="http://schemas.microsoft.com/office/drawing/2014/main" id="{B6387193-7261-F87E-E7B5-A75CB34E7A4E}"/>
              </a:ext>
            </a:extLst>
          </p:cNvPr>
          <p:cNvSpPr>
            <a:spLocks noGrp="1"/>
          </p:cNvSpPr>
          <p:nvPr>
            <p:ph type="body" sz="quarter" idx="28" hasCustomPrompt="1"/>
          </p:nvPr>
        </p:nvSpPr>
        <p:spPr>
          <a:xfrm>
            <a:off x="4795860"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4" name="Espace réservé du texte 48">
            <a:extLst>
              <a:ext uri="{FF2B5EF4-FFF2-40B4-BE49-F238E27FC236}">
                <a16:creationId xmlns:a16="http://schemas.microsoft.com/office/drawing/2014/main" id="{E37324B8-515B-845F-D112-721FEE922B6D}"/>
              </a:ext>
            </a:extLst>
          </p:cNvPr>
          <p:cNvSpPr>
            <a:spLocks noGrp="1"/>
          </p:cNvSpPr>
          <p:nvPr>
            <p:ph type="body" sz="quarter" idx="29" hasCustomPrompt="1"/>
          </p:nvPr>
        </p:nvSpPr>
        <p:spPr>
          <a:xfrm>
            <a:off x="4795860"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5" name="Espace réservé du texte 48">
            <a:extLst>
              <a:ext uri="{FF2B5EF4-FFF2-40B4-BE49-F238E27FC236}">
                <a16:creationId xmlns:a16="http://schemas.microsoft.com/office/drawing/2014/main" id="{A8F2BB55-3005-6CDF-D72B-150B9F571401}"/>
              </a:ext>
            </a:extLst>
          </p:cNvPr>
          <p:cNvSpPr>
            <a:spLocks noGrp="1"/>
          </p:cNvSpPr>
          <p:nvPr>
            <p:ph type="body" sz="quarter" idx="30" hasCustomPrompt="1"/>
          </p:nvPr>
        </p:nvSpPr>
        <p:spPr>
          <a:xfrm>
            <a:off x="4247910"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6" name="Espace réservé du texte 48">
            <a:extLst>
              <a:ext uri="{FF2B5EF4-FFF2-40B4-BE49-F238E27FC236}">
                <a16:creationId xmlns:a16="http://schemas.microsoft.com/office/drawing/2014/main" id="{94298EB5-0802-1B1D-F96E-DD1E15FBB6FC}"/>
              </a:ext>
            </a:extLst>
          </p:cNvPr>
          <p:cNvSpPr>
            <a:spLocks noGrp="1"/>
          </p:cNvSpPr>
          <p:nvPr>
            <p:ph type="body" sz="quarter" idx="31" hasCustomPrompt="1"/>
          </p:nvPr>
        </p:nvSpPr>
        <p:spPr>
          <a:xfrm>
            <a:off x="4247910"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7" name="Espace réservé du texte 48">
            <a:extLst>
              <a:ext uri="{FF2B5EF4-FFF2-40B4-BE49-F238E27FC236}">
                <a16:creationId xmlns:a16="http://schemas.microsoft.com/office/drawing/2014/main" id="{1E07E798-A24B-F9C2-73D1-58346D95ECC4}"/>
              </a:ext>
            </a:extLst>
          </p:cNvPr>
          <p:cNvSpPr>
            <a:spLocks noGrp="1"/>
          </p:cNvSpPr>
          <p:nvPr>
            <p:ph type="body" sz="quarter" idx="32" hasCustomPrompt="1"/>
          </p:nvPr>
        </p:nvSpPr>
        <p:spPr>
          <a:xfrm>
            <a:off x="836055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8" name="Espace réservé du texte 48">
            <a:extLst>
              <a:ext uri="{FF2B5EF4-FFF2-40B4-BE49-F238E27FC236}">
                <a16:creationId xmlns:a16="http://schemas.microsoft.com/office/drawing/2014/main" id="{B479353D-5728-4CB9-023A-0E40754FAFAB}"/>
              </a:ext>
            </a:extLst>
          </p:cNvPr>
          <p:cNvSpPr>
            <a:spLocks noGrp="1"/>
          </p:cNvSpPr>
          <p:nvPr>
            <p:ph type="body" sz="quarter" idx="33" hasCustomPrompt="1"/>
          </p:nvPr>
        </p:nvSpPr>
        <p:spPr>
          <a:xfrm>
            <a:off x="866180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9" name="Espace réservé du texte 48">
            <a:extLst>
              <a:ext uri="{FF2B5EF4-FFF2-40B4-BE49-F238E27FC236}">
                <a16:creationId xmlns:a16="http://schemas.microsoft.com/office/drawing/2014/main" id="{3FE71596-CDA7-6E86-4AB6-10452D613831}"/>
              </a:ext>
            </a:extLst>
          </p:cNvPr>
          <p:cNvSpPr>
            <a:spLocks noGrp="1"/>
          </p:cNvSpPr>
          <p:nvPr>
            <p:ph type="body" sz="quarter" idx="34" hasCustomPrompt="1"/>
          </p:nvPr>
        </p:nvSpPr>
        <p:spPr>
          <a:xfrm>
            <a:off x="866180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0" name="Espace réservé du texte 48">
            <a:extLst>
              <a:ext uri="{FF2B5EF4-FFF2-40B4-BE49-F238E27FC236}">
                <a16:creationId xmlns:a16="http://schemas.microsoft.com/office/drawing/2014/main" id="{26E8A052-7604-5473-DEB3-308917DC3504}"/>
              </a:ext>
            </a:extLst>
          </p:cNvPr>
          <p:cNvSpPr>
            <a:spLocks noGrp="1"/>
          </p:cNvSpPr>
          <p:nvPr>
            <p:ph type="body" sz="quarter" idx="35" hasCustomPrompt="1"/>
          </p:nvPr>
        </p:nvSpPr>
        <p:spPr>
          <a:xfrm>
            <a:off x="811385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1" name="Espace réservé du texte 48">
            <a:extLst>
              <a:ext uri="{FF2B5EF4-FFF2-40B4-BE49-F238E27FC236}">
                <a16:creationId xmlns:a16="http://schemas.microsoft.com/office/drawing/2014/main" id="{2CBEC210-E706-1F22-5D15-95D370933011}"/>
              </a:ext>
            </a:extLst>
          </p:cNvPr>
          <p:cNvSpPr>
            <a:spLocks noGrp="1"/>
          </p:cNvSpPr>
          <p:nvPr>
            <p:ph type="body" sz="quarter" idx="36" hasCustomPrompt="1"/>
          </p:nvPr>
        </p:nvSpPr>
        <p:spPr>
          <a:xfrm>
            <a:off x="811385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2" name="Espace réservé du texte 48">
            <a:extLst>
              <a:ext uri="{FF2B5EF4-FFF2-40B4-BE49-F238E27FC236}">
                <a16:creationId xmlns:a16="http://schemas.microsoft.com/office/drawing/2014/main" id="{7DE3D4A9-8CE5-1B7F-BE5B-FCCBCB3C0FFE}"/>
              </a:ext>
            </a:extLst>
          </p:cNvPr>
          <p:cNvSpPr>
            <a:spLocks noGrp="1"/>
          </p:cNvSpPr>
          <p:nvPr>
            <p:ph type="body" sz="quarter" idx="37" hasCustomPrompt="1"/>
          </p:nvPr>
        </p:nvSpPr>
        <p:spPr>
          <a:xfrm>
            <a:off x="62866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3" name="Espace réservé du texte 48">
            <a:extLst>
              <a:ext uri="{FF2B5EF4-FFF2-40B4-BE49-F238E27FC236}">
                <a16:creationId xmlns:a16="http://schemas.microsoft.com/office/drawing/2014/main" id="{FF6E038E-0862-B6E7-F35B-FDFBED689DFA}"/>
              </a:ext>
            </a:extLst>
          </p:cNvPr>
          <p:cNvSpPr>
            <a:spLocks noGrp="1"/>
          </p:cNvSpPr>
          <p:nvPr>
            <p:ph type="body" sz="quarter" idx="38" hasCustomPrompt="1"/>
          </p:nvPr>
        </p:nvSpPr>
        <p:spPr>
          <a:xfrm>
            <a:off x="92991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4" name="Espace réservé du texte 48">
            <a:extLst>
              <a:ext uri="{FF2B5EF4-FFF2-40B4-BE49-F238E27FC236}">
                <a16:creationId xmlns:a16="http://schemas.microsoft.com/office/drawing/2014/main" id="{3FC8B97C-483C-F988-7CBB-A1EB9864428C}"/>
              </a:ext>
            </a:extLst>
          </p:cNvPr>
          <p:cNvSpPr>
            <a:spLocks noGrp="1"/>
          </p:cNvSpPr>
          <p:nvPr>
            <p:ph type="body" sz="quarter" idx="39" hasCustomPrompt="1"/>
          </p:nvPr>
        </p:nvSpPr>
        <p:spPr>
          <a:xfrm>
            <a:off x="92991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5" name="Espace réservé du texte 48">
            <a:extLst>
              <a:ext uri="{FF2B5EF4-FFF2-40B4-BE49-F238E27FC236}">
                <a16:creationId xmlns:a16="http://schemas.microsoft.com/office/drawing/2014/main" id="{33E95C6D-E0E3-9B52-2F7A-1DD78CA09EB6}"/>
              </a:ext>
            </a:extLst>
          </p:cNvPr>
          <p:cNvSpPr>
            <a:spLocks noGrp="1"/>
          </p:cNvSpPr>
          <p:nvPr>
            <p:ph type="body" sz="quarter" idx="40" hasCustomPrompt="1"/>
          </p:nvPr>
        </p:nvSpPr>
        <p:spPr>
          <a:xfrm>
            <a:off x="38196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6" name="Espace réservé du texte 48">
            <a:extLst>
              <a:ext uri="{FF2B5EF4-FFF2-40B4-BE49-F238E27FC236}">
                <a16:creationId xmlns:a16="http://schemas.microsoft.com/office/drawing/2014/main" id="{4CD58FDC-1458-8DFA-C02D-9F2D01DE6545}"/>
              </a:ext>
            </a:extLst>
          </p:cNvPr>
          <p:cNvSpPr>
            <a:spLocks noGrp="1"/>
          </p:cNvSpPr>
          <p:nvPr>
            <p:ph type="body" sz="quarter" idx="41" hasCustomPrompt="1"/>
          </p:nvPr>
        </p:nvSpPr>
        <p:spPr>
          <a:xfrm>
            <a:off x="38196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7" name="Espace réservé du texte 48">
            <a:extLst>
              <a:ext uri="{FF2B5EF4-FFF2-40B4-BE49-F238E27FC236}">
                <a16:creationId xmlns:a16="http://schemas.microsoft.com/office/drawing/2014/main" id="{B8D7AF5F-7D47-E7B8-1BA7-693011B50E1E}"/>
              </a:ext>
            </a:extLst>
          </p:cNvPr>
          <p:cNvSpPr>
            <a:spLocks noGrp="1"/>
          </p:cNvSpPr>
          <p:nvPr>
            <p:ph type="body" sz="quarter" idx="42" hasCustomPrompt="1"/>
          </p:nvPr>
        </p:nvSpPr>
        <p:spPr>
          <a:xfrm>
            <a:off x="4494610"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8" name="Espace réservé du texte 48">
            <a:extLst>
              <a:ext uri="{FF2B5EF4-FFF2-40B4-BE49-F238E27FC236}">
                <a16:creationId xmlns:a16="http://schemas.microsoft.com/office/drawing/2014/main" id="{32473F2A-376E-DA30-C71F-59AA21DC1D31}"/>
              </a:ext>
            </a:extLst>
          </p:cNvPr>
          <p:cNvSpPr>
            <a:spLocks noGrp="1"/>
          </p:cNvSpPr>
          <p:nvPr>
            <p:ph type="body" sz="quarter" idx="43" hasCustomPrompt="1"/>
          </p:nvPr>
        </p:nvSpPr>
        <p:spPr>
          <a:xfrm>
            <a:off x="4795860"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9" name="Espace réservé du texte 48">
            <a:extLst>
              <a:ext uri="{FF2B5EF4-FFF2-40B4-BE49-F238E27FC236}">
                <a16:creationId xmlns:a16="http://schemas.microsoft.com/office/drawing/2014/main" id="{4D97B2E1-B125-E749-426C-707517F0079B}"/>
              </a:ext>
            </a:extLst>
          </p:cNvPr>
          <p:cNvSpPr>
            <a:spLocks noGrp="1"/>
          </p:cNvSpPr>
          <p:nvPr>
            <p:ph type="body" sz="quarter" idx="44" hasCustomPrompt="1"/>
          </p:nvPr>
        </p:nvSpPr>
        <p:spPr>
          <a:xfrm>
            <a:off x="4795860"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0" name="Espace réservé du texte 48">
            <a:extLst>
              <a:ext uri="{FF2B5EF4-FFF2-40B4-BE49-F238E27FC236}">
                <a16:creationId xmlns:a16="http://schemas.microsoft.com/office/drawing/2014/main" id="{DD82CFF9-5915-3ED4-2656-F1712585B034}"/>
              </a:ext>
            </a:extLst>
          </p:cNvPr>
          <p:cNvSpPr>
            <a:spLocks noGrp="1"/>
          </p:cNvSpPr>
          <p:nvPr>
            <p:ph type="body" sz="quarter" idx="45" hasCustomPrompt="1"/>
          </p:nvPr>
        </p:nvSpPr>
        <p:spPr>
          <a:xfrm>
            <a:off x="4247910"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1" name="Espace réservé du texte 48">
            <a:extLst>
              <a:ext uri="{FF2B5EF4-FFF2-40B4-BE49-F238E27FC236}">
                <a16:creationId xmlns:a16="http://schemas.microsoft.com/office/drawing/2014/main" id="{74DE2EB0-F07E-ABF5-C352-06435AD25AA1}"/>
              </a:ext>
            </a:extLst>
          </p:cNvPr>
          <p:cNvSpPr>
            <a:spLocks noGrp="1"/>
          </p:cNvSpPr>
          <p:nvPr>
            <p:ph type="body" sz="quarter" idx="46" hasCustomPrompt="1"/>
          </p:nvPr>
        </p:nvSpPr>
        <p:spPr>
          <a:xfrm>
            <a:off x="4247910"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32" name="Espace réservé du texte 48">
            <a:extLst>
              <a:ext uri="{FF2B5EF4-FFF2-40B4-BE49-F238E27FC236}">
                <a16:creationId xmlns:a16="http://schemas.microsoft.com/office/drawing/2014/main" id="{87CEBB37-58AA-7818-64AE-D446B4D87646}"/>
              </a:ext>
            </a:extLst>
          </p:cNvPr>
          <p:cNvSpPr>
            <a:spLocks noGrp="1"/>
          </p:cNvSpPr>
          <p:nvPr>
            <p:ph type="body" sz="quarter" idx="47" hasCustomPrompt="1"/>
          </p:nvPr>
        </p:nvSpPr>
        <p:spPr>
          <a:xfrm>
            <a:off x="836055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33" name="Espace réservé du texte 48">
            <a:extLst>
              <a:ext uri="{FF2B5EF4-FFF2-40B4-BE49-F238E27FC236}">
                <a16:creationId xmlns:a16="http://schemas.microsoft.com/office/drawing/2014/main" id="{26C10176-2239-19FC-FA0E-0D6C539D6001}"/>
              </a:ext>
            </a:extLst>
          </p:cNvPr>
          <p:cNvSpPr>
            <a:spLocks noGrp="1"/>
          </p:cNvSpPr>
          <p:nvPr>
            <p:ph type="body" sz="quarter" idx="48" hasCustomPrompt="1"/>
          </p:nvPr>
        </p:nvSpPr>
        <p:spPr>
          <a:xfrm>
            <a:off x="866180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34" name="Espace réservé du texte 48">
            <a:extLst>
              <a:ext uri="{FF2B5EF4-FFF2-40B4-BE49-F238E27FC236}">
                <a16:creationId xmlns:a16="http://schemas.microsoft.com/office/drawing/2014/main" id="{DDA495AE-F87F-D86C-16EC-A52928509637}"/>
              </a:ext>
            </a:extLst>
          </p:cNvPr>
          <p:cNvSpPr>
            <a:spLocks noGrp="1"/>
          </p:cNvSpPr>
          <p:nvPr>
            <p:ph type="body" sz="quarter" idx="49" hasCustomPrompt="1"/>
          </p:nvPr>
        </p:nvSpPr>
        <p:spPr>
          <a:xfrm>
            <a:off x="866180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5" name="Espace réservé du texte 48">
            <a:extLst>
              <a:ext uri="{FF2B5EF4-FFF2-40B4-BE49-F238E27FC236}">
                <a16:creationId xmlns:a16="http://schemas.microsoft.com/office/drawing/2014/main" id="{D3BA5549-49D9-039A-CA4B-F02401B53B75}"/>
              </a:ext>
            </a:extLst>
          </p:cNvPr>
          <p:cNvSpPr>
            <a:spLocks noGrp="1"/>
          </p:cNvSpPr>
          <p:nvPr>
            <p:ph type="body" sz="quarter" idx="50" hasCustomPrompt="1"/>
          </p:nvPr>
        </p:nvSpPr>
        <p:spPr>
          <a:xfrm>
            <a:off x="811385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6" name="Espace réservé du texte 48">
            <a:extLst>
              <a:ext uri="{FF2B5EF4-FFF2-40B4-BE49-F238E27FC236}">
                <a16:creationId xmlns:a16="http://schemas.microsoft.com/office/drawing/2014/main" id="{80975B6F-8B28-9796-FBBC-B391E86A706C}"/>
              </a:ext>
            </a:extLst>
          </p:cNvPr>
          <p:cNvSpPr>
            <a:spLocks noGrp="1"/>
          </p:cNvSpPr>
          <p:nvPr>
            <p:ph type="body" sz="quarter" idx="51" hasCustomPrompt="1"/>
          </p:nvPr>
        </p:nvSpPr>
        <p:spPr>
          <a:xfrm>
            <a:off x="811385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41" name="Forme libre 12">
            <a:extLst>
              <a:ext uri="{FF2B5EF4-FFF2-40B4-BE49-F238E27FC236}">
                <a16:creationId xmlns:a16="http://schemas.microsoft.com/office/drawing/2014/main" id="{D5857D6F-DE24-1827-98BF-8E21B22BAA8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2" name="Espace réservé de la date 2">
            <a:extLst>
              <a:ext uri="{FF2B5EF4-FFF2-40B4-BE49-F238E27FC236}">
                <a16:creationId xmlns:a16="http://schemas.microsoft.com/office/drawing/2014/main" id="{C0BAF578-92B8-AB2C-404D-59D4A833EC7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43" name="Espace réservé du pied de page 3">
            <a:extLst>
              <a:ext uri="{FF2B5EF4-FFF2-40B4-BE49-F238E27FC236}">
                <a16:creationId xmlns:a16="http://schemas.microsoft.com/office/drawing/2014/main" id="{2CE4E9A3-7C98-510D-99A2-6885245C169A}"/>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44" name="Espace réservé du numéro de diapositive 4">
            <a:extLst>
              <a:ext uri="{FF2B5EF4-FFF2-40B4-BE49-F238E27FC236}">
                <a16:creationId xmlns:a16="http://schemas.microsoft.com/office/drawing/2014/main" id="{DDFEE62A-1C41-12D0-F6F3-3DC3BAE0989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14502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5BB516A-3C55-FAF4-1530-D4844BB03A7A}"/>
              </a:ext>
            </a:extLst>
          </p:cNvPr>
          <p:cNvPicPr>
            <a:picLocks noChangeAspect="1"/>
          </p:cNvPicPr>
          <p:nvPr userDrawn="1"/>
        </p:nvPicPr>
        <p:blipFill>
          <a:blip r:embed="rId2"/>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solidFill>
                  <a:schemeClr val="tx1"/>
                </a:solidFill>
              </a:defRPr>
            </a:lvl1pPr>
          </a:lstStyle>
          <a:p>
            <a:r>
              <a:rPr lang="fr-FR"/>
              <a:t>Ordre du jour</a:t>
            </a:r>
          </a:p>
        </p:txBody>
      </p:sp>
      <p:sp>
        <p:nvSpPr>
          <p:cNvPr id="60" name="Forme libre 12">
            <a:extLst>
              <a:ext uri="{FF2B5EF4-FFF2-40B4-BE49-F238E27FC236}">
                <a16:creationId xmlns:a16="http://schemas.microsoft.com/office/drawing/2014/main" id="{4B00DD7C-59F6-FB8D-2845-11D11194149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1" name="Espace réservé de la date 2">
            <a:extLst>
              <a:ext uri="{FF2B5EF4-FFF2-40B4-BE49-F238E27FC236}">
                <a16:creationId xmlns:a16="http://schemas.microsoft.com/office/drawing/2014/main" id="{AE370E88-5802-5E9A-60DB-59494808B93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62" name="Espace réservé du pied de page 3">
            <a:extLst>
              <a:ext uri="{FF2B5EF4-FFF2-40B4-BE49-F238E27FC236}">
                <a16:creationId xmlns:a16="http://schemas.microsoft.com/office/drawing/2014/main" id="{AC6DE7BE-826C-AD98-3D0A-CCF292BD4A0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63" name="Espace réservé du numéro de diapositive 4">
            <a:extLst>
              <a:ext uri="{FF2B5EF4-FFF2-40B4-BE49-F238E27FC236}">
                <a16:creationId xmlns:a16="http://schemas.microsoft.com/office/drawing/2014/main" id="{17EA47B3-020B-2F12-0F74-B5DF135C41E0}"/>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79719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1"/>
        </a:solidFill>
        <a:effectLst/>
      </p:bgPr>
    </p:bg>
    <p:spTree>
      <p:nvGrpSpPr>
        <p:cNvPr id="1" name=""/>
        <p:cNvGrpSpPr/>
        <p:nvPr/>
      </p:nvGrpSpPr>
      <p:grpSpPr>
        <a:xfrm>
          <a:off x="0" y="0"/>
          <a:ext cx="0" cy="0"/>
          <a:chOff x="0" y="0"/>
          <a:chExt cx="0" cy="0"/>
        </a:xfrm>
      </p:grpSpPr>
      <p:sp>
        <p:nvSpPr>
          <p:cNvPr id="27" name="Graphique 25">
            <a:extLst>
              <a:ext uri="{FF2B5EF4-FFF2-40B4-BE49-F238E27FC236}">
                <a16:creationId xmlns:a16="http://schemas.microsoft.com/office/drawing/2014/main" id="{5439DF37-BE75-E13A-0A12-48C57A8F0805}"/>
              </a:ext>
            </a:extLst>
          </p:cNvPr>
          <p:cNvSpPr/>
          <p:nvPr userDrawn="1"/>
        </p:nvSpPr>
        <p:spPr>
          <a:xfrm>
            <a:off x="8431067" y="-43405"/>
            <a:ext cx="3760933" cy="6944810"/>
          </a:xfrm>
          <a:custGeom>
            <a:avLst/>
            <a:gdLst>
              <a:gd name="connsiteX0" fmla="*/ 238125 w 3127343"/>
              <a:gd name="connsiteY0" fmla="*/ 0 h 5143500"/>
              <a:gd name="connsiteX1" fmla="*/ 0 w 3127343"/>
              <a:gd name="connsiteY1" fmla="*/ 2618518 h 5143500"/>
              <a:gd name="connsiteX2" fmla="*/ 238125 w 3127343"/>
              <a:gd name="connsiteY2" fmla="*/ 5143500 h 5143500"/>
              <a:gd name="connsiteX3" fmla="*/ 3127343 w 3127343"/>
              <a:gd name="connsiteY3" fmla="*/ 5143500 h 5143500"/>
              <a:gd name="connsiteX4" fmla="*/ 3127343 w 3127343"/>
              <a:gd name="connsiteY4" fmla="*/ 0 h 5143500"/>
              <a:gd name="connsiteX5" fmla="*/ 238125 w 3127343"/>
              <a:gd name="connsiteY5"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7343" h="5143500">
                <a:moveTo>
                  <a:pt x="238125" y="0"/>
                </a:moveTo>
                <a:cubicBezTo>
                  <a:pt x="238125" y="0"/>
                  <a:pt x="0" y="1208818"/>
                  <a:pt x="0" y="2618518"/>
                </a:cubicBezTo>
                <a:cubicBezTo>
                  <a:pt x="0" y="4028218"/>
                  <a:pt x="238125" y="5143500"/>
                  <a:pt x="238125" y="5143500"/>
                </a:cubicBezTo>
                <a:lnTo>
                  <a:pt x="3127343" y="5143500"/>
                </a:lnTo>
                <a:lnTo>
                  <a:pt x="3127343" y="0"/>
                </a:lnTo>
                <a:lnTo>
                  <a:pt x="238125" y="0"/>
                </a:lnTo>
                <a:close/>
              </a:path>
            </a:pathLst>
          </a:custGeom>
          <a:solidFill>
            <a:schemeClr val="accent3"/>
          </a:solidFill>
          <a:ln w="9525" cap="flat">
            <a:noFill/>
            <a:prstDash val="solid"/>
            <a:miter/>
          </a:ln>
        </p:spPr>
        <p:txBody>
          <a:bodyPr rtlCol="0" anchor="ctr"/>
          <a:lstStyle/>
          <a:p>
            <a:endParaRPr lang="fr-FR"/>
          </a:p>
        </p:txBody>
      </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5" y="862061"/>
            <a:ext cx="7673682" cy="590931"/>
          </a:xfrm>
        </p:spPr>
        <p:txBody>
          <a:bodyPr/>
          <a:lstStyle>
            <a:lvl1pPr>
              <a:defRPr b="1">
                <a:solidFill>
                  <a:schemeClr val="accent3"/>
                </a:solidFill>
              </a:defRPr>
            </a:lvl1pPr>
          </a:lstStyle>
          <a:p>
            <a:r>
              <a:rPr lang="fr-FR"/>
              <a:t>Titre</a:t>
            </a:r>
          </a:p>
        </p:txBody>
      </p:sp>
      <p:sp>
        <p:nvSpPr>
          <p:cNvPr id="49" name="Espace réservé du texte 48">
            <a:extLst>
              <a:ext uri="{FF2B5EF4-FFF2-40B4-BE49-F238E27FC236}">
                <a16:creationId xmlns:a16="http://schemas.microsoft.com/office/drawing/2014/main" id="{93F8D3D5-7E69-0368-57E7-2B0778C8E081}"/>
              </a:ext>
            </a:extLst>
          </p:cNvPr>
          <p:cNvSpPr>
            <a:spLocks noGrp="1"/>
          </p:cNvSpPr>
          <p:nvPr>
            <p:ph type="body" sz="quarter" idx="20" hasCustomPrompt="1"/>
          </p:nvPr>
        </p:nvSpPr>
        <p:spPr>
          <a:xfrm>
            <a:off x="538163" y="2124075"/>
            <a:ext cx="7673682" cy="4114800"/>
          </a:xfrm>
        </p:spPr>
        <p:txBody>
          <a:bodyPr/>
          <a:lstStyle>
            <a:lvl1pPr>
              <a:lnSpc>
                <a:spcPct val="100000"/>
              </a:lnSpc>
              <a:defRPr>
                <a:solidFill>
                  <a:schemeClr val="tx1"/>
                </a:solidFill>
              </a:defRPr>
            </a:lvl1p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7" name="Espace réservé de la date 2">
            <a:extLst>
              <a:ext uri="{FF2B5EF4-FFF2-40B4-BE49-F238E27FC236}">
                <a16:creationId xmlns:a16="http://schemas.microsoft.com/office/drawing/2014/main" id="{0DC1C31A-6435-7CC6-2E99-64C8EB554688}"/>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Juin 2024</a:t>
            </a:r>
          </a:p>
        </p:txBody>
      </p:sp>
      <p:sp>
        <p:nvSpPr>
          <p:cNvPr id="9" name="Espace réservé du pied de page 3">
            <a:extLst>
              <a:ext uri="{FF2B5EF4-FFF2-40B4-BE49-F238E27FC236}">
                <a16:creationId xmlns:a16="http://schemas.microsoft.com/office/drawing/2014/main" id="{9D00371F-BA40-0DEA-8CFE-D0EE76BBC24C}"/>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2" name="Forme libre 12">
            <a:extLst>
              <a:ext uri="{FF2B5EF4-FFF2-40B4-BE49-F238E27FC236}">
                <a16:creationId xmlns:a16="http://schemas.microsoft.com/office/drawing/2014/main" id="{102AC8B8-B450-08AF-8618-F73A15C4507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u numéro de diapositive 4">
            <a:extLst>
              <a:ext uri="{FF2B5EF4-FFF2-40B4-BE49-F238E27FC236}">
                <a16:creationId xmlns:a16="http://schemas.microsoft.com/office/drawing/2014/main" id="{91A37899-EDCB-0155-D061-69C0C05276DF}"/>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127453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ocs textes et image">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1A85595B-CF11-A312-E90E-760F1919E0A6}"/>
              </a:ext>
            </a:extLst>
          </p:cNvPr>
          <p:cNvGrpSpPr/>
          <p:nvPr userDrawn="1"/>
        </p:nvGrpSpPr>
        <p:grpSpPr>
          <a:xfrm>
            <a:off x="-1" y="263015"/>
            <a:ext cx="5860125" cy="375126"/>
            <a:chOff x="-5557295" y="172402"/>
            <a:chExt cx="5860125" cy="375126"/>
          </a:xfrm>
        </p:grpSpPr>
        <p:sp>
          <p:nvSpPr>
            <p:cNvPr id="12" name="Forme libre 11">
              <a:extLst>
                <a:ext uri="{FF2B5EF4-FFF2-40B4-BE49-F238E27FC236}">
                  <a16:creationId xmlns:a16="http://schemas.microsoft.com/office/drawing/2014/main" id="{F7D83129-7CC0-3AC0-0893-841EF0789D3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7CBF57F8-B732-CE3C-3C27-072341E9573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5894898"/>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Forme libre 12">
            <a:extLst>
              <a:ext uri="{FF2B5EF4-FFF2-40B4-BE49-F238E27FC236}">
                <a16:creationId xmlns:a16="http://schemas.microsoft.com/office/drawing/2014/main" id="{854D109C-07F3-0875-AC51-B9F092F7B7F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e la date 2">
            <a:extLst>
              <a:ext uri="{FF2B5EF4-FFF2-40B4-BE49-F238E27FC236}">
                <a16:creationId xmlns:a16="http://schemas.microsoft.com/office/drawing/2014/main" id="{B420D5C3-8652-08AA-330A-04F31CDCBCF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6" name="Espace réservé du pied de page 3">
            <a:extLst>
              <a:ext uri="{FF2B5EF4-FFF2-40B4-BE49-F238E27FC236}">
                <a16:creationId xmlns:a16="http://schemas.microsoft.com/office/drawing/2014/main" id="{CAD3479A-D859-1625-4562-6E5C9195277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7" name="Espace réservé du numéro de diapositive 4">
            <a:extLst>
              <a:ext uri="{FF2B5EF4-FFF2-40B4-BE49-F238E27FC236}">
                <a16:creationId xmlns:a16="http://schemas.microsoft.com/office/drawing/2014/main" id="{DDA0C2EE-54B1-40DF-5330-D6EF52EC72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3" name="Espace réservé du texte 45">
            <a:extLst>
              <a:ext uri="{FF2B5EF4-FFF2-40B4-BE49-F238E27FC236}">
                <a16:creationId xmlns:a16="http://schemas.microsoft.com/office/drawing/2014/main" id="{20F4AE11-747F-230F-7A2D-A860ECCBD69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8" name="Espace réservé du texte 45">
            <a:extLst>
              <a:ext uri="{FF2B5EF4-FFF2-40B4-BE49-F238E27FC236}">
                <a16:creationId xmlns:a16="http://schemas.microsoft.com/office/drawing/2014/main" id="{620CD3BD-0CDA-DC28-5F16-7F119ACCE1E1}"/>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91631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ocs textes et double images">
    <p:bg>
      <p:bgPr>
        <a:solidFill>
          <a:schemeClr val="bg1"/>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Espace réservé pour une image  19">
            <a:extLst>
              <a:ext uri="{FF2B5EF4-FFF2-40B4-BE49-F238E27FC236}">
                <a16:creationId xmlns:a16="http://schemas.microsoft.com/office/drawing/2014/main" id="{10642810-25E3-1833-3A61-2D2283DC917C}"/>
              </a:ext>
            </a:extLst>
          </p:cNvPr>
          <p:cNvSpPr>
            <a:spLocks noGrp="1"/>
          </p:cNvSpPr>
          <p:nvPr>
            <p:ph type="pic" sz="quarter" idx="26"/>
          </p:nvPr>
        </p:nvSpPr>
        <p:spPr>
          <a:xfrm>
            <a:off x="7146435" y="328145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4" name="Forme libre 12">
            <a:extLst>
              <a:ext uri="{FF2B5EF4-FFF2-40B4-BE49-F238E27FC236}">
                <a16:creationId xmlns:a16="http://schemas.microsoft.com/office/drawing/2014/main" id="{8A39FBA8-5A98-CBEC-0115-A584F4DFC2F9}"/>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A1A7E69A-1780-14EA-F384-5E39EEE61DF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18A69519-C51E-9F72-E426-15B96F87DBFE}"/>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30B312F4-E527-CE37-C0E1-7F7145D9764F}"/>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3" name="Groupe 2">
            <a:extLst>
              <a:ext uri="{FF2B5EF4-FFF2-40B4-BE49-F238E27FC236}">
                <a16:creationId xmlns:a16="http://schemas.microsoft.com/office/drawing/2014/main" id="{B9CECE49-98C2-DFE8-082A-3B2800AE5021}"/>
              </a:ext>
            </a:extLst>
          </p:cNvPr>
          <p:cNvGrpSpPr/>
          <p:nvPr userDrawn="1"/>
        </p:nvGrpSpPr>
        <p:grpSpPr>
          <a:xfrm>
            <a:off x="-1" y="263015"/>
            <a:ext cx="5860125" cy="375126"/>
            <a:chOff x="-5557295" y="172402"/>
            <a:chExt cx="5860125" cy="375126"/>
          </a:xfrm>
        </p:grpSpPr>
        <p:sp>
          <p:nvSpPr>
            <p:cNvPr id="15" name="Forme libre 11">
              <a:extLst>
                <a:ext uri="{FF2B5EF4-FFF2-40B4-BE49-F238E27FC236}">
                  <a16:creationId xmlns:a16="http://schemas.microsoft.com/office/drawing/2014/main" id="{2A90E934-9CE2-3D59-3CFE-4502AFEDED1E}"/>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B8FC6ACA-B185-1DDD-4CF9-2B115520E19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E7F2F9F9-6B3A-2997-C553-A22A8CAD08E1}"/>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0" name="Espace réservé du texte 45">
            <a:extLst>
              <a:ext uri="{FF2B5EF4-FFF2-40B4-BE49-F238E27FC236}">
                <a16:creationId xmlns:a16="http://schemas.microsoft.com/office/drawing/2014/main" id="{FA084A27-2090-98BD-DD1A-F4E346FDC59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584766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rganigramme">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5B5A7-A28F-6CD8-1A7F-CD75AE893D5D}"/>
              </a:ext>
            </a:extLst>
          </p:cNvPr>
          <p:cNvSpPr>
            <a:spLocks noGrp="1"/>
          </p:cNvSpPr>
          <p:nvPr userDrawn="1">
            <p:ph type="title" hasCustomPrompt="1"/>
          </p:nvPr>
        </p:nvSpPr>
        <p:spPr/>
        <p:txBody>
          <a:bodyPr/>
          <a:lstStyle>
            <a:lvl1pPr>
              <a:defRPr b="1">
                <a:solidFill>
                  <a:schemeClr val="accent3"/>
                </a:solidFill>
              </a:defRPr>
            </a:lvl1pPr>
          </a:lstStyle>
          <a:p>
            <a:r>
              <a:rPr lang="fr-FR"/>
              <a:t>Équipe</a:t>
            </a:r>
          </a:p>
        </p:txBody>
      </p:sp>
      <p:sp>
        <p:nvSpPr>
          <p:cNvPr id="12" name="Espace réservé pour une image  11">
            <a:extLst>
              <a:ext uri="{FF2B5EF4-FFF2-40B4-BE49-F238E27FC236}">
                <a16:creationId xmlns:a16="http://schemas.microsoft.com/office/drawing/2014/main" id="{964EFAC4-6EB0-5736-D94D-3A4E549CB9DB}"/>
              </a:ext>
            </a:extLst>
          </p:cNvPr>
          <p:cNvSpPr>
            <a:spLocks noGrp="1"/>
          </p:cNvSpPr>
          <p:nvPr>
            <p:ph type="pic" sz="quarter" idx="20"/>
          </p:nvPr>
        </p:nvSpPr>
        <p:spPr>
          <a:xfrm>
            <a:off x="488235" y="1742673"/>
            <a:ext cx="961200" cy="961200"/>
          </a:xfrm>
          <a:prstGeom prst="ellipse">
            <a:avLst/>
          </a:prstGeom>
          <a:solidFill>
            <a:schemeClr val="bg1">
              <a:lumMod val="95000"/>
            </a:schemeClr>
          </a:solidFill>
        </p:spPr>
        <p:txBody>
          <a:bodyPr/>
          <a:lstStyle/>
          <a:p>
            <a:r>
              <a:rPr lang="fr-FR"/>
              <a:t>Cliquez sur l'icône pour ajouter une image</a:t>
            </a:r>
          </a:p>
        </p:txBody>
      </p:sp>
      <p:sp>
        <p:nvSpPr>
          <p:cNvPr id="7" name="Forme libre 12">
            <a:extLst>
              <a:ext uri="{FF2B5EF4-FFF2-40B4-BE49-F238E27FC236}">
                <a16:creationId xmlns:a16="http://schemas.microsoft.com/office/drawing/2014/main" id="{9BF04A55-1F84-D050-DE52-63716C9CC98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8" name="Espace réservé de la date 2">
            <a:extLst>
              <a:ext uri="{FF2B5EF4-FFF2-40B4-BE49-F238E27FC236}">
                <a16:creationId xmlns:a16="http://schemas.microsoft.com/office/drawing/2014/main" id="{080BA467-F14C-EE89-D139-02E96303F03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1" name="Espace réservé du pied de page 3">
            <a:extLst>
              <a:ext uri="{FF2B5EF4-FFF2-40B4-BE49-F238E27FC236}">
                <a16:creationId xmlns:a16="http://schemas.microsoft.com/office/drawing/2014/main" id="{B8A2A068-D0EF-8448-1595-1FE0000BC629}"/>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3" name="Espace réservé du numéro de diapositive 4">
            <a:extLst>
              <a:ext uri="{FF2B5EF4-FFF2-40B4-BE49-F238E27FC236}">
                <a16:creationId xmlns:a16="http://schemas.microsoft.com/office/drawing/2014/main" id="{51639411-7A3B-18F8-DAC5-27076E52BBA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21" name="Groupe 20">
            <a:extLst>
              <a:ext uri="{FF2B5EF4-FFF2-40B4-BE49-F238E27FC236}">
                <a16:creationId xmlns:a16="http://schemas.microsoft.com/office/drawing/2014/main" id="{FA4CB8F3-ECC0-EBAB-FAAF-CDC344D5A131}"/>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7A060465-13DA-F609-4474-BCE3B5BBC5F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3" name="Forme libre 12">
              <a:extLst>
                <a:ext uri="{FF2B5EF4-FFF2-40B4-BE49-F238E27FC236}">
                  <a16:creationId xmlns:a16="http://schemas.microsoft.com/office/drawing/2014/main" id="{6C57918C-F06B-8A60-4CF5-0BE36EDE1B7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FEF6E8E-8C45-E81D-BB86-453F3E96B0B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C601C8B9-6DB5-301C-DBD4-EF82A7D912DE}"/>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171829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ison de contenus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982B8E-19E0-88C1-51B4-FF0E2F39712A}"/>
              </a:ext>
            </a:extLst>
          </p:cNvPr>
          <p:cNvSpPr>
            <a:spLocks noGrp="1"/>
          </p:cNvSpPr>
          <p:nvPr>
            <p:ph type="title"/>
          </p:nvPr>
        </p:nvSpPr>
        <p:spPr/>
        <p:txBody>
          <a:bodyPr/>
          <a:lstStyle>
            <a:lvl1pPr>
              <a:defRPr b="1"/>
            </a:lvl1pPr>
          </a:lstStyle>
          <a:p>
            <a:r>
              <a:rPr lang="fr-FR"/>
              <a:t>Modifiez le style du titre</a:t>
            </a:r>
          </a:p>
        </p:txBody>
      </p:sp>
      <p:sp>
        <p:nvSpPr>
          <p:cNvPr id="3" name="Forme libre 12">
            <a:extLst>
              <a:ext uri="{FF2B5EF4-FFF2-40B4-BE49-F238E27FC236}">
                <a16:creationId xmlns:a16="http://schemas.microsoft.com/office/drawing/2014/main" id="{33663BA0-DDDD-9236-BDED-9F1950AFBDF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6DE86FCF-AA4D-7351-22A3-89182C84424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9" name="Espace réservé du pied de page 3">
            <a:extLst>
              <a:ext uri="{FF2B5EF4-FFF2-40B4-BE49-F238E27FC236}">
                <a16:creationId xmlns:a16="http://schemas.microsoft.com/office/drawing/2014/main" id="{3C4D3CD9-77C7-E480-FE92-337DAF7F070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2" name="Espace réservé du numéro de diapositive 4">
            <a:extLst>
              <a:ext uri="{FF2B5EF4-FFF2-40B4-BE49-F238E27FC236}">
                <a16:creationId xmlns:a16="http://schemas.microsoft.com/office/drawing/2014/main" id="{F69A84FF-9530-9038-A1B0-F19F47787B6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3" name="Groupe 12">
            <a:extLst>
              <a:ext uri="{FF2B5EF4-FFF2-40B4-BE49-F238E27FC236}">
                <a16:creationId xmlns:a16="http://schemas.microsoft.com/office/drawing/2014/main" id="{840C276D-D460-A398-B304-EE6B1B0F237A}"/>
              </a:ext>
            </a:extLst>
          </p:cNvPr>
          <p:cNvGrpSpPr/>
          <p:nvPr userDrawn="1"/>
        </p:nvGrpSpPr>
        <p:grpSpPr>
          <a:xfrm>
            <a:off x="-1" y="263015"/>
            <a:ext cx="5860125" cy="375126"/>
            <a:chOff x="-5557295" y="172402"/>
            <a:chExt cx="5860125" cy="375126"/>
          </a:xfrm>
        </p:grpSpPr>
        <p:sp>
          <p:nvSpPr>
            <p:cNvPr id="14" name="Forme libre 11">
              <a:extLst>
                <a:ext uri="{FF2B5EF4-FFF2-40B4-BE49-F238E27FC236}">
                  <a16:creationId xmlns:a16="http://schemas.microsoft.com/office/drawing/2014/main" id="{8BACE2B5-A27B-AB0A-CE25-783E9EF8B43D}"/>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5" name="Forme libre 12">
              <a:extLst>
                <a:ext uri="{FF2B5EF4-FFF2-40B4-BE49-F238E27FC236}">
                  <a16:creationId xmlns:a16="http://schemas.microsoft.com/office/drawing/2014/main" id="{7E9422F8-98C1-C9C1-7A2D-D24B4C43607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CE5DF485-3F77-8130-C972-1AF1104D6485}"/>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5" name="Espace réservé du texte 45">
            <a:extLst>
              <a:ext uri="{FF2B5EF4-FFF2-40B4-BE49-F238E27FC236}">
                <a16:creationId xmlns:a16="http://schemas.microsoft.com/office/drawing/2014/main" id="{89984247-9725-92BF-1C3D-B33A296114F5}"/>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610130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aison de contenus 02">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9" name="Espace réservé du texte 48">
            <a:extLst>
              <a:ext uri="{FF2B5EF4-FFF2-40B4-BE49-F238E27FC236}">
                <a16:creationId xmlns:a16="http://schemas.microsoft.com/office/drawing/2014/main" id="{934172D6-6481-00C7-6BCE-45A6EF32D145}"/>
              </a:ext>
            </a:extLst>
          </p:cNvPr>
          <p:cNvSpPr>
            <a:spLocks noGrp="1"/>
          </p:cNvSpPr>
          <p:nvPr>
            <p:ph type="body" sz="quarter" idx="21" hasCustomPrompt="1"/>
          </p:nvPr>
        </p:nvSpPr>
        <p:spPr>
          <a:xfrm>
            <a:off x="628665" y="3554930"/>
            <a:ext cx="3219895" cy="307777"/>
          </a:xfrm>
        </p:spPr>
        <p:txBody>
          <a:bodyPr wrap="square" lIns="0" tIns="0" rIns="0" bIns="0" anchor="t" anchorCtr="0">
            <a:spAutoFit/>
          </a:bodyPr>
          <a:lstStyle>
            <a:lvl1pPr algn="l">
              <a:lnSpc>
                <a:spcPct val="100000"/>
              </a:lnSpc>
              <a:defRPr sz="2000">
                <a:solidFill>
                  <a:schemeClr val="accent1"/>
                </a:solidFill>
                <a:latin typeface="+mj-lt"/>
              </a:defRPr>
            </a:lvl1pPr>
          </a:lstStyle>
          <a:p>
            <a:pPr lvl="0"/>
            <a:r>
              <a:rPr lang="fr-FR"/>
              <a:t>Lorem ipsum </a:t>
            </a:r>
            <a:r>
              <a:rPr lang="fr-FR" err="1"/>
              <a:t>dolore</a:t>
            </a:r>
            <a:endParaRPr lang="fr-FR"/>
          </a:p>
        </p:txBody>
      </p:sp>
      <p:sp>
        <p:nvSpPr>
          <p:cNvPr id="10" name="Espace réservé du texte 48">
            <a:extLst>
              <a:ext uri="{FF2B5EF4-FFF2-40B4-BE49-F238E27FC236}">
                <a16:creationId xmlns:a16="http://schemas.microsoft.com/office/drawing/2014/main" id="{96DEB718-B1A0-5075-B5E8-8044BCC7AE2B}"/>
              </a:ext>
            </a:extLst>
          </p:cNvPr>
          <p:cNvSpPr>
            <a:spLocks noGrp="1"/>
          </p:cNvSpPr>
          <p:nvPr>
            <p:ph type="body" sz="quarter" idx="22" hasCustomPrompt="1"/>
          </p:nvPr>
        </p:nvSpPr>
        <p:spPr>
          <a:xfrm>
            <a:off x="628665"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1" name="Espace réservé du texte 48">
            <a:extLst>
              <a:ext uri="{FF2B5EF4-FFF2-40B4-BE49-F238E27FC236}">
                <a16:creationId xmlns:a16="http://schemas.microsoft.com/office/drawing/2014/main" id="{E1277626-7B66-B3BE-AB57-F7192B3F25EA}"/>
              </a:ext>
            </a:extLst>
          </p:cNvPr>
          <p:cNvSpPr>
            <a:spLocks noGrp="1"/>
          </p:cNvSpPr>
          <p:nvPr>
            <p:ph type="body" sz="quarter" idx="23" hasCustomPrompt="1"/>
          </p:nvPr>
        </p:nvSpPr>
        <p:spPr>
          <a:xfrm>
            <a:off x="4481337" y="3554930"/>
            <a:ext cx="3219895" cy="307777"/>
          </a:xfrm>
        </p:spPr>
        <p:txBody>
          <a:bodyPr wrap="square" lIns="0" tIns="0" rIns="0" bIns="0" anchor="t" anchorCtr="0">
            <a:spAutoFit/>
          </a:bodyPr>
          <a:lstStyle>
            <a:lvl1pPr algn="l">
              <a:lnSpc>
                <a:spcPct val="100000"/>
              </a:lnSpc>
              <a:defRPr sz="2000">
                <a:solidFill>
                  <a:schemeClr val="bg2"/>
                </a:solidFill>
                <a:latin typeface="+mj-lt"/>
              </a:defRPr>
            </a:lvl1pPr>
          </a:lstStyle>
          <a:p>
            <a:pPr lvl="0"/>
            <a:r>
              <a:rPr lang="fr-FR"/>
              <a:t>Lorem ipsum </a:t>
            </a:r>
            <a:r>
              <a:rPr lang="fr-FR" err="1"/>
              <a:t>dolore</a:t>
            </a:r>
            <a:endParaRPr lang="fr-FR"/>
          </a:p>
        </p:txBody>
      </p:sp>
      <p:sp>
        <p:nvSpPr>
          <p:cNvPr id="12" name="Espace réservé du texte 48">
            <a:extLst>
              <a:ext uri="{FF2B5EF4-FFF2-40B4-BE49-F238E27FC236}">
                <a16:creationId xmlns:a16="http://schemas.microsoft.com/office/drawing/2014/main" id="{FAE8A845-1607-8E8D-70A2-79A344C491C6}"/>
              </a:ext>
            </a:extLst>
          </p:cNvPr>
          <p:cNvSpPr>
            <a:spLocks noGrp="1"/>
          </p:cNvSpPr>
          <p:nvPr>
            <p:ph type="body" sz="quarter" idx="24" hasCustomPrompt="1"/>
          </p:nvPr>
        </p:nvSpPr>
        <p:spPr>
          <a:xfrm>
            <a:off x="4481337"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3" name="Espace réservé du texte 48">
            <a:extLst>
              <a:ext uri="{FF2B5EF4-FFF2-40B4-BE49-F238E27FC236}">
                <a16:creationId xmlns:a16="http://schemas.microsoft.com/office/drawing/2014/main" id="{4B00D130-28AC-F4E8-E698-1A61042E5D7D}"/>
              </a:ext>
            </a:extLst>
          </p:cNvPr>
          <p:cNvSpPr>
            <a:spLocks noGrp="1"/>
          </p:cNvSpPr>
          <p:nvPr>
            <p:ph type="body" sz="quarter" idx="25" hasCustomPrompt="1"/>
          </p:nvPr>
        </p:nvSpPr>
        <p:spPr>
          <a:xfrm>
            <a:off x="8334009" y="3554930"/>
            <a:ext cx="3219895" cy="307777"/>
          </a:xfrm>
        </p:spPr>
        <p:txBody>
          <a:bodyPr wrap="square" lIns="0" tIns="0" rIns="0" bIns="0" anchor="t" anchorCtr="0">
            <a:spAutoFit/>
          </a:bodyPr>
          <a:lstStyle>
            <a:lvl1pPr algn="l">
              <a:lnSpc>
                <a:spcPct val="100000"/>
              </a:lnSpc>
              <a:defRPr sz="2000">
                <a:solidFill>
                  <a:schemeClr val="accent5"/>
                </a:solidFill>
                <a:latin typeface="+mj-lt"/>
              </a:defRPr>
            </a:lvl1pPr>
          </a:lstStyle>
          <a:p>
            <a:pPr lvl="0"/>
            <a:r>
              <a:rPr lang="fr-FR"/>
              <a:t>Lorem ipsum </a:t>
            </a:r>
            <a:r>
              <a:rPr lang="fr-FR" err="1"/>
              <a:t>dolore</a:t>
            </a:r>
            <a:endParaRPr lang="fr-FR"/>
          </a:p>
        </p:txBody>
      </p:sp>
      <p:sp>
        <p:nvSpPr>
          <p:cNvPr id="14" name="Espace réservé du texte 48">
            <a:extLst>
              <a:ext uri="{FF2B5EF4-FFF2-40B4-BE49-F238E27FC236}">
                <a16:creationId xmlns:a16="http://schemas.microsoft.com/office/drawing/2014/main" id="{489AFAF3-512B-07BC-6B5C-F1B0C39179CF}"/>
              </a:ext>
            </a:extLst>
          </p:cNvPr>
          <p:cNvSpPr>
            <a:spLocks noGrp="1"/>
          </p:cNvSpPr>
          <p:nvPr>
            <p:ph type="body" sz="quarter" idx="26" hasCustomPrompt="1"/>
          </p:nvPr>
        </p:nvSpPr>
        <p:spPr>
          <a:xfrm>
            <a:off x="8334009"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3" name="Forme libre 12">
            <a:extLst>
              <a:ext uri="{FF2B5EF4-FFF2-40B4-BE49-F238E27FC236}">
                <a16:creationId xmlns:a16="http://schemas.microsoft.com/office/drawing/2014/main" id="{4F379713-8488-1672-7CA3-F2E5761BA38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1F0BE90-3B1F-09AC-1100-AB104DDD1B2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848B5F75-7266-F802-EB96-FD48BA26115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F92F5DCC-3E61-B250-BB6F-00021BB3E38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5" name="Groupe 14">
            <a:extLst>
              <a:ext uri="{FF2B5EF4-FFF2-40B4-BE49-F238E27FC236}">
                <a16:creationId xmlns:a16="http://schemas.microsoft.com/office/drawing/2014/main" id="{0C371C93-02AD-1AFC-074D-4AA2FD0084E0}"/>
              </a:ext>
            </a:extLst>
          </p:cNvPr>
          <p:cNvGrpSpPr/>
          <p:nvPr userDrawn="1"/>
        </p:nvGrpSpPr>
        <p:grpSpPr>
          <a:xfrm>
            <a:off x="-1" y="263015"/>
            <a:ext cx="5860125" cy="375126"/>
            <a:chOff x="-5557295" y="172402"/>
            <a:chExt cx="5860125" cy="375126"/>
          </a:xfrm>
        </p:grpSpPr>
        <p:sp>
          <p:nvSpPr>
            <p:cNvPr id="16" name="Forme libre 11">
              <a:extLst>
                <a:ext uri="{FF2B5EF4-FFF2-40B4-BE49-F238E27FC236}">
                  <a16:creationId xmlns:a16="http://schemas.microsoft.com/office/drawing/2014/main" id="{4B272BF3-9CF1-D6DB-2FBF-5B392E0A65A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9" name="Forme libre 12">
              <a:extLst>
                <a:ext uri="{FF2B5EF4-FFF2-40B4-BE49-F238E27FC236}">
                  <a16:creationId xmlns:a16="http://schemas.microsoft.com/office/drawing/2014/main" id="{77E48F25-3F80-8211-6E54-5508EFFC9A5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9ECE1B18-4079-C278-EAB0-A2B8BA1DBC5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5" name="Espace réservé du texte 45">
            <a:extLst>
              <a:ext uri="{FF2B5EF4-FFF2-40B4-BE49-F238E27FC236}">
                <a16:creationId xmlns:a16="http://schemas.microsoft.com/office/drawing/2014/main" id="{4C0EC8F6-2951-A3FC-9DFB-2BC69A769F2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29060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aison de contenus 03">
    <p:bg>
      <p:bgPr>
        <a:solidFill>
          <a:schemeClr val="bg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5A9303A7-5B1B-B424-B892-77E5901C2B16}"/>
              </a:ext>
            </a:extLst>
          </p:cNvPr>
          <p:cNvGrpSpPr/>
          <p:nvPr userDrawn="1"/>
        </p:nvGrpSpPr>
        <p:grpSpPr>
          <a:xfrm>
            <a:off x="1316735" y="2195798"/>
            <a:ext cx="3779139" cy="590931"/>
            <a:chOff x="5627879" y="-686975"/>
            <a:chExt cx="1786827" cy="279400"/>
          </a:xfrm>
          <a:solidFill>
            <a:schemeClr val="bg1">
              <a:lumMod val="95000"/>
            </a:schemeClr>
          </a:solidFill>
        </p:grpSpPr>
        <p:sp>
          <p:nvSpPr>
            <p:cNvPr id="22" name="Forme libre 21">
              <a:extLst>
                <a:ext uri="{FF2B5EF4-FFF2-40B4-BE49-F238E27FC236}">
                  <a16:creationId xmlns:a16="http://schemas.microsoft.com/office/drawing/2014/main" id="{643DEBD7-8D71-5F62-CD89-7AE08606E359}"/>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20">
              <a:extLst>
                <a:ext uri="{FF2B5EF4-FFF2-40B4-BE49-F238E27FC236}">
                  <a16:creationId xmlns:a16="http://schemas.microsoft.com/office/drawing/2014/main" id="{F3B13421-E2A9-518B-2AA3-F8B7674FBBC1}"/>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8" name="Espace réservé du graphique 7">
            <a:extLst>
              <a:ext uri="{FF2B5EF4-FFF2-40B4-BE49-F238E27FC236}">
                <a16:creationId xmlns:a16="http://schemas.microsoft.com/office/drawing/2014/main" id="{06F280DE-F9CF-8C7C-1DF9-BAA6543FD7E4}"/>
              </a:ext>
            </a:extLst>
          </p:cNvPr>
          <p:cNvSpPr>
            <a:spLocks noGrp="1"/>
          </p:cNvSpPr>
          <p:nvPr>
            <p:ph type="chart" sz="quarter" idx="20"/>
          </p:nvPr>
        </p:nvSpPr>
        <p:spPr>
          <a:xfrm>
            <a:off x="1316736" y="2971357"/>
            <a:ext cx="3779139" cy="2914269"/>
          </a:xfrm>
        </p:spPr>
        <p:txBody>
          <a:bodyPr/>
          <a:lstStyle/>
          <a:p>
            <a:r>
              <a:rPr lang="fr-FR"/>
              <a:t>Cliquez sur l'icône pour ajouter un graphique</a:t>
            </a:r>
          </a:p>
        </p:txBody>
      </p:sp>
      <p:sp>
        <p:nvSpPr>
          <p:cNvPr id="29" name="Espace réservé du texte 48">
            <a:extLst>
              <a:ext uri="{FF2B5EF4-FFF2-40B4-BE49-F238E27FC236}">
                <a16:creationId xmlns:a16="http://schemas.microsoft.com/office/drawing/2014/main" id="{035F7288-E300-1366-570D-00CE4A789761}"/>
              </a:ext>
            </a:extLst>
          </p:cNvPr>
          <p:cNvSpPr>
            <a:spLocks noGrp="1"/>
          </p:cNvSpPr>
          <p:nvPr>
            <p:ph type="body" sz="quarter" idx="21" hasCustomPrompt="1"/>
          </p:nvPr>
        </p:nvSpPr>
        <p:spPr>
          <a:xfrm>
            <a:off x="15963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grpSp>
        <p:nvGrpSpPr>
          <p:cNvPr id="32" name="Groupe 31">
            <a:extLst>
              <a:ext uri="{FF2B5EF4-FFF2-40B4-BE49-F238E27FC236}">
                <a16:creationId xmlns:a16="http://schemas.microsoft.com/office/drawing/2014/main" id="{80C5143F-3022-DAC8-DDCD-CA13FD4BD7F0}"/>
              </a:ext>
            </a:extLst>
          </p:cNvPr>
          <p:cNvGrpSpPr/>
          <p:nvPr userDrawn="1"/>
        </p:nvGrpSpPr>
        <p:grpSpPr>
          <a:xfrm>
            <a:off x="7107935" y="2195798"/>
            <a:ext cx="3779139" cy="590931"/>
            <a:chOff x="5627879" y="-686975"/>
            <a:chExt cx="1786827" cy="279400"/>
          </a:xfrm>
          <a:solidFill>
            <a:schemeClr val="bg1">
              <a:lumMod val="95000"/>
            </a:schemeClr>
          </a:solidFill>
        </p:grpSpPr>
        <p:sp>
          <p:nvSpPr>
            <p:cNvPr id="33" name="Forme libre 32">
              <a:extLst>
                <a:ext uri="{FF2B5EF4-FFF2-40B4-BE49-F238E27FC236}">
                  <a16:creationId xmlns:a16="http://schemas.microsoft.com/office/drawing/2014/main" id="{F7A1B8CD-FBB6-8A6F-1F46-8FD41109F7B6}"/>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34" name="Forme libre 33">
              <a:extLst>
                <a:ext uri="{FF2B5EF4-FFF2-40B4-BE49-F238E27FC236}">
                  <a16:creationId xmlns:a16="http://schemas.microsoft.com/office/drawing/2014/main" id="{23E863FD-BD82-7C6C-2E4E-2A30A2DC5585}"/>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5" name="Espace réservé du graphique 7">
            <a:extLst>
              <a:ext uri="{FF2B5EF4-FFF2-40B4-BE49-F238E27FC236}">
                <a16:creationId xmlns:a16="http://schemas.microsoft.com/office/drawing/2014/main" id="{6C7F4134-DD7C-461B-B601-63F077344AC0}"/>
              </a:ext>
            </a:extLst>
          </p:cNvPr>
          <p:cNvSpPr>
            <a:spLocks noGrp="1"/>
          </p:cNvSpPr>
          <p:nvPr>
            <p:ph type="chart" sz="quarter" idx="22"/>
          </p:nvPr>
        </p:nvSpPr>
        <p:spPr>
          <a:xfrm>
            <a:off x="7107936" y="2971357"/>
            <a:ext cx="3779139" cy="2914269"/>
          </a:xfrm>
        </p:spPr>
        <p:txBody>
          <a:bodyPr/>
          <a:lstStyle/>
          <a:p>
            <a:r>
              <a:rPr lang="fr-FR"/>
              <a:t>Cliquez sur l'icône pour ajouter un graphique</a:t>
            </a:r>
          </a:p>
        </p:txBody>
      </p:sp>
      <p:sp>
        <p:nvSpPr>
          <p:cNvPr id="36" name="Espace réservé du texte 48">
            <a:extLst>
              <a:ext uri="{FF2B5EF4-FFF2-40B4-BE49-F238E27FC236}">
                <a16:creationId xmlns:a16="http://schemas.microsoft.com/office/drawing/2014/main" id="{ACF523BF-721E-9071-D799-439718AB3403}"/>
              </a:ext>
            </a:extLst>
          </p:cNvPr>
          <p:cNvSpPr>
            <a:spLocks noGrp="1"/>
          </p:cNvSpPr>
          <p:nvPr>
            <p:ph type="body" sz="quarter" idx="23" hasCustomPrompt="1"/>
          </p:nvPr>
        </p:nvSpPr>
        <p:spPr>
          <a:xfrm>
            <a:off x="73875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sp>
        <p:nvSpPr>
          <p:cNvPr id="3" name="Forme libre 12">
            <a:extLst>
              <a:ext uri="{FF2B5EF4-FFF2-40B4-BE49-F238E27FC236}">
                <a16:creationId xmlns:a16="http://schemas.microsoft.com/office/drawing/2014/main" id="{B0A859DB-C1DF-0614-7365-BD79FB46F2F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F08117E4-C9D4-B721-30C5-E41DEA77D5D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E970D43E-27F8-EADA-CBAD-0F25278719C3}"/>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3A047105-3FD7-C46F-896E-6C32BD264E07}"/>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0" name="Groupe 9">
            <a:extLst>
              <a:ext uri="{FF2B5EF4-FFF2-40B4-BE49-F238E27FC236}">
                <a16:creationId xmlns:a16="http://schemas.microsoft.com/office/drawing/2014/main" id="{21D76EC8-7B8B-0D85-060B-B4AAA9251CD2}"/>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918E15E-E66A-7217-A7CD-8038095D3E1A}"/>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AF31DAD0-E76E-7A2E-A053-AB70FB91744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B7681F3C-AE8B-5FD8-7623-7DADF4D5BBE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Présentation du modèle</a:t>
            </a:r>
          </a:p>
        </p:txBody>
      </p:sp>
      <p:sp>
        <p:nvSpPr>
          <p:cNvPr id="5" name="Espace réservé du texte 45">
            <a:extLst>
              <a:ext uri="{FF2B5EF4-FFF2-40B4-BE49-F238E27FC236}">
                <a16:creationId xmlns:a16="http://schemas.microsoft.com/office/drawing/2014/main" id="{55F9DC73-6962-4924-F86F-6B319040786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615749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104728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3896361"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096790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norama photos 2">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7"/>
            <a:ext cx="444908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7"/>
            <a:ext cx="443966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165917" y="1388928"/>
            <a:ext cx="1458214"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165917" y="1900990"/>
            <a:ext cx="1850746" cy="984885"/>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11" name="Espace réservé du texte 48">
            <a:extLst>
              <a:ext uri="{FF2B5EF4-FFF2-40B4-BE49-F238E27FC236}">
                <a16:creationId xmlns:a16="http://schemas.microsoft.com/office/drawing/2014/main" id="{A30869FF-7A05-52A4-B5E3-22D081A6DD3A}"/>
              </a:ext>
            </a:extLst>
          </p:cNvPr>
          <p:cNvSpPr>
            <a:spLocks noGrp="1"/>
          </p:cNvSpPr>
          <p:nvPr>
            <p:ph type="body" sz="quarter" idx="23" hasCustomPrompt="1"/>
          </p:nvPr>
        </p:nvSpPr>
        <p:spPr>
          <a:xfrm>
            <a:off x="5558449" y="4372819"/>
            <a:ext cx="1458214"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2" name="Espace réservé du texte 48">
            <a:extLst>
              <a:ext uri="{FF2B5EF4-FFF2-40B4-BE49-F238E27FC236}">
                <a16:creationId xmlns:a16="http://schemas.microsoft.com/office/drawing/2014/main" id="{DB5D7D41-633A-88EE-A297-2AE876E66FC8}"/>
              </a:ext>
            </a:extLst>
          </p:cNvPr>
          <p:cNvSpPr>
            <a:spLocks noGrp="1"/>
          </p:cNvSpPr>
          <p:nvPr>
            <p:ph type="body" sz="quarter" idx="24" hasCustomPrompt="1"/>
          </p:nvPr>
        </p:nvSpPr>
        <p:spPr>
          <a:xfrm>
            <a:off x="5165916" y="4883943"/>
            <a:ext cx="1850747" cy="984885"/>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2" name="Forme libre 12">
            <a:extLst>
              <a:ext uri="{FF2B5EF4-FFF2-40B4-BE49-F238E27FC236}">
                <a16:creationId xmlns:a16="http://schemas.microsoft.com/office/drawing/2014/main" id="{1DD95D6D-FCBA-2EE7-A3D3-7FE27CC7774C}"/>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C129D0C-ABF2-E8F3-CD6B-A0347710AC4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1ADC49BE-24E4-0298-7298-22FD3CF645D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0" name="Espace réservé du numéro de diapositive 4">
            <a:extLst>
              <a:ext uri="{FF2B5EF4-FFF2-40B4-BE49-F238E27FC236}">
                <a16:creationId xmlns:a16="http://schemas.microsoft.com/office/drawing/2014/main" id="{9AB025A3-ED53-1486-71FD-556FB805B68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07AA25F0-ED27-94ED-BA2C-3AA0E51D417C}"/>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E09B473-5571-512D-8CDE-BBF4AE858E9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661C4970-3CF7-6A56-0967-CA2B67A76617}"/>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B30C66F-6F0C-6416-3378-91B69AD517F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0DB73D97-CB2D-87E4-F3CC-BDE2C53FCFE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414314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anorama photos 4">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6"/>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6"/>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266319" y="845436"/>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266321" y="1228842"/>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2" name="Espace réservé pour une image  19">
            <a:extLst>
              <a:ext uri="{FF2B5EF4-FFF2-40B4-BE49-F238E27FC236}">
                <a16:creationId xmlns:a16="http://schemas.microsoft.com/office/drawing/2014/main" id="{C7EFD244-1229-09E9-5488-FB3A5C3345DD}"/>
              </a:ext>
            </a:extLst>
          </p:cNvPr>
          <p:cNvSpPr>
            <a:spLocks noGrp="1"/>
          </p:cNvSpPr>
          <p:nvPr>
            <p:ph type="pic" sz="quarter" idx="27"/>
          </p:nvPr>
        </p:nvSpPr>
        <p:spPr>
          <a:xfrm>
            <a:off x="7205341" y="3599665"/>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6" name="Espace réservé pour une image  19">
            <a:extLst>
              <a:ext uri="{FF2B5EF4-FFF2-40B4-BE49-F238E27FC236}">
                <a16:creationId xmlns:a16="http://schemas.microsoft.com/office/drawing/2014/main" id="{63115025-E73A-AB84-536C-D0BD8D128B56}"/>
              </a:ext>
            </a:extLst>
          </p:cNvPr>
          <p:cNvSpPr>
            <a:spLocks noGrp="1"/>
          </p:cNvSpPr>
          <p:nvPr>
            <p:ph type="pic" sz="quarter" idx="28"/>
          </p:nvPr>
        </p:nvSpPr>
        <p:spPr>
          <a:xfrm>
            <a:off x="537575" y="3599665"/>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7" name="Espace réservé du texte 48">
            <a:extLst>
              <a:ext uri="{FF2B5EF4-FFF2-40B4-BE49-F238E27FC236}">
                <a16:creationId xmlns:a16="http://schemas.microsoft.com/office/drawing/2014/main" id="{6C97D450-1D6D-1676-9C6D-79A6C1C336E0}"/>
              </a:ext>
            </a:extLst>
          </p:cNvPr>
          <p:cNvSpPr>
            <a:spLocks noGrp="1"/>
          </p:cNvSpPr>
          <p:nvPr>
            <p:ph type="body" sz="quarter" idx="29" hasCustomPrompt="1"/>
          </p:nvPr>
        </p:nvSpPr>
        <p:spPr>
          <a:xfrm>
            <a:off x="5065513" y="2494044"/>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0" name="Espace réservé du texte 48">
            <a:extLst>
              <a:ext uri="{FF2B5EF4-FFF2-40B4-BE49-F238E27FC236}">
                <a16:creationId xmlns:a16="http://schemas.microsoft.com/office/drawing/2014/main" id="{EF7A45AC-4C50-A949-39E8-873847E96DCE}"/>
              </a:ext>
            </a:extLst>
          </p:cNvPr>
          <p:cNvSpPr>
            <a:spLocks noGrp="1"/>
          </p:cNvSpPr>
          <p:nvPr>
            <p:ph type="body" sz="quarter" idx="30" hasCustomPrompt="1"/>
          </p:nvPr>
        </p:nvSpPr>
        <p:spPr>
          <a:xfrm>
            <a:off x="5065514" y="2872993"/>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3" name="Espace réservé du texte 48">
            <a:extLst>
              <a:ext uri="{FF2B5EF4-FFF2-40B4-BE49-F238E27FC236}">
                <a16:creationId xmlns:a16="http://schemas.microsoft.com/office/drawing/2014/main" id="{96ADFD56-2322-711C-0104-EE7F2ABD6CB2}"/>
              </a:ext>
            </a:extLst>
          </p:cNvPr>
          <p:cNvSpPr>
            <a:spLocks noGrp="1"/>
          </p:cNvSpPr>
          <p:nvPr>
            <p:ph type="body" sz="quarter" idx="31" hasCustomPrompt="1"/>
          </p:nvPr>
        </p:nvSpPr>
        <p:spPr>
          <a:xfrm>
            <a:off x="5266316" y="3599665"/>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6" name="Espace réservé du texte 48">
            <a:extLst>
              <a:ext uri="{FF2B5EF4-FFF2-40B4-BE49-F238E27FC236}">
                <a16:creationId xmlns:a16="http://schemas.microsoft.com/office/drawing/2014/main" id="{E3CFFFDD-74FF-BCD1-0260-E5910F373A78}"/>
              </a:ext>
            </a:extLst>
          </p:cNvPr>
          <p:cNvSpPr>
            <a:spLocks noGrp="1"/>
          </p:cNvSpPr>
          <p:nvPr>
            <p:ph type="body" sz="quarter" idx="32" hasCustomPrompt="1"/>
          </p:nvPr>
        </p:nvSpPr>
        <p:spPr>
          <a:xfrm>
            <a:off x="5266318" y="3983071"/>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7" name="Espace réservé du texte 48">
            <a:extLst>
              <a:ext uri="{FF2B5EF4-FFF2-40B4-BE49-F238E27FC236}">
                <a16:creationId xmlns:a16="http://schemas.microsoft.com/office/drawing/2014/main" id="{80E1196D-E168-0237-AC44-1C35EC19BF08}"/>
              </a:ext>
            </a:extLst>
          </p:cNvPr>
          <p:cNvSpPr>
            <a:spLocks noGrp="1"/>
          </p:cNvSpPr>
          <p:nvPr>
            <p:ph type="body" sz="quarter" idx="33" hasCustomPrompt="1"/>
          </p:nvPr>
        </p:nvSpPr>
        <p:spPr>
          <a:xfrm>
            <a:off x="5065510" y="5248273"/>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8" name="Espace réservé du texte 48">
            <a:extLst>
              <a:ext uri="{FF2B5EF4-FFF2-40B4-BE49-F238E27FC236}">
                <a16:creationId xmlns:a16="http://schemas.microsoft.com/office/drawing/2014/main" id="{ABA1E221-1503-37AA-C1C8-830F077014F6}"/>
              </a:ext>
            </a:extLst>
          </p:cNvPr>
          <p:cNvSpPr>
            <a:spLocks noGrp="1"/>
          </p:cNvSpPr>
          <p:nvPr>
            <p:ph type="body" sz="quarter" idx="34" hasCustomPrompt="1"/>
          </p:nvPr>
        </p:nvSpPr>
        <p:spPr>
          <a:xfrm>
            <a:off x="5065511" y="5627222"/>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1" name="Forme libre 12">
            <a:extLst>
              <a:ext uri="{FF2B5EF4-FFF2-40B4-BE49-F238E27FC236}">
                <a16:creationId xmlns:a16="http://schemas.microsoft.com/office/drawing/2014/main" id="{B7B84159-C81F-C8F6-8D32-E2FAA205AFC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4B59F8E-EC1C-EDAF-B249-C4C31E75DFD9}"/>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9" name="Espace réservé du pied de page 3">
            <a:extLst>
              <a:ext uri="{FF2B5EF4-FFF2-40B4-BE49-F238E27FC236}">
                <a16:creationId xmlns:a16="http://schemas.microsoft.com/office/drawing/2014/main" id="{55CA570D-1E39-0725-E218-373C741BA9F6}"/>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20AC2A3A-872F-D9FA-E98E-5566A6E4B19C}"/>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2DD0FE4-9728-B7E6-038B-75373227BE28}"/>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0FB486BE-BE23-67E6-0C2B-3D871573532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806DB196-18DF-9397-D3B1-012EC6A56CA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3C6D3F5E-CEB4-6402-B9C8-4FE94615AE1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B14288E1-A952-5620-9F23-EB5A5F8C2414}"/>
              </a:ext>
            </a:extLst>
          </p:cNvPr>
          <p:cNvSpPr>
            <a:spLocks noGrp="1"/>
          </p:cNvSpPr>
          <p:nvPr>
            <p:ph type="body" sz="quarter" idx="35"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84845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au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B07B07-AA03-5ACC-6FFB-C9A1B250FE81}"/>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6" name="Forme libre 12">
            <a:extLst>
              <a:ext uri="{FF2B5EF4-FFF2-40B4-BE49-F238E27FC236}">
                <a16:creationId xmlns:a16="http://schemas.microsoft.com/office/drawing/2014/main" id="{4A47F340-C55C-E5D5-9ADC-A1263F47A60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3ACE736-F452-C03A-925C-4AB874D2ED6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BA8B7FC6-42A8-51CF-47A8-6657E9B2CE5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021BEE63-1EAF-5199-3849-5B180E1973A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0255193-0062-527E-4F3E-4AF72082E97E}"/>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367C29C6-8DC2-47FD-971B-45861B35992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A74675DC-97EF-FAE8-35EA-E41DE4449851}"/>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C1E5B70B-B604-13BF-31BE-92B67B50955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D5C09ADD-FA01-2C94-428C-E2B56D7B8080}"/>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439027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ableau 02">
    <p:bg>
      <p:bgPr>
        <a:blipFill dpi="0" rotWithShape="1">
          <a:blip r:embed="rId2">
            <a:lum/>
          </a:blip>
          <a:srcRect/>
          <a:stretch>
            <a:fillRect l="40000" t="-8000" r="-40000" b="-8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A1B1A827-745B-51EA-96B5-7C38D1920B57}"/>
              </a:ext>
            </a:extLst>
          </p:cNvPr>
          <p:cNvSpPr/>
          <p:nvPr userDrawn="1"/>
        </p:nvSpPr>
        <p:spPr>
          <a:xfrm>
            <a:off x="0" y="-20971"/>
            <a:ext cx="12192000"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4DC5CE7E-D269-A260-6353-D23A6A4B0732}"/>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12" name="Forme libre 12">
            <a:extLst>
              <a:ext uri="{FF2B5EF4-FFF2-40B4-BE49-F238E27FC236}">
                <a16:creationId xmlns:a16="http://schemas.microsoft.com/office/drawing/2014/main" id="{92C2C3C5-4DAF-F9C8-0CB2-0ED74826B324}"/>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3" name="Espace réservé de la date 2">
            <a:extLst>
              <a:ext uri="{FF2B5EF4-FFF2-40B4-BE49-F238E27FC236}">
                <a16:creationId xmlns:a16="http://schemas.microsoft.com/office/drawing/2014/main" id="{3FE7F6B4-60B5-9531-5D30-8C2E9AFE122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4" name="Espace réservé du pied de page 3">
            <a:extLst>
              <a:ext uri="{FF2B5EF4-FFF2-40B4-BE49-F238E27FC236}">
                <a16:creationId xmlns:a16="http://schemas.microsoft.com/office/drawing/2014/main" id="{238222B4-E515-DA71-77A3-F490DF5EA0E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5" name="Espace réservé du numéro de diapositive 4">
            <a:extLst>
              <a:ext uri="{FF2B5EF4-FFF2-40B4-BE49-F238E27FC236}">
                <a16:creationId xmlns:a16="http://schemas.microsoft.com/office/drawing/2014/main" id="{C477C887-B94B-8D8A-15AB-7A003DD3DEE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9" name="Groupe 18">
            <a:extLst>
              <a:ext uri="{FF2B5EF4-FFF2-40B4-BE49-F238E27FC236}">
                <a16:creationId xmlns:a16="http://schemas.microsoft.com/office/drawing/2014/main" id="{F3D3BD22-EDD0-FFB5-CBB6-7E10557833FA}"/>
              </a:ext>
            </a:extLst>
          </p:cNvPr>
          <p:cNvGrpSpPr/>
          <p:nvPr userDrawn="1"/>
        </p:nvGrpSpPr>
        <p:grpSpPr>
          <a:xfrm>
            <a:off x="-1" y="263015"/>
            <a:ext cx="5860125" cy="375126"/>
            <a:chOff x="-5557295" y="172402"/>
            <a:chExt cx="5860125" cy="375126"/>
          </a:xfrm>
        </p:grpSpPr>
        <p:sp>
          <p:nvSpPr>
            <p:cNvPr id="20" name="Forme libre 11">
              <a:extLst>
                <a:ext uri="{FF2B5EF4-FFF2-40B4-BE49-F238E27FC236}">
                  <a16:creationId xmlns:a16="http://schemas.microsoft.com/office/drawing/2014/main" id="{DCE06520-3AF5-C562-F50E-95BC5A523A4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12">
              <a:extLst>
                <a:ext uri="{FF2B5EF4-FFF2-40B4-BE49-F238E27FC236}">
                  <a16:creationId xmlns:a16="http://schemas.microsoft.com/office/drawing/2014/main" id="{2FB780CF-88A1-4CDE-6AE9-58E9E0BD1F2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761CD43D-5C48-6E79-9132-7809BB8861D6}"/>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CB81CF82-8CE3-D660-D350-7AA11C132C1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750427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lendrier">
    <p:bg>
      <p:bgPr>
        <a:blipFill dpi="0" rotWithShape="1">
          <a:blip r:embed="rId2">
            <a:lum/>
          </a:blip>
          <a:srcRect/>
          <a:stretch>
            <a:fillRect l="30000" t="-7000" r="-30000" b="-7000"/>
          </a:stretch>
        </a:blipFill>
        <a:effectLst/>
      </p:bgPr>
    </p:bg>
    <p:spTree>
      <p:nvGrpSpPr>
        <p:cNvPr id="1" name=""/>
        <p:cNvGrpSpPr/>
        <p:nvPr/>
      </p:nvGrpSpPr>
      <p:grpSpPr>
        <a:xfrm>
          <a:off x="0" y="0"/>
          <a:ext cx="0" cy="0"/>
          <a:chOff x="0" y="0"/>
          <a:chExt cx="0" cy="0"/>
        </a:xfrm>
      </p:grpSpPr>
      <p:sp>
        <p:nvSpPr>
          <p:cNvPr id="17" name="Forme libre 9">
            <a:extLst>
              <a:ext uri="{FF2B5EF4-FFF2-40B4-BE49-F238E27FC236}">
                <a16:creationId xmlns:a16="http://schemas.microsoft.com/office/drawing/2014/main" id="{C52C6C69-F242-7427-226C-8EB4BE0E3417}"/>
              </a:ext>
            </a:extLst>
          </p:cNvPr>
          <p:cNvSpPr/>
          <p:nvPr userDrawn="1"/>
        </p:nvSpPr>
        <p:spPr>
          <a:xfrm>
            <a:off x="-1" y="-20971"/>
            <a:ext cx="12192001"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solidFill>
                <a:schemeClr val="accent3"/>
              </a:solidFill>
            </a:endParaRPr>
          </a:p>
        </p:txBody>
      </p:sp>
      <p:sp>
        <p:nvSpPr>
          <p:cNvPr id="2" name="Titre 1">
            <a:extLst>
              <a:ext uri="{FF2B5EF4-FFF2-40B4-BE49-F238E27FC236}">
                <a16:creationId xmlns:a16="http://schemas.microsoft.com/office/drawing/2014/main" id="{256ACFC7-BEAD-6583-D73B-A62DF40C60C3}"/>
              </a:ext>
            </a:extLst>
          </p:cNvPr>
          <p:cNvSpPr>
            <a:spLocks noGrp="1"/>
          </p:cNvSpPr>
          <p:nvPr>
            <p:ph type="title"/>
          </p:nvPr>
        </p:nvSpPr>
        <p:spPr/>
        <p:txBody>
          <a:bodyPr/>
          <a:lstStyle>
            <a:lvl1pPr>
              <a:defRPr>
                <a:solidFill>
                  <a:schemeClr val="accent3"/>
                </a:solidFill>
              </a:defRPr>
            </a:lvl1pPr>
          </a:lstStyle>
          <a:p>
            <a:r>
              <a:rPr lang="fr-FR"/>
              <a:t>Modifiez le style du titre</a:t>
            </a:r>
          </a:p>
        </p:txBody>
      </p:sp>
      <p:grpSp>
        <p:nvGrpSpPr>
          <p:cNvPr id="6" name="Groupe 5">
            <a:extLst>
              <a:ext uri="{FF2B5EF4-FFF2-40B4-BE49-F238E27FC236}">
                <a16:creationId xmlns:a16="http://schemas.microsoft.com/office/drawing/2014/main" id="{A3A49CD3-9CA8-6BA3-9416-B1440A8500FA}"/>
              </a:ext>
            </a:extLst>
          </p:cNvPr>
          <p:cNvGrpSpPr/>
          <p:nvPr userDrawn="1"/>
        </p:nvGrpSpPr>
        <p:grpSpPr>
          <a:xfrm>
            <a:off x="-1" y="263015"/>
            <a:ext cx="5860125" cy="375126"/>
            <a:chOff x="-5557295" y="172402"/>
            <a:chExt cx="5860125" cy="375126"/>
          </a:xfrm>
        </p:grpSpPr>
        <p:sp>
          <p:nvSpPr>
            <p:cNvPr id="7" name="Forme libre 11">
              <a:extLst>
                <a:ext uri="{FF2B5EF4-FFF2-40B4-BE49-F238E27FC236}">
                  <a16:creationId xmlns:a16="http://schemas.microsoft.com/office/drawing/2014/main" id="{90189B4B-2A6B-AFA0-E96E-C404176E297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Forme libre 12">
              <a:extLst>
                <a:ext uri="{FF2B5EF4-FFF2-40B4-BE49-F238E27FC236}">
                  <a16:creationId xmlns:a16="http://schemas.microsoft.com/office/drawing/2014/main" id="{ED5AA2D0-B4D0-3148-3067-D98BA52A184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F1EFDC2A-6314-5FB2-AED0-470C3D22A87F}"/>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10" name="Espace réservé du texte 45">
            <a:extLst>
              <a:ext uri="{FF2B5EF4-FFF2-40B4-BE49-F238E27FC236}">
                <a16:creationId xmlns:a16="http://schemas.microsoft.com/office/drawing/2014/main" id="{F464529F-E5DD-BF02-1454-549F2336130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11" name="Forme libre 12">
            <a:extLst>
              <a:ext uri="{FF2B5EF4-FFF2-40B4-BE49-F238E27FC236}">
                <a16:creationId xmlns:a16="http://schemas.microsoft.com/office/drawing/2014/main" id="{E83EEC7D-948F-1B30-3BEF-2A0351851E7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FA06006-CE4E-F648-04E3-101DEAFAFE4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3" name="Espace réservé du pied de page 3">
            <a:extLst>
              <a:ext uri="{FF2B5EF4-FFF2-40B4-BE49-F238E27FC236}">
                <a16:creationId xmlns:a16="http://schemas.microsoft.com/office/drawing/2014/main" id="{9AED4FB6-EB25-DF41-7CBD-219A23020C7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4" name="Espace réservé du numéro de diapositive 4">
            <a:extLst>
              <a:ext uri="{FF2B5EF4-FFF2-40B4-BE49-F238E27FC236}">
                <a16:creationId xmlns:a16="http://schemas.microsoft.com/office/drawing/2014/main" id="{E1FC0C53-6EAD-D079-AAEB-8A5EBAA7CBF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082698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hiffres clés">
    <p:bg>
      <p:bgPr>
        <a:blipFill dpi="0" rotWithShape="1">
          <a:blip r:embed="rId2">
            <a:lum/>
          </a:blip>
          <a:srcRect/>
          <a:stretch>
            <a:fillRect l="-35000" t="-9000" r="40000" b="-9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0"/>
            <a:ext cx="12192000" cy="6853042"/>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1" name="Espace réservé du texte 48">
            <a:extLst>
              <a:ext uri="{FF2B5EF4-FFF2-40B4-BE49-F238E27FC236}">
                <a16:creationId xmlns:a16="http://schemas.microsoft.com/office/drawing/2014/main" id="{699774F8-2CAC-4281-C7BD-6B3E8220C090}"/>
              </a:ext>
            </a:extLst>
          </p:cNvPr>
          <p:cNvSpPr>
            <a:spLocks noGrp="1"/>
          </p:cNvSpPr>
          <p:nvPr>
            <p:ph type="body" sz="quarter" idx="20" hasCustomPrompt="1"/>
          </p:nvPr>
        </p:nvSpPr>
        <p:spPr>
          <a:xfrm>
            <a:off x="5214421"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6E0B3D2C-0628-2036-3FFB-D3D59C30A9C0}"/>
              </a:ext>
            </a:extLst>
          </p:cNvPr>
          <p:cNvSpPr>
            <a:spLocks noGrp="1"/>
          </p:cNvSpPr>
          <p:nvPr>
            <p:ph type="body" sz="quarter" idx="21" hasCustomPrompt="1"/>
          </p:nvPr>
        </p:nvSpPr>
        <p:spPr>
          <a:xfrm>
            <a:off x="5214421"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3" name="Espace réservé du texte 48">
            <a:extLst>
              <a:ext uri="{FF2B5EF4-FFF2-40B4-BE49-F238E27FC236}">
                <a16:creationId xmlns:a16="http://schemas.microsoft.com/office/drawing/2014/main" id="{F22EA189-DC0E-A682-C143-6920742EB54A}"/>
              </a:ext>
            </a:extLst>
          </p:cNvPr>
          <p:cNvSpPr>
            <a:spLocks noGrp="1"/>
          </p:cNvSpPr>
          <p:nvPr>
            <p:ph type="body" sz="quarter" idx="22" hasCustomPrompt="1"/>
          </p:nvPr>
        </p:nvSpPr>
        <p:spPr>
          <a:xfrm>
            <a:off x="5214421"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4" name="Espace réservé du texte 48">
            <a:extLst>
              <a:ext uri="{FF2B5EF4-FFF2-40B4-BE49-F238E27FC236}">
                <a16:creationId xmlns:a16="http://schemas.microsoft.com/office/drawing/2014/main" id="{3E287203-AF51-2846-74AF-179373468403}"/>
              </a:ext>
            </a:extLst>
          </p:cNvPr>
          <p:cNvSpPr>
            <a:spLocks noGrp="1"/>
          </p:cNvSpPr>
          <p:nvPr>
            <p:ph type="body" sz="quarter" idx="23" hasCustomPrompt="1"/>
          </p:nvPr>
        </p:nvSpPr>
        <p:spPr>
          <a:xfrm>
            <a:off x="5214421"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5" name="Espace réservé du texte 48">
            <a:extLst>
              <a:ext uri="{FF2B5EF4-FFF2-40B4-BE49-F238E27FC236}">
                <a16:creationId xmlns:a16="http://schemas.microsoft.com/office/drawing/2014/main" id="{E45B0185-8CEC-2879-18A9-21224282C417}"/>
              </a:ext>
            </a:extLst>
          </p:cNvPr>
          <p:cNvSpPr>
            <a:spLocks noGrp="1"/>
          </p:cNvSpPr>
          <p:nvPr>
            <p:ph type="body" sz="quarter" idx="24" hasCustomPrompt="1"/>
          </p:nvPr>
        </p:nvSpPr>
        <p:spPr>
          <a:xfrm>
            <a:off x="8361659"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6" name="Espace réservé du texte 48">
            <a:extLst>
              <a:ext uri="{FF2B5EF4-FFF2-40B4-BE49-F238E27FC236}">
                <a16:creationId xmlns:a16="http://schemas.microsoft.com/office/drawing/2014/main" id="{845819A9-0C72-D550-AF7E-3F38CB6B2B94}"/>
              </a:ext>
            </a:extLst>
          </p:cNvPr>
          <p:cNvSpPr>
            <a:spLocks noGrp="1"/>
          </p:cNvSpPr>
          <p:nvPr>
            <p:ph type="body" sz="quarter" idx="25" hasCustomPrompt="1"/>
          </p:nvPr>
        </p:nvSpPr>
        <p:spPr>
          <a:xfrm>
            <a:off x="8361659"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7" name="Espace réservé du texte 48">
            <a:extLst>
              <a:ext uri="{FF2B5EF4-FFF2-40B4-BE49-F238E27FC236}">
                <a16:creationId xmlns:a16="http://schemas.microsoft.com/office/drawing/2014/main" id="{5EE413F4-2838-BD96-29BA-281685C7DE17}"/>
              </a:ext>
            </a:extLst>
          </p:cNvPr>
          <p:cNvSpPr>
            <a:spLocks noGrp="1"/>
          </p:cNvSpPr>
          <p:nvPr>
            <p:ph type="body" sz="quarter" idx="26" hasCustomPrompt="1"/>
          </p:nvPr>
        </p:nvSpPr>
        <p:spPr>
          <a:xfrm>
            <a:off x="8361659"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8" name="Espace réservé du texte 48">
            <a:extLst>
              <a:ext uri="{FF2B5EF4-FFF2-40B4-BE49-F238E27FC236}">
                <a16:creationId xmlns:a16="http://schemas.microsoft.com/office/drawing/2014/main" id="{99C98D80-09BB-D004-46B8-42890F525B4F}"/>
              </a:ext>
            </a:extLst>
          </p:cNvPr>
          <p:cNvSpPr>
            <a:spLocks noGrp="1"/>
          </p:cNvSpPr>
          <p:nvPr>
            <p:ph type="body" sz="quarter" idx="27" hasCustomPrompt="1"/>
          </p:nvPr>
        </p:nvSpPr>
        <p:spPr>
          <a:xfrm>
            <a:off x="8361659"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6" name="Forme libre 12">
            <a:extLst>
              <a:ext uri="{FF2B5EF4-FFF2-40B4-BE49-F238E27FC236}">
                <a16:creationId xmlns:a16="http://schemas.microsoft.com/office/drawing/2014/main" id="{FC8420EF-069A-2B15-BE80-0E449C19B507}"/>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524FC760-8A19-1AE5-D439-AC2C4115F107}"/>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22" name="Espace réservé du pied de page 3">
            <a:extLst>
              <a:ext uri="{FF2B5EF4-FFF2-40B4-BE49-F238E27FC236}">
                <a16:creationId xmlns:a16="http://schemas.microsoft.com/office/drawing/2014/main" id="{16FC95EE-8CB8-7BF0-3950-E38B8BF9D5F0}"/>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A87983A0-01CB-40C9-C094-C725E723143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76E6F55D-DAF6-9444-E256-AE3946A6AD13}"/>
              </a:ext>
            </a:extLst>
          </p:cNvPr>
          <p:cNvGrpSpPr/>
          <p:nvPr userDrawn="1"/>
        </p:nvGrpSpPr>
        <p:grpSpPr>
          <a:xfrm>
            <a:off x="-1" y="263015"/>
            <a:ext cx="5860125" cy="375126"/>
            <a:chOff x="-5557295" y="172402"/>
            <a:chExt cx="5860125" cy="375126"/>
          </a:xfrm>
        </p:grpSpPr>
        <p:sp>
          <p:nvSpPr>
            <p:cNvPr id="19" name="Forme libre 11">
              <a:extLst>
                <a:ext uri="{FF2B5EF4-FFF2-40B4-BE49-F238E27FC236}">
                  <a16:creationId xmlns:a16="http://schemas.microsoft.com/office/drawing/2014/main" id="{794ABA5F-8B9F-CE60-46A5-09ACBA47D4C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A9E04064-EE12-F787-45A6-52031ACD53F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6DC714C1-A15C-0D21-464C-435A129B09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54311D5A-4260-6FE7-A1BF-41EE87B142FA}"/>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1275527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xte">
    <p:bg>
      <p:bgPr>
        <a:solidFill>
          <a:schemeClr val="accent3"/>
        </a:solid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51672"/>
            <a:ext cx="11006420" cy="6961343"/>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Rectangle 1">
            <a:extLst>
              <a:ext uri="{FF2B5EF4-FFF2-40B4-BE49-F238E27FC236}">
                <a16:creationId xmlns:a16="http://schemas.microsoft.com/office/drawing/2014/main" id="{94F67C30-AE14-6D8D-3292-BB90707759D0}"/>
              </a:ext>
            </a:extLst>
          </p:cNvPr>
          <p:cNvSpPr/>
          <p:nvPr userDrawn="1"/>
        </p:nvSpPr>
        <p:spPr>
          <a:xfrm>
            <a:off x="10613985" y="-51672"/>
            <a:ext cx="1578016" cy="6961342"/>
          </a:xfrm>
          <a:prstGeom prst="rect">
            <a:avLst/>
          </a:pr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Espace réservé du texte 48">
            <a:extLst>
              <a:ext uri="{FF2B5EF4-FFF2-40B4-BE49-F238E27FC236}">
                <a16:creationId xmlns:a16="http://schemas.microsoft.com/office/drawing/2014/main" id="{9EABB81E-7E9E-580A-364D-42E2F06CA21C}"/>
              </a:ext>
            </a:extLst>
          </p:cNvPr>
          <p:cNvSpPr>
            <a:spLocks noGrp="1"/>
          </p:cNvSpPr>
          <p:nvPr>
            <p:ph type="body" sz="quarter" idx="22" hasCustomPrompt="1"/>
          </p:nvPr>
        </p:nvSpPr>
        <p:spPr>
          <a:xfrm>
            <a:off x="4508204" y="2262295"/>
            <a:ext cx="6904371" cy="2749471"/>
          </a:xfrm>
        </p:spPr>
        <p:txBody>
          <a:bodyPr wrap="square" lIns="0" tIns="0" rIns="0" bIns="0" anchor="t" anchorCtr="0">
            <a:spAutoFit/>
          </a:bodyPr>
          <a:lstStyle>
            <a:lvl1pPr algn="l">
              <a:lnSpc>
                <a:spcPct val="100000"/>
              </a:lnSpc>
              <a:spcBef>
                <a:spcPts val="1000"/>
              </a:spcBef>
              <a:defRPr sz="1800">
                <a:solidFill>
                  <a:schemeClr val="tx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a:p>
            <a:pPr lvl="0"/>
            <a:r>
              <a:rPr lang="fr-FR" err="1"/>
              <a:t>Lam</a:t>
            </a:r>
            <a:r>
              <a:rPr lang="fr-FR"/>
              <a:t> in </a:t>
            </a:r>
            <a:r>
              <a:rPr lang="fr-FR" err="1"/>
              <a:t>numqui</a:t>
            </a:r>
            <a:r>
              <a:rPr lang="fr-FR"/>
              <a:t> </a:t>
            </a:r>
            <a:r>
              <a:rPr lang="fr-FR" err="1"/>
              <a:t>quiatus</a:t>
            </a:r>
            <a:r>
              <a:rPr lang="fr-FR"/>
              <a:t> ape </a:t>
            </a:r>
            <a:r>
              <a:rPr lang="fr-FR" err="1"/>
              <a:t>eatis</a:t>
            </a:r>
            <a:r>
              <a:rPr lang="fr-FR"/>
              <a:t> </a:t>
            </a:r>
            <a:r>
              <a:rPr lang="fr-FR" err="1"/>
              <a:t>volut</a:t>
            </a:r>
            <a:r>
              <a:rPr lang="fr-FR"/>
              <a:t> </a:t>
            </a:r>
            <a:r>
              <a:rPr lang="fr-FR" err="1"/>
              <a:t>eleste</a:t>
            </a:r>
            <a:r>
              <a:rPr lang="fr-FR"/>
              <a:t> </a:t>
            </a:r>
            <a:r>
              <a:rPr lang="fr-FR" err="1"/>
              <a:t>vendi</a:t>
            </a:r>
            <a:r>
              <a:rPr lang="fr-FR"/>
              <a:t> con </a:t>
            </a:r>
            <a:r>
              <a:rPr lang="fr-FR" err="1"/>
              <a:t>ped</a:t>
            </a:r>
            <a:r>
              <a:rPr lang="fr-FR"/>
              <a:t> </a:t>
            </a:r>
            <a:r>
              <a:rPr lang="fr-FR" err="1"/>
              <a:t>quam</a:t>
            </a:r>
            <a:r>
              <a:rPr lang="fr-FR"/>
              <a:t> quia </a:t>
            </a:r>
            <a:r>
              <a:rPr lang="fr-FR" err="1"/>
              <a:t>im</a:t>
            </a:r>
            <a:r>
              <a:rPr lang="fr-FR"/>
              <a:t> et </a:t>
            </a:r>
            <a:r>
              <a:rPr lang="fr-FR" err="1"/>
              <a:t>prorepe</a:t>
            </a:r>
            <a:r>
              <a:rPr lang="fr-FR"/>
              <a:t> </a:t>
            </a:r>
            <a:r>
              <a:rPr lang="fr-FR" err="1"/>
              <a:t>llorum</a:t>
            </a:r>
            <a:r>
              <a:rPr lang="fr-FR"/>
              <a:t> </a:t>
            </a:r>
            <a:r>
              <a:rPr lang="fr-FR" err="1"/>
              <a:t>num</a:t>
            </a:r>
            <a:r>
              <a:rPr lang="fr-FR"/>
              <a:t> </a:t>
            </a:r>
            <a:r>
              <a:rPr lang="fr-FR" err="1"/>
              <a:t>laboribus</a:t>
            </a:r>
            <a:r>
              <a:rPr lang="fr-FR"/>
              <a:t> </a:t>
            </a:r>
            <a:r>
              <a:rPr lang="fr-FR" err="1"/>
              <a:t>consectet</a:t>
            </a:r>
            <a:r>
              <a:rPr lang="fr-FR"/>
              <a:t> </a:t>
            </a:r>
            <a:r>
              <a:rPr lang="fr-FR" err="1"/>
              <a:t>everspi</a:t>
            </a:r>
            <a:r>
              <a:rPr lang="fr-FR"/>
              <a:t> </a:t>
            </a:r>
            <a:r>
              <a:rPr lang="fr-FR" err="1"/>
              <a:t>enistiisit</a:t>
            </a:r>
            <a:r>
              <a:rPr lang="fr-FR"/>
              <a:t> </a:t>
            </a:r>
            <a:r>
              <a:rPr lang="fr-FR" err="1"/>
              <a:t>repedit</a:t>
            </a:r>
            <a:r>
              <a:rPr lang="fr-FR"/>
              <a:t> </a:t>
            </a:r>
            <a:r>
              <a:rPr lang="fr-FR" err="1"/>
              <a:t>iberemperunt</a:t>
            </a:r>
            <a:r>
              <a:rPr lang="fr-FR"/>
              <a:t> </a:t>
            </a:r>
            <a:r>
              <a:rPr lang="fr-FR" err="1"/>
              <a:t>rectibus</a:t>
            </a:r>
            <a:r>
              <a:rPr lang="fr-FR"/>
              <a:t>, </a:t>
            </a:r>
            <a:r>
              <a:rPr lang="fr-FR" err="1"/>
              <a:t>am</a:t>
            </a:r>
            <a:r>
              <a:rPr lang="fr-FR"/>
              <a:t> </a:t>
            </a:r>
            <a:r>
              <a:rPr lang="fr-FR" err="1"/>
              <a:t>etum</a:t>
            </a:r>
            <a:r>
              <a:rPr lang="fr-FR"/>
              <a:t> </a:t>
            </a:r>
            <a:r>
              <a:rPr lang="fr-FR" err="1"/>
              <a:t>autem</a:t>
            </a:r>
            <a:r>
              <a:rPr lang="fr-FR"/>
              <a:t> </a:t>
            </a:r>
            <a:r>
              <a:rPr lang="fr-FR" err="1"/>
              <a:t>velent</a:t>
            </a:r>
            <a:r>
              <a:rPr lang="fr-FR"/>
              <a:t> </a:t>
            </a:r>
            <a:r>
              <a:rPr lang="fr-FR" err="1"/>
              <a:t>lam</a:t>
            </a:r>
            <a:r>
              <a:rPr lang="fr-FR"/>
              <a:t> </a:t>
            </a:r>
            <a:r>
              <a:rPr lang="fr-FR" err="1"/>
              <a:t>estibus</a:t>
            </a:r>
            <a:r>
              <a:rPr lang="fr-FR"/>
              <a:t> </a:t>
            </a:r>
            <a:r>
              <a:rPr lang="fr-FR" err="1"/>
              <a:t>ium</a:t>
            </a:r>
            <a:r>
              <a:rPr lang="fr-FR"/>
              <a:t>, </a:t>
            </a:r>
            <a:r>
              <a:rPr lang="fr-FR" err="1"/>
              <a:t>nimagniant</a:t>
            </a:r>
            <a:r>
              <a:rPr lang="fr-FR"/>
              <a:t> </a:t>
            </a:r>
            <a:r>
              <a:rPr lang="fr-FR" err="1"/>
              <a:t>aligendandit</a:t>
            </a:r>
            <a:r>
              <a:rPr lang="fr-FR"/>
              <a:t> quat.</a:t>
            </a:r>
          </a:p>
          <a:p>
            <a:pPr lvl="0"/>
            <a:r>
              <a:rPr lang="fr-FR"/>
              <a:t>Met, </a:t>
            </a:r>
            <a:r>
              <a:rPr lang="fr-FR" err="1"/>
              <a:t>cus</a:t>
            </a:r>
            <a:r>
              <a:rPr lang="fr-FR"/>
              <a:t> </a:t>
            </a:r>
            <a:r>
              <a:rPr lang="fr-FR" err="1"/>
              <a:t>explita</a:t>
            </a:r>
            <a:r>
              <a:rPr lang="fr-FR"/>
              <a:t> </a:t>
            </a:r>
            <a:r>
              <a:rPr lang="fr-FR" err="1"/>
              <a:t>alibus</a:t>
            </a:r>
            <a:r>
              <a:rPr lang="fr-FR"/>
              <a:t>, tem </a:t>
            </a:r>
            <a:r>
              <a:rPr lang="fr-FR" err="1"/>
              <a:t>ernat</a:t>
            </a:r>
            <a:r>
              <a:rPr lang="fr-FR"/>
              <a:t> </a:t>
            </a:r>
            <a:r>
              <a:rPr lang="fr-FR" err="1"/>
              <a:t>lab</a:t>
            </a:r>
            <a:r>
              <a:rPr lang="fr-FR"/>
              <a:t> </a:t>
            </a:r>
            <a:r>
              <a:rPr lang="fr-FR" err="1"/>
              <a:t>ius</a:t>
            </a:r>
            <a:r>
              <a:rPr lang="fr-FR"/>
              <a:t> </a:t>
            </a:r>
            <a:r>
              <a:rPr lang="fr-FR" err="1"/>
              <a:t>doluptia</a:t>
            </a:r>
            <a:r>
              <a:rPr lang="fr-FR"/>
              <a:t> sent.</a:t>
            </a:r>
          </a:p>
        </p:txBody>
      </p:sp>
      <p:sp>
        <p:nvSpPr>
          <p:cNvPr id="6" name="Forme libre 12">
            <a:extLst>
              <a:ext uri="{FF2B5EF4-FFF2-40B4-BE49-F238E27FC236}">
                <a16:creationId xmlns:a16="http://schemas.microsoft.com/office/drawing/2014/main" id="{6DC0F0FC-FFD3-7D9E-830A-27CEB221553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7645F1A-B175-EEF0-6ED5-6069E0379E85}"/>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5" name="Espace réservé du pied de page 3">
            <a:extLst>
              <a:ext uri="{FF2B5EF4-FFF2-40B4-BE49-F238E27FC236}">
                <a16:creationId xmlns:a16="http://schemas.microsoft.com/office/drawing/2014/main" id="{E066496C-5158-0784-4D3E-D5079F8881E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6" name="Espace réservé du numéro de diapositive 4">
            <a:extLst>
              <a:ext uri="{FF2B5EF4-FFF2-40B4-BE49-F238E27FC236}">
                <a16:creationId xmlns:a16="http://schemas.microsoft.com/office/drawing/2014/main" id="{B196FC4F-9710-7045-0A19-CEB042228B6A}"/>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67563D9F-BE47-9E68-E9D5-3B69F0880677}"/>
              </a:ext>
            </a:extLst>
          </p:cNvPr>
          <p:cNvGrpSpPr/>
          <p:nvPr userDrawn="1"/>
        </p:nvGrpSpPr>
        <p:grpSpPr>
          <a:xfrm>
            <a:off x="-1" y="263015"/>
            <a:ext cx="5860125" cy="375126"/>
            <a:chOff x="-5557295" y="172402"/>
            <a:chExt cx="5860125" cy="375126"/>
          </a:xfrm>
        </p:grpSpPr>
        <p:sp>
          <p:nvSpPr>
            <p:cNvPr id="17" name="Forme libre 11">
              <a:extLst>
                <a:ext uri="{FF2B5EF4-FFF2-40B4-BE49-F238E27FC236}">
                  <a16:creationId xmlns:a16="http://schemas.microsoft.com/office/drawing/2014/main" id="{1E42A965-C1F3-FB2E-2D8A-2ED70CE758B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8" name="Forme libre 12">
              <a:extLst>
                <a:ext uri="{FF2B5EF4-FFF2-40B4-BE49-F238E27FC236}">
                  <a16:creationId xmlns:a16="http://schemas.microsoft.com/office/drawing/2014/main" id="{8896A24F-D167-B901-2D93-51A3D0D4E48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805DF22-3EC7-C4F0-9800-B16E3F0645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10C9D8D0-524E-525C-7531-AA400BD65923}"/>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443759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tation">
    <p:bg>
      <p:bgPr>
        <a:solidFill>
          <a:schemeClr val="bg1"/>
        </a:solidFill>
        <a:effectLst/>
      </p:bgPr>
    </p:bg>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3C9FFE14-2DF7-9F62-EEB3-4BF2080F013B}"/>
              </a:ext>
            </a:extLst>
          </p:cNvPr>
          <p:cNvGrpSpPr/>
          <p:nvPr userDrawn="1"/>
        </p:nvGrpSpPr>
        <p:grpSpPr>
          <a:xfrm>
            <a:off x="1190579" y="1119172"/>
            <a:ext cx="9810841" cy="4742801"/>
            <a:chOff x="1190579" y="1119172"/>
            <a:chExt cx="9810841" cy="4742801"/>
          </a:xfrm>
          <a:solidFill>
            <a:schemeClr val="tx1"/>
          </a:solidFill>
        </p:grpSpPr>
        <p:sp>
          <p:nvSpPr>
            <p:cNvPr id="23" name="Forme libre 22">
              <a:extLst>
                <a:ext uri="{FF2B5EF4-FFF2-40B4-BE49-F238E27FC236}">
                  <a16:creationId xmlns:a16="http://schemas.microsoft.com/office/drawing/2014/main" id="{D937D84E-67AB-0017-8651-5C04553CED3D}"/>
                </a:ext>
              </a:extLst>
            </p:cNvPr>
            <p:cNvSpPr/>
            <p:nvPr userDrawn="1"/>
          </p:nvSpPr>
          <p:spPr>
            <a:xfrm>
              <a:off x="4424886" y="1119172"/>
              <a:ext cx="3311865" cy="4742801"/>
            </a:xfrm>
            <a:custGeom>
              <a:avLst/>
              <a:gdLst>
                <a:gd name="connsiteX0" fmla="*/ 0 w 5613991"/>
                <a:gd name="connsiteY0" fmla="*/ 0 h 4742801"/>
                <a:gd name="connsiteX1" fmla="*/ 5613991 w 5613991"/>
                <a:gd name="connsiteY1" fmla="*/ 0 h 4742801"/>
                <a:gd name="connsiteX2" fmla="*/ 5613991 w 5613991"/>
                <a:gd name="connsiteY2" fmla="*/ 4742801 h 4742801"/>
                <a:gd name="connsiteX3" fmla="*/ 0 w 5613991"/>
                <a:gd name="connsiteY3" fmla="*/ 4742801 h 4742801"/>
                <a:gd name="connsiteX4" fmla="*/ 0 w 5613991"/>
                <a:gd name="connsiteY4" fmla="*/ 0 h 4742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991" h="4742801">
                  <a:moveTo>
                    <a:pt x="0" y="0"/>
                  </a:moveTo>
                  <a:lnTo>
                    <a:pt x="5613991" y="0"/>
                  </a:lnTo>
                  <a:lnTo>
                    <a:pt x="5613991" y="4742801"/>
                  </a:lnTo>
                  <a:lnTo>
                    <a:pt x="0" y="4742801"/>
                  </a:lnTo>
                  <a:lnTo>
                    <a:pt x="0" y="0"/>
                  </a:lnTo>
                  <a:close/>
                </a:path>
              </a:pathLst>
            </a:custGeom>
            <a:grpFill/>
            <a:ln w="6325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7C1764D6-3405-9CF1-356E-B8C51B8E0340}"/>
                </a:ext>
              </a:extLst>
            </p:cNvPr>
            <p:cNvSpPr/>
            <p:nvPr userDrawn="1"/>
          </p:nvSpPr>
          <p:spPr>
            <a:xfrm>
              <a:off x="1190579" y="1119172"/>
              <a:ext cx="3234307" cy="4742801"/>
            </a:xfrm>
            <a:custGeom>
              <a:avLst/>
              <a:gdLst>
                <a:gd name="connsiteX0" fmla="*/ 2402603 w 3234307"/>
                <a:gd name="connsiteY0" fmla="*/ 0 h 4742801"/>
                <a:gd name="connsiteX1" fmla="*/ 3234307 w 3234307"/>
                <a:gd name="connsiteY1" fmla="*/ 0 h 4742801"/>
                <a:gd name="connsiteX2" fmla="*/ 3234307 w 3234307"/>
                <a:gd name="connsiteY2" fmla="*/ 4742801 h 4742801"/>
                <a:gd name="connsiteX3" fmla="*/ 2402603 w 3234307"/>
                <a:gd name="connsiteY3" fmla="*/ 4742801 h 4742801"/>
                <a:gd name="connsiteX4" fmla="*/ 0 w 3234307"/>
                <a:gd name="connsiteY4" fmla="*/ 2371400 h 4742801"/>
                <a:gd name="connsiteX5" fmla="*/ 2402603 w 3234307"/>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307" h="4742801">
                  <a:moveTo>
                    <a:pt x="2402603" y="0"/>
                  </a:moveTo>
                  <a:lnTo>
                    <a:pt x="3234307" y="0"/>
                  </a:lnTo>
                  <a:lnTo>
                    <a:pt x="3234307" y="4742801"/>
                  </a:lnTo>
                  <a:lnTo>
                    <a:pt x="2402603" y="4742801"/>
                  </a:lnTo>
                  <a:cubicBezTo>
                    <a:pt x="1075415" y="4742801"/>
                    <a:pt x="0" y="3681352"/>
                    <a:pt x="0" y="2371400"/>
                  </a:cubicBezTo>
                  <a:cubicBezTo>
                    <a:pt x="0" y="1061448"/>
                    <a:pt x="1076048" y="0"/>
                    <a:pt x="2402603" y="0"/>
                  </a:cubicBezTo>
                  <a:close/>
                </a:path>
              </a:pathLst>
            </a:custGeom>
            <a:grpFill/>
            <a:ln w="6325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D9ED5DDD-9145-5C8E-4362-EF6AC50BFB72}"/>
                </a:ext>
              </a:extLst>
            </p:cNvPr>
            <p:cNvSpPr/>
            <p:nvPr userDrawn="1"/>
          </p:nvSpPr>
          <p:spPr>
            <a:xfrm>
              <a:off x="7736751" y="1119172"/>
              <a:ext cx="3264669" cy="4742801"/>
            </a:xfrm>
            <a:custGeom>
              <a:avLst/>
              <a:gdLst>
                <a:gd name="connsiteX0" fmla="*/ 0 w 3264669"/>
                <a:gd name="connsiteY0" fmla="*/ 0 h 4742801"/>
                <a:gd name="connsiteX1" fmla="*/ 862066 w 3264669"/>
                <a:gd name="connsiteY1" fmla="*/ 0 h 4742801"/>
                <a:gd name="connsiteX2" fmla="*/ 3264669 w 3264669"/>
                <a:gd name="connsiteY2" fmla="*/ 2371400 h 4742801"/>
                <a:gd name="connsiteX3" fmla="*/ 862066 w 3264669"/>
                <a:gd name="connsiteY3" fmla="*/ 4742801 h 4742801"/>
                <a:gd name="connsiteX4" fmla="*/ 0 w 3264669"/>
                <a:gd name="connsiteY4" fmla="*/ 4742801 h 4742801"/>
                <a:gd name="connsiteX5" fmla="*/ 0 w 3264669"/>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4669" h="4742801">
                  <a:moveTo>
                    <a:pt x="0" y="0"/>
                  </a:moveTo>
                  <a:lnTo>
                    <a:pt x="862066" y="0"/>
                  </a:lnTo>
                  <a:cubicBezTo>
                    <a:pt x="2189254" y="0"/>
                    <a:pt x="3264669" y="1061448"/>
                    <a:pt x="3264669" y="2371400"/>
                  </a:cubicBezTo>
                  <a:cubicBezTo>
                    <a:pt x="3264669" y="3681352"/>
                    <a:pt x="2189254" y="4742801"/>
                    <a:pt x="862066" y="4742801"/>
                  </a:cubicBezTo>
                  <a:lnTo>
                    <a:pt x="0" y="4742801"/>
                  </a:lnTo>
                  <a:lnTo>
                    <a:pt x="0" y="0"/>
                  </a:lnTo>
                  <a:close/>
                </a:path>
              </a:pathLst>
            </a:custGeom>
            <a:grpFill/>
            <a:ln w="63252" cap="flat">
              <a:noFill/>
              <a:prstDash val="solid"/>
              <a:miter/>
            </a:ln>
          </p:spPr>
          <p:txBody>
            <a:bodyPr rtlCol="0" anchor="ctr"/>
            <a:lstStyle/>
            <a:p>
              <a:endParaRPr lang="fr-FR"/>
            </a:p>
          </p:txBody>
        </p:sp>
      </p:grpSp>
      <p:sp>
        <p:nvSpPr>
          <p:cNvPr id="25" name="Espace réservé du texte 48">
            <a:extLst>
              <a:ext uri="{FF2B5EF4-FFF2-40B4-BE49-F238E27FC236}">
                <a16:creationId xmlns:a16="http://schemas.microsoft.com/office/drawing/2014/main" id="{0EFE8AAB-B51C-C471-9DDF-DC61F9FE03D1}"/>
              </a:ext>
            </a:extLst>
          </p:cNvPr>
          <p:cNvSpPr>
            <a:spLocks noGrp="1"/>
          </p:cNvSpPr>
          <p:nvPr>
            <p:ph type="body" sz="quarter" idx="25" hasCustomPrompt="1"/>
          </p:nvPr>
        </p:nvSpPr>
        <p:spPr>
          <a:xfrm>
            <a:off x="2643814" y="1005703"/>
            <a:ext cx="6904371" cy="2646878"/>
          </a:xfrm>
        </p:spPr>
        <p:txBody>
          <a:bodyPr wrap="square" lIns="0" tIns="0" rIns="0" bIns="0" anchor="t" anchorCtr="0">
            <a:spAutoFit/>
          </a:bodyPr>
          <a:lstStyle>
            <a:lvl1pPr algn="ctr">
              <a:lnSpc>
                <a:spcPct val="100000"/>
              </a:lnSpc>
              <a:spcBef>
                <a:spcPts val="1000"/>
              </a:spcBef>
              <a:defRPr sz="17200" b="0" i="0">
                <a:solidFill>
                  <a:schemeClr val="accent3"/>
                </a:solidFill>
                <a:latin typeface="+mj-lt"/>
              </a:defRPr>
            </a:lvl1pPr>
          </a:lstStyle>
          <a:p>
            <a:pPr lvl="0"/>
            <a:r>
              <a:rPr lang="fr-FR"/>
              <a:t>“</a:t>
            </a:r>
          </a:p>
        </p:txBody>
      </p:sp>
      <p:sp>
        <p:nvSpPr>
          <p:cNvPr id="8" name="Espace réservé du texte 48">
            <a:extLst>
              <a:ext uri="{FF2B5EF4-FFF2-40B4-BE49-F238E27FC236}">
                <a16:creationId xmlns:a16="http://schemas.microsoft.com/office/drawing/2014/main" id="{BC4AA433-F54F-BC08-CD50-0663CC786B6E}"/>
              </a:ext>
            </a:extLst>
          </p:cNvPr>
          <p:cNvSpPr>
            <a:spLocks noGrp="1"/>
          </p:cNvSpPr>
          <p:nvPr>
            <p:ph type="body" sz="quarter" idx="22" hasCustomPrompt="1"/>
          </p:nvPr>
        </p:nvSpPr>
        <p:spPr>
          <a:xfrm>
            <a:off x="2643814" y="2751891"/>
            <a:ext cx="6904371" cy="1354217"/>
          </a:xfrm>
        </p:spPr>
        <p:txBody>
          <a:bodyPr wrap="square" lIns="0" tIns="0" rIns="0" bIns="0" anchor="t" anchorCtr="0">
            <a:spAutoFit/>
          </a:bodyPr>
          <a:lstStyle>
            <a:lvl1pPr algn="ctr">
              <a:lnSpc>
                <a:spcPct val="100000"/>
              </a:lnSpc>
              <a:spcBef>
                <a:spcPts val="1000"/>
              </a:spcBef>
              <a:defRPr sz="2200" b="0" i="1">
                <a:solidFill>
                  <a:schemeClr val="bg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p>
        </p:txBody>
      </p:sp>
      <p:sp>
        <p:nvSpPr>
          <p:cNvPr id="9" name="Espace réservé du texte 48">
            <a:extLst>
              <a:ext uri="{FF2B5EF4-FFF2-40B4-BE49-F238E27FC236}">
                <a16:creationId xmlns:a16="http://schemas.microsoft.com/office/drawing/2014/main" id="{636FDDBB-AB97-875A-E106-BF286ECB89F8}"/>
              </a:ext>
            </a:extLst>
          </p:cNvPr>
          <p:cNvSpPr>
            <a:spLocks noGrp="1"/>
          </p:cNvSpPr>
          <p:nvPr>
            <p:ph type="body" sz="quarter" idx="23" hasCustomPrompt="1"/>
          </p:nvPr>
        </p:nvSpPr>
        <p:spPr>
          <a:xfrm>
            <a:off x="2643814" y="4357407"/>
            <a:ext cx="6904371" cy="276999"/>
          </a:xfrm>
        </p:spPr>
        <p:txBody>
          <a:bodyPr wrap="square" lIns="0" tIns="0" rIns="0" bIns="0" anchor="t" anchorCtr="0">
            <a:spAutoFit/>
          </a:bodyPr>
          <a:lstStyle>
            <a:lvl1pPr algn="ctr">
              <a:lnSpc>
                <a:spcPct val="100000"/>
              </a:lnSpc>
              <a:spcBef>
                <a:spcPts val="1000"/>
              </a:spcBef>
              <a:defRPr sz="1800" b="0" i="0">
                <a:solidFill>
                  <a:schemeClr val="accent3"/>
                </a:solidFill>
                <a:latin typeface="+mj-lt"/>
              </a:defRPr>
            </a:lvl1pPr>
          </a:lstStyle>
          <a:p>
            <a:pPr lvl="0"/>
            <a:r>
              <a:rPr lang="fr-FR"/>
              <a:t>Nom Prénom</a:t>
            </a:r>
          </a:p>
        </p:txBody>
      </p:sp>
      <p:sp>
        <p:nvSpPr>
          <p:cNvPr id="10" name="Espace réservé du texte 48">
            <a:extLst>
              <a:ext uri="{FF2B5EF4-FFF2-40B4-BE49-F238E27FC236}">
                <a16:creationId xmlns:a16="http://schemas.microsoft.com/office/drawing/2014/main" id="{84181594-36D7-3EB7-7687-0D7A32C3C4A4}"/>
              </a:ext>
            </a:extLst>
          </p:cNvPr>
          <p:cNvSpPr>
            <a:spLocks noGrp="1"/>
          </p:cNvSpPr>
          <p:nvPr>
            <p:ph type="body" sz="quarter" idx="24" hasCustomPrompt="1"/>
          </p:nvPr>
        </p:nvSpPr>
        <p:spPr>
          <a:xfrm>
            <a:off x="2643814" y="4665751"/>
            <a:ext cx="6904371" cy="246221"/>
          </a:xfrm>
        </p:spPr>
        <p:txBody>
          <a:bodyPr wrap="square" lIns="0" tIns="0" rIns="0" bIns="0" anchor="t" anchorCtr="0">
            <a:spAutoFit/>
          </a:bodyPr>
          <a:lstStyle>
            <a:lvl1pPr algn="ctr">
              <a:lnSpc>
                <a:spcPct val="100000"/>
              </a:lnSpc>
              <a:spcBef>
                <a:spcPts val="1000"/>
              </a:spcBef>
              <a:defRPr sz="1600" b="0" i="0">
                <a:solidFill>
                  <a:schemeClr val="bg1"/>
                </a:solidFill>
                <a:latin typeface="+mn-lt"/>
              </a:defRPr>
            </a:lvl1pPr>
          </a:lstStyle>
          <a:p>
            <a:pPr lvl="0"/>
            <a:r>
              <a:rPr lang="fr-FR"/>
              <a:t>Poste</a:t>
            </a:r>
          </a:p>
        </p:txBody>
      </p:sp>
      <p:sp>
        <p:nvSpPr>
          <p:cNvPr id="2" name="Forme libre 12">
            <a:extLst>
              <a:ext uri="{FF2B5EF4-FFF2-40B4-BE49-F238E27FC236}">
                <a16:creationId xmlns:a16="http://schemas.microsoft.com/office/drawing/2014/main" id="{0DB4B38E-3080-9723-9FC4-2437D08FF2E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9D0263E7-D889-A1EA-0142-E9F7D9472B9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37640864-98B1-B1CE-3AD6-872A651A5C1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CEFA2276-829F-E8D6-7240-7BD7F6C25E0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894108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rte">
    <p:bg>
      <p:bgPr>
        <a:solidFill>
          <a:schemeClr val="bg1"/>
        </a:solidFill>
        <a:effectLst/>
      </p:bgPr>
    </p:bg>
    <p:spTree>
      <p:nvGrpSpPr>
        <p:cNvPr id="1" name=""/>
        <p:cNvGrpSpPr/>
        <p:nvPr/>
      </p:nvGrpSpPr>
      <p:grpSpPr>
        <a:xfrm>
          <a:off x="0" y="0"/>
          <a:ext cx="0" cy="0"/>
          <a:chOff x="0" y="0"/>
          <a:chExt cx="0" cy="0"/>
        </a:xfrm>
      </p:grpSpPr>
      <p:pic>
        <p:nvPicPr>
          <p:cNvPr id="2" name="Graphique 8">
            <a:extLst>
              <a:ext uri="{FF2B5EF4-FFF2-40B4-BE49-F238E27FC236}">
                <a16:creationId xmlns:a16="http://schemas.microsoft.com/office/drawing/2014/main" id="{374206C1-0B91-C87D-C62F-76048A5F16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07591" y="1014544"/>
            <a:ext cx="9369052" cy="5411565"/>
          </a:xfrm>
          <a:prstGeom prst="rect">
            <a:avLst/>
          </a:prstGeom>
        </p:spPr>
      </p:pic>
      <p:sp>
        <p:nvSpPr>
          <p:cNvPr id="6" name="Forme libre 12">
            <a:extLst>
              <a:ext uri="{FF2B5EF4-FFF2-40B4-BE49-F238E27FC236}">
                <a16:creationId xmlns:a16="http://schemas.microsoft.com/office/drawing/2014/main" id="{E5CD8813-FC29-69A2-BA3D-6C712CB242A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D888471-FFA0-7364-D9FB-DDE97D7E721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B9F35397-620D-FE08-E548-B11019FC3F21}"/>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4410963C-D78E-4F85-7C13-121A4DE221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4326CFB-5EA5-F025-40A2-D1707A8694F9}"/>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AC4B9993-EE4B-7D3F-E1A0-73F4DF1FBB04}"/>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0D76191F-D9FE-9D78-9A39-6946965228B6}"/>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7336683-2302-48C3-C35F-93F7910813B4}"/>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7336BC76-E506-AE1C-B37C-AC87DAE02192}"/>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304669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emerciements">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0" name="Forme libre 19">
            <a:extLst>
              <a:ext uri="{FF2B5EF4-FFF2-40B4-BE49-F238E27FC236}">
                <a16:creationId xmlns:a16="http://schemas.microsoft.com/office/drawing/2014/main" id="{9B8C6DA8-3FF8-9373-6B64-64F362294DF2}"/>
              </a:ext>
            </a:extLst>
          </p:cNvPr>
          <p:cNvSpPr/>
          <p:nvPr userDrawn="1"/>
        </p:nvSpPr>
        <p:spPr>
          <a:xfrm>
            <a:off x="0" y="-19990"/>
            <a:ext cx="6319777" cy="6877990"/>
          </a:xfrm>
          <a:custGeom>
            <a:avLst/>
            <a:gdLst>
              <a:gd name="connsiteX0" fmla="*/ 0 w 6301409"/>
              <a:gd name="connsiteY0" fmla="*/ 0 h 6858000"/>
              <a:gd name="connsiteX1" fmla="*/ 6301409 w 6301409"/>
              <a:gd name="connsiteY1" fmla="*/ 0 h 6858000"/>
              <a:gd name="connsiteX2" fmla="*/ 6301409 w 6301409"/>
              <a:gd name="connsiteY2" fmla="*/ 4958 h 6858000"/>
              <a:gd name="connsiteX3" fmla="*/ 5573767 w 6301409"/>
              <a:gd name="connsiteY3" fmla="*/ 4958 h 6858000"/>
              <a:gd name="connsiteX4" fmla="*/ 5657530 w 6301409"/>
              <a:gd name="connsiteY4" fmla="*/ 211263 h 6858000"/>
              <a:gd name="connsiteX5" fmla="*/ 5938263 w 6301409"/>
              <a:gd name="connsiteY5" fmla="*/ 1756569 h 6858000"/>
              <a:gd name="connsiteX6" fmla="*/ 5938263 w 6301409"/>
              <a:gd name="connsiteY6" fmla="*/ 1761519 h 6858000"/>
              <a:gd name="connsiteX7" fmla="*/ 4656115 w 6301409"/>
              <a:gd name="connsiteY7" fmla="*/ 4858644 h 6858000"/>
              <a:gd name="connsiteX8" fmla="*/ 2664521 w 6301409"/>
              <a:gd name="connsiteY8" fmla="*/ 6853042 h 6858000"/>
              <a:gd name="connsiteX9" fmla="*/ 6301409 w 6301409"/>
              <a:gd name="connsiteY9" fmla="*/ 6853042 h 6858000"/>
              <a:gd name="connsiteX10" fmla="*/ 6301409 w 6301409"/>
              <a:gd name="connsiteY10" fmla="*/ 6858000 h 6858000"/>
              <a:gd name="connsiteX11" fmla="*/ 0 w 6301409"/>
              <a:gd name="connsiteY11" fmla="*/ 6858000 h 6858000"/>
              <a:gd name="connsiteX12" fmla="*/ 0 w 6301409"/>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01409" h="6858000">
                <a:moveTo>
                  <a:pt x="0" y="0"/>
                </a:moveTo>
                <a:lnTo>
                  <a:pt x="6301409" y="0"/>
                </a:lnTo>
                <a:lnTo>
                  <a:pt x="6301409" y="4958"/>
                </a:lnTo>
                <a:lnTo>
                  <a:pt x="5573767" y="4958"/>
                </a:lnTo>
                <a:lnTo>
                  <a:pt x="5657530" y="211263"/>
                </a:lnTo>
                <a:cubicBezTo>
                  <a:pt x="5844352" y="708260"/>
                  <a:pt x="5937930" y="1232317"/>
                  <a:pt x="5938263" y="1756569"/>
                </a:cubicBezTo>
                <a:lnTo>
                  <a:pt x="5938263" y="1761519"/>
                </a:lnTo>
                <a:cubicBezTo>
                  <a:pt x="5937629" y="2882646"/>
                  <a:pt x="5510289" y="4003394"/>
                  <a:pt x="4656115" y="4858644"/>
                </a:cubicBezTo>
                <a:lnTo>
                  <a:pt x="2664521" y="6853042"/>
                </a:lnTo>
                <a:lnTo>
                  <a:pt x="6301409" y="6853042"/>
                </a:lnTo>
                <a:lnTo>
                  <a:pt x="6301409" y="6858000"/>
                </a:lnTo>
                <a:lnTo>
                  <a:pt x="0" y="6858000"/>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0913EE61-17AB-0468-84AC-06D83F476E47}"/>
              </a:ext>
            </a:extLst>
          </p:cNvPr>
          <p:cNvSpPr>
            <a:spLocks noGrp="1"/>
          </p:cNvSpPr>
          <p:nvPr>
            <p:ph type="title" hasCustomPrompt="1"/>
          </p:nvPr>
        </p:nvSpPr>
        <p:spPr>
          <a:xfrm>
            <a:off x="537575" y="709225"/>
            <a:ext cx="4440825" cy="830997"/>
          </a:xfrm>
        </p:spPr>
        <p:txBody>
          <a:bodyPr lIns="0" tIns="0" rIns="0" bIns="0"/>
          <a:lstStyle>
            <a:lvl1pPr>
              <a:defRPr sz="6000" b="1">
                <a:solidFill>
                  <a:schemeClr val="bg1"/>
                </a:solidFill>
              </a:defRPr>
            </a:lvl1pPr>
          </a:lstStyle>
          <a:p>
            <a:r>
              <a:rPr lang="fr-FR"/>
              <a:t>Merci</a:t>
            </a:r>
          </a:p>
        </p:txBody>
      </p:sp>
      <p:sp>
        <p:nvSpPr>
          <p:cNvPr id="23" name="Espace réservé du texte 48">
            <a:extLst>
              <a:ext uri="{FF2B5EF4-FFF2-40B4-BE49-F238E27FC236}">
                <a16:creationId xmlns:a16="http://schemas.microsoft.com/office/drawing/2014/main" id="{F2A86746-C112-CF3C-C315-3E1350718FC8}"/>
              </a:ext>
            </a:extLst>
          </p:cNvPr>
          <p:cNvSpPr>
            <a:spLocks noGrp="1"/>
          </p:cNvSpPr>
          <p:nvPr>
            <p:ph type="body" sz="quarter" idx="23" hasCustomPrompt="1"/>
          </p:nvPr>
        </p:nvSpPr>
        <p:spPr>
          <a:xfrm>
            <a:off x="537573" y="2573919"/>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Prénom NOM</a:t>
            </a:r>
          </a:p>
        </p:txBody>
      </p:sp>
      <p:pic>
        <p:nvPicPr>
          <p:cNvPr id="5" name="Image 4">
            <a:extLst>
              <a:ext uri="{FF2B5EF4-FFF2-40B4-BE49-F238E27FC236}">
                <a16:creationId xmlns:a16="http://schemas.microsoft.com/office/drawing/2014/main" id="{4D1F9F0E-6B68-F3EA-E15C-7DDA99FED52F}"/>
              </a:ext>
            </a:extLst>
          </p:cNvPr>
          <p:cNvPicPr>
            <a:picLocks noChangeAspect="1"/>
          </p:cNvPicPr>
          <p:nvPr userDrawn="1"/>
        </p:nvPicPr>
        <p:blipFill>
          <a:blip r:embed="rId3"/>
          <a:stretch>
            <a:fillRect/>
          </a:stretch>
        </p:blipFill>
        <p:spPr>
          <a:xfrm>
            <a:off x="1477745" y="5448402"/>
            <a:ext cx="360000" cy="360000"/>
          </a:xfrm>
          <a:prstGeom prst="rect">
            <a:avLst/>
          </a:prstGeom>
        </p:spPr>
      </p:pic>
      <p:pic>
        <p:nvPicPr>
          <p:cNvPr id="7" name="Image 6">
            <a:extLst>
              <a:ext uri="{FF2B5EF4-FFF2-40B4-BE49-F238E27FC236}">
                <a16:creationId xmlns:a16="http://schemas.microsoft.com/office/drawing/2014/main" id="{9680C985-85E9-988C-D0B6-19C144FB68D6}"/>
              </a:ext>
            </a:extLst>
          </p:cNvPr>
          <p:cNvPicPr>
            <a:picLocks noChangeAspect="1"/>
          </p:cNvPicPr>
          <p:nvPr userDrawn="1"/>
        </p:nvPicPr>
        <p:blipFill>
          <a:blip r:embed="rId4"/>
          <a:stretch>
            <a:fillRect/>
          </a:stretch>
        </p:blipFill>
        <p:spPr>
          <a:xfrm>
            <a:off x="1007660" y="5448402"/>
            <a:ext cx="360000" cy="360000"/>
          </a:xfrm>
          <a:prstGeom prst="rect">
            <a:avLst/>
          </a:prstGeom>
        </p:spPr>
      </p:pic>
      <p:pic>
        <p:nvPicPr>
          <p:cNvPr id="9" name="Image 8">
            <a:extLst>
              <a:ext uri="{FF2B5EF4-FFF2-40B4-BE49-F238E27FC236}">
                <a16:creationId xmlns:a16="http://schemas.microsoft.com/office/drawing/2014/main" id="{5B6A29D2-E715-5EF8-1C6A-63F304254A6A}"/>
              </a:ext>
            </a:extLst>
          </p:cNvPr>
          <p:cNvPicPr>
            <a:picLocks noChangeAspect="1"/>
          </p:cNvPicPr>
          <p:nvPr userDrawn="1"/>
        </p:nvPicPr>
        <p:blipFill>
          <a:blip r:embed="rId5"/>
          <a:stretch>
            <a:fillRect/>
          </a:stretch>
        </p:blipFill>
        <p:spPr>
          <a:xfrm>
            <a:off x="537575" y="5448468"/>
            <a:ext cx="360000" cy="360000"/>
          </a:xfrm>
          <a:prstGeom prst="rect">
            <a:avLst/>
          </a:prstGeom>
        </p:spPr>
      </p:pic>
      <p:pic>
        <p:nvPicPr>
          <p:cNvPr id="10" name="Graphique 9">
            <a:extLst>
              <a:ext uri="{FF2B5EF4-FFF2-40B4-BE49-F238E27FC236}">
                <a16:creationId xmlns:a16="http://schemas.microsoft.com/office/drawing/2014/main" id="{8633A241-0227-B87A-140A-5C5A57F3797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7575" y="6042302"/>
            <a:ext cx="1054283" cy="540000"/>
          </a:xfrm>
          <a:prstGeom prst="rect">
            <a:avLst/>
          </a:prstGeom>
        </p:spPr>
      </p:pic>
      <p:sp>
        <p:nvSpPr>
          <p:cNvPr id="17" name="Espace réservé du texte 48">
            <a:extLst>
              <a:ext uri="{FF2B5EF4-FFF2-40B4-BE49-F238E27FC236}">
                <a16:creationId xmlns:a16="http://schemas.microsoft.com/office/drawing/2014/main" id="{2ADCC2CA-006E-2254-D2F2-C280E6666786}"/>
              </a:ext>
            </a:extLst>
          </p:cNvPr>
          <p:cNvSpPr>
            <a:spLocks noGrp="1"/>
          </p:cNvSpPr>
          <p:nvPr>
            <p:ph type="body" sz="quarter" idx="24" hasCustomPrompt="1"/>
          </p:nvPr>
        </p:nvSpPr>
        <p:spPr>
          <a:xfrm>
            <a:off x="537573" y="3003506"/>
            <a:ext cx="4440825" cy="830997"/>
          </a:xfrm>
        </p:spPr>
        <p:txBody>
          <a:bodyPr wrap="square" lIns="0" tIns="0" rIns="0" bIns="0" anchor="t" anchorCtr="0">
            <a:spAutoFit/>
          </a:bodyPr>
          <a:lstStyle>
            <a:lvl1pPr algn="l">
              <a:lnSpc>
                <a:spcPct val="100000"/>
              </a:lnSpc>
              <a:spcBef>
                <a:spcPts val="0"/>
              </a:spcBef>
              <a:defRPr sz="1800" b="0" i="1">
                <a:solidFill>
                  <a:schemeClr val="bg1"/>
                </a:solidFill>
                <a:latin typeface="+mj-lt"/>
              </a:defRPr>
            </a:lvl1pPr>
          </a:lstStyle>
          <a:p>
            <a:pPr lvl="0"/>
            <a:r>
              <a:rPr lang="fr-FR"/>
              <a:t>Fonction</a:t>
            </a:r>
          </a:p>
          <a:p>
            <a:pPr lvl="0"/>
            <a:r>
              <a:rPr lang="fr-FR"/>
              <a:t>Email</a:t>
            </a:r>
          </a:p>
          <a:p>
            <a:pPr lvl="0"/>
            <a:r>
              <a:rPr lang="fr-FR"/>
              <a:t>Téléphone </a:t>
            </a:r>
          </a:p>
        </p:txBody>
      </p:sp>
      <p:sp>
        <p:nvSpPr>
          <p:cNvPr id="18" name="Espace réservé du texte 48">
            <a:extLst>
              <a:ext uri="{FF2B5EF4-FFF2-40B4-BE49-F238E27FC236}">
                <a16:creationId xmlns:a16="http://schemas.microsoft.com/office/drawing/2014/main" id="{5693FC0E-0802-F0EB-4BCE-1051DA822E68}"/>
              </a:ext>
            </a:extLst>
          </p:cNvPr>
          <p:cNvSpPr>
            <a:spLocks noGrp="1"/>
          </p:cNvSpPr>
          <p:nvPr>
            <p:ph type="body" sz="quarter" idx="25" hasCustomPrompt="1"/>
          </p:nvPr>
        </p:nvSpPr>
        <p:spPr>
          <a:xfrm>
            <a:off x="537573" y="2144332"/>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CONTACT</a:t>
            </a:r>
          </a:p>
        </p:txBody>
      </p:sp>
    </p:spTree>
    <p:extLst>
      <p:ext uri="{BB962C8B-B14F-4D97-AF65-F5344CB8AC3E}">
        <p14:creationId xmlns:p14="http://schemas.microsoft.com/office/powerpoint/2010/main" val="17301274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ictogrammes 01">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3DAFB4DF-6577-C5CC-FEF8-ADE6C1124775}"/>
              </a:ext>
            </a:extLst>
          </p:cNvPr>
          <p:cNvSpPr>
            <a:spLocks noGrp="1"/>
          </p:cNvSpPr>
          <p:nvPr>
            <p:ph type="title" hasCustomPrompt="1"/>
          </p:nvPr>
        </p:nvSpPr>
        <p:spPr>
          <a:xfrm>
            <a:off x="537575" y="849535"/>
            <a:ext cx="11086578" cy="369332"/>
          </a:xfrm>
        </p:spPr>
        <p:txBody>
          <a:bodyPr/>
          <a:lstStyle>
            <a:lvl1pPr>
              <a:defRPr sz="2000"/>
            </a:lvl1pPr>
          </a:lstStyle>
          <a:p>
            <a:r>
              <a:rPr lang="fr-FR"/>
              <a:t>Pictogrammes à copier-coller (couleur modifiable &gt; contour)</a:t>
            </a:r>
          </a:p>
        </p:txBody>
      </p:sp>
    </p:spTree>
    <p:extLst>
      <p:ext uri="{BB962C8B-B14F-4D97-AF65-F5344CB8AC3E}">
        <p14:creationId xmlns:p14="http://schemas.microsoft.com/office/powerpoint/2010/main" val="2791290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
        <p:nvSpPr>
          <p:cNvPr id="4" name="Forme libre 25">
            <a:extLst>
              <a:ext uri="{FF2B5EF4-FFF2-40B4-BE49-F238E27FC236}">
                <a16:creationId xmlns:a16="http://schemas.microsoft.com/office/drawing/2014/main" id="{78E7F50A-B738-C988-F41F-5ECC585067E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numéro de diapositive 29">
            <a:extLst>
              <a:ext uri="{FF2B5EF4-FFF2-40B4-BE49-F238E27FC236}">
                <a16:creationId xmlns:a16="http://schemas.microsoft.com/office/drawing/2014/main" id="{59F7C265-0D7C-932B-41B9-7D12EA7AE250}"/>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3" name="Espace réservé de la date 2">
            <a:extLst>
              <a:ext uri="{FF2B5EF4-FFF2-40B4-BE49-F238E27FC236}">
                <a16:creationId xmlns:a16="http://schemas.microsoft.com/office/drawing/2014/main" id="{816F8419-BA6B-8490-1224-921BA666620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5" name="Espace réservé du pied de page 3">
            <a:extLst>
              <a:ext uri="{FF2B5EF4-FFF2-40B4-BE49-F238E27FC236}">
                <a16:creationId xmlns:a16="http://schemas.microsoft.com/office/drawing/2014/main" id="{D90D4573-381C-58A2-E512-7A628CC6423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Tree>
    <p:extLst>
      <p:ext uri="{BB962C8B-B14F-4D97-AF65-F5344CB8AC3E}">
        <p14:creationId xmlns:p14="http://schemas.microsoft.com/office/powerpoint/2010/main" val="1047365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 name="Forme libre 25">
            <a:extLst>
              <a:ext uri="{FF2B5EF4-FFF2-40B4-BE49-F238E27FC236}">
                <a16:creationId xmlns:a16="http://schemas.microsoft.com/office/drawing/2014/main" id="{1F86ED98-ECB6-B545-B96D-487DB096D68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titre 1">
            <a:extLst>
              <a:ext uri="{FF2B5EF4-FFF2-40B4-BE49-F238E27FC236}">
                <a16:creationId xmlns:a16="http://schemas.microsoft.com/office/drawing/2014/main" id="{A54A61B3-8DF8-A1A6-BC1C-0E727CB26CA1}"/>
              </a:ext>
            </a:extLst>
          </p:cNvPr>
          <p:cNvSpPr>
            <a:spLocks noGrp="1"/>
          </p:cNvSpPr>
          <p:nvPr>
            <p:ph type="title"/>
          </p:nvPr>
        </p:nvSpPr>
        <p:spPr>
          <a:xfrm>
            <a:off x="537575" y="849535"/>
            <a:ext cx="11086578" cy="590931"/>
          </a:xfrm>
          <a:prstGeom prst="rect">
            <a:avLst/>
          </a:prstGeom>
        </p:spPr>
        <p:txBody>
          <a:bodyPr vert="horz" wrap="square" lIns="91440" tIns="45720" rIns="91440" bIns="45720" rtlCol="0" anchor="t" anchorCtr="0">
            <a:spAutoFit/>
          </a:bodyPr>
          <a:lstStyle/>
          <a:p>
            <a:r>
              <a:rPr lang="fr-FR"/>
              <a:t>Titre de la slide</a:t>
            </a:r>
          </a:p>
        </p:txBody>
      </p:sp>
      <p:sp>
        <p:nvSpPr>
          <p:cNvPr id="3" name="Espace réservé du texte 2">
            <a:extLst>
              <a:ext uri="{FF2B5EF4-FFF2-40B4-BE49-F238E27FC236}">
                <a16:creationId xmlns:a16="http://schemas.microsoft.com/office/drawing/2014/main" id="{1F692DB4-FE59-0C09-79A5-C9DD1B631E18}"/>
              </a:ext>
            </a:extLst>
          </p:cNvPr>
          <p:cNvSpPr>
            <a:spLocks noGrp="1"/>
          </p:cNvSpPr>
          <p:nvPr>
            <p:ph type="body" idx="1"/>
          </p:nvPr>
        </p:nvSpPr>
        <p:spPr>
          <a:xfrm>
            <a:off x="537575" y="2175048"/>
            <a:ext cx="11086578" cy="3820891"/>
          </a:xfrm>
          <a:prstGeom prst="rect">
            <a:avLst/>
          </a:prstGeom>
        </p:spPr>
        <p:txBody>
          <a:bodyPr vert="horz" lIns="91440" tIns="45720" rIns="91440" bIns="45720" rtlCol="0">
            <a:normAutofit/>
          </a:body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4" name="Espace réservé de la date 3">
            <a:extLst>
              <a:ext uri="{FF2B5EF4-FFF2-40B4-BE49-F238E27FC236}">
                <a16:creationId xmlns:a16="http://schemas.microsoft.com/office/drawing/2014/main" id="{99399531-832D-5914-A0E6-C1277C081489}"/>
              </a:ext>
            </a:extLst>
          </p:cNvPr>
          <p:cNvSpPr>
            <a:spLocks noGrp="1"/>
          </p:cNvSpPr>
          <p:nvPr>
            <p:ph type="dt" sz="half" idx="2"/>
          </p:nvPr>
        </p:nvSpPr>
        <p:spPr>
          <a:xfrm>
            <a:off x="10748077" y="6426109"/>
            <a:ext cx="835015" cy="215444"/>
          </a:xfrm>
          <a:prstGeom prst="rect">
            <a:avLst/>
          </a:prstGeom>
        </p:spPr>
        <p:txBody>
          <a:bodyPr vert="horz" wrap="square" lIns="0" tIns="45720" rIns="0" bIns="45720" rtlCol="0" anchor="ctr">
            <a:spAutoFit/>
          </a:bodyPr>
          <a:lstStyle>
            <a:lvl1pPr algn="l">
              <a:defRPr sz="800">
                <a:solidFill>
                  <a:schemeClr val="tx1"/>
                </a:solidFill>
              </a:defRPr>
            </a:lvl1pPr>
          </a:lstStyle>
          <a:p>
            <a:r>
              <a:rPr lang="fr-FR"/>
              <a:t>Juin 2024</a:t>
            </a:r>
          </a:p>
        </p:txBody>
      </p:sp>
      <p:sp>
        <p:nvSpPr>
          <p:cNvPr id="5" name="Espace réservé du pied de page 4">
            <a:extLst>
              <a:ext uri="{FF2B5EF4-FFF2-40B4-BE49-F238E27FC236}">
                <a16:creationId xmlns:a16="http://schemas.microsoft.com/office/drawing/2014/main" id="{D4E7768A-5EBE-0A78-FD15-72356CDE7A1E}"/>
              </a:ext>
            </a:extLst>
          </p:cNvPr>
          <p:cNvSpPr>
            <a:spLocks noGrp="1"/>
          </p:cNvSpPr>
          <p:nvPr>
            <p:ph type="ftr" sz="quarter" idx="3"/>
          </p:nvPr>
        </p:nvSpPr>
        <p:spPr>
          <a:xfrm>
            <a:off x="8255632" y="6426110"/>
            <a:ext cx="2492445" cy="215444"/>
          </a:xfrm>
          <a:prstGeom prst="rect">
            <a:avLst/>
          </a:prstGeom>
        </p:spPr>
        <p:txBody>
          <a:bodyPr vert="horz" wrap="square" lIns="91440" tIns="45720" rIns="91440" bIns="45720" rtlCol="0" anchor="ctr">
            <a:spAutoFit/>
          </a:bodyPr>
          <a:lstStyle>
            <a:lvl1pPr algn="r">
              <a:defRPr sz="800">
                <a:solidFill>
                  <a:schemeClr val="tx1"/>
                </a:solidFill>
                <a:latin typeface="+mj-lt"/>
              </a:defRPr>
            </a:lvl1pPr>
          </a:lstStyle>
          <a:p>
            <a:r>
              <a:rPr lang="fr-FR"/>
              <a:t>BOUYGUES CONSTRUCTION | </a:t>
            </a:r>
          </a:p>
        </p:txBody>
      </p:sp>
      <p:sp>
        <p:nvSpPr>
          <p:cNvPr id="30" name="Espace réservé du numéro de diapositive 29">
            <a:extLst>
              <a:ext uri="{FF2B5EF4-FFF2-40B4-BE49-F238E27FC236}">
                <a16:creationId xmlns:a16="http://schemas.microsoft.com/office/drawing/2014/main" id="{6980B1DF-90E7-C3FD-93C1-9975E2A0EF5B}"/>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374980956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49"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Lst>
  <p:hf hd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20.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9.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22.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1.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slideLayout" Target="../slideLayouts/slideLayout9.xml"/><Relationship Id="rId4" Type="http://schemas.openxmlformats.org/officeDocument/2006/relationships/tags" Target="../tags/tag20.xml"/></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23.xml"/><Relationship Id="rId7" Type="http://schemas.openxmlformats.org/officeDocument/2006/relationships/image" Target="../media/image24.sv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notesSlide" Target="../notesSlides/notesSlide2.xml"/><Relationship Id="rId10" Type="http://schemas.openxmlformats.org/officeDocument/2006/relationships/image" Target="../media/image27.png"/><Relationship Id="rId4" Type="http://schemas.openxmlformats.org/officeDocument/2006/relationships/slideLayout" Target="../slideLayouts/slideLayout20.xml"/><Relationship Id="rId9" Type="http://schemas.openxmlformats.org/officeDocument/2006/relationships/image" Target="../media/image26.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hyperlink" Target="https://bouyguesconstruction.sharepoint.com/sites/bycnitCommuArchi/SitePages/REF002.aspx" TargetMode="External"/></Relationships>
</file>

<file path=ppt/slides/_rels/slide9.xml.rels><?xml version="1.0" encoding="UTF-8" standalone="yes"?>
<Relationships xmlns="http://schemas.openxmlformats.org/package/2006/relationships"><Relationship Id="rId13" Type="http://schemas.openxmlformats.org/officeDocument/2006/relationships/tags" Target="../tags/tag41.xml"/><Relationship Id="rId18" Type="http://schemas.openxmlformats.org/officeDocument/2006/relationships/tags" Target="../tags/tag46.xml"/><Relationship Id="rId26" Type="http://schemas.openxmlformats.org/officeDocument/2006/relationships/tags" Target="../tags/tag54.xml"/><Relationship Id="rId3" Type="http://schemas.openxmlformats.org/officeDocument/2006/relationships/tags" Target="../tags/tag31.xml"/><Relationship Id="rId21" Type="http://schemas.openxmlformats.org/officeDocument/2006/relationships/tags" Target="../tags/tag49.xml"/><Relationship Id="rId34" Type="http://schemas.openxmlformats.org/officeDocument/2006/relationships/tags" Target="../tags/tag62.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5" Type="http://schemas.openxmlformats.org/officeDocument/2006/relationships/tags" Target="../tags/tag53.xml"/><Relationship Id="rId33" Type="http://schemas.openxmlformats.org/officeDocument/2006/relationships/tags" Target="../tags/tag61.xml"/><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tags" Target="../tags/tag48.xml"/><Relationship Id="rId29" Type="http://schemas.openxmlformats.org/officeDocument/2006/relationships/tags" Target="../tags/tag57.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tags" Target="../tags/tag52.xml"/><Relationship Id="rId32" Type="http://schemas.openxmlformats.org/officeDocument/2006/relationships/tags" Target="../tags/tag60.xml"/><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tags" Target="../tags/tag51.xml"/><Relationship Id="rId28" Type="http://schemas.openxmlformats.org/officeDocument/2006/relationships/tags" Target="../tags/tag56.xml"/><Relationship Id="rId10" Type="http://schemas.openxmlformats.org/officeDocument/2006/relationships/tags" Target="../tags/tag38.xml"/><Relationship Id="rId19" Type="http://schemas.openxmlformats.org/officeDocument/2006/relationships/tags" Target="../tags/tag47.xml"/><Relationship Id="rId31" Type="http://schemas.openxmlformats.org/officeDocument/2006/relationships/tags" Target="../tags/tag59.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tags" Target="../tags/tag50.xml"/><Relationship Id="rId27" Type="http://schemas.openxmlformats.org/officeDocument/2006/relationships/tags" Target="../tags/tag55.xml"/><Relationship Id="rId30" Type="http://schemas.openxmlformats.org/officeDocument/2006/relationships/tags" Target="../tags/tag58.xml"/><Relationship Id="rId35" Type="http://schemas.openxmlformats.org/officeDocument/2006/relationships/slideLayout" Target="../slideLayouts/slideLayout13.xml"/><Relationship Id="rId8" Type="http://schemas.openxmlformats.org/officeDocument/2006/relationships/tags" Target="../tags/tag36.xml"/></Relationships>
</file>

<file path=ppt/slides/_rels/slide10.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10" Type="http://schemas.openxmlformats.org/officeDocument/2006/relationships/image" Target="../media/image32.png"/><Relationship Id="rId4" Type="http://schemas.openxmlformats.org/officeDocument/2006/relationships/tags" Target="../tags/tag66.xml"/><Relationship Id="rId9"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64C08_EE00B238.xm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1.xml"/><Relationship Id="rId4" Type="http://schemas.microsoft.com/office/2018/10/relationships/comments" Target="../comments/modernComment_7FF64C09_2F5D6948.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64BF1_EDF8E84B.xml"/><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hyperlink" Target="https://bouyguesconstruction.sharepoint.com/sites/bycnitCommuArchi/SitePages/Glossary.aspx#product-api" TargetMode="Externa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bouyguesconstruction.sharepoint.com/sites/bycnitCommuArchi/SitePages/Glossary.aspx#p"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hyperlink" Target="https://bouyguesconstruction.sharepoint.com/sites/bycnitCommuArchi/SitePages/Glossary.aspx#system-api-(api-syst%C3%A8me)"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7FF64BF5_17788A3F.xm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7FF64BFB_3A0B63D2.xml"/><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F64BFD_A99DE547.xml"/><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7FF64C07_36AC0FA7.xml"/><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7FF64C0C_A297012D.xml"/><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microsoft.com/office/2018/10/relationships/comments" Target="../comments/modernComment_7FF64BFE_2B5ACE45.xml"/><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47.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slideLayout" Target="../slideLayouts/slideLayout17.xml"/><Relationship Id="rId5" Type="http://schemas.openxmlformats.org/officeDocument/2006/relationships/tags" Target="../tags/tag76.xml"/><Relationship Id="rId4" Type="http://schemas.openxmlformats.org/officeDocument/2006/relationships/tags" Target="../tags/tag75.xml"/></Relationships>
</file>

<file path=ppt/slides/_rels/slide47.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slideLayout" Target="../slideLayouts/slideLayout17.xml"/><Relationship Id="rId4" Type="http://schemas.openxmlformats.org/officeDocument/2006/relationships/tags" Target="../tags/tag80.xml"/></Relationships>
</file>

<file path=ppt/slides/_rels/slide48.xml.rels><?xml version="1.0" encoding="UTF-8" standalone="yes"?>
<Relationships xmlns="http://schemas.openxmlformats.org/package/2006/relationships"><Relationship Id="rId26" Type="http://schemas.openxmlformats.org/officeDocument/2006/relationships/tags" Target="../tags/tag106.xml"/><Relationship Id="rId21" Type="http://schemas.openxmlformats.org/officeDocument/2006/relationships/tags" Target="../tags/tag101.xml"/><Relationship Id="rId42" Type="http://schemas.openxmlformats.org/officeDocument/2006/relationships/tags" Target="../tags/tag122.xml"/><Relationship Id="rId47" Type="http://schemas.openxmlformats.org/officeDocument/2006/relationships/tags" Target="../tags/tag127.xml"/><Relationship Id="rId63" Type="http://schemas.openxmlformats.org/officeDocument/2006/relationships/tags" Target="../tags/tag143.xml"/><Relationship Id="rId68" Type="http://schemas.openxmlformats.org/officeDocument/2006/relationships/tags" Target="../tags/tag148.xml"/><Relationship Id="rId7" Type="http://schemas.openxmlformats.org/officeDocument/2006/relationships/tags" Target="../tags/tag87.xml"/><Relationship Id="rId71" Type="http://schemas.openxmlformats.org/officeDocument/2006/relationships/tags" Target="../tags/tag151.xml"/><Relationship Id="rId2" Type="http://schemas.openxmlformats.org/officeDocument/2006/relationships/tags" Target="../tags/tag82.xml"/><Relationship Id="rId16" Type="http://schemas.openxmlformats.org/officeDocument/2006/relationships/tags" Target="../tags/tag96.xml"/><Relationship Id="rId29" Type="http://schemas.openxmlformats.org/officeDocument/2006/relationships/tags" Target="../tags/tag109.xml"/><Relationship Id="rId11" Type="http://schemas.openxmlformats.org/officeDocument/2006/relationships/tags" Target="../tags/tag91.xml"/><Relationship Id="rId24" Type="http://schemas.openxmlformats.org/officeDocument/2006/relationships/tags" Target="../tags/tag104.xml"/><Relationship Id="rId32" Type="http://schemas.openxmlformats.org/officeDocument/2006/relationships/tags" Target="../tags/tag112.xml"/><Relationship Id="rId37" Type="http://schemas.openxmlformats.org/officeDocument/2006/relationships/tags" Target="../tags/tag117.xml"/><Relationship Id="rId40" Type="http://schemas.openxmlformats.org/officeDocument/2006/relationships/tags" Target="../tags/tag120.xml"/><Relationship Id="rId45" Type="http://schemas.openxmlformats.org/officeDocument/2006/relationships/tags" Target="../tags/tag125.xml"/><Relationship Id="rId53" Type="http://schemas.openxmlformats.org/officeDocument/2006/relationships/tags" Target="../tags/tag133.xml"/><Relationship Id="rId58" Type="http://schemas.openxmlformats.org/officeDocument/2006/relationships/tags" Target="../tags/tag138.xml"/><Relationship Id="rId66" Type="http://schemas.openxmlformats.org/officeDocument/2006/relationships/tags" Target="../tags/tag146.xml"/><Relationship Id="rId5" Type="http://schemas.openxmlformats.org/officeDocument/2006/relationships/tags" Target="../tags/tag85.xml"/><Relationship Id="rId61" Type="http://schemas.openxmlformats.org/officeDocument/2006/relationships/tags" Target="../tags/tag141.xml"/><Relationship Id="rId19" Type="http://schemas.openxmlformats.org/officeDocument/2006/relationships/tags" Target="../tags/tag99.xml"/><Relationship Id="rId14" Type="http://schemas.openxmlformats.org/officeDocument/2006/relationships/tags" Target="../tags/tag94.xml"/><Relationship Id="rId22" Type="http://schemas.openxmlformats.org/officeDocument/2006/relationships/tags" Target="../tags/tag102.xml"/><Relationship Id="rId27" Type="http://schemas.openxmlformats.org/officeDocument/2006/relationships/tags" Target="../tags/tag107.xml"/><Relationship Id="rId30" Type="http://schemas.openxmlformats.org/officeDocument/2006/relationships/tags" Target="../tags/tag110.xml"/><Relationship Id="rId35" Type="http://schemas.openxmlformats.org/officeDocument/2006/relationships/tags" Target="../tags/tag115.xml"/><Relationship Id="rId43" Type="http://schemas.openxmlformats.org/officeDocument/2006/relationships/tags" Target="../tags/tag123.xml"/><Relationship Id="rId48" Type="http://schemas.openxmlformats.org/officeDocument/2006/relationships/tags" Target="../tags/tag128.xml"/><Relationship Id="rId56" Type="http://schemas.openxmlformats.org/officeDocument/2006/relationships/tags" Target="../tags/tag136.xml"/><Relationship Id="rId64" Type="http://schemas.openxmlformats.org/officeDocument/2006/relationships/tags" Target="../tags/tag144.xml"/><Relationship Id="rId69" Type="http://schemas.openxmlformats.org/officeDocument/2006/relationships/tags" Target="../tags/tag149.xml"/><Relationship Id="rId8" Type="http://schemas.openxmlformats.org/officeDocument/2006/relationships/tags" Target="../tags/tag88.xml"/><Relationship Id="rId51" Type="http://schemas.openxmlformats.org/officeDocument/2006/relationships/tags" Target="../tags/tag131.xml"/><Relationship Id="rId72" Type="http://schemas.openxmlformats.org/officeDocument/2006/relationships/slideLayout" Target="../slideLayouts/slideLayout17.xml"/><Relationship Id="rId3" Type="http://schemas.openxmlformats.org/officeDocument/2006/relationships/tags" Target="../tags/tag83.xml"/><Relationship Id="rId12" Type="http://schemas.openxmlformats.org/officeDocument/2006/relationships/tags" Target="../tags/tag92.xml"/><Relationship Id="rId17" Type="http://schemas.openxmlformats.org/officeDocument/2006/relationships/tags" Target="../tags/tag97.xml"/><Relationship Id="rId25" Type="http://schemas.openxmlformats.org/officeDocument/2006/relationships/tags" Target="../tags/tag105.xml"/><Relationship Id="rId33" Type="http://schemas.openxmlformats.org/officeDocument/2006/relationships/tags" Target="../tags/tag113.xml"/><Relationship Id="rId38" Type="http://schemas.openxmlformats.org/officeDocument/2006/relationships/tags" Target="../tags/tag118.xml"/><Relationship Id="rId46" Type="http://schemas.openxmlformats.org/officeDocument/2006/relationships/tags" Target="../tags/tag126.xml"/><Relationship Id="rId59" Type="http://schemas.openxmlformats.org/officeDocument/2006/relationships/tags" Target="../tags/tag139.xml"/><Relationship Id="rId67" Type="http://schemas.openxmlformats.org/officeDocument/2006/relationships/tags" Target="../tags/tag147.xml"/><Relationship Id="rId20" Type="http://schemas.openxmlformats.org/officeDocument/2006/relationships/tags" Target="../tags/tag100.xml"/><Relationship Id="rId41" Type="http://schemas.openxmlformats.org/officeDocument/2006/relationships/tags" Target="../tags/tag121.xml"/><Relationship Id="rId54" Type="http://schemas.openxmlformats.org/officeDocument/2006/relationships/tags" Target="../tags/tag134.xml"/><Relationship Id="rId62" Type="http://schemas.openxmlformats.org/officeDocument/2006/relationships/tags" Target="../tags/tag142.xml"/><Relationship Id="rId70" Type="http://schemas.openxmlformats.org/officeDocument/2006/relationships/tags" Target="../tags/tag150.xml"/><Relationship Id="rId1" Type="http://schemas.openxmlformats.org/officeDocument/2006/relationships/tags" Target="../tags/tag81.xml"/><Relationship Id="rId6" Type="http://schemas.openxmlformats.org/officeDocument/2006/relationships/tags" Target="../tags/tag86.xml"/><Relationship Id="rId15" Type="http://schemas.openxmlformats.org/officeDocument/2006/relationships/tags" Target="../tags/tag95.xml"/><Relationship Id="rId23" Type="http://schemas.openxmlformats.org/officeDocument/2006/relationships/tags" Target="../tags/tag103.xml"/><Relationship Id="rId28" Type="http://schemas.openxmlformats.org/officeDocument/2006/relationships/tags" Target="../tags/tag108.xml"/><Relationship Id="rId36" Type="http://schemas.openxmlformats.org/officeDocument/2006/relationships/tags" Target="../tags/tag116.xml"/><Relationship Id="rId49" Type="http://schemas.openxmlformats.org/officeDocument/2006/relationships/tags" Target="../tags/tag129.xml"/><Relationship Id="rId57" Type="http://schemas.openxmlformats.org/officeDocument/2006/relationships/tags" Target="../tags/tag137.xml"/><Relationship Id="rId10" Type="http://schemas.openxmlformats.org/officeDocument/2006/relationships/tags" Target="../tags/tag90.xml"/><Relationship Id="rId31" Type="http://schemas.openxmlformats.org/officeDocument/2006/relationships/tags" Target="../tags/tag111.xml"/><Relationship Id="rId44" Type="http://schemas.openxmlformats.org/officeDocument/2006/relationships/tags" Target="../tags/tag124.xml"/><Relationship Id="rId52" Type="http://schemas.openxmlformats.org/officeDocument/2006/relationships/tags" Target="../tags/tag132.xml"/><Relationship Id="rId60" Type="http://schemas.openxmlformats.org/officeDocument/2006/relationships/tags" Target="../tags/tag140.xml"/><Relationship Id="rId65" Type="http://schemas.openxmlformats.org/officeDocument/2006/relationships/tags" Target="../tags/tag145.xml"/><Relationship Id="rId4" Type="http://schemas.openxmlformats.org/officeDocument/2006/relationships/tags" Target="../tags/tag84.xml"/><Relationship Id="rId9" Type="http://schemas.openxmlformats.org/officeDocument/2006/relationships/tags" Target="../tags/tag89.xml"/><Relationship Id="rId13" Type="http://schemas.openxmlformats.org/officeDocument/2006/relationships/tags" Target="../tags/tag93.xml"/><Relationship Id="rId18" Type="http://schemas.openxmlformats.org/officeDocument/2006/relationships/tags" Target="../tags/tag98.xml"/><Relationship Id="rId39" Type="http://schemas.openxmlformats.org/officeDocument/2006/relationships/tags" Target="../tags/tag119.xml"/><Relationship Id="rId34" Type="http://schemas.openxmlformats.org/officeDocument/2006/relationships/tags" Target="../tags/tag114.xml"/><Relationship Id="rId50" Type="http://schemas.openxmlformats.org/officeDocument/2006/relationships/tags" Target="../tags/tag130.xml"/><Relationship Id="rId55" Type="http://schemas.openxmlformats.org/officeDocument/2006/relationships/tags" Target="../tags/tag1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tags" Target="../tags/tag164.xm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tags" Target="../tags/tag163.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0" Type="http://schemas.openxmlformats.org/officeDocument/2006/relationships/tags" Target="../tags/tag161.xml"/><Relationship Id="rId4" Type="http://schemas.openxmlformats.org/officeDocument/2006/relationships/tags" Target="../tags/tag155.xml"/><Relationship Id="rId9" Type="http://schemas.openxmlformats.org/officeDocument/2006/relationships/tags" Target="../tags/tag160.xml"/><Relationship Id="rId14"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tags" Target="../tags/tag172.xml"/><Relationship Id="rId3" Type="http://schemas.openxmlformats.org/officeDocument/2006/relationships/tags" Target="../tags/tag167.xml"/><Relationship Id="rId7" Type="http://schemas.openxmlformats.org/officeDocument/2006/relationships/tags" Target="../tags/tag171.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9"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tags" Target="../tags/tag175.xml"/><Relationship Id="rId7" Type="http://schemas.openxmlformats.org/officeDocument/2006/relationships/image" Target="../media/image58.png"/><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slideLayout" Target="../slideLayouts/slideLayout18.xml"/><Relationship Id="rId9" Type="http://schemas.openxmlformats.org/officeDocument/2006/relationships/image" Target="../media/image60.png"/></Relationships>
</file>

<file path=ppt/slides/_rels/slide53.xml.rels><?xml version="1.0" encoding="UTF-8" standalone="yes"?>
<Relationships xmlns="http://schemas.openxmlformats.org/package/2006/relationships"><Relationship Id="rId3" Type="http://schemas.openxmlformats.org/officeDocument/2006/relationships/tags" Target="../tags/tag178.xml"/><Relationship Id="rId7" Type="http://schemas.openxmlformats.org/officeDocument/2006/relationships/image" Target="../media/image20.png"/><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slideLayout" Target="../slideLayouts/slideLayout19.xml"/><Relationship Id="rId5" Type="http://schemas.openxmlformats.org/officeDocument/2006/relationships/tags" Target="../tags/tag180.xml"/><Relationship Id="rId4" Type="http://schemas.openxmlformats.org/officeDocument/2006/relationships/tags" Target="../tags/tag17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E44E158B-A116-4A99-FFBA-B23A0961D812}"/>
              </a:ext>
            </a:extLst>
          </p:cNvPr>
          <p:cNvSpPr>
            <a:spLocks noGrp="1"/>
          </p:cNvSpPr>
          <p:nvPr>
            <p:ph type="title"/>
          </p:nvPr>
        </p:nvSpPr>
        <p:spPr>
          <a:xfrm>
            <a:off x="5721533" y="2841971"/>
            <a:ext cx="6283234" cy="2607992"/>
          </a:xfrm>
        </p:spPr>
        <p:txBody>
          <a:bodyPr/>
          <a:lstStyle/>
          <a:p>
            <a:pPr algn="ctr"/>
            <a:r>
              <a:rPr lang="en-US" sz="6000" b="1"/>
              <a:t>Etude Architecture &amp; </a:t>
            </a:r>
            <a:br>
              <a:rPr lang="en-US" sz="6000" b="1"/>
            </a:br>
            <a:r>
              <a:rPr lang="en-US" sz="6000" b="1"/>
              <a:t>Revue entre pairs</a:t>
            </a:r>
          </a:p>
        </p:txBody>
      </p:sp>
      <p:pic>
        <p:nvPicPr>
          <p:cNvPr id="10" name="Image 9" descr="Une image contenant texte, Police, Graphique, capture d’écran&#10;&#10;Description générée automatiquement">
            <a:extLst>
              <a:ext uri="{FF2B5EF4-FFF2-40B4-BE49-F238E27FC236}">
                <a16:creationId xmlns:a16="http://schemas.microsoft.com/office/drawing/2014/main" id="{D25A688E-24CC-3470-00B4-D14EC128C13E}"/>
              </a:ext>
            </a:extLst>
          </p:cNvPr>
          <p:cNvPicPr>
            <a:picLocks noChangeAspect="1"/>
          </p:cNvPicPr>
          <p:nvPr/>
        </p:nvPicPr>
        <p:blipFill>
          <a:blip r:embed="rId3"/>
          <a:stretch>
            <a:fillRect/>
          </a:stretch>
        </p:blipFill>
        <p:spPr>
          <a:xfrm>
            <a:off x="8241058" y="329510"/>
            <a:ext cx="2563792" cy="1243284"/>
          </a:xfrm>
          <a:prstGeom prst="rect">
            <a:avLst/>
          </a:prstGeom>
        </p:spPr>
      </p:pic>
      <p:sp>
        <p:nvSpPr>
          <p:cNvPr id="11" name="ZoneTexte 10">
            <a:extLst>
              <a:ext uri="{FF2B5EF4-FFF2-40B4-BE49-F238E27FC236}">
                <a16:creationId xmlns:a16="http://schemas.microsoft.com/office/drawing/2014/main" id="{2A60A068-3DB6-6BDF-A627-E68B8516BEC6}"/>
              </a:ext>
            </a:extLst>
          </p:cNvPr>
          <p:cNvSpPr txBox="1"/>
          <p:nvPr/>
        </p:nvSpPr>
        <p:spPr>
          <a:xfrm>
            <a:off x="6897811" y="5874554"/>
            <a:ext cx="890950" cy="307777"/>
          </a:xfrm>
          <a:prstGeom prst="rect">
            <a:avLst/>
          </a:prstGeom>
          <a:noFill/>
        </p:spPr>
        <p:txBody>
          <a:bodyPr wrap="none" rtlCol="0">
            <a:spAutoFit/>
          </a:bodyPr>
          <a:lstStyle/>
          <a:p>
            <a:r>
              <a:rPr lang="fr-FR" sz="1400" b="1">
                <a:solidFill>
                  <a:schemeClr val="bg1"/>
                </a:solidFill>
              </a:rPr>
              <a:t>Nov. 2024</a:t>
            </a:r>
          </a:p>
        </p:txBody>
      </p:sp>
    </p:spTree>
    <p:extLst>
      <p:ext uri="{BB962C8B-B14F-4D97-AF65-F5344CB8AC3E}">
        <p14:creationId xmlns:p14="http://schemas.microsoft.com/office/powerpoint/2010/main" val="117192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50E7AE-E5D8-9DA6-8080-FDC23CD64F56}"/>
              </a:ext>
            </a:extLst>
          </p:cNvPr>
          <p:cNvSpPr>
            <a:spLocks noGrp="1"/>
          </p:cNvSpPr>
          <p:nvPr>
            <p:ph type="title"/>
            <p:custDataLst>
              <p:tags r:id="rId1"/>
            </p:custDataLst>
          </p:nvPr>
        </p:nvSpPr>
        <p:spPr>
          <a:xfrm>
            <a:off x="537575" y="849535"/>
            <a:ext cx="11086578" cy="369332"/>
          </a:xfrm>
        </p:spPr>
        <p:txBody>
          <a:bodyPr/>
          <a:lstStyle/>
          <a:p>
            <a:r>
              <a:rPr lang="fr-FR" sz="2000">
                <a:solidFill>
                  <a:srgbClr val="E65012"/>
                </a:solidFill>
              </a:rPr>
              <a:t>I Activités de la communauté des architectes</a:t>
            </a:r>
            <a:endParaRPr lang="fr-FR" sz="2000"/>
          </a:p>
        </p:txBody>
      </p:sp>
      <p:sp>
        <p:nvSpPr>
          <p:cNvPr id="2" name="Espace réservé de la date 1">
            <a:extLst>
              <a:ext uri="{FF2B5EF4-FFF2-40B4-BE49-F238E27FC236}">
                <a16:creationId xmlns:a16="http://schemas.microsoft.com/office/drawing/2014/main" id="{46BAAB24-B454-C82E-0D9D-A52F70BABE8B}"/>
              </a:ext>
            </a:extLst>
          </p:cNvPr>
          <p:cNvSpPr>
            <a:spLocks noGrp="1"/>
          </p:cNvSpPr>
          <p:nvPr>
            <p:ph type="dt" sz="half" idx="10"/>
            <p:custDataLst>
              <p:tags r:id="rId2"/>
            </p:custDataLst>
          </p:nvPr>
        </p:nvSpPr>
        <p:spPr/>
        <p:txBody>
          <a:bodyPr/>
          <a:lstStyle/>
          <a:p>
            <a:r>
              <a:rPr lang="fr-FR">
                <a:latin typeface="Avenir Next LT Pro" panose="020B0504020202020204" pitchFamily="34" charset="0"/>
              </a:rPr>
              <a:t>Juin 2024</a:t>
            </a:r>
          </a:p>
        </p:txBody>
      </p:sp>
      <p:sp>
        <p:nvSpPr>
          <p:cNvPr id="4" name="Espace réservé du numéro de diapositive 3">
            <a:extLst>
              <a:ext uri="{FF2B5EF4-FFF2-40B4-BE49-F238E27FC236}">
                <a16:creationId xmlns:a16="http://schemas.microsoft.com/office/drawing/2014/main" id="{0654D6CC-F3FC-85F0-6D41-60742E4B88D1}"/>
              </a:ext>
            </a:extLst>
          </p:cNvPr>
          <p:cNvSpPr>
            <a:spLocks noGrp="1"/>
          </p:cNvSpPr>
          <p:nvPr>
            <p:ph type="sldNum" sz="quarter" idx="12"/>
            <p:custDataLst>
              <p:tags r:id="rId3"/>
            </p:custDataLst>
          </p:nvPr>
        </p:nvSpPr>
        <p:spPr/>
        <p:txBody>
          <a:bodyPr/>
          <a:lstStyle/>
          <a:p>
            <a:fld id="{6B54B0F7-55DD-40D6-B7F4-70B586885C0B}" type="slidenum">
              <a:rPr lang="fr-FR" smtClean="0">
                <a:latin typeface="Avenir Next LT Pro" panose="020B0504020202020204" pitchFamily="34" charset="0"/>
              </a:rPr>
              <a:pPr/>
              <a:t>2</a:t>
            </a:fld>
            <a:endParaRPr lang="fr-FR">
              <a:latin typeface="Avenir Next LT Pro" panose="020B0504020202020204" pitchFamily="34" charset="0"/>
            </a:endParaRPr>
          </a:p>
        </p:txBody>
      </p:sp>
      <p:sp>
        <p:nvSpPr>
          <p:cNvPr id="6" name="Espace réservé du texte 5">
            <a:extLst>
              <a:ext uri="{FF2B5EF4-FFF2-40B4-BE49-F238E27FC236}">
                <a16:creationId xmlns:a16="http://schemas.microsoft.com/office/drawing/2014/main" id="{DAC5DA09-2784-F005-9BCF-58384168130D}"/>
              </a:ext>
            </a:extLst>
          </p:cNvPr>
          <p:cNvSpPr>
            <a:spLocks noGrp="1"/>
          </p:cNvSpPr>
          <p:nvPr>
            <p:ph type="body" sz="quarter" idx="19"/>
            <p:custDataLst>
              <p:tags r:id="rId4"/>
            </p:custDataLst>
          </p:nvPr>
        </p:nvSpPr>
        <p:spPr/>
        <p:txBody>
          <a:bodyPr>
            <a:normAutofit/>
          </a:bodyPr>
          <a:lstStyle/>
          <a:p>
            <a:r>
              <a:rPr lang="fr-FR"/>
              <a:t>Les différentes INSTANCES d’architecture</a:t>
            </a:r>
            <a:endParaRPr lang="fr-FR">
              <a:latin typeface="+mj-lt"/>
            </a:endParaRPr>
          </a:p>
        </p:txBody>
      </p:sp>
      <p:sp>
        <p:nvSpPr>
          <p:cNvPr id="28" name="Espace réservé du texte 27">
            <a:extLst>
              <a:ext uri="{FF2B5EF4-FFF2-40B4-BE49-F238E27FC236}">
                <a16:creationId xmlns:a16="http://schemas.microsoft.com/office/drawing/2014/main" id="{AB899909-5205-01B7-BCBB-69D43D3F1F39}"/>
              </a:ext>
            </a:extLst>
          </p:cNvPr>
          <p:cNvSpPr>
            <a:spLocks noGrp="1"/>
          </p:cNvSpPr>
          <p:nvPr>
            <p:ph type="body" sz="quarter" idx="30"/>
          </p:nvPr>
        </p:nvSpPr>
        <p:spPr/>
        <p:txBody>
          <a:bodyPr/>
          <a:lstStyle/>
          <a:p>
            <a:r>
              <a:rPr lang="fr-FR"/>
              <a:t>01</a:t>
            </a:r>
          </a:p>
        </p:txBody>
      </p:sp>
      <p:sp>
        <p:nvSpPr>
          <p:cNvPr id="87" name="Rectangle : coins arrondis 86">
            <a:extLst>
              <a:ext uri="{FF2B5EF4-FFF2-40B4-BE49-F238E27FC236}">
                <a16:creationId xmlns:a16="http://schemas.microsoft.com/office/drawing/2014/main" id="{46E82A60-3F22-1B39-CD8B-E244418199D7}"/>
              </a:ext>
            </a:extLst>
          </p:cNvPr>
          <p:cNvSpPr/>
          <p:nvPr>
            <p:custDataLst>
              <p:tags r:id="rId5"/>
            </p:custDataLst>
          </p:nvPr>
        </p:nvSpPr>
        <p:spPr>
          <a:xfrm>
            <a:off x="753763" y="2738087"/>
            <a:ext cx="1441795" cy="905395"/>
          </a:xfrm>
          <a:prstGeom prst="roundRect">
            <a:avLst>
              <a:gd name="adj" fmla="val 774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Objectifs</a:t>
            </a:r>
          </a:p>
        </p:txBody>
      </p:sp>
      <p:sp>
        <p:nvSpPr>
          <p:cNvPr id="88" name="ZoneTexte 87">
            <a:extLst>
              <a:ext uri="{FF2B5EF4-FFF2-40B4-BE49-F238E27FC236}">
                <a16:creationId xmlns:a16="http://schemas.microsoft.com/office/drawing/2014/main" id="{E4D9F613-9C72-9DB4-D716-00ADB5F8BF7D}"/>
              </a:ext>
            </a:extLst>
          </p:cNvPr>
          <p:cNvSpPr txBox="1"/>
          <p:nvPr>
            <p:custDataLst>
              <p:tags r:id="rId6"/>
            </p:custDataLst>
          </p:nvPr>
        </p:nvSpPr>
        <p:spPr>
          <a:xfrm>
            <a:off x="2426228" y="2935618"/>
            <a:ext cx="4860000" cy="507831"/>
          </a:xfrm>
          <a:prstGeom prst="rect">
            <a:avLst/>
          </a:prstGeom>
          <a:noFill/>
        </p:spPr>
        <p:txBody>
          <a:bodyPr wrap="square" lIns="91440" tIns="45720" rIns="91440" bIns="45720" rtlCol="0" anchor="t">
            <a:spAutoFit/>
          </a:bodyPr>
          <a:lstStyle/>
          <a:p>
            <a:pPr marL="171450" indent="-171450">
              <a:buBlip>
                <a:blip r:embed="rId18"/>
              </a:buBlip>
            </a:pPr>
            <a:r>
              <a:rPr lang="fr-FR" sz="900" b="1">
                <a:latin typeface="Avenir Next LT Pro"/>
              </a:rPr>
              <a:t>Présenter et challenger </a:t>
            </a:r>
            <a:r>
              <a:rPr lang="fr-FR" sz="900">
                <a:latin typeface="Avenir Next LT Pro"/>
              </a:rPr>
              <a:t>entre pairs tout ou partie de l’architecture d’un projet</a:t>
            </a:r>
          </a:p>
          <a:p>
            <a:pPr marL="171450" indent="-171450">
              <a:buBlip>
                <a:blip r:embed="rId18"/>
              </a:buBlip>
            </a:pPr>
            <a:r>
              <a:rPr lang="fr-FR" sz="900">
                <a:latin typeface="Avenir Next LT Pro"/>
              </a:rPr>
              <a:t>Présenter les évolutions du cadre de référence</a:t>
            </a:r>
          </a:p>
          <a:p>
            <a:pPr marL="171450" indent="-171450">
              <a:buBlip>
                <a:blip r:embed="rId18"/>
              </a:buBlip>
            </a:pPr>
            <a:r>
              <a:rPr lang="fr-FR" sz="900">
                <a:latin typeface="Avenir Next LT Pro"/>
              </a:rPr>
              <a:t>Partager un sujet de veille (techno, méthode, éditeurs, doctrine…)</a:t>
            </a:r>
            <a:endParaRPr lang="fr-FR" sz="900" b="1">
              <a:latin typeface="Avenir Next LT Pro"/>
            </a:endParaRPr>
          </a:p>
        </p:txBody>
      </p:sp>
      <p:sp>
        <p:nvSpPr>
          <p:cNvPr id="93" name="Rectangle : coins arrondis 92">
            <a:extLst>
              <a:ext uri="{FF2B5EF4-FFF2-40B4-BE49-F238E27FC236}">
                <a16:creationId xmlns:a16="http://schemas.microsoft.com/office/drawing/2014/main" id="{73ECE44A-995D-FDEE-00F4-7BB26C0BFABD}"/>
              </a:ext>
            </a:extLst>
          </p:cNvPr>
          <p:cNvSpPr/>
          <p:nvPr>
            <p:custDataLst>
              <p:tags r:id="rId7"/>
            </p:custDataLst>
          </p:nvPr>
        </p:nvSpPr>
        <p:spPr>
          <a:xfrm>
            <a:off x="779897" y="3737189"/>
            <a:ext cx="1412029" cy="490042"/>
          </a:xfrm>
          <a:prstGeom prst="roundRect">
            <a:avLst>
              <a:gd name="adj" fmla="val 1455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Déclencheur(s)</a:t>
            </a:r>
          </a:p>
        </p:txBody>
      </p:sp>
      <p:sp>
        <p:nvSpPr>
          <p:cNvPr id="94" name="ZoneTexte 93">
            <a:extLst>
              <a:ext uri="{FF2B5EF4-FFF2-40B4-BE49-F238E27FC236}">
                <a16:creationId xmlns:a16="http://schemas.microsoft.com/office/drawing/2014/main" id="{2C42850A-BE1E-E915-1611-047CCBD81845}"/>
              </a:ext>
            </a:extLst>
          </p:cNvPr>
          <p:cNvSpPr txBox="1"/>
          <p:nvPr>
            <p:custDataLst>
              <p:tags r:id="rId8"/>
            </p:custDataLst>
          </p:nvPr>
        </p:nvSpPr>
        <p:spPr>
          <a:xfrm>
            <a:off x="2426229" y="3757999"/>
            <a:ext cx="5374494" cy="507831"/>
          </a:xfrm>
          <a:prstGeom prst="rect">
            <a:avLst/>
          </a:prstGeom>
          <a:noFill/>
        </p:spPr>
        <p:txBody>
          <a:bodyPr wrap="square" lIns="91440" tIns="45720" rIns="91440" bIns="45720" rtlCol="0" anchor="t">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171450" indent="-171450">
              <a:buBlip>
                <a:blip r:embed="rId18"/>
              </a:buBlip>
            </a:pPr>
            <a:r>
              <a:rPr lang="fr-FR" sz="900">
                <a:latin typeface="Avenir Next LT Pro"/>
              </a:rPr>
              <a:t>À la demande de l’architecte</a:t>
            </a:r>
            <a:endParaRPr lang="fr-FR">
              <a:latin typeface="Avenir Next LT Pro"/>
            </a:endParaRPr>
          </a:p>
          <a:p>
            <a:pPr marL="171450" indent="-171450">
              <a:buBlip>
                <a:blip r:embed="rId18"/>
              </a:buBlip>
            </a:pPr>
            <a:r>
              <a:rPr lang="fr-FR" sz="900">
                <a:latin typeface="Avenir Next LT Pro"/>
              </a:rPr>
              <a:t>En cas d’évolution du cadre de référence</a:t>
            </a:r>
          </a:p>
          <a:p>
            <a:pPr marL="171450" indent="-171450">
              <a:buBlip>
                <a:blip r:embed="rId18"/>
              </a:buBlip>
            </a:pPr>
            <a:r>
              <a:rPr lang="fr-FR" sz="900" b="1">
                <a:latin typeface="Avenir Next LT Pro"/>
              </a:rPr>
              <a:t>En cas d’évolution d’une architecture</a:t>
            </a:r>
          </a:p>
        </p:txBody>
      </p:sp>
      <p:sp>
        <p:nvSpPr>
          <p:cNvPr id="96" name="Rectangle : coins arrondis 95">
            <a:extLst>
              <a:ext uri="{FF2B5EF4-FFF2-40B4-BE49-F238E27FC236}">
                <a16:creationId xmlns:a16="http://schemas.microsoft.com/office/drawing/2014/main" id="{F94598B6-DEFB-BE06-852F-8E0FF890A97C}"/>
              </a:ext>
            </a:extLst>
          </p:cNvPr>
          <p:cNvSpPr/>
          <p:nvPr>
            <p:custDataLst>
              <p:tags r:id="rId9"/>
            </p:custDataLst>
          </p:nvPr>
        </p:nvSpPr>
        <p:spPr>
          <a:xfrm>
            <a:off x="751097" y="4304436"/>
            <a:ext cx="1441795" cy="398704"/>
          </a:xfrm>
          <a:prstGeom prst="roundRect">
            <a:avLst>
              <a:gd name="adj" fmla="val 1749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Fréquence</a:t>
            </a:r>
          </a:p>
        </p:txBody>
      </p:sp>
      <p:sp>
        <p:nvSpPr>
          <p:cNvPr id="97" name="ZoneTexte 96">
            <a:extLst>
              <a:ext uri="{FF2B5EF4-FFF2-40B4-BE49-F238E27FC236}">
                <a16:creationId xmlns:a16="http://schemas.microsoft.com/office/drawing/2014/main" id="{4D0238FB-BC82-A129-9EBF-D7A780B848AB}"/>
              </a:ext>
            </a:extLst>
          </p:cNvPr>
          <p:cNvSpPr txBox="1"/>
          <p:nvPr>
            <p:custDataLst>
              <p:tags r:id="rId10"/>
            </p:custDataLst>
          </p:nvPr>
        </p:nvSpPr>
        <p:spPr>
          <a:xfrm>
            <a:off x="2426228" y="4452450"/>
            <a:ext cx="4860000" cy="230832"/>
          </a:xfrm>
          <a:prstGeom prst="rect">
            <a:avLst/>
          </a:prstGeom>
          <a:noFill/>
        </p:spPr>
        <p:txBody>
          <a:bodyPr wrap="square" rtlCol="0">
            <a:spAutoFit/>
          </a:bodyPr>
          <a:lstStyle/>
          <a:p>
            <a:r>
              <a:rPr lang="fr-FR" sz="900">
                <a:latin typeface="Avenir Next LT Pro" panose="020B0504020202020204" pitchFamily="34" charset="0"/>
              </a:rPr>
              <a:t>Hebdomadaire</a:t>
            </a:r>
          </a:p>
        </p:txBody>
      </p:sp>
      <p:sp>
        <p:nvSpPr>
          <p:cNvPr id="99" name="Rectangle : coins arrondis 98">
            <a:extLst>
              <a:ext uri="{FF2B5EF4-FFF2-40B4-BE49-F238E27FC236}">
                <a16:creationId xmlns:a16="http://schemas.microsoft.com/office/drawing/2014/main" id="{7AFE1FED-15B6-D5AC-A846-EC8A4EB22622}"/>
              </a:ext>
            </a:extLst>
          </p:cNvPr>
          <p:cNvSpPr/>
          <p:nvPr>
            <p:custDataLst>
              <p:tags r:id="rId11"/>
            </p:custDataLst>
          </p:nvPr>
        </p:nvSpPr>
        <p:spPr>
          <a:xfrm>
            <a:off x="751097" y="4781861"/>
            <a:ext cx="1441795" cy="398704"/>
          </a:xfrm>
          <a:prstGeom prst="roundRect">
            <a:avLst>
              <a:gd name="adj" fmla="val 1749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Durée</a:t>
            </a:r>
          </a:p>
        </p:txBody>
      </p:sp>
      <p:sp>
        <p:nvSpPr>
          <p:cNvPr id="100" name="ZoneTexte 99">
            <a:extLst>
              <a:ext uri="{FF2B5EF4-FFF2-40B4-BE49-F238E27FC236}">
                <a16:creationId xmlns:a16="http://schemas.microsoft.com/office/drawing/2014/main" id="{4C3E5B56-4138-4B45-7A43-358AE7446BEE}"/>
              </a:ext>
            </a:extLst>
          </p:cNvPr>
          <p:cNvSpPr txBox="1"/>
          <p:nvPr>
            <p:custDataLst>
              <p:tags r:id="rId12"/>
            </p:custDataLst>
          </p:nvPr>
        </p:nvSpPr>
        <p:spPr>
          <a:xfrm>
            <a:off x="2426229" y="4920409"/>
            <a:ext cx="4860000" cy="254044"/>
          </a:xfrm>
          <a:prstGeom prst="rect">
            <a:avLst/>
          </a:prstGeom>
          <a:noFill/>
        </p:spPr>
        <p:txBody>
          <a:bodyPr wrap="square" rtlCol="0">
            <a:spAutoFit/>
          </a:bodyPr>
          <a:lstStyle/>
          <a:p>
            <a:r>
              <a:rPr lang="fr-FR" sz="1000">
                <a:latin typeface="Avenir Next LT Pro" panose="020B0504020202020204" pitchFamily="34" charset="0"/>
              </a:rPr>
              <a:t>1h</a:t>
            </a:r>
          </a:p>
        </p:txBody>
      </p:sp>
      <p:sp>
        <p:nvSpPr>
          <p:cNvPr id="102" name="Rectangle : coins arrondis 101">
            <a:extLst>
              <a:ext uri="{FF2B5EF4-FFF2-40B4-BE49-F238E27FC236}">
                <a16:creationId xmlns:a16="http://schemas.microsoft.com/office/drawing/2014/main" id="{57A3853C-C844-09FF-951C-CB47EE80BEBE}"/>
              </a:ext>
            </a:extLst>
          </p:cNvPr>
          <p:cNvSpPr/>
          <p:nvPr>
            <p:custDataLst>
              <p:tags r:id="rId13"/>
            </p:custDataLst>
          </p:nvPr>
        </p:nvSpPr>
        <p:spPr>
          <a:xfrm>
            <a:off x="750131" y="5272756"/>
            <a:ext cx="1441795" cy="1256156"/>
          </a:xfrm>
          <a:prstGeom prst="roundRect">
            <a:avLst>
              <a:gd name="adj" fmla="val 8199"/>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Participants</a:t>
            </a:r>
          </a:p>
        </p:txBody>
      </p:sp>
      <p:sp>
        <p:nvSpPr>
          <p:cNvPr id="145" name="ZoneTexte 144">
            <a:extLst>
              <a:ext uri="{FF2B5EF4-FFF2-40B4-BE49-F238E27FC236}">
                <a16:creationId xmlns:a16="http://schemas.microsoft.com/office/drawing/2014/main" id="{157423CC-9E80-9B9E-B859-A495DEB9F601}"/>
              </a:ext>
            </a:extLst>
          </p:cNvPr>
          <p:cNvSpPr txBox="1"/>
          <p:nvPr>
            <p:custDataLst>
              <p:tags r:id="rId14"/>
            </p:custDataLst>
          </p:nvPr>
        </p:nvSpPr>
        <p:spPr>
          <a:xfrm>
            <a:off x="2426229" y="5328583"/>
            <a:ext cx="4860000" cy="1061829"/>
          </a:xfrm>
          <a:prstGeom prst="rect">
            <a:avLst/>
          </a:prstGeom>
          <a:noFill/>
        </p:spPr>
        <p:txBody>
          <a:bodyPr wrap="square" rtlCol="0">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0" indent="0">
              <a:buNone/>
            </a:pPr>
            <a:r>
              <a:rPr lang="fr-FR" sz="900">
                <a:latin typeface="Avenir Next LT Pro" panose="020B0504020202020204" pitchFamily="34" charset="0"/>
              </a:rPr>
              <a:t>Lead : Collégial, avec l’aide d’un animateur</a:t>
            </a:r>
          </a:p>
          <a:p>
            <a:pPr marL="0" indent="0">
              <a:buNone/>
            </a:pPr>
            <a:endParaRPr lang="fr-FR" sz="900">
              <a:latin typeface="Avenir Next LT Pro" panose="020B0504020202020204" pitchFamily="34" charset="0"/>
            </a:endParaRPr>
          </a:p>
          <a:p>
            <a:pPr marL="0" indent="0">
              <a:buNone/>
            </a:pPr>
            <a:r>
              <a:rPr lang="fr-FR" sz="900">
                <a:latin typeface="Avenir Next LT Pro" panose="020B0504020202020204" pitchFamily="34" charset="0"/>
              </a:rPr>
              <a:t>Participants : </a:t>
            </a:r>
          </a:p>
          <a:p>
            <a:pPr>
              <a:buBlip>
                <a:blip r:embed="rId18"/>
              </a:buBlip>
            </a:pPr>
            <a:r>
              <a:rPr lang="fr-FR" sz="900">
                <a:latin typeface="Avenir Next LT Pro" panose="020B0504020202020204" pitchFamily="34" charset="0"/>
              </a:rPr>
              <a:t>Architectes (entreprise, solution, infrastructure, …)</a:t>
            </a:r>
          </a:p>
          <a:p>
            <a:pPr marL="0" indent="0">
              <a:buNone/>
            </a:pPr>
            <a:endParaRPr lang="fr-FR" sz="900">
              <a:latin typeface="Avenir Next LT Pro" panose="020B0504020202020204" pitchFamily="34" charset="0"/>
            </a:endParaRPr>
          </a:p>
          <a:p>
            <a:pPr marL="0" indent="0">
              <a:buNone/>
            </a:pPr>
            <a:r>
              <a:rPr lang="fr-FR" sz="900">
                <a:latin typeface="Avenir Next LT Pro" panose="020B0504020202020204" pitchFamily="34" charset="0"/>
              </a:rPr>
              <a:t>Autres participants / à la demande :</a:t>
            </a:r>
          </a:p>
          <a:p>
            <a:pPr>
              <a:buBlip>
                <a:blip r:embed="rId18"/>
              </a:buBlip>
            </a:pPr>
            <a:r>
              <a:rPr lang="fr-FR" sz="900">
                <a:latin typeface="Avenir Next LT Pro" panose="020B0504020202020204" pitchFamily="34" charset="0"/>
              </a:rPr>
              <a:t>Selon ordre du jour : CPI, PO, éditeur, etc.</a:t>
            </a:r>
          </a:p>
        </p:txBody>
      </p:sp>
      <p:sp>
        <p:nvSpPr>
          <p:cNvPr id="30" name="ZoneTexte 29">
            <a:extLst>
              <a:ext uri="{FF2B5EF4-FFF2-40B4-BE49-F238E27FC236}">
                <a16:creationId xmlns:a16="http://schemas.microsoft.com/office/drawing/2014/main" id="{729182C8-2E89-78A8-0E33-09FC97ED65DE}"/>
              </a:ext>
            </a:extLst>
          </p:cNvPr>
          <p:cNvSpPr txBox="1"/>
          <p:nvPr>
            <p:custDataLst>
              <p:tags r:id="rId15"/>
            </p:custDataLst>
          </p:nvPr>
        </p:nvSpPr>
        <p:spPr>
          <a:xfrm>
            <a:off x="2454172" y="1777130"/>
            <a:ext cx="3635789" cy="276999"/>
          </a:xfrm>
          <a:prstGeom prst="rect">
            <a:avLst/>
          </a:prstGeom>
          <a:noFill/>
        </p:spPr>
        <p:txBody>
          <a:bodyPr wrap="square" lIns="0" tIns="0" rIns="0" bIns="0" rtlCol="0">
            <a:spAutoFit/>
          </a:bodyPr>
          <a:lstStyle/>
          <a:p>
            <a:pPr algn="ctr"/>
            <a:r>
              <a:rPr lang="fr-FR" b="1" cap="small">
                <a:latin typeface="Avenir Next LT Pro" panose="020B0504020202020204" pitchFamily="34" charset="0"/>
                <a:cs typeface="Arial" panose="020B0604020202020204" pitchFamily="34" charset="0"/>
              </a:rPr>
              <a:t>Revue des architectes</a:t>
            </a:r>
            <a:endParaRPr lang="en-GB" b="1" cap="small">
              <a:latin typeface="Avenir Next LT Pro" panose="020B0504020202020204" pitchFamily="34" charset="0"/>
              <a:cs typeface="Arial" panose="020B0604020202020204" pitchFamily="34" charset="0"/>
            </a:endParaRPr>
          </a:p>
        </p:txBody>
      </p:sp>
      <p:cxnSp>
        <p:nvCxnSpPr>
          <p:cNvPr id="34" name="Connecteur droit 33">
            <a:extLst>
              <a:ext uri="{FF2B5EF4-FFF2-40B4-BE49-F238E27FC236}">
                <a16:creationId xmlns:a16="http://schemas.microsoft.com/office/drawing/2014/main" id="{98426147-AC1A-39C1-5B67-DDAA4B778FA0}"/>
              </a:ext>
            </a:extLst>
          </p:cNvPr>
          <p:cNvCxnSpPr>
            <a:cxnSpLocks/>
          </p:cNvCxnSpPr>
          <p:nvPr/>
        </p:nvCxnSpPr>
        <p:spPr>
          <a:xfrm>
            <a:off x="1465135" y="2738087"/>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6934E08A-6BEF-D669-566F-0AE815940D2F}"/>
              </a:ext>
            </a:extLst>
          </p:cNvPr>
          <p:cNvCxnSpPr/>
          <p:nvPr/>
        </p:nvCxnSpPr>
        <p:spPr>
          <a:xfrm>
            <a:off x="1474660" y="3737189"/>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0C0CA637-5781-1EBB-51E3-220FF6276C50}"/>
              </a:ext>
            </a:extLst>
          </p:cNvPr>
          <p:cNvCxnSpPr/>
          <p:nvPr/>
        </p:nvCxnSpPr>
        <p:spPr>
          <a:xfrm>
            <a:off x="1485910" y="4304436"/>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21432BC2-39CD-848B-435A-C987C5918CE7}"/>
              </a:ext>
            </a:extLst>
          </p:cNvPr>
          <p:cNvCxnSpPr/>
          <p:nvPr/>
        </p:nvCxnSpPr>
        <p:spPr>
          <a:xfrm>
            <a:off x="1485910" y="4781861"/>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59CD7AE3-5DDD-CF35-DD4F-CCADDB9CE2FE}"/>
              </a:ext>
            </a:extLst>
          </p:cNvPr>
          <p:cNvCxnSpPr/>
          <p:nvPr/>
        </p:nvCxnSpPr>
        <p:spPr>
          <a:xfrm>
            <a:off x="1499768" y="5276001"/>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6" name="Graphique 45">
            <a:extLst>
              <a:ext uri="{FF2B5EF4-FFF2-40B4-BE49-F238E27FC236}">
                <a16:creationId xmlns:a16="http://schemas.microsoft.com/office/drawing/2014/main" id="{57903687-0F8A-378C-6001-87676DF00A5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179928" y="1925943"/>
            <a:ext cx="495300" cy="495300"/>
          </a:xfrm>
          <a:prstGeom prst="rect">
            <a:avLst/>
          </a:prstGeom>
        </p:spPr>
      </p:pic>
      <p:sp>
        <p:nvSpPr>
          <p:cNvPr id="8" name="ZoneTexte 7">
            <a:extLst>
              <a:ext uri="{FF2B5EF4-FFF2-40B4-BE49-F238E27FC236}">
                <a16:creationId xmlns:a16="http://schemas.microsoft.com/office/drawing/2014/main" id="{03674A21-D7C3-7473-C953-0AB6C0DB3B0D}"/>
              </a:ext>
            </a:extLst>
          </p:cNvPr>
          <p:cNvSpPr txBox="1"/>
          <p:nvPr>
            <p:custDataLst>
              <p:tags r:id="rId16"/>
            </p:custDataLst>
          </p:nvPr>
        </p:nvSpPr>
        <p:spPr>
          <a:xfrm>
            <a:off x="2388546" y="2281183"/>
            <a:ext cx="3775296" cy="415755"/>
          </a:xfrm>
          <a:prstGeom prst="rect">
            <a:avLst/>
          </a:prstGeom>
          <a:noFill/>
        </p:spPr>
        <p:txBody>
          <a:bodyPr wrap="square" rtlCol="0">
            <a:spAutoFit/>
          </a:bodyPr>
          <a:lstStyle/>
          <a:p>
            <a:pPr algn="ctr"/>
            <a:r>
              <a:rPr lang="fr-FR" sz="1051" i="1">
                <a:solidFill>
                  <a:srgbClr val="F1A500"/>
                </a:solidFill>
                <a:latin typeface="Avenir Next LT Pro" panose="020B0504020202020204" pitchFamily="34" charset="0"/>
              </a:rPr>
              <a:t>Instance de partage de l’architecture et </a:t>
            </a:r>
          </a:p>
          <a:p>
            <a:pPr algn="ctr"/>
            <a:r>
              <a:rPr lang="fr-FR" sz="1051" i="1">
                <a:solidFill>
                  <a:srgbClr val="F1A500"/>
                </a:solidFill>
                <a:latin typeface="Avenir Next LT Pro" panose="020B0504020202020204" pitchFamily="34" charset="0"/>
              </a:rPr>
              <a:t>de revue entre pairs</a:t>
            </a:r>
          </a:p>
        </p:txBody>
      </p:sp>
      <p:sp>
        <p:nvSpPr>
          <p:cNvPr id="3" name="Espace réservé du pied de page 2">
            <a:extLst>
              <a:ext uri="{FF2B5EF4-FFF2-40B4-BE49-F238E27FC236}">
                <a16:creationId xmlns:a16="http://schemas.microsoft.com/office/drawing/2014/main" id="{1CA1C28D-4BED-ABF3-330D-FE73F2DEEA4C}"/>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2800257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50E7AE-E5D8-9DA6-8080-FDC23CD64F56}"/>
              </a:ext>
            </a:extLst>
          </p:cNvPr>
          <p:cNvSpPr>
            <a:spLocks noGrp="1"/>
          </p:cNvSpPr>
          <p:nvPr>
            <p:ph type="title"/>
            <p:custDataLst>
              <p:tags r:id="rId1"/>
            </p:custDataLst>
          </p:nvPr>
        </p:nvSpPr>
        <p:spPr>
          <a:xfrm>
            <a:off x="537575" y="849535"/>
            <a:ext cx="11086578" cy="369332"/>
          </a:xfrm>
        </p:spPr>
        <p:txBody>
          <a:bodyPr/>
          <a:lstStyle/>
          <a:p>
            <a:r>
              <a:rPr lang="fr-FR" sz="2000">
                <a:solidFill>
                  <a:srgbClr val="E65012"/>
                </a:solidFill>
              </a:rPr>
              <a:t>I PROPOSITION : La cinématique cible d’un projet</a:t>
            </a:r>
            <a:endParaRPr lang="fr-FR" sz="2000"/>
          </a:p>
        </p:txBody>
      </p:sp>
      <p:sp>
        <p:nvSpPr>
          <p:cNvPr id="2" name="Espace réservé de la date 1">
            <a:extLst>
              <a:ext uri="{FF2B5EF4-FFF2-40B4-BE49-F238E27FC236}">
                <a16:creationId xmlns:a16="http://schemas.microsoft.com/office/drawing/2014/main" id="{46BAAB24-B454-C82E-0D9D-A52F70BABE8B}"/>
              </a:ext>
            </a:extLst>
          </p:cNvPr>
          <p:cNvSpPr>
            <a:spLocks noGrp="1"/>
          </p:cNvSpPr>
          <p:nvPr>
            <p:ph type="dt" sz="half" idx="10"/>
            <p:custDataLst>
              <p:tags r:id="rId2"/>
            </p:custDataLst>
          </p:nvPr>
        </p:nvSpPr>
        <p:spPr/>
        <p:txBody>
          <a:bodyPr/>
          <a:lstStyle/>
          <a:p>
            <a:r>
              <a:rPr lang="fr-FR">
                <a:latin typeface="Avenir Next LT Pro" panose="020B0504020202020204" pitchFamily="34" charset="0"/>
              </a:rPr>
              <a:t>Juin 2024</a:t>
            </a:r>
          </a:p>
        </p:txBody>
      </p:sp>
      <p:sp>
        <p:nvSpPr>
          <p:cNvPr id="4" name="Espace réservé du numéro de diapositive 3">
            <a:extLst>
              <a:ext uri="{FF2B5EF4-FFF2-40B4-BE49-F238E27FC236}">
                <a16:creationId xmlns:a16="http://schemas.microsoft.com/office/drawing/2014/main" id="{0654D6CC-F3FC-85F0-6D41-60742E4B88D1}"/>
              </a:ext>
            </a:extLst>
          </p:cNvPr>
          <p:cNvSpPr>
            <a:spLocks noGrp="1"/>
          </p:cNvSpPr>
          <p:nvPr>
            <p:ph type="sldNum" sz="quarter" idx="12"/>
            <p:custDataLst>
              <p:tags r:id="rId3"/>
            </p:custDataLst>
          </p:nvPr>
        </p:nvSpPr>
        <p:spPr/>
        <p:txBody>
          <a:bodyPr/>
          <a:lstStyle/>
          <a:p>
            <a:fld id="{6B54B0F7-55DD-40D6-B7F4-70B586885C0B}" type="slidenum">
              <a:rPr lang="fr-FR" smtClean="0">
                <a:latin typeface="Avenir Next LT Pro" panose="020B0504020202020204" pitchFamily="34" charset="0"/>
              </a:rPr>
              <a:pPr/>
              <a:t>3</a:t>
            </a:fld>
            <a:endParaRPr lang="fr-FR">
              <a:latin typeface="Avenir Next LT Pro" panose="020B0504020202020204" pitchFamily="34" charset="0"/>
            </a:endParaRPr>
          </a:p>
        </p:txBody>
      </p:sp>
      <p:sp>
        <p:nvSpPr>
          <p:cNvPr id="6" name="Espace réservé du texte 5">
            <a:extLst>
              <a:ext uri="{FF2B5EF4-FFF2-40B4-BE49-F238E27FC236}">
                <a16:creationId xmlns:a16="http://schemas.microsoft.com/office/drawing/2014/main" id="{DAC5DA09-2784-F005-9BCF-58384168130D}"/>
              </a:ext>
            </a:extLst>
          </p:cNvPr>
          <p:cNvSpPr>
            <a:spLocks noGrp="1"/>
          </p:cNvSpPr>
          <p:nvPr>
            <p:ph type="body" sz="quarter" idx="19"/>
            <p:custDataLst>
              <p:tags r:id="rId4"/>
            </p:custDataLst>
          </p:nvPr>
        </p:nvSpPr>
        <p:spPr/>
        <p:txBody>
          <a:bodyPr>
            <a:normAutofit/>
          </a:bodyPr>
          <a:lstStyle/>
          <a:p>
            <a:r>
              <a:rPr lang="fr-FR"/>
              <a:t>Les différentes INSTANCES d’architecture</a:t>
            </a:r>
            <a:endParaRPr lang="fr-FR">
              <a:latin typeface="+mj-lt"/>
            </a:endParaRPr>
          </a:p>
        </p:txBody>
      </p:sp>
      <p:sp>
        <p:nvSpPr>
          <p:cNvPr id="28" name="Espace réservé du texte 27">
            <a:extLst>
              <a:ext uri="{FF2B5EF4-FFF2-40B4-BE49-F238E27FC236}">
                <a16:creationId xmlns:a16="http://schemas.microsoft.com/office/drawing/2014/main" id="{AB899909-5205-01B7-BCBB-69D43D3F1F39}"/>
              </a:ext>
            </a:extLst>
          </p:cNvPr>
          <p:cNvSpPr>
            <a:spLocks noGrp="1"/>
          </p:cNvSpPr>
          <p:nvPr>
            <p:ph type="body" sz="quarter" idx="30"/>
          </p:nvPr>
        </p:nvSpPr>
        <p:spPr/>
        <p:txBody>
          <a:bodyPr/>
          <a:lstStyle/>
          <a:p>
            <a:r>
              <a:rPr lang="fr-FR"/>
              <a:t>01</a:t>
            </a:r>
          </a:p>
        </p:txBody>
      </p:sp>
      <p:sp>
        <p:nvSpPr>
          <p:cNvPr id="3" name="Rectangle 2">
            <a:extLst>
              <a:ext uri="{FF2B5EF4-FFF2-40B4-BE49-F238E27FC236}">
                <a16:creationId xmlns:a16="http://schemas.microsoft.com/office/drawing/2014/main" id="{818B9396-7C9E-BA8C-E64A-BF11798B3769}"/>
              </a:ext>
            </a:extLst>
          </p:cNvPr>
          <p:cNvSpPr/>
          <p:nvPr/>
        </p:nvSpPr>
        <p:spPr>
          <a:xfrm>
            <a:off x="1677112" y="2219995"/>
            <a:ext cx="2712641" cy="2856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COMITE  DE SELECTION</a:t>
            </a:r>
          </a:p>
        </p:txBody>
      </p:sp>
      <p:sp>
        <p:nvSpPr>
          <p:cNvPr id="7" name="Losange 6">
            <a:extLst>
              <a:ext uri="{FF2B5EF4-FFF2-40B4-BE49-F238E27FC236}">
                <a16:creationId xmlns:a16="http://schemas.microsoft.com/office/drawing/2014/main" id="{F0B04506-1948-8A87-69F7-3EBCAC23B191}"/>
              </a:ext>
            </a:extLst>
          </p:cNvPr>
          <p:cNvSpPr/>
          <p:nvPr/>
        </p:nvSpPr>
        <p:spPr>
          <a:xfrm>
            <a:off x="2204189" y="3493924"/>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25A620EF-196A-EBF5-12EC-CE8A3CCFB291}"/>
              </a:ext>
            </a:extLst>
          </p:cNvPr>
          <p:cNvSpPr/>
          <p:nvPr/>
        </p:nvSpPr>
        <p:spPr>
          <a:xfrm>
            <a:off x="4470671" y="2212103"/>
            <a:ext cx="7188987" cy="140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DESIGN REVIEW ELARGIE</a:t>
            </a:r>
          </a:p>
        </p:txBody>
      </p:sp>
      <p:sp>
        <p:nvSpPr>
          <p:cNvPr id="9" name="Rectangle 8">
            <a:extLst>
              <a:ext uri="{FF2B5EF4-FFF2-40B4-BE49-F238E27FC236}">
                <a16:creationId xmlns:a16="http://schemas.microsoft.com/office/drawing/2014/main" id="{73AEFE0C-2CFB-CC2F-3D7E-DD9F4BCABC40}"/>
              </a:ext>
            </a:extLst>
          </p:cNvPr>
          <p:cNvSpPr/>
          <p:nvPr/>
        </p:nvSpPr>
        <p:spPr>
          <a:xfrm>
            <a:off x="4470671" y="3679546"/>
            <a:ext cx="7188987" cy="140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DESIGN REVIEW STANDARD</a:t>
            </a:r>
          </a:p>
        </p:txBody>
      </p:sp>
      <p:sp>
        <p:nvSpPr>
          <p:cNvPr id="10" name="Losange 9">
            <a:extLst>
              <a:ext uri="{FF2B5EF4-FFF2-40B4-BE49-F238E27FC236}">
                <a16:creationId xmlns:a16="http://schemas.microsoft.com/office/drawing/2014/main" id="{B6FF1700-FCC2-96F2-47AD-2C2695592FCB}"/>
              </a:ext>
            </a:extLst>
          </p:cNvPr>
          <p:cNvSpPr/>
          <p:nvPr/>
        </p:nvSpPr>
        <p:spPr>
          <a:xfrm>
            <a:off x="5456435" y="2655555"/>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Losange 10">
            <a:extLst>
              <a:ext uri="{FF2B5EF4-FFF2-40B4-BE49-F238E27FC236}">
                <a16:creationId xmlns:a16="http://schemas.microsoft.com/office/drawing/2014/main" id="{74FDF4B3-E8BC-452D-EB44-406CF5E1BA6C}"/>
              </a:ext>
            </a:extLst>
          </p:cNvPr>
          <p:cNvSpPr/>
          <p:nvPr/>
        </p:nvSpPr>
        <p:spPr>
          <a:xfrm>
            <a:off x="5456435" y="4172217"/>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Losange 11">
            <a:extLst>
              <a:ext uri="{FF2B5EF4-FFF2-40B4-BE49-F238E27FC236}">
                <a16:creationId xmlns:a16="http://schemas.microsoft.com/office/drawing/2014/main" id="{C62842D5-FE53-1297-7246-01163D5F2275}"/>
              </a:ext>
            </a:extLst>
          </p:cNvPr>
          <p:cNvSpPr/>
          <p:nvPr/>
        </p:nvSpPr>
        <p:spPr>
          <a:xfrm>
            <a:off x="6624220" y="2655555"/>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Losange 12">
            <a:extLst>
              <a:ext uri="{FF2B5EF4-FFF2-40B4-BE49-F238E27FC236}">
                <a16:creationId xmlns:a16="http://schemas.microsoft.com/office/drawing/2014/main" id="{ED2AFE91-96F5-4A12-A7D2-558735F48C67}"/>
              </a:ext>
            </a:extLst>
          </p:cNvPr>
          <p:cNvSpPr/>
          <p:nvPr/>
        </p:nvSpPr>
        <p:spPr>
          <a:xfrm>
            <a:off x="6624220" y="4172217"/>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4" name="Connecteur : en angle 13">
            <a:extLst>
              <a:ext uri="{FF2B5EF4-FFF2-40B4-BE49-F238E27FC236}">
                <a16:creationId xmlns:a16="http://schemas.microsoft.com/office/drawing/2014/main" id="{EC41C2A4-3A81-1714-32B9-429598AFA650}"/>
              </a:ext>
            </a:extLst>
          </p:cNvPr>
          <p:cNvCxnSpPr>
            <a:cxnSpLocks/>
          </p:cNvCxnSpPr>
          <p:nvPr/>
        </p:nvCxnSpPr>
        <p:spPr>
          <a:xfrm>
            <a:off x="2488232" y="3635946"/>
            <a:ext cx="2968203" cy="67829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Losange 14">
            <a:extLst>
              <a:ext uri="{FF2B5EF4-FFF2-40B4-BE49-F238E27FC236}">
                <a16:creationId xmlns:a16="http://schemas.microsoft.com/office/drawing/2014/main" id="{760D9830-BAAA-C9D7-5B13-0C1231E6B13C}"/>
              </a:ext>
            </a:extLst>
          </p:cNvPr>
          <p:cNvSpPr/>
          <p:nvPr/>
        </p:nvSpPr>
        <p:spPr>
          <a:xfrm>
            <a:off x="9132681" y="2655555"/>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Losange 15">
            <a:extLst>
              <a:ext uri="{FF2B5EF4-FFF2-40B4-BE49-F238E27FC236}">
                <a16:creationId xmlns:a16="http://schemas.microsoft.com/office/drawing/2014/main" id="{86DE7650-D2A6-690F-6484-B61B10A1EB65}"/>
              </a:ext>
            </a:extLst>
          </p:cNvPr>
          <p:cNvSpPr/>
          <p:nvPr/>
        </p:nvSpPr>
        <p:spPr>
          <a:xfrm>
            <a:off x="9132681" y="4172217"/>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BE04261A-1367-5378-9C2E-BBFA872C102B}"/>
              </a:ext>
            </a:extLst>
          </p:cNvPr>
          <p:cNvSpPr/>
          <p:nvPr/>
        </p:nvSpPr>
        <p:spPr>
          <a:xfrm>
            <a:off x="1677112" y="5244952"/>
            <a:ext cx="9982546" cy="13397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REVUE DES ARCHITECTES</a:t>
            </a:r>
          </a:p>
        </p:txBody>
      </p:sp>
      <p:sp>
        <p:nvSpPr>
          <p:cNvPr id="18" name="Rectangle 17">
            <a:extLst>
              <a:ext uri="{FF2B5EF4-FFF2-40B4-BE49-F238E27FC236}">
                <a16:creationId xmlns:a16="http://schemas.microsoft.com/office/drawing/2014/main" id="{BB9638D4-0451-9E2B-8D3B-84017853B793}"/>
              </a:ext>
            </a:extLst>
          </p:cNvPr>
          <p:cNvSpPr/>
          <p:nvPr/>
        </p:nvSpPr>
        <p:spPr>
          <a:xfrm>
            <a:off x="6137291" y="2321078"/>
            <a:ext cx="1271587" cy="3519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choix d’architecture</a:t>
            </a:r>
          </a:p>
        </p:txBody>
      </p:sp>
      <p:sp>
        <p:nvSpPr>
          <p:cNvPr id="19" name="Rectangle 18">
            <a:extLst>
              <a:ext uri="{FF2B5EF4-FFF2-40B4-BE49-F238E27FC236}">
                <a16:creationId xmlns:a16="http://schemas.microsoft.com/office/drawing/2014/main" id="{3724EE7E-EFCC-7855-2F4C-E6FAB9F2C2D8}"/>
              </a:ext>
            </a:extLst>
          </p:cNvPr>
          <p:cNvSpPr/>
          <p:nvPr/>
        </p:nvSpPr>
        <p:spPr>
          <a:xfrm>
            <a:off x="8662723" y="2454196"/>
            <a:ext cx="1271587" cy="217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DAT</a:t>
            </a:r>
          </a:p>
        </p:txBody>
      </p:sp>
      <p:sp>
        <p:nvSpPr>
          <p:cNvPr id="21" name="Rectangle 20">
            <a:extLst>
              <a:ext uri="{FF2B5EF4-FFF2-40B4-BE49-F238E27FC236}">
                <a16:creationId xmlns:a16="http://schemas.microsoft.com/office/drawing/2014/main" id="{984FCE7D-40CB-1D08-771A-7A4808CAB5B0}"/>
              </a:ext>
            </a:extLst>
          </p:cNvPr>
          <p:cNvSpPr/>
          <p:nvPr/>
        </p:nvSpPr>
        <p:spPr>
          <a:xfrm>
            <a:off x="8662723" y="3974836"/>
            <a:ext cx="1271587" cy="217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DAT</a:t>
            </a:r>
          </a:p>
        </p:txBody>
      </p:sp>
      <p:grpSp>
        <p:nvGrpSpPr>
          <p:cNvPr id="22" name="Groupe 21">
            <a:extLst>
              <a:ext uri="{FF2B5EF4-FFF2-40B4-BE49-F238E27FC236}">
                <a16:creationId xmlns:a16="http://schemas.microsoft.com/office/drawing/2014/main" id="{55B14EA3-DCA8-4033-E119-35A96615026B}"/>
              </a:ext>
            </a:extLst>
          </p:cNvPr>
          <p:cNvGrpSpPr/>
          <p:nvPr/>
        </p:nvGrpSpPr>
        <p:grpSpPr>
          <a:xfrm>
            <a:off x="1677112" y="1664204"/>
            <a:ext cx="10143413" cy="382555"/>
            <a:chOff x="4625463" y="1903446"/>
            <a:chExt cx="6995037" cy="382555"/>
          </a:xfrm>
          <a:solidFill>
            <a:schemeClr val="tx1"/>
          </a:solidFill>
        </p:grpSpPr>
        <p:sp>
          <p:nvSpPr>
            <p:cNvPr id="23" name="Flèche : pentagone 22">
              <a:extLst>
                <a:ext uri="{FF2B5EF4-FFF2-40B4-BE49-F238E27FC236}">
                  <a16:creationId xmlns:a16="http://schemas.microsoft.com/office/drawing/2014/main" id="{5E550BA4-DC53-D7F9-EBA2-755992FBB7F9}"/>
                </a:ext>
              </a:extLst>
            </p:cNvPr>
            <p:cNvSpPr/>
            <p:nvPr/>
          </p:nvSpPr>
          <p:spPr>
            <a:xfrm>
              <a:off x="969402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latin typeface="Impact" panose="020B0806030902050204" pitchFamily="34" charset="0"/>
                  <a:cs typeface="Arial" panose="020B0604020202020204" pitchFamily="34" charset="0"/>
                </a:rPr>
                <a:t>RÉALISATION</a:t>
              </a:r>
            </a:p>
          </p:txBody>
        </p:sp>
        <p:sp>
          <p:nvSpPr>
            <p:cNvPr id="24" name="Flèche : pentagone 23">
              <a:extLst>
                <a:ext uri="{FF2B5EF4-FFF2-40B4-BE49-F238E27FC236}">
                  <a16:creationId xmlns:a16="http://schemas.microsoft.com/office/drawing/2014/main" id="{00C59014-CAB5-0CB8-077A-C2BDC906100C}"/>
                </a:ext>
              </a:extLst>
            </p:cNvPr>
            <p:cNvSpPr/>
            <p:nvPr/>
          </p:nvSpPr>
          <p:spPr>
            <a:xfrm>
              <a:off x="800450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latin typeface="Impact" panose="020B0806030902050204" pitchFamily="34" charset="0"/>
                  <a:cs typeface="Arial" panose="020B0604020202020204" pitchFamily="34" charset="0"/>
                </a:rPr>
                <a:t>CONCEPTION</a:t>
              </a:r>
            </a:p>
          </p:txBody>
        </p:sp>
        <p:sp>
          <p:nvSpPr>
            <p:cNvPr id="25" name="Flèche : pentagone 24">
              <a:extLst>
                <a:ext uri="{FF2B5EF4-FFF2-40B4-BE49-F238E27FC236}">
                  <a16:creationId xmlns:a16="http://schemas.microsoft.com/office/drawing/2014/main" id="{2CAFA926-7749-3D12-45B1-C17597D43D4D}"/>
                </a:ext>
              </a:extLst>
            </p:cNvPr>
            <p:cNvSpPr/>
            <p:nvPr/>
          </p:nvSpPr>
          <p:spPr>
            <a:xfrm>
              <a:off x="631498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latin typeface="Impact" panose="020B0806030902050204" pitchFamily="34" charset="0"/>
                  <a:cs typeface="Arial" panose="020B0604020202020204" pitchFamily="34" charset="0"/>
                </a:rPr>
                <a:t>CADRAGE</a:t>
              </a:r>
            </a:p>
          </p:txBody>
        </p:sp>
        <p:sp>
          <p:nvSpPr>
            <p:cNvPr id="26" name="Flèche : pentagone 25">
              <a:extLst>
                <a:ext uri="{FF2B5EF4-FFF2-40B4-BE49-F238E27FC236}">
                  <a16:creationId xmlns:a16="http://schemas.microsoft.com/office/drawing/2014/main" id="{4C3D0ABF-F7DC-35BF-D30A-06DD90514D38}"/>
                </a:ext>
              </a:extLst>
            </p:cNvPr>
            <p:cNvSpPr/>
            <p:nvPr/>
          </p:nvSpPr>
          <p:spPr>
            <a:xfrm>
              <a:off x="462546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a:latin typeface="Impact"/>
                  <a:cs typeface="Arial"/>
                </a:rPr>
                <a:t>SELECTION</a:t>
              </a:r>
              <a:endParaRPr lang="fr-FR" sz="1200">
                <a:latin typeface="Impact" panose="020B0806030902050204" pitchFamily="34" charset="0"/>
                <a:cs typeface="Arial" panose="020B0604020202020204" pitchFamily="34" charset="0"/>
              </a:endParaRPr>
            </a:p>
          </p:txBody>
        </p:sp>
      </p:grpSp>
      <p:sp>
        <p:nvSpPr>
          <p:cNvPr id="27" name="Losange 26">
            <a:extLst>
              <a:ext uri="{FF2B5EF4-FFF2-40B4-BE49-F238E27FC236}">
                <a16:creationId xmlns:a16="http://schemas.microsoft.com/office/drawing/2014/main" id="{13278A19-4007-B2FF-89FD-9A74FDD68AA2}"/>
              </a:ext>
            </a:extLst>
          </p:cNvPr>
          <p:cNvSpPr/>
          <p:nvPr/>
        </p:nvSpPr>
        <p:spPr>
          <a:xfrm>
            <a:off x="7907265" y="2655555"/>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Losange 30">
            <a:extLst>
              <a:ext uri="{FF2B5EF4-FFF2-40B4-BE49-F238E27FC236}">
                <a16:creationId xmlns:a16="http://schemas.microsoft.com/office/drawing/2014/main" id="{009EBF5C-1985-2924-A6E6-8EE6C091206D}"/>
              </a:ext>
            </a:extLst>
          </p:cNvPr>
          <p:cNvSpPr/>
          <p:nvPr/>
        </p:nvSpPr>
        <p:spPr>
          <a:xfrm>
            <a:off x="7907265" y="4172217"/>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2" name="Connecteur droit avec flèche 31">
            <a:extLst>
              <a:ext uri="{FF2B5EF4-FFF2-40B4-BE49-F238E27FC236}">
                <a16:creationId xmlns:a16="http://schemas.microsoft.com/office/drawing/2014/main" id="{938E330A-A01F-F910-F2A2-8C7CB24C531D}"/>
              </a:ext>
            </a:extLst>
          </p:cNvPr>
          <p:cNvCxnSpPr>
            <a:cxnSpLocks/>
          </p:cNvCxnSpPr>
          <p:nvPr/>
        </p:nvCxnSpPr>
        <p:spPr>
          <a:xfrm>
            <a:off x="5740478" y="2797577"/>
            <a:ext cx="8837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75BD9AE4-68E8-78E7-89CA-7EC4834F9B00}"/>
              </a:ext>
            </a:extLst>
          </p:cNvPr>
          <p:cNvCxnSpPr>
            <a:cxnSpLocks/>
          </p:cNvCxnSpPr>
          <p:nvPr/>
        </p:nvCxnSpPr>
        <p:spPr>
          <a:xfrm>
            <a:off x="6887419" y="2797577"/>
            <a:ext cx="1007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1A08DE4D-C7EF-E299-28C7-FB1799C8BDEF}"/>
              </a:ext>
            </a:extLst>
          </p:cNvPr>
          <p:cNvCxnSpPr>
            <a:cxnSpLocks/>
          </p:cNvCxnSpPr>
          <p:nvPr/>
        </p:nvCxnSpPr>
        <p:spPr>
          <a:xfrm>
            <a:off x="8191308" y="2797577"/>
            <a:ext cx="9413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EAC3C8C7-B607-416F-78AF-4287C2ED35EE}"/>
              </a:ext>
            </a:extLst>
          </p:cNvPr>
          <p:cNvCxnSpPr>
            <a:cxnSpLocks/>
          </p:cNvCxnSpPr>
          <p:nvPr/>
        </p:nvCxnSpPr>
        <p:spPr>
          <a:xfrm>
            <a:off x="5670041" y="4314239"/>
            <a:ext cx="9413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F6FFDA5E-5CAC-04C8-1398-B12906FA956A}"/>
              </a:ext>
            </a:extLst>
          </p:cNvPr>
          <p:cNvCxnSpPr>
            <a:cxnSpLocks/>
          </p:cNvCxnSpPr>
          <p:nvPr/>
        </p:nvCxnSpPr>
        <p:spPr>
          <a:xfrm>
            <a:off x="6889053" y="4314239"/>
            <a:ext cx="100540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A0DA29F6-9A34-FB82-A401-987FF48B3603}"/>
              </a:ext>
            </a:extLst>
          </p:cNvPr>
          <p:cNvCxnSpPr>
            <a:cxnSpLocks/>
          </p:cNvCxnSpPr>
          <p:nvPr/>
        </p:nvCxnSpPr>
        <p:spPr>
          <a:xfrm>
            <a:off x="8191308" y="4314239"/>
            <a:ext cx="9413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FEF2C437-54F4-E946-FA13-4399CA4191B3}"/>
              </a:ext>
            </a:extLst>
          </p:cNvPr>
          <p:cNvCxnSpPr>
            <a:cxnSpLocks/>
          </p:cNvCxnSpPr>
          <p:nvPr/>
        </p:nvCxnSpPr>
        <p:spPr>
          <a:xfrm flipV="1">
            <a:off x="2488232" y="2797577"/>
            <a:ext cx="2968203" cy="83836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6457DD66-7D6C-8A68-537E-1509A0E673F3}"/>
              </a:ext>
            </a:extLst>
          </p:cNvPr>
          <p:cNvSpPr/>
          <p:nvPr/>
        </p:nvSpPr>
        <p:spPr>
          <a:xfrm>
            <a:off x="1695847" y="3270245"/>
            <a:ext cx="1271587" cy="217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projet</a:t>
            </a:r>
          </a:p>
        </p:txBody>
      </p:sp>
      <p:sp>
        <p:nvSpPr>
          <p:cNvPr id="52" name="Losange 51">
            <a:extLst>
              <a:ext uri="{FF2B5EF4-FFF2-40B4-BE49-F238E27FC236}">
                <a16:creationId xmlns:a16="http://schemas.microsoft.com/office/drawing/2014/main" id="{1FBE27E2-1A60-34FD-0D9E-E88CF795BDC8}"/>
              </a:ext>
            </a:extLst>
          </p:cNvPr>
          <p:cNvSpPr/>
          <p:nvPr/>
        </p:nvSpPr>
        <p:spPr>
          <a:xfrm>
            <a:off x="2983335"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Losange 52">
            <a:extLst>
              <a:ext uri="{FF2B5EF4-FFF2-40B4-BE49-F238E27FC236}">
                <a16:creationId xmlns:a16="http://schemas.microsoft.com/office/drawing/2014/main" id="{BADD75CD-C2FD-329B-F6EC-91B3FD59DF05}"/>
              </a:ext>
            </a:extLst>
          </p:cNvPr>
          <p:cNvSpPr/>
          <p:nvPr/>
        </p:nvSpPr>
        <p:spPr>
          <a:xfrm>
            <a:off x="5151784"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Losange 53">
            <a:extLst>
              <a:ext uri="{FF2B5EF4-FFF2-40B4-BE49-F238E27FC236}">
                <a16:creationId xmlns:a16="http://schemas.microsoft.com/office/drawing/2014/main" id="{02471CA5-8BE4-120A-AE3A-B502BA6A34D5}"/>
              </a:ext>
            </a:extLst>
          </p:cNvPr>
          <p:cNvSpPr/>
          <p:nvPr/>
        </p:nvSpPr>
        <p:spPr>
          <a:xfrm>
            <a:off x="6377199"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Losange 54">
            <a:extLst>
              <a:ext uri="{FF2B5EF4-FFF2-40B4-BE49-F238E27FC236}">
                <a16:creationId xmlns:a16="http://schemas.microsoft.com/office/drawing/2014/main" id="{10D74498-BFEB-43D1-BCBA-AA965CE8E2D8}"/>
              </a:ext>
            </a:extLst>
          </p:cNvPr>
          <p:cNvSpPr/>
          <p:nvPr/>
        </p:nvSpPr>
        <p:spPr>
          <a:xfrm>
            <a:off x="8828030"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Losange 55">
            <a:extLst>
              <a:ext uri="{FF2B5EF4-FFF2-40B4-BE49-F238E27FC236}">
                <a16:creationId xmlns:a16="http://schemas.microsoft.com/office/drawing/2014/main" id="{841B31E1-0FC8-7F99-7F3C-FFE00528C6FD}"/>
              </a:ext>
            </a:extLst>
          </p:cNvPr>
          <p:cNvSpPr/>
          <p:nvPr/>
        </p:nvSpPr>
        <p:spPr>
          <a:xfrm>
            <a:off x="7602614"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F4D375C3-FA5C-DC29-ADD0-83A5947A5560}"/>
              </a:ext>
            </a:extLst>
          </p:cNvPr>
          <p:cNvSpPr/>
          <p:nvPr/>
        </p:nvSpPr>
        <p:spPr>
          <a:xfrm>
            <a:off x="4733925" y="3115277"/>
            <a:ext cx="4682800" cy="3759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i="1">
                <a:solidFill>
                  <a:schemeClr val="tx1"/>
                </a:solidFill>
                <a:latin typeface="Arial" panose="020B0604020202020204" pitchFamily="34" charset="0"/>
                <a:cs typeface="Arial" panose="020B0604020202020204" pitchFamily="34" charset="0"/>
              </a:rPr>
              <a:t>A la demande du PO/CPI, CODIR DSI ou d’un architecte, les versions intermédiaires des choix d’architecture peuvent être présentées avant soumission à validation</a:t>
            </a:r>
          </a:p>
        </p:txBody>
      </p:sp>
      <p:sp>
        <p:nvSpPr>
          <p:cNvPr id="58" name="Rectangle 57">
            <a:extLst>
              <a:ext uri="{FF2B5EF4-FFF2-40B4-BE49-F238E27FC236}">
                <a16:creationId xmlns:a16="http://schemas.microsoft.com/office/drawing/2014/main" id="{2AD90F5B-FC24-8861-43BD-98681212B317}"/>
              </a:ext>
            </a:extLst>
          </p:cNvPr>
          <p:cNvSpPr/>
          <p:nvPr/>
        </p:nvSpPr>
        <p:spPr>
          <a:xfrm>
            <a:off x="4733925" y="4641102"/>
            <a:ext cx="4682800" cy="3759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i="1">
                <a:solidFill>
                  <a:schemeClr val="tx1"/>
                </a:solidFill>
                <a:latin typeface="Arial" panose="020B0604020202020204" pitchFamily="34" charset="0"/>
                <a:cs typeface="Arial" panose="020B0604020202020204" pitchFamily="34" charset="0"/>
              </a:rPr>
              <a:t>A la demande du PO/CPI, ou de l’architecte, les versions intermédiaires des choix d’architecture peuvent être présentées avant soumission à validation</a:t>
            </a:r>
          </a:p>
        </p:txBody>
      </p:sp>
      <p:sp>
        <p:nvSpPr>
          <p:cNvPr id="59" name="Rectangle 58">
            <a:extLst>
              <a:ext uri="{FF2B5EF4-FFF2-40B4-BE49-F238E27FC236}">
                <a16:creationId xmlns:a16="http://schemas.microsoft.com/office/drawing/2014/main" id="{03AE38E9-74D6-5656-36AA-51A792154F09}"/>
              </a:ext>
            </a:extLst>
          </p:cNvPr>
          <p:cNvSpPr/>
          <p:nvPr/>
        </p:nvSpPr>
        <p:spPr>
          <a:xfrm>
            <a:off x="2892426" y="6155126"/>
            <a:ext cx="6322578" cy="3759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i="1">
                <a:solidFill>
                  <a:schemeClr val="tx1"/>
                </a:solidFill>
                <a:latin typeface="Arial" panose="020B0604020202020204" pitchFamily="34" charset="0"/>
                <a:cs typeface="Arial" panose="020B0604020202020204" pitchFamily="34" charset="0"/>
              </a:rPr>
              <a:t>A la demande de l’architecte, les versions intermédiaires des choix d’architecture peuvent être présentées avant soumission à validation</a:t>
            </a:r>
          </a:p>
        </p:txBody>
      </p:sp>
      <p:sp>
        <p:nvSpPr>
          <p:cNvPr id="60" name="Triangle isocèle 59">
            <a:extLst>
              <a:ext uri="{FF2B5EF4-FFF2-40B4-BE49-F238E27FC236}">
                <a16:creationId xmlns:a16="http://schemas.microsoft.com/office/drawing/2014/main" id="{5249C39C-3032-77E0-6D65-39263EC996DF}"/>
              </a:ext>
            </a:extLst>
          </p:cNvPr>
          <p:cNvSpPr/>
          <p:nvPr/>
        </p:nvSpPr>
        <p:spPr>
          <a:xfrm>
            <a:off x="5505111" y="303224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Triangle isocèle 60">
            <a:extLst>
              <a:ext uri="{FF2B5EF4-FFF2-40B4-BE49-F238E27FC236}">
                <a16:creationId xmlns:a16="http://schemas.microsoft.com/office/drawing/2014/main" id="{CA1DE7C2-4701-0556-8093-BE167802C3DA}"/>
              </a:ext>
            </a:extLst>
          </p:cNvPr>
          <p:cNvSpPr/>
          <p:nvPr/>
        </p:nvSpPr>
        <p:spPr>
          <a:xfrm>
            <a:off x="7955456" y="303224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Triangle isocèle 61">
            <a:extLst>
              <a:ext uri="{FF2B5EF4-FFF2-40B4-BE49-F238E27FC236}">
                <a16:creationId xmlns:a16="http://schemas.microsoft.com/office/drawing/2014/main" id="{E41D69DD-48E3-B17D-5557-067DE7481DBE}"/>
              </a:ext>
            </a:extLst>
          </p:cNvPr>
          <p:cNvSpPr/>
          <p:nvPr/>
        </p:nvSpPr>
        <p:spPr>
          <a:xfrm>
            <a:off x="5505111" y="4578580"/>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Triangle isocèle 62">
            <a:extLst>
              <a:ext uri="{FF2B5EF4-FFF2-40B4-BE49-F238E27FC236}">
                <a16:creationId xmlns:a16="http://schemas.microsoft.com/office/drawing/2014/main" id="{57E6A65B-B91C-9595-87CA-CB5A1D5CBE24}"/>
              </a:ext>
            </a:extLst>
          </p:cNvPr>
          <p:cNvSpPr/>
          <p:nvPr/>
        </p:nvSpPr>
        <p:spPr>
          <a:xfrm>
            <a:off x="7955456" y="4578580"/>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Triangle isocèle 63">
            <a:extLst>
              <a:ext uri="{FF2B5EF4-FFF2-40B4-BE49-F238E27FC236}">
                <a16:creationId xmlns:a16="http://schemas.microsoft.com/office/drawing/2014/main" id="{5BB80C4A-F1EF-243E-9EBC-43D9BB8B0E3A}"/>
              </a:ext>
            </a:extLst>
          </p:cNvPr>
          <p:cNvSpPr/>
          <p:nvPr/>
        </p:nvSpPr>
        <p:spPr>
          <a:xfrm>
            <a:off x="6426456"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Triangle isocèle 64">
            <a:extLst>
              <a:ext uri="{FF2B5EF4-FFF2-40B4-BE49-F238E27FC236}">
                <a16:creationId xmlns:a16="http://schemas.microsoft.com/office/drawing/2014/main" id="{D2563F2C-237F-CA20-B915-E186D15BEDA4}"/>
              </a:ext>
            </a:extLst>
          </p:cNvPr>
          <p:cNvSpPr/>
          <p:nvPr/>
        </p:nvSpPr>
        <p:spPr>
          <a:xfrm>
            <a:off x="8876801"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Triangle isocèle 65">
            <a:extLst>
              <a:ext uri="{FF2B5EF4-FFF2-40B4-BE49-F238E27FC236}">
                <a16:creationId xmlns:a16="http://schemas.microsoft.com/office/drawing/2014/main" id="{F87F0E1E-4754-5690-91AF-DF59EAC6ECE1}"/>
              </a:ext>
            </a:extLst>
          </p:cNvPr>
          <p:cNvSpPr/>
          <p:nvPr/>
        </p:nvSpPr>
        <p:spPr>
          <a:xfrm>
            <a:off x="5188206"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Triangle isocèle 66">
            <a:extLst>
              <a:ext uri="{FF2B5EF4-FFF2-40B4-BE49-F238E27FC236}">
                <a16:creationId xmlns:a16="http://schemas.microsoft.com/office/drawing/2014/main" id="{ABE4FB9D-5E37-D4F7-8FB7-F3DDF7143A85}"/>
              </a:ext>
            </a:extLst>
          </p:cNvPr>
          <p:cNvSpPr/>
          <p:nvPr/>
        </p:nvSpPr>
        <p:spPr>
          <a:xfrm>
            <a:off x="7638551"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Triangle isocèle 67">
            <a:extLst>
              <a:ext uri="{FF2B5EF4-FFF2-40B4-BE49-F238E27FC236}">
                <a16:creationId xmlns:a16="http://schemas.microsoft.com/office/drawing/2014/main" id="{0E8FA07F-557C-8DDD-68EA-B5A94079AA48}"/>
              </a:ext>
            </a:extLst>
          </p:cNvPr>
          <p:cNvSpPr/>
          <p:nvPr/>
        </p:nvSpPr>
        <p:spPr>
          <a:xfrm>
            <a:off x="3032011"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C9EF56B5-6090-77EE-BA3A-2F6F28BB9513}"/>
              </a:ext>
            </a:extLst>
          </p:cNvPr>
          <p:cNvSpPr/>
          <p:nvPr/>
        </p:nvSpPr>
        <p:spPr>
          <a:xfrm>
            <a:off x="3094313" y="2504258"/>
            <a:ext cx="1303500" cy="239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fr-FR" sz="1000" i="1">
                <a:solidFill>
                  <a:schemeClr val="tx1"/>
                </a:solidFill>
                <a:latin typeface="Arial" panose="020B0604020202020204" pitchFamily="34" charset="0"/>
                <a:cs typeface="Arial" panose="020B0604020202020204" pitchFamily="34" charset="0"/>
              </a:rPr>
              <a:t>Si impact majeur</a:t>
            </a:r>
          </a:p>
        </p:txBody>
      </p:sp>
      <p:sp>
        <p:nvSpPr>
          <p:cNvPr id="70" name="Rectangle 69">
            <a:extLst>
              <a:ext uri="{FF2B5EF4-FFF2-40B4-BE49-F238E27FC236}">
                <a16:creationId xmlns:a16="http://schemas.microsoft.com/office/drawing/2014/main" id="{3484E8C7-AB96-B7AD-0CD7-ED0D72A3B5E1}"/>
              </a:ext>
            </a:extLst>
          </p:cNvPr>
          <p:cNvSpPr/>
          <p:nvPr/>
        </p:nvSpPr>
        <p:spPr>
          <a:xfrm>
            <a:off x="3115288" y="4307788"/>
            <a:ext cx="1303500" cy="4501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fr-FR" sz="1000" i="1">
                <a:solidFill>
                  <a:schemeClr val="tx1"/>
                </a:solidFill>
                <a:latin typeface="Arial" panose="020B0604020202020204" pitchFamily="34" charset="0"/>
                <a:cs typeface="Arial" panose="020B0604020202020204" pitchFamily="34" charset="0"/>
              </a:rPr>
              <a:t>Si impact modéré ou faible</a:t>
            </a:r>
          </a:p>
        </p:txBody>
      </p:sp>
      <p:sp>
        <p:nvSpPr>
          <p:cNvPr id="71" name="Rectangle 70">
            <a:extLst>
              <a:ext uri="{FF2B5EF4-FFF2-40B4-BE49-F238E27FC236}">
                <a16:creationId xmlns:a16="http://schemas.microsoft.com/office/drawing/2014/main" id="{641CA1E9-56F4-A50C-5405-5B96897FCBD0}"/>
              </a:ext>
            </a:extLst>
          </p:cNvPr>
          <p:cNvSpPr/>
          <p:nvPr/>
        </p:nvSpPr>
        <p:spPr>
          <a:xfrm>
            <a:off x="200024" y="1647254"/>
            <a:ext cx="1253067" cy="351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latin typeface="Impact" panose="020B0806030902050204" pitchFamily="34" charset="0"/>
                <a:cs typeface="Arial" panose="020B0604020202020204" pitchFamily="34" charset="0"/>
              </a:rPr>
              <a:t>PHASES PROJET</a:t>
            </a:r>
          </a:p>
        </p:txBody>
      </p:sp>
      <p:sp>
        <p:nvSpPr>
          <p:cNvPr id="72" name="Rectangle 71">
            <a:extLst>
              <a:ext uri="{FF2B5EF4-FFF2-40B4-BE49-F238E27FC236}">
                <a16:creationId xmlns:a16="http://schemas.microsoft.com/office/drawing/2014/main" id="{69ACAD30-EB59-8073-E22F-E1F34D071AD6}"/>
              </a:ext>
            </a:extLst>
          </p:cNvPr>
          <p:cNvSpPr/>
          <p:nvPr/>
        </p:nvSpPr>
        <p:spPr>
          <a:xfrm>
            <a:off x="200024" y="2210990"/>
            <a:ext cx="1253067" cy="28655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latin typeface="Impact" panose="020B0806030902050204" pitchFamily="34" charset="0"/>
                <a:cs typeface="Arial" panose="020B0604020202020204" pitchFamily="34" charset="0"/>
              </a:rPr>
              <a:t>INSTANCES DE PRISE DE DECISION</a:t>
            </a:r>
          </a:p>
        </p:txBody>
      </p:sp>
      <p:sp>
        <p:nvSpPr>
          <p:cNvPr id="73" name="Rectangle 72">
            <a:extLst>
              <a:ext uri="{FF2B5EF4-FFF2-40B4-BE49-F238E27FC236}">
                <a16:creationId xmlns:a16="http://schemas.microsoft.com/office/drawing/2014/main" id="{0B46A3AA-7612-3743-024F-15559BCEB910}"/>
              </a:ext>
            </a:extLst>
          </p:cNvPr>
          <p:cNvSpPr/>
          <p:nvPr/>
        </p:nvSpPr>
        <p:spPr>
          <a:xfrm>
            <a:off x="197141" y="5244952"/>
            <a:ext cx="1253067" cy="1339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latin typeface="Impact" panose="020B0806030902050204" pitchFamily="34" charset="0"/>
                <a:cs typeface="Arial" panose="020B0604020202020204" pitchFamily="34" charset="0"/>
              </a:rPr>
              <a:t>INSTANCES DE PARTAGE</a:t>
            </a:r>
          </a:p>
        </p:txBody>
      </p:sp>
      <p:cxnSp>
        <p:nvCxnSpPr>
          <p:cNvPr id="74" name="Connecteur droit 73">
            <a:extLst>
              <a:ext uri="{FF2B5EF4-FFF2-40B4-BE49-F238E27FC236}">
                <a16:creationId xmlns:a16="http://schemas.microsoft.com/office/drawing/2014/main" id="{6132E790-1D66-592A-3B60-49D3185D2E4A}"/>
              </a:ext>
            </a:extLst>
          </p:cNvPr>
          <p:cNvCxnSpPr>
            <a:cxnSpLocks/>
          </p:cNvCxnSpPr>
          <p:nvPr/>
        </p:nvCxnSpPr>
        <p:spPr>
          <a:xfrm flipH="1">
            <a:off x="297392" y="2155626"/>
            <a:ext cx="114892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F3E633B1-736E-2090-C2C5-05563783C0C8}"/>
              </a:ext>
            </a:extLst>
          </p:cNvPr>
          <p:cNvCxnSpPr>
            <a:cxnSpLocks/>
          </p:cNvCxnSpPr>
          <p:nvPr/>
        </p:nvCxnSpPr>
        <p:spPr>
          <a:xfrm flipH="1">
            <a:off x="297392" y="5151767"/>
            <a:ext cx="114892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Rectangle : coins arrondis 75">
            <a:extLst>
              <a:ext uri="{FF2B5EF4-FFF2-40B4-BE49-F238E27FC236}">
                <a16:creationId xmlns:a16="http://schemas.microsoft.com/office/drawing/2014/main" id="{9E9C9EE2-B0A0-7112-CA72-04CE35474C18}"/>
              </a:ext>
            </a:extLst>
          </p:cNvPr>
          <p:cNvSpPr/>
          <p:nvPr/>
        </p:nvSpPr>
        <p:spPr>
          <a:xfrm>
            <a:off x="9801225" y="95825"/>
            <a:ext cx="2515325" cy="1089152"/>
          </a:xfrm>
          <a:prstGeom prst="roundRect">
            <a:avLst/>
          </a:prstGeom>
          <a:noFill/>
          <a:ln w="12660" cap="flat">
            <a:gradFill flip="none" rotWithShape="1">
              <a:gsLst>
                <a:gs pos="0">
                  <a:srgbClr val="102031"/>
                </a:gs>
                <a:gs pos="46000">
                  <a:schemeClr val="bg1">
                    <a:lumMod val="95000"/>
                    <a:alpha val="99000"/>
                  </a:schemeClr>
                </a:gs>
                <a:gs pos="80000">
                  <a:schemeClr val="bg1">
                    <a:alpha val="0"/>
                  </a:schemeClr>
                </a:gs>
              </a:gsLst>
              <a:lin ang="18900000" scaled="1"/>
              <a:tileRect/>
            </a:gradFill>
            <a:prstDash val="solid"/>
            <a:miter/>
          </a:ln>
        </p:spPr>
        <p:txBody>
          <a:bodyPr rtlCol="0" anchor="ctr"/>
          <a:lstStyle/>
          <a:p>
            <a:pPr algn="l"/>
            <a:endParaRPr lang="fr-FR">
              <a:ln>
                <a:solidFill>
                  <a:srgbClr val="102031"/>
                </a:solidFill>
              </a:ln>
            </a:endParaRPr>
          </a:p>
        </p:txBody>
      </p:sp>
      <p:sp>
        <p:nvSpPr>
          <p:cNvPr id="77" name="Losange 76">
            <a:extLst>
              <a:ext uri="{FF2B5EF4-FFF2-40B4-BE49-F238E27FC236}">
                <a16:creationId xmlns:a16="http://schemas.microsoft.com/office/drawing/2014/main" id="{78E5F571-DC81-1043-F8C1-185217DCD371}"/>
              </a:ext>
            </a:extLst>
          </p:cNvPr>
          <p:cNvSpPr/>
          <p:nvPr/>
        </p:nvSpPr>
        <p:spPr>
          <a:xfrm>
            <a:off x="10028439" y="276812"/>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Losange 77">
            <a:extLst>
              <a:ext uri="{FF2B5EF4-FFF2-40B4-BE49-F238E27FC236}">
                <a16:creationId xmlns:a16="http://schemas.microsoft.com/office/drawing/2014/main" id="{B1130E0E-BA4B-776D-431F-C772E6B6F24F}"/>
              </a:ext>
            </a:extLst>
          </p:cNvPr>
          <p:cNvSpPr/>
          <p:nvPr/>
        </p:nvSpPr>
        <p:spPr>
          <a:xfrm>
            <a:off x="10028439" y="800780"/>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CE73CF0D-B904-AE96-7A80-3D44D99FDE86}"/>
              </a:ext>
            </a:extLst>
          </p:cNvPr>
          <p:cNvSpPr/>
          <p:nvPr/>
        </p:nvSpPr>
        <p:spPr>
          <a:xfrm>
            <a:off x="10312482" y="803094"/>
            <a:ext cx="1774412" cy="250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fr-FR" sz="1000" b="1">
                <a:solidFill>
                  <a:schemeClr val="tx1"/>
                </a:solidFill>
                <a:latin typeface="Arial"/>
                <a:cs typeface="Arial"/>
              </a:rPr>
              <a:t>Revue intermédiaire</a:t>
            </a:r>
          </a:p>
        </p:txBody>
      </p:sp>
      <p:sp>
        <p:nvSpPr>
          <p:cNvPr id="80" name="Rectangle 79">
            <a:extLst>
              <a:ext uri="{FF2B5EF4-FFF2-40B4-BE49-F238E27FC236}">
                <a16:creationId xmlns:a16="http://schemas.microsoft.com/office/drawing/2014/main" id="{8F757E3E-DE57-44D4-E990-0AAE926525D7}"/>
              </a:ext>
            </a:extLst>
          </p:cNvPr>
          <p:cNvSpPr/>
          <p:nvPr/>
        </p:nvSpPr>
        <p:spPr>
          <a:xfrm>
            <a:off x="10312482" y="303971"/>
            <a:ext cx="1774412" cy="2297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fr-FR" sz="1000" b="1">
                <a:solidFill>
                  <a:schemeClr val="tx1"/>
                </a:solidFill>
                <a:latin typeface="Arial"/>
                <a:cs typeface="Arial"/>
              </a:rPr>
              <a:t>Jalon de validation </a:t>
            </a:r>
            <a:endParaRPr lang="fr-FR" sz="1000" b="1">
              <a:solidFill>
                <a:schemeClr val="tx1"/>
              </a:solidFill>
              <a:latin typeface="Arial" panose="020B0604020202020204" pitchFamily="34" charset="0"/>
              <a:cs typeface="Arial" panose="020B0604020202020204" pitchFamily="34" charset="0"/>
            </a:endParaRPr>
          </a:p>
        </p:txBody>
      </p:sp>
      <p:sp>
        <p:nvSpPr>
          <p:cNvPr id="81" name="Rectangle 80">
            <a:extLst>
              <a:ext uri="{FF2B5EF4-FFF2-40B4-BE49-F238E27FC236}">
                <a16:creationId xmlns:a16="http://schemas.microsoft.com/office/drawing/2014/main" id="{15DDBA7F-7979-F0B2-79D7-FACF0720FCB5}"/>
              </a:ext>
            </a:extLst>
          </p:cNvPr>
          <p:cNvSpPr/>
          <p:nvPr/>
        </p:nvSpPr>
        <p:spPr>
          <a:xfrm>
            <a:off x="6137291" y="3825592"/>
            <a:ext cx="1271587" cy="3519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choix d’architecture</a:t>
            </a:r>
          </a:p>
        </p:txBody>
      </p:sp>
      <p:sp>
        <p:nvSpPr>
          <p:cNvPr id="20" name="Losange 19">
            <a:extLst>
              <a:ext uri="{FF2B5EF4-FFF2-40B4-BE49-F238E27FC236}">
                <a16:creationId xmlns:a16="http://schemas.microsoft.com/office/drawing/2014/main" id="{79F2A0DD-7789-585C-4E96-D1DB10E6A384}"/>
              </a:ext>
            </a:extLst>
          </p:cNvPr>
          <p:cNvSpPr/>
          <p:nvPr/>
        </p:nvSpPr>
        <p:spPr>
          <a:xfrm>
            <a:off x="6745882" y="1720664"/>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a:extLst>
              <a:ext uri="{FF2B5EF4-FFF2-40B4-BE49-F238E27FC236}">
                <a16:creationId xmlns:a16="http://schemas.microsoft.com/office/drawing/2014/main" id="{7DFE024F-172B-54C4-104C-2C1E75543D7C}"/>
              </a:ext>
            </a:extLst>
          </p:cNvPr>
          <p:cNvSpPr/>
          <p:nvPr/>
        </p:nvSpPr>
        <p:spPr>
          <a:xfrm>
            <a:off x="6297375" y="1296540"/>
            <a:ext cx="1271587" cy="3519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fr-FR" sz="1100" b="1">
                <a:solidFill>
                  <a:schemeClr val="tx1"/>
                </a:solidFill>
                <a:latin typeface="Arial"/>
                <a:cs typeface="Arial"/>
              </a:rPr>
              <a:t>Comité d'engagement</a:t>
            </a:r>
          </a:p>
        </p:txBody>
      </p:sp>
      <p:sp>
        <p:nvSpPr>
          <p:cNvPr id="30" name="Espace réservé du pied de page 29">
            <a:extLst>
              <a:ext uri="{FF2B5EF4-FFF2-40B4-BE49-F238E27FC236}">
                <a16:creationId xmlns:a16="http://schemas.microsoft.com/office/drawing/2014/main" id="{830E4305-DE13-9DB3-E092-BBD490CDF462}"/>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3954208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3" name="Espace réservé du texte 5">
            <a:extLst>
              <a:ext uri="{FF2B5EF4-FFF2-40B4-BE49-F238E27FC236}">
                <a16:creationId xmlns:a16="http://schemas.microsoft.com/office/drawing/2014/main" id="{5CCF0E4B-1473-BE52-7891-11EB26137EA3}"/>
              </a:ext>
            </a:extLst>
          </p:cNvPr>
          <p:cNvSpPr>
            <a:spLocks noGrp="1"/>
          </p:cNvSpPr>
          <p:nvPr>
            <p:ph type="body" sz="quarter" idx="19"/>
            <p:custDataLst>
              <p:tags r:id="rId1"/>
            </p:custDataLst>
          </p:nvPr>
        </p:nvSpPr>
        <p:spPr/>
        <p:txBody>
          <a:bodyPr/>
          <a:lstStyle/>
          <a:p>
            <a:r>
              <a:rPr lang="fr-FR"/>
              <a:t>Contenu d’une revue d’architecture</a:t>
            </a:r>
            <a:endParaRPr lang="fr-FR">
              <a:latin typeface="+mj-lt"/>
            </a:endParaRPr>
          </a:p>
        </p:txBody>
      </p:sp>
      <p:sp>
        <p:nvSpPr>
          <p:cNvPr id="45" name="Espace réservé du texte 44">
            <a:extLst>
              <a:ext uri="{FF2B5EF4-FFF2-40B4-BE49-F238E27FC236}">
                <a16:creationId xmlns:a16="http://schemas.microsoft.com/office/drawing/2014/main" id="{E6B8B721-BBA3-956D-71D2-26A818EAB29C}"/>
              </a:ext>
            </a:extLst>
          </p:cNvPr>
          <p:cNvSpPr>
            <a:spLocks noGrp="1"/>
          </p:cNvSpPr>
          <p:nvPr>
            <p:ph type="body" sz="quarter" idx="30"/>
          </p:nvPr>
        </p:nvSpPr>
        <p:spPr/>
        <p:txBody>
          <a:bodyPr/>
          <a:lstStyle/>
          <a:p>
            <a:r>
              <a:rPr lang="fr-FR"/>
              <a:t>03</a:t>
            </a:r>
          </a:p>
        </p:txBody>
      </p:sp>
      <p:sp>
        <p:nvSpPr>
          <p:cNvPr id="5" name="Titre 4">
            <a:extLst>
              <a:ext uri="{FF2B5EF4-FFF2-40B4-BE49-F238E27FC236}">
                <a16:creationId xmlns:a16="http://schemas.microsoft.com/office/drawing/2014/main" id="{2850E7AE-E5D8-9DA6-8080-FDC23CD64F56}"/>
              </a:ext>
            </a:extLst>
          </p:cNvPr>
          <p:cNvSpPr>
            <a:spLocks noGrp="1"/>
          </p:cNvSpPr>
          <p:nvPr>
            <p:ph type="title" idx="4294967295"/>
            <p:custDataLst>
              <p:tags r:id="rId2"/>
            </p:custDataLst>
          </p:nvPr>
        </p:nvSpPr>
        <p:spPr>
          <a:xfrm>
            <a:off x="3575581" y="739552"/>
            <a:ext cx="6176218" cy="423392"/>
          </a:xfrm>
        </p:spPr>
        <p:txBody>
          <a:bodyPr/>
          <a:lstStyle/>
          <a:p>
            <a:r>
              <a:rPr lang="fr-FR" sz="2800" b="1">
                <a:solidFill>
                  <a:srgbClr val="E65012"/>
                </a:solidFill>
              </a:rPr>
              <a:t>L’architecture et les instructions projets</a:t>
            </a:r>
          </a:p>
        </p:txBody>
      </p:sp>
      <p:sp>
        <p:nvSpPr>
          <p:cNvPr id="12" name="Rectangle 11">
            <a:extLst>
              <a:ext uri="{FF2B5EF4-FFF2-40B4-BE49-F238E27FC236}">
                <a16:creationId xmlns:a16="http://schemas.microsoft.com/office/drawing/2014/main" id="{59923D49-D9FF-7C36-E4BF-A44739D2CC95}"/>
              </a:ext>
            </a:extLst>
          </p:cNvPr>
          <p:cNvSpPr/>
          <p:nvPr/>
        </p:nvSpPr>
        <p:spPr>
          <a:xfrm>
            <a:off x="1038324" y="1332816"/>
            <a:ext cx="3448855" cy="4982024"/>
          </a:xfrm>
          <a:prstGeom prst="rect">
            <a:avLst/>
          </a:prstGeom>
          <a:solidFill>
            <a:schemeClr val="accent3"/>
          </a:solidFill>
          <a:ln w="12660" cap="flat">
            <a:noFill/>
            <a:prstDash val="solid"/>
            <a:miter/>
          </a:ln>
        </p:spPr>
        <p:txBody>
          <a:bodyPr rtlCol="0" anchor="ctr"/>
          <a:lstStyle/>
          <a:p>
            <a:pPr algn="l"/>
            <a:endParaRPr lang="fr-FR"/>
          </a:p>
        </p:txBody>
      </p:sp>
      <p:sp>
        <p:nvSpPr>
          <p:cNvPr id="14" name="Rectangle 13">
            <a:extLst>
              <a:ext uri="{FF2B5EF4-FFF2-40B4-BE49-F238E27FC236}">
                <a16:creationId xmlns:a16="http://schemas.microsoft.com/office/drawing/2014/main" id="{ED9A810E-8F30-4B80-A927-47CD8B62136E}"/>
              </a:ext>
            </a:extLst>
          </p:cNvPr>
          <p:cNvSpPr/>
          <p:nvPr/>
        </p:nvSpPr>
        <p:spPr>
          <a:xfrm>
            <a:off x="4488818" y="1332816"/>
            <a:ext cx="4051968" cy="4982024"/>
          </a:xfrm>
          <a:prstGeom prst="rect">
            <a:avLst/>
          </a:prstGeom>
          <a:solidFill>
            <a:schemeClr val="tx1"/>
          </a:solidFill>
          <a:ln w="12660" cap="flat">
            <a:noFill/>
            <a:prstDash val="solid"/>
            <a:miter/>
          </a:ln>
        </p:spPr>
        <p:txBody>
          <a:bodyPr rtlCol="0" anchor="ctr"/>
          <a:lstStyle/>
          <a:p>
            <a:pPr algn="l"/>
            <a:endParaRPr lang="fr-FR"/>
          </a:p>
        </p:txBody>
      </p:sp>
      <p:sp>
        <p:nvSpPr>
          <p:cNvPr id="15" name="Rectangle 14">
            <a:extLst>
              <a:ext uri="{FF2B5EF4-FFF2-40B4-BE49-F238E27FC236}">
                <a16:creationId xmlns:a16="http://schemas.microsoft.com/office/drawing/2014/main" id="{B077017B-6D60-2580-4905-81AA853E4ECE}"/>
              </a:ext>
            </a:extLst>
          </p:cNvPr>
          <p:cNvSpPr/>
          <p:nvPr/>
        </p:nvSpPr>
        <p:spPr>
          <a:xfrm>
            <a:off x="8542424" y="1354081"/>
            <a:ext cx="3295051" cy="4960759"/>
          </a:xfrm>
          <a:prstGeom prst="rect">
            <a:avLst/>
          </a:prstGeom>
          <a:solidFill>
            <a:schemeClr val="accent5"/>
          </a:solidFill>
          <a:ln w="12660" cap="flat">
            <a:noFill/>
            <a:prstDash val="solid"/>
            <a:miter/>
          </a:ln>
        </p:spPr>
        <p:txBody>
          <a:bodyPr rtlCol="0" anchor="ctr"/>
          <a:lstStyle/>
          <a:p>
            <a:pPr algn="l"/>
            <a:endParaRPr lang="fr-FR"/>
          </a:p>
        </p:txBody>
      </p:sp>
      <p:sp>
        <p:nvSpPr>
          <p:cNvPr id="19" name="Espace réservé du texte 48">
            <a:extLst>
              <a:ext uri="{FF2B5EF4-FFF2-40B4-BE49-F238E27FC236}">
                <a16:creationId xmlns:a16="http://schemas.microsoft.com/office/drawing/2014/main" id="{49FD0143-D029-95DC-4BC8-0B037118276B}"/>
              </a:ext>
            </a:extLst>
          </p:cNvPr>
          <p:cNvSpPr txBox="1">
            <a:spLocks/>
          </p:cNvSpPr>
          <p:nvPr/>
        </p:nvSpPr>
        <p:spPr>
          <a:xfrm>
            <a:off x="1353586" y="2221948"/>
            <a:ext cx="2830749" cy="307777"/>
          </a:xfrm>
          <a:prstGeom prst="rect">
            <a:avLst/>
          </a:prstGeom>
        </p:spPr>
        <p:txBody>
          <a:bodyPr wrap="square" lIns="0" tIns="0" rIns="0" bIns="0" anchor="t" anchorCtr="0">
            <a:spAutoFit/>
          </a:bodyPr>
          <a:lstStyle>
            <a:lvl1pPr marL="0" indent="0" algn="l" defTabSz="914400" rtl="0" eaLnBrk="1" latinLnBrk="0" hangingPunct="1">
              <a:lnSpc>
                <a:spcPct val="100000"/>
              </a:lnSpc>
              <a:spcBef>
                <a:spcPts val="3400"/>
              </a:spcBef>
              <a:buFont typeface="Arial" panose="020B0604020202020204" pitchFamily="34" charset="0"/>
              <a:buNone/>
              <a:defRPr sz="2000" kern="1200">
                <a:solidFill>
                  <a:schemeClr val="bg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fr-FR" b="1">
                <a:latin typeface="Avenir Next LT Pro" panose="020B0504020202020204" pitchFamily="34" charset="0"/>
              </a:rPr>
              <a:t>Pourquoi ? Quoi ?</a:t>
            </a:r>
          </a:p>
        </p:txBody>
      </p:sp>
      <p:sp>
        <p:nvSpPr>
          <p:cNvPr id="21" name="Espace réservé du texte 48">
            <a:extLst>
              <a:ext uri="{FF2B5EF4-FFF2-40B4-BE49-F238E27FC236}">
                <a16:creationId xmlns:a16="http://schemas.microsoft.com/office/drawing/2014/main" id="{35EC7A65-AF30-054C-D23B-2184124257AD}"/>
              </a:ext>
            </a:extLst>
          </p:cNvPr>
          <p:cNvSpPr txBox="1">
            <a:spLocks/>
          </p:cNvSpPr>
          <p:nvPr/>
        </p:nvSpPr>
        <p:spPr>
          <a:xfrm>
            <a:off x="4926501" y="2294201"/>
            <a:ext cx="3138747" cy="243465"/>
          </a:xfrm>
          <a:prstGeom prst="rect">
            <a:avLst/>
          </a:prstGeom>
        </p:spPr>
        <p:txBody>
          <a:bodyPr wrap="square" lIns="0" tIns="0" rIns="0" bIns="0" anchor="t" anchorCtr="0">
            <a:spAutoFit/>
          </a:bodyPr>
          <a:lstStyle>
            <a:defPPr>
              <a:defRPr lang="fr-FR"/>
            </a:defPPr>
            <a:lvl1pPr indent="0">
              <a:lnSpc>
                <a:spcPct val="100000"/>
              </a:lnSpc>
              <a:spcBef>
                <a:spcPts val="0"/>
              </a:spcBef>
              <a:buFont typeface="Arial" panose="020B0604020202020204" pitchFamily="34" charset="0"/>
              <a:buNone/>
              <a:defRPr sz="2000" b="1">
                <a:solidFill>
                  <a:schemeClr val="bg1"/>
                </a:solidFill>
                <a:latin typeface="Avenir Next LT Pro" panose="020B0504020202020204" pitchFamily="34" charset="0"/>
              </a:defRPr>
            </a:lvl1pPr>
            <a:lvl2pPr indent="0">
              <a:lnSpc>
                <a:spcPct val="90000"/>
              </a:lnSpc>
              <a:spcBef>
                <a:spcPts val="500"/>
              </a:spcBef>
              <a:buFont typeface="Arial" panose="020B0604020202020204" pitchFamily="34" charset="0"/>
              <a:buNone/>
              <a:defRPr sz="20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defRPr sz="2000"/>
            </a:lvl4pPr>
            <a:lvl5pPr indent="0">
              <a:lnSpc>
                <a:spcPct val="90000"/>
              </a:lnSpc>
              <a:spcBef>
                <a:spcPts val="500"/>
              </a:spcBef>
              <a:buFont typeface="Arial" panose="020B0604020202020204" pitchFamily="34" charset="0"/>
              <a:buNone/>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8000"/>
              </a:lnSpc>
            </a:pPr>
            <a:r>
              <a:rPr lang="fr-FR">
                <a:latin typeface="Avenir Next LT Pro"/>
              </a:rPr>
              <a:t>Possibilités ? Comment ?</a:t>
            </a:r>
          </a:p>
        </p:txBody>
      </p:sp>
      <p:sp>
        <p:nvSpPr>
          <p:cNvPr id="23" name="Espace réservé du texte 48">
            <a:extLst>
              <a:ext uri="{FF2B5EF4-FFF2-40B4-BE49-F238E27FC236}">
                <a16:creationId xmlns:a16="http://schemas.microsoft.com/office/drawing/2014/main" id="{568BCF7D-6071-C160-3B47-F111FA3376C8}"/>
              </a:ext>
            </a:extLst>
          </p:cNvPr>
          <p:cNvSpPr txBox="1">
            <a:spLocks/>
          </p:cNvSpPr>
          <p:nvPr/>
        </p:nvSpPr>
        <p:spPr>
          <a:xfrm>
            <a:off x="8967156" y="2222372"/>
            <a:ext cx="2522424" cy="243465"/>
          </a:xfrm>
          <a:prstGeom prst="rect">
            <a:avLst/>
          </a:prstGeom>
        </p:spPr>
        <p:txBody>
          <a:bodyPr wrap="square" lIns="0" tIns="0" rIns="0" bIns="0" anchor="t" anchorCtr="0">
            <a:spAutoFit/>
          </a:bodyPr>
          <a:lstStyle>
            <a:defPPr>
              <a:defRPr lang="fr-FR"/>
            </a:defPPr>
            <a:lvl1pPr indent="0">
              <a:lnSpc>
                <a:spcPct val="100000"/>
              </a:lnSpc>
              <a:spcBef>
                <a:spcPts val="0"/>
              </a:spcBef>
              <a:buFont typeface="Arial" panose="020B0604020202020204" pitchFamily="34" charset="0"/>
              <a:buNone/>
              <a:defRPr sz="2000" b="1">
                <a:solidFill>
                  <a:schemeClr val="bg1"/>
                </a:solidFill>
                <a:latin typeface="Avenir Next LT Pro" panose="020B0504020202020204" pitchFamily="34" charset="0"/>
              </a:defRPr>
            </a:lvl1pPr>
            <a:lvl2pPr indent="0">
              <a:lnSpc>
                <a:spcPct val="90000"/>
              </a:lnSpc>
              <a:spcBef>
                <a:spcPts val="500"/>
              </a:spcBef>
              <a:buFont typeface="Arial" panose="020B0604020202020204" pitchFamily="34" charset="0"/>
              <a:buNone/>
              <a:defRPr sz="20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defRPr sz="2000"/>
            </a:lvl4pPr>
            <a:lvl5pPr indent="0">
              <a:lnSpc>
                <a:spcPct val="90000"/>
              </a:lnSpc>
              <a:spcBef>
                <a:spcPts val="500"/>
              </a:spcBef>
              <a:buFont typeface="Arial" panose="020B0604020202020204" pitchFamily="34" charset="0"/>
              <a:buNone/>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8000"/>
              </a:lnSpc>
            </a:pPr>
            <a:r>
              <a:rPr lang="fr-FR"/>
              <a:t>Compromis &amp; Choix</a:t>
            </a:r>
          </a:p>
        </p:txBody>
      </p:sp>
      <p:sp>
        <p:nvSpPr>
          <p:cNvPr id="29" name="Triangle 30">
            <a:extLst>
              <a:ext uri="{FF2B5EF4-FFF2-40B4-BE49-F238E27FC236}">
                <a16:creationId xmlns:a16="http://schemas.microsoft.com/office/drawing/2014/main" id="{083412B9-B61D-81F7-7F22-18B49D3A5792}"/>
              </a:ext>
            </a:extLst>
          </p:cNvPr>
          <p:cNvSpPr/>
          <p:nvPr/>
        </p:nvSpPr>
        <p:spPr>
          <a:xfrm rot="5400000">
            <a:off x="4405004" y="2307744"/>
            <a:ext cx="331242" cy="192583"/>
          </a:xfrm>
          <a:prstGeom prst="triangle">
            <a:avLst/>
          </a:prstGeom>
          <a:solidFill>
            <a:schemeClr val="accent3"/>
          </a:solidFill>
          <a:ln w="12660" cap="flat">
            <a:noFill/>
            <a:prstDash val="solid"/>
            <a:miter/>
          </a:ln>
        </p:spPr>
        <p:txBody>
          <a:bodyPr rtlCol="0" anchor="ctr"/>
          <a:lstStyle/>
          <a:p>
            <a:pPr algn="l"/>
            <a:endParaRPr lang="fr-FR"/>
          </a:p>
        </p:txBody>
      </p:sp>
      <p:sp>
        <p:nvSpPr>
          <p:cNvPr id="30" name="Triangle 32">
            <a:extLst>
              <a:ext uri="{FF2B5EF4-FFF2-40B4-BE49-F238E27FC236}">
                <a16:creationId xmlns:a16="http://schemas.microsoft.com/office/drawing/2014/main" id="{42670AD5-D485-E854-8B4B-C80FBF41BE69}"/>
              </a:ext>
            </a:extLst>
          </p:cNvPr>
          <p:cNvSpPr/>
          <p:nvPr/>
        </p:nvSpPr>
        <p:spPr>
          <a:xfrm rot="5400000">
            <a:off x="8468332" y="2340596"/>
            <a:ext cx="331242" cy="192583"/>
          </a:xfrm>
          <a:prstGeom prst="triangle">
            <a:avLst/>
          </a:prstGeom>
          <a:solidFill>
            <a:schemeClr val="tx1"/>
          </a:solidFill>
          <a:ln w="12660" cap="flat">
            <a:noFill/>
            <a:prstDash val="solid"/>
            <a:miter/>
          </a:ln>
        </p:spPr>
        <p:txBody>
          <a:bodyPr rtlCol="0" anchor="ctr"/>
          <a:lstStyle/>
          <a:p>
            <a:pPr algn="l"/>
            <a:endParaRPr lang="fr-FR"/>
          </a:p>
        </p:txBody>
      </p:sp>
      <p:sp>
        <p:nvSpPr>
          <p:cNvPr id="31" name="Triangle 33">
            <a:extLst>
              <a:ext uri="{FF2B5EF4-FFF2-40B4-BE49-F238E27FC236}">
                <a16:creationId xmlns:a16="http://schemas.microsoft.com/office/drawing/2014/main" id="{9743394E-2F22-C1F8-FE8D-E207DFB746C9}"/>
              </a:ext>
            </a:extLst>
          </p:cNvPr>
          <p:cNvSpPr/>
          <p:nvPr/>
        </p:nvSpPr>
        <p:spPr>
          <a:xfrm rot="5400000">
            <a:off x="11310490" y="2367846"/>
            <a:ext cx="331242" cy="192583"/>
          </a:xfrm>
          <a:prstGeom prst="triangle">
            <a:avLst/>
          </a:prstGeom>
          <a:solidFill>
            <a:schemeClr val="accent5"/>
          </a:solidFill>
          <a:ln w="12660" cap="flat">
            <a:noFill/>
            <a:prstDash val="solid"/>
            <a:miter/>
          </a:ln>
        </p:spPr>
        <p:txBody>
          <a:bodyPr rtlCol="0" anchor="ctr"/>
          <a:lstStyle/>
          <a:p>
            <a:pPr algn="l"/>
            <a:endParaRPr lang="fr-FR"/>
          </a:p>
        </p:txBody>
      </p:sp>
      <p:pic>
        <p:nvPicPr>
          <p:cNvPr id="33" name="Graphique 32">
            <a:extLst>
              <a:ext uri="{FF2B5EF4-FFF2-40B4-BE49-F238E27FC236}">
                <a16:creationId xmlns:a16="http://schemas.microsoft.com/office/drawing/2014/main" id="{4958C5DE-613E-B60A-C1AD-1E8CD78290F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1270602" y="1466684"/>
            <a:ext cx="566794" cy="593084"/>
          </a:xfrm>
          <a:prstGeom prst="rect">
            <a:avLst/>
          </a:prstGeom>
        </p:spPr>
      </p:pic>
      <p:sp>
        <p:nvSpPr>
          <p:cNvPr id="49" name="ZoneTexte 48">
            <a:extLst>
              <a:ext uri="{FF2B5EF4-FFF2-40B4-BE49-F238E27FC236}">
                <a16:creationId xmlns:a16="http://schemas.microsoft.com/office/drawing/2014/main" id="{FA6A6177-A549-CA04-CDEE-D4CC026FB7A6}"/>
              </a:ext>
            </a:extLst>
          </p:cNvPr>
          <p:cNvSpPr txBox="1"/>
          <p:nvPr/>
        </p:nvSpPr>
        <p:spPr>
          <a:xfrm>
            <a:off x="1175882" y="2693503"/>
            <a:ext cx="3164368" cy="2513509"/>
          </a:xfrm>
          <a:prstGeom prst="rect">
            <a:avLst/>
          </a:prstGeom>
          <a:noFill/>
        </p:spPr>
        <p:txBody>
          <a:bodyPr wrap="square">
            <a:spAutoFit/>
          </a:bodyPr>
          <a:lstStyle/>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Contexte &amp; besoins métiers</a:t>
            </a: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Vision de l’existant</a:t>
            </a: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Problème(s) et causes profondes</a:t>
            </a:r>
          </a:p>
          <a:p>
            <a:pPr marL="285750" indent="-285750">
              <a:spcBef>
                <a:spcPts val="200"/>
              </a:spcBef>
              <a:buFont typeface="Arial" panose="020B0604020202020204" pitchFamily="34" charset="0"/>
              <a:buChar char="•"/>
            </a:pPr>
            <a:endParaRPr lang="fr-FR" sz="1200">
              <a:solidFill>
                <a:schemeClr val="bg1"/>
              </a:solidFill>
              <a:latin typeface="Avenir Next LT Pro" panose="020B0504020202020204" pitchFamily="34" charset="0"/>
            </a:endParaRP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Exigences fonctionnelles</a:t>
            </a:r>
            <a:r>
              <a:rPr lang="fr-FR" sz="1200">
                <a:solidFill>
                  <a:schemeClr val="bg1"/>
                </a:solidFill>
                <a:latin typeface="Avenir Next LT Pro" panose="020B0504020202020204" pitchFamily="34" charset="0"/>
              </a:rPr>
              <a:t>, contraintes, dépendances</a:t>
            </a:r>
          </a:p>
          <a:p>
            <a:pPr marL="285750" indent="-285750">
              <a:spcBef>
                <a:spcPts val="200"/>
              </a:spcBef>
              <a:buFont typeface="Arial" panose="020B0604020202020204" pitchFamily="34" charset="0"/>
              <a:buChar char="•"/>
            </a:pPr>
            <a:endParaRPr lang="fr-FR" sz="1200">
              <a:solidFill>
                <a:schemeClr val="bg1"/>
              </a:solidFill>
              <a:latin typeface="Avenir Next LT Pro" panose="020B0504020202020204" pitchFamily="34" charset="0"/>
            </a:endParaRP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Exigences</a:t>
            </a:r>
            <a:r>
              <a:rPr lang="fr-FR" sz="1200">
                <a:solidFill>
                  <a:schemeClr val="bg1"/>
                </a:solidFill>
                <a:latin typeface="Avenir Next LT Pro" panose="020B0504020202020204" pitchFamily="34" charset="0"/>
              </a:rPr>
              <a:t> </a:t>
            </a:r>
            <a:r>
              <a:rPr lang="fr-FR" sz="1200" b="1">
                <a:solidFill>
                  <a:schemeClr val="bg1"/>
                </a:solidFill>
                <a:latin typeface="Avenir Next LT Pro" panose="020B0504020202020204" pitchFamily="34" charset="0"/>
              </a:rPr>
              <a:t>non fonctionnelles </a:t>
            </a:r>
            <a:r>
              <a:rPr lang="fr-FR" sz="1200">
                <a:solidFill>
                  <a:schemeClr val="bg1"/>
                </a:solidFill>
                <a:latin typeface="Avenir Next LT Pro" panose="020B0504020202020204" pitchFamily="34" charset="0"/>
              </a:rPr>
              <a:t>(évolutivité, performances, délais ...)</a:t>
            </a:r>
          </a:p>
          <a:p>
            <a:pPr marL="285750" indent="-285750">
              <a:spcBef>
                <a:spcPts val="200"/>
              </a:spcBef>
              <a:buFont typeface="Arial" panose="020B0604020202020204" pitchFamily="34" charset="0"/>
              <a:buChar char="•"/>
            </a:pPr>
            <a:endParaRPr lang="fr-FR" sz="1200">
              <a:solidFill>
                <a:schemeClr val="bg1"/>
              </a:solidFill>
              <a:latin typeface="Avenir Next LT Pro" panose="020B0504020202020204" pitchFamily="34" charset="0"/>
            </a:endParaRPr>
          </a:p>
          <a:p>
            <a:pPr marL="285750" indent="-285750">
              <a:spcBef>
                <a:spcPts val="200"/>
              </a:spcBef>
              <a:buFont typeface="Arial" panose="020B0604020202020204" pitchFamily="34" charset="0"/>
              <a:buChar char="•"/>
            </a:pPr>
            <a:r>
              <a:rPr lang="fr-FR" sz="1200">
                <a:solidFill>
                  <a:schemeClr val="bg1"/>
                </a:solidFill>
                <a:latin typeface="Avenir Next LT Pro" panose="020B0504020202020204" pitchFamily="34" charset="0"/>
              </a:rPr>
              <a:t>Principales </a:t>
            </a:r>
            <a:r>
              <a:rPr lang="fr-FR" sz="1200" b="1">
                <a:solidFill>
                  <a:schemeClr val="bg1"/>
                </a:solidFill>
                <a:latin typeface="Avenir Next LT Pro" panose="020B0504020202020204" pitchFamily="34" charset="0"/>
              </a:rPr>
              <a:t>hypothèses et incertitudes </a:t>
            </a:r>
            <a:r>
              <a:rPr lang="fr-FR" sz="1200">
                <a:solidFill>
                  <a:schemeClr val="bg1"/>
                </a:solidFill>
                <a:latin typeface="Avenir Next LT Pro" panose="020B0504020202020204" pitchFamily="34" charset="0"/>
              </a:rPr>
              <a:t>à prendre en compte</a:t>
            </a:r>
          </a:p>
        </p:txBody>
      </p:sp>
      <p:sp>
        <p:nvSpPr>
          <p:cNvPr id="6" name="ZoneTexte 5">
            <a:extLst>
              <a:ext uri="{FF2B5EF4-FFF2-40B4-BE49-F238E27FC236}">
                <a16:creationId xmlns:a16="http://schemas.microsoft.com/office/drawing/2014/main" id="{0A81DDA0-5D52-DDD6-EFD4-39C5C79B41C8}"/>
              </a:ext>
            </a:extLst>
          </p:cNvPr>
          <p:cNvSpPr txBox="1"/>
          <p:nvPr/>
        </p:nvSpPr>
        <p:spPr>
          <a:xfrm>
            <a:off x="4666917" y="2683663"/>
            <a:ext cx="3677997" cy="3642023"/>
          </a:xfrm>
          <a:prstGeom prst="rect">
            <a:avLst/>
          </a:prstGeom>
          <a:noFill/>
        </p:spPr>
        <p:txBody>
          <a:bodyPr wrap="square">
            <a:spAutoFit/>
          </a:bodyPr>
          <a:lstStyle>
            <a:defPPr>
              <a:defRPr lang="fr-FR"/>
            </a:defPPr>
            <a:lvl1pPr marL="285750" indent="-285750">
              <a:lnSpc>
                <a:spcPct val="78000"/>
              </a:lnSpc>
              <a:buFont typeface="Arial" panose="020B0604020202020204" pitchFamily="34" charset="0"/>
              <a:buChar char="•"/>
              <a:defRPr sz="1100" b="1">
                <a:solidFill>
                  <a:schemeClr val="bg1"/>
                </a:solidFill>
                <a:latin typeface="Avenir Next LT Pro" panose="020B0504020202020204" pitchFamily="34" charset="0"/>
              </a:defRPr>
            </a:lvl1pPr>
          </a:lstStyle>
          <a:p>
            <a:pPr marL="0" indent="0">
              <a:lnSpc>
                <a:spcPct val="100000"/>
              </a:lnSpc>
              <a:spcBef>
                <a:spcPts val="200"/>
              </a:spcBef>
              <a:buNone/>
            </a:pPr>
            <a:r>
              <a:rPr lang="fr-FR" sz="1200"/>
              <a:t>Identification des scénarios et des impacts :</a:t>
            </a:r>
          </a:p>
          <a:p>
            <a:pPr>
              <a:lnSpc>
                <a:spcPct val="100000"/>
              </a:lnSpc>
              <a:spcBef>
                <a:spcPts val="200"/>
              </a:spcBef>
            </a:pPr>
            <a:r>
              <a:rPr lang="fr-FR" sz="1200"/>
              <a:t>Exigences couvertes</a:t>
            </a:r>
          </a:p>
          <a:p>
            <a:pPr>
              <a:lnSpc>
                <a:spcPct val="100000"/>
              </a:lnSpc>
              <a:spcBef>
                <a:spcPts val="200"/>
              </a:spcBef>
            </a:pPr>
            <a:r>
              <a:rPr lang="fr-FR" sz="1200"/>
              <a:t>Conditions préalables</a:t>
            </a:r>
          </a:p>
          <a:p>
            <a:pPr>
              <a:lnSpc>
                <a:spcPct val="100000"/>
              </a:lnSpc>
              <a:spcBef>
                <a:spcPts val="200"/>
              </a:spcBef>
            </a:pPr>
            <a:r>
              <a:rPr lang="fr-FR" sz="1200"/>
              <a:t>Dans le système ou nouveau</a:t>
            </a:r>
          </a:p>
          <a:p>
            <a:pPr>
              <a:lnSpc>
                <a:spcPct val="100000"/>
              </a:lnSpc>
              <a:spcBef>
                <a:spcPts val="200"/>
              </a:spcBef>
            </a:pPr>
            <a:r>
              <a:rPr lang="fr-FR" sz="1200"/>
              <a:t>Périmètres impactés (web/app/...)</a:t>
            </a:r>
          </a:p>
          <a:p>
            <a:pPr>
              <a:lnSpc>
                <a:spcPct val="100000"/>
              </a:lnSpc>
              <a:spcBef>
                <a:spcPts val="200"/>
              </a:spcBef>
            </a:pPr>
            <a:r>
              <a:rPr lang="fr-FR" sz="1200"/>
              <a:t>Architecture : </a:t>
            </a:r>
          </a:p>
          <a:p>
            <a:pPr marL="628650" lvl="1" indent="-171450">
              <a:spcBef>
                <a:spcPts val="200"/>
              </a:spcBef>
              <a:buFont typeface="Arial" panose="020B0604020202020204" pitchFamily="34" charset="0"/>
              <a:buChar char="•"/>
            </a:pPr>
            <a:r>
              <a:rPr lang="fr-FR" sz="1200" b="1">
                <a:solidFill>
                  <a:schemeClr val="bg1"/>
                </a:solidFill>
              </a:rPr>
              <a:t>Fonctionnelle</a:t>
            </a:r>
          </a:p>
          <a:p>
            <a:pPr marL="628650" lvl="1" indent="-171450">
              <a:spcBef>
                <a:spcPts val="200"/>
              </a:spcBef>
              <a:buFont typeface="Arial" panose="020B0604020202020204" pitchFamily="34" charset="0"/>
              <a:buChar char="•"/>
            </a:pPr>
            <a:r>
              <a:rPr lang="fr-FR" sz="1200" b="1">
                <a:solidFill>
                  <a:schemeClr val="bg1"/>
                </a:solidFill>
              </a:rPr>
              <a:t>Technique</a:t>
            </a:r>
          </a:p>
          <a:p>
            <a:pPr marL="628650" lvl="1" indent="-171450">
              <a:spcBef>
                <a:spcPts val="200"/>
              </a:spcBef>
              <a:buFont typeface="Arial" panose="020B0604020202020204" pitchFamily="34" charset="0"/>
              <a:buChar char="•"/>
            </a:pPr>
            <a:r>
              <a:rPr lang="fr-FR" sz="1200" b="1">
                <a:solidFill>
                  <a:schemeClr val="bg1"/>
                </a:solidFill>
              </a:rPr>
              <a:t>Sécurité</a:t>
            </a:r>
          </a:p>
          <a:p>
            <a:pPr marL="628650" lvl="1" indent="-171450">
              <a:spcBef>
                <a:spcPts val="200"/>
              </a:spcBef>
              <a:buFont typeface="Arial" panose="020B0604020202020204" pitchFamily="34" charset="0"/>
              <a:buChar char="•"/>
            </a:pPr>
            <a:r>
              <a:rPr lang="fr-FR" sz="1200" b="1">
                <a:solidFill>
                  <a:schemeClr val="bg1"/>
                </a:solidFill>
              </a:rPr>
              <a:t>Données</a:t>
            </a:r>
          </a:p>
          <a:p>
            <a:pPr marL="628650" lvl="1" indent="-171450">
              <a:spcBef>
                <a:spcPts val="200"/>
              </a:spcBef>
              <a:buFont typeface="Arial" panose="020B0604020202020204" pitchFamily="34" charset="0"/>
              <a:buChar char="•"/>
            </a:pPr>
            <a:r>
              <a:rPr lang="fr-FR" sz="1200" b="1">
                <a:solidFill>
                  <a:schemeClr val="bg1"/>
                </a:solidFill>
              </a:rPr>
              <a:t>Exploitation/Infrastructure</a:t>
            </a:r>
          </a:p>
          <a:p>
            <a:pPr marL="628650" lvl="1" indent="-171450">
              <a:spcBef>
                <a:spcPts val="200"/>
              </a:spcBef>
              <a:buFont typeface="Arial" panose="020B0604020202020204" pitchFamily="34" charset="0"/>
              <a:buChar char="•"/>
            </a:pPr>
            <a:r>
              <a:rPr lang="fr-FR" sz="1200" b="1">
                <a:solidFill>
                  <a:schemeClr val="bg1"/>
                </a:solidFill>
              </a:rPr>
              <a:t>...</a:t>
            </a:r>
          </a:p>
          <a:p>
            <a:pPr>
              <a:lnSpc>
                <a:spcPct val="100000"/>
              </a:lnSpc>
              <a:spcBef>
                <a:spcPts val="200"/>
              </a:spcBef>
            </a:pPr>
            <a:r>
              <a:rPr lang="fr-FR" sz="1200"/>
              <a:t>Exigences non fonctionnelles</a:t>
            </a:r>
          </a:p>
          <a:p>
            <a:pPr>
              <a:lnSpc>
                <a:spcPct val="100000"/>
              </a:lnSpc>
              <a:spcBef>
                <a:spcPts val="200"/>
              </a:spcBef>
            </a:pPr>
            <a:r>
              <a:rPr lang="fr-FR" sz="1200"/>
              <a:t>Identifier les patterns</a:t>
            </a:r>
          </a:p>
          <a:p>
            <a:pPr>
              <a:lnSpc>
                <a:spcPct val="100000"/>
              </a:lnSpc>
              <a:spcBef>
                <a:spcPts val="200"/>
              </a:spcBef>
            </a:pPr>
            <a:r>
              <a:rPr lang="fr-FR" sz="1200"/>
              <a:t>Coût et planification de haut niveau</a:t>
            </a:r>
          </a:p>
          <a:p>
            <a:pPr>
              <a:lnSpc>
                <a:spcPct val="100000"/>
              </a:lnSpc>
              <a:spcBef>
                <a:spcPts val="200"/>
              </a:spcBef>
            </a:pPr>
            <a:r>
              <a:rPr lang="fr-FR" sz="1200"/>
              <a:t>Besoin de maintenance</a:t>
            </a:r>
          </a:p>
          <a:p>
            <a:pPr marL="0" indent="0">
              <a:lnSpc>
                <a:spcPct val="100000"/>
              </a:lnSpc>
              <a:spcBef>
                <a:spcPts val="200"/>
              </a:spcBef>
              <a:buNone/>
            </a:pPr>
            <a:endParaRPr lang="fr-FR" sz="1200"/>
          </a:p>
        </p:txBody>
      </p:sp>
      <p:sp>
        <p:nvSpPr>
          <p:cNvPr id="8" name="ZoneTexte 7">
            <a:extLst>
              <a:ext uri="{FF2B5EF4-FFF2-40B4-BE49-F238E27FC236}">
                <a16:creationId xmlns:a16="http://schemas.microsoft.com/office/drawing/2014/main" id="{DBB3A44B-2D18-F195-A582-D06634A8328F}"/>
              </a:ext>
            </a:extLst>
          </p:cNvPr>
          <p:cNvSpPr txBox="1"/>
          <p:nvPr/>
        </p:nvSpPr>
        <p:spPr>
          <a:xfrm>
            <a:off x="8673005" y="2683663"/>
            <a:ext cx="3033220" cy="2118529"/>
          </a:xfrm>
          <a:prstGeom prst="rect">
            <a:avLst/>
          </a:prstGeom>
          <a:noFill/>
        </p:spPr>
        <p:txBody>
          <a:bodyPr wrap="square">
            <a:spAutoFit/>
          </a:bodyPr>
          <a:lstStyle>
            <a:defPPr>
              <a:defRPr lang="fr-FR"/>
            </a:defPPr>
            <a:lvl1pPr indent="0">
              <a:lnSpc>
                <a:spcPct val="78000"/>
              </a:lnSpc>
              <a:buFont typeface="Arial" panose="020B0604020202020204" pitchFamily="34" charset="0"/>
              <a:buNone/>
              <a:defRPr sz="1400" b="1">
                <a:solidFill>
                  <a:schemeClr val="bg1"/>
                </a:solidFill>
                <a:latin typeface="Avenir Next LT Pro" panose="020B0504020202020204" pitchFamily="34" charset="0"/>
              </a:defRPr>
            </a:lvl1pPr>
            <a:lvl2pPr marL="628650" lvl="1" indent="-171450">
              <a:buFont typeface="Arial" panose="020B0604020202020204" pitchFamily="34" charset="0"/>
              <a:buChar char="•"/>
              <a:defRPr sz="1400" b="1">
                <a:solidFill>
                  <a:schemeClr val="bg1"/>
                </a:solidFill>
              </a:defRPr>
            </a:lvl2pPr>
          </a:lstStyle>
          <a:p>
            <a:pPr>
              <a:lnSpc>
                <a:spcPct val="100000"/>
              </a:lnSpc>
              <a:spcBef>
                <a:spcPts val="200"/>
              </a:spcBef>
            </a:pPr>
            <a:r>
              <a:rPr lang="fr-FR" sz="1200"/>
              <a:t>Synthèse de l'étude : </a:t>
            </a:r>
          </a:p>
          <a:p>
            <a:pPr>
              <a:lnSpc>
                <a:spcPct val="100000"/>
              </a:lnSpc>
              <a:spcBef>
                <a:spcPts val="200"/>
              </a:spcBef>
            </a:pPr>
            <a:endParaRPr lang="fr-FR" sz="1200"/>
          </a:p>
          <a:p>
            <a:pPr marL="285750" indent="-285750">
              <a:lnSpc>
                <a:spcPct val="100000"/>
              </a:lnSpc>
              <a:spcBef>
                <a:spcPts val="200"/>
              </a:spcBef>
              <a:buFont typeface="Arial" panose="020B0604020202020204" pitchFamily="34" charset="0"/>
              <a:buChar char="•"/>
            </a:pPr>
            <a:r>
              <a:rPr lang="fr-FR" sz="1200"/>
              <a:t>Pour chaque scénario </a:t>
            </a:r>
          </a:p>
          <a:p>
            <a:pPr marL="285750" indent="-285750">
              <a:lnSpc>
                <a:spcPct val="100000"/>
              </a:lnSpc>
              <a:spcBef>
                <a:spcPts val="200"/>
              </a:spcBef>
              <a:buFont typeface="Arial" panose="020B0604020202020204" pitchFamily="34" charset="0"/>
              <a:buChar char="•"/>
            </a:pPr>
            <a:r>
              <a:rPr lang="fr-FR" sz="1200"/>
              <a:t>Avantages et inconvénients</a:t>
            </a:r>
          </a:p>
          <a:p>
            <a:pPr marL="285750" indent="-285750">
              <a:lnSpc>
                <a:spcPct val="100000"/>
              </a:lnSpc>
              <a:spcBef>
                <a:spcPts val="200"/>
              </a:spcBef>
              <a:buFont typeface="Arial" panose="020B0604020202020204" pitchFamily="34" charset="0"/>
              <a:buChar char="•"/>
            </a:pPr>
            <a:r>
              <a:rPr lang="fr-FR" sz="1200"/>
              <a:t>Objectif</a:t>
            </a:r>
          </a:p>
          <a:p>
            <a:pPr marL="285750" indent="-285750">
              <a:lnSpc>
                <a:spcPct val="100000"/>
              </a:lnSpc>
              <a:spcBef>
                <a:spcPts val="200"/>
              </a:spcBef>
              <a:buFont typeface="Arial" panose="020B0604020202020204" pitchFamily="34" charset="0"/>
              <a:buChar char="•"/>
            </a:pPr>
            <a:r>
              <a:rPr lang="fr-FR" sz="1200"/>
              <a:t>Trajectoire / Plan de mise en œuvre</a:t>
            </a:r>
          </a:p>
          <a:p>
            <a:pPr>
              <a:lnSpc>
                <a:spcPct val="100000"/>
              </a:lnSpc>
              <a:spcBef>
                <a:spcPts val="200"/>
              </a:spcBef>
            </a:pPr>
            <a:endParaRPr lang="fr-FR" sz="1200"/>
          </a:p>
          <a:p>
            <a:pPr>
              <a:lnSpc>
                <a:spcPct val="100000"/>
              </a:lnSpc>
              <a:spcBef>
                <a:spcPts val="200"/>
              </a:spcBef>
            </a:pPr>
            <a:r>
              <a:rPr lang="fr-FR" sz="1200"/>
              <a:t>Argumentation pour le scénario recommandé</a:t>
            </a:r>
          </a:p>
        </p:txBody>
      </p:sp>
      <p:pic>
        <p:nvPicPr>
          <p:cNvPr id="9" name="Graphique 8">
            <a:extLst>
              <a:ext uri="{FF2B5EF4-FFF2-40B4-BE49-F238E27FC236}">
                <a16:creationId xmlns:a16="http://schemas.microsoft.com/office/drawing/2014/main" id="{FF668325-DF35-61B8-1DE2-3A25F9B1E0E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8868576" y="1437731"/>
            <a:ext cx="565127" cy="565127"/>
          </a:xfrm>
          <a:prstGeom prst="rect">
            <a:avLst/>
          </a:prstGeom>
        </p:spPr>
      </p:pic>
      <p:pic>
        <p:nvPicPr>
          <p:cNvPr id="10" name="Graphique 9">
            <a:extLst>
              <a:ext uri="{FF2B5EF4-FFF2-40B4-BE49-F238E27FC236}">
                <a16:creationId xmlns:a16="http://schemas.microsoft.com/office/drawing/2014/main" id="{854E1CC0-F6CA-C8DF-8C41-FF41860FAE7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4791908" y="1419864"/>
            <a:ext cx="675783" cy="675783"/>
          </a:xfrm>
          <a:prstGeom prst="rect">
            <a:avLst/>
          </a:prstGeom>
        </p:spPr>
      </p:pic>
      <p:sp>
        <p:nvSpPr>
          <p:cNvPr id="3" name="Espace réservé du numéro de diapositive 3">
            <a:extLst>
              <a:ext uri="{FF2B5EF4-FFF2-40B4-BE49-F238E27FC236}">
                <a16:creationId xmlns:a16="http://schemas.microsoft.com/office/drawing/2014/main" id="{6065A76A-045C-C815-1276-5FB6B112AFAC}"/>
              </a:ext>
            </a:extLst>
          </p:cNvPr>
          <p:cNvSpPr>
            <a:spLocks noGrp="1"/>
          </p:cNvSpPr>
          <p:nvPr>
            <p:ph type="sldNum" sz="quarter" idx="12"/>
            <p:custDataLst>
              <p:tags r:id="rId3"/>
            </p:custDataLst>
          </p:nvPr>
        </p:nvSpPr>
        <p:spPr>
          <a:xfrm>
            <a:off x="11525908" y="6382485"/>
            <a:ext cx="560986" cy="276999"/>
          </a:xfrm>
        </p:spPr>
        <p:txBody>
          <a:bodyPr/>
          <a:lstStyle/>
          <a:p>
            <a:fld id="{6B54B0F7-55DD-40D6-B7F4-70B586885C0B}" type="slidenum">
              <a:rPr lang="fr-FR" smtClean="0">
                <a:latin typeface="Avenir Next LT Pro" panose="020B0504020202020204" pitchFamily="34" charset="0"/>
              </a:rPr>
              <a:pPr/>
              <a:t>4</a:t>
            </a:fld>
            <a:endParaRPr lang="fr-FR">
              <a:latin typeface="Avenir Next LT Pro" panose="020B0504020202020204" pitchFamily="34" charset="0"/>
            </a:endParaRPr>
          </a:p>
        </p:txBody>
      </p:sp>
      <p:sp>
        <p:nvSpPr>
          <p:cNvPr id="2" name="Espace réservé de la date 1">
            <a:extLst>
              <a:ext uri="{FF2B5EF4-FFF2-40B4-BE49-F238E27FC236}">
                <a16:creationId xmlns:a16="http://schemas.microsoft.com/office/drawing/2014/main" id="{1CF2664D-8E7E-89C5-29F2-1B60E1ACEB13}"/>
              </a:ext>
            </a:extLst>
          </p:cNvPr>
          <p:cNvSpPr>
            <a:spLocks noGrp="1"/>
          </p:cNvSpPr>
          <p:nvPr>
            <p:ph type="dt" sz="half" idx="10"/>
          </p:nvPr>
        </p:nvSpPr>
        <p:spPr/>
        <p:txBody>
          <a:bodyPr/>
          <a:lstStyle/>
          <a:p>
            <a:r>
              <a:rPr lang="fr-FR"/>
              <a:t>Juin 2024</a:t>
            </a:r>
          </a:p>
        </p:txBody>
      </p:sp>
      <p:sp>
        <p:nvSpPr>
          <p:cNvPr id="4" name="Espace réservé du pied de page 3">
            <a:extLst>
              <a:ext uri="{FF2B5EF4-FFF2-40B4-BE49-F238E27FC236}">
                <a16:creationId xmlns:a16="http://schemas.microsoft.com/office/drawing/2014/main" id="{9DEE970D-8DFB-054A-D42E-C357E1E51D37}"/>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765557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C123C7-5594-6067-0C85-586BB8389691}"/>
              </a:ext>
            </a:extLst>
          </p:cNvPr>
          <p:cNvSpPr>
            <a:spLocks noGrp="1"/>
          </p:cNvSpPr>
          <p:nvPr>
            <p:ph type="title"/>
          </p:nvPr>
        </p:nvSpPr>
        <p:spPr>
          <a:xfrm>
            <a:off x="6096001" y="1725457"/>
            <a:ext cx="5867400" cy="2336024"/>
          </a:xfrm>
        </p:spPr>
        <p:txBody>
          <a:bodyPr/>
          <a:lstStyle/>
          <a:p>
            <a:r>
              <a:rPr lang="fr-FR" sz="5400"/>
              <a:t>Synthèse de l’étude d’architecture</a:t>
            </a:r>
            <a:endParaRPr lang="fr-FR"/>
          </a:p>
        </p:txBody>
      </p:sp>
      <p:sp>
        <p:nvSpPr>
          <p:cNvPr id="3" name="Espace réservé du texte 2">
            <a:extLst>
              <a:ext uri="{FF2B5EF4-FFF2-40B4-BE49-F238E27FC236}">
                <a16:creationId xmlns:a16="http://schemas.microsoft.com/office/drawing/2014/main" id="{0166EC33-8E82-53FA-0D48-60D66550F139}"/>
              </a:ext>
            </a:extLst>
          </p:cNvPr>
          <p:cNvSpPr>
            <a:spLocks noGrp="1"/>
          </p:cNvSpPr>
          <p:nvPr>
            <p:ph type="body" sz="quarter" idx="13"/>
          </p:nvPr>
        </p:nvSpPr>
        <p:spPr>
          <a:xfrm>
            <a:off x="6391204" y="4120914"/>
            <a:ext cx="5572195" cy="1470146"/>
          </a:xfrm>
        </p:spPr>
        <p:txBody>
          <a:bodyPr/>
          <a:lstStyle/>
          <a:p>
            <a:r>
              <a:rPr lang="fr-FR"/>
              <a:t>Médiation &amp; </a:t>
            </a:r>
            <a:r>
              <a:rPr lang="fr-FR" err="1"/>
              <a:t>MuleSoft</a:t>
            </a:r>
            <a:endParaRPr lang="fr-FR"/>
          </a:p>
          <a:p>
            <a:endParaRPr lang="fr-FR"/>
          </a:p>
        </p:txBody>
      </p:sp>
      <p:sp>
        <p:nvSpPr>
          <p:cNvPr id="4" name="Espace réservé de la date 3">
            <a:extLst>
              <a:ext uri="{FF2B5EF4-FFF2-40B4-BE49-F238E27FC236}">
                <a16:creationId xmlns:a16="http://schemas.microsoft.com/office/drawing/2014/main" id="{52935FAE-A38C-1997-2ED1-57B1CE76F0E7}"/>
              </a:ext>
            </a:extLst>
          </p:cNvPr>
          <p:cNvSpPr>
            <a:spLocks noGrp="1"/>
          </p:cNvSpPr>
          <p:nvPr>
            <p:ph type="dt" sz="half" idx="10"/>
          </p:nvPr>
        </p:nvSpPr>
        <p:spPr/>
        <p:txBody>
          <a:bodyPr/>
          <a:lstStyle/>
          <a:p>
            <a:r>
              <a:rPr lang="fr-FR" err="1"/>
              <a:t>Nov</a:t>
            </a:r>
            <a:r>
              <a:rPr lang="fr-FR"/>
              <a:t> 2024</a:t>
            </a:r>
          </a:p>
        </p:txBody>
      </p:sp>
      <p:sp>
        <p:nvSpPr>
          <p:cNvPr id="5" name="Espace réservé pour une image  4">
            <a:extLst>
              <a:ext uri="{FF2B5EF4-FFF2-40B4-BE49-F238E27FC236}">
                <a16:creationId xmlns:a16="http://schemas.microsoft.com/office/drawing/2014/main" id="{AE619BCE-365E-341F-D4CB-840A285F11A6}"/>
              </a:ext>
            </a:extLst>
          </p:cNvPr>
          <p:cNvSpPr>
            <a:spLocks noGrp="1"/>
          </p:cNvSpPr>
          <p:nvPr>
            <p:ph type="pic" sz="quarter" idx="14"/>
          </p:nvPr>
        </p:nvSpPr>
        <p:spPr/>
        <p:txBody>
          <a:bodyPr/>
          <a:lstStyle/>
          <a:p>
            <a:endParaRPr lang="fr-FR"/>
          </a:p>
        </p:txBody>
      </p:sp>
    </p:spTree>
    <p:extLst>
      <p:ext uri="{BB962C8B-B14F-4D97-AF65-F5344CB8AC3E}">
        <p14:creationId xmlns:p14="http://schemas.microsoft.com/office/powerpoint/2010/main" val="2021688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6</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sz="3600">
                <a:ln w="38100">
                  <a:solidFill>
                    <a:srgbClr val="E65012"/>
                  </a:solidFill>
                </a:ln>
              </a:rPr>
              <a:t>Introduction &amp; objectifs</a:t>
            </a:r>
            <a:endParaRPr lang="fr-FR">
              <a:ln w="38100">
                <a:solidFill>
                  <a:srgbClr val="E65012"/>
                </a:solidFill>
              </a:ln>
            </a:endParaRP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normAutofit/>
          </a:bodyPr>
          <a:lstStyle/>
          <a:p>
            <a:r>
              <a:rPr lang="fr-FR" sz="1400">
                <a:ln w="19050">
                  <a:solidFill>
                    <a:schemeClr val="bg1"/>
                  </a:solidFill>
                </a:ln>
              </a:rPr>
              <a:t>Introduction &amp; Objectifs — DATAWATCHER Commissioning V2</a:t>
            </a: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normAutofit/>
          </a:bodyPr>
          <a:lstStyle/>
          <a:p>
            <a:r>
              <a:rPr lang="fr-FR" sz="1400">
                <a:ln w="19050">
                  <a:solidFill>
                    <a:schemeClr val="bg1"/>
                  </a:solidFill>
                </a:ln>
              </a:rPr>
              <a:t>01</a:t>
            </a:r>
          </a:p>
        </p:txBody>
      </p:sp>
      <p:sp>
        <p:nvSpPr>
          <p:cNvPr id="8" name="Espace réservé du texte 2">
            <a:extLst>
              <a:ext uri="{FF2B5EF4-FFF2-40B4-BE49-F238E27FC236}">
                <a16:creationId xmlns:a16="http://schemas.microsoft.com/office/drawing/2014/main" id="{B175A0BF-6A7B-E586-CC7D-569872214755}"/>
              </a:ext>
            </a:extLst>
          </p:cNvPr>
          <p:cNvSpPr txBox="1">
            <a:spLocks/>
          </p:cNvSpPr>
          <p:nvPr/>
        </p:nvSpPr>
        <p:spPr>
          <a:xfrm>
            <a:off x="538163" y="1440466"/>
            <a:ext cx="11085990" cy="5065109"/>
          </a:xfrm>
          <a:prstGeom prst="rect">
            <a:avLst/>
          </a:prstGeom>
        </p:spPr>
        <p:txBody>
          <a:bodyPr>
            <a:normAutofit fontScale="92500" lnSpcReduction="10000"/>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a:ln w="12700">
                  <a:solidFill>
                    <a:srgbClr val="E65012"/>
                  </a:solidFill>
                </a:ln>
                <a:latin typeface="Verdana (Corps)"/>
              </a:rPr>
              <a:t>Éléments clés du contexte</a:t>
            </a:r>
          </a:p>
          <a:p>
            <a:pPr marL="285750" indent="-285750">
              <a:lnSpc>
                <a:spcPct val="100000"/>
              </a:lnSpc>
              <a:spcBef>
                <a:spcPts val="0"/>
              </a:spcBef>
              <a:buSzPct val="75000"/>
              <a:buBlip>
                <a:blip r:embed="rId5"/>
              </a:buBlip>
            </a:pPr>
            <a:endParaRPr lang="fr-FR" sz="1000" b="1">
              <a:solidFill>
                <a:schemeClr val="accent6">
                  <a:lumMod val="75000"/>
                </a:schemeClr>
              </a:solidFill>
              <a:latin typeface="Avenir Next LT Pro" panose="020B0504020202020204" pitchFamily="34" charset="0"/>
            </a:endParaRPr>
          </a:p>
          <a:p>
            <a:pPr marL="360000" indent="-285750">
              <a:lnSpc>
                <a:spcPct val="100000"/>
              </a:lnSpc>
              <a:spcBef>
                <a:spcPts val="0"/>
              </a:spcBef>
              <a:buSzPct val="75000"/>
              <a:buBlip>
                <a:blip r:embed="rId5"/>
              </a:buBlip>
            </a:pPr>
            <a:r>
              <a:rPr lang="fr-FR" sz="1000" b="1">
                <a:solidFill>
                  <a:schemeClr val="accent6">
                    <a:lumMod val="75000"/>
                  </a:schemeClr>
                </a:solidFill>
                <a:latin typeface="Avenir Next LT Pro" panose="020B0504020202020204" pitchFamily="34" charset="0"/>
              </a:rPr>
              <a:t>Projet né du constat suivant :</a:t>
            </a:r>
          </a:p>
          <a:p>
            <a:pPr marL="540000" lvl="1" indent="-285750">
              <a:lnSpc>
                <a:spcPct val="100000"/>
              </a:lnSpc>
              <a:spcBef>
                <a:spcPts val="0"/>
              </a:spcBef>
              <a:buSzPct val="75000"/>
              <a:buBlip>
                <a:blip r:embed="rId6"/>
              </a:buBlip>
            </a:pPr>
            <a:r>
              <a:rPr lang="fr-FR" sz="1000">
                <a:solidFill>
                  <a:schemeClr val="accent6">
                    <a:lumMod val="75000"/>
                  </a:schemeClr>
                </a:solidFill>
                <a:latin typeface="Avenir Next LT Pro" panose="020B0504020202020204" pitchFamily="34" charset="0"/>
              </a:rPr>
              <a:t>Incapacité de livrer un ouvrage avec l’ensemble des compteurs et capteurs fonctionnels</a:t>
            </a:r>
          </a:p>
          <a:p>
            <a:pPr marL="540000" lvl="1" indent="-285750">
              <a:lnSpc>
                <a:spcPct val="100000"/>
              </a:lnSpc>
              <a:spcBef>
                <a:spcPts val="0"/>
              </a:spcBef>
              <a:buSzPct val="75000"/>
              <a:buBlip>
                <a:blip r:embed="rId6"/>
              </a:buBlip>
            </a:pPr>
            <a:r>
              <a:rPr lang="fr-FR" sz="1000">
                <a:solidFill>
                  <a:schemeClr val="accent6">
                    <a:lumMod val="75000"/>
                  </a:schemeClr>
                </a:solidFill>
                <a:latin typeface="Avenir Next LT Pro" panose="020B0504020202020204" pitchFamily="34" charset="0"/>
              </a:rPr>
              <a:t>Non capitalisation de la masse de données issues des compteurs et capteurs connectés</a:t>
            </a:r>
          </a:p>
          <a:p>
            <a:pPr marL="285750" indent="-285750">
              <a:lnSpc>
                <a:spcPct val="100000"/>
              </a:lnSpc>
              <a:spcBef>
                <a:spcPts val="0"/>
              </a:spcBef>
              <a:buSzPct val="75000"/>
              <a:buBlip>
                <a:blip r:embed="rId5"/>
              </a:buBlip>
            </a:pPr>
            <a:endParaRPr lang="fr-FR" sz="1000">
              <a:solidFill>
                <a:schemeClr val="accent6">
                  <a:lumMod val="75000"/>
                </a:schemeClr>
              </a:solidFill>
              <a:latin typeface="Avenir Next LT Pro" panose="020B0504020202020204" pitchFamily="34" charset="0"/>
            </a:endParaRPr>
          </a:p>
          <a:p>
            <a:pPr marL="360000" indent="-2857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Besoin de livrer des installations de comptage plus performantes</a:t>
            </a:r>
          </a:p>
          <a:p>
            <a:pPr marL="360000" indent="-2857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Besoin de répondre à nous obligations contractuelles sur la performance énergétique réelle</a:t>
            </a:r>
          </a:p>
          <a:p>
            <a:pPr marL="360000" indent="-2857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Besoin de suivre les consommations dans un contexte d’augmentation soutenue et continue du prix des énergies et de l’évolution de la réglementation (décret tertiaire, décret BACS, RE2020, …)</a:t>
            </a:r>
          </a:p>
          <a:p>
            <a:pPr marL="360000" indent="-2857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Besoins de vérifier le bon fonctionnement du bâtiment et la bonne exploitation du bâtiment par nos partenaires.</a:t>
            </a:r>
          </a:p>
          <a:p>
            <a:pPr>
              <a:lnSpc>
                <a:spcPct val="100000"/>
              </a:lnSpc>
              <a:spcBef>
                <a:spcPts val="0"/>
              </a:spcBef>
            </a:pPr>
            <a:endParaRPr lang="fr-FR" sz="1400">
              <a:solidFill>
                <a:schemeClr val="tx1"/>
              </a:solidFill>
              <a:latin typeface="Verdana (Corps)"/>
            </a:endParaRPr>
          </a:p>
          <a:p>
            <a:pPr>
              <a:lnSpc>
                <a:spcPct val="100000"/>
              </a:lnSpc>
              <a:spcBef>
                <a:spcPts val="0"/>
              </a:spcBef>
            </a:pPr>
            <a:r>
              <a:rPr lang="fr-FR" sz="1400" b="1">
                <a:ln w="12700">
                  <a:solidFill>
                    <a:srgbClr val="E65012"/>
                  </a:solidFill>
                </a:ln>
                <a:latin typeface="Verdana (Corps)"/>
              </a:rPr>
              <a:t>Planning prévisionnel du projet</a:t>
            </a:r>
          </a:p>
          <a:p>
            <a:pPr>
              <a:lnSpc>
                <a:spcPct val="100000"/>
              </a:lnSpc>
              <a:spcBef>
                <a:spcPts val="0"/>
              </a:spcBef>
            </a:pPr>
            <a:endParaRPr lang="fr-FR" sz="1400" b="1">
              <a:ln w="12700">
                <a:solidFill>
                  <a:srgbClr val="E65012"/>
                </a:solidFill>
              </a:ln>
              <a:latin typeface="Verdana (Corps)"/>
            </a:endParaRPr>
          </a:p>
          <a:p>
            <a:pPr>
              <a:spcBef>
                <a:spcPts val="0"/>
              </a:spcBef>
            </a:pPr>
            <a:endParaRPr lang="fr-FR" sz="1400" b="1">
              <a:latin typeface="Verdana (Corps)"/>
            </a:endParaRPr>
          </a:p>
          <a:p>
            <a:pPr>
              <a:spcBef>
                <a:spcPts val="0"/>
              </a:spcBef>
            </a:pPr>
            <a:endParaRPr lang="fr-FR" sz="1400" b="1">
              <a:latin typeface="Verdana (Corps)"/>
            </a:endParaRPr>
          </a:p>
          <a:p>
            <a:pPr>
              <a:lnSpc>
                <a:spcPct val="100000"/>
              </a:lnSpc>
              <a:spcBef>
                <a:spcPts val="0"/>
              </a:spcBef>
            </a:pPr>
            <a:endParaRPr lang="fr-FR" sz="1400">
              <a:latin typeface="Verdana (Corps)"/>
            </a:endParaRPr>
          </a:p>
          <a:p>
            <a:pPr>
              <a:lnSpc>
                <a:spcPct val="100000"/>
              </a:lnSpc>
              <a:spcBef>
                <a:spcPts val="0"/>
              </a:spcBef>
            </a:pPr>
            <a:r>
              <a:rPr lang="fr-FR" sz="1400" b="1">
                <a:ln w="12700">
                  <a:solidFill>
                    <a:srgbClr val="E65012"/>
                  </a:solidFill>
                </a:ln>
                <a:latin typeface="Verdana (Corps)"/>
              </a:rPr>
              <a:t>Quel est le problème et quelles sont les questions connexes ?</a:t>
            </a:r>
          </a:p>
          <a:p>
            <a:pPr marL="360000" indent="-171450">
              <a:lnSpc>
                <a:spcPct val="100000"/>
              </a:lnSpc>
              <a:spcBef>
                <a:spcPts val="0"/>
              </a:spcBef>
              <a:buSzPct val="75000"/>
              <a:buBlip>
                <a:blip r:embed="rId5"/>
              </a:buBlip>
            </a:pPr>
            <a:endParaRPr lang="fr-FR" sz="1000">
              <a:solidFill>
                <a:schemeClr val="accent6">
                  <a:lumMod val="75000"/>
                </a:schemeClr>
              </a:solidFill>
              <a:latin typeface="Avenir Next LT Pro" panose="020B0504020202020204" pitchFamily="34" charset="0"/>
            </a:endParaRPr>
          </a:p>
          <a:p>
            <a:pPr marL="360000" indent="-171450">
              <a:lnSpc>
                <a:spcPct val="100000"/>
              </a:lnSpc>
              <a:spcBef>
                <a:spcPts val="0"/>
              </a:spcBef>
              <a:buSzPct val="75000"/>
              <a:buBlip>
                <a:blip r:embed="rId5"/>
              </a:buBlip>
            </a:pPr>
            <a:r>
              <a:rPr lang="fr-FR" sz="1000" err="1">
                <a:solidFill>
                  <a:schemeClr val="accent6">
                    <a:lumMod val="75000"/>
                  </a:schemeClr>
                </a:solidFill>
                <a:latin typeface="Avenir Next LT Pro" panose="020B0504020202020204" pitchFamily="34" charset="0"/>
              </a:rPr>
              <a:t>Mediation</a:t>
            </a:r>
            <a:r>
              <a:rPr lang="fr-FR" sz="1000">
                <a:solidFill>
                  <a:schemeClr val="accent6">
                    <a:lumMod val="75000"/>
                  </a:schemeClr>
                </a:solidFill>
                <a:latin typeface="Avenir Next LT Pro" panose="020B0504020202020204" pitchFamily="34" charset="0"/>
              </a:rPr>
              <a:t> et la Flow API</a:t>
            </a:r>
          </a:p>
          <a:p>
            <a:pPr marL="360000" indent="-1714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Comment s’appuyer sur l’usage d’API pour la captation de données avec les GTB plutôt que l’usage des fichiers ASCII délimités — Existe-t-il des standards de connexions aux GTB ?</a:t>
            </a:r>
          </a:p>
          <a:p>
            <a:pPr marL="360000" indent="-1714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Comment rendre la solution extensible et permettre l’ajout de GTB facilement ?</a:t>
            </a:r>
          </a:p>
          <a:p>
            <a:pPr marL="360000" indent="-1714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Comment passer à l’échelle pour le lot « Commissioning » ?</a:t>
            </a:r>
          </a:p>
          <a:p>
            <a:pPr>
              <a:lnSpc>
                <a:spcPct val="100000"/>
              </a:lnSpc>
              <a:spcBef>
                <a:spcPts val="0"/>
              </a:spcBef>
            </a:pPr>
            <a:endParaRPr lang="fr-FR" sz="1400">
              <a:latin typeface="Verdana (Corps)"/>
            </a:endParaRPr>
          </a:p>
          <a:p>
            <a:pPr>
              <a:lnSpc>
                <a:spcPct val="100000"/>
              </a:lnSpc>
              <a:spcBef>
                <a:spcPts val="0"/>
              </a:spcBef>
            </a:pPr>
            <a:r>
              <a:rPr lang="fr-FR" sz="1400" b="1">
                <a:ln w="12700">
                  <a:solidFill>
                    <a:srgbClr val="E65012"/>
                  </a:solidFill>
                </a:ln>
                <a:latin typeface="Verdana (Corps)"/>
              </a:rPr>
              <a:t>Quels sont les scénarios examinés, avec les éléments clés de l'analyse ?</a:t>
            </a:r>
          </a:p>
          <a:p>
            <a:pPr>
              <a:lnSpc>
                <a:spcPct val="100000"/>
              </a:lnSpc>
              <a:spcBef>
                <a:spcPts val="0"/>
              </a:spcBef>
            </a:pPr>
            <a:r>
              <a:rPr lang="fr-FR" sz="1000">
                <a:solidFill>
                  <a:schemeClr val="accent6">
                    <a:lumMod val="75000"/>
                  </a:schemeClr>
                </a:solidFill>
                <a:latin typeface="Avenir Next LT Pro" panose="020B0504020202020204" pitchFamily="34" charset="0"/>
              </a:rPr>
              <a:t>L’étude montre qu’une approche par scénario n’est pas nécessaire puisque la solution est proche d’une solution industrialisée. En revanche, l’architecture à atteindre peut se faire en deux étapes : </a:t>
            </a:r>
          </a:p>
          <a:p>
            <a:pPr marL="360000" indent="-171450">
              <a:lnSpc>
                <a:spcPct val="100000"/>
              </a:lnSpc>
              <a:spcBef>
                <a:spcPts val="0"/>
              </a:spcBef>
              <a:buSzPct val="75000"/>
              <a:buBlip>
                <a:blip r:embed="rId5"/>
              </a:buBlip>
            </a:pPr>
            <a:r>
              <a:rPr lang="fr-FR" sz="1000">
                <a:ln w="12700">
                  <a:solidFill>
                    <a:srgbClr val="E65012"/>
                  </a:solidFill>
                </a:ln>
                <a:solidFill>
                  <a:srgbClr val="E65012"/>
                </a:solidFill>
                <a:latin typeface="Avenir Next LT Pro" panose="020B0504020202020204" pitchFamily="34" charset="0"/>
              </a:rPr>
              <a:t>Scénario n°1 </a:t>
            </a:r>
            <a:r>
              <a:rPr lang="fr-FR" sz="1000">
                <a:solidFill>
                  <a:schemeClr val="accent6">
                    <a:lumMod val="75000"/>
                  </a:schemeClr>
                </a:solidFill>
                <a:latin typeface="Avenir Next LT Pro" panose="020B0504020202020204" pitchFamily="34" charset="0"/>
              </a:rPr>
              <a:t>: Définition d’un déploiement d’architecture portant l’Industrialisation selon les standards BYCN de la solution </a:t>
            </a:r>
            <a:r>
              <a:rPr lang="en-US" sz="1000" i="1">
                <a:solidFill>
                  <a:schemeClr val="accent6">
                    <a:lumMod val="75000"/>
                  </a:schemeClr>
                </a:solidFill>
                <a:latin typeface="Avenir Next LT Pro" panose="020B0504020202020204" pitchFamily="34" charset="0"/>
              </a:rPr>
              <a:t>as-is</a:t>
            </a:r>
            <a:r>
              <a:rPr lang="fr-FR" sz="1000" i="1">
                <a:solidFill>
                  <a:schemeClr val="accent6">
                    <a:lumMod val="75000"/>
                  </a:schemeClr>
                </a:solidFill>
                <a:latin typeface="Avenir Next LT Pro" panose="020B0504020202020204" pitchFamily="34" charset="0"/>
              </a:rPr>
              <a:t> </a:t>
            </a:r>
            <a:r>
              <a:rPr lang="fr-FR" sz="900" i="1">
                <a:solidFill>
                  <a:schemeClr val="accent6">
                    <a:lumMod val="75000"/>
                  </a:schemeClr>
                </a:solidFill>
                <a:latin typeface="Avenir Next LT Pro" panose="020B0504020202020204" pitchFamily="34" charset="0"/>
              </a:rPr>
              <a:t>(</a:t>
            </a:r>
            <a:r>
              <a:rPr lang="en-US" sz="900" i="1">
                <a:solidFill>
                  <a:schemeClr val="accent6">
                    <a:lumMod val="75000"/>
                  </a:schemeClr>
                </a:solidFill>
                <a:latin typeface="Avenir Next LT Pro" panose="020B0504020202020204" pitchFamily="34" charset="0"/>
              </a:rPr>
              <a:t>PoC</a:t>
            </a:r>
            <a:r>
              <a:rPr lang="fr-FR" sz="900" i="1">
                <a:solidFill>
                  <a:schemeClr val="accent6">
                    <a:lumMod val="75000"/>
                  </a:schemeClr>
                </a:solidFill>
                <a:latin typeface="Avenir Next LT Pro" panose="020B0504020202020204" pitchFamily="34" charset="0"/>
              </a:rPr>
              <a:t> réalisé en R&amp;D)</a:t>
            </a:r>
            <a:endParaRPr lang="fr-FR" sz="1000">
              <a:solidFill>
                <a:schemeClr val="accent6">
                  <a:lumMod val="75000"/>
                </a:schemeClr>
              </a:solidFill>
              <a:latin typeface="Avenir Next LT Pro" panose="020B0504020202020204" pitchFamily="34" charset="0"/>
            </a:endParaRPr>
          </a:p>
          <a:p>
            <a:pPr marL="360000" indent="-171450">
              <a:lnSpc>
                <a:spcPct val="100000"/>
              </a:lnSpc>
              <a:spcBef>
                <a:spcPts val="0"/>
              </a:spcBef>
              <a:buSzPct val="75000"/>
              <a:buBlip>
                <a:blip r:embed="rId5"/>
              </a:buBlip>
            </a:pPr>
            <a:r>
              <a:rPr lang="fr-FR" sz="1000">
                <a:ln w="12700">
                  <a:solidFill>
                    <a:srgbClr val="E65012"/>
                  </a:solidFill>
                </a:ln>
                <a:solidFill>
                  <a:srgbClr val="E65012"/>
                </a:solidFill>
                <a:latin typeface="Avenir Next LT Pro" panose="020B0504020202020204" pitchFamily="34" charset="0"/>
              </a:rPr>
              <a:t>Scénario</a:t>
            </a:r>
            <a:r>
              <a:rPr lang="fr-FR" sz="1000">
                <a:solidFill>
                  <a:schemeClr val="accent6">
                    <a:lumMod val="75000"/>
                  </a:schemeClr>
                </a:solidFill>
                <a:latin typeface="Avenir Next LT Pro" panose="020B0504020202020204" pitchFamily="34" charset="0"/>
              </a:rPr>
              <a:t> </a:t>
            </a:r>
            <a:r>
              <a:rPr lang="fr-FR" sz="1000">
                <a:ln w="12700">
                  <a:solidFill>
                    <a:srgbClr val="E65012"/>
                  </a:solidFill>
                </a:ln>
                <a:solidFill>
                  <a:srgbClr val="E65012"/>
                </a:solidFill>
                <a:latin typeface="Avenir Next LT Pro" panose="020B0504020202020204" pitchFamily="34" charset="0"/>
              </a:rPr>
              <a:t>n°2</a:t>
            </a:r>
            <a:r>
              <a:rPr lang="fr-FR" sz="1000">
                <a:solidFill>
                  <a:schemeClr val="accent6">
                    <a:lumMod val="75000"/>
                  </a:schemeClr>
                </a:solidFill>
                <a:latin typeface="Avenir Next LT Pro" panose="020B0504020202020204" pitchFamily="34" charset="0"/>
              </a:rPr>
              <a:t> : Définition d’un déploiement d’architecture à la cible décrivant une architecture réaliste proche des standards SI (et SI BYCN) le plus proche de l’état de l’art dans le respect des exigences et des contraintes métiers</a:t>
            </a:r>
          </a:p>
          <a:p>
            <a:pPr>
              <a:lnSpc>
                <a:spcPct val="100000"/>
              </a:lnSpc>
              <a:spcBef>
                <a:spcPts val="0"/>
              </a:spcBef>
            </a:pPr>
            <a:endParaRPr lang="fr-FR" sz="1000">
              <a:solidFill>
                <a:schemeClr val="accent6">
                  <a:lumMod val="75000"/>
                </a:schemeClr>
              </a:solidFill>
              <a:latin typeface="Avenir Next LT Pro" panose="020B0504020202020204" pitchFamily="34" charset="0"/>
            </a:endParaRPr>
          </a:p>
          <a:p>
            <a:pPr>
              <a:lnSpc>
                <a:spcPct val="100000"/>
              </a:lnSpc>
              <a:spcBef>
                <a:spcPts val="0"/>
              </a:spcBef>
            </a:pPr>
            <a:r>
              <a:rPr lang="fr-FR" sz="1400" b="1">
                <a:ln w="12700">
                  <a:solidFill>
                    <a:srgbClr val="E65012"/>
                  </a:solidFill>
                </a:ln>
                <a:latin typeface="Verdana (Corps)"/>
              </a:rPr>
              <a:t>Objectif de la réunion de synthèse</a:t>
            </a:r>
          </a:p>
          <a:p>
            <a:pPr marL="360000" indent="-1714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Expliquer les choix, expliquer les recommandations.</a:t>
            </a:r>
          </a:p>
          <a:p>
            <a:pPr marL="360000" indent="-1714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Faire valider un choix d'architecture par l'IT, arbitrer, autoriser des dérogations ou des écarts, valider une trajectoire, ....</a:t>
            </a:r>
          </a:p>
          <a:p>
            <a:pPr marL="360000" indent="-171450">
              <a:lnSpc>
                <a:spcPct val="100000"/>
              </a:lnSpc>
              <a:spcBef>
                <a:spcPts val="0"/>
              </a:spcBef>
              <a:buSzPct val="75000"/>
              <a:buBlip>
                <a:blip r:embed="rId5"/>
              </a:buBlip>
            </a:pPr>
            <a:r>
              <a:rPr lang="fr-FR" sz="1000">
                <a:solidFill>
                  <a:schemeClr val="accent6">
                    <a:lumMod val="75000"/>
                  </a:schemeClr>
                </a:solidFill>
                <a:latin typeface="Avenir Next LT Pro" panose="020B0504020202020204" pitchFamily="34" charset="0"/>
              </a:rPr>
              <a:t>Note optionnelle à ajouter</a:t>
            </a:r>
          </a:p>
        </p:txBody>
      </p:sp>
      <p:grpSp>
        <p:nvGrpSpPr>
          <p:cNvPr id="9" name="Groupe 8">
            <a:extLst>
              <a:ext uri="{FF2B5EF4-FFF2-40B4-BE49-F238E27FC236}">
                <a16:creationId xmlns:a16="http://schemas.microsoft.com/office/drawing/2014/main" id="{D84BD52E-13C3-C7E8-684F-17D33F1AD9AF}"/>
              </a:ext>
            </a:extLst>
          </p:cNvPr>
          <p:cNvGrpSpPr/>
          <p:nvPr>
            <p:custDataLst>
              <p:tags r:id="rId1"/>
            </p:custDataLst>
          </p:nvPr>
        </p:nvGrpSpPr>
        <p:grpSpPr>
          <a:xfrm>
            <a:off x="404716" y="3242118"/>
            <a:ext cx="10835090" cy="453373"/>
            <a:chOff x="364277" y="5890887"/>
            <a:chExt cx="11547477" cy="661929"/>
          </a:xfrm>
        </p:grpSpPr>
        <p:grpSp>
          <p:nvGrpSpPr>
            <p:cNvPr id="10" name="Groupe 9">
              <a:extLst>
                <a:ext uri="{FF2B5EF4-FFF2-40B4-BE49-F238E27FC236}">
                  <a16:creationId xmlns:a16="http://schemas.microsoft.com/office/drawing/2014/main" id="{F4B26E50-D246-3A65-2754-D98EA9B63D22}"/>
                </a:ext>
              </a:extLst>
            </p:cNvPr>
            <p:cNvGrpSpPr/>
            <p:nvPr>
              <p:custDataLst>
                <p:tags r:id="rId3"/>
              </p:custDataLst>
            </p:nvPr>
          </p:nvGrpSpPr>
          <p:grpSpPr>
            <a:xfrm>
              <a:off x="581730" y="5890887"/>
              <a:ext cx="11330024" cy="399202"/>
              <a:chOff x="1325434" y="1331742"/>
              <a:chExt cx="6903926" cy="293316"/>
            </a:xfrm>
            <a:solidFill>
              <a:schemeClr val="accent3">
                <a:lumMod val="50000"/>
              </a:schemeClr>
            </a:solidFill>
          </p:grpSpPr>
          <p:sp>
            <p:nvSpPr>
              <p:cNvPr id="20" name="AutoShape 4">
                <a:hlinkClick r:id="" action="ppaction://noaction"/>
                <a:extLst>
                  <a:ext uri="{FF2B5EF4-FFF2-40B4-BE49-F238E27FC236}">
                    <a16:creationId xmlns:a16="http://schemas.microsoft.com/office/drawing/2014/main" id="{56F87A3C-F2A2-6309-ABBA-5F1C750A4493}"/>
                  </a:ext>
                </a:extLst>
              </p:cNvPr>
              <p:cNvSpPr>
                <a:spLocks noChangeArrowheads="1"/>
              </p:cNvSpPr>
              <p:nvPr/>
            </p:nvSpPr>
            <p:spPr bwMode="auto">
              <a:xfrm>
                <a:off x="4042085" y="1331747"/>
                <a:ext cx="900001" cy="293304"/>
              </a:xfrm>
              <a:prstGeom prst="chevron">
                <a:avLst>
                  <a:gd name="adj" fmla="val 17413"/>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Construction</a:t>
                </a:r>
              </a:p>
            </p:txBody>
          </p:sp>
          <p:sp>
            <p:nvSpPr>
              <p:cNvPr id="21" name="AutoShape 4">
                <a:hlinkClick r:id="" action="ppaction://noaction"/>
                <a:extLst>
                  <a:ext uri="{FF2B5EF4-FFF2-40B4-BE49-F238E27FC236}">
                    <a16:creationId xmlns:a16="http://schemas.microsoft.com/office/drawing/2014/main" id="{34209FD0-3707-DE32-D9D6-072290D5BE28}"/>
                  </a:ext>
                </a:extLst>
              </p:cNvPr>
              <p:cNvSpPr>
                <a:spLocks noChangeArrowheads="1"/>
              </p:cNvSpPr>
              <p:nvPr/>
            </p:nvSpPr>
            <p:spPr bwMode="gray">
              <a:xfrm>
                <a:off x="2298440" y="1331743"/>
                <a:ext cx="900001" cy="293310"/>
              </a:xfrm>
              <a:prstGeom prst="chevron">
                <a:avLst>
                  <a:gd name="adj" fmla="val 17526"/>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Besoins</a:t>
                </a:r>
              </a:p>
            </p:txBody>
          </p:sp>
          <p:sp>
            <p:nvSpPr>
              <p:cNvPr id="22" name="AutoShape 4">
                <a:hlinkClick r:id="" action="ppaction://noaction"/>
                <a:extLst>
                  <a:ext uri="{FF2B5EF4-FFF2-40B4-BE49-F238E27FC236}">
                    <a16:creationId xmlns:a16="http://schemas.microsoft.com/office/drawing/2014/main" id="{840E10FE-211C-DC7E-B509-DCF72037DB60}"/>
                  </a:ext>
                </a:extLst>
              </p:cNvPr>
              <p:cNvSpPr>
                <a:spLocks noChangeArrowheads="1"/>
              </p:cNvSpPr>
              <p:nvPr/>
            </p:nvSpPr>
            <p:spPr bwMode="auto">
              <a:xfrm>
                <a:off x="3170262" y="1331742"/>
                <a:ext cx="900001" cy="293310"/>
              </a:xfrm>
              <a:prstGeom prst="chevron">
                <a:avLst>
                  <a:gd name="adj" fmla="val 16377"/>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Spécifications</a:t>
                </a:r>
              </a:p>
            </p:txBody>
          </p:sp>
          <p:sp>
            <p:nvSpPr>
              <p:cNvPr id="23" name="AutoShape 4">
                <a:hlinkClick r:id="" action="ppaction://noaction"/>
                <a:extLst>
                  <a:ext uri="{FF2B5EF4-FFF2-40B4-BE49-F238E27FC236}">
                    <a16:creationId xmlns:a16="http://schemas.microsoft.com/office/drawing/2014/main" id="{F4DA75A2-6AA8-48B6-77EB-979A7E8A22CD}"/>
                  </a:ext>
                </a:extLst>
              </p:cNvPr>
              <p:cNvSpPr>
                <a:spLocks noChangeArrowheads="1"/>
              </p:cNvSpPr>
              <p:nvPr/>
            </p:nvSpPr>
            <p:spPr bwMode="auto">
              <a:xfrm>
                <a:off x="5785730" y="1331747"/>
                <a:ext cx="720000" cy="293304"/>
              </a:xfrm>
              <a:prstGeom prst="chevron">
                <a:avLst>
                  <a:gd name="adj" fmla="val 16791"/>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VSR</a:t>
                </a:r>
              </a:p>
            </p:txBody>
          </p:sp>
          <p:sp>
            <p:nvSpPr>
              <p:cNvPr id="24" name="AutoShape 4">
                <a:hlinkClick r:id="" action="ppaction://noaction"/>
                <a:extLst>
                  <a:ext uri="{FF2B5EF4-FFF2-40B4-BE49-F238E27FC236}">
                    <a16:creationId xmlns:a16="http://schemas.microsoft.com/office/drawing/2014/main" id="{7A17023A-304E-5D3A-6DD1-3C563AE057BD}"/>
                  </a:ext>
                </a:extLst>
              </p:cNvPr>
              <p:cNvSpPr>
                <a:spLocks noChangeArrowheads="1"/>
              </p:cNvSpPr>
              <p:nvPr/>
            </p:nvSpPr>
            <p:spPr bwMode="auto">
              <a:xfrm>
                <a:off x="4913908" y="1331747"/>
                <a:ext cx="900001" cy="293305"/>
              </a:xfrm>
              <a:prstGeom prst="chevron">
                <a:avLst>
                  <a:gd name="adj" fmla="val 16791"/>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Tests</a:t>
                </a:r>
              </a:p>
            </p:txBody>
          </p:sp>
          <p:sp>
            <p:nvSpPr>
              <p:cNvPr id="25" name="AutoShape 4">
                <a:hlinkClick r:id="" action="ppaction://noaction"/>
                <a:extLst>
                  <a:ext uri="{FF2B5EF4-FFF2-40B4-BE49-F238E27FC236}">
                    <a16:creationId xmlns:a16="http://schemas.microsoft.com/office/drawing/2014/main" id="{4BDAFB6B-CAEA-1F1F-14B6-5428C1EC4FBB}"/>
                  </a:ext>
                </a:extLst>
              </p:cNvPr>
              <p:cNvSpPr>
                <a:spLocks noChangeArrowheads="1"/>
              </p:cNvSpPr>
              <p:nvPr/>
            </p:nvSpPr>
            <p:spPr bwMode="gray">
              <a:xfrm>
                <a:off x="1325434" y="1331745"/>
                <a:ext cx="1001184" cy="293313"/>
              </a:xfrm>
              <a:prstGeom prst="homePlate">
                <a:avLst>
                  <a:gd name="adj" fmla="val 16197"/>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Opportunité &amp; Faisabilité </a:t>
                </a:r>
              </a:p>
            </p:txBody>
          </p:sp>
          <p:sp>
            <p:nvSpPr>
              <p:cNvPr id="26" name="AutoShape 4">
                <a:hlinkClick r:id="" action="ppaction://noaction"/>
                <a:extLst>
                  <a:ext uri="{FF2B5EF4-FFF2-40B4-BE49-F238E27FC236}">
                    <a16:creationId xmlns:a16="http://schemas.microsoft.com/office/drawing/2014/main" id="{CD2D9EB6-5058-7604-D5F6-780C3507FCF0}"/>
                  </a:ext>
                </a:extLst>
              </p:cNvPr>
              <p:cNvSpPr>
                <a:spLocks noChangeArrowheads="1"/>
              </p:cNvSpPr>
              <p:nvPr/>
            </p:nvSpPr>
            <p:spPr bwMode="auto">
              <a:xfrm>
                <a:off x="6477552" y="1331747"/>
                <a:ext cx="720000" cy="293305"/>
              </a:xfrm>
              <a:prstGeom prst="chevron">
                <a:avLst>
                  <a:gd name="adj" fmla="val 16791"/>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Run </a:t>
                </a:r>
              </a:p>
            </p:txBody>
          </p:sp>
          <p:sp>
            <p:nvSpPr>
              <p:cNvPr id="27" name="AutoShape 4">
                <a:hlinkClick r:id="" action="ppaction://noaction"/>
                <a:extLst>
                  <a:ext uri="{FF2B5EF4-FFF2-40B4-BE49-F238E27FC236}">
                    <a16:creationId xmlns:a16="http://schemas.microsoft.com/office/drawing/2014/main" id="{CD922C83-8D94-E39F-2B56-F602A32950E0}"/>
                  </a:ext>
                </a:extLst>
              </p:cNvPr>
              <p:cNvSpPr>
                <a:spLocks noChangeArrowheads="1"/>
              </p:cNvSpPr>
              <p:nvPr/>
            </p:nvSpPr>
            <p:spPr bwMode="auto">
              <a:xfrm>
                <a:off x="7182007" y="1331747"/>
                <a:ext cx="1047353" cy="293305"/>
              </a:xfrm>
              <a:prstGeom prst="chevron">
                <a:avLst>
                  <a:gd name="adj" fmla="val 16791"/>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lIns="17997" tIns="45712" rIns="17997" bIns="45712" anchor="ctr"/>
              <a:lstStyle/>
              <a:p>
                <a:pPr algn="ctr" defTabSz="914366">
                  <a:defRPr/>
                </a:pPr>
                <a:r>
                  <a:rPr lang="fr-FR" sz="800" b="1">
                    <a:solidFill>
                      <a:srgbClr val="FFFFFF"/>
                    </a:solidFill>
                    <a:latin typeface="Avenir Next LT Pro" panose="020B0504020202020204" pitchFamily="34" charset="0"/>
                    <a:ea typeface="ＭＳ Ｐゴシック" charset="-128"/>
                  </a:rPr>
                  <a:t>Décommissionnement</a:t>
                </a:r>
              </a:p>
            </p:txBody>
          </p:sp>
        </p:grpSp>
        <p:sp>
          <p:nvSpPr>
            <p:cNvPr id="11" name="ZoneTexte 10">
              <a:extLst>
                <a:ext uri="{FF2B5EF4-FFF2-40B4-BE49-F238E27FC236}">
                  <a16:creationId xmlns:a16="http://schemas.microsoft.com/office/drawing/2014/main" id="{FD41DECD-3B33-04E0-E913-E27BA9272323}"/>
                </a:ext>
              </a:extLst>
            </p:cNvPr>
            <p:cNvSpPr txBox="1"/>
            <p:nvPr/>
          </p:nvSpPr>
          <p:spPr>
            <a:xfrm>
              <a:off x="1849973" y="6307712"/>
              <a:ext cx="453067" cy="245104"/>
            </a:xfrm>
            <a:prstGeom prst="rect">
              <a:avLst/>
            </a:prstGeom>
            <a:noFill/>
          </p:spPr>
          <p:txBody>
            <a:bodyPr wrap="none" rtlCol="0">
              <a:spAutoFit/>
            </a:bodyPr>
            <a:lstStyle/>
            <a:p>
              <a:pPr algn="l"/>
              <a:r>
                <a:rPr lang="fr-FR" sz="600" i="1">
                  <a:solidFill>
                    <a:schemeClr val="accent6">
                      <a:lumMod val="75000"/>
                    </a:schemeClr>
                  </a:solidFill>
                  <a:latin typeface="Avenir Next LT Pro" panose="020B0504020202020204" pitchFamily="34" charset="0"/>
                </a:rPr>
                <a:t>JJ/MM</a:t>
              </a:r>
            </a:p>
          </p:txBody>
        </p:sp>
        <p:sp>
          <p:nvSpPr>
            <p:cNvPr id="12" name="ZoneTexte 11">
              <a:extLst>
                <a:ext uri="{FF2B5EF4-FFF2-40B4-BE49-F238E27FC236}">
                  <a16:creationId xmlns:a16="http://schemas.microsoft.com/office/drawing/2014/main" id="{65349F64-95BF-1A97-8446-5BCBDE60C1E8}"/>
                </a:ext>
              </a:extLst>
            </p:cNvPr>
            <p:cNvSpPr txBox="1"/>
            <p:nvPr/>
          </p:nvSpPr>
          <p:spPr>
            <a:xfrm>
              <a:off x="3218917" y="6307712"/>
              <a:ext cx="453067" cy="245104"/>
            </a:xfrm>
            <a:prstGeom prst="rect">
              <a:avLst/>
            </a:prstGeom>
            <a:noFill/>
          </p:spPr>
          <p:txBody>
            <a:bodyPr wrap="none" rtlCol="0">
              <a:spAutoFit/>
            </a:bodyPr>
            <a:lstStyle/>
            <a:p>
              <a:pPr algn="l"/>
              <a:r>
                <a:rPr lang="fr-FR" sz="600" i="1">
                  <a:solidFill>
                    <a:schemeClr val="accent6">
                      <a:lumMod val="75000"/>
                    </a:schemeClr>
                  </a:solidFill>
                  <a:latin typeface="Avenir Next LT Pro" panose="020B0504020202020204" pitchFamily="34" charset="0"/>
                </a:rPr>
                <a:t>JJ/MM</a:t>
              </a:r>
            </a:p>
          </p:txBody>
        </p:sp>
        <p:sp>
          <p:nvSpPr>
            <p:cNvPr id="13" name="ZoneTexte 12">
              <a:extLst>
                <a:ext uri="{FF2B5EF4-FFF2-40B4-BE49-F238E27FC236}">
                  <a16:creationId xmlns:a16="http://schemas.microsoft.com/office/drawing/2014/main" id="{5289AA01-4FF1-3B5A-81A9-B14038EE1838}"/>
                </a:ext>
              </a:extLst>
            </p:cNvPr>
            <p:cNvSpPr txBox="1"/>
            <p:nvPr/>
          </p:nvSpPr>
          <p:spPr>
            <a:xfrm>
              <a:off x="4587864" y="6307712"/>
              <a:ext cx="453067" cy="245104"/>
            </a:xfrm>
            <a:prstGeom prst="rect">
              <a:avLst/>
            </a:prstGeom>
            <a:noFill/>
          </p:spPr>
          <p:txBody>
            <a:bodyPr wrap="none" rtlCol="0">
              <a:spAutoFit/>
            </a:bodyPr>
            <a:lstStyle/>
            <a:p>
              <a:pPr algn="l"/>
              <a:r>
                <a:rPr lang="fr-FR" sz="600" i="1">
                  <a:solidFill>
                    <a:schemeClr val="accent6">
                      <a:lumMod val="75000"/>
                    </a:schemeClr>
                  </a:solidFill>
                  <a:latin typeface="Avenir Next LT Pro" panose="020B0504020202020204" pitchFamily="34" charset="0"/>
                </a:rPr>
                <a:t>JJ/MM</a:t>
              </a:r>
            </a:p>
          </p:txBody>
        </p:sp>
        <p:sp>
          <p:nvSpPr>
            <p:cNvPr id="14" name="ZoneTexte 13">
              <a:extLst>
                <a:ext uri="{FF2B5EF4-FFF2-40B4-BE49-F238E27FC236}">
                  <a16:creationId xmlns:a16="http://schemas.microsoft.com/office/drawing/2014/main" id="{66DDBA38-741E-3BFC-A6B5-47691978D1EB}"/>
                </a:ext>
              </a:extLst>
            </p:cNvPr>
            <p:cNvSpPr txBox="1"/>
            <p:nvPr/>
          </p:nvSpPr>
          <p:spPr>
            <a:xfrm>
              <a:off x="5956808" y="6307712"/>
              <a:ext cx="453067" cy="245104"/>
            </a:xfrm>
            <a:prstGeom prst="rect">
              <a:avLst/>
            </a:prstGeom>
            <a:noFill/>
          </p:spPr>
          <p:txBody>
            <a:bodyPr wrap="none" rtlCol="0">
              <a:spAutoFit/>
            </a:bodyPr>
            <a:lstStyle/>
            <a:p>
              <a:pPr algn="l"/>
              <a:r>
                <a:rPr lang="fr-FR" sz="600" i="1">
                  <a:solidFill>
                    <a:schemeClr val="accent6">
                      <a:lumMod val="75000"/>
                    </a:schemeClr>
                  </a:solidFill>
                  <a:latin typeface="Avenir Next LT Pro" panose="020B0504020202020204" pitchFamily="34" charset="0"/>
                </a:rPr>
                <a:t>JJ/MM</a:t>
              </a:r>
            </a:p>
          </p:txBody>
        </p:sp>
        <p:sp>
          <p:nvSpPr>
            <p:cNvPr id="15" name="ZoneTexte 14">
              <a:extLst>
                <a:ext uri="{FF2B5EF4-FFF2-40B4-BE49-F238E27FC236}">
                  <a16:creationId xmlns:a16="http://schemas.microsoft.com/office/drawing/2014/main" id="{244C5807-5D6C-42D4-4A12-C62A5B2A9CD0}"/>
                </a:ext>
              </a:extLst>
            </p:cNvPr>
            <p:cNvSpPr txBox="1"/>
            <p:nvPr/>
          </p:nvSpPr>
          <p:spPr>
            <a:xfrm>
              <a:off x="7325753" y="6307712"/>
              <a:ext cx="453067" cy="245104"/>
            </a:xfrm>
            <a:prstGeom prst="rect">
              <a:avLst/>
            </a:prstGeom>
            <a:noFill/>
          </p:spPr>
          <p:txBody>
            <a:bodyPr wrap="none" rtlCol="0">
              <a:spAutoFit/>
            </a:bodyPr>
            <a:lstStyle/>
            <a:p>
              <a:pPr algn="l"/>
              <a:r>
                <a:rPr lang="fr-FR" sz="600" i="1">
                  <a:solidFill>
                    <a:schemeClr val="accent6">
                      <a:lumMod val="75000"/>
                    </a:schemeClr>
                  </a:solidFill>
                  <a:latin typeface="Avenir Next LT Pro" panose="020B0504020202020204" pitchFamily="34" charset="0"/>
                </a:rPr>
                <a:t>JJ/MM</a:t>
              </a:r>
            </a:p>
          </p:txBody>
        </p:sp>
        <p:sp>
          <p:nvSpPr>
            <p:cNvPr id="16" name="ZoneTexte 15">
              <a:extLst>
                <a:ext uri="{FF2B5EF4-FFF2-40B4-BE49-F238E27FC236}">
                  <a16:creationId xmlns:a16="http://schemas.microsoft.com/office/drawing/2014/main" id="{6861B4B0-D6BA-6EE9-7437-AC5E362B6438}"/>
                </a:ext>
              </a:extLst>
            </p:cNvPr>
            <p:cNvSpPr txBox="1"/>
            <p:nvPr/>
          </p:nvSpPr>
          <p:spPr>
            <a:xfrm>
              <a:off x="8694698" y="6307712"/>
              <a:ext cx="453067" cy="245104"/>
            </a:xfrm>
            <a:prstGeom prst="rect">
              <a:avLst/>
            </a:prstGeom>
            <a:noFill/>
          </p:spPr>
          <p:txBody>
            <a:bodyPr wrap="none" rtlCol="0">
              <a:spAutoFit/>
            </a:bodyPr>
            <a:lstStyle>
              <a:defPPr>
                <a:defRPr lang="fr-FR"/>
              </a:defPPr>
              <a:lvl1pPr>
                <a:defRPr sz="600" i="1">
                  <a:solidFill>
                    <a:schemeClr val="accent6">
                      <a:lumMod val="75000"/>
                    </a:schemeClr>
                  </a:solidFill>
                  <a:latin typeface="Avenir Next LT Pro" panose="020B0504020202020204" pitchFamily="34" charset="0"/>
                </a:defRPr>
              </a:lvl1pPr>
            </a:lstStyle>
            <a:p>
              <a:r>
                <a:rPr lang="fr-FR"/>
                <a:t>JJ/MM</a:t>
              </a:r>
            </a:p>
          </p:txBody>
        </p:sp>
        <p:sp>
          <p:nvSpPr>
            <p:cNvPr id="17" name="ZoneTexte 16">
              <a:extLst>
                <a:ext uri="{FF2B5EF4-FFF2-40B4-BE49-F238E27FC236}">
                  <a16:creationId xmlns:a16="http://schemas.microsoft.com/office/drawing/2014/main" id="{2BAB6738-D317-26C2-990D-D3B9C8F43832}"/>
                </a:ext>
              </a:extLst>
            </p:cNvPr>
            <p:cNvSpPr txBox="1"/>
            <p:nvPr/>
          </p:nvSpPr>
          <p:spPr>
            <a:xfrm>
              <a:off x="9756508" y="6307712"/>
              <a:ext cx="453067" cy="245104"/>
            </a:xfrm>
            <a:prstGeom prst="rect">
              <a:avLst/>
            </a:prstGeom>
            <a:noFill/>
          </p:spPr>
          <p:txBody>
            <a:bodyPr wrap="none" rtlCol="0">
              <a:spAutoFit/>
            </a:bodyPr>
            <a:lstStyle>
              <a:defPPr>
                <a:defRPr lang="fr-FR"/>
              </a:defPPr>
              <a:lvl1pPr>
                <a:defRPr sz="600" i="1">
                  <a:solidFill>
                    <a:schemeClr val="accent6">
                      <a:lumMod val="75000"/>
                    </a:schemeClr>
                  </a:solidFill>
                  <a:latin typeface="Avenir Next LT Pro" panose="020B0504020202020204" pitchFamily="34" charset="0"/>
                </a:defRPr>
              </a:lvl1pPr>
            </a:lstStyle>
            <a:p>
              <a:r>
                <a:rPr lang="fr-FR"/>
                <a:t>JJ/MM</a:t>
              </a:r>
            </a:p>
          </p:txBody>
        </p:sp>
        <p:sp>
          <p:nvSpPr>
            <p:cNvPr id="18" name="ZoneTexte 17">
              <a:extLst>
                <a:ext uri="{FF2B5EF4-FFF2-40B4-BE49-F238E27FC236}">
                  <a16:creationId xmlns:a16="http://schemas.microsoft.com/office/drawing/2014/main" id="{5F333A36-6F7B-EDB6-1F17-1CBFA6666B20}"/>
                </a:ext>
              </a:extLst>
            </p:cNvPr>
            <p:cNvSpPr txBox="1"/>
            <p:nvPr/>
          </p:nvSpPr>
          <p:spPr>
            <a:xfrm>
              <a:off x="10866441" y="6307712"/>
              <a:ext cx="453067" cy="245104"/>
            </a:xfrm>
            <a:prstGeom prst="rect">
              <a:avLst/>
            </a:prstGeom>
            <a:noFill/>
          </p:spPr>
          <p:txBody>
            <a:bodyPr wrap="none" rtlCol="0">
              <a:spAutoFit/>
            </a:bodyPr>
            <a:lstStyle/>
            <a:p>
              <a:pPr algn="l"/>
              <a:r>
                <a:rPr lang="fr-FR" sz="600" i="1">
                  <a:solidFill>
                    <a:schemeClr val="accent6">
                      <a:lumMod val="75000"/>
                    </a:schemeClr>
                  </a:solidFill>
                  <a:latin typeface="Avenir Next LT Pro" panose="020B0504020202020204" pitchFamily="34" charset="0"/>
                </a:rPr>
                <a:t>JJ/MM</a:t>
              </a:r>
            </a:p>
          </p:txBody>
        </p:sp>
        <p:sp>
          <p:nvSpPr>
            <p:cNvPr id="19" name="ZoneTexte 18">
              <a:extLst>
                <a:ext uri="{FF2B5EF4-FFF2-40B4-BE49-F238E27FC236}">
                  <a16:creationId xmlns:a16="http://schemas.microsoft.com/office/drawing/2014/main" id="{AF0F0463-30F9-2C1B-5B11-1CD4A2D6FE3D}"/>
                </a:ext>
              </a:extLst>
            </p:cNvPr>
            <p:cNvSpPr txBox="1"/>
            <p:nvPr/>
          </p:nvSpPr>
          <p:spPr>
            <a:xfrm>
              <a:off x="364277" y="6307712"/>
              <a:ext cx="453067" cy="245104"/>
            </a:xfrm>
            <a:prstGeom prst="rect">
              <a:avLst/>
            </a:prstGeom>
            <a:noFill/>
          </p:spPr>
          <p:txBody>
            <a:bodyPr wrap="none" rtlCol="0">
              <a:spAutoFit/>
            </a:bodyPr>
            <a:lstStyle/>
            <a:p>
              <a:pPr algn="l"/>
              <a:r>
                <a:rPr lang="fr-FR" sz="600" i="1">
                  <a:solidFill>
                    <a:schemeClr val="accent6">
                      <a:lumMod val="75000"/>
                    </a:schemeClr>
                  </a:solidFill>
                  <a:latin typeface="Avenir Next LT Pro" panose="020B0504020202020204" pitchFamily="34" charset="0"/>
                </a:rPr>
                <a:t>JJ/MM</a:t>
              </a:r>
            </a:p>
          </p:txBody>
        </p:sp>
      </p:grpSp>
      <p:sp>
        <p:nvSpPr>
          <p:cNvPr id="28" name="Rectangle à coins arrondis 10">
            <a:extLst>
              <a:ext uri="{FF2B5EF4-FFF2-40B4-BE49-F238E27FC236}">
                <a16:creationId xmlns:a16="http://schemas.microsoft.com/office/drawing/2014/main" id="{F70ED2E9-C163-B67A-33E5-A96E2132FE1C}"/>
              </a:ext>
            </a:extLst>
          </p:cNvPr>
          <p:cNvSpPr/>
          <p:nvPr>
            <p:custDataLst>
              <p:tags r:id="rId2"/>
            </p:custDataLst>
          </p:nvPr>
        </p:nvSpPr>
        <p:spPr>
          <a:xfrm flipH="1">
            <a:off x="9015768" y="3813227"/>
            <a:ext cx="2257309" cy="162520"/>
          </a:xfrm>
          <a:prstGeom prst="wedgeRoundRectCallout">
            <a:avLst>
              <a:gd name="adj1" fmla="val 60536"/>
              <a:gd name="adj2" fmla="val -152960"/>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050">
                <a:solidFill>
                  <a:schemeClr val="accent6">
                    <a:lumMod val="75000"/>
                  </a:schemeClr>
                </a:solidFill>
                <a:latin typeface="Avenir Next LT Pro" panose="020B0504020202020204" pitchFamily="34" charset="0"/>
                <a:ea typeface="Segoe UI Symbol" panose="020B0502040204020203" pitchFamily="34" charset="0"/>
                <a:sym typeface="Webdings" panose="05030102010509060703" pitchFamily="18" charset="2"/>
              </a:rPr>
              <a:t></a:t>
            </a:r>
            <a:r>
              <a:rPr lang="fr-FR" sz="700" i="1">
                <a:solidFill>
                  <a:schemeClr val="accent6">
                    <a:lumMod val="75000"/>
                  </a:schemeClr>
                </a:solidFill>
                <a:latin typeface="Avenir Next LT Pro" panose="020B0504020202020204" pitchFamily="34" charset="0"/>
                <a:sym typeface="Webdings" panose="05030102010509060703" pitchFamily="18" charset="2"/>
              </a:rPr>
              <a:t> Dates connues à compléter</a:t>
            </a:r>
          </a:p>
        </p:txBody>
      </p:sp>
      <p:sp>
        <p:nvSpPr>
          <p:cNvPr id="29" name="Rectangle : coins arrondis 28">
            <a:extLst>
              <a:ext uri="{FF2B5EF4-FFF2-40B4-BE49-F238E27FC236}">
                <a16:creationId xmlns:a16="http://schemas.microsoft.com/office/drawing/2014/main" id="{288436D9-2464-0CF3-EF5F-8728578421AF}"/>
              </a:ext>
            </a:extLst>
          </p:cNvPr>
          <p:cNvSpPr/>
          <p:nvPr/>
        </p:nvSpPr>
        <p:spPr>
          <a:xfrm>
            <a:off x="8962117" y="638139"/>
            <a:ext cx="2691717" cy="920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spc="100">
                <a:ln w="9525">
                  <a:solidFill>
                    <a:schemeClr val="bg1"/>
                  </a:solidFill>
                </a:ln>
                <a:latin typeface="Avenir Next LT Pro" panose="020B0504020202020204" pitchFamily="34" charset="0"/>
              </a:rPr>
              <a:t>Architecte :</a:t>
            </a:r>
          </a:p>
          <a:p>
            <a:r>
              <a:rPr lang="fr-FR" sz="1200" b="1" spc="100">
                <a:ln w="9525">
                  <a:solidFill>
                    <a:schemeClr val="bg1"/>
                  </a:solidFill>
                </a:ln>
                <a:latin typeface="Avenir Next LT Pro" panose="020B0504020202020204" pitchFamily="34" charset="0"/>
              </a:rPr>
              <a:t>Resp. Projet : </a:t>
            </a:r>
          </a:p>
        </p:txBody>
      </p:sp>
    </p:spTree>
    <p:extLst>
      <p:ext uri="{BB962C8B-B14F-4D97-AF65-F5344CB8AC3E}">
        <p14:creationId xmlns:p14="http://schemas.microsoft.com/office/powerpoint/2010/main" val="339707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normAutofit/>
          </a:bodyPr>
          <a:lstStyle/>
          <a:p>
            <a:r>
              <a:rPr lang="fr-FR" sz="1600">
                <a:ln w="19050">
                  <a:solidFill>
                    <a:schemeClr val="bg1"/>
                  </a:solidFill>
                </a:ln>
              </a:rPr>
              <a:t>Introduction &amp; Objectifs — POS</a:t>
            </a:r>
          </a:p>
        </p:txBody>
      </p:sp>
      <p:pic>
        <p:nvPicPr>
          <p:cNvPr id="8" name="Image 7" descr="Une image contenant texte, logiciel, Icône d’ordinateur, Page web&#10;&#10;Description générée automatiquement">
            <a:extLst>
              <a:ext uri="{FF2B5EF4-FFF2-40B4-BE49-F238E27FC236}">
                <a16:creationId xmlns:a16="http://schemas.microsoft.com/office/drawing/2014/main" id="{410E586E-AD46-2946-62E3-99696CC53A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2147" y="739247"/>
            <a:ext cx="11854518" cy="6118754"/>
          </a:xfrm>
          <a:prstGeom prst="rect">
            <a:avLst/>
          </a:prstGeom>
          <a:noFill/>
          <a:ln>
            <a:noFill/>
          </a:ln>
        </p:spPr>
      </p:pic>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7</a:t>
            </a:fld>
            <a:endParaRPr lang="fr-FR"/>
          </a:p>
        </p:txBody>
      </p:sp>
      <p:sp>
        <p:nvSpPr>
          <p:cNvPr id="11" name="Espace réservé du texte 6">
            <a:extLst>
              <a:ext uri="{FF2B5EF4-FFF2-40B4-BE49-F238E27FC236}">
                <a16:creationId xmlns:a16="http://schemas.microsoft.com/office/drawing/2014/main" id="{145A1642-DF69-236E-5723-948FD0A8B829}"/>
              </a:ext>
            </a:extLst>
          </p:cNvPr>
          <p:cNvSpPr>
            <a:spLocks noGrp="1"/>
          </p:cNvSpPr>
          <p:nvPr>
            <p:ph type="body" sz="quarter" idx="30"/>
          </p:nvPr>
        </p:nvSpPr>
        <p:spPr>
          <a:xfrm>
            <a:off x="538163" y="263525"/>
            <a:ext cx="338137" cy="374650"/>
          </a:xfrm>
        </p:spPr>
        <p:txBody>
          <a:bodyPr>
            <a:normAutofit/>
          </a:bodyPr>
          <a:lstStyle/>
          <a:p>
            <a:r>
              <a:rPr lang="fr-FR" sz="1400">
                <a:ln w="19050">
                  <a:solidFill>
                    <a:schemeClr val="bg1"/>
                  </a:solidFill>
                </a:ln>
              </a:rPr>
              <a:t>01</a:t>
            </a:r>
          </a:p>
        </p:txBody>
      </p:sp>
    </p:spTree>
    <p:extLst>
      <p:ext uri="{BB962C8B-B14F-4D97-AF65-F5344CB8AC3E}">
        <p14:creationId xmlns:p14="http://schemas.microsoft.com/office/powerpoint/2010/main" val="3623526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8</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sz="3600"/>
              <a:t>Détail du positionnement fonctionnel</a:t>
            </a:r>
            <a:endParaRPr lang="fr-F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endParaRPr lang="fr-FR"/>
          </a:p>
        </p:txBody>
      </p:sp>
      <p:sp>
        <p:nvSpPr>
          <p:cNvPr id="30" name="Espace réservé du texte 4">
            <a:extLst>
              <a:ext uri="{FF2B5EF4-FFF2-40B4-BE49-F238E27FC236}">
                <a16:creationId xmlns:a16="http://schemas.microsoft.com/office/drawing/2014/main" id="{710A6BDB-7C2A-BF15-8F0B-D9B55A680BE9}"/>
              </a:ext>
            </a:extLst>
          </p:cNvPr>
          <p:cNvSpPr txBox="1">
            <a:spLocks/>
          </p:cNvSpPr>
          <p:nvPr>
            <p:custDataLst>
              <p:tags r:id="rId1"/>
            </p:custDataLst>
          </p:nvPr>
        </p:nvSpPr>
        <p:spPr>
          <a:xfrm>
            <a:off x="823911" y="1476375"/>
            <a:ext cx="11151847" cy="430887"/>
          </a:xfrm>
          <a:prstGeom prst="rect">
            <a:avLst/>
          </a:prstGeom>
        </p:spPr>
        <p:txBody>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i="1"/>
              <a:t>Indiquer le positionnement du projet sur le fond de carte ci-dessous ou indiquer « hors vision cible »</a:t>
            </a:r>
          </a:p>
        </p:txBody>
      </p:sp>
      <p:sp>
        <p:nvSpPr>
          <p:cNvPr id="32" name="Rectangle : coins arrondis 31">
            <a:extLst>
              <a:ext uri="{FF2B5EF4-FFF2-40B4-BE49-F238E27FC236}">
                <a16:creationId xmlns:a16="http://schemas.microsoft.com/office/drawing/2014/main" id="{A44CF36E-A171-DDD3-0881-E0A3D19CBC52}"/>
              </a:ext>
            </a:extLst>
          </p:cNvPr>
          <p:cNvSpPr/>
          <p:nvPr/>
        </p:nvSpPr>
        <p:spPr>
          <a:xfrm>
            <a:off x="1390650" y="2257425"/>
            <a:ext cx="7629525" cy="3600450"/>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fr-FR">
                <a:hlinkClick r:id="rId4"/>
              </a:rPr>
              <a:t>Reprendre le Plan de Couverture Applicatif BYCN</a:t>
            </a:r>
            <a:endParaRPr lang="fr-FR"/>
          </a:p>
        </p:txBody>
      </p:sp>
      <p:sp>
        <p:nvSpPr>
          <p:cNvPr id="8" name="ZoneTexte 7">
            <a:extLst>
              <a:ext uri="{FF2B5EF4-FFF2-40B4-BE49-F238E27FC236}">
                <a16:creationId xmlns:a16="http://schemas.microsoft.com/office/drawing/2014/main" id="{713D3972-F20C-6CC5-3ED4-547EC68FF8DC}"/>
              </a:ext>
            </a:extLst>
          </p:cNvPr>
          <p:cNvSpPr txBox="1"/>
          <p:nvPr>
            <p:custDataLst>
              <p:tags r:id="rId2"/>
            </p:custDataLst>
          </p:nvPr>
        </p:nvSpPr>
        <p:spPr>
          <a:xfrm>
            <a:off x="10369685" y="1914216"/>
            <a:ext cx="1534967" cy="2631490"/>
          </a:xfrm>
          <a:prstGeom prst="rect">
            <a:avLst/>
          </a:prstGeom>
          <a:noFill/>
          <a:ln>
            <a:solidFill>
              <a:schemeClr val="accent2">
                <a:lumMod val="50000"/>
              </a:schemeClr>
            </a:solidFill>
          </a:ln>
        </p:spPr>
        <p:txBody>
          <a:bodyPr wrap="square" rtlCol="0">
            <a:spAutoFit/>
          </a:bodyPr>
          <a:lstStyle/>
          <a:p>
            <a:r>
              <a:rPr lang="fr-FR" sz="1200">
                <a:solidFill>
                  <a:schemeClr val="accent6">
                    <a:lumMod val="75000"/>
                  </a:schemeClr>
                </a:solidFill>
                <a:latin typeface="Segoe UI Symbol" panose="020B0502040204020203" pitchFamily="34" charset="0"/>
                <a:ea typeface="Segoe UI Symbol" panose="020B0502040204020203" pitchFamily="34" charset="0"/>
                <a:sym typeface="Webdings" panose="05030102010509060703" pitchFamily="18" charset="2"/>
              </a:rPr>
              <a:t> </a:t>
            </a:r>
            <a:r>
              <a:rPr lang="fr-FR" sz="1000" b="1">
                <a:solidFill>
                  <a:schemeClr val="accent6">
                    <a:lumMod val="75000"/>
                  </a:schemeClr>
                </a:solidFill>
              </a:rPr>
              <a:t>Aide</a:t>
            </a:r>
          </a:p>
          <a:p>
            <a:r>
              <a:rPr lang="fr-FR" sz="900" i="1">
                <a:solidFill>
                  <a:schemeClr val="accent6">
                    <a:lumMod val="75000"/>
                  </a:schemeClr>
                </a:solidFill>
              </a:rPr>
              <a:t>Dans cette page l’Architecte encadre  la ou les application(s) au sein de la cartographie fonctionnelle avec accostage applicatif et fait apparaitre la (les) zone(s) fonctionnel(s) dans laquelle est située l’application.</a:t>
            </a:r>
          </a:p>
          <a:p>
            <a:endParaRPr lang="fr-FR" sz="900" i="1">
              <a:solidFill>
                <a:schemeClr val="accent6">
                  <a:lumMod val="75000"/>
                </a:schemeClr>
              </a:solidFill>
            </a:endParaRPr>
          </a:p>
          <a:p>
            <a:r>
              <a:rPr lang="fr-FR" sz="900" i="1">
                <a:solidFill>
                  <a:schemeClr val="accent6">
                    <a:lumMod val="75000"/>
                  </a:schemeClr>
                </a:solidFill>
              </a:rPr>
              <a:t>Il est nécessaire d’actualiser la cartographie du périmètre applicatif impacté s’il y a besoin.</a:t>
            </a:r>
          </a:p>
          <a:p>
            <a:endParaRPr lang="fr-FR" sz="900" i="1">
              <a:solidFill>
                <a:schemeClr val="accent6">
                  <a:lumMod val="75000"/>
                </a:schemeClr>
              </a:solidFill>
            </a:endParaRPr>
          </a:p>
          <a:p>
            <a:r>
              <a:rPr lang="en-US" sz="900" i="1">
                <a:solidFill>
                  <a:schemeClr val="accent6">
                    <a:lumMod val="75000"/>
                  </a:schemeClr>
                </a:solidFill>
                <a:ea typeface="+mn-lt"/>
                <a:cs typeface="+mn-lt"/>
              </a:rPr>
              <a:t>Le PCA BYCN </a:t>
            </a:r>
            <a:r>
              <a:rPr lang="en-US" sz="900" i="1" err="1">
                <a:solidFill>
                  <a:schemeClr val="accent6">
                    <a:lumMod val="75000"/>
                  </a:schemeClr>
                </a:solidFill>
                <a:ea typeface="+mn-lt"/>
                <a:cs typeface="+mn-lt"/>
              </a:rPr>
              <a:t>est</a:t>
            </a:r>
            <a:r>
              <a:rPr lang="en-US" sz="900" i="1">
                <a:solidFill>
                  <a:schemeClr val="accent6">
                    <a:lumMod val="75000"/>
                  </a:schemeClr>
                </a:solidFill>
                <a:ea typeface="+mn-lt"/>
                <a:cs typeface="+mn-lt"/>
              </a:rPr>
              <a:t> accessible </a:t>
            </a:r>
            <a:r>
              <a:rPr lang="en-US" sz="900" i="1" err="1">
                <a:solidFill>
                  <a:schemeClr val="accent6">
                    <a:lumMod val="75000"/>
                  </a:schemeClr>
                </a:solidFill>
                <a:ea typeface="+mn-lt"/>
                <a:cs typeface="+mn-lt"/>
              </a:rPr>
              <a:t>ici</a:t>
            </a:r>
            <a:r>
              <a:rPr lang="en-US" sz="900" i="1">
                <a:solidFill>
                  <a:schemeClr val="accent6">
                    <a:lumMod val="75000"/>
                  </a:schemeClr>
                </a:solidFill>
                <a:ea typeface="+mn-lt"/>
                <a:cs typeface="+mn-lt"/>
              </a:rPr>
              <a:t> : </a:t>
            </a:r>
            <a:r>
              <a:rPr lang="en-US" sz="900" i="1">
                <a:solidFill>
                  <a:schemeClr val="accent6">
                    <a:lumMod val="75000"/>
                  </a:schemeClr>
                </a:solidFill>
                <a:ea typeface="+mn-lt"/>
                <a:cs typeface="+mn-lt"/>
                <a:hlinkClick r:id="rId4"/>
              </a:rPr>
              <a:t>FOR PCA</a:t>
            </a:r>
            <a:endParaRPr lang="en-US" sz="900"/>
          </a:p>
          <a:p>
            <a:endParaRPr lang="fr-FR" sz="900" i="1">
              <a:solidFill>
                <a:schemeClr val="accent6">
                  <a:lumMod val="75000"/>
                </a:schemeClr>
              </a:solidFill>
            </a:endParaRPr>
          </a:p>
        </p:txBody>
      </p:sp>
    </p:spTree>
    <p:extLst>
      <p:ext uri="{BB962C8B-B14F-4D97-AF65-F5344CB8AC3E}">
        <p14:creationId xmlns:p14="http://schemas.microsoft.com/office/powerpoint/2010/main" val="365256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9</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sz="3600"/>
              <a:t>Analyse des impacts applicatifs</a:t>
            </a:r>
            <a:endParaRPr lang="fr-F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endParaRPr lang="fr-FR"/>
          </a:p>
        </p:txBody>
      </p:sp>
      <p:sp>
        <p:nvSpPr>
          <p:cNvPr id="30" name="Espace réservé du texte 4">
            <a:extLst>
              <a:ext uri="{FF2B5EF4-FFF2-40B4-BE49-F238E27FC236}">
                <a16:creationId xmlns:a16="http://schemas.microsoft.com/office/drawing/2014/main" id="{710A6BDB-7C2A-BF15-8F0B-D9B55A680BE9}"/>
              </a:ext>
            </a:extLst>
          </p:cNvPr>
          <p:cNvSpPr txBox="1">
            <a:spLocks/>
          </p:cNvSpPr>
          <p:nvPr>
            <p:custDataLst>
              <p:tags r:id="rId1"/>
            </p:custDataLst>
          </p:nvPr>
        </p:nvSpPr>
        <p:spPr>
          <a:xfrm>
            <a:off x="823911" y="1476375"/>
            <a:ext cx="11151847" cy="430887"/>
          </a:xfrm>
          <a:prstGeom prst="rect">
            <a:avLst/>
          </a:prstGeom>
        </p:spPr>
        <p:txBody>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i="1"/>
              <a:t>Liste des applications, objets métiers et fonctions impactées et manipulées dans le cadre du projet</a:t>
            </a:r>
          </a:p>
        </p:txBody>
      </p:sp>
      <p:sp>
        <p:nvSpPr>
          <p:cNvPr id="9" name="Rectangle : coins arrondis 8">
            <a:extLst>
              <a:ext uri="{FF2B5EF4-FFF2-40B4-BE49-F238E27FC236}">
                <a16:creationId xmlns:a16="http://schemas.microsoft.com/office/drawing/2014/main" id="{802C8480-CC98-7A64-FCAB-AE12440566C7}"/>
              </a:ext>
            </a:extLst>
          </p:cNvPr>
          <p:cNvSpPr/>
          <p:nvPr>
            <p:custDataLst>
              <p:tags r:id="rId2"/>
            </p:custDataLst>
          </p:nvPr>
        </p:nvSpPr>
        <p:spPr>
          <a:xfrm>
            <a:off x="2680333" y="2421837"/>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100">
              <a:solidFill>
                <a:schemeClr val="tx1"/>
              </a:solidFill>
            </a:endParaRPr>
          </a:p>
        </p:txBody>
      </p:sp>
      <p:sp>
        <p:nvSpPr>
          <p:cNvPr id="10" name="Rectangle : coins arrondis 9">
            <a:extLst>
              <a:ext uri="{FF2B5EF4-FFF2-40B4-BE49-F238E27FC236}">
                <a16:creationId xmlns:a16="http://schemas.microsoft.com/office/drawing/2014/main" id="{905FE57A-BDC0-6AE4-45ED-1846BF32CDC2}"/>
              </a:ext>
            </a:extLst>
          </p:cNvPr>
          <p:cNvSpPr/>
          <p:nvPr>
            <p:custDataLst>
              <p:tags r:id="rId3"/>
            </p:custDataLst>
          </p:nvPr>
        </p:nvSpPr>
        <p:spPr>
          <a:xfrm>
            <a:off x="1023775" y="2406443"/>
            <a:ext cx="1564021" cy="540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100" b="1">
              <a:solidFill>
                <a:schemeClr val="bg1"/>
              </a:solidFill>
            </a:endParaRPr>
          </a:p>
        </p:txBody>
      </p:sp>
      <p:sp>
        <p:nvSpPr>
          <p:cNvPr id="11" name="TextBox 4">
            <a:extLst>
              <a:ext uri="{FF2B5EF4-FFF2-40B4-BE49-F238E27FC236}">
                <a16:creationId xmlns:a16="http://schemas.microsoft.com/office/drawing/2014/main" id="{69EEAB1E-7224-D937-F2CA-C721CEFAD571}"/>
              </a:ext>
            </a:extLst>
          </p:cNvPr>
          <p:cNvSpPr txBox="1"/>
          <p:nvPr>
            <p:custDataLst>
              <p:tags r:id="rId4"/>
            </p:custDataLst>
          </p:nvPr>
        </p:nvSpPr>
        <p:spPr>
          <a:xfrm>
            <a:off x="651718" y="1933518"/>
            <a:ext cx="2238374" cy="307777"/>
          </a:xfrm>
          <a:prstGeom prst="rect">
            <a:avLst/>
          </a:prstGeom>
          <a:noFill/>
        </p:spPr>
        <p:txBody>
          <a:bodyPr wrap="square" rtlCol="0">
            <a:spAutoFit/>
          </a:bodyPr>
          <a:lstStyle/>
          <a:p>
            <a:pPr algn="ctr"/>
            <a:r>
              <a:rPr lang="en-US" sz="1400" b="1"/>
              <a:t>Applications</a:t>
            </a:r>
          </a:p>
        </p:txBody>
      </p:sp>
      <p:sp>
        <p:nvSpPr>
          <p:cNvPr id="12" name="TextBox 20">
            <a:extLst>
              <a:ext uri="{FF2B5EF4-FFF2-40B4-BE49-F238E27FC236}">
                <a16:creationId xmlns:a16="http://schemas.microsoft.com/office/drawing/2014/main" id="{911C685B-DBB6-2C4D-C7F9-CCA8A470BEAE}"/>
              </a:ext>
            </a:extLst>
          </p:cNvPr>
          <p:cNvSpPr txBox="1"/>
          <p:nvPr>
            <p:custDataLst>
              <p:tags r:id="rId5"/>
            </p:custDataLst>
          </p:nvPr>
        </p:nvSpPr>
        <p:spPr>
          <a:xfrm>
            <a:off x="2421452" y="1922560"/>
            <a:ext cx="1718602" cy="523220"/>
          </a:xfrm>
          <a:prstGeom prst="rect">
            <a:avLst/>
          </a:prstGeom>
          <a:noFill/>
        </p:spPr>
        <p:txBody>
          <a:bodyPr wrap="square" rtlCol="0">
            <a:spAutoFit/>
          </a:bodyPr>
          <a:lstStyle/>
          <a:p>
            <a:pPr algn="ctr"/>
            <a:r>
              <a:rPr lang="fr-FR" sz="1400" b="1"/>
              <a:t>Objets</a:t>
            </a:r>
          </a:p>
          <a:p>
            <a:pPr algn="ctr"/>
            <a:r>
              <a:rPr lang="fr-FR" sz="1400" b="1"/>
              <a:t>impactés</a:t>
            </a:r>
          </a:p>
        </p:txBody>
      </p:sp>
      <p:sp>
        <p:nvSpPr>
          <p:cNvPr id="13" name="TextBox 21">
            <a:extLst>
              <a:ext uri="{FF2B5EF4-FFF2-40B4-BE49-F238E27FC236}">
                <a16:creationId xmlns:a16="http://schemas.microsoft.com/office/drawing/2014/main" id="{E784D1F4-B866-9245-1FBF-1B5AF6CAD83F}"/>
              </a:ext>
            </a:extLst>
          </p:cNvPr>
          <p:cNvSpPr txBox="1"/>
          <p:nvPr>
            <p:custDataLst>
              <p:tags r:id="rId6"/>
            </p:custDataLst>
          </p:nvPr>
        </p:nvSpPr>
        <p:spPr>
          <a:xfrm>
            <a:off x="4456472" y="1915545"/>
            <a:ext cx="2658704" cy="307777"/>
          </a:xfrm>
          <a:prstGeom prst="rect">
            <a:avLst/>
          </a:prstGeom>
          <a:noFill/>
        </p:spPr>
        <p:txBody>
          <a:bodyPr wrap="square" rtlCol="0">
            <a:spAutoFit/>
          </a:bodyPr>
          <a:lstStyle/>
          <a:p>
            <a:pPr algn="ctr"/>
            <a:r>
              <a:rPr lang="fr-FR" sz="1400" b="1"/>
              <a:t>Fonctions métiers impactées</a:t>
            </a:r>
          </a:p>
        </p:txBody>
      </p:sp>
      <p:sp>
        <p:nvSpPr>
          <p:cNvPr id="14" name="Rectangle : coins arrondis 9">
            <a:extLst>
              <a:ext uri="{FF2B5EF4-FFF2-40B4-BE49-F238E27FC236}">
                <a16:creationId xmlns:a16="http://schemas.microsoft.com/office/drawing/2014/main" id="{81BCA366-F8AD-6CCF-E634-DA6AA646AD5F}"/>
              </a:ext>
            </a:extLst>
          </p:cNvPr>
          <p:cNvSpPr/>
          <p:nvPr>
            <p:custDataLst>
              <p:tags r:id="rId7"/>
            </p:custDataLst>
          </p:nvPr>
        </p:nvSpPr>
        <p:spPr>
          <a:xfrm>
            <a:off x="3974990" y="2385909"/>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50">
              <a:solidFill>
                <a:schemeClr val="tx1"/>
              </a:solidFill>
            </a:endParaRPr>
          </a:p>
        </p:txBody>
      </p:sp>
      <p:sp>
        <p:nvSpPr>
          <p:cNvPr id="15" name="Rectangle : coins arrondis 14">
            <a:extLst>
              <a:ext uri="{FF2B5EF4-FFF2-40B4-BE49-F238E27FC236}">
                <a16:creationId xmlns:a16="http://schemas.microsoft.com/office/drawing/2014/main" id="{87F6E2CE-A389-CC3D-536C-352FB98BF9AB}"/>
              </a:ext>
            </a:extLst>
          </p:cNvPr>
          <p:cNvSpPr/>
          <p:nvPr>
            <p:custDataLst>
              <p:tags r:id="rId8"/>
            </p:custDataLst>
          </p:nvPr>
        </p:nvSpPr>
        <p:spPr>
          <a:xfrm>
            <a:off x="2680333" y="4578191"/>
            <a:ext cx="1200840" cy="538588"/>
          </a:xfrm>
          <a:prstGeom prst="roundRect">
            <a:avLst/>
          </a:prstGeom>
          <a:solidFill>
            <a:schemeClr val="accent2">
              <a:lumMod val="40000"/>
              <a:lumOff val="60000"/>
            </a:schemeClr>
          </a:solidFill>
          <a:ln w="28575">
            <a:no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endParaRPr lang="en-US" sz="1100">
              <a:solidFill>
                <a:schemeClr val="tx1"/>
              </a:solidFill>
            </a:endParaRPr>
          </a:p>
        </p:txBody>
      </p:sp>
      <p:sp>
        <p:nvSpPr>
          <p:cNvPr id="16" name="Rectangle : coins arrondis 10">
            <a:extLst>
              <a:ext uri="{FF2B5EF4-FFF2-40B4-BE49-F238E27FC236}">
                <a16:creationId xmlns:a16="http://schemas.microsoft.com/office/drawing/2014/main" id="{F97F6620-38B0-73FE-7EC8-4AC88161E1BF}"/>
              </a:ext>
            </a:extLst>
          </p:cNvPr>
          <p:cNvSpPr/>
          <p:nvPr>
            <p:custDataLst>
              <p:tags r:id="rId9"/>
            </p:custDataLst>
          </p:nvPr>
        </p:nvSpPr>
        <p:spPr>
          <a:xfrm>
            <a:off x="1023775" y="4562797"/>
            <a:ext cx="1564021" cy="53858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bg1"/>
              </a:solidFill>
            </a:endParaRPr>
          </a:p>
        </p:txBody>
      </p:sp>
      <p:sp>
        <p:nvSpPr>
          <p:cNvPr id="17" name="Rectangle : coins arrondis 10">
            <a:extLst>
              <a:ext uri="{FF2B5EF4-FFF2-40B4-BE49-F238E27FC236}">
                <a16:creationId xmlns:a16="http://schemas.microsoft.com/office/drawing/2014/main" id="{ADD1DB8B-F1B5-8C18-86FC-323DAE2F60B7}"/>
              </a:ext>
            </a:extLst>
          </p:cNvPr>
          <p:cNvSpPr/>
          <p:nvPr>
            <p:custDataLst>
              <p:tags r:id="rId10"/>
            </p:custDataLst>
          </p:nvPr>
        </p:nvSpPr>
        <p:spPr>
          <a:xfrm>
            <a:off x="3984515" y="4562797"/>
            <a:ext cx="5566595" cy="538588"/>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050">
              <a:solidFill>
                <a:schemeClr val="tx1"/>
              </a:solidFill>
              <a:cs typeface="Poppins"/>
            </a:endParaRPr>
          </a:p>
        </p:txBody>
      </p:sp>
      <p:sp>
        <p:nvSpPr>
          <p:cNvPr id="18" name="Rectangle : coins arrondis 10">
            <a:extLst>
              <a:ext uri="{FF2B5EF4-FFF2-40B4-BE49-F238E27FC236}">
                <a16:creationId xmlns:a16="http://schemas.microsoft.com/office/drawing/2014/main" id="{5E5434FE-BA06-D16E-C827-CCE567096B7F}"/>
              </a:ext>
            </a:extLst>
          </p:cNvPr>
          <p:cNvSpPr/>
          <p:nvPr>
            <p:custDataLst>
              <p:tags r:id="rId11"/>
            </p:custDataLst>
          </p:nvPr>
        </p:nvSpPr>
        <p:spPr>
          <a:xfrm>
            <a:off x="10456572" y="3023372"/>
            <a:ext cx="1103151" cy="662057"/>
          </a:xfrm>
          <a:prstGeom prst="roundRect">
            <a:avLst>
              <a:gd name="adj" fmla="val 214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bg1"/>
              </a:solidFill>
            </a:endParaRPr>
          </a:p>
        </p:txBody>
      </p:sp>
      <p:sp>
        <p:nvSpPr>
          <p:cNvPr id="19" name="Rectangle 18">
            <a:extLst>
              <a:ext uri="{FF2B5EF4-FFF2-40B4-BE49-F238E27FC236}">
                <a16:creationId xmlns:a16="http://schemas.microsoft.com/office/drawing/2014/main" id="{A1C0DD1F-5F6B-7C2E-44E1-54FFCFA69887}"/>
              </a:ext>
            </a:extLst>
          </p:cNvPr>
          <p:cNvSpPr/>
          <p:nvPr>
            <p:custDataLst>
              <p:tags r:id="rId12"/>
            </p:custDataLst>
          </p:nvPr>
        </p:nvSpPr>
        <p:spPr>
          <a:xfrm>
            <a:off x="9944887" y="2421837"/>
            <a:ext cx="1986267" cy="3308197"/>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359E8331-8237-E81A-E884-3EF06D51DA69}"/>
              </a:ext>
            </a:extLst>
          </p:cNvPr>
          <p:cNvSpPr txBox="1"/>
          <p:nvPr>
            <p:custDataLst>
              <p:tags r:id="rId13"/>
            </p:custDataLst>
          </p:nvPr>
        </p:nvSpPr>
        <p:spPr>
          <a:xfrm>
            <a:off x="10005572" y="2491905"/>
            <a:ext cx="1490608" cy="430887"/>
          </a:xfrm>
          <a:prstGeom prst="rect">
            <a:avLst/>
          </a:prstGeom>
          <a:noFill/>
        </p:spPr>
        <p:txBody>
          <a:bodyPr wrap="square" rtlCol="0">
            <a:spAutoFit/>
          </a:bodyPr>
          <a:lstStyle/>
          <a:p>
            <a:r>
              <a:rPr lang="fr-FR" sz="1100"/>
              <a:t>Applications non impactées</a:t>
            </a:r>
          </a:p>
        </p:txBody>
      </p:sp>
      <p:sp>
        <p:nvSpPr>
          <p:cNvPr id="21" name="ZoneTexte 20">
            <a:extLst>
              <a:ext uri="{FF2B5EF4-FFF2-40B4-BE49-F238E27FC236}">
                <a16:creationId xmlns:a16="http://schemas.microsoft.com/office/drawing/2014/main" id="{64E9A662-66C9-7BC0-8961-BCD3171E261D}"/>
              </a:ext>
            </a:extLst>
          </p:cNvPr>
          <p:cNvSpPr txBox="1"/>
          <p:nvPr>
            <p:custDataLst>
              <p:tags r:id="rId14"/>
            </p:custDataLst>
          </p:nvPr>
        </p:nvSpPr>
        <p:spPr>
          <a:xfrm>
            <a:off x="957099" y="4332822"/>
            <a:ext cx="4907835" cy="261610"/>
          </a:xfrm>
          <a:prstGeom prst="rect">
            <a:avLst/>
          </a:prstGeom>
          <a:noFill/>
        </p:spPr>
        <p:txBody>
          <a:bodyPr wrap="square" rtlCol="0">
            <a:spAutoFit/>
          </a:bodyPr>
          <a:lstStyle/>
          <a:p>
            <a:r>
              <a:rPr lang="en-US" sz="1100" b="1"/>
              <a:t>Impact </a:t>
            </a:r>
            <a:r>
              <a:rPr lang="en-US" sz="1100" b="1" err="1"/>
              <a:t>limité</a:t>
            </a:r>
            <a:endParaRPr lang="en-US" sz="1100" b="1"/>
          </a:p>
        </p:txBody>
      </p:sp>
      <p:sp>
        <p:nvSpPr>
          <p:cNvPr id="22" name="Rectangle : coins arrondis 21">
            <a:extLst>
              <a:ext uri="{FF2B5EF4-FFF2-40B4-BE49-F238E27FC236}">
                <a16:creationId xmlns:a16="http://schemas.microsoft.com/office/drawing/2014/main" id="{2D9DE37C-E5BB-760C-6163-375FC2CA1D22}"/>
              </a:ext>
            </a:extLst>
          </p:cNvPr>
          <p:cNvSpPr/>
          <p:nvPr>
            <p:custDataLst>
              <p:tags r:id="rId15"/>
            </p:custDataLst>
          </p:nvPr>
        </p:nvSpPr>
        <p:spPr>
          <a:xfrm>
            <a:off x="2680332" y="5206841"/>
            <a:ext cx="1200840" cy="538588"/>
          </a:xfrm>
          <a:prstGeom prst="roundRect">
            <a:avLst/>
          </a:prstGeom>
          <a:solidFill>
            <a:schemeClr val="accent2">
              <a:lumMod val="40000"/>
              <a:lumOff val="60000"/>
            </a:schemeClr>
          </a:solidFill>
          <a:ln w="28575">
            <a:no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endParaRPr lang="en-US" sz="1100">
              <a:solidFill>
                <a:schemeClr val="tx1"/>
              </a:solidFill>
            </a:endParaRPr>
          </a:p>
        </p:txBody>
      </p:sp>
      <p:sp>
        <p:nvSpPr>
          <p:cNvPr id="23" name="Rectangle : coins arrondis 10">
            <a:extLst>
              <a:ext uri="{FF2B5EF4-FFF2-40B4-BE49-F238E27FC236}">
                <a16:creationId xmlns:a16="http://schemas.microsoft.com/office/drawing/2014/main" id="{B083913F-6A03-EAC5-B991-CEBD281250C8}"/>
              </a:ext>
            </a:extLst>
          </p:cNvPr>
          <p:cNvSpPr/>
          <p:nvPr>
            <p:custDataLst>
              <p:tags r:id="rId16"/>
            </p:custDataLst>
          </p:nvPr>
        </p:nvSpPr>
        <p:spPr>
          <a:xfrm>
            <a:off x="1023774" y="5191447"/>
            <a:ext cx="1564021" cy="53858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bg1"/>
              </a:solidFill>
            </a:endParaRPr>
          </a:p>
        </p:txBody>
      </p:sp>
      <p:sp>
        <p:nvSpPr>
          <p:cNvPr id="24" name="Rectangle : coins arrondis 10">
            <a:extLst>
              <a:ext uri="{FF2B5EF4-FFF2-40B4-BE49-F238E27FC236}">
                <a16:creationId xmlns:a16="http://schemas.microsoft.com/office/drawing/2014/main" id="{2DC9FCCD-B849-8347-10A2-7EC59493AC22}"/>
              </a:ext>
            </a:extLst>
          </p:cNvPr>
          <p:cNvSpPr/>
          <p:nvPr>
            <p:custDataLst>
              <p:tags r:id="rId17"/>
            </p:custDataLst>
          </p:nvPr>
        </p:nvSpPr>
        <p:spPr>
          <a:xfrm>
            <a:off x="3984515" y="5191447"/>
            <a:ext cx="5566595" cy="538588"/>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50">
              <a:solidFill>
                <a:schemeClr val="tx1"/>
              </a:solidFill>
            </a:endParaRPr>
          </a:p>
        </p:txBody>
      </p:sp>
      <p:sp>
        <p:nvSpPr>
          <p:cNvPr id="25" name="Rectangle : coins arrondis 24">
            <a:extLst>
              <a:ext uri="{FF2B5EF4-FFF2-40B4-BE49-F238E27FC236}">
                <a16:creationId xmlns:a16="http://schemas.microsoft.com/office/drawing/2014/main" id="{C2C0BA66-8716-9DEB-1A56-84C688D55BE0}"/>
              </a:ext>
            </a:extLst>
          </p:cNvPr>
          <p:cNvSpPr/>
          <p:nvPr>
            <p:custDataLst>
              <p:tags r:id="rId18"/>
            </p:custDataLst>
          </p:nvPr>
        </p:nvSpPr>
        <p:spPr>
          <a:xfrm>
            <a:off x="2689857" y="5825966"/>
            <a:ext cx="1200840" cy="538588"/>
          </a:xfrm>
          <a:prstGeom prst="roundRect">
            <a:avLst/>
          </a:prstGeom>
          <a:solidFill>
            <a:schemeClr val="accent2">
              <a:lumMod val="40000"/>
              <a:lumOff val="60000"/>
            </a:schemeClr>
          </a:solidFill>
          <a:ln w="28575">
            <a:no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endParaRPr lang="en-US" sz="1100">
              <a:solidFill>
                <a:schemeClr val="tx1"/>
              </a:solidFill>
            </a:endParaRPr>
          </a:p>
        </p:txBody>
      </p:sp>
      <p:sp>
        <p:nvSpPr>
          <p:cNvPr id="26" name="Rectangle : coins arrondis 10">
            <a:extLst>
              <a:ext uri="{FF2B5EF4-FFF2-40B4-BE49-F238E27FC236}">
                <a16:creationId xmlns:a16="http://schemas.microsoft.com/office/drawing/2014/main" id="{D2702942-86AD-9754-5979-FE2E4C24DEBD}"/>
              </a:ext>
            </a:extLst>
          </p:cNvPr>
          <p:cNvSpPr/>
          <p:nvPr>
            <p:custDataLst>
              <p:tags r:id="rId19"/>
            </p:custDataLst>
          </p:nvPr>
        </p:nvSpPr>
        <p:spPr>
          <a:xfrm>
            <a:off x="1033299" y="5810572"/>
            <a:ext cx="1564021" cy="53858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bg1"/>
              </a:solidFill>
            </a:endParaRPr>
          </a:p>
        </p:txBody>
      </p:sp>
      <p:sp>
        <p:nvSpPr>
          <p:cNvPr id="27" name="Rectangle : coins arrondis 10">
            <a:extLst>
              <a:ext uri="{FF2B5EF4-FFF2-40B4-BE49-F238E27FC236}">
                <a16:creationId xmlns:a16="http://schemas.microsoft.com/office/drawing/2014/main" id="{935F3BE3-D2DD-DBE0-955C-82A51E888747}"/>
              </a:ext>
            </a:extLst>
          </p:cNvPr>
          <p:cNvSpPr/>
          <p:nvPr>
            <p:custDataLst>
              <p:tags r:id="rId20"/>
            </p:custDataLst>
          </p:nvPr>
        </p:nvSpPr>
        <p:spPr>
          <a:xfrm>
            <a:off x="3994040" y="5810572"/>
            <a:ext cx="5566595" cy="538588"/>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50">
              <a:solidFill>
                <a:schemeClr val="tx1"/>
              </a:solidFill>
            </a:endParaRPr>
          </a:p>
        </p:txBody>
      </p:sp>
      <p:sp>
        <p:nvSpPr>
          <p:cNvPr id="28" name="Rectangle : coins arrondis 10">
            <a:extLst>
              <a:ext uri="{FF2B5EF4-FFF2-40B4-BE49-F238E27FC236}">
                <a16:creationId xmlns:a16="http://schemas.microsoft.com/office/drawing/2014/main" id="{D76F1F82-CF00-D565-DA7B-189C0EEAF28C}"/>
              </a:ext>
            </a:extLst>
          </p:cNvPr>
          <p:cNvSpPr/>
          <p:nvPr>
            <p:custDataLst>
              <p:tags r:id="rId21"/>
            </p:custDataLst>
          </p:nvPr>
        </p:nvSpPr>
        <p:spPr>
          <a:xfrm>
            <a:off x="10456571" y="3877862"/>
            <a:ext cx="1103151" cy="662057"/>
          </a:xfrm>
          <a:prstGeom prst="roundRect">
            <a:avLst>
              <a:gd name="adj" fmla="val 214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bg1"/>
              </a:solidFill>
            </a:endParaRPr>
          </a:p>
        </p:txBody>
      </p:sp>
      <p:sp>
        <p:nvSpPr>
          <p:cNvPr id="29" name="Rectangle : coins arrondis 28">
            <a:extLst>
              <a:ext uri="{FF2B5EF4-FFF2-40B4-BE49-F238E27FC236}">
                <a16:creationId xmlns:a16="http://schemas.microsoft.com/office/drawing/2014/main" id="{9BFC9DA0-FDE6-242D-0796-5484994B21BC}"/>
              </a:ext>
            </a:extLst>
          </p:cNvPr>
          <p:cNvSpPr/>
          <p:nvPr>
            <p:custDataLst>
              <p:tags r:id="rId22"/>
            </p:custDataLst>
          </p:nvPr>
        </p:nvSpPr>
        <p:spPr>
          <a:xfrm>
            <a:off x="2680332" y="3075813"/>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100">
              <a:solidFill>
                <a:schemeClr val="tx1"/>
              </a:solidFill>
            </a:endParaRPr>
          </a:p>
        </p:txBody>
      </p:sp>
      <p:sp>
        <p:nvSpPr>
          <p:cNvPr id="31" name="Rectangle : coins arrondis 9">
            <a:extLst>
              <a:ext uri="{FF2B5EF4-FFF2-40B4-BE49-F238E27FC236}">
                <a16:creationId xmlns:a16="http://schemas.microsoft.com/office/drawing/2014/main" id="{34323B58-E32C-BD3D-6A46-47D14A6FA444}"/>
              </a:ext>
            </a:extLst>
          </p:cNvPr>
          <p:cNvSpPr/>
          <p:nvPr>
            <p:custDataLst>
              <p:tags r:id="rId23"/>
            </p:custDataLst>
          </p:nvPr>
        </p:nvSpPr>
        <p:spPr>
          <a:xfrm>
            <a:off x="1023774" y="3060419"/>
            <a:ext cx="1564021" cy="540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100" b="1">
              <a:solidFill>
                <a:schemeClr val="bg1"/>
              </a:solidFill>
            </a:endParaRPr>
          </a:p>
        </p:txBody>
      </p:sp>
      <p:sp>
        <p:nvSpPr>
          <p:cNvPr id="33" name="Rectangle : coins arrondis 9">
            <a:extLst>
              <a:ext uri="{FF2B5EF4-FFF2-40B4-BE49-F238E27FC236}">
                <a16:creationId xmlns:a16="http://schemas.microsoft.com/office/drawing/2014/main" id="{A5D97B2B-513F-91D6-6868-813599E468A5}"/>
              </a:ext>
            </a:extLst>
          </p:cNvPr>
          <p:cNvSpPr/>
          <p:nvPr>
            <p:custDataLst>
              <p:tags r:id="rId24"/>
            </p:custDataLst>
          </p:nvPr>
        </p:nvSpPr>
        <p:spPr>
          <a:xfrm>
            <a:off x="3974989" y="3039885"/>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50">
              <a:solidFill>
                <a:schemeClr val="tx1"/>
              </a:solidFill>
            </a:endParaRPr>
          </a:p>
        </p:txBody>
      </p:sp>
      <p:sp>
        <p:nvSpPr>
          <p:cNvPr id="34" name="Rectangle : coins arrondis 33">
            <a:extLst>
              <a:ext uri="{FF2B5EF4-FFF2-40B4-BE49-F238E27FC236}">
                <a16:creationId xmlns:a16="http://schemas.microsoft.com/office/drawing/2014/main" id="{50956310-07E1-0AC9-E27C-F0ED9F350C7D}"/>
              </a:ext>
            </a:extLst>
          </p:cNvPr>
          <p:cNvSpPr/>
          <p:nvPr>
            <p:custDataLst>
              <p:tags r:id="rId25"/>
            </p:custDataLst>
          </p:nvPr>
        </p:nvSpPr>
        <p:spPr>
          <a:xfrm>
            <a:off x="2689857" y="3721871"/>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100">
              <a:solidFill>
                <a:schemeClr val="tx1"/>
              </a:solidFill>
            </a:endParaRPr>
          </a:p>
        </p:txBody>
      </p:sp>
      <p:sp>
        <p:nvSpPr>
          <p:cNvPr id="35" name="Rectangle : coins arrondis 9">
            <a:extLst>
              <a:ext uri="{FF2B5EF4-FFF2-40B4-BE49-F238E27FC236}">
                <a16:creationId xmlns:a16="http://schemas.microsoft.com/office/drawing/2014/main" id="{38886622-2D54-46C3-5B7A-DAB487527A8F}"/>
              </a:ext>
            </a:extLst>
          </p:cNvPr>
          <p:cNvSpPr/>
          <p:nvPr>
            <p:custDataLst>
              <p:tags r:id="rId26"/>
            </p:custDataLst>
          </p:nvPr>
        </p:nvSpPr>
        <p:spPr>
          <a:xfrm>
            <a:off x="1033299" y="3706477"/>
            <a:ext cx="1564021" cy="540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100" b="1">
              <a:solidFill>
                <a:schemeClr val="bg1"/>
              </a:solidFill>
            </a:endParaRPr>
          </a:p>
        </p:txBody>
      </p:sp>
      <p:sp>
        <p:nvSpPr>
          <p:cNvPr id="36" name="Rectangle : coins arrondis 9">
            <a:extLst>
              <a:ext uri="{FF2B5EF4-FFF2-40B4-BE49-F238E27FC236}">
                <a16:creationId xmlns:a16="http://schemas.microsoft.com/office/drawing/2014/main" id="{7275F30D-9090-F72E-694A-A930A74158AD}"/>
              </a:ext>
            </a:extLst>
          </p:cNvPr>
          <p:cNvSpPr/>
          <p:nvPr>
            <p:custDataLst>
              <p:tags r:id="rId27"/>
            </p:custDataLst>
          </p:nvPr>
        </p:nvSpPr>
        <p:spPr>
          <a:xfrm>
            <a:off x="3984514" y="3685943"/>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50">
              <a:solidFill>
                <a:schemeClr val="tx1"/>
              </a:solidFill>
            </a:endParaRPr>
          </a:p>
        </p:txBody>
      </p:sp>
      <p:sp>
        <p:nvSpPr>
          <p:cNvPr id="37" name="Rectangle : coins arrondis 10">
            <a:extLst>
              <a:ext uri="{FF2B5EF4-FFF2-40B4-BE49-F238E27FC236}">
                <a16:creationId xmlns:a16="http://schemas.microsoft.com/office/drawing/2014/main" id="{B2BC3A90-0ED4-6808-8311-2C98CC653062}"/>
              </a:ext>
            </a:extLst>
          </p:cNvPr>
          <p:cNvSpPr/>
          <p:nvPr>
            <p:custDataLst>
              <p:tags r:id="rId28"/>
            </p:custDataLst>
          </p:nvPr>
        </p:nvSpPr>
        <p:spPr>
          <a:xfrm>
            <a:off x="10456571" y="4732352"/>
            <a:ext cx="1103151" cy="662057"/>
          </a:xfrm>
          <a:prstGeom prst="roundRect">
            <a:avLst>
              <a:gd name="adj" fmla="val 214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bg1"/>
              </a:solidFill>
            </a:endParaRPr>
          </a:p>
        </p:txBody>
      </p:sp>
      <p:sp>
        <p:nvSpPr>
          <p:cNvPr id="38" name="Rectangle à coins arrondis 10">
            <a:extLst>
              <a:ext uri="{FF2B5EF4-FFF2-40B4-BE49-F238E27FC236}">
                <a16:creationId xmlns:a16="http://schemas.microsoft.com/office/drawing/2014/main" id="{56B24473-96A1-4A3B-301F-5106C3EEDABD}"/>
              </a:ext>
            </a:extLst>
          </p:cNvPr>
          <p:cNvSpPr/>
          <p:nvPr>
            <p:custDataLst>
              <p:tags r:id="rId29"/>
            </p:custDataLst>
          </p:nvPr>
        </p:nvSpPr>
        <p:spPr>
          <a:xfrm flipH="1">
            <a:off x="3112919" y="3183582"/>
            <a:ext cx="1630323" cy="578882"/>
          </a:xfrm>
          <a:prstGeom prst="wedgeRoundRectCallout">
            <a:avLst>
              <a:gd name="adj1" fmla="val 37647"/>
              <a:gd name="adj2" fmla="val 82666"/>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Préciser les objets métiers impactés ou manipulés dans le cadre du projet</a:t>
            </a:r>
          </a:p>
        </p:txBody>
      </p:sp>
      <p:sp>
        <p:nvSpPr>
          <p:cNvPr id="39" name="Rectangle à coins arrondis 10">
            <a:extLst>
              <a:ext uri="{FF2B5EF4-FFF2-40B4-BE49-F238E27FC236}">
                <a16:creationId xmlns:a16="http://schemas.microsoft.com/office/drawing/2014/main" id="{D548BB8D-6692-1C64-E1F9-DFF35DF79B54}"/>
              </a:ext>
            </a:extLst>
          </p:cNvPr>
          <p:cNvSpPr/>
          <p:nvPr>
            <p:custDataLst>
              <p:tags r:id="rId30"/>
            </p:custDataLst>
          </p:nvPr>
        </p:nvSpPr>
        <p:spPr>
          <a:xfrm flipH="1">
            <a:off x="9770548" y="1838422"/>
            <a:ext cx="2316346" cy="578882"/>
          </a:xfrm>
          <a:prstGeom prst="wedgeRoundRectCallout">
            <a:avLst>
              <a:gd name="adj1" fmla="val 28650"/>
              <a:gd name="adj2" fmla="val 64182"/>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Identifier les applications du processus du périmètre concerné qui ne sont pas impactées par le projet</a:t>
            </a:r>
          </a:p>
        </p:txBody>
      </p:sp>
      <p:sp>
        <p:nvSpPr>
          <p:cNvPr id="40" name="Rectangle à coins arrondis 10">
            <a:extLst>
              <a:ext uri="{FF2B5EF4-FFF2-40B4-BE49-F238E27FC236}">
                <a16:creationId xmlns:a16="http://schemas.microsoft.com/office/drawing/2014/main" id="{D8228959-A041-E9E5-FF10-B380AE9B3BFA}"/>
              </a:ext>
            </a:extLst>
          </p:cNvPr>
          <p:cNvSpPr/>
          <p:nvPr>
            <p:custDataLst>
              <p:tags r:id="rId31"/>
            </p:custDataLst>
          </p:nvPr>
        </p:nvSpPr>
        <p:spPr>
          <a:xfrm flipH="1">
            <a:off x="259135" y="4892481"/>
            <a:ext cx="1630323" cy="578882"/>
          </a:xfrm>
          <a:prstGeom prst="wedgeRoundRectCallout">
            <a:avLst>
              <a:gd name="adj1" fmla="val 5280"/>
              <a:gd name="adj2" fmla="val -106941"/>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Zone dédiée aux applications du processus qui sont légèrement impactées</a:t>
            </a:r>
          </a:p>
        </p:txBody>
      </p:sp>
      <p:sp>
        <p:nvSpPr>
          <p:cNvPr id="41" name="Rectangle à coins arrondis 10">
            <a:extLst>
              <a:ext uri="{FF2B5EF4-FFF2-40B4-BE49-F238E27FC236}">
                <a16:creationId xmlns:a16="http://schemas.microsoft.com/office/drawing/2014/main" id="{783BF653-4459-2028-489B-B72623413473}"/>
              </a:ext>
            </a:extLst>
          </p:cNvPr>
          <p:cNvSpPr/>
          <p:nvPr>
            <p:custDataLst>
              <p:tags r:id="rId32"/>
            </p:custDataLst>
          </p:nvPr>
        </p:nvSpPr>
        <p:spPr>
          <a:xfrm flipH="1">
            <a:off x="164495" y="2621503"/>
            <a:ext cx="1630323" cy="408623"/>
          </a:xfrm>
          <a:prstGeom prst="wedgeRoundRectCallout">
            <a:avLst>
              <a:gd name="adj1" fmla="val -12481"/>
              <a:gd name="adj2" fmla="val -123395"/>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Zone dédiée aux applications impactées</a:t>
            </a:r>
          </a:p>
        </p:txBody>
      </p:sp>
      <p:sp>
        <p:nvSpPr>
          <p:cNvPr id="42" name="Rectangle à coins arrondis 10">
            <a:extLst>
              <a:ext uri="{FF2B5EF4-FFF2-40B4-BE49-F238E27FC236}">
                <a16:creationId xmlns:a16="http://schemas.microsoft.com/office/drawing/2014/main" id="{60DF8614-4609-5571-7999-0E8E30B829EE}"/>
              </a:ext>
            </a:extLst>
          </p:cNvPr>
          <p:cNvSpPr/>
          <p:nvPr>
            <p:custDataLst>
              <p:tags r:id="rId33"/>
            </p:custDataLst>
          </p:nvPr>
        </p:nvSpPr>
        <p:spPr>
          <a:xfrm flipH="1">
            <a:off x="828137" y="3183582"/>
            <a:ext cx="2146671" cy="578882"/>
          </a:xfrm>
          <a:prstGeom prst="wedgeRoundRectCallout">
            <a:avLst>
              <a:gd name="adj1" fmla="val 9407"/>
              <a:gd name="adj2" fmla="val 95043"/>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Préciser le nom des applications concernées par le projet (une application par encadré)</a:t>
            </a:r>
          </a:p>
        </p:txBody>
      </p:sp>
      <p:sp>
        <p:nvSpPr>
          <p:cNvPr id="43" name="Rectangle à coins arrondis 10">
            <a:extLst>
              <a:ext uri="{FF2B5EF4-FFF2-40B4-BE49-F238E27FC236}">
                <a16:creationId xmlns:a16="http://schemas.microsoft.com/office/drawing/2014/main" id="{B545FD91-41E1-D853-A8E4-8F28694EF033}"/>
              </a:ext>
            </a:extLst>
          </p:cNvPr>
          <p:cNvSpPr/>
          <p:nvPr>
            <p:custDataLst>
              <p:tags r:id="rId34"/>
            </p:custDataLst>
          </p:nvPr>
        </p:nvSpPr>
        <p:spPr>
          <a:xfrm flipH="1">
            <a:off x="4802697" y="3183582"/>
            <a:ext cx="1630323" cy="578882"/>
          </a:xfrm>
          <a:prstGeom prst="wedgeRoundRectCallout">
            <a:avLst>
              <a:gd name="adj1" fmla="val 42087"/>
              <a:gd name="adj2" fmla="val 85572"/>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Détailler les fonctions métiers impactées dans le cadre du projet</a:t>
            </a:r>
          </a:p>
        </p:txBody>
      </p:sp>
    </p:spTree>
    <p:extLst>
      <p:ext uri="{BB962C8B-B14F-4D97-AF65-F5344CB8AC3E}">
        <p14:creationId xmlns:p14="http://schemas.microsoft.com/office/powerpoint/2010/main" val="417998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10</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sz="3600"/>
              <a:t>Analyse des impacts applicatifs</a:t>
            </a:r>
            <a:endParaRPr lang="fr-F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endParaRPr lang="fr-FR"/>
          </a:p>
        </p:txBody>
      </p:sp>
      <p:sp>
        <p:nvSpPr>
          <p:cNvPr id="30" name="Espace réservé du texte 4">
            <a:extLst>
              <a:ext uri="{FF2B5EF4-FFF2-40B4-BE49-F238E27FC236}">
                <a16:creationId xmlns:a16="http://schemas.microsoft.com/office/drawing/2014/main" id="{710A6BDB-7C2A-BF15-8F0B-D9B55A680BE9}"/>
              </a:ext>
            </a:extLst>
          </p:cNvPr>
          <p:cNvSpPr txBox="1">
            <a:spLocks/>
          </p:cNvSpPr>
          <p:nvPr>
            <p:custDataLst>
              <p:tags r:id="rId1"/>
            </p:custDataLst>
          </p:nvPr>
        </p:nvSpPr>
        <p:spPr>
          <a:xfrm>
            <a:off x="823911" y="1476375"/>
            <a:ext cx="11151847" cy="430887"/>
          </a:xfrm>
          <a:prstGeom prst="rect">
            <a:avLst/>
          </a:prstGeom>
        </p:spPr>
        <p:txBody>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i="1"/>
              <a:t>Liste des applications, objets métiers et fonctions/sous-fonctions impactées et manipulées dans le cadre du projet</a:t>
            </a:r>
          </a:p>
        </p:txBody>
      </p:sp>
      <p:sp>
        <p:nvSpPr>
          <p:cNvPr id="108" name="Rectangle 107">
            <a:extLst>
              <a:ext uri="{FF2B5EF4-FFF2-40B4-BE49-F238E27FC236}">
                <a16:creationId xmlns:a16="http://schemas.microsoft.com/office/drawing/2014/main" id="{1411FB63-670E-0A13-02EC-A2B34AED7475}"/>
              </a:ext>
            </a:extLst>
          </p:cNvPr>
          <p:cNvSpPr/>
          <p:nvPr/>
        </p:nvSpPr>
        <p:spPr>
          <a:xfrm>
            <a:off x="778906" y="2977009"/>
            <a:ext cx="11414073" cy="2486094"/>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9" name="Rectangle 108">
            <a:extLst>
              <a:ext uri="{FF2B5EF4-FFF2-40B4-BE49-F238E27FC236}">
                <a16:creationId xmlns:a16="http://schemas.microsoft.com/office/drawing/2014/main" id="{F1469674-3FC0-2DDC-FFBB-8D3E83CA2106}"/>
              </a:ext>
            </a:extLst>
          </p:cNvPr>
          <p:cNvSpPr/>
          <p:nvPr/>
        </p:nvSpPr>
        <p:spPr>
          <a:xfrm>
            <a:off x="791664" y="3679949"/>
            <a:ext cx="2222233" cy="706629"/>
          </a:xfrm>
          <a:prstGeom prst="rect">
            <a:avLst/>
          </a:prstGeom>
          <a:noFill/>
          <a:ln w="15875" cap="flat" cmpd="sng" algn="ctr">
            <a:solidFill>
              <a:srgbClr val="C8651E">
                <a:lumMod val="60000"/>
                <a:lumOff val="4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10" name="ZoneTexte 109">
            <a:extLst>
              <a:ext uri="{FF2B5EF4-FFF2-40B4-BE49-F238E27FC236}">
                <a16:creationId xmlns:a16="http://schemas.microsoft.com/office/drawing/2014/main" id="{2C2D07C2-B4D7-F599-3AF5-DA3E51FD84F1}"/>
              </a:ext>
            </a:extLst>
          </p:cNvPr>
          <p:cNvSpPr txBox="1"/>
          <p:nvPr/>
        </p:nvSpPr>
        <p:spPr>
          <a:xfrm>
            <a:off x="9525" y="5537120"/>
            <a:ext cx="797193" cy="507831"/>
          </a:xfrm>
          <a:prstGeom prst="rect">
            <a:avLst/>
          </a:prstGeom>
          <a:solidFill>
            <a:srgbClr val="FFFFFF"/>
          </a:solidFill>
        </p:spPr>
        <p:txBody>
          <a:bodyPr wrap="square" lIns="0" r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a:ln>
                  <a:noFill/>
                </a:ln>
                <a:solidFill>
                  <a:srgbClr val="000000"/>
                </a:solidFill>
                <a:effectLst/>
                <a:uLnTx/>
                <a:uFillTx/>
                <a:latin typeface="Calibri" panose="020F0502020204030204"/>
              </a:rPr>
              <a:t>Coûts d’implémentation</a:t>
            </a:r>
          </a:p>
        </p:txBody>
      </p:sp>
      <p:sp>
        <p:nvSpPr>
          <p:cNvPr id="111" name="Rectangle 110">
            <a:extLst>
              <a:ext uri="{FF2B5EF4-FFF2-40B4-BE49-F238E27FC236}">
                <a16:creationId xmlns:a16="http://schemas.microsoft.com/office/drawing/2014/main" id="{A2CAF84E-2FF4-38FE-9F47-F879A8C31C40}"/>
              </a:ext>
            </a:extLst>
          </p:cNvPr>
          <p:cNvSpPr/>
          <p:nvPr/>
        </p:nvSpPr>
        <p:spPr>
          <a:xfrm>
            <a:off x="778906" y="5928664"/>
            <a:ext cx="11414073" cy="505965"/>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12" name="Rectangle 111">
            <a:extLst>
              <a:ext uri="{FF2B5EF4-FFF2-40B4-BE49-F238E27FC236}">
                <a16:creationId xmlns:a16="http://schemas.microsoft.com/office/drawing/2014/main" id="{D268FD4D-94D1-B5F8-DF37-561FF77B735F}"/>
              </a:ext>
            </a:extLst>
          </p:cNvPr>
          <p:cNvSpPr/>
          <p:nvPr/>
        </p:nvSpPr>
        <p:spPr>
          <a:xfrm>
            <a:off x="778906" y="5515536"/>
            <a:ext cx="11414073" cy="36732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13" name="Rectangle : coins arrondis 112">
            <a:extLst>
              <a:ext uri="{FF2B5EF4-FFF2-40B4-BE49-F238E27FC236}">
                <a16:creationId xmlns:a16="http://schemas.microsoft.com/office/drawing/2014/main" id="{62AE9092-7A7E-4396-0BC4-556D5AE1DB12}"/>
              </a:ext>
            </a:extLst>
          </p:cNvPr>
          <p:cNvSpPr/>
          <p:nvPr/>
        </p:nvSpPr>
        <p:spPr>
          <a:xfrm>
            <a:off x="779041" y="6482139"/>
            <a:ext cx="1368000" cy="358307"/>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a:solidFill>
                  <a:schemeClr val="tx1"/>
                </a:solidFill>
              </a:rPr>
              <a:t>Sous-fonction existante</a:t>
            </a:r>
          </a:p>
        </p:txBody>
      </p:sp>
      <p:sp>
        <p:nvSpPr>
          <p:cNvPr id="114" name="Rectangle : coins arrondis 113">
            <a:extLst>
              <a:ext uri="{FF2B5EF4-FFF2-40B4-BE49-F238E27FC236}">
                <a16:creationId xmlns:a16="http://schemas.microsoft.com/office/drawing/2014/main" id="{62A59621-7FE6-AF95-A9C2-DA72F46F8967}"/>
              </a:ext>
            </a:extLst>
          </p:cNvPr>
          <p:cNvSpPr/>
          <p:nvPr/>
        </p:nvSpPr>
        <p:spPr>
          <a:xfrm>
            <a:off x="2282233" y="6481543"/>
            <a:ext cx="1368000" cy="359498"/>
          </a:xfrm>
          <a:prstGeom prst="roundRect">
            <a:avLst/>
          </a:prstGeom>
          <a:solidFill>
            <a:schemeClr val="accent5">
              <a:lumMod val="40000"/>
              <a:lumOff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900"/>
              <a:t>Sous-fonctions cible</a:t>
            </a:r>
          </a:p>
        </p:txBody>
      </p:sp>
      <p:sp>
        <p:nvSpPr>
          <p:cNvPr id="115" name="Rectangle : coins arrondis 114">
            <a:extLst>
              <a:ext uri="{FF2B5EF4-FFF2-40B4-BE49-F238E27FC236}">
                <a16:creationId xmlns:a16="http://schemas.microsoft.com/office/drawing/2014/main" id="{0DE73D16-8443-C8B8-743C-129E6D5CF7D8}"/>
              </a:ext>
            </a:extLst>
          </p:cNvPr>
          <p:cNvSpPr/>
          <p:nvPr/>
        </p:nvSpPr>
        <p:spPr>
          <a:xfrm>
            <a:off x="855886" y="1921520"/>
            <a:ext cx="2125578" cy="46557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chemeClr val="bg1"/>
                </a:solidFill>
              </a:rPr>
              <a:t>Application #1</a:t>
            </a:r>
          </a:p>
        </p:txBody>
      </p:sp>
      <p:sp>
        <p:nvSpPr>
          <p:cNvPr id="116" name="Rectangle : coins arrondis 115">
            <a:extLst>
              <a:ext uri="{FF2B5EF4-FFF2-40B4-BE49-F238E27FC236}">
                <a16:creationId xmlns:a16="http://schemas.microsoft.com/office/drawing/2014/main" id="{01B3F2F4-2614-2CA8-D32E-30BB990F9061}"/>
              </a:ext>
            </a:extLst>
          </p:cNvPr>
          <p:cNvSpPr/>
          <p:nvPr/>
        </p:nvSpPr>
        <p:spPr>
          <a:xfrm>
            <a:off x="855886" y="2449818"/>
            <a:ext cx="2124000" cy="465573"/>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fr-FR" sz="1100"/>
          </a:p>
        </p:txBody>
      </p:sp>
      <p:sp>
        <p:nvSpPr>
          <p:cNvPr id="117" name="ZoneTexte 116">
            <a:extLst>
              <a:ext uri="{FF2B5EF4-FFF2-40B4-BE49-F238E27FC236}">
                <a16:creationId xmlns:a16="http://schemas.microsoft.com/office/drawing/2014/main" id="{2099746F-7969-6CEB-3EEA-01088BB6D76E}"/>
              </a:ext>
            </a:extLst>
          </p:cNvPr>
          <p:cNvSpPr txBox="1"/>
          <p:nvPr/>
        </p:nvSpPr>
        <p:spPr>
          <a:xfrm>
            <a:off x="16027" y="2046791"/>
            <a:ext cx="784189" cy="230832"/>
          </a:xfrm>
          <a:prstGeom prst="rect">
            <a:avLst/>
          </a:prstGeom>
          <a:solidFill>
            <a:srgbClr val="FFFFFF"/>
          </a:solid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a:ln>
                  <a:noFill/>
                </a:ln>
                <a:solidFill>
                  <a:srgbClr val="C8651E">
                    <a:lumMod val="60000"/>
                    <a:lumOff val="40000"/>
                  </a:srgbClr>
                </a:solidFill>
                <a:effectLst/>
                <a:uLnTx/>
                <a:uFillTx/>
                <a:latin typeface="Calibri" panose="020F0502020204030204"/>
              </a:rPr>
              <a:t>Applications</a:t>
            </a:r>
          </a:p>
        </p:txBody>
      </p:sp>
      <p:sp>
        <p:nvSpPr>
          <p:cNvPr id="118" name="ZoneTexte 117">
            <a:extLst>
              <a:ext uri="{FF2B5EF4-FFF2-40B4-BE49-F238E27FC236}">
                <a16:creationId xmlns:a16="http://schemas.microsoft.com/office/drawing/2014/main" id="{4CA5CD07-A5CF-8237-0F1A-1E266D9D6782}"/>
              </a:ext>
            </a:extLst>
          </p:cNvPr>
          <p:cNvSpPr txBox="1"/>
          <p:nvPr/>
        </p:nvSpPr>
        <p:spPr>
          <a:xfrm>
            <a:off x="82551" y="2521064"/>
            <a:ext cx="651140" cy="369332"/>
          </a:xfrm>
          <a:prstGeom prst="rect">
            <a:avLst/>
          </a:prstGeom>
          <a:solidFill>
            <a:srgbClr val="FFFFFF"/>
          </a:solid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a:ln>
                  <a:noFill/>
                </a:ln>
                <a:solidFill>
                  <a:srgbClr val="0D3A50">
                    <a:lumMod val="75000"/>
                    <a:lumOff val="25000"/>
                  </a:srgbClr>
                </a:solidFill>
                <a:effectLst/>
                <a:uLnTx/>
                <a:uFillTx/>
                <a:latin typeface="Calibri" panose="020F0502020204030204"/>
              </a:rPr>
              <a:t>Fonction</a:t>
            </a:r>
            <a:r>
              <a:rPr lang="fr-FR" sz="900" b="1" kern="0">
                <a:solidFill>
                  <a:srgbClr val="0D3A50">
                    <a:lumMod val="75000"/>
                    <a:lumOff val="25000"/>
                  </a:srgbClr>
                </a:solidFill>
                <a:latin typeface="Calibri" panose="020F0502020204030204"/>
              </a:rPr>
              <a:t>s</a:t>
            </a:r>
            <a:br>
              <a:rPr kumimoji="0" lang="fr-FR" sz="900" b="1" i="0" u="none" strike="noStrike" kern="0" cap="none" spc="0" normalizeH="0" baseline="0" noProof="0">
                <a:ln>
                  <a:noFill/>
                </a:ln>
                <a:solidFill>
                  <a:srgbClr val="0D3A50">
                    <a:lumMod val="75000"/>
                    <a:lumOff val="25000"/>
                  </a:srgbClr>
                </a:solidFill>
                <a:effectLst/>
                <a:uLnTx/>
                <a:uFillTx/>
                <a:latin typeface="Calibri" panose="020F0502020204030204"/>
              </a:rPr>
            </a:br>
            <a:r>
              <a:rPr kumimoji="0" lang="fr-FR" sz="900" b="1" i="0" u="none" strike="noStrike" kern="0" cap="none" spc="0" normalizeH="0" baseline="0" noProof="0">
                <a:ln>
                  <a:noFill/>
                </a:ln>
                <a:solidFill>
                  <a:srgbClr val="0D3A50">
                    <a:lumMod val="75000"/>
                    <a:lumOff val="25000"/>
                  </a:srgbClr>
                </a:solidFill>
                <a:effectLst/>
                <a:uLnTx/>
                <a:uFillTx/>
                <a:latin typeface="Calibri" panose="020F0502020204030204"/>
              </a:rPr>
              <a:t>impactée</a:t>
            </a:r>
          </a:p>
        </p:txBody>
      </p:sp>
      <p:pic>
        <p:nvPicPr>
          <p:cNvPr id="119" name="Picture 4" descr="Image result for icone prix euro">
            <a:extLst>
              <a:ext uri="{FF2B5EF4-FFF2-40B4-BE49-F238E27FC236}">
                <a16:creationId xmlns:a16="http://schemas.microsoft.com/office/drawing/2014/main" id="{F3323412-A2CC-6B91-A1CD-40FBFB9DAAD9}"/>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1742692" y="5546414"/>
            <a:ext cx="252000" cy="252000"/>
          </a:xfrm>
          <a:prstGeom prst="rect">
            <a:avLst/>
          </a:prstGeom>
          <a:noFill/>
          <a:extLst>
            <a:ext uri="{909E8E84-426E-40DD-AFC4-6F175D3DCCD1}">
              <a14:hiddenFill xmlns:a14="http://schemas.microsoft.com/office/drawing/2010/main">
                <a:solidFill>
                  <a:srgbClr val="FFFFFF"/>
                </a:solidFill>
              </a14:hiddenFill>
            </a:ext>
          </a:extLst>
        </p:spPr>
      </p:pic>
      <p:sp>
        <p:nvSpPr>
          <p:cNvPr id="120" name="ZoneTexte 119">
            <a:extLst>
              <a:ext uri="{FF2B5EF4-FFF2-40B4-BE49-F238E27FC236}">
                <a16:creationId xmlns:a16="http://schemas.microsoft.com/office/drawing/2014/main" id="{6001041B-287C-E014-EDF8-67AB8DDE66CB}"/>
              </a:ext>
            </a:extLst>
          </p:cNvPr>
          <p:cNvSpPr txBox="1"/>
          <p:nvPr/>
        </p:nvSpPr>
        <p:spPr>
          <a:xfrm>
            <a:off x="130641" y="6066386"/>
            <a:ext cx="554960" cy="230832"/>
          </a:xfrm>
          <a:prstGeom prst="rect">
            <a:avLst/>
          </a:prstGeom>
          <a:solidFill>
            <a:srgbClr val="FFFFFF"/>
          </a:solid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a:ln>
                  <a:noFill/>
                </a:ln>
                <a:solidFill>
                  <a:srgbClr val="000000"/>
                </a:solidFill>
                <a:effectLst/>
                <a:uLnTx/>
                <a:uFillTx/>
                <a:latin typeface="Calibri" panose="020F0502020204030204"/>
              </a:rPr>
              <a:t>Risques</a:t>
            </a:r>
          </a:p>
        </p:txBody>
      </p:sp>
      <p:cxnSp>
        <p:nvCxnSpPr>
          <p:cNvPr id="121" name="Connecteur droit 120">
            <a:extLst>
              <a:ext uri="{FF2B5EF4-FFF2-40B4-BE49-F238E27FC236}">
                <a16:creationId xmlns:a16="http://schemas.microsoft.com/office/drawing/2014/main" id="{033F323B-EDAD-E70C-FA05-BEE25CF3B6BC}"/>
              </a:ext>
            </a:extLst>
          </p:cNvPr>
          <p:cNvCxnSpPr>
            <a:cxnSpLocks/>
          </p:cNvCxnSpPr>
          <p:nvPr/>
        </p:nvCxnSpPr>
        <p:spPr>
          <a:xfrm>
            <a:off x="3062101" y="1992987"/>
            <a:ext cx="0" cy="4428000"/>
          </a:xfrm>
          <a:prstGeom prst="line">
            <a:avLst/>
          </a:prstGeom>
          <a:noFill/>
          <a:ln w="12700" cap="flat" cmpd="sng" algn="ctr">
            <a:solidFill>
              <a:srgbClr val="FFFFFF">
                <a:lumMod val="50000"/>
              </a:srgbClr>
            </a:solidFill>
            <a:prstDash val="dash"/>
            <a:miter lim="800000"/>
          </a:ln>
          <a:effectLst/>
        </p:spPr>
      </p:cxnSp>
      <p:sp>
        <p:nvSpPr>
          <p:cNvPr id="122" name="ZoneTexte 121">
            <a:extLst>
              <a:ext uri="{FF2B5EF4-FFF2-40B4-BE49-F238E27FC236}">
                <a16:creationId xmlns:a16="http://schemas.microsoft.com/office/drawing/2014/main" id="{3B23972E-9212-CCF3-2376-7071DE6F76B5}"/>
              </a:ext>
            </a:extLst>
          </p:cNvPr>
          <p:cNvSpPr txBox="1"/>
          <p:nvPr/>
        </p:nvSpPr>
        <p:spPr>
          <a:xfrm>
            <a:off x="82552" y="4163156"/>
            <a:ext cx="651140" cy="369332"/>
          </a:xfrm>
          <a:prstGeom prst="rect">
            <a:avLst/>
          </a:prstGeom>
          <a:solidFill>
            <a:srgbClr val="FFFFFF"/>
          </a:solid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a:ln>
                  <a:noFill/>
                </a:ln>
                <a:solidFill>
                  <a:srgbClr val="000000"/>
                </a:solidFill>
                <a:effectLst/>
                <a:uLnTx/>
                <a:uFillTx/>
                <a:latin typeface="Calibri" panose="020F0502020204030204"/>
              </a:rPr>
              <a:t>Sous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a:ln>
                  <a:noFill/>
                </a:ln>
                <a:solidFill>
                  <a:srgbClr val="000000"/>
                </a:solidFill>
                <a:effectLst/>
                <a:uLnTx/>
                <a:uFillTx/>
                <a:latin typeface="Calibri" panose="020F0502020204030204"/>
              </a:rPr>
              <a:t>Fonctions</a:t>
            </a:r>
          </a:p>
        </p:txBody>
      </p:sp>
      <p:sp>
        <p:nvSpPr>
          <p:cNvPr id="123" name="Rectangle : coins arrondis 122">
            <a:extLst>
              <a:ext uri="{FF2B5EF4-FFF2-40B4-BE49-F238E27FC236}">
                <a16:creationId xmlns:a16="http://schemas.microsoft.com/office/drawing/2014/main" id="{C9841560-2688-7423-34A4-D567D736C049}"/>
              </a:ext>
            </a:extLst>
          </p:cNvPr>
          <p:cNvSpPr/>
          <p:nvPr/>
        </p:nvSpPr>
        <p:spPr>
          <a:xfrm>
            <a:off x="855886" y="3091746"/>
            <a:ext cx="1001028" cy="465573"/>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sp>
        <p:nvSpPr>
          <p:cNvPr id="124" name="Rectangle : coins arrondis 123">
            <a:extLst>
              <a:ext uri="{FF2B5EF4-FFF2-40B4-BE49-F238E27FC236}">
                <a16:creationId xmlns:a16="http://schemas.microsoft.com/office/drawing/2014/main" id="{F9441214-CF60-1026-2CEC-D56EC65EF113}"/>
              </a:ext>
            </a:extLst>
          </p:cNvPr>
          <p:cNvSpPr/>
          <p:nvPr/>
        </p:nvSpPr>
        <p:spPr>
          <a:xfrm>
            <a:off x="1965614" y="3091746"/>
            <a:ext cx="1001028" cy="465573"/>
          </a:xfrm>
          <a:prstGeom prst="roundRect">
            <a:avLst/>
          </a:prstGeom>
          <a:solidFill>
            <a:schemeClr val="accent5">
              <a:lumMod val="40000"/>
              <a:lumOff val="60000"/>
            </a:schemeClr>
          </a:solidFill>
          <a:ln w="12700" cap="flat" cmpd="sng" algn="ctr">
            <a:noFill/>
            <a:prstDash val="solid"/>
            <a:miter lim="800000"/>
          </a:ln>
          <a:effectLst/>
        </p:spPr>
        <p:txBody>
          <a:bodyPr lIns="36000" tIns="45720" rIns="3600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125" name="Rectangle : coins arrondis 124">
            <a:extLst>
              <a:ext uri="{FF2B5EF4-FFF2-40B4-BE49-F238E27FC236}">
                <a16:creationId xmlns:a16="http://schemas.microsoft.com/office/drawing/2014/main" id="{4E1FAAF6-7185-B17E-2C46-E4221315E018}"/>
              </a:ext>
            </a:extLst>
          </p:cNvPr>
          <p:cNvSpPr/>
          <p:nvPr/>
        </p:nvSpPr>
        <p:spPr>
          <a:xfrm>
            <a:off x="1965614" y="3789204"/>
            <a:ext cx="1001028" cy="465573"/>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cxnSp>
        <p:nvCxnSpPr>
          <p:cNvPr id="126" name="Connecteur droit 125">
            <a:extLst>
              <a:ext uri="{FF2B5EF4-FFF2-40B4-BE49-F238E27FC236}">
                <a16:creationId xmlns:a16="http://schemas.microsoft.com/office/drawing/2014/main" id="{A6AB82FB-B1FC-A9A7-62F2-001B041D673D}"/>
              </a:ext>
            </a:extLst>
          </p:cNvPr>
          <p:cNvCxnSpPr>
            <a:cxnSpLocks/>
          </p:cNvCxnSpPr>
          <p:nvPr/>
        </p:nvCxnSpPr>
        <p:spPr>
          <a:xfrm>
            <a:off x="5348953" y="1992987"/>
            <a:ext cx="0" cy="4428000"/>
          </a:xfrm>
          <a:prstGeom prst="line">
            <a:avLst/>
          </a:prstGeom>
          <a:noFill/>
          <a:ln w="12700" cap="flat" cmpd="sng" algn="ctr">
            <a:solidFill>
              <a:srgbClr val="FFFFFF">
                <a:lumMod val="50000"/>
              </a:srgbClr>
            </a:solidFill>
            <a:prstDash val="dash"/>
            <a:miter lim="800000"/>
          </a:ln>
          <a:effectLst/>
        </p:spPr>
      </p:cxnSp>
      <p:sp>
        <p:nvSpPr>
          <p:cNvPr id="127" name="ZoneTexte 126">
            <a:extLst>
              <a:ext uri="{FF2B5EF4-FFF2-40B4-BE49-F238E27FC236}">
                <a16:creationId xmlns:a16="http://schemas.microsoft.com/office/drawing/2014/main" id="{F3CCD768-39C9-6C4D-7E00-377DC0D0F7AD}"/>
              </a:ext>
            </a:extLst>
          </p:cNvPr>
          <p:cNvSpPr txBox="1"/>
          <p:nvPr/>
        </p:nvSpPr>
        <p:spPr>
          <a:xfrm>
            <a:off x="724067" y="3626525"/>
            <a:ext cx="392352" cy="216104"/>
          </a:xfrm>
          <a:prstGeom prst="rect">
            <a:avLst/>
          </a:prstGeom>
          <a:noFill/>
        </p:spPr>
        <p:txBody>
          <a:bodyPr wrap="none" rtlCol="0">
            <a:spAutoFit/>
          </a:bodyPr>
          <a:lstStyle/>
          <a:p>
            <a:r>
              <a:rPr lang="fr-FR" sz="1200">
                <a:solidFill>
                  <a:srgbClr val="000000"/>
                </a:solidFill>
                <a:latin typeface="Calibri" panose="020F0502020204030204"/>
              </a:rPr>
              <a:t>2.A</a:t>
            </a:r>
          </a:p>
        </p:txBody>
      </p:sp>
      <p:sp>
        <p:nvSpPr>
          <p:cNvPr id="128" name="Rectangle 127">
            <a:extLst>
              <a:ext uri="{FF2B5EF4-FFF2-40B4-BE49-F238E27FC236}">
                <a16:creationId xmlns:a16="http://schemas.microsoft.com/office/drawing/2014/main" id="{CED05237-199F-72BC-1C7D-D57887AF477E}"/>
              </a:ext>
            </a:extLst>
          </p:cNvPr>
          <p:cNvSpPr/>
          <p:nvPr/>
        </p:nvSpPr>
        <p:spPr>
          <a:xfrm>
            <a:off x="795975" y="4437325"/>
            <a:ext cx="2222233" cy="706629"/>
          </a:xfrm>
          <a:prstGeom prst="rect">
            <a:avLst/>
          </a:prstGeom>
          <a:noFill/>
          <a:ln w="15875" cap="flat" cmpd="sng" algn="ctr">
            <a:solidFill>
              <a:srgbClr val="C8651E">
                <a:lumMod val="75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9" name="Rectangle : coins arrondis 128">
            <a:extLst>
              <a:ext uri="{FF2B5EF4-FFF2-40B4-BE49-F238E27FC236}">
                <a16:creationId xmlns:a16="http://schemas.microsoft.com/office/drawing/2014/main" id="{C5424C5C-C513-F3BD-A8C8-5F0E5C2C9844}"/>
              </a:ext>
            </a:extLst>
          </p:cNvPr>
          <p:cNvSpPr/>
          <p:nvPr/>
        </p:nvSpPr>
        <p:spPr>
          <a:xfrm>
            <a:off x="1964036" y="4571199"/>
            <a:ext cx="1001028" cy="465573"/>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130" name="ZoneTexte 129">
            <a:extLst>
              <a:ext uri="{FF2B5EF4-FFF2-40B4-BE49-F238E27FC236}">
                <a16:creationId xmlns:a16="http://schemas.microsoft.com/office/drawing/2014/main" id="{0FCD47D4-53AB-9E55-D387-AE011B6BA549}"/>
              </a:ext>
            </a:extLst>
          </p:cNvPr>
          <p:cNvSpPr txBox="1"/>
          <p:nvPr/>
        </p:nvSpPr>
        <p:spPr>
          <a:xfrm>
            <a:off x="724196" y="4397657"/>
            <a:ext cx="385042" cy="216104"/>
          </a:xfrm>
          <a:prstGeom prst="rect">
            <a:avLst/>
          </a:prstGeom>
          <a:noFill/>
        </p:spPr>
        <p:txBody>
          <a:bodyPr wrap="none" rtlCol="0">
            <a:spAutoFit/>
          </a:bodyPr>
          <a:lstStyle/>
          <a:p>
            <a:r>
              <a:rPr lang="fr-FR" sz="1200">
                <a:solidFill>
                  <a:srgbClr val="000000"/>
                </a:solidFill>
                <a:latin typeface="Calibri" panose="020F0502020204030204"/>
              </a:rPr>
              <a:t>2.B</a:t>
            </a:r>
          </a:p>
        </p:txBody>
      </p:sp>
      <p:pic>
        <p:nvPicPr>
          <p:cNvPr id="131" name="Picture 4" descr="Image result for icone prix euro">
            <a:extLst>
              <a:ext uri="{FF2B5EF4-FFF2-40B4-BE49-F238E27FC236}">
                <a16:creationId xmlns:a16="http://schemas.microsoft.com/office/drawing/2014/main" id="{C254F7D0-EAF7-5F60-47F0-DB6F6FAEFF15}"/>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2696347" y="4175431"/>
            <a:ext cx="252000" cy="252000"/>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4" descr="Image result for icone prix euro">
            <a:extLst>
              <a:ext uri="{FF2B5EF4-FFF2-40B4-BE49-F238E27FC236}">
                <a16:creationId xmlns:a16="http://schemas.microsoft.com/office/drawing/2014/main" id="{308B8470-0CAA-9F44-31B5-B78B315EF02D}"/>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2685658" y="4866609"/>
            <a:ext cx="252000" cy="252000"/>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4" descr="Image result for icone prix euro">
            <a:extLst>
              <a:ext uri="{FF2B5EF4-FFF2-40B4-BE49-F238E27FC236}">
                <a16:creationId xmlns:a16="http://schemas.microsoft.com/office/drawing/2014/main" id="{02CFAD3B-7726-D279-BAF8-26F0CD6037C4}"/>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2346410" y="4175431"/>
            <a:ext cx="252000" cy="252000"/>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4" descr="Image result for icone prix euro">
            <a:extLst>
              <a:ext uri="{FF2B5EF4-FFF2-40B4-BE49-F238E27FC236}">
                <a16:creationId xmlns:a16="http://schemas.microsoft.com/office/drawing/2014/main" id="{ADDD7D97-5326-1543-3025-A86812F002CF}"/>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1996473" y="4175431"/>
            <a:ext cx="252000" cy="252000"/>
          </a:xfrm>
          <a:prstGeom prst="rect">
            <a:avLst/>
          </a:prstGeom>
          <a:noFill/>
          <a:extLst>
            <a:ext uri="{909E8E84-426E-40DD-AFC4-6F175D3DCCD1}">
              <a14:hiddenFill xmlns:a14="http://schemas.microsoft.com/office/drawing/2010/main">
                <a:solidFill>
                  <a:srgbClr val="FFFFFF"/>
                </a:solidFill>
              </a14:hiddenFill>
            </a:ext>
          </a:extLst>
        </p:spPr>
      </p:pic>
      <p:sp>
        <p:nvSpPr>
          <p:cNvPr id="135" name="Rectangle : coins arrondis 134">
            <a:extLst>
              <a:ext uri="{FF2B5EF4-FFF2-40B4-BE49-F238E27FC236}">
                <a16:creationId xmlns:a16="http://schemas.microsoft.com/office/drawing/2014/main" id="{6024467C-F313-FA17-BDF8-BD74D7497C15}"/>
              </a:ext>
            </a:extLst>
          </p:cNvPr>
          <p:cNvSpPr/>
          <p:nvPr/>
        </p:nvSpPr>
        <p:spPr>
          <a:xfrm>
            <a:off x="3142738" y="1921519"/>
            <a:ext cx="2125578" cy="46557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chemeClr val="bg1"/>
                </a:solidFill>
              </a:rPr>
              <a:t>Application #2</a:t>
            </a:r>
          </a:p>
        </p:txBody>
      </p:sp>
      <p:sp>
        <p:nvSpPr>
          <p:cNvPr id="136" name="Rectangle : coins arrondis 135">
            <a:extLst>
              <a:ext uri="{FF2B5EF4-FFF2-40B4-BE49-F238E27FC236}">
                <a16:creationId xmlns:a16="http://schemas.microsoft.com/office/drawing/2014/main" id="{0C8C93C0-52E4-E29A-A632-164DB94E8012}"/>
              </a:ext>
            </a:extLst>
          </p:cNvPr>
          <p:cNvSpPr/>
          <p:nvPr/>
        </p:nvSpPr>
        <p:spPr>
          <a:xfrm>
            <a:off x="3141950" y="2449818"/>
            <a:ext cx="2125578" cy="465573"/>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fr-FR" sz="1100"/>
          </a:p>
        </p:txBody>
      </p:sp>
      <p:sp>
        <p:nvSpPr>
          <p:cNvPr id="137" name="Rectangle : coins arrondis 136">
            <a:extLst>
              <a:ext uri="{FF2B5EF4-FFF2-40B4-BE49-F238E27FC236}">
                <a16:creationId xmlns:a16="http://schemas.microsoft.com/office/drawing/2014/main" id="{6A38B0AD-A2E0-F9A4-433E-885F699AC780}"/>
              </a:ext>
            </a:extLst>
          </p:cNvPr>
          <p:cNvSpPr/>
          <p:nvPr/>
        </p:nvSpPr>
        <p:spPr>
          <a:xfrm>
            <a:off x="3149563" y="3107428"/>
            <a:ext cx="1000800" cy="449891"/>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sp>
        <p:nvSpPr>
          <p:cNvPr id="138" name="Rectangle : coins arrondis 137">
            <a:extLst>
              <a:ext uri="{FF2B5EF4-FFF2-40B4-BE49-F238E27FC236}">
                <a16:creationId xmlns:a16="http://schemas.microsoft.com/office/drawing/2014/main" id="{BE63D3F9-9507-E125-D042-05984457830D}"/>
              </a:ext>
            </a:extLst>
          </p:cNvPr>
          <p:cNvSpPr/>
          <p:nvPr/>
        </p:nvSpPr>
        <p:spPr>
          <a:xfrm>
            <a:off x="4255103" y="3107427"/>
            <a:ext cx="1008322" cy="449892"/>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139" name="Rectangle : coins arrondis 138">
            <a:extLst>
              <a:ext uri="{FF2B5EF4-FFF2-40B4-BE49-F238E27FC236}">
                <a16:creationId xmlns:a16="http://schemas.microsoft.com/office/drawing/2014/main" id="{73AB5D16-5929-466E-F83C-BEC02BD81670}"/>
              </a:ext>
            </a:extLst>
          </p:cNvPr>
          <p:cNvSpPr/>
          <p:nvPr/>
        </p:nvSpPr>
        <p:spPr>
          <a:xfrm>
            <a:off x="4240281" y="3815641"/>
            <a:ext cx="1008322" cy="476308"/>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pic>
        <p:nvPicPr>
          <p:cNvPr id="140" name="Picture 4" descr="Image result for icone prix euro">
            <a:extLst>
              <a:ext uri="{FF2B5EF4-FFF2-40B4-BE49-F238E27FC236}">
                <a16:creationId xmlns:a16="http://schemas.microsoft.com/office/drawing/2014/main" id="{AA9A5F0F-266F-1D8E-6570-72A9382CCFB7}"/>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4168950" y="5546414"/>
            <a:ext cx="252000" cy="252000"/>
          </a:xfrm>
          <a:prstGeom prst="rect">
            <a:avLst/>
          </a:prstGeom>
          <a:noFill/>
          <a:extLst>
            <a:ext uri="{909E8E84-426E-40DD-AFC4-6F175D3DCCD1}">
              <a14:hiddenFill xmlns:a14="http://schemas.microsoft.com/office/drawing/2010/main">
                <a:solidFill>
                  <a:srgbClr val="FFFFFF"/>
                </a:solidFill>
              </a14:hiddenFill>
            </a:ext>
          </a:extLst>
        </p:spPr>
      </p:pic>
      <p:sp>
        <p:nvSpPr>
          <p:cNvPr id="141" name="Rectangle : coins arrondis 140">
            <a:extLst>
              <a:ext uri="{FF2B5EF4-FFF2-40B4-BE49-F238E27FC236}">
                <a16:creationId xmlns:a16="http://schemas.microsoft.com/office/drawing/2014/main" id="{A2BBD332-C9D0-27FC-52FE-E814B8EB712C}"/>
              </a:ext>
            </a:extLst>
          </p:cNvPr>
          <p:cNvSpPr/>
          <p:nvPr/>
        </p:nvSpPr>
        <p:spPr>
          <a:xfrm>
            <a:off x="7716443" y="1921519"/>
            <a:ext cx="2125578" cy="46557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chemeClr val="bg1"/>
                </a:solidFill>
              </a:rPr>
              <a:t>Application #4</a:t>
            </a:r>
          </a:p>
        </p:txBody>
      </p:sp>
      <p:sp>
        <p:nvSpPr>
          <p:cNvPr id="142" name="Rectangle : coins arrondis 141">
            <a:extLst>
              <a:ext uri="{FF2B5EF4-FFF2-40B4-BE49-F238E27FC236}">
                <a16:creationId xmlns:a16="http://schemas.microsoft.com/office/drawing/2014/main" id="{0A27457F-0F16-B250-B0DF-EF4541DB33C3}"/>
              </a:ext>
            </a:extLst>
          </p:cNvPr>
          <p:cNvSpPr/>
          <p:nvPr/>
        </p:nvSpPr>
        <p:spPr>
          <a:xfrm>
            <a:off x="7717235" y="2449816"/>
            <a:ext cx="2124000" cy="465573"/>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fr-FR" sz="1100"/>
          </a:p>
        </p:txBody>
      </p:sp>
      <p:pic>
        <p:nvPicPr>
          <p:cNvPr id="143" name="Picture 4" descr="Image result for icone prix euro">
            <a:extLst>
              <a:ext uri="{FF2B5EF4-FFF2-40B4-BE49-F238E27FC236}">
                <a16:creationId xmlns:a16="http://schemas.microsoft.com/office/drawing/2014/main" id="{AB12E240-C67A-81FE-E3CF-367931E78BE1}"/>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6349897" y="5546414"/>
            <a:ext cx="252000" cy="252000"/>
          </a:xfrm>
          <a:prstGeom prst="rect">
            <a:avLst/>
          </a:prstGeom>
          <a:noFill/>
          <a:extLst>
            <a:ext uri="{909E8E84-426E-40DD-AFC4-6F175D3DCCD1}">
              <a14:hiddenFill xmlns:a14="http://schemas.microsoft.com/office/drawing/2010/main">
                <a:solidFill>
                  <a:srgbClr val="FFFFFF"/>
                </a:solidFill>
              </a14:hiddenFill>
            </a:ext>
          </a:extLst>
        </p:spPr>
      </p:pic>
      <p:sp>
        <p:nvSpPr>
          <p:cNvPr id="144" name="Rectangle : coins arrondis 143">
            <a:extLst>
              <a:ext uri="{FF2B5EF4-FFF2-40B4-BE49-F238E27FC236}">
                <a16:creationId xmlns:a16="http://schemas.microsoft.com/office/drawing/2014/main" id="{B842ED92-D6F8-1D05-7042-2F7A8C1F0FCB}"/>
              </a:ext>
            </a:extLst>
          </p:cNvPr>
          <p:cNvSpPr/>
          <p:nvPr/>
        </p:nvSpPr>
        <p:spPr>
          <a:xfrm>
            <a:off x="5429590" y="1921519"/>
            <a:ext cx="2125579" cy="46557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chemeClr val="bg1"/>
                </a:solidFill>
              </a:rPr>
              <a:t>Application #3</a:t>
            </a:r>
          </a:p>
        </p:txBody>
      </p:sp>
      <p:sp>
        <p:nvSpPr>
          <p:cNvPr id="145" name="Rectangle : coins arrondis 144">
            <a:extLst>
              <a:ext uri="{FF2B5EF4-FFF2-40B4-BE49-F238E27FC236}">
                <a16:creationId xmlns:a16="http://schemas.microsoft.com/office/drawing/2014/main" id="{977D6516-1329-2D7F-91AF-DB4AE3BE323C}"/>
              </a:ext>
            </a:extLst>
          </p:cNvPr>
          <p:cNvSpPr/>
          <p:nvPr/>
        </p:nvSpPr>
        <p:spPr>
          <a:xfrm>
            <a:off x="5429592" y="2449816"/>
            <a:ext cx="2125579" cy="465573"/>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fr-FR" sz="1100"/>
          </a:p>
        </p:txBody>
      </p:sp>
      <p:sp>
        <p:nvSpPr>
          <p:cNvPr id="146" name="Rectangle : coins arrondis 145">
            <a:extLst>
              <a:ext uri="{FF2B5EF4-FFF2-40B4-BE49-F238E27FC236}">
                <a16:creationId xmlns:a16="http://schemas.microsoft.com/office/drawing/2014/main" id="{3F0E786D-4802-F5D4-8314-BE431C29D3AA}"/>
              </a:ext>
            </a:extLst>
          </p:cNvPr>
          <p:cNvSpPr/>
          <p:nvPr/>
        </p:nvSpPr>
        <p:spPr>
          <a:xfrm>
            <a:off x="5449711" y="3091744"/>
            <a:ext cx="1001028" cy="465573"/>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pic>
        <p:nvPicPr>
          <p:cNvPr id="147" name="Picture 4" descr="Image result for icone prix euro">
            <a:extLst>
              <a:ext uri="{FF2B5EF4-FFF2-40B4-BE49-F238E27FC236}">
                <a16:creationId xmlns:a16="http://schemas.microsoft.com/office/drawing/2014/main" id="{AD286C28-9544-653D-D20B-25E00295A3B1}"/>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8750118" y="5546414"/>
            <a:ext cx="252000" cy="252000"/>
          </a:xfrm>
          <a:prstGeom prst="rect">
            <a:avLst/>
          </a:prstGeom>
          <a:noFill/>
          <a:extLst>
            <a:ext uri="{909E8E84-426E-40DD-AFC4-6F175D3DCCD1}">
              <a14:hiddenFill xmlns:a14="http://schemas.microsoft.com/office/drawing/2010/main">
                <a:solidFill>
                  <a:srgbClr val="FFFFFF"/>
                </a:solidFill>
              </a14:hiddenFill>
            </a:ext>
          </a:extLst>
        </p:spPr>
      </p:pic>
      <p:sp>
        <p:nvSpPr>
          <p:cNvPr id="148" name="Rectangle : coins arrondis 147">
            <a:extLst>
              <a:ext uri="{FF2B5EF4-FFF2-40B4-BE49-F238E27FC236}">
                <a16:creationId xmlns:a16="http://schemas.microsoft.com/office/drawing/2014/main" id="{C3DAA0C9-FEC6-20C1-7827-42690E960E76}"/>
              </a:ext>
            </a:extLst>
          </p:cNvPr>
          <p:cNvSpPr/>
          <p:nvPr/>
        </p:nvSpPr>
        <p:spPr>
          <a:xfrm>
            <a:off x="6574261" y="3091744"/>
            <a:ext cx="1001028" cy="465573"/>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149" name="Rectangle : coins arrondis 148">
            <a:extLst>
              <a:ext uri="{FF2B5EF4-FFF2-40B4-BE49-F238E27FC236}">
                <a16:creationId xmlns:a16="http://schemas.microsoft.com/office/drawing/2014/main" id="{8EAD5244-27CB-FA90-1050-5D5240D73F8D}"/>
              </a:ext>
            </a:extLst>
          </p:cNvPr>
          <p:cNvSpPr/>
          <p:nvPr/>
        </p:nvSpPr>
        <p:spPr>
          <a:xfrm>
            <a:off x="5449711" y="3622444"/>
            <a:ext cx="1001028" cy="465573"/>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sp>
        <p:nvSpPr>
          <p:cNvPr id="150" name="Rectangle : coins arrondis 149">
            <a:extLst>
              <a:ext uri="{FF2B5EF4-FFF2-40B4-BE49-F238E27FC236}">
                <a16:creationId xmlns:a16="http://schemas.microsoft.com/office/drawing/2014/main" id="{7BF3D2C9-54D4-FE9B-FF3D-324BFEC69595}"/>
              </a:ext>
            </a:extLst>
          </p:cNvPr>
          <p:cNvSpPr/>
          <p:nvPr/>
        </p:nvSpPr>
        <p:spPr>
          <a:xfrm>
            <a:off x="6574261" y="3622444"/>
            <a:ext cx="1001028" cy="465573"/>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151" name="Rectangle : coins arrondis 150">
            <a:extLst>
              <a:ext uri="{FF2B5EF4-FFF2-40B4-BE49-F238E27FC236}">
                <a16:creationId xmlns:a16="http://schemas.microsoft.com/office/drawing/2014/main" id="{0FC3AE21-3A00-A754-8499-BE69937DE1E0}"/>
              </a:ext>
            </a:extLst>
          </p:cNvPr>
          <p:cNvSpPr/>
          <p:nvPr/>
        </p:nvSpPr>
        <p:spPr>
          <a:xfrm>
            <a:off x="7768579" y="3091744"/>
            <a:ext cx="1001028" cy="465573"/>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sp>
        <p:nvSpPr>
          <p:cNvPr id="152" name="Rectangle : coins arrondis 151">
            <a:extLst>
              <a:ext uri="{FF2B5EF4-FFF2-40B4-BE49-F238E27FC236}">
                <a16:creationId xmlns:a16="http://schemas.microsoft.com/office/drawing/2014/main" id="{7552EBBE-CB4B-3824-8EAE-E14D479CC8CC}"/>
              </a:ext>
            </a:extLst>
          </p:cNvPr>
          <p:cNvSpPr/>
          <p:nvPr/>
        </p:nvSpPr>
        <p:spPr>
          <a:xfrm>
            <a:off x="8893129" y="3091744"/>
            <a:ext cx="1001028" cy="465573"/>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cxnSp>
        <p:nvCxnSpPr>
          <p:cNvPr id="153" name="Connecteur droit 152">
            <a:extLst>
              <a:ext uri="{FF2B5EF4-FFF2-40B4-BE49-F238E27FC236}">
                <a16:creationId xmlns:a16="http://schemas.microsoft.com/office/drawing/2014/main" id="{A86C5F12-DFC0-1482-6E76-8617323943A7}"/>
              </a:ext>
            </a:extLst>
          </p:cNvPr>
          <p:cNvCxnSpPr>
            <a:cxnSpLocks/>
          </p:cNvCxnSpPr>
          <p:nvPr/>
        </p:nvCxnSpPr>
        <p:spPr>
          <a:xfrm>
            <a:off x="7635806" y="1992987"/>
            <a:ext cx="0" cy="4428000"/>
          </a:xfrm>
          <a:prstGeom prst="line">
            <a:avLst/>
          </a:prstGeom>
          <a:noFill/>
          <a:ln w="12700" cap="flat" cmpd="sng" algn="ctr">
            <a:solidFill>
              <a:srgbClr val="FFFFFF">
                <a:lumMod val="50000"/>
              </a:srgbClr>
            </a:solidFill>
            <a:prstDash val="dash"/>
            <a:miter lim="800000"/>
          </a:ln>
          <a:effectLst/>
        </p:spPr>
      </p:cxnSp>
      <p:sp>
        <p:nvSpPr>
          <p:cNvPr id="154" name="Rectangle : coins arrondis 153">
            <a:extLst>
              <a:ext uri="{FF2B5EF4-FFF2-40B4-BE49-F238E27FC236}">
                <a16:creationId xmlns:a16="http://schemas.microsoft.com/office/drawing/2014/main" id="{AF5D96D0-80A3-D871-6FA2-90307E9DFD9F}"/>
              </a:ext>
            </a:extLst>
          </p:cNvPr>
          <p:cNvSpPr/>
          <p:nvPr/>
        </p:nvSpPr>
        <p:spPr>
          <a:xfrm>
            <a:off x="10003298" y="2464027"/>
            <a:ext cx="2124000" cy="466224"/>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fr-FR" sz="1100"/>
          </a:p>
        </p:txBody>
      </p:sp>
      <p:pic>
        <p:nvPicPr>
          <p:cNvPr id="155" name="Picture 4" descr="Image result for icone prix euro">
            <a:extLst>
              <a:ext uri="{FF2B5EF4-FFF2-40B4-BE49-F238E27FC236}">
                <a16:creationId xmlns:a16="http://schemas.microsoft.com/office/drawing/2014/main" id="{5D7D3727-E7BF-CA31-4333-5D56A71A7CEB}"/>
              </a:ext>
            </a:extLst>
          </p:cNvPr>
          <p:cNvPicPr preferRelativeResize="0">
            <a:picLocks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11031580" y="5546414"/>
            <a:ext cx="252000" cy="252000"/>
          </a:xfrm>
          <a:prstGeom prst="rect">
            <a:avLst/>
          </a:prstGeom>
          <a:noFill/>
          <a:extLst>
            <a:ext uri="{909E8E84-426E-40DD-AFC4-6F175D3DCCD1}">
              <a14:hiddenFill xmlns:a14="http://schemas.microsoft.com/office/drawing/2010/main">
                <a:solidFill>
                  <a:srgbClr val="FFFFFF"/>
                </a:solidFill>
              </a14:hiddenFill>
            </a:ext>
          </a:extLst>
        </p:spPr>
      </p:pic>
      <p:sp>
        <p:nvSpPr>
          <p:cNvPr id="156" name="Rectangle : coins arrondis 155">
            <a:extLst>
              <a:ext uri="{FF2B5EF4-FFF2-40B4-BE49-F238E27FC236}">
                <a16:creationId xmlns:a16="http://schemas.microsoft.com/office/drawing/2014/main" id="{9D67D0CB-8E31-3F4F-7957-2948076D85F1}"/>
              </a:ext>
            </a:extLst>
          </p:cNvPr>
          <p:cNvSpPr/>
          <p:nvPr/>
        </p:nvSpPr>
        <p:spPr>
          <a:xfrm>
            <a:off x="10003298" y="1918612"/>
            <a:ext cx="2124000" cy="46557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chemeClr val="bg1"/>
                </a:solidFill>
              </a:rPr>
              <a:t>Application #5</a:t>
            </a:r>
          </a:p>
        </p:txBody>
      </p:sp>
      <p:sp>
        <p:nvSpPr>
          <p:cNvPr id="157" name="Rectangle : coins arrondis 156">
            <a:extLst>
              <a:ext uri="{FF2B5EF4-FFF2-40B4-BE49-F238E27FC236}">
                <a16:creationId xmlns:a16="http://schemas.microsoft.com/office/drawing/2014/main" id="{286AF39F-6B82-959A-DB99-9ABCDBF72C38}"/>
              </a:ext>
            </a:extLst>
          </p:cNvPr>
          <p:cNvSpPr/>
          <p:nvPr/>
        </p:nvSpPr>
        <p:spPr>
          <a:xfrm>
            <a:off x="10017856" y="3116637"/>
            <a:ext cx="1000800" cy="440682"/>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sp>
        <p:nvSpPr>
          <p:cNvPr id="158" name="Rectangle : coins arrondis 157">
            <a:extLst>
              <a:ext uri="{FF2B5EF4-FFF2-40B4-BE49-F238E27FC236}">
                <a16:creationId xmlns:a16="http://schemas.microsoft.com/office/drawing/2014/main" id="{96188D93-B394-DA78-6F3B-61EB52C2762A}"/>
              </a:ext>
            </a:extLst>
          </p:cNvPr>
          <p:cNvSpPr/>
          <p:nvPr/>
        </p:nvSpPr>
        <p:spPr>
          <a:xfrm>
            <a:off x="11118976" y="3120768"/>
            <a:ext cx="1008322" cy="436551"/>
          </a:xfrm>
          <a:prstGeom prst="roundRect">
            <a:avLst/>
          </a:prstGeom>
          <a:solidFill>
            <a:schemeClr val="accent5">
              <a:lumMod val="40000"/>
              <a:lumOff val="60000"/>
            </a:schemeClr>
          </a:solidFill>
          <a:ln w="12700" cap="flat" cmpd="sng" algn="ctr">
            <a:noFill/>
            <a:prstDash val="solid"/>
            <a:miter lim="800000"/>
          </a:ln>
          <a:effectLst/>
        </p:spPr>
        <p:txBody>
          <a:bodyPr lIns="36000" tIns="45720" rIns="3600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cxnSp>
        <p:nvCxnSpPr>
          <p:cNvPr id="159" name="Connecteur droit 158">
            <a:extLst>
              <a:ext uri="{FF2B5EF4-FFF2-40B4-BE49-F238E27FC236}">
                <a16:creationId xmlns:a16="http://schemas.microsoft.com/office/drawing/2014/main" id="{86DE425E-2644-0FB3-53CF-42BF3947BA28}"/>
              </a:ext>
            </a:extLst>
          </p:cNvPr>
          <p:cNvCxnSpPr>
            <a:cxnSpLocks/>
          </p:cNvCxnSpPr>
          <p:nvPr/>
        </p:nvCxnSpPr>
        <p:spPr>
          <a:xfrm>
            <a:off x="9922658" y="1992987"/>
            <a:ext cx="0" cy="4428000"/>
          </a:xfrm>
          <a:prstGeom prst="line">
            <a:avLst/>
          </a:prstGeom>
          <a:noFill/>
          <a:ln w="12700" cap="flat" cmpd="sng" algn="ctr">
            <a:solidFill>
              <a:srgbClr val="FFFFFF">
                <a:lumMod val="50000"/>
              </a:srgbClr>
            </a:solidFill>
            <a:prstDash val="dash"/>
            <a:miter lim="800000"/>
          </a:ln>
          <a:effectLst/>
        </p:spPr>
      </p:cxnSp>
      <p:sp>
        <p:nvSpPr>
          <p:cNvPr id="160" name="Rectangle 159">
            <a:extLst>
              <a:ext uri="{FF2B5EF4-FFF2-40B4-BE49-F238E27FC236}">
                <a16:creationId xmlns:a16="http://schemas.microsoft.com/office/drawing/2014/main" id="{F0D4A0F2-0869-4C32-2DF1-ADBC772AAD54}"/>
              </a:ext>
            </a:extLst>
          </p:cNvPr>
          <p:cNvSpPr/>
          <p:nvPr/>
        </p:nvSpPr>
        <p:spPr>
          <a:xfrm>
            <a:off x="3092250" y="3681391"/>
            <a:ext cx="2224687" cy="706629"/>
          </a:xfrm>
          <a:prstGeom prst="rect">
            <a:avLst/>
          </a:prstGeom>
          <a:noFill/>
          <a:ln w="15875" cap="flat" cmpd="sng" algn="ctr">
            <a:solidFill>
              <a:srgbClr val="C8651E">
                <a:lumMod val="60000"/>
                <a:lumOff val="4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61" name="ZoneTexte 160">
            <a:extLst>
              <a:ext uri="{FF2B5EF4-FFF2-40B4-BE49-F238E27FC236}">
                <a16:creationId xmlns:a16="http://schemas.microsoft.com/office/drawing/2014/main" id="{89BE5617-DDE6-83D0-F678-B5B990D07E82}"/>
              </a:ext>
            </a:extLst>
          </p:cNvPr>
          <p:cNvSpPr txBox="1"/>
          <p:nvPr/>
        </p:nvSpPr>
        <p:spPr>
          <a:xfrm>
            <a:off x="3025244" y="3627966"/>
            <a:ext cx="392352" cy="216104"/>
          </a:xfrm>
          <a:prstGeom prst="rect">
            <a:avLst/>
          </a:prstGeom>
          <a:noFill/>
        </p:spPr>
        <p:txBody>
          <a:bodyPr wrap="none" rtlCol="0">
            <a:spAutoFit/>
          </a:bodyPr>
          <a:lstStyle/>
          <a:p>
            <a:r>
              <a:rPr lang="fr-FR" sz="1200">
                <a:solidFill>
                  <a:srgbClr val="000000"/>
                </a:solidFill>
                <a:latin typeface="Calibri" panose="020F0502020204030204"/>
              </a:rPr>
              <a:t>1.A</a:t>
            </a:r>
          </a:p>
        </p:txBody>
      </p:sp>
      <p:sp>
        <p:nvSpPr>
          <p:cNvPr id="162" name="Rectangle 161">
            <a:extLst>
              <a:ext uri="{FF2B5EF4-FFF2-40B4-BE49-F238E27FC236}">
                <a16:creationId xmlns:a16="http://schemas.microsoft.com/office/drawing/2014/main" id="{596BD290-3717-7D65-593F-C53F99DD5BB2}"/>
              </a:ext>
            </a:extLst>
          </p:cNvPr>
          <p:cNvSpPr/>
          <p:nvPr/>
        </p:nvSpPr>
        <p:spPr>
          <a:xfrm>
            <a:off x="3096561" y="4438767"/>
            <a:ext cx="2224687" cy="706629"/>
          </a:xfrm>
          <a:prstGeom prst="rect">
            <a:avLst/>
          </a:prstGeom>
          <a:noFill/>
          <a:ln w="15875" cap="flat" cmpd="sng" algn="ctr">
            <a:solidFill>
              <a:srgbClr val="C8651E">
                <a:lumMod val="75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63" name="ZoneTexte 162">
            <a:extLst>
              <a:ext uri="{FF2B5EF4-FFF2-40B4-BE49-F238E27FC236}">
                <a16:creationId xmlns:a16="http://schemas.microsoft.com/office/drawing/2014/main" id="{571C48F0-6D0C-46F3-2779-AF820BAEDBC0}"/>
              </a:ext>
            </a:extLst>
          </p:cNvPr>
          <p:cNvSpPr txBox="1"/>
          <p:nvPr/>
        </p:nvSpPr>
        <p:spPr>
          <a:xfrm>
            <a:off x="3025373" y="4399099"/>
            <a:ext cx="385042" cy="216104"/>
          </a:xfrm>
          <a:prstGeom prst="rect">
            <a:avLst/>
          </a:prstGeom>
          <a:noFill/>
        </p:spPr>
        <p:txBody>
          <a:bodyPr wrap="none" rtlCol="0">
            <a:spAutoFit/>
          </a:bodyPr>
          <a:lstStyle/>
          <a:p>
            <a:r>
              <a:rPr lang="fr-FR" sz="1200">
                <a:solidFill>
                  <a:srgbClr val="000000"/>
                </a:solidFill>
                <a:latin typeface="Calibri" panose="020F0502020204030204"/>
              </a:rPr>
              <a:t>1.B</a:t>
            </a:r>
          </a:p>
        </p:txBody>
      </p:sp>
      <p:sp>
        <p:nvSpPr>
          <p:cNvPr id="164" name="Rectangle : coins arrondis 163">
            <a:extLst>
              <a:ext uri="{FF2B5EF4-FFF2-40B4-BE49-F238E27FC236}">
                <a16:creationId xmlns:a16="http://schemas.microsoft.com/office/drawing/2014/main" id="{C578F8E8-9AB8-F5DE-7EDE-366674DEB4B9}"/>
              </a:ext>
            </a:extLst>
          </p:cNvPr>
          <p:cNvSpPr/>
          <p:nvPr/>
        </p:nvSpPr>
        <p:spPr>
          <a:xfrm>
            <a:off x="1055206" y="3789203"/>
            <a:ext cx="877908" cy="1260174"/>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sp>
        <p:nvSpPr>
          <p:cNvPr id="165" name="Rectangle : coins arrondis 164">
            <a:extLst>
              <a:ext uri="{FF2B5EF4-FFF2-40B4-BE49-F238E27FC236}">
                <a16:creationId xmlns:a16="http://schemas.microsoft.com/office/drawing/2014/main" id="{C51F4CE2-B667-5E5E-8DE4-B0C16624C03B}"/>
              </a:ext>
            </a:extLst>
          </p:cNvPr>
          <p:cNvSpPr/>
          <p:nvPr/>
        </p:nvSpPr>
        <p:spPr>
          <a:xfrm>
            <a:off x="3355969" y="3818474"/>
            <a:ext cx="802014" cy="1209254"/>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p>
        </p:txBody>
      </p:sp>
      <p:sp>
        <p:nvSpPr>
          <p:cNvPr id="166" name="Rectangle : coins arrondis 165">
            <a:extLst>
              <a:ext uri="{FF2B5EF4-FFF2-40B4-BE49-F238E27FC236}">
                <a16:creationId xmlns:a16="http://schemas.microsoft.com/office/drawing/2014/main" id="{A6E04B28-5425-0A27-1C8D-38BC94EBF8A2}"/>
              </a:ext>
            </a:extLst>
          </p:cNvPr>
          <p:cNvSpPr/>
          <p:nvPr/>
        </p:nvSpPr>
        <p:spPr>
          <a:xfrm>
            <a:off x="4255103" y="4570961"/>
            <a:ext cx="1008322" cy="476308"/>
          </a:xfrm>
          <a:prstGeom prst="roundRect">
            <a:avLst/>
          </a:prstGeom>
          <a:solidFill>
            <a:schemeClr val="accent5">
              <a:lumMod val="40000"/>
              <a:lumOff val="60000"/>
            </a:schemeClr>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9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167" name="ZoneTexte 166">
            <a:extLst>
              <a:ext uri="{FF2B5EF4-FFF2-40B4-BE49-F238E27FC236}">
                <a16:creationId xmlns:a16="http://schemas.microsoft.com/office/drawing/2014/main" id="{9A6422A7-032E-CAF7-720D-8998540D9FE3}"/>
              </a:ext>
            </a:extLst>
          </p:cNvPr>
          <p:cNvSpPr txBox="1"/>
          <p:nvPr>
            <p:custDataLst>
              <p:tags r:id="rId2"/>
            </p:custDataLst>
          </p:nvPr>
        </p:nvSpPr>
        <p:spPr>
          <a:xfrm>
            <a:off x="9665871" y="154792"/>
            <a:ext cx="2376617" cy="1384995"/>
          </a:xfrm>
          <a:prstGeom prst="rect">
            <a:avLst/>
          </a:prstGeom>
          <a:noFill/>
          <a:ln>
            <a:solidFill>
              <a:schemeClr val="accent2">
                <a:lumMod val="50000"/>
              </a:schemeClr>
            </a:solidFill>
          </a:ln>
        </p:spPr>
        <p:txBody>
          <a:bodyPr wrap="square" rtlCol="0">
            <a:spAutoFit/>
          </a:bodyPr>
          <a:lstStyle/>
          <a:p>
            <a:r>
              <a:rPr lang="fr-FR" sz="1200">
                <a:solidFill>
                  <a:schemeClr val="accent6">
                    <a:lumMod val="75000"/>
                  </a:schemeClr>
                </a:solidFill>
                <a:latin typeface="Segoe UI Symbol" panose="020B0502040204020203" pitchFamily="34" charset="0"/>
                <a:ea typeface="Segoe UI Symbol" panose="020B0502040204020203" pitchFamily="34" charset="0"/>
                <a:sym typeface="Webdings" panose="05030102010509060703" pitchFamily="18" charset="2"/>
              </a:rPr>
              <a:t> </a:t>
            </a:r>
            <a:r>
              <a:rPr lang="fr-FR" sz="1000" b="1">
                <a:solidFill>
                  <a:schemeClr val="accent6">
                    <a:lumMod val="75000"/>
                  </a:schemeClr>
                </a:solidFill>
              </a:rPr>
              <a:t>Aide</a:t>
            </a:r>
          </a:p>
          <a:p>
            <a:r>
              <a:rPr lang="fr-FR" sz="900" i="1">
                <a:solidFill>
                  <a:schemeClr val="accent6">
                    <a:lumMod val="75000"/>
                  </a:schemeClr>
                </a:solidFill>
              </a:rPr>
              <a:t>Dans cette page il est nécessaire de reprendre les applications et fonctions impactée (cf. slide précédente) et pour chacun d’entre elles détailler les sous fonctions : existant &amp; cible.</a:t>
            </a:r>
          </a:p>
          <a:p>
            <a:endParaRPr lang="fr-FR" sz="900" i="1">
              <a:solidFill>
                <a:schemeClr val="accent6">
                  <a:lumMod val="75000"/>
                </a:schemeClr>
              </a:solidFill>
            </a:endParaRPr>
          </a:p>
          <a:p>
            <a:r>
              <a:rPr lang="fr-FR" sz="900" i="1">
                <a:solidFill>
                  <a:schemeClr val="accent6">
                    <a:lumMod val="75000"/>
                  </a:schemeClr>
                </a:solidFill>
              </a:rPr>
              <a:t>Il est également possible de mettre en avant les différentes entre certains scénarios, les coûts et risques associés à chacune de ces applications.</a:t>
            </a:r>
          </a:p>
        </p:txBody>
      </p:sp>
      <p:sp>
        <p:nvSpPr>
          <p:cNvPr id="168" name="Rectangle à coins arrondis 10">
            <a:extLst>
              <a:ext uri="{FF2B5EF4-FFF2-40B4-BE49-F238E27FC236}">
                <a16:creationId xmlns:a16="http://schemas.microsoft.com/office/drawing/2014/main" id="{75A0BF3B-00EB-EE12-15D7-019A7E49A1D7}"/>
              </a:ext>
            </a:extLst>
          </p:cNvPr>
          <p:cNvSpPr/>
          <p:nvPr>
            <p:custDataLst>
              <p:tags r:id="rId3"/>
            </p:custDataLst>
          </p:nvPr>
        </p:nvSpPr>
        <p:spPr>
          <a:xfrm flipH="1">
            <a:off x="114272" y="3343833"/>
            <a:ext cx="2004293" cy="621485"/>
          </a:xfrm>
          <a:prstGeom prst="wedgeRoundRectCallout">
            <a:avLst>
              <a:gd name="adj1" fmla="val -30730"/>
              <a:gd name="adj2" fmla="val -74252"/>
              <a:gd name="adj3" fmla="val 16667"/>
            </a:avLst>
          </a:prstGeom>
          <a:solidFill>
            <a:schemeClr val="bg1">
              <a:alpha val="85000"/>
            </a:schemeClr>
          </a:solidFill>
          <a:ln w="12700">
            <a:solidFill>
              <a:schemeClr val="accent2">
                <a:lumMod val="50000"/>
              </a:schemeClr>
            </a:solidFill>
          </a:ln>
        </p:spPr>
        <p:txBody>
          <a:bodyPr wrap="square" lIns="36000" tIns="0" rIns="36000" bIns="0" rtlCol="0">
            <a:no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Zone dédiée à préciser une sous fonction existante impacté par le projet pour cette application</a:t>
            </a:r>
          </a:p>
        </p:txBody>
      </p:sp>
      <p:sp>
        <p:nvSpPr>
          <p:cNvPr id="169" name="Rectangle à coins arrondis 10">
            <a:extLst>
              <a:ext uri="{FF2B5EF4-FFF2-40B4-BE49-F238E27FC236}">
                <a16:creationId xmlns:a16="http://schemas.microsoft.com/office/drawing/2014/main" id="{D6D9B7C5-296E-97DC-48D8-579798A7CD4E}"/>
              </a:ext>
            </a:extLst>
          </p:cNvPr>
          <p:cNvSpPr/>
          <p:nvPr>
            <p:custDataLst>
              <p:tags r:id="rId4"/>
            </p:custDataLst>
          </p:nvPr>
        </p:nvSpPr>
        <p:spPr>
          <a:xfrm flipH="1">
            <a:off x="1419298" y="2417330"/>
            <a:ext cx="2515634" cy="467492"/>
          </a:xfrm>
          <a:prstGeom prst="wedgeRoundRectCallout">
            <a:avLst>
              <a:gd name="adj1" fmla="val 57277"/>
              <a:gd name="adj2" fmla="val 1278"/>
              <a:gd name="adj3" fmla="val 16667"/>
            </a:avLst>
          </a:prstGeom>
          <a:solidFill>
            <a:schemeClr val="bg1">
              <a:alpha val="85000"/>
            </a:schemeClr>
          </a:solidFill>
          <a:ln w="12700">
            <a:solidFill>
              <a:schemeClr val="accent2">
                <a:lumMod val="50000"/>
              </a:schemeClr>
            </a:solidFill>
          </a:ln>
        </p:spPr>
        <p:txBody>
          <a:bodyPr wrap="square" lIns="36000" tIns="0" rIns="36000" bIns="0" rtlCol="0">
            <a:no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Détailler les fonctions métiers impactées dans le cadre du projet (cf. slide précédente)</a:t>
            </a:r>
          </a:p>
        </p:txBody>
      </p:sp>
      <p:sp>
        <p:nvSpPr>
          <p:cNvPr id="170" name="Rectangle à coins arrondis 10">
            <a:extLst>
              <a:ext uri="{FF2B5EF4-FFF2-40B4-BE49-F238E27FC236}">
                <a16:creationId xmlns:a16="http://schemas.microsoft.com/office/drawing/2014/main" id="{4E20429B-B007-0BC6-6D31-CFDB7F1724FC}"/>
              </a:ext>
            </a:extLst>
          </p:cNvPr>
          <p:cNvSpPr/>
          <p:nvPr>
            <p:custDataLst>
              <p:tags r:id="rId5"/>
            </p:custDataLst>
          </p:nvPr>
        </p:nvSpPr>
        <p:spPr>
          <a:xfrm flipH="1">
            <a:off x="2681216" y="2953661"/>
            <a:ext cx="2004293" cy="438696"/>
          </a:xfrm>
          <a:prstGeom prst="wedgeRoundRectCallout">
            <a:avLst>
              <a:gd name="adj1" fmla="val 67168"/>
              <a:gd name="adj2" fmla="val 52929"/>
              <a:gd name="adj3" fmla="val 16667"/>
            </a:avLst>
          </a:prstGeom>
          <a:solidFill>
            <a:schemeClr val="bg1">
              <a:alpha val="85000"/>
            </a:schemeClr>
          </a:solidFill>
          <a:ln w="12700">
            <a:solidFill>
              <a:schemeClr val="accent2">
                <a:lumMod val="50000"/>
              </a:schemeClr>
            </a:solidFill>
          </a:ln>
        </p:spPr>
        <p:txBody>
          <a:bodyPr wrap="square" lIns="36000" tIns="0" rIns="36000" bIns="0" rtlCol="0">
            <a:no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Zone dédiée à présenter la cible de la sous fonction de l’application</a:t>
            </a:r>
          </a:p>
        </p:txBody>
      </p:sp>
      <p:sp>
        <p:nvSpPr>
          <p:cNvPr id="171" name="Rectangle à coins arrondis 10">
            <a:extLst>
              <a:ext uri="{FF2B5EF4-FFF2-40B4-BE49-F238E27FC236}">
                <a16:creationId xmlns:a16="http://schemas.microsoft.com/office/drawing/2014/main" id="{0346D087-A7ED-977A-B6C3-A66AB1F3C568}"/>
              </a:ext>
            </a:extLst>
          </p:cNvPr>
          <p:cNvSpPr/>
          <p:nvPr>
            <p:custDataLst>
              <p:tags r:id="rId6"/>
            </p:custDataLst>
          </p:nvPr>
        </p:nvSpPr>
        <p:spPr>
          <a:xfrm flipH="1">
            <a:off x="5854829" y="4135111"/>
            <a:ext cx="2004293" cy="436087"/>
          </a:xfrm>
          <a:prstGeom prst="wedgeRoundRectCallout">
            <a:avLst>
              <a:gd name="adj1" fmla="val 73187"/>
              <a:gd name="adj2" fmla="val -16480"/>
              <a:gd name="adj3" fmla="val 16667"/>
            </a:avLst>
          </a:prstGeom>
          <a:solidFill>
            <a:schemeClr val="bg1">
              <a:alpha val="85000"/>
            </a:schemeClr>
          </a:solidFill>
          <a:ln w="12700">
            <a:solidFill>
              <a:schemeClr val="accent2">
                <a:lumMod val="50000"/>
              </a:schemeClr>
            </a:solidFill>
          </a:ln>
        </p:spPr>
        <p:txBody>
          <a:bodyPr wrap="square" lIns="36000" tIns="0" rIns="36000" bIns="0" rtlCol="0">
            <a:no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Il est possible de mettre en avant les différences entre deux scénarios</a:t>
            </a:r>
          </a:p>
        </p:txBody>
      </p:sp>
      <p:sp>
        <p:nvSpPr>
          <p:cNvPr id="172" name="Rectangle à coins arrondis 10">
            <a:extLst>
              <a:ext uri="{FF2B5EF4-FFF2-40B4-BE49-F238E27FC236}">
                <a16:creationId xmlns:a16="http://schemas.microsoft.com/office/drawing/2014/main" id="{DDDA2A9C-1317-7B5F-7E48-1584CFDCFA55}"/>
              </a:ext>
            </a:extLst>
          </p:cNvPr>
          <p:cNvSpPr/>
          <p:nvPr>
            <p:custDataLst>
              <p:tags r:id="rId7"/>
            </p:custDataLst>
          </p:nvPr>
        </p:nvSpPr>
        <p:spPr>
          <a:xfrm flipH="1">
            <a:off x="5040714" y="5063560"/>
            <a:ext cx="2004293" cy="437964"/>
          </a:xfrm>
          <a:prstGeom prst="wedgeRoundRectCallout">
            <a:avLst>
              <a:gd name="adj1" fmla="val 1712"/>
              <a:gd name="adj2" fmla="val 88877"/>
              <a:gd name="adj3" fmla="val 16667"/>
            </a:avLst>
          </a:prstGeom>
          <a:solidFill>
            <a:schemeClr val="bg1">
              <a:alpha val="85000"/>
            </a:schemeClr>
          </a:solidFill>
          <a:ln w="12700">
            <a:solidFill>
              <a:schemeClr val="accent2">
                <a:lumMod val="50000"/>
              </a:schemeClr>
            </a:solidFill>
          </a:ln>
        </p:spPr>
        <p:txBody>
          <a:bodyPr wrap="square" lIns="36000" tIns="0" rIns="36000" bIns="0" rtlCol="0">
            <a:no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Détail ou ordre de grandeur sur les coûts d’implémentation</a:t>
            </a:r>
          </a:p>
        </p:txBody>
      </p:sp>
      <p:sp>
        <p:nvSpPr>
          <p:cNvPr id="173" name="Rectangle à coins arrondis 10">
            <a:extLst>
              <a:ext uri="{FF2B5EF4-FFF2-40B4-BE49-F238E27FC236}">
                <a16:creationId xmlns:a16="http://schemas.microsoft.com/office/drawing/2014/main" id="{F4713799-7FB8-1F06-5BDD-386AD1C64C99}"/>
              </a:ext>
            </a:extLst>
          </p:cNvPr>
          <p:cNvSpPr/>
          <p:nvPr>
            <p:custDataLst>
              <p:tags r:id="rId8"/>
            </p:custDataLst>
          </p:nvPr>
        </p:nvSpPr>
        <p:spPr>
          <a:xfrm flipH="1">
            <a:off x="4802573" y="6032535"/>
            <a:ext cx="2004293" cy="609018"/>
          </a:xfrm>
          <a:prstGeom prst="wedgeRoundRectCallout">
            <a:avLst>
              <a:gd name="adj1" fmla="val 67167"/>
              <a:gd name="adj2" fmla="val -11507"/>
              <a:gd name="adj3" fmla="val 16667"/>
            </a:avLst>
          </a:prstGeom>
          <a:solidFill>
            <a:schemeClr val="bg1">
              <a:alpha val="85000"/>
            </a:schemeClr>
          </a:solidFill>
          <a:ln w="12700">
            <a:solidFill>
              <a:schemeClr val="accent2">
                <a:lumMod val="50000"/>
              </a:schemeClr>
            </a:solidFill>
          </a:ln>
        </p:spPr>
        <p:txBody>
          <a:bodyPr wrap="square" lIns="36000" tIns="0" rIns="36000" bIns="0" rtlCol="0">
            <a:no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Identifier et préciser les risques éventuels liés à la mise en œuvre de ces fonctions sur cette application</a:t>
            </a:r>
          </a:p>
        </p:txBody>
      </p:sp>
    </p:spTree>
    <p:extLst>
      <p:ext uri="{BB962C8B-B14F-4D97-AF65-F5344CB8AC3E}">
        <p14:creationId xmlns:p14="http://schemas.microsoft.com/office/powerpoint/2010/main" val="938333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11</a:t>
            </a:fld>
            <a:endParaRPr lang="fr-F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r>
              <a:rPr lang="fr-FR">
                <a:ln w="19050">
                  <a:solidFill>
                    <a:schemeClr val="bg1"/>
                  </a:solidFill>
                </a:ln>
              </a:rPr>
              <a:t>Hypothèses de départ</a:t>
            </a: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r>
              <a:rPr lang="fr-FR">
                <a:ln w="19050">
                  <a:solidFill>
                    <a:schemeClr val="bg1"/>
                  </a:solidFill>
                </a:ln>
              </a:rPr>
              <a:t>02</a:t>
            </a:r>
          </a:p>
        </p:txBody>
      </p:sp>
      <p:sp>
        <p:nvSpPr>
          <p:cNvPr id="8" name="Rectangle : coins arrondis 7">
            <a:extLst>
              <a:ext uri="{FF2B5EF4-FFF2-40B4-BE49-F238E27FC236}">
                <a16:creationId xmlns:a16="http://schemas.microsoft.com/office/drawing/2014/main" id="{68452230-C34E-2AB8-4ADB-E138776FE08B}"/>
              </a:ext>
            </a:extLst>
          </p:cNvPr>
          <p:cNvSpPr/>
          <p:nvPr/>
        </p:nvSpPr>
        <p:spPr>
          <a:xfrm>
            <a:off x="5979141" y="1048861"/>
            <a:ext cx="3545305" cy="1876926"/>
          </a:xfrm>
          <a:prstGeom prst="roundRect">
            <a:avLst/>
          </a:prstGeom>
          <a:solidFill>
            <a:schemeClr val="bg1"/>
          </a:solidFill>
          <a:ln w="38100" cap="flat">
            <a:solidFill>
              <a:srgbClr val="102031"/>
            </a:solidFill>
            <a:prstDash val="solid"/>
            <a:miter/>
          </a:ln>
          <a:effectLst>
            <a:outerShdw blurRad="50800" dist="38100" dir="2700000" algn="tl" rotWithShape="0">
              <a:prstClr val="black">
                <a:alpha val="40000"/>
              </a:prstClr>
            </a:outerShdw>
          </a:effectLst>
        </p:spPr>
        <p:txBody>
          <a:bodyPr rtlCol="0" anchor="ctr"/>
          <a:lstStyle/>
          <a:p>
            <a:pPr algn="ctr">
              <a:lnSpc>
                <a:spcPct val="80000"/>
              </a:lnSpc>
            </a:pPr>
            <a:r>
              <a:rPr lang="fr-FR" sz="2000">
                <a:ln w="19050">
                  <a:solidFill>
                    <a:srgbClr val="102031"/>
                  </a:solidFill>
                </a:ln>
                <a:solidFill>
                  <a:srgbClr val="102031"/>
                </a:solidFill>
                <a:latin typeface="Avenir LT 35 Light" panose="02000503030000020003" pitchFamily="2" charset="0"/>
              </a:rPr>
              <a:t>Choix Irrévocable d’une plateforme de Médiation : MULESOFT</a:t>
            </a:r>
          </a:p>
        </p:txBody>
      </p:sp>
      <p:sp>
        <p:nvSpPr>
          <p:cNvPr id="9" name="Rectangle : coins arrondis 8">
            <a:extLst>
              <a:ext uri="{FF2B5EF4-FFF2-40B4-BE49-F238E27FC236}">
                <a16:creationId xmlns:a16="http://schemas.microsoft.com/office/drawing/2014/main" id="{AB5826A8-A652-0902-F1DE-E62ED96D48C4}"/>
              </a:ext>
            </a:extLst>
          </p:cNvPr>
          <p:cNvSpPr/>
          <p:nvPr/>
        </p:nvSpPr>
        <p:spPr>
          <a:xfrm>
            <a:off x="1385930" y="1084269"/>
            <a:ext cx="3545305" cy="1876926"/>
          </a:xfrm>
          <a:prstGeom prst="roundRect">
            <a:avLst/>
          </a:prstGeom>
          <a:solidFill>
            <a:schemeClr val="bg1"/>
          </a:solidFill>
          <a:ln w="38100" cap="flat">
            <a:solidFill>
              <a:srgbClr val="102031"/>
            </a:solidFill>
            <a:prstDash val="solid"/>
            <a:miter/>
          </a:ln>
          <a:effectLst>
            <a:outerShdw blurRad="50800" dist="38100" dir="2700000" algn="tl" rotWithShape="0">
              <a:prstClr val="black">
                <a:alpha val="40000"/>
              </a:prstClr>
            </a:outerShdw>
          </a:effectLst>
        </p:spPr>
        <p:txBody>
          <a:bodyPr rtlCol="0" anchor="ctr"/>
          <a:lstStyle/>
          <a:p>
            <a:pPr algn="ctr">
              <a:lnSpc>
                <a:spcPct val="80000"/>
              </a:lnSpc>
            </a:pPr>
            <a:r>
              <a:rPr lang="fr-FR" sz="2000">
                <a:ln w="19050">
                  <a:solidFill>
                    <a:srgbClr val="102031"/>
                  </a:solidFill>
                </a:ln>
                <a:solidFill>
                  <a:srgbClr val="102031"/>
                </a:solidFill>
                <a:latin typeface="Avenir LT 35 Light" panose="02000503030000020003" pitchFamily="2" charset="0"/>
              </a:rPr>
              <a:t>Architecture Orientée Services (Approche SOA) et Stratégie digitale</a:t>
            </a:r>
          </a:p>
        </p:txBody>
      </p:sp>
      <p:sp>
        <p:nvSpPr>
          <p:cNvPr id="15" name="ZoneTexte 14">
            <a:extLst>
              <a:ext uri="{FF2B5EF4-FFF2-40B4-BE49-F238E27FC236}">
                <a16:creationId xmlns:a16="http://schemas.microsoft.com/office/drawing/2014/main" id="{53CD0062-E291-DF8E-5A1F-AD1D630062D8}"/>
              </a:ext>
            </a:extLst>
          </p:cNvPr>
          <p:cNvSpPr txBox="1"/>
          <p:nvPr/>
        </p:nvSpPr>
        <p:spPr>
          <a:xfrm>
            <a:off x="6096000" y="3028950"/>
            <a:ext cx="5126724" cy="747512"/>
          </a:xfrm>
          <a:prstGeom prst="rect">
            <a:avLst/>
          </a:prstGeom>
          <a:noFill/>
        </p:spPr>
        <p:txBody>
          <a:bodyPr wrap="square" rtlCol="0">
            <a:spAutoFit/>
          </a:bodyPr>
          <a:lstStyle/>
          <a:p>
            <a:pPr>
              <a:lnSpc>
                <a:spcPct val="78000"/>
              </a:lnSpc>
            </a:pPr>
            <a:r>
              <a:rPr lang="fr-FR">
                <a:ln w="1905">
                  <a:solidFill>
                    <a:srgbClr val="102031">
                      <a:alpha val="60000"/>
                    </a:srgbClr>
                  </a:solidFill>
                </a:ln>
                <a:solidFill>
                  <a:schemeClr val="tx1">
                    <a:alpha val="60000"/>
                  </a:schemeClr>
                </a:solidFill>
              </a:rPr>
              <a:t>Alors ce que ce choix est déjà entériné, </a:t>
            </a:r>
          </a:p>
          <a:p>
            <a:pPr>
              <a:lnSpc>
                <a:spcPct val="78000"/>
              </a:lnSpc>
            </a:pPr>
            <a:r>
              <a:rPr lang="fr-FR">
                <a:ln w="1905">
                  <a:solidFill>
                    <a:srgbClr val="102031">
                      <a:alpha val="60000"/>
                    </a:srgbClr>
                  </a:solidFill>
                </a:ln>
                <a:solidFill>
                  <a:schemeClr val="tx1">
                    <a:alpha val="60000"/>
                  </a:schemeClr>
                </a:solidFill>
              </a:rPr>
              <a:t>Onepoint propose un ensemble de bonnes pratiques</a:t>
            </a:r>
          </a:p>
          <a:p>
            <a:pPr>
              <a:lnSpc>
                <a:spcPct val="78000"/>
              </a:lnSpc>
            </a:pPr>
            <a:r>
              <a:rPr lang="fr-FR">
                <a:ln w="1905">
                  <a:solidFill>
                    <a:srgbClr val="102031">
                      <a:alpha val="60000"/>
                    </a:srgbClr>
                  </a:solidFill>
                </a:ln>
                <a:solidFill>
                  <a:schemeClr val="tx1">
                    <a:alpha val="60000"/>
                  </a:schemeClr>
                </a:solidFill>
              </a:rPr>
              <a:t>Autour de l’API-</a:t>
            </a:r>
            <a:r>
              <a:rPr lang="fr-FR" err="1">
                <a:ln w="1905">
                  <a:solidFill>
                    <a:srgbClr val="102031">
                      <a:alpha val="60000"/>
                    </a:srgbClr>
                  </a:solidFill>
                </a:ln>
                <a:solidFill>
                  <a:schemeClr val="tx1">
                    <a:alpha val="60000"/>
                  </a:schemeClr>
                </a:solidFill>
              </a:rPr>
              <a:t>led</a:t>
            </a:r>
            <a:r>
              <a:rPr lang="fr-FR">
                <a:ln w="1905">
                  <a:solidFill>
                    <a:srgbClr val="102031">
                      <a:alpha val="60000"/>
                    </a:srgbClr>
                  </a:solidFill>
                </a:ln>
                <a:solidFill>
                  <a:schemeClr val="tx1">
                    <a:alpha val="60000"/>
                  </a:schemeClr>
                </a:solidFill>
              </a:rPr>
              <a:t>, modèle d’architecture MULESOFT</a:t>
            </a:r>
          </a:p>
        </p:txBody>
      </p:sp>
      <p:sp>
        <p:nvSpPr>
          <p:cNvPr id="19" name="Rectangle : coins arrondis 18">
            <a:extLst>
              <a:ext uri="{FF2B5EF4-FFF2-40B4-BE49-F238E27FC236}">
                <a16:creationId xmlns:a16="http://schemas.microsoft.com/office/drawing/2014/main" id="{7ECD9264-CF23-5B6D-DD6C-45C14F0D787A}"/>
              </a:ext>
            </a:extLst>
          </p:cNvPr>
          <p:cNvSpPr/>
          <p:nvPr/>
        </p:nvSpPr>
        <p:spPr>
          <a:xfrm>
            <a:off x="1385930" y="3939918"/>
            <a:ext cx="3545305" cy="1876926"/>
          </a:xfrm>
          <a:prstGeom prst="roundRect">
            <a:avLst/>
          </a:prstGeom>
          <a:solidFill>
            <a:schemeClr val="bg1"/>
          </a:solidFill>
          <a:ln w="38100" cap="flat">
            <a:solidFill>
              <a:srgbClr val="102031"/>
            </a:solidFill>
            <a:prstDash val="solid"/>
            <a:miter/>
          </a:ln>
          <a:effectLst>
            <a:outerShdw blurRad="50800" dist="38100" dir="2700000" algn="tl" rotWithShape="0">
              <a:prstClr val="black">
                <a:alpha val="40000"/>
              </a:prstClr>
            </a:outerShdw>
          </a:effectLst>
        </p:spPr>
        <p:txBody>
          <a:bodyPr rtlCol="0" anchor="ctr"/>
          <a:lstStyle/>
          <a:p>
            <a:pPr algn="ctr">
              <a:lnSpc>
                <a:spcPct val="80000"/>
              </a:lnSpc>
            </a:pPr>
            <a:r>
              <a:rPr lang="fr-FR" sz="2000">
                <a:ln w="19050">
                  <a:solidFill>
                    <a:srgbClr val="102031"/>
                  </a:solidFill>
                </a:ln>
                <a:solidFill>
                  <a:srgbClr val="102031"/>
                </a:solidFill>
                <a:latin typeface="Avenir LT 35 Light" panose="02000503030000020003" pitchFamily="2" charset="0"/>
              </a:rPr>
              <a:t>Approche Domain Driven Architecture et API-</a:t>
            </a:r>
            <a:r>
              <a:rPr lang="fr-FR" sz="2000" err="1">
                <a:ln w="19050">
                  <a:solidFill>
                    <a:srgbClr val="102031"/>
                  </a:solidFill>
                </a:ln>
                <a:solidFill>
                  <a:srgbClr val="102031"/>
                </a:solidFill>
                <a:latin typeface="Avenir LT 35 Light" panose="02000503030000020003" pitchFamily="2" charset="0"/>
              </a:rPr>
              <a:t>sation</a:t>
            </a:r>
            <a:r>
              <a:rPr lang="fr-FR" sz="2000">
                <a:ln w="19050">
                  <a:solidFill>
                    <a:srgbClr val="102031"/>
                  </a:solidFill>
                </a:ln>
                <a:solidFill>
                  <a:srgbClr val="102031"/>
                </a:solidFill>
                <a:latin typeface="Avenir LT 35 Light" panose="02000503030000020003" pitchFamily="2" charset="0"/>
              </a:rPr>
              <a:t> du SI </a:t>
            </a:r>
          </a:p>
        </p:txBody>
      </p:sp>
      <p:sp>
        <p:nvSpPr>
          <p:cNvPr id="20" name="ZoneTexte 19">
            <a:extLst>
              <a:ext uri="{FF2B5EF4-FFF2-40B4-BE49-F238E27FC236}">
                <a16:creationId xmlns:a16="http://schemas.microsoft.com/office/drawing/2014/main" id="{94516E8A-FE58-EEA1-8ACD-F65B25236A9F}"/>
              </a:ext>
            </a:extLst>
          </p:cNvPr>
          <p:cNvSpPr txBox="1"/>
          <p:nvPr/>
        </p:nvSpPr>
        <p:spPr>
          <a:xfrm>
            <a:off x="1385930" y="5926247"/>
            <a:ext cx="2786020" cy="315343"/>
          </a:xfrm>
          <a:prstGeom prst="rect">
            <a:avLst/>
          </a:prstGeom>
          <a:noFill/>
        </p:spPr>
        <p:txBody>
          <a:bodyPr wrap="square" rtlCol="0">
            <a:spAutoFit/>
          </a:bodyPr>
          <a:lstStyle/>
          <a:p>
            <a:pPr>
              <a:lnSpc>
                <a:spcPct val="78000"/>
              </a:lnSpc>
            </a:pPr>
            <a:r>
              <a:rPr lang="fr-FR">
                <a:ln w="1905">
                  <a:solidFill>
                    <a:srgbClr val="102031">
                      <a:alpha val="60000"/>
                    </a:srgbClr>
                  </a:solidFill>
                </a:ln>
                <a:solidFill>
                  <a:schemeClr val="tx1">
                    <a:alpha val="60000"/>
                  </a:schemeClr>
                </a:solidFill>
              </a:rPr>
              <a:t>Notion d’API Produit</a:t>
            </a:r>
          </a:p>
        </p:txBody>
      </p:sp>
      <p:sp>
        <p:nvSpPr>
          <p:cNvPr id="22" name="Rectangle : coins arrondis 21">
            <a:extLst>
              <a:ext uri="{FF2B5EF4-FFF2-40B4-BE49-F238E27FC236}">
                <a16:creationId xmlns:a16="http://schemas.microsoft.com/office/drawing/2014/main" id="{D89E1849-71D7-AB66-4E2B-CD8268E5DB53}"/>
              </a:ext>
            </a:extLst>
          </p:cNvPr>
          <p:cNvSpPr/>
          <p:nvPr/>
        </p:nvSpPr>
        <p:spPr>
          <a:xfrm>
            <a:off x="6096000" y="4006759"/>
            <a:ext cx="3545305" cy="1876926"/>
          </a:xfrm>
          <a:prstGeom prst="roundRect">
            <a:avLst/>
          </a:prstGeom>
          <a:solidFill>
            <a:schemeClr val="bg1"/>
          </a:solidFill>
          <a:ln w="38100" cap="flat">
            <a:solidFill>
              <a:srgbClr val="102031"/>
            </a:solidFill>
            <a:prstDash val="solid"/>
            <a:miter/>
          </a:ln>
          <a:effectLst>
            <a:outerShdw blurRad="50800" dist="38100" dir="2700000" algn="tl" rotWithShape="0">
              <a:prstClr val="black">
                <a:alpha val="40000"/>
              </a:prstClr>
            </a:outerShdw>
          </a:effectLst>
        </p:spPr>
        <p:txBody>
          <a:bodyPr rtlCol="0" anchor="ctr"/>
          <a:lstStyle/>
          <a:p>
            <a:pPr algn="ctr">
              <a:lnSpc>
                <a:spcPct val="80000"/>
              </a:lnSpc>
            </a:pPr>
            <a:r>
              <a:rPr lang="fr-FR" sz="2000">
                <a:ln w="19050">
                  <a:solidFill>
                    <a:srgbClr val="102031"/>
                  </a:solidFill>
                </a:ln>
                <a:solidFill>
                  <a:srgbClr val="102031"/>
                </a:solidFill>
                <a:latin typeface="Avenir LT 35 Light" panose="02000503030000020003" pitchFamily="2" charset="0"/>
              </a:rPr>
              <a:t>Modèle API-</a:t>
            </a:r>
            <a:r>
              <a:rPr lang="fr-FR" sz="2000" err="1">
                <a:ln w="19050">
                  <a:solidFill>
                    <a:srgbClr val="102031"/>
                  </a:solidFill>
                </a:ln>
                <a:solidFill>
                  <a:srgbClr val="102031"/>
                </a:solidFill>
                <a:latin typeface="Avenir LT 35 Light" panose="02000503030000020003" pitchFamily="2" charset="0"/>
              </a:rPr>
              <a:t>led</a:t>
            </a:r>
            <a:r>
              <a:rPr lang="fr-FR" sz="2000">
                <a:ln w="19050">
                  <a:solidFill>
                    <a:srgbClr val="102031"/>
                  </a:solidFill>
                </a:ln>
                <a:solidFill>
                  <a:srgbClr val="102031"/>
                </a:solidFill>
                <a:latin typeface="Avenir LT 35 Light" panose="02000503030000020003" pitchFamily="2" charset="0"/>
              </a:rPr>
              <a:t> Connectivity et Modèles de communication et usage de MULESOFT</a:t>
            </a:r>
          </a:p>
        </p:txBody>
      </p:sp>
    </p:spTree>
    <p:extLst>
      <p:ext uri="{BB962C8B-B14F-4D97-AF65-F5344CB8AC3E}">
        <p14:creationId xmlns:p14="http://schemas.microsoft.com/office/powerpoint/2010/main" val="3443470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84F9D-0E79-6A9F-8BCD-63A5434E2708}"/>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26501B8-933C-6AF0-1F6C-C3ECC4965C40}"/>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66801246-A38B-9B31-6FE4-42CB2172C16F}"/>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01FD824-5AF3-6F03-5443-81FFB077711C}"/>
              </a:ext>
            </a:extLst>
          </p:cNvPr>
          <p:cNvSpPr>
            <a:spLocks noGrp="1"/>
          </p:cNvSpPr>
          <p:nvPr>
            <p:ph type="sldNum" sz="quarter" idx="12"/>
          </p:nvPr>
        </p:nvSpPr>
        <p:spPr/>
        <p:txBody>
          <a:bodyPr/>
          <a:lstStyle/>
          <a:p>
            <a:fld id="{CD166EB1-B284-8541-B839-321F682B6B05}" type="slidenum">
              <a:rPr lang="fr-FR" smtClean="0"/>
              <a:pPr/>
              <a:t>12</a:t>
            </a:fld>
            <a:endParaRPr lang="fr-FR"/>
          </a:p>
        </p:txBody>
      </p:sp>
      <p:sp>
        <p:nvSpPr>
          <p:cNvPr id="6" name="Espace réservé du texte 5">
            <a:extLst>
              <a:ext uri="{FF2B5EF4-FFF2-40B4-BE49-F238E27FC236}">
                <a16:creationId xmlns:a16="http://schemas.microsoft.com/office/drawing/2014/main" id="{ED546BA4-A399-F0C9-BF33-D355E6C228C4}"/>
              </a:ext>
            </a:extLst>
          </p:cNvPr>
          <p:cNvSpPr>
            <a:spLocks noGrp="1"/>
          </p:cNvSpPr>
          <p:nvPr>
            <p:ph type="body" sz="quarter" idx="19"/>
          </p:nvPr>
        </p:nvSpPr>
        <p:spPr/>
        <p:txBody>
          <a:bodyPr/>
          <a:lstStyle/>
          <a:p>
            <a:r>
              <a:rPr lang="fr-FR">
                <a:ln w="19050">
                  <a:solidFill>
                    <a:schemeClr val="bg1"/>
                  </a:solidFill>
                </a:ln>
              </a:rPr>
              <a:t>« L’hyper-espace » des modèles de solutions</a:t>
            </a:r>
          </a:p>
        </p:txBody>
      </p:sp>
      <p:sp>
        <p:nvSpPr>
          <p:cNvPr id="7" name="Espace réservé du texte 6">
            <a:extLst>
              <a:ext uri="{FF2B5EF4-FFF2-40B4-BE49-F238E27FC236}">
                <a16:creationId xmlns:a16="http://schemas.microsoft.com/office/drawing/2014/main" id="{370D2F8A-DFB2-E0C7-1D16-451E7278853B}"/>
              </a:ext>
            </a:extLst>
          </p:cNvPr>
          <p:cNvSpPr>
            <a:spLocks noGrp="1"/>
          </p:cNvSpPr>
          <p:nvPr>
            <p:ph type="body" sz="quarter" idx="30"/>
          </p:nvPr>
        </p:nvSpPr>
        <p:spPr/>
        <p:txBody>
          <a:bodyPr/>
          <a:lstStyle/>
          <a:p>
            <a:r>
              <a:rPr lang="fr-FR">
                <a:ln w="19050">
                  <a:solidFill>
                    <a:schemeClr val="bg1"/>
                  </a:solidFill>
                </a:ln>
              </a:rPr>
              <a:t>03</a:t>
            </a:r>
          </a:p>
        </p:txBody>
      </p:sp>
      <p:grpSp>
        <p:nvGrpSpPr>
          <p:cNvPr id="11" name="Groupe 10">
            <a:extLst>
              <a:ext uri="{FF2B5EF4-FFF2-40B4-BE49-F238E27FC236}">
                <a16:creationId xmlns:a16="http://schemas.microsoft.com/office/drawing/2014/main" id="{BCE9B48B-10BA-8B07-7F46-3E8A66683317}"/>
              </a:ext>
            </a:extLst>
          </p:cNvPr>
          <p:cNvGrpSpPr/>
          <p:nvPr/>
        </p:nvGrpSpPr>
        <p:grpSpPr>
          <a:xfrm>
            <a:off x="623855" y="1105207"/>
            <a:ext cx="3825684" cy="1230032"/>
            <a:chOff x="1385930" y="1281622"/>
            <a:chExt cx="3545305" cy="1533942"/>
          </a:xfrm>
          <a:effectLst>
            <a:outerShdw blurRad="50800" dist="38100" dir="2700000" algn="tl" rotWithShape="0">
              <a:prstClr val="black">
                <a:alpha val="40000"/>
              </a:prstClr>
            </a:outerShdw>
          </a:effectLst>
        </p:grpSpPr>
        <p:sp>
          <p:nvSpPr>
            <p:cNvPr id="9" name="Rectangle : coins arrondis 8">
              <a:extLst>
                <a:ext uri="{FF2B5EF4-FFF2-40B4-BE49-F238E27FC236}">
                  <a16:creationId xmlns:a16="http://schemas.microsoft.com/office/drawing/2014/main" id="{5CF07860-7219-3481-4541-3E1567979424}"/>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a:ln w="19050">
                    <a:solidFill>
                      <a:srgbClr val="102031"/>
                    </a:solidFill>
                  </a:ln>
                  <a:solidFill>
                    <a:srgbClr val="102031"/>
                  </a:solidFill>
                  <a:latin typeface="Avenir LT 35 Light" panose="02000503030000020003" pitchFamily="2" charset="0"/>
                </a:rPr>
                <a:t>Intégration par messages</a:t>
              </a:r>
            </a:p>
            <a:p>
              <a:pPr algn="ctr">
                <a:lnSpc>
                  <a:spcPct val="70000"/>
                </a:lnSpc>
              </a:pPr>
              <a:r>
                <a:rPr lang="fr-FR" sz="1200"/>
                <a:t>Les applications communiquent en échangeant des messages au sein d'une architecture basée sur les messages. Ce pattern est souvent utilisé dans une architecture orientée événements.</a:t>
              </a:r>
              <a:endParaRPr lang="fr-FR" sz="1400"/>
            </a:p>
          </p:txBody>
        </p:sp>
        <p:sp>
          <p:nvSpPr>
            <p:cNvPr id="5" name="ZoneTexte 4">
              <a:extLst>
                <a:ext uri="{FF2B5EF4-FFF2-40B4-BE49-F238E27FC236}">
                  <a16:creationId xmlns:a16="http://schemas.microsoft.com/office/drawing/2014/main" id="{DB1CCBC7-9A73-FF58-B3EC-989DF7A7CC86}"/>
                </a:ext>
              </a:extLst>
            </p:cNvPr>
            <p:cNvSpPr txBox="1"/>
            <p:nvPr/>
          </p:nvSpPr>
          <p:spPr>
            <a:xfrm>
              <a:off x="1529085" y="2220956"/>
              <a:ext cx="1202509" cy="423834"/>
            </a:xfrm>
            <a:prstGeom prst="rect">
              <a:avLst/>
            </a:prstGeom>
            <a:noFill/>
          </p:spPr>
          <p:txBody>
            <a:bodyPr wrap="none" rtlCol="0">
              <a:spAutoFit/>
            </a:bodyPr>
            <a:lstStyle/>
            <a:p>
              <a:pPr>
                <a:lnSpc>
                  <a:spcPct val="70000"/>
                </a:lnSpc>
              </a:pPr>
              <a:r>
                <a:rPr lang="fr-FR" sz="1200" b="1">
                  <a:ln w="12700">
                    <a:solidFill>
                      <a:schemeClr val="tx1"/>
                    </a:solidFill>
                  </a:ln>
                </a:rPr>
                <a:t>Fort</a:t>
              </a:r>
              <a:r>
                <a:rPr lang="fr-FR" b="1">
                  <a:ln w="12700">
                    <a:solidFill>
                      <a:schemeClr val="tx1"/>
                    </a:solidFill>
                  </a:ln>
                </a:rPr>
                <a:t> </a:t>
              </a:r>
              <a:r>
                <a:rPr lang="fr-FR" sz="1200" b="1">
                  <a:ln w="12700">
                    <a:solidFill>
                      <a:schemeClr val="tx1"/>
                    </a:solidFill>
                  </a:ln>
                </a:rPr>
                <a:t>découplage</a:t>
              </a:r>
            </a:p>
            <a:p>
              <a:pPr>
                <a:lnSpc>
                  <a:spcPct val="70000"/>
                </a:lnSpc>
              </a:pPr>
              <a:r>
                <a:rPr lang="fr-FR" sz="1200" b="1">
                  <a:ln w="12700">
                    <a:solidFill>
                      <a:schemeClr val="tx1"/>
                    </a:solidFill>
                  </a:ln>
                </a:rPr>
                <a:t>Adaptabilité</a:t>
              </a:r>
            </a:p>
          </p:txBody>
        </p:sp>
        <p:sp>
          <p:nvSpPr>
            <p:cNvPr id="10" name="ZoneTexte 9">
              <a:extLst>
                <a:ext uri="{FF2B5EF4-FFF2-40B4-BE49-F238E27FC236}">
                  <a16:creationId xmlns:a16="http://schemas.microsoft.com/office/drawing/2014/main" id="{1CF3A14B-EB50-E487-644A-DE724B4E158D}"/>
                </a:ext>
              </a:extLst>
            </p:cNvPr>
            <p:cNvSpPr txBox="1"/>
            <p:nvPr/>
          </p:nvSpPr>
          <p:spPr>
            <a:xfrm>
              <a:off x="2839287" y="2269020"/>
              <a:ext cx="2017347" cy="359201"/>
            </a:xfrm>
            <a:prstGeom prst="rect">
              <a:avLst/>
            </a:prstGeom>
            <a:noFill/>
          </p:spPr>
          <p:txBody>
            <a:bodyPr wrap="none" rtlCol="0">
              <a:spAutoFit/>
            </a:bodyPr>
            <a:lstStyle/>
            <a:p>
              <a:pPr algn="r">
                <a:lnSpc>
                  <a:spcPct val="70000"/>
                </a:lnSpc>
              </a:pPr>
              <a:r>
                <a:rPr lang="fr-FR" sz="1200" b="1">
                  <a:ln w="12700">
                    <a:solidFill>
                      <a:schemeClr val="tx1"/>
                    </a:solidFill>
                  </a:ln>
                </a:rPr>
                <a:t>Complexité de mise en œuvre</a:t>
              </a:r>
            </a:p>
            <a:p>
              <a:pPr algn="r">
                <a:lnSpc>
                  <a:spcPct val="70000"/>
                </a:lnSpc>
              </a:pPr>
              <a:r>
                <a:rPr lang="fr-FR" sz="1200" b="1">
                  <a:ln w="12700">
                    <a:solidFill>
                      <a:schemeClr val="tx1"/>
                    </a:solidFill>
                  </a:ln>
                </a:rPr>
                <a:t>Monitoring difficile</a:t>
              </a:r>
            </a:p>
          </p:txBody>
        </p:sp>
      </p:grpSp>
      <p:grpSp>
        <p:nvGrpSpPr>
          <p:cNvPr id="12" name="Groupe 11">
            <a:extLst>
              <a:ext uri="{FF2B5EF4-FFF2-40B4-BE49-F238E27FC236}">
                <a16:creationId xmlns:a16="http://schemas.microsoft.com/office/drawing/2014/main" id="{934129F3-C6E2-5E5F-5559-6FB956A401CA}"/>
              </a:ext>
            </a:extLst>
          </p:cNvPr>
          <p:cNvGrpSpPr/>
          <p:nvPr/>
        </p:nvGrpSpPr>
        <p:grpSpPr>
          <a:xfrm>
            <a:off x="4494835" y="1099182"/>
            <a:ext cx="4597316" cy="1230032"/>
            <a:chOff x="1385930" y="1281622"/>
            <a:chExt cx="3545305" cy="1533942"/>
          </a:xfrm>
          <a:effectLst>
            <a:outerShdw blurRad="50800" dist="38100" dir="2700000" algn="tl" rotWithShape="0">
              <a:prstClr val="black">
                <a:alpha val="40000"/>
              </a:prstClr>
            </a:outerShdw>
          </a:effectLst>
        </p:grpSpPr>
        <p:sp>
          <p:nvSpPr>
            <p:cNvPr id="13" name="Rectangle : coins arrondis 12">
              <a:extLst>
                <a:ext uri="{FF2B5EF4-FFF2-40B4-BE49-F238E27FC236}">
                  <a16:creationId xmlns:a16="http://schemas.microsoft.com/office/drawing/2014/main" id="{4C110E3D-6C8B-F4DF-D0F1-7961E934EB7D}"/>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a:ln w="19050">
                    <a:solidFill>
                      <a:srgbClr val="102031"/>
                    </a:solidFill>
                  </a:ln>
                  <a:solidFill>
                    <a:srgbClr val="102031"/>
                  </a:solidFill>
                  <a:latin typeface="Avenir LT 35 Light" panose="02000503030000020003" pitchFamily="2" charset="0"/>
                </a:rPr>
                <a:t>SOA</a:t>
              </a:r>
            </a:p>
            <a:p>
              <a:pPr algn="ctr">
                <a:lnSpc>
                  <a:spcPct val="70000"/>
                </a:lnSpc>
              </a:pPr>
              <a:r>
                <a:rPr lang="fr-FR" sz="1200"/>
                <a:t>Les applications exposent des services bien définis qui peuvent être consommés par d'autres applications, souvent via des API REST ou SOAP. Les services sont généralement autonomes et peuvent être combinés pour former des processus plus complexes.</a:t>
              </a:r>
              <a:endParaRPr lang="fr-FR" sz="1400"/>
            </a:p>
          </p:txBody>
        </p:sp>
        <p:sp>
          <p:nvSpPr>
            <p:cNvPr id="14" name="ZoneTexte 13">
              <a:extLst>
                <a:ext uri="{FF2B5EF4-FFF2-40B4-BE49-F238E27FC236}">
                  <a16:creationId xmlns:a16="http://schemas.microsoft.com/office/drawing/2014/main" id="{D14B4685-0235-351D-D2EE-FFB6C67B410F}"/>
                </a:ext>
              </a:extLst>
            </p:cNvPr>
            <p:cNvSpPr txBox="1"/>
            <p:nvPr/>
          </p:nvSpPr>
          <p:spPr>
            <a:xfrm>
              <a:off x="1529085" y="2319630"/>
              <a:ext cx="1707712" cy="359201"/>
            </a:xfrm>
            <a:prstGeom prst="rect">
              <a:avLst/>
            </a:prstGeom>
            <a:noFill/>
          </p:spPr>
          <p:txBody>
            <a:bodyPr wrap="none" rtlCol="0">
              <a:spAutoFit/>
            </a:bodyPr>
            <a:lstStyle/>
            <a:p>
              <a:pPr>
                <a:lnSpc>
                  <a:spcPct val="70000"/>
                </a:lnSpc>
              </a:pPr>
              <a:r>
                <a:rPr lang="fr-FR" sz="1200" b="1">
                  <a:ln w="12700">
                    <a:solidFill>
                      <a:schemeClr val="tx1"/>
                    </a:solidFill>
                  </a:ln>
                </a:rPr>
                <a:t>Réutilisation de services, </a:t>
              </a:r>
            </a:p>
            <a:p>
              <a:pPr>
                <a:lnSpc>
                  <a:spcPct val="70000"/>
                </a:lnSpc>
              </a:pPr>
              <a:r>
                <a:rPr lang="fr-FR" sz="1200" b="1">
                  <a:ln w="12700">
                    <a:solidFill>
                      <a:schemeClr val="tx1"/>
                    </a:solidFill>
                  </a:ln>
                </a:rPr>
                <a:t>flexibilité</a:t>
              </a:r>
            </a:p>
          </p:txBody>
        </p:sp>
        <p:sp>
          <p:nvSpPr>
            <p:cNvPr id="16" name="ZoneTexte 15">
              <a:extLst>
                <a:ext uri="{FF2B5EF4-FFF2-40B4-BE49-F238E27FC236}">
                  <a16:creationId xmlns:a16="http://schemas.microsoft.com/office/drawing/2014/main" id="{CD3A0D7A-3BE3-E622-05BF-6570831AAD2F}"/>
                </a:ext>
              </a:extLst>
            </p:cNvPr>
            <p:cNvSpPr txBox="1"/>
            <p:nvPr/>
          </p:nvSpPr>
          <p:spPr>
            <a:xfrm>
              <a:off x="2544175" y="2301912"/>
              <a:ext cx="2290563" cy="359201"/>
            </a:xfrm>
            <a:prstGeom prst="rect">
              <a:avLst/>
            </a:prstGeom>
            <a:noFill/>
          </p:spPr>
          <p:txBody>
            <a:bodyPr wrap="none" rtlCol="0">
              <a:spAutoFit/>
            </a:bodyPr>
            <a:lstStyle/>
            <a:p>
              <a:pPr algn="r">
                <a:lnSpc>
                  <a:spcPct val="70000"/>
                </a:lnSpc>
              </a:pPr>
              <a:r>
                <a:rPr lang="fr-FR" sz="1200" b="1">
                  <a:ln w="12700">
                    <a:solidFill>
                      <a:schemeClr val="tx1"/>
                    </a:solidFill>
                  </a:ln>
                </a:rPr>
                <a:t>Complexité de gestion des services</a:t>
              </a:r>
            </a:p>
            <a:p>
              <a:pPr algn="r">
                <a:lnSpc>
                  <a:spcPct val="70000"/>
                </a:lnSpc>
              </a:pPr>
              <a:r>
                <a:rPr lang="fr-FR" sz="1200" b="1">
                  <a:ln w="12700">
                    <a:solidFill>
                      <a:schemeClr val="tx1"/>
                    </a:solidFill>
                  </a:ln>
                </a:rPr>
                <a:t>gouvernance</a:t>
              </a:r>
            </a:p>
          </p:txBody>
        </p:sp>
      </p:grpSp>
      <p:grpSp>
        <p:nvGrpSpPr>
          <p:cNvPr id="17" name="Groupe 16">
            <a:extLst>
              <a:ext uri="{FF2B5EF4-FFF2-40B4-BE49-F238E27FC236}">
                <a16:creationId xmlns:a16="http://schemas.microsoft.com/office/drawing/2014/main" id="{B6D8C751-D32B-EAE3-0EE3-16B15A9038AC}"/>
              </a:ext>
            </a:extLst>
          </p:cNvPr>
          <p:cNvGrpSpPr/>
          <p:nvPr/>
        </p:nvGrpSpPr>
        <p:grpSpPr>
          <a:xfrm>
            <a:off x="896076" y="2408415"/>
            <a:ext cx="4597316" cy="1230032"/>
            <a:chOff x="1385930" y="1281622"/>
            <a:chExt cx="3545305" cy="1533942"/>
          </a:xfrm>
          <a:effectLst>
            <a:outerShdw blurRad="50800" dist="38100" dir="2700000" algn="tl" rotWithShape="0">
              <a:prstClr val="black">
                <a:alpha val="40000"/>
              </a:prstClr>
            </a:outerShdw>
          </a:effectLst>
        </p:grpSpPr>
        <p:sp>
          <p:nvSpPr>
            <p:cNvPr id="18" name="Rectangle : coins arrondis 17">
              <a:extLst>
                <a:ext uri="{FF2B5EF4-FFF2-40B4-BE49-F238E27FC236}">
                  <a16:creationId xmlns:a16="http://schemas.microsoft.com/office/drawing/2014/main" id="{B1E54017-0A72-8A4D-2EAC-256B38A6AC72}"/>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a:ln w="19050">
                    <a:solidFill>
                      <a:srgbClr val="102031"/>
                    </a:solidFill>
                  </a:ln>
                  <a:solidFill>
                    <a:srgbClr val="102031"/>
                  </a:solidFill>
                  <a:latin typeface="Avenir LT 35 Light" panose="02000503030000020003" pitchFamily="2" charset="0"/>
                </a:rPr>
                <a:t>Data Sharing</a:t>
              </a:r>
            </a:p>
            <a:p>
              <a:pPr algn="ctr">
                <a:lnSpc>
                  <a:spcPct val="70000"/>
                </a:lnSpc>
              </a:pPr>
              <a:r>
                <a:rPr lang="fr-FR" sz="1200"/>
                <a:t>Les applications partagent directement des données au niveau de la base de données, ou via un entrepôt de données (Data Warehouse) ou un lac de données (Data Lake)</a:t>
              </a:r>
              <a:endParaRPr lang="fr-FR" sz="2000"/>
            </a:p>
          </p:txBody>
        </p:sp>
        <p:sp>
          <p:nvSpPr>
            <p:cNvPr id="21" name="ZoneTexte 20">
              <a:extLst>
                <a:ext uri="{FF2B5EF4-FFF2-40B4-BE49-F238E27FC236}">
                  <a16:creationId xmlns:a16="http://schemas.microsoft.com/office/drawing/2014/main" id="{FEC89154-C96F-59A2-CDE1-D0B6395CC95A}"/>
                </a:ext>
              </a:extLst>
            </p:cNvPr>
            <p:cNvSpPr txBox="1"/>
            <p:nvPr/>
          </p:nvSpPr>
          <p:spPr>
            <a:xfrm>
              <a:off x="1529085" y="2201223"/>
              <a:ext cx="1773779" cy="359201"/>
            </a:xfrm>
            <a:prstGeom prst="rect">
              <a:avLst/>
            </a:prstGeom>
            <a:noFill/>
          </p:spPr>
          <p:txBody>
            <a:bodyPr wrap="none" rtlCol="0">
              <a:spAutoFit/>
            </a:bodyPr>
            <a:lstStyle/>
            <a:p>
              <a:pPr>
                <a:lnSpc>
                  <a:spcPct val="70000"/>
                </a:lnSpc>
              </a:pPr>
              <a:r>
                <a:rPr lang="fr-FR" sz="1200" b="1">
                  <a:ln w="12700">
                    <a:solidFill>
                      <a:schemeClr val="tx1"/>
                    </a:solidFill>
                  </a:ln>
                </a:rPr>
                <a:t>Accès direct aux données</a:t>
              </a:r>
            </a:p>
            <a:p>
              <a:pPr>
                <a:lnSpc>
                  <a:spcPct val="70000"/>
                </a:lnSpc>
              </a:pPr>
              <a:r>
                <a:rPr lang="fr-FR" sz="1200" b="1">
                  <a:ln w="12700">
                    <a:solidFill>
                      <a:schemeClr val="tx1"/>
                    </a:solidFill>
                  </a:ln>
                </a:rPr>
                <a:t>Centralisation des informations</a:t>
              </a:r>
            </a:p>
          </p:txBody>
        </p:sp>
        <p:sp>
          <p:nvSpPr>
            <p:cNvPr id="23" name="ZoneTexte 22">
              <a:extLst>
                <a:ext uri="{FF2B5EF4-FFF2-40B4-BE49-F238E27FC236}">
                  <a16:creationId xmlns:a16="http://schemas.microsoft.com/office/drawing/2014/main" id="{48A3AF6E-378E-A11E-7827-A144A1695D24}"/>
                </a:ext>
              </a:extLst>
            </p:cNvPr>
            <p:cNvSpPr txBox="1"/>
            <p:nvPr/>
          </p:nvSpPr>
          <p:spPr>
            <a:xfrm>
              <a:off x="3968842" y="2137459"/>
              <a:ext cx="865892" cy="488467"/>
            </a:xfrm>
            <a:prstGeom prst="rect">
              <a:avLst/>
            </a:prstGeom>
            <a:noFill/>
          </p:spPr>
          <p:txBody>
            <a:bodyPr wrap="none" rtlCol="0">
              <a:spAutoFit/>
            </a:bodyPr>
            <a:lstStyle/>
            <a:p>
              <a:pPr algn="r">
                <a:lnSpc>
                  <a:spcPct val="70000"/>
                </a:lnSpc>
              </a:pPr>
              <a:r>
                <a:rPr lang="fr-FR" sz="1200" b="1">
                  <a:ln w="12700">
                    <a:solidFill>
                      <a:schemeClr val="tx1"/>
                    </a:solidFill>
                  </a:ln>
                </a:rPr>
                <a:t>Sécurité </a:t>
              </a:r>
            </a:p>
            <a:p>
              <a:pPr algn="r">
                <a:lnSpc>
                  <a:spcPct val="70000"/>
                </a:lnSpc>
              </a:pPr>
              <a:r>
                <a:rPr lang="fr-FR" sz="1200" b="1">
                  <a:ln w="12700">
                    <a:solidFill>
                      <a:schemeClr val="tx1"/>
                    </a:solidFill>
                  </a:ln>
                </a:rPr>
                <a:t>Performance, </a:t>
              </a:r>
            </a:p>
            <a:p>
              <a:pPr algn="r">
                <a:lnSpc>
                  <a:spcPct val="70000"/>
                </a:lnSpc>
              </a:pPr>
              <a:r>
                <a:rPr lang="fr-FR" sz="1200" b="1">
                  <a:ln w="12700">
                    <a:solidFill>
                      <a:schemeClr val="tx1"/>
                    </a:solidFill>
                  </a:ln>
                </a:rPr>
                <a:t>Couplage fort.</a:t>
              </a:r>
            </a:p>
          </p:txBody>
        </p:sp>
      </p:grpSp>
      <p:grpSp>
        <p:nvGrpSpPr>
          <p:cNvPr id="24" name="Groupe 23">
            <a:extLst>
              <a:ext uri="{FF2B5EF4-FFF2-40B4-BE49-F238E27FC236}">
                <a16:creationId xmlns:a16="http://schemas.microsoft.com/office/drawing/2014/main" id="{B34D541E-E855-F1EF-BB31-16BF2F7C5083}"/>
              </a:ext>
            </a:extLst>
          </p:cNvPr>
          <p:cNvGrpSpPr/>
          <p:nvPr/>
        </p:nvGrpSpPr>
        <p:grpSpPr>
          <a:xfrm>
            <a:off x="5563148" y="2402390"/>
            <a:ext cx="4597316" cy="1230032"/>
            <a:chOff x="1385930" y="1281622"/>
            <a:chExt cx="3545305" cy="1533942"/>
          </a:xfrm>
          <a:effectLst>
            <a:outerShdw blurRad="50800" dist="38100" dir="2700000" algn="tl" rotWithShape="0">
              <a:prstClr val="black">
                <a:alpha val="40000"/>
              </a:prstClr>
            </a:outerShdw>
          </a:effectLst>
        </p:grpSpPr>
        <p:sp>
          <p:nvSpPr>
            <p:cNvPr id="25" name="Rectangle : coins arrondis 24">
              <a:extLst>
                <a:ext uri="{FF2B5EF4-FFF2-40B4-BE49-F238E27FC236}">
                  <a16:creationId xmlns:a16="http://schemas.microsoft.com/office/drawing/2014/main" id="{663FAFB1-3322-5843-C56B-97D377E28A6B}"/>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a:ln w="19050">
                    <a:solidFill>
                      <a:srgbClr val="102031"/>
                    </a:solidFill>
                  </a:ln>
                  <a:solidFill>
                    <a:srgbClr val="102031"/>
                  </a:solidFill>
                  <a:latin typeface="Avenir LT 35 Light" panose="02000503030000020003" pitchFamily="2" charset="0"/>
                </a:rPr>
                <a:t>ESB</a:t>
              </a:r>
            </a:p>
            <a:p>
              <a:pPr algn="ctr">
                <a:lnSpc>
                  <a:spcPct val="70000"/>
                </a:lnSpc>
              </a:pPr>
              <a:r>
                <a:rPr lang="fr-FR" sz="1200"/>
                <a:t>L'ESB agit comme un bus central où transitent tous les messages, ce qui facilite la communication entre les applications sans connexion point-à-point.</a:t>
              </a:r>
              <a:endParaRPr lang="fr-FR" sz="2000"/>
            </a:p>
          </p:txBody>
        </p:sp>
        <p:sp>
          <p:nvSpPr>
            <p:cNvPr id="26" name="ZoneTexte 25">
              <a:extLst>
                <a:ext uri="{FF2B5EF4-FFF2-40B4-BE49-F238E27FC236}">
                  <a16:creationId xmlns:a16="http://schemas.microsoft.com/office/drawing/2014/main" id="{05AEF77C-97D6-F24A-CA41-DC6F6208414A}"/>
                </a:ext>
              </a:extLst>
            </p:cNvPr>
            <p:cNvSpPr txBox="1"/>
            <p:nvPr/>
          </p:nvSpPr>
          <p:spPr>
            <a:xfrm>
              <a:off x="1529085" y="2201223"/>
              <a:ext cx="1273120" cy="359201"/>
            </a:xfrm>
            <a:prstGeom prst="rect">
              <a:avLst/>
            </a:prstGeom>
            <a:noFill/>
          </p:spPr>
          <p:txBody>
            <a:bodyPr wrap="none" rtlCol="0">
              <a:spAutoFit/>
            </a:bodyPr>
            <a:lstStyle/>
            <a:p>
              <a:pPr>
                <a:lnSpc>
                  <a:spcPct val="70000"/>
                </a:lnSpc>
              </a:pPr>
              <a:r>
                <a:rPr lang="fr-FR" sz="1200" b="1">
                  <a:ln w="12700">
                    <a:solidFill>
                      <a:schemeClr val="tx1"/>
                    </a:solidFill>
                  </a:ln>
                </a:rPr>
                <a:t>Scalabilité</a:t>
              </a:r>
            </a:p>
            <a:p>
              <a:pPr>
                <a:lnSpc>
                  <a:spcPct val="70000"/>
                </a:lnSpc>
              </a:pPr>
              <a:r>
                <a:rPr lang="fr-FR" sz="1200" b="1">
                  <a:ln w="12700">
                    <a:solidFill>
                      <a:schemeClr val="tx1"/>
                    </a:solidFill>
                  </a:ln>
                </a:rPr>
                <a:t>Réduit le point à point</a:t>
              </a:r>
            </a:p>
          </p:txBody>
        </p:sp>
        <p:sp>
          <p:nvSpPr>
            <p:cNvPr id="27" name="ZoneTexte 26">
              <a:extLst>
                <a:ext uri="{FF2B5EF4-FFF2-40B4-BE49-F238E27FC236}">
                  <a16:creationId xmlns:a16="http://schemas.microsoft.com/office/drawing/2014/main" id="{86192E5D-55C7-ECAF-52D4-63B0D539D62D}"/>
                </a:ext>
              </a:extLst>
            </p:cNvPr>
            <p:cNvSpPr txBox="1"/>
            <p:nvPr/>
          </p:nvSpPr>
          <p:spPr>
            <a:xfrm>
              <a:off x="3271288" y="2176928"/>
              <a:ext cx="1563441" cy="359201"/>
            </a:xfrm>
            <a:prstGeom prst="rect">
              <a:avLst/>
            </a:prstGeom>
            <a:noFill/>
          </p:spPr>
          <p:txBody>
            <a:bodyPr wrap="none" rtlCol="0">
              <a:spAutoFit/>
            </a:bodyPr>
            <a:lstStyle/>
            <a:p>
              <a:pPr algn="r">
                <a:lnSpc>
                  <a:spcPct val="70000"/>
                </a:lnSpc>
              </a:pPr>
              <a:r>
                <a:rPr lang="fr-FR" sz="1200" b="1">
                  <a:ln w="12700">
                    <a:solidFill>
                      <a:schemeClr val="tx1"/>
                    </a:solidFill>
                  </a:ln>
                </a:rPr>
                <a:t>SPOF </a:t>
              </a:r>
            </a:p>
            <a:p>
              <a:pPr algn="r">
                <a:lnSpc>
                  <a:spcPct val="70000"/>
                </a:lnSpc>
              </a:pPr>
              <a:r>
                <a:rPr lang="fr-FR" sz="1200" b="1">
                  <a:ln w="12700">
                    <a:solidFill>
                      <a:schemeClr val="tx1"/>
                    </a:solidFill>
                  </a:ln>
                </a:rPr>
                <a:t>Complexité de maintenance</a:t>
              </a:r>
            </a:p>
          </p:txBody>
        </p:sp>
      </p:grpSp>
      <p:grpSp>
        <p:nvGrpSpPr>
          <p:cNvPr id="28" name="Groupe 27">
            <a:extLst>
              <a:ext uri="{FF2B5EF4-FFF2-40B4-BE49-F238E27FC236}">
                <a16:creationId xmlns:a16="http://schemas.microsoft.com/office/drawing/2014/main" id="{9E0202E1-D93C-874B-8416-FF93483E36CD}"/>
              </a:ext>
            </a:extLst>
          </p:cNvPr>
          <p:cNvGrpSpPr/>
          <p:nvPr/>
        </p:nvGrpSpPr>
        <p:grpSpPr>
          <a:xfrm>
            <a:off x="1878457" y="3703682"/>
            <a:ext cx="4597316" cy="1230032"/>
            <a:chOff x="1385930" y="1281622"/>
            <a:chExt cx="3545305" cy="1533942"/>
          </a:xfrm>
          <a:effectLst>
            <a:outerShdw blurRad="50800" dist="38100" dir="2700000" algn="tl" rotWithShape="0">
              <a:prstClr val="black">
                <a:alpha val="40000"/>
              </a:prstClr>
            </a:outerShdw>
          </a:effectLst>
        </p:grpSpPr>
        <p:sp>
          <p:nvSpPr>
            <p:cNvPr id="29" name="Rectangle : coins arrondis 28">
              <a:extLst>
                <a:ext uri="{FF2B5EF4-FFF2-40B4-BE49-F238E27FC236}">
                  <a16:creationId xmlns:a16="http://schemas.microsoft.com/office/drawing/2014/main" id="{2C45BED8-A898-6B1F-8833-D8297E422ECD}"/>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a:ln w="19050">
                    <a:solidFill>
                      <a:srgbClr val="102031"/>
                    </a:solidFill>
                  </a:ln>
                  <a:solidFill>
                    <a:srgbClr val="102031"/>
                  </a:solidFill>
                  <a:latin typeface="Avenir LT 35 Light" panose="02000503030000020003" pitchFamily="2" charset="0"/>
                </a:rPr>
                <a:t>Event Driven </a:t>
              </a:r>
              <a:r>
                <a:rPr lang="en-US" sz="2000">
                  <a:ln w="19050">
                    <a:solidFill>
                      <a:srgbClr val="102031"/>
                    </a:solidFill>
                  </a:ln>
                  <a:solidFill>
                    <a:srgbClr val="102031"/>
                  </a:solidFill>
                  <a:latin typeface="Avenir LT 35 Light" panose="02000503030000020003" pitchFamily="2" charset="0"/>
                </a:rPr>
                <a:t>Integration</a:t>
              </a:r>
            </a:p>
            <a:p>
              <a:pPr algn="ctr">
                <a:lnSpc>
                  <a:spcPct val="70000"/>
                </a:lnSpc>
              </a:pPr>
              <a:r>
                <a:rPr lang="fr-FR" sz="1200"/>
                <a:t>Les applications réagissent aux événements produits par d'autres applications, ce qui permet de déclencher des actions en temps réel.</a:t>
              </a:r>
              <a:endParaRPr lang="fr-FR" sz="2000"/>
            </a:p>
          </p:txBody>
        </p:sp>
        <p:sp>
          <p:nvSpPr>
            <p:cNvPr id="30" name="ZoneTexte 29">
              <a:extLst>
                <a:ext uri="{FF2B5EF4-FFF2-40B4-BE49-F238E27FC236}">
                  <a16:creationId xmlns:a16="http://schemas.microsoft.com/office/drawing/2014/main" id="{A4C4F54F-682C-4716-217E-64A3DA3801D3}"/>
                </a:ext>
              </a:extLst>
            </p:cNvPr>
            <p:cNvSpPr txBox="1"/>
            <p:nvPr/>
          </p:nvSpPr>
          <p:spPr>
            <a:xfrm>
              <a:off x="1529085" y="2201223"/>
              <a:ext cx="1505495" cy="359201"/>
            </a:xfrm>
            <a:prstGeom prst="rect">
              <a:avLst/>
            </a:prstGeom>
            <a:noFill/>
          </p:spPr>
          <p:txBody>
            <a:bodyPr wrap="none" rtlCol="0">
              <a:spAutoFit/>
            </a:bodyPr>
            <a:lstStyle/>
            <a:p>
              <a:pPr>
                <a:lnSpc>
                  <a:spcPct val="70000"/>
                </a:lnSpc>
              </a:pPr>
              <a:r>
                <a:rPr lang="fr-FR" sz="1200" b="1">
                  <a:ln w="12700">
                    <a:solidFill>
                      <a:schemeClr val="tx1"/>
                    </a:solidFill>
                  </a:ln>
                </a:rPr>
                <a:t>Réactivité quasi-temps réel</a:t>
              </a:r>
            </a:p>
            <a:p>
              <a:pPr>
                <a:lnSpc>
                  <a:spcPct val="70000"/>
                </a:lnSpc>
              </a:pPr>
              <a:r>
                <a:rPr lang="fr-FR" sz="1200" b="1">
                  <a:ln w="12700">
                    <a:solidFill>
                      <a:schemeClr val="tx1"/>
                    </a:solidFill>
                  </a:ln>
                </a:rPr>
                <a:t>Couplage faible</a:t>
              </a:r>
            </a:p>
          </p:txBody>
        </p:sp>
        <p:sp>
          <p:nvSpPr>
            <p:cNvPr id="31" name="ZoneTexte 30">
              <a:extLst>
                <a:ext uri="{FF2B5EF4-FFF2-40B4-BE49-F238E27FC236}">
                  <a16:creationId xmlns:a16="http://schemas.microsoft.com/office/drawing/2014/main" id="{9721F490-E4DA-D75D-7DE6-AD400030CDA6}"/>
                </a:ext>
              </a:extLst>
            </p:cNvPr>
            <p:cNvSpPr txBox="1"/>
            <p:nvPr/>
          </p:nvSpPr>
          <p:spPr>
            <a:xfrm>
              <a:off x="3534138" y="2176928"/>
              <a:ext cx="1300599" cy="359201"/>
            </a:xfrm>
            <a:prstGeom prst="rect">
              <a:avLst/>
            </a:prstGeom>
            <a:noFill/>
          </p:spPr>
          <p:txBody>
            <a:bodyPr wrap="none" rtlCol="0">
              <a:spAutoFit/>
            </a:bodyPr>
            <a:lstStyle/>
            <a:p>
              <a:pPr algn="r">
                <a:lnSpc>
                  <a:spcPct val="70000"/>
                </a:lnSpc>
              </a:pPr>
              <a:r>
                <a:rPr lang="fr-FR" sz="1200" b="1">
                  <a:ln w="12700">
                    <a:solidFill>
                      <a:schemeClr val="tx1"/>
                    </a:solidFill>
                  </a:ln>
                </a:rPr>
                <a:t>Complexité de gestion </a:t>
              </a:r>
            </a:p>
            <a:p>
              <a:pPr algn="r">
                <a:lnSpc>
                  <a:spcPct val="70000"/>
                </a:lnSpc>
              </a:pPr>
              <a:r>
                <a:rPr lang="fr-FR" sz="1200" b="1">
                  <a:ln w="12700">
                    <a:solidFill>
                      <a:schemeClr val="tx1"/>
                    </a:solidFill>
                  </a:ln>
                </a:rPr>
                <a:t>des évènements </a:t>
              </a:r>
            </a:p>
          </p:txBody>
        </p:sp>
      </p:grpSp>
      <p:grpSp>
        <p:nvGrpSpPr>
          <p:cNvPr id="32" name="Groupe 31">
            <a:extLst>
              <a:ext uri="{FF2B5EF4-FFF2-40B4-BE49-F238E27FC236}">
                <a16:creationId xmlns:a16="http://schemas.microsoft.com/office/drawing/2014/main" id="{4CB79352-B118-7163-C06D-A24AE82D7629}"/>
              </a:ext>
            </a:extLst>
          </p:cNvPr>
          <p:cNvGrpSpPr/>
          <p:nvPr/>
        </p:nvGrpSpPr>
        <p:grpSpPr>
          <a:xfrm>
            <a:off x="6525618" y="3711872"/>
            <a:ext cx="4597316" cy="1230032"/>
            <a:chOff x="1385930" y="1281622"/>
            <a:chExt cx="3545305" cy="1533942"/>
          </a:xfrm>
          <a:effectLst>
            <a:outerShdw blurRad="50800" dist="38100" dir="2700000" algn="tl" rotWithShape="0">
              <a:prstClr val="black">
                <a:alpha val="40000"/>
              </a:prstClr>
            </a:outerShdw>
          </a:effectLst>
        </p:grpSpPr>
        <p:sp>
          <p:nvSpPr>
            <p:cNvPr id="33" name="Rectangle : coins arrondis 32">
              <a:extLst>
                <a:ext uri="{FF2B5EF4-FFF2-40B4-BE49-F238E27FC236}">
                  <a16:creationId xmlns:a16="http://schemas.microsoft.com/office/drawing/2014/main" id="{C3073E1C-0BAF-E42C-45BD-AD7AA3DCFE96}"/>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a:ln w="19050">
                    <a:solidFill>
                      <a:srgbClr val="102031"/>
                    </a:solidFill>
                  </a:ln>
                  <a:solidFill>
                    <a:srgbClr val="102031"/>
                  </a:solidFill>
                  <a:latin typeface="Avenir LT 35 Light" panose="02000503030000020003" pitchFamily="2" charset="0"/>
                </a:rPr>
                <a:t>ETL</a:t>
              </a:r>
              <a:endParaRPr lang="en-US" sz="2000">
                <a:ln w="19050">
                  <a:solidFill>
                    <a:srgbClr val="102031"/>
                  </a:solidFill>
                </a:ln>
                <a:solidFill>
                  <a:srgbClr val="102031"/>
                </a:solidFill>
                <a:latin typeface="Avenir LT 35 Light" panose="02000503030000020003" pitchFamily="2" charset="0"/>
              </a:endParaRPr>
            </a:p>
            <a:p>
              <a:pPr algn="ctr">
                <a:lnSpc>
                  <a:spcPct val="70000"/>
                </a:lnSpc>
              </a:pPr>
              <a:r>
                <a:rPr lang="fr-FR" sz="1000"/>
                <a:t>Une plateforme d'intégration en tant que service simplifie les intégrations entre applications SaaS et sur site, avec des connecteurs prêts à l'emploi et des fonctionnalités d'automatisation des flux</a:t>
              </a:r>
              <a:endParaRPr lang="fr-FR" sz="2000"/>
            </a:p>
          </p:txBody>
        </p:sp>
        <p:sp>
          <p:nvSpPr>
            <p:cNvPr id="34" name="ZoneTexte 33">
              <a:extLst>
                <a:ext uri="{FF2B5EF4-FFF2-40B4-BE49-F238E27FC236}">
                  <a16:creationId xmlns:a16="http://schemas.microsoft.com/office/drawing/2014/main" id="{D9AB8713-2566-EEBF-1132-FDADDED70DC9}"/>
                </a:ext>
              </a:extLst>
            </p:cNvPr>
            <p:cNvSpPr txBox="1"/>
            <p:nvPr/>
          </p:nvSpPr>
          <p:spPr>
            <a:xfrm>
              <a:off x="1529085" y="2201223"/>
              <a:ext cx="1505495" cy="359201"/>
            </a:xfrm>
            <a:prstGeom prst="rect">
              <a:avLst/>
            </a:prstGeom>
            <a:noFill/>
          </p:spPr>
          <p:txBody>
            <a:bodyPr wrap="none" rtlCol="0">
              <a:spAutoFit/>
            </a:bodyPr>
            <a:lstStyle/>
            <a:p>
              <a:pPr>
                <a:lnSpc>
                  <a:spcPct val="70000"/>
                </a:lnSpc>
              </a:pPr>
              <a:r>
                <a:rPr lang="fr-FR" sz="1200" b="1">
                  <a:ln w="12700">
                    <a:solidFill>
                      <a:schemeClr val="tx1"/>
                    </a:solidFill>
                  </a:ln>
                </a:rPr>
                <a:t>Réactivité quasi-temps réel</a:t>
              </a:r>
            </a:p>
            <a:p>
              <a:pPr>
                <a:lnSpc>
                  <a:spcPct val="70000"/>
                </a:lnSpc>
              </a:pPr>
              <a:r>
                <a:rPr lang="fr-FR" sz="1200" b="1">
                  <a:ln w="12700">
                    <a:solidFill>
                      <a:schemeClr val="tx1"/>
                    </a:solidFill>
                  </a:ln>
                </a:rPr>
                <a:t>Couplage faible</a:t>
              </a:r>
            </a:p>
          </p:txBody>
        </p:sp>
        <p:sp>
          <p:nvSpPr>
            <p:cNvPr id="35" name="ZoneTexte 34">
              <a:extLst>
                <a:ext uri="{FF2B5EF4-FFF2-40B4-BE49-F238E27FC236}">
                  <a16:creationId xmlns:a16="http://schemas.microsoft.com/office/drawing/2014/main" id="{7D8FAF30-CB0D-0C14-7255-054B97046269}"/>
                </a:ext>
              </a:extLst>
            </p:cNvPr>
            <p:cNvSpPr txBox="1"/>
            <p:nvPr/>
          </p:nvSpPr>
          <p:spPr>
            <a:xfrm>
              <a:off x="3534138" y="2176928"/>
              <a:ext cx="1300599" cy="359201"/>
            </a:xfrm>
            <a:prstGeom prst="rect">
              <a:avLst/>
            </a:prstGeom>
            <a:noFill/>
          </p:spPr>
          <p:txBody>
            <a:bodyPr wrap="none" rtlCol="0">
              <a:spAutoFit/>
            </a:bodyPr>
            <a:lstStyle/>
            <a:p>
              <a:pPr algn="r">
                <a:lnSpc>
                  <a:spcPct val="70000"/>
                </a:lnSpc>
              </a:pPr>
              <a:r>
                <a:rPr lang="fr-FR" sz="1200" b="1">
                  <a:ln w="12700">
                    <a:solidFill>
                      <a:schemeClr val="tx1"/>
                    </a:solidFill>
                  </a:ln>
                </a:rPr>
                <a:t>Complexité de gestion </a:t>
              </a:r>
            </a:p>
            <a:p>
              <a:pPr algn="r">
                <a:lnSpc>
                  <a:spcPct val="70000"/>
                </a:lnSpc>
              </a:pPr>
              <a:r>
                <a:rPr lang="fr-FR" sz="1200" b="1">
                  <a:ln w="12700">
                    <a:solidFill>
                      <a:schemeClr val="tx1"/>
                    </a:solidFill>
                  </a:ln>
                </a:rPr>
                <a:t>des évènements </a:t>
              </a:r>
            </a:p>
          </p:txBody>
        </p:sp>
      </p:grpSp>
      <p:grpSp>
        <p:nvGrpSpPr>
          <p:cNvPr id="36" name="Groupe 35">
            <a:extLst>
              <a:ext uri="{FF2B5EF4-FFF2-40B4-BE49-F238E27FC236}">
                <a16:creationId xmlns:a16="http://schemas.microsoft.com/office/drawing/2014/main" id="{B364B1F8-4CB0-08C5-572A-E490BE4315BD}"/>
              </a:ext>
            </a:extLst>
          </p:cNvPr>
          <p:cNvGrpSpPr/>
          <p:nvPr/>
        </p:nvGrpSpPr>
        <p:grpSpPr>
          <a:xfrm>
            <a:off x="1151466" y="4998949"/>
            <a:ext cx="4597316" cy="1230032"/>
            <a:chOff x="1385930" y="1281622"/>
            <a:chExt cx="3545305" cy="1533942"/>
          </a:xfrm>
          <a:effectLst>
            <a:outerShdw blurRad="50800" dist="38100" dir="2700000" algn="tl" rotWithShape="0">
              <a:prstClr val="black">
                <a:alpha val="40000"/>
              </a:prstClr>
            </a:outerShdw>
          </a:effectLst>
        </p:grpSpPr>
        <p:sp>
          <p:nvSpPr>
            <p:cNvPr id="37" name="Rectangle : coins arrondis 36">
              <a:extLst>
                <a:ext uri="{FF2B5EF4-FFF2-40B4-BE49-F238E27FC236}">
                  <a16:creationId xmlns:a16="http://schemas.microsoft.com/office/drawing/2014/main" id="{666051C5-2413-100B-70AC-F4A8836DCDF5}"/>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err="1">
                  <a:ln w="19050">
                    <a:solidFill>
                      <a:srgbClr val="102031"/>
                    </a:solidFill>
                  </a:ln>
                  <a:solidFill>
                    <a:srgbClr val="102031"/>
                  </a:solidFill>
                  <a:latin typeface="Avenir LT 35 Light" panose="02000503030000020003" pitchFamily="2" charset="0"/>
                </a:rPr>
                <a:t>IPaaS</a:t>
              </a:r>
              <a:endParaRPr lang="en-US" sz="2000">
                <a:ln w="19050">
                  <a:solidFill>
                    <a:srgbClr val="102031"/>
                  </a:solidFill>
                </a:ln>
                <a:solidFill>
                  <a:srgbClr val="102031"/>
                </a:solidFill>
                <a:latin typeface="Avenir LT 35 Light" panose="02000503030000020003" pitchFamily="2" charset="0"/>
              </a:endParaRPr>
            </a:p>
            <a:p>
              <a:pPr algn="ctr">
                <a:lnSpc>
                  <a:spcPct val="70000"/>
                </a:lnSpc>
              </a:pPr>
              <a:r>
                <a:rPr lang="fr-FR" sz="1200"/>
                <a:t>Combine plusieurs patterns pour s’adapter à des environnements complexes et répondre aux besoins variés des entreprises.</a:t>
              </a:r>
              <a:endParaRPr lang="fr-FR" sz="2000"/>
            </a:p>
          </p:txBody>
        </p:sp>
        <p:sp>
          <p:nvSpPr>
            <p:cNvPr id="38" name="ZoneTexte 37">
              <a:extLst>
                <a:ext uri="{FF2B5EF4-FFF2-40B4-BE49-F238E27FC236}">
                  <a16:creationId xmlns:a16="http://schemas.microsoft.com/office/drawing/2014/main" id="{D4751C4A-B9B5-0F68-2413-4A868EEE1B6D}"/>
                </a:ext>
              </a:extLst>
            </p:cNvPr>
            <p:cNvSpPr txBox="1"/>
            <p:nvPr/>
          </p:nvSpPr>
          <p:spPr>
            <a:xfrm>
              <a:off x="1529085" y="2201222"/>
              <a:ext cx="1153509" cy="447951"/>
            </a:xfrm>
            <a:prstGeom prst="rect">
              <a:avLst/>
            </a:prstGeom>
            <a:noFill/>
          </p:spPr>
          <p:txBody>
            <a:bodyPr wrap="none" rtlCol="0">
              <a:spAutoFit/>
            </a:bodyPr>
            <a:lstStyle/>
            <a:p>
              <a:pPr>
                <a:lnSpc>
                  <a:spcPct val="70000"/>
                </a:lnSpc>
              </a:pPr>
              <a:r>
                <a:rPr lang="fr-FR" sz="1200" b="1">
                  <a:ln w="12700">
                    <a:solidFill>
                      <a:schemeClr val="tx1"/>
                    </a:solidFill>
                  </a:ln>
                </a:rPr>
                <a:t>Rapidité d’intégration</a:t>
              </a:r>
            </a:p>
            <a:p>
              <a:pPr>
                <a:lnSpc>
                  <a:spcPct val="70000"/>
                </a:lnSpc>
              </a:pPr>
              <a:r>
                <a:rPr lang="fr-FR" sz="1200" b="1">
                  <a:ln w="12700">
                    <a:solidFill>
                      <a:schemeClr val="tx1"/>
                    </a:solidFill>
                  </a:ln>
                </a:rPr>
                <a:t>Flexibilité</a:t>
              </a:r>
            </a:p>
          </p:txBody>
        </p:sp>
        <p:sp>
          <p:nvSpPr>
            <p:cNvPr id="39" name="ZoneTexte 38">
              <a:extLst>
                <a:ext uri="{FF2B5EF4-FFF2-40B4-BE49-F238E27FC236}">
                  <a16:creationId xmlns:a16="http://schemas.microsoft.com/office/drawing/2014/main" id="{080AEBD5-307C-C9D5-B26E-75F77AA08A12}"/>
                </a:ext>
              </a:extLst>
            </p:cNvPr>
            <p:cNvSpPr txBox="1"/>
            <p:nvPr/>
          </p:nvSpPr>
          <p:spPr>
            <a:xfrm>
              <a:off x="3402194" y="2176928"/>
              <a:ext cx="1432541" cy="447951"/>
            </a:xfrm>
            <a:prstGeom prst="rect">
              <a:avLst/>
            </a:prstGeom>
            <a:noFill/>
          </p:spPr>
          <p:txBody>
            <a:bodyPr wrap="none" rtlCol="0">
              <a:spAutoFit/>
            </a:bodyPr>
            <a:lstStyle/>
            <a:p>
              <a:pPr algn="r">
                <a:lnSpc>
                  <a:spcPct val="70000"/>
                </a:lnSpc>
              </a:pPr>
              <a:r>
                <a:rPr lang="fr-FR" sz="1200" b="1">
                  <a:ln w="12700">
                    <a:solidFill>
                      <a:schemeClr val="tx1"/>
                    </a:solidFill>
                  </a:ln>
                </a:rPr>
                <a:t>Dépendance du fournisseur</a:t>
              </a:r>
            </a:p>
            <a:p>
              <a:pPr algn="r">
                <a:lnSpc>
                  <a:spcPct val="70000"/>
                </a:lnSpc>
              </a:pPr>
              <a:r>
                <a:rPr lang="fr-FR" sz="1200" b="1">
                  <a:ln w="12700">
                    <a:solidFill>
                      <a:schemeClr val="tx1"/>
                    </a:solidFill>
                  </a:ln>
                </a:rPr>
                <a:t>Coût élevé </a:t>
              </a:r>
            </a:p>
          </p:txBody>
        </p:sp>
      </p:grpSp>
      <p:grpSp>
        <p:nvGrpSpPr>
          <p:cNvPr id="40" name="Groupe 39">
            <a:extLst>
              <a:ext uri="{FF2B5EF4-FFF2-40B4-BE49-F238E27FC236}">
                <a16:creationId xmlns:a16="http://schemas.microsoft.com/office/drawing/2014/main" id="{19C91429-FB34-A0A7-801F-A44B74838E65}"/>
              </a:ext>
            </a:extLst>
          </p:cNvPr>
          <p:cNvGrpSpPr/>
          <p:nvPr/>
        </p:nvGrpSpPr>
        <p:grpSpPr>
          <a:xfrm>
            <a:off x="5816661" y="5000045"/>
            <a:ext cx="4597316" cy="1230032"/>
            <a:chOff x="1385930" y="1281622"/>
            <a:chExt cx="3545305" cy="1533942"/>
          </a:xfrm>
          <a:effectLst>
            <a:outerShdw blurRad="50800" dist="38100" dir="2700000" algn="tl" rotWithShape="0">
              <a:prstClr val="black">
                <a:alpha val="40000"/>
              </a:prstClr>
            </a:outerShdw>
          </a:effectLst>
        </p:grpSpPr>
        <p:sp>
          <p:nvSpPr>
            <p:cNvPr id="41" name="Rectangle : coins arrondis 40">
              <a:extLst>
                <a:ext uri="{FF2B5EF4-FFF2-40B4-BE49-F238E27FC236}">
                  <a16:creationId xmlns:a16="http://schemas.microsoft.com/office/drawing/2014/main" id="{B979C370-1068-EC1B-B815-7D64CF7F141F}"/>
                </a:ext>
              </a:extLst>
            </p:cNvPr>
            <p:cNvSpPr/>
            <p:nvPr/>
          </p:nvSpPr>
          <p:spPr>
            <a:xfrm>
              <a:off x="1385930" y="1281622"/>
              <a:ext cx="3545305" cy="1533942"/>
            </a:xfrm>
            <a:prstGeom prst="roundRect">
              <a:avLst/>
            </a:prstGeom>
            <a:solidFill>
              <a:schemeClr val="bg1"/>
            </a:solidFill>
            <a:ln w="38100" cap="flat">
              <a:solidFill>
                <a:srgbClr val="102031"/>
              </a:solidFill>
              <a:prstDash val="solid"/>
              <a:miter/>
            </a:ln>
          </p:spPr>
          <p:txBody>
            <a:bodyPr rtlCol="0" anchor="t"/>
            <a:lstStyle/>
            <a:p>
              <a:pPr algn="ctr">
                <a:lnSpc>
                  <a:spcPct val="80000"/>
                </a:lnSpc>
              </a:pPr>
              <a:r>
                <a:rPr lang="fr-FR" sz="2000">
                  <a:ln w="19050">
                    <a:solidFill>
                      <a:srgbClr val="102031"/>
                    </a:solidFill>
                  </a:ln>
                  <a:solidFill>
                    <a:srgbClr val="102031"/>
                  </a:solidFill>
                  <a:latin typeface="Avenir LT 35 Light" panose="02000503030000020003" pitchFamily="2" charset="0"/>
                </a:rPr>
                <a:t>Intégration Hybride</a:t>
              </a:r>
              <a:endParaRPr lang="en-US" sz="2000">
                <a:ln w="19050">
                  <a:solidFill>
                    <a:srgbClr val="102031"/>
                  </a:solidFill>
                </a:ln>
                <a:solidFill>
                  <a:srgbClr val="102031"/>
                </a:solidFill>
                <a:latin typeface="Avenir LT 35 Light" panose="02000503030000020003" pitchFamily="2" charset="0"/>
              </a:endParaRPr>
            </a:p>
            <a:p>
              <a:pPr algn="ctr">
                <a:lnSpc>
                  <a:spcPct val="70000"/>
                </a:lnSpc>
              </a:pPr>
              <a:r>
                <a:rPr lang="fr-FR" sz="1200"/>
                <a:t>Combine plusieurs patterns pour s’adapter à des environnements complexes et répondre aux besoins variés des entreprises </a:t>
              </a:r>
              <a:r>
                <a:rPr lang="fr-FR" sz="1050" i="1"/>
                <a:t>(ESB + </a:t>
              </a:r>
              <a:r>
                <a:rPr lang="fr-FR" sz="1050" i="1" err="1"/>
                <a:t>IPaaS</a:t>
              </a:r>
              <a:r>
                <a:rPr lang="fr-FR" sz="1050" i="1"/>
                <a:t>)</a:t>
              </a:r>
              <a:endParaRPr lang="fr-FR" sz="2000" i="1"/>
            </a:p>
          </p:txBody>
        </p:sp>
        <p:sp>
          <p:nvSpPr>
            <p:cNvPr id="42" name="ZoneTexte 41">
              <a:extLst>
                <a:ext uri="{FF2B5EF4-FFF2-40B4-BE49-F238E27FC236}">
                  <a16:creationId xmlns:a16="http://schemas.microsoft.com/office/drawing/2014/main" id="{B67EAEA9-4766-C1B4-BEDB-1A91DA01CF19}"/>
                </a:ext>
              </a:extLst>
            </p:cNvPr>
            <p:cNvSpPr txBox="1"/>
            <p:nvPr/>
          </p:nvSpPr>
          <p:spPr>
            <a:xfrm>
              <a:off x="1529085" y="2201222"/>
              <a:ext cx="1321235" cy="447951"/>
            </a:xfrm>
            <a:prstGeom prst="rect">
              <a:avLst/>
            </a:prstGeom>
            <a:noFill/>
          </p:spPr>
          <p:txBody>
            <a:bodyPr wrap="none" rtlCol="0">
              <a:spAutoFit/>
            </a:bodyPr>
            <a:lstStyle/>
            <a:p>
              <a:pPr>
                <a:lnSpc>
                  <a:spcPct val="70000"/>
                </a:lnSpc>
              </a:pPr>
              <a:r>
                <a:rPr lang="fr-FR" sz="1200" b="1">
                  <a:ln w="12700">
                    <a:solidFill>
                      <a:schemeClr val="tx1"/>
                    </a:solidFill>
                  </a:ln>
                </a:rPr>
                <a:t>Optimisation possible de </a:t>
              </a:r>
            </a:p>
            <a:p>
              <a:pPr>
                <a:lnSpc>
                  <a:spcPct val="70000"/>
                </a:lnSpc>
              </a:pPr>
              <a:r>
                <a:rPr lang="fr-FR" sz="1200" b="1">
                  <a:ln w="12700">
                    <a:solidFill>
                      <a:schemeClr val="tx1"/>
                    </a:solidFill>
                  </a:ln>
                </a:rPr>
                <a:t>chaque composant</a:t>
              </a:r>
            </a:p>
          </p:txBody>
        </p:sp>
        <p:sp>
          <p:nvSpPr>
            <p:cNvPr id="43" name="ZoneTexte 42">
              <a:extLst>
                <a:ext uri="{FF2B5EF4-FFF2-40B4-BE49-F238E27FC236}">
                  <a16:creationId xmlns:a16="http://schemas.microsoft.com/office/drawing/2014/main" id="{29FA0522-310E-5E20-E067-50216BAEA187}"/>
                </a:ext>
              </a:extLst>
            </p:cNvPr>
            <p:cNvSpPr txBox="1"/>
            <p:nvPr/>
          </p:nvSpPr>
          <p:spPr>
            <a:xfrm>
              <a:off x="3410502" y="2176928"/>
              <a:ext cx="1424233" cy="447951"/>
            </a:xfrm>
            <a:prstGeom prst="rect">
              <a:avLst/>
            </a:prstGeom>
            <a:noFill/>
          </p:spPr>
          <p:txBody>
            <a:bodyPr wrap="none" rtlCol="0">
              <a:spAutoFit/>
            </a:bodyPr>
            <a:lstStyle/>
            <a:p>
              <a:pPr algn="r">
                <a:lnSpc>
                  <a:spcPct val="70000"/>
                </a:lnSpc>
              </a:pPr>
              <a:r>
                <a:rPr lang="fr-FR" sz="1200" b="1">
                  <a:ln w="12700">
                    <a:solidFill>
                      <a:schemeClr val="tx1"/>
                    </a:solidFill>
                  </a:ln>
                </a:rPr>
                <a:t>Complexité à implémenter, </a:t>
              </a:r>
            </a:p>
            <a:p>
              <a:pPr algn="r">
                <a:lnSpc>
                  <a:spcPct val="70000"/>
                </a:lnSpc>
              </a:pPr>
              <a:r>
                <a:rPr lang="fr-FR" sz="1200" b="1">
                  <a:ln w="12700">
                    <a:solidFill>
                      <a:schemeClr val="tx1"/>
                    </a:solidFill>
                  </a:ln>
                </a:rPr>
                <a:t>à maintenir</a:t>
              </a:r>
            </a:p>
          </p:txBody>
        </p:sp>
      </p:grpSp>
    </p:spTree>
    <p:extLst>
      <p:ext uri="{BB962C8B-B14F-4D97-AF65-F5344CB8AC3E}">
        <p14:creationId xmlns:p14="http://schemas.microsoft.com/office/powerpoint/2010/main" val="399302303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EE1B2-7A86-7AF7-B2DC-D7BCF7B683C9}"/>
            </a:ext>
          </a:extLst>
        </p:cNvPr>
        <p:cNvGrpSpPr/>
        <p:nvPr/>
      </p:nvGrpSpPr>
      <p:grpSpPr>
        <a:xfrm>
          <a:off x="0" y="0"/>
          <a:ext cx="0" cy="0"/>
          <a:chOff x="0" y="0"/>
          <a:chExt cx="0" cy="0"/>
        </a:xfrm>
      </p:grpSpPr>
      <p:sp>
        <p:nvSpPr>
          <p:cNvPr id="67" name="Rectangle 66">
            <a:extLst>
              <a:ext uri="{FF2B5EF4-FFF2-40B4-BE49-F238E27FC236}">
                <a16:creationId xmlns:a16="http://schemas.microsoft.com/office/drawing/2014/main" id="{7C3887C5-83FE-3F0F-3304-07D6BE78AD5D}"/>
              </a:ext>
            </a:extLst>
          </p:cNvPr>
          <p:cNvSpPr/>
          <p:nvPr/>
        </p:nvSpPr>
        <p:spPr>
          <a:xfrm>
            <a:off x="2625395" y="1351658"/>
            <a:ext cx="5743136" cy="1389056"/>
          </a:xfrm>
          <a:prstGeom prst="rect">
            <a:avLst/>
          </a:prstGeom>
          <a:solidFill>
            <a:schemeClr val="bg1"/>
          </a:solidFill>
          <a:ln w="38100">
            <a:solidFill>
              <a:schemeClr val="tx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i="1">
                <a:ln w="12700">
                  <a:solidFill>
                    <a:srgbClr val="102031"/>
                  </a:solidFill>
                </a:ln>
                <a:solidFill>
                  <a:srgbClr val="102031"/>
                </a:solidFill>
                <a:latin typeface="Avenir LT 35 Light" panose="02000503030000020003" pitchFamily="2" charset="0"/>
              </a:rPr>
              <a:t>DOMAINE FONCTIONNEL PRODUIT</a:t>
            </a:r>
            <a:endParaRPr lang="fr-FR" b="1" i="1">
              <a:ln w="12700">
                <a:solidFill>
                  <a:srgbClr val="102031"/>
                </a:solidFill>
              </a:ln>
              <a:solidFill>
                <a:srgbClr val="102031"/>
              </a:solidFill>
              <a:latin typeface="Avenir LT 35 Light" panose="02000503030000020003" pitchFamily="2" charset="0"/>
            </a:endParaRPr>
          </a:p>
        </p:txBody>
      </p:sp>
      <p:sp>
        <p:nvSpPr>
          <p:cNvPr id="68" name="Rectangle 67">
            <a:extLst>
              <a:ext uri="{FF2B5EF4-FFF2-40B4-BE49-F238E27FC236}">
                <a16:creationId xmlns:a16="http://schemas.microsoft.com/office/drawing/2014/main" id="{DF4CBF8B-F74B-868F-73F1-3C6B25C2CEFE}"/>
              </a:ext>
            </a:extLst>
          </p:cNvPr>
          <p:cNvSpPr/>
          <p:nvPr/>
        </p:nvSpPr>
        <p:spPr>
          <a:xfrm>
            <a:off x="8495804" y="2618379"/>
            <a:ext cx="3591090" cy="2276931"/>
          </a:xfrm>
          <a:prstGeom prst="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i="1">
                <a:ln w="12700">
                  <a:solidFill>
                    <a:srgbClr val="102031"/>
                  </a:solidFill>
                </a:ln>
                <a:solidFill>
                  <a:srgbClr val="102031"/>
                </a:solidFill>
                <a:latin typeface="Avenir LT 35 Light" panose="02000503030000020003" pitchFamily="2" charset="0"/>
              </a:rPr>
              <a:t>DOMAINE FONCTIONNEL VENTES</a:t>
            </a:r>
            <a:endParaRPr lang="fr-FR" b="1" i="1">
              <a:ln w="12700">
                <a:solidFill>
                  <a:srgbClr val="102031"/>
                </a:solidFill>
              </a:ln>
              <a:solidFill>
                <a:srgbClr val="102031"/>
              </a:solidFill>
              <a:latin typeface="Avenir LT 35 Light" panose="02000503030000020003" pitchFamily="2" charset="0"/>
            </a:endParaRPr>
          </a:p>
        </p:txBody>
      </p:sp>
      <p:sp>
        <p:nvSpPr>
          <p:cNvPr id="69" name="Rectangle 68">
            <a:extLst>
              <a:ext uri="{FF2B5EF4-FFF2-40B4-BE49-F238E27FC236}">
                <a16:creationId xmlns:a16="http://schemas.microsoft.com/office/drawing/2014/main" id="{6C727F60-094D-08A4-F318-A6721C481A80}"/>
              </a:ext>
            </a:extLst>
          </p:cNvPr>
          <p:cNvSpPr/>
          <p:nvPr/>
        </p:nvSpPr>
        <p:spPr>
          <a:xfrm>
            <a:off x="2854766" y="5072365"/>
            <a:ext cx="5743136" cy="1389056"/>
          </a:xfrm>
          <a:prstGeom prst="rect">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i="1">
                <a:ln w="12700">
                  <a:solidFill>
                    <a:srgbClr val="102031"/>
                  </a:solidFill>
                </a:ln>
                <a:solidFill>
                  <a:srgbClr val="102031"/>
                </a:solidFill>
                <a:latin typeface="Avenir LT 35 Light" panose="02000503030000020003" pitchFamily="2" charset="0"/>
              </a:rPr>
              <a:t>DOMAINE FONCTIONNEL RELATION CLIENT</a:t>
            </a:r>
            <a:endParaRPr lang="fr-FR" b="1" i="1">
              <a:ln w="12700">
                <a:solidFill>
                  <a:srgbClr val="102031"/>
                </a:solidFill>
              </a:ln>
              <a:solidFill>
                <a:srgbClr val="102031"/>
              </a:solidFill>
              <a:latin typeface="Avenir LT 35 Light" panose="02000503030000020003" pitchFamily="2" charset="0"/>
            </a:endParaRPr>
          </a:p>
        </p:txBody>
      </p:sp>
      <p:sp>
        <p:nvSpPr>
          <p:cNvPr id="2" name="Espace réservé de la date 1">
            <a:extLst>
              <a:ext uri="{FF2B5EF4-FFF2-40B4-BE49-F238E27FC236}">
                <a16:creationId xmlns:a16="http://schemas.microsoft.com/office/drawing/2014/main" id="{91E1A080-6910-D541-73D9-2CE4C5EAAC09}"/>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AA7D67FC-2D99-2B51-4EE5-512A046D6903}"/>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18E09382-8862-1D1F-6291-27ABE116F377}"/>
              </a:ext>
            </a:extLst>
          </p:cNvPr>
          <p:cNvSpPr>
            <a:spLocks noGrp="1"/>
          </p:cNvSpPr>
          <p:nvPr>
            <p:ph type="sldNum" sz="quarter" idx="12"/>
          </p:nvPr>
        </p:nvSpPr>
        <p:spPr/>
        <p:txBody>
          <a:bodyPr/>
          <a:lstStyle/>
          <a:p>
            <a:fld id="{CD166EB1-B284-8541-B839-321F682B6B05}" type="slidenum">
              <a:rPr lang="fr-FR" smtClean="0"/>
              <a:pPr/>
              <a:t>13</a:t>
            </a:fld>
            <a:endParaRPr lang="fr-FR"/>
          </a:p>
        </p:txBody>
      </p:sp>
      <p:sp>
        <p:nvSpPr>
          <p:cNvPr id="6" name="Espace réservé du texte 5">
            <a:extLst>
              <a:ext uri="{FF2B5EF4-FFF2-40B4-BE49-F238E27FC236}">
                <a16:creationId xmlns:a16="http://schemas.microsoft.com/office/drawing/2014/main" id="{129B76AF-EAC9-419E-E28C-BC00F11F7320}"/>
              </a:ext>
            </a:extLst>
          </p:cNvPr>
          <p:cNvSpPr>
            <a:spLocks noGrp="1"/>
          </p:cNvSpPr>
          <p:nvPr>
            <p:ph type="body" sz="quarter" idx="19"/>
          </p:nvPr>
        </p:nvSpPr>
        <p:spPr/>
        <p:txBody>
          <a:bodyPr/>
          <a:lstStyle/>
          <a:p>
            <a:r>
              <a:rPr lang="fr-FR">
                <a:ln w="19050">
                  <a:solidFill>
                    <a:schemeClr val="bg1"/>
                  </a:solidFill>
                </a:ln>
              </a:rPr>
              <a:t>Rappels de concepts échangés il y a longtemps</a:t>
            </a:r>
          </a:p>
        </p:txBody>
      </p:sp>
      <p:sp>
        <p:nvSpPr>
          <p:cNvPr id="7" name="Espace réservé du texte 6">
            <a:extLst>
              <a:ext uri="{FF2B5EF4-FFF2-40B4-BE49-F238E27FC236}">
                <a16:creationId xmlns:a16="http://schemas.microsoft.com/office/drawing/2014/main" id="{5C129F1B-0D23-C50B-12EF-772A8514A1A5}"/>
              </a:ext>
            </a:extLst>
          </p:cNvPr>
          <p:cNvSpPr>
            <a:spLocks noGrp="1"/>
          </p:cNvSpPr>
          <p:nvPr>
            <p:ph type="body" sz="quarter" idx="30"/>
          </p:nvPr>
        </p:nvSpPr>
        <p:spPr/>
        <p:txBody>
          <a:bodyPr/>
          <a:lstStyle/>
          <a:p>
            <a:r>
              <a:rPr lang="fr-FR">
                <a:ln w="19050">
                  <a:solidFill>
                    <a:schemeClr val="bg1"/>
                  </a:solidFill>
                </a:ln>
              </a:rPr>
              <a:t>03</a:t>
            </a:r>
          </a:p>
        </p:txBody>
      </p:sp>
      <p:sp>
        <p:nvSpPr>
          <p:cNvPr id="8" name="Cylindre 7">
            <a:extLst>
              <a:ext uri="{FF2B5EF4-FFF2-40B4-BE49-F238E27FC236}">
                <a16:creationId xmlns:a16="http://schemas.microsoft.com/office/drawing/2014/main" id="{F1E637B0-7087-52D7-7749-E85D788D54ED}"/>
              </a:ext>
            </a:extLst>
          </p:cNvPr>
          <p:cNvSpPr/>
          <p:nvPr/>
        </p:nvSpPr>
        <p:spPr>
          <a:xfrm>
            <a:off x="10783793" y="3554976"/>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w="12700">
                <a:solidFill>
                  <a:srgbClr val="102031"/>
                </a:solidFill>
              </a:ln>
              <a:solidFill>
                <a:srgbClr val="102031"/>
              </a:solidFill>
              <a:latin typeface="Avenir LT 35 Light" panose="02000503030000020003" pitchFamily="2" charset="0"/>
            </a:endParaRPr>
          </a:p>
        </p:txBody>
      </p:sp>
      <p:sp>
        <p:nvSpPr>
          <p:cNvPr id="15" name="ZoneTexte 14">
            <a:extLst>
              <a:ext uri="{FF2B5EF4-FFF2-40B4-BE49-F238E27FC236}">
                <a16:creationId xmlns:a16="http://schemas.microsoft.com/office/drawing/2014/main" id="{BFC41DF2-FD55-5FA7-9D7E-267C3D7D9B78}"/>
              </a:ext>
            </a:extLst>
          </p:cNvPr>
          <p:cNvSpPr txBox="1"/>
          <p:nvPr/>
        </p:nvSpPr>
        <p:spPr>
          <a:xfrm>
            <a:off x="10864534" y="3911928"/>
            <a:ext cx="1010536" cy="523220"/>
          </a:xfrm>
          <a:prstGeom prst="rect">
            <a:avLst/>
          </a:prstGeom>
          <a:noFill/>
        </p:spPr>
        <p:txBody>
          <a:bodyPr wrap="square" rtlCol="0">
            <a:spAutoFit/>
          </a:bodyPr>
          <a:lstStyle/>
          <a:p>
            <a:pPr algn="ctr"/>
            <a:r>
              <a:rPr lang="fr-FR" sz="1400">
                <a:ln w="12700">
                  <a:solidFill>
                    <a:srgbClr val="102031"/>
                  </a:solidFill>
                </a:ln>
                <a:solidFill>
                  <a:srgbClr val="102031"/>
                </a:solidFill>
                <a:latin typeface="Avenir LT 35 Light" panose="02000503030000020003" pitchFamily="2" charset="0"/>
                <a:cs typeface="Arial" panose="020B0604020202020204" pitchFamily="34" charset="0"/>
              </a:rPr>
              <a:t>Liste des ventes</a:t>
            </a:r>
          </a:p>
        </p:txBody>
      </p:sp>
      <p:sp>
        <p:nvSpPr>
          <p:cNvPr id="19" name="Cylindre 18">
            <a:extLst>
              <a:ext uri="{FF2B5EF4-FFF2-40B4-BE49-F238E27FC236}">
                <a16:creationId xmlns:a16="http://schemas.microsoft.com/office/drawing/2014/main" id="{F1E03E40-45E9-F207-D130-89D3C8B71040}"/>
              </a:ext>
            </a:extLst>
          </p:cNvPr>
          <p:cNvSpPr/>
          <p:nvPr/>
        </p:nvSpPr>
        <p:spPr>
          <a:xfrm>
            <a:off x="6877554" y="1494089"/>
            <a:ext cx="1172018" cy="1056712"/>
          </a:xfrm>
          <a:prstGeom prst="can">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w="12700">
                <a:solidFill>
                  <a:schemeClr val="bg1"/>
                </a:solidFill>
              </a:ln>
              <a:solidFill>
                <a:schemeClr val="bg1"/>
              </a:solidFill>
              <a:latin typeface="Avenir LT 35 Light" panose="02000503030000020003" pitchFamily="2" charset="0"/>
            </a:endParaRPr>
          </a:p>
        </p:txBody>
      </p:sp>
      <p:sp>
        <p:nvSpPr>
          <p:cNvPr id="20" name="ZoneTexte 19">
            <a:extLst>
              <a:ext uri="{FF2B5EF4-FFF2-40B4-BE49-F238E27FC236}">
                <a16:creationId xmlns:a16="http://schemas.microsoft.com/office/drawing/2014/main" id="{4BF7A018-FE73-C364-3C52-770765A8DAA6}"/>
              </a:ext>
            </a:extLst>
          </p:cNvPr>
          <p:cNvSpPr txBox="1"/>
          <p:nvPr/>
        </p:nvSpPr>
        <p:spPr>
          <a:xfrm>
            <a:off x="6958295" y="1958762"/>
            <a:ext cx="1010536" cy="307777"/>
          </a:xfrm>
          <a:prstGeom prst="rect">
            <a:avLst/>
          </a:prstGeom>
          <a:noFill/>
        </p:spPr>
        <p:txBody>
          <a:bodyPr wrap="square" rtlCol="0" anchor="ctr">
            <a:spAutoFit/>
          </a:bodyPr>
          <a:lstStyle/>
          <a:p>
            <a:pPr algn="ctr"/>
            <a:r>
              <a:rPr lang="fr-FR" sz="1400">
                <a:ln w="12700">
                  <a:solidFill>
                    <a:schemeClr val="bg1"/>
                  </a:solidFill>
                </a:ln>
                <a:solidFill>
                  <a:schemeClr val="bg1"/>
                </a:solidFill>
                <a:latin typeface="Avenir LT 35 Light" panose="02000503030000020003" pitchFamily="2" charset="0"/>
                <a:cs typeface="Arial" panose="020B0604020202020204" pitchFamily="34" charset="0"/>
              </a:rPr>
              <a:t>Stocks</a:t>
            </a:r>
          </a:p>
        </p:txBody>
      </p:sp>
      <p:sp>
        <p:nvSpPr>
          <p:cNvPr id="22" name="Cylindre 21">
            <a:extLst>
              <a:ext uri="{FF2B5EF4-FFF2-40B4-BE49-F238E27FC236}">
                <a16:creationId xmlns:a16="http://schemas.microsoft.com/office/drawing/2014/main" id="{10F65384-2028-DABE-F7DD-2F7820936A1C}"/>
              </a:ext>
            </a:extLst>
          </p:cNvPr>
          <p:cNvSpPr/>
          <p:nvPr/>
        </p:nvSpPr>
        <p:spPr>
          <a:xfrm>
            <a:off x="7196167" y="5332069"/>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w="12700">
                <a:solidFill>
                  <a:srgbClr val="102031"/>
                </a:solidFill>
              </a:ln>
              <a:solidFill>
                <a:srgbClr val="102031"/>
              </a:solidFill>
              <a:latin typeface="Avenir LT 35 Light" panose="02000503030000020003" pitchFamily="2" charset="0"/>
            </a:endParaRPr>
          </a:p>
        </p:txBody>
      </p:sp>
      <p:sp>
        <p:nvSpPr>
          <p:cNvPr id="44" name="ZoneTexte 43">
            <a:extLst>
              <a:ext uri="{FF2B5EF4-FFF2-40B4-BE49-F238E27FC236}">
                <a16:creationId xmlns:a16="http://schemas.microsoft.com/office/drawing/2014/main" id="{A62A273B-C637-ADF3-14B0-EB3DB1117F37}"/>
              </a:ext>
            </a:extLst>
          </p:cNvPr>
          <p:cNvSpPr txBox="1"/>
          <p:nvPr/>
        </p:nvSpPr>
        <p:spPr>
          <a:xfrm>
            <a:off x="7276908" y="5689021"/>
            <a:ext cx="1010536" cy="523220"/>
          </a:xfrm>
          <a:prstGeom prst="rect">
            <a:avLst/>
          </a:prstGeom>
          <a:noFill/>
        </p:spPr>
        <p:txBody>
          <a:bodyPr wrap="square" rtlCol="0" anchor="ctr">
            <a:spAutoFit/>
          </a:bodyPr>
          <a:lstStyle/>
          <a:p>
            <a:pPr algn="ctr"/>
            <a:r>
              <a:rPr lang="fr-FR" sz="1400">
                <a:ln w="12700">
                  <a:solidFill>
                    <a:schemeClr val="bg1"/>
                  </a:solidFill>
                </a:ln>
                <a:solidFill>
                  <a:schemeClr val="bg1"/>
                </a:solidFill>
                <a:latin typeface="Avenir LT 35 Light" panose="02000503030000020003" pitchFamily="2" charset="0"/>
                <a:cs typeface="Arial" panose="020B0604020202020204" pitchFamily="34" charset="0"/>
              </a:rPr>
              <a:t>Liste des clients</a:t>
            </a:r>
          </a:p>
        </p:txBody>
      </p:sp>
      <p:sp>
        <p:nvSpPr>
          <p:cNvPr id="45" name="Rectangle 44">
            <a:extLst>
              <a:ext uri="{FF2B5EF4-FFF2-40B4-BE49-F238E27FC236}">
                <a16:creationId xmlns:a16="http://schemas.microsoft.com/office/drawing/2014/main" id="{436ED82E-1A64-3DFD-E531-C30038123AF7}"/>
              </a:ext>
            </a:extLst>
          </p:cNvPr>
          <p:cNvSpPr/>
          <p:nvPr/>
        </p:nvSpPr>
        <p:spPr>
          <a:xfrm>
            <a:off x="9020865" y="3783480"/>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ln w="12700">
                  <a:solidFill>
                    <a:srgbClr val="102031"/>
                  </a:solidFill>
                </a:ln>
                <a:solidFill>
                  <a:srgbClr val="102031"/>
                </a:solidFill>
                <a:latin typeface="Avenir LT 35 Light" panose="02000503030000020003" pitchFamily="2" charset="0"/>
              </a:rPr>
              <a:t>Suivi des ventes</a:t>
            </a:r>
          </a:p>
        </p:txBody>
      </p:sp>
      <p:sp>
        <p:nvSpPr>
          <p:cNvPr id="46" name="Rectangle : avec coins arrondis en haut 45">
            <a:extLst>
              <a:ext uri="{FF2B5EF4-FFF2-40B4-BE49-F238E27FC236}">
                <a16:creationId xmlns:a16="http://schemas.microsoft.com/office/drawing/2014/main" id="{688AD134-7D8D-06D4-B83A-09F995509F42}"/>
              </a:ext>
            </a:extLst>
          </p:cNvPr>
          <p:cNvSpPr/>
          <p:nvPr/>
        </p:nvSpPr>
        <p:spPr>
          <a:xfrm rot="16200000">
            <a:off x="8607499" y="3962152"/>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n w="12700">
                  <a:solidFill>
                    <a:srgbClr val="102031"/>
                  </a:solidFill>
                </a:ln>
                <a:solidFill>
                  <a:srgbClr val="102031"/>
                </a:solidFill>
                <a:latin typeface="Avenir LT 35 Light" panose="02000503030000020003" pitchFamily="2" charset="0"/>
              </a:rPr>
              <a:t>APP</a:t>
            </a:r>
            <a:endParaRPr lang="fr-FR">
              <a:ln w="12700">
                <a:solidFill>
                  <a:srgbClr val="102031"/>
                </a:solidFill>
              </a:ln>
              <a:solidFill>
                <a:srgbClr val="102031"/>
              </a:solidFill>
              <a:latin typeface="Avenir LT 35 Light" panose="02000503030000020003" pitchFamily="2" charset="0"/>
            </a:endParaRPr>
          </a:p>
        </p:txBody>
      </p:sp>
      <p:sp>
        <p:nvSpPr>
          <p:cNvPr id="47" name="Rectangle 46">
            <a:extLst>
              <a:ext uri="{FF2B5EF4-FFF2-40B4-BE49-F238E27FC236}">
                <a16:creationId xmlns:a16="http://schemas.microsoft.com/office/drawing/2014/main" id="{189DB7AD-DF9B-6386-B86E-ACE9526329C9}"/>
              </a:ext>
            </a:extLst>
          </p:cNvPr>
          <p:cNvSpPr/>
          <p:nvPr/>
        </p:nvSpPr>
        <p:spPr>
          <a:xfrm>
            <a:off x="3275096" y="5563387"/>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ln w="12700">
                  <a:solidFill>
                    <a:srgbClr val="102031"/>
                  </a:solidFill>
                </a:ln>
                <a:solidFill>
                  <a:srgbClr val="102031"/>
                </a:solidFill>
                <a:latin typeface="Avenir LT 35 Light" panose="02000503030000020003" pitchFamily="2" charset="0"/>
              </a:rPr>
              <a:t>Application fidélité</a:t>
            </a:r>
          </a:p>
        </p:txBody>
      </p:sp>
      <p:sp>
        <p:nvSpPr>
          <p:cNvPr id="48" name="Rectangle : avec coins arrondis en haut 47">
            <a:extLst>
              <a:ext uri="{FF2B5EF4-FFF2-40B4-BE49-F238E27FC236}">
                <a16:creationId xmlns:a16="http://schemas.microsoft.com/office/drawing/2014/main" id="{B3C25DA5-C94F-04E2-08E3-6162E2CB1110}"/>
              </a:ext>
            </a:extLst>
          </p:cNvPr>
          <p:cNvSpPr/>
          <p:nvPr/>
        </p:nvSpPr>
        <p:spPr>
          <a:xfrm rot="16200000">
            <a:off x="2861730" y="5742059"/>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n w="12700">
                  <a:solidFill>
                    <a:srgbClr val="102031"/>
                  </a:solidFill>
                </a:ln>
                <a:solidFill>
                  <a:srgbClr val="102031"/>
                </a:solidFill>
                <a:latin typeface="Avenir LT 35 Light" panose="02000503030000020003" pitchFamily="2" charset="0"/>
              </a:rPr>
              <a:t>APP</a:t>
            </a:r>
          </a:p>
        </p:txBody>
      </p:sp>
      <p:sp>
        <p:nvSpPr>
          <p:cNvPr id="49" name="Rectangle 48">
            <a:extLst>
              <a:ext uri="{FF2B5EF4-FFF2-40B4-BE49-F238E27FC236}">
                <a16:creationId xmlns:a16="http://schemas.microsoft.com/office/drawing/2014/main" id="{618C3ECB-2BCA-AC25-65F3-B7880D357180}"/>
              </a:ext>
            </a:extLst>
          </p:cNvPr>
          <p:cNvSpPr/>
          <p:nvPr/>
        </p:nvSpPr>
        <p:spPr>
          <a:xfrm>
            <a:off x="5376449" y="5563389"/>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ln w="12700">
                  <a:solidFill>
                    <a:srgbClr val="102031"/>
                  </a:solidFill>
                </a:ln>
                <a:solidFill>
                  <a:srgbClr val="102031"/>
                </a:solidFill>
                <a:latin typeface="Avenir LT 35 Light" panose="02000503030000020003" pitchFamily="2" charset="0"/>
              </a:rPr>
              <a:t>Service client</a:t>
            </a:r>
          </a:p>
        </p:txBody>
      </p:sp>
      <p:sp>
        <p:nvSpPr>
          <p:cNvPr id="50" name="Rectangle : avec coins arrondis en haut 49">
            <a:extLst>
              <a:ext uri="{FF2B5EF4-FFF2-40B4-BE49-F238E27FC236}">
                <a16:creationId xmlns:a16="http://schemas.microsoft.com/office/drawing/2014/main" id="{309E510A-10F9-9E6D-7DE3-7B3FDFB17526}"/>
              </a:ext>
            </a:extLst>
          </p:cNvPr>
          <p:cNvSpPr/>
          <p:nvPr/>
        </p:nvSpPr>
        <p:spPr>
          <a:xfrm rot="16200000">
            <a:off x="4963083" y="5742061"/>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n w="12700">
                  <a:solidFill>
                    <a:srgbClr val="102031"/>
                  </a:solidFill>
                </a:ln>
                <a:solidFill>
                  <a:srgbClr val="102031"/>
                </a:solidFill>
                <a:latin typeface="Avenir LT 35 Light" panose="02000503030000020003" pitchFamily="2" charset="0"/>
              </a:rPr>
              <a:t>APP</a:t>
            </a:r>
          </a:p>
        </p:txBody>
      </p:sp>
      <p:sp>
        <p:nvSpPr>
          <p:cNvPr id="51" name="Rectangle 50">
            <a:extLst>
              <a:ext uri="{FF2B5EF4-FFF2-40B4-BE49-F238E27FC236}">
                <a16:creationId xmlns:a16="http://schemas.microsoft.com/office/drawing/2014/main" id="{492E0BC2-2C8B-441C-E96B-13E56BC14F12}"/>
              </a:ext>
            </a:extLst>
          </p:cNvPr>
          <p:cNvSpPr/>
          <p:nvPr/>
        </p:nvSpPr>
        <p:spPr>
          <a:xfrm>
            <a:off x="3118370" y="1718298"/>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ln w="12700">
                  <a:solidFill>
                    <a:srgbClr val="102031"/>
                  </a:solidFill>
                </a:ln>
                <a:solidFill>
                  <a:srgbClr val="102031"/>
                </a:solidFill>
                <a:latin typeface="Avenir LT 35 Light" panose="02000503030000020003" pitchFamily="2" charset="0"/>
              </a:rPr>
              <a:t>Production</a:t>
            </a:r>
          </a:p>
        </p:txBody>
      </p:sp>
      <p:sp>
        <p:nvSpPr>
          <p:cNvPr id="52" name="Rectangle : avec coins arrondis en haut 51">
            <a:extLst>
              <a:ext uri="{FF2B5EF4-FFF2-40B4-BE49-F238E27FC236}">
                <a16:creationId xmlns:a16="http://schemas.microsoft.com/office/drawing/2014/main" id="{2D2BAC64-8A5F-DEEC-3736-9B1044F7538F}"/>
              </a:ext>
            </a:extLst>
          </p:cNvPr>
          <p:cNvSpPr/>
          <p:nvPr/>
        </p:nvSpPr>
        <p:spPr>
          <a:xfrm rot="16200000">
            <a:off x="2705004" y="1904259"/>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n w="12700">
                  <a:solidFill>
                    <a:srgbClr val="102031"/>
                  </a:solidFill>
                </a:ln>
                <a:solidFill>
                  <a:srgbClr val="102031"/>
                </a:solidFill>
                <a:latin typeface="Avenir LT 35 Light" panose="02000503030000020003" pitchFamily="2" charset="0"/>
              </a:rPr>
              <a:t>APP</a:t>
            </a:r>
          </a:p>
        </p:txBody>
      </p:sp>
      <p:sp>
        <p:nvSpPr>
          <p:cNvPr id="53" name="Rectangle 52">
            <a:extLst>
              <a:ext uri="{FF2B5EF4-FFF2-40B4-BE49-F238E27FC236}">
                <a16:creationId xmlns:a16="http://schemas.microsoft.com/office/drawing/2014/main" id="{546AB6E3-4AD4-4FC8-3109-35EA791375F6}"/>
              </a:ext>
            </a:extLst>
          </p:cNvPr>
          <p:cNvSpPr/>
          <p:nvPr/>
        </p:nvSpPr>
        <p:spPr>
          <a:xfrm>
            <a:off x="9020865" y="3001936"/>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ln w="12700">
                  <a:solidFill>
                    <a:srgbClr val="102031"/>
                  </a:solidFill>
                </a:ln>
                <a:solidFill>
                  <a:srgbClr val="102031"/>
                </a:solidFill>
                <a:latin typeface="Avenir LT 35 Light" panose="02000503030000020003" pitchFamily="2" charset="0"/>
              </a:rPr>
              <a:t>Vente par correspondance</a:t>
            </a:r>
          </a:p>
        </p:txBody>
      </p:sp>
      <p:sp>
        <p:nvSpPr>
          <p:cNvPr id="54" name="Rectangle : avec coins arrondis en haut 53">
            <a:extLst>
              <a:ext uri="{FF2B5EF4-FFF2-40B4-BE49-F238E27FC236}">
                <a16:creationId xmlns:a16="http://schemas.microsoft.com/office/drawing/2014/main" id="{F090DC34-28F1-A6F3-AB7A-7916C3855587}"/>
              </a:ext>
            </a:extLst>
          </p:cNvPr>
          <p:cNvSpPr/>
          <p:nvPr/>
        </p:nvSpPr>
        <p:spPr>
          <a:xfrm rot="16200000">
            <a:off x="8610082" y="3180608"/>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n w="12700">
                  <a:solidFill>
                    <a:srgbClr val="102031"/>
                  </a:solidFill>
                </a:ln>
                <a:solidFill>
                  <a:srgbClr val="102031"/>
                </a:solidFill>
                <a:latin typeface="Avenir LT 35 Light" panose="02000503030000020003" pitchFamily="2" charset="0"/>
              </a:rPr>
              <a:t>APP</a:t>
            </a:r>
          </a:p>
        </p:txBody>
      </p:sp>
      <p:cxnSp>
        <p:nvCxnSpPr>
          <p:cNvPr id="55" name="Connecteur droit avec flèche 54">
            <a:extLst>
              <a:ext uri="{FF2B5EF4-FFF2-40B4-BE49-F238E27FC236}">
                <a16:creationId xmlns:a16="http://schemas.microsoft.com/office/drawing/2014/main" id="{8E14C929-EABF-9AE8-51F8-66637B0581AF}"/>
              </a:ext>
            </a:extLst>
          </p:cNvPr>
          <p:cNvCxnSpPr>
            <a:cxnSpLocks/>
            <a:stCxn id="45" idx="3"/>
            <a:endCxn id="8" idx="2"/>
          </p:cNvCxnSpPr>
          <p:nvPr/>
        </p:nvCxnSpPr>
        <p:spPr>
          <a:xfrm>
            <a:off x="10540065" y="4079500"/>
            <a:ext cx="243728" cy="3832"/>
          </a:xfrm>
          <a:prstGeom prst="straightConnector1">
            <a:avLst/>
          </a:prstGeom>
          <a:ln w="19050">
            <a:solidFill>
              <a:srgbClr val="102031"/>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6D92DE3D-3973-5593-D3F2-A765FAEE0824}"/>
              </a:ext>
            </a:extLst>
          </p:cNvPr>
          <p:cNvCxnSpPr>
            <a:cxnSpLocks/>
            <a:stCxn id="49" idx="3"/>
            <a:endCxn id="22" idx="2"/>
          </p:cNvCxnSpPr>
          <p:nvPr/>
        </p:nvCxnSpPr>
        <p:spPr>
          <a:xfrm>
            <a:off x="6895649" y="5859409"/>
            <a:ext cx="300518" cy="101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A8EB00AD-363F-9F13-92EF-B0C8238C6569}"/>
              </a:ext>
            </a:extLst>
          </p:cNvPr>
          <p:cNvSpPr/>
          <p:nvPr/>
        </p:nvSpPr>
        <p:spPr>
          <a:xfrm>
            <a:off x="5071929" y="1721313"/>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ln w="12700">
                  <a:solidFill>
                    <a:srgbClr val="102031"/>
                  </a:solidFill>
                </a:ln>
                <a:solidFill>
                  <a:srgbClr val="102031"/>
                </a:solidFill>
                <a:latin typeface="Avenir LT 35 Light" panose="02000503030000020003" pitchFamily="2" charset="0"/>
              </a:rPr>
              <a:t>Gestion des stocks</a:t>
            </a:r>
          </a:p>
        </p:txBody>
      </p:sp>
      <p:sp>
        <p:nvSpPr>
          <p:cNvPr id="58" name="Rectangle : avec coins arrondis en haut 57">
            <a:extLst>
              <a:ext uri="{FF2B5EF4-FFF2-40B4-BE49-F238E27FC236}">
                <a16:creationId xmlns:a16="http://schemas.microsoft.com/office/drawing/2014/main" id="{A4A86B12-1469-65E1-3FF5-8C7BC589734E}"/>
              </a:ext>
            </a:extLst>
          </p:cNvPr>
          <p:cNvSpPr/>
          <p:nvPr/>
        </p:nvSpPr>
        <p:spPr>
          <a:xfrm rot="16200000">
            <a:off x="4658563" y="189998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n w="12700">
                  <a:solidFill>
                    <a:srgbClr val="102031"/>
                  </a:solidFill>
                </a:ln>
                <a:solidFill>
                  <a:srgbClr val="102031"/>
                </a:solidFill>
                <a:latin typeface="Avenir LT 35 Light" panose="02000503030000020003" pitchFamily="2" charset="0"/>
              </a:rPr>
              <a:t>APP</a:t>
            </a:r>
            <a:endParaRPr lang="fr-FR">
              <a:ln w="12700">
                <a:solidFill>
                  <a:srgbClr val="102031"/>
                </a:solidFill>
              </a:ln>
              <a:solidFill>
                <a:srgbClr val="102031"/>
              </a:solidFill>
              <a:latin typeface="Avenir LT 35 Light" panose="02000503030000020003" pitchFamily="2" charset="0"/>
            </a:endParaRPr>
          </a:p>
        </p:txBody>
      </p:sp>
      <p:cxnSp>
        <p:nvCxnSpPr>
          <p:cNvPr id="59" name="Connecteur droit avec flèche 58">
            <a:extLst>
              <a:ext uri="{FF2B5EF4-FFF2-40B4-BE49-F238E27FC236}">
                <a16:creationId xmlns:a16="http://schemas.microsoft.com/office/drawing/2014/main" id="{A9EA787F-0682-2A9D-52BD-2F75ED46F1CF}"/>
              </a:ext>
            </a:extLst>
          </p:cNvPr>
          <p:cNvCxnSpPr>
            <a:cxnSpLocks/>
            <a:stCxn id="57" idx="3"/>
            <a:endCxn id="19" idx="2"/>
          </p:cNvCxnSpPr>
          <p:nvPr/>
        </p:nvCxnSpPr>
        <p:spPr>
          <a:xfrm>
            <a:off x="6591129" y="2017333"/>
            <a:ext cx="286425" cy="5112"/>
          </a:xfrm>
          <a:prstGeom prst="straightConnector1">
            <a:avLst/>
          </a:prstGeom>
          <a:ln w="19050">
            <a:solidFill>
              <a:srgbClr val="10203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60" name="Connecteur : en angle 69">
            <a:extLst>
              <a:ext uri="{FF2B5EF4-FFF2-40B4-BE49-F238E27FC236}">
                <a16:creationId xmlns:a16="http://schemas.microsoft.com/office/drawing/2014/main" id="{3914AA65-0C50-E1B0-D259-906EB4D53613}"/>
              </a:ext>
            </a:extLst>
          </p:cNvPr>
          <p:cNvCxnSpPr>
            <a:cxnSpLocks/>
            <a:stCxn id="51" idx="3"/>
            <a:endCxn id="58" idx="3"/>
          </p:cNvCxnSpPr>
          <p:nvPr/>
        </p:nvCxnSpPr>
        <p:spPr>
          <a:xfrm>
            <a:off x="4638860" y="2014318"/>
            <a:ext cx="198376" cy="3013"/>
          </a:xfrm>
          <a:prstGeom prst="straightConnector1">
            <a:avLst/>
          </a:prstGeom>
          <a:ln w="19050">
            <a:solidFill>
              <a:srgbClr val="102031"/>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1" name="Connecteur : en angle 95">
            <a:extLst>
              <a:ext uri="{FF2B5EF4-FFF2-40B4-BE49-F238E27FC236}">
                <a16:creationId xmlns:a16="http://schemas.microsoft.com/office/drawing/2014/main" id="{DAD4EFEC-AE37-2F92-E263-9DD1D3000D63}"/>
              </a:ext>
            </a:extLst>
          </p:cNvPr>
          <p:cNvCxnSpPr>
            <a:cxnSpLocks/>
            <a:endCxn id="67" idx="2"/>
          </p:cNvCxnSpPr>
          <p:nvPr/>
        </p:nvCxnSpPr>
        <p:spPr>
          <a:xfrm flipV="1">
            <a:off x="5496963" y="2740714"/>
            <a:ext cx="0" cy="820624"/>
          </a:xfrm>
          <a:prstGeom prst="straightConnector1">
            <a:avLst/>
          </a:prstGeom>
          <a:ln w="19050">
            <a:solidFill>
              <a:srgbClr val="102031"/>
            </a:solidFill>
            <a:headEnd type="triangl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2" name="Connecteur : en angle 105">
            <a:extLst>
              <a:ext uri="{FF2B5EF4-FFF2-40B4-BE49-F238E27FC236}">
                <a16:creationId xmlns:a16="http://schemas.microsoft.com/office/drawing/2014/main" id="{6D6A8D7C-509D-09E0-5634-80BCDDCF0B3A}"/>
              </a:ext>
            </a:extLst>
          </p:cNvPr>
          <p:cNvCxnSpPr>
            <a:cxnSpLocks/>
            <a:stCxn id="66" idx="3"/>
          </p:cNvCxnSpPr>
          <p:nvPr/>
        </p:nvCxnSpPr>
        <p:spPr>
          <a:xfrm>
            <a:off x="8018567" y="3943092"/>
            <a:ext cx="477237" cy="0"/>
          </a:xfrm>
          <a:prstGeom prst="straightConnector1">
            <a:avLst/>
          </a:prstGeom>
          <a:ln w="19050">
            <a:solidFill>
              <a:srgbClr val="102031"/>
            </a:solidFill>
            <a:headEnd type="triangl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3" name="Connecteur : en angle 111">
            <a:extLst>
              <a:ext uri="{FF2B5EF4-FFF2-40B4-BE49-F238E27FC236}">
                <a16:creationId xmlns:a16="http://schemas.microsoft.com/office/drawing/2014/main" id="{80DB178E-C3FB-AB7A-D597-1489D52E641F}"/>
              </a:ext>
            </a:extLst>
          </p:cNvPr>
          <p:cNvCxnSpPr>
            <a:cxnSpLocks/>
            <a:stCxn id="47" idx="3"/>
            <a:endCxn id="50" idx="3"/>
          </p:cNvCxnSpPr>
          <p:nvPr/>
        </p:nvCxnSpPr>
        <p:spPr>
          <a:xfrm>
            <a:off x="4794296" y="5859407"/>
            <a:ext cx="347460" cy="0"/>
          </a:xfrm>
          <a:prstGeom prst="straightConnector1">
            <a:avLst/>
          </a:prstGeom>
          <a:ln w="190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54140825-68DE-9C62-C80D-E2BB4723F2AB}"/>
              </a:ext>
            </a:extLst>
          </p:cNvPr>
          <p:cNvCxnSpPr>
            <a:cxnSpLocks/>
            <a:stCxn id="66" idx="2"/>
            <a:endCxn id="69" idx="0"/>
          </p:cNvCxnSpPr>
          <p:nvPr/>
        </p:nvCxnSpPr>
        <p:spPr>
          <a:xfrm>
            <a:off x="5721699" y="4353404"/>
            <a:ext cx="4635" cy="718961"/>
          </a:xfrm>
          <a:prstGeom prst="straightConnector1">
            <a:avLst/>
          </a:prstGeom>
          <a:ln w="19050">
            <a:solidFill>
              <a:srgbClr val="102031"/>
            </a:solidFill>
            <a:headEnd type="triangl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5" name="Connecteur : en angle 142">
            <a:extLst>
              <a:ext uri="{FF2B5EF4-FFF2-40B4-BE49-F238E27FC236}">
                <a16:creationId xmlns:a16="http://schemas.microsoft.com/office/drawing/2014/main" id="{AE610FA8-F70F-1B73-F267-18279B51FB47}"/>
              </a:ext>
            </a:extLst>
          </p:cNvPr>
          <p:cNvCxnSpPr>
            <a:cxnSpLocks/>
            <a:stCxn id="53" idx="2"/>
            <a:endCxn id="45" idx="0"/>
          </p:cNvCxnSpPr>
          <p:nvPr/>
        </p:nvCxnSpPr>
        <p:spPr>
          <a:xfrm flipH="1">
            <a:off x="9780465" y="3593975"/>
            <a:ext cx="645" cy="189505"/>
          </a:xfrm>
          <a:prstGeom prst="straightConnector1">
            <a:avLst/>
          </a:prstGeom>
          <a:ln w="19050">
            <a:solidFill>
              <a:srgbClr val="102031"/>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B8ED08D9-74E1-B571-61D5-2D8BF2D9E233}"/>
              </a:ext>
            </a:extLst>
          </p:cNvPr>
          <p:cNvSpPr/>
          <p:nvPr/>
        </p:nvSpPr>
        <p:spPr>
          <a:xfrm>
            <a:off x="3424831" y="3532780"/>
            <a:ext cx="4593736" cy="820624"/>
          </a:xfrm>
          <a:prstGeom prst="rect">
            <a:avLst/>
          </a:prstGeom>
          <a:solidFill>
            <a:schemeClr val="bg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ln w="12700">
                  <a:solidFill>
                    <a:srgbClr val="102031"/>
                  </a:solidFill>
                </a:ln>
                <a:solidFill>
                  <a:srgbClr val="102031"/>
                </a:solidFill>
                <a:latin typeface="Avenir LT 35 Light" panose="02000503030000020003" pitchFamily="2" charset="0"/>
              </a:rPr>
              <a:t>ZONE D’ÉCHANGES</a:t>
            </a:r>
          </a:p>
          <a:p>
            <a:pPr algn="ctr"/>
            <a:r>
              <a:rPr lang="fr-FR" sz="1100">
                <a:ln w="12700">
                  <a:solidFill>
                    <a:srgbClr val="102031"/>
                  </a:solidFill>
                </a:ln>
                <a:solidFill>
                  <a:srgbClr val="102031"/>
                </a:solidFill>
                <a:latin typeface="Avenir LT 35 Light" panose="02000503030000020003" pitchFamily="2" charset="0"/>
              </a:rPr>
              <a:t>Plateformes de médiation</a:t>
            </a:r>
          </a:p>
        </p:txBody>
      </p:sp>
      <p:sp>
        <p:nvSpPr>
          <p:cNvPr id="70" name="Rectangle à coins arrondis 3">
            <a:extLst>
              <a:ext uri="{FF2B5EF4-FFF2-40B4-BE49-F238E27FC236}">
                <a16:creationId xmlns:a16="http://schemas.microsoft.com/office/drawing/2014/main" id="{26A53B37-CAED-D87D-1B9E-412CDCF2F8B9}"/>
              </a:ext>
            </a:extLst>
          </p:cNvPr>
          <p:cNvSpPr/>
          <p:nvPr>
            <p:custDataLst>
              <p:tags r:id="rId1"/>
            </p:custDataLst>
          </p:nvPr>
        </p:nvSpPr>
        <p:spPr bwMode="auto">
          <a:xfrm>
            <a:off x="8695200" y="1741132"/>
            <a:ext cx="2170529" cy="593625"/>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ln w="12700">
                  <a:solidFill>
                    <a:srgbClr val="102031"/>
                  </a:solidFill>
                </a:ln>
                <a:solidFill>
                  <a:srgbClr val="102031"/>
                </a:solidFill>
                <a:latin typeface="Avenir LT 35 Light" panose="02000503030000020003" pitchFamily="2" charset="0"/>
              </a:rPr>
              <a:t>Chaque domaine expose des services / APIs</a:t>
            </a:r>
          </a:p>
        </p:txBody>
      </p:sp>
      <p:sp>
        <p:nvSpPr>
          <p:cNvPr id="73" name="Espace réservé du texte 3">
            <a:extLst>
              <a:ext uri="{FF2B5EF4-FFF2-40B4-BE49-F238E27FC236}">
                <a16:creationId xmlns:a16="http://schemas.microsoft.com/office/drawing/2014/main" id="{8C8C6365-D37B-DEC9-EBB2-38BE5DC36E04}"/>
              </a:ext>
            </a:extLst>
          </p:cNvPr>
          <p:cNvSpPr txBox="1">
            <a:spLocks/>
          </p:cNvSpPr>
          <p:nvPr/>
        </p:nvSpPr>
        <p:spPr>
          <a:xfrm>
            <a:off x="4953666" y="890910"/>
            <a:ext cx="4585988"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200" b="1" i="0" u="none" strike="noStrike" kern="1200" cap="none" spc="0" normalizeH="0" baseline="0" noProof="0">
                <a:ln>
                  <a:solidFill>
                    <a:srgbClr val="102031"/>
                  </a:solidFill>
                </a:ln>
                <a:solidFill>
                  <a:srgbClr val="272727"/>
                </a:solidFill>
                <a:effectLst/>
                <a:uLnTx/>
                <a:uFillTx/>
                <a:latin typeface="Arial"/>
                <a:cs typeface="Arial"/>
              </a:rPr>
              <a:t>Rappels des principes présentés par ONEPOINT en 2022</a:t>
            </a:r>
          </a:p>
        </p:txBody>
      </p:sp>
      <p:sp>
        <p:nvSpPr>
          <p:cNvPr id="93" name="Rectangle : coins arrondis 92">
            <a:extLst>
              <a:ext uri="{FF2B5EF4-FFF2-40B4-BE49-F238E27FC236}">
                <a16:creationId xmlns:a16="http://schemas.microsoft.com/office/drawing/2014/main" id="{5F106103-F776-DD81-31DF-B783C12896FA}"/>
              </a:ext>
            </a:extLst>
          </p:cNvPr>
          <p:cNvSpPr/>
          <p:nvPr/>
        </p:nvSpPr>
        <p:spPr>
          <a:xfrm>
            <a:off x="518800" y="2334757"/>
            <a:ext cx="2381387" cy="3381307"/>
          </a:xfrm>
          <a:prstGeom prst="roundRect">
            <a:avLst/>
          </a:prstGeom>
          <a:solidFill>
            <a:schemeClr val="bg1"/>
          </a:solidFill>
          <a:ln w="53975" cap="flat">
            <a:solidFill>
              <a:schemeClr val="tx1">
                <a:lumMod val="90000"/>
                <a:lumOff val="10000"/>
              </a:schemeClr>
            </a:solidFill>
            <a:prstDash val="solid"/>
            <a:miter/>
          </a:ln>
          <a:effectLst>
            <a:outerShdw blurRad="50800" dist="101600" dir="2700000" algn="tl" rotWithShape="0">
              <a:prstClr val="black">
                <a:alpha val="40000"/>
              </a:prstClr>
            </a:outerShdw>
          </a:effectLst>
        </p:spPr>
        <p:txBody>
          <a:bodyPr rtlCol="0" anchor="ctr"/>
          <a:lstStyle/>
          <a:p>
            <a:pPr algn="l"/>
            <a:endParaRPr lang="fr-FR"/>
          </a:p>
        </p:txBody>
      </p:sp>
      <p:sp>
        <p:nvSpPr>
          <p:cNvPr id="74" name="Espace réservé du texte 1">
            <a:extLst>
              <a:ext uri="{FF2B5EF4-FFF2-40B4-BE49-F238E27FC236}">
                <a16:creationId xmlns:a16="http://schemas.microsoft.com/office/drawing/2014/main" id="{4A8AB1B3-1F53-3074-8A6F-D30546BCF82E}"/>
              </a:ext>
            </a:extLst>
          </p:cNvPr>
          <p:cNvSpPr txBox="1">
            <a:spLocks/>
          </p:cNvSpPr>
          <p:nvPr/>
        </p:nvSpPr>
        <p:spPr>
          <a:xfrm>
            <a:off x="305041" y="775622"/>
            <a:ext cx="11433652"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400" b="1" i="0" u="none" strike="noStrike" kern="1200" cap="all" spc="-150" normalizeH="0" baseline="0" noProof="0">
                <a:ln>
                  <a:noFill/>
                </a:ln>
                <a:solidFill>
                  <a:srgbClr val="272727"/>
                </a:solidFill>
                <a:effectLst/>
                <a:uLnTx/>
                <a:uFillTx/>
                <a:latin typeface="Arial Black"/>
                <a:ea typeface="+mn-ea"/>
                <a:cs typeface="+mn-cs"/>
              </a:rPr>
              <a:t>Médiation &amp; Urbanisation</a:t>
            </a:r>
          </a:p>
        </p:txBody>
      </p:sp>
      <p:sp>
        <p:nvSpPr>
          <p:cNvPr id="75" name="ZoneTexte 74">
            <a:extLst>
              <a:ext uri="{FF2B5EF4-FFF2-40B4-BE49-F238E27FC236}">
                <a16:creationId xmlns:a16="http://schemas.microsoft.com/office/drawing/2014/main" id="{3840FA1E-A30A-5D87-0CDD-33D20AB54A30}"/>
              </a:ext>
            </a:extLst>
          </p:cNvPr>
          <p:cNvSpPr txBox="1"/>
          <p:nvPr/>
        </p:nvSpPr>
        <p:spPr>
          <a:xfrm>
            <a:off x="903918" y="3475140"/>
            <a:ext cx="1468672" cy="403637"/>
          </a:xfrm>
          <a:prstGeom prst="rect">
            <a:avLst/>
          </a:prstGeom>
          <a:noFill/>
        </p:spPr>
        <p:txBody>
          <a:bodyPr wrap="none" rtlCol="0">
            <a:spAutoFit/>
          </a:bodyPr>
          <a:lstStyle/>
          <a:p>
            <a:pPr>
              <a:lnSpc>
                <a:spcPct val="70000"/>
              </a:lnSpc>
            </a:pPr>
            <a:r>
              <a:rPr lang="fr-FR" sz="1400">
                <a:ln w="12700">
                  <a:solidFill>
                    <a:srgbClr val="102031"/>
                  </a:solidFill>
                </a:ln>
                <a:solidFill>
                  <a:srgbClr val="102031"/>
                </a:solidFill>
              </a:rPr>
              <a:t>Qui est maître de </a:t>
            </a:r>
          </a:p>
          <a:p>
            <a:pPr>
              <a:lnSpc>
                <a:spcPct val="70000"/>
              </a:lnSpc>
            </a:pPr>
            <a:r>
              <a:rPr lang="fr-FR" sz="1400">
                <a:ln w="12700">
                  <a:solidFill>
                    <a:srgbClr val="102031"/>
                  </a:solidFill>
                </a:ln>
                <a:solidFill>
                  <a:srgbClr val="102031"/>
                </a:solidFill>
              </a:rPr>
              <a:t>la donnée ? </a:t>
            </a:r>
          </a:p>
        </p:txBody>
      </p:sp>
      <p:sp>
        <p:nvSpPr>
          <p:cNvPr id="76" name="ZoneTexte 75">
            <a:extLst>
              <a:ext uri="{FF2B5EF4-FFF2-40B4-BE49-F238E27FC236}">
                <a16:creationId xmlns:a16="http://schemas.microsoft.com/office/drawing/2014/main" id="{71FD7D12-3E39-0B3E-F20B-229326AFEBBD}"/>
              </a:ext>
            </a:extLst>
          </p:cNvPr>
          <p:cNvSpPr txBox="1"/>
          <p:nvPr/>
        </p:nvSpPr>
        <p:spPr>
          <a:xfrm>
            <a:off x="903918" y="3872790"/>
            <a:ext cx="1822807" cy="252826"/>
          </a:xfrm>
          <a:prstGeom prst="rect">
            <a:avLst/>
          </a:prstGeom>
          <a:noFill/>
        </p:spPr>
        <p:txBody>
          <a:bodyPr wrap="none" rtlCol="0">
            <a:spAutoFit/>
          </a:bodyPr>
          <a:lstStyle/>
          <a:p>
            <a:pPr>
              <a:lnSpc>
                <a:spcPct val="70000"/>
              </a:lnSpc>
            </a:pPr>
            <a:r>
              <a:rPr lang="fr-FR" sz="1400">
                <a:ln w="12700">
                  <a:solidFill>
                    <a:srgbClr val="102031"/>
                  </a:solidFill>
                </a:ln>
                <a:solidFill>
                  <a:srgbClr val="102031"/>
                </a:solidFill>
              </a:rPr>
              <a:t>Fiabilité des données ?</a:t>
            </a:r>
          </a:p>
        </p:txBody>
      </p:sp>
      <p:sp>
        <p:nvSpPr>
          <p:cNvPr id="77" name="ZoneTexte 76">
            <a:extLst>
              <a:ext uri="{FF2B5EF4-FFF2-40B4-BE49-F238E27FC236}">
                <a16:creationId xmlns:a16="http://schemas.microsoft.com/office/drawing/2014/main" id="{44CFA75C-2DBA-9DD8-A668-E2E874AD48AB}"/>
              </a:ext>
            </a:extLst>
          </p:cNvPr>
          <p:cNvSpPr txBox="1"/>
          <p:nvPr/>
        </p:nvSpPr>
        <p:spPr>
          <a:xfrm>
            <a:off x="903918" y="4119629"/>
            <a:ext cx="1870384" cy="403637"/>
          </a:xfrm>
          <a:prstGeom prst="rect">
            <a:avLst/>
          </a:prstGeom>
          <a:noFill/>
        </p:spPr>
        <p:txBody>
          <a:bodyPr wrap="none" rtlCol="0">
            <a:spAutoFit/>
          </a:bodyPr>
          <a:lstStyle/>
          <a:p>
            <a:pPr>
              <a:lnSpc>
                <a:spcPct val="70000"/>
              </a:lnSpc>
            </a:pPr>
            <a:r>
              <a:rPr lang="fr-FR" sz="1400">
                <a:ln w="12700">
                  <a:solidFill>
                    <a:srgbClr val="102031"/>
                  </a:solidFill>
                </a:ln>
                <a:solidFill>
                  <a:srgbClr val="102031"/>
                </a:solidFill>
              </a:rPr>
              <a:t>Répartition des rôles &amp; </a:t>
            </a:r>
          </a:p>
          <a:p>
            <a:pPr>
              <a:lnSpc>
                <a:spcPct val="70000"/>
              </a:lnSpc>
            </a:pPr>
            <a:r>
              <a:rPr lang="fr-FR" sz="1400">
                <a:ln w="12700">
                  <a:solidFill>
                    <a:srgbClr val="102031"/>
                  </a:solidFill>
                </a:ln>
                <a:solidFill>
                  <a:srgbClr val="102031"/>
                </a:solidFill>
              </a:rPr>
              <a:t>responsabilités ?</a:t>
            </a:r>
          </a:p>
        </p:txBody>
      </p:sp>
      <p:sp>
        <p:nvSpPr>
          <p:cNvPr id="78" name="ZoneTexte 77">
            <a:extLst>
              <a:ext uri="{FF2B5EF4-FFF2-40B4-BE49-F238E27FC236}">
                <a16:creationId xmlns:a16="http://schemas.microsoft.com/office/drawing/2014/main" id="{A0564555-34F6-1DAB-0318-9EE5FE8DC11D}"/>
              </a:ext>
            </a:extLst>
          </p:cNvPr>
          <p:cNvSpPr txBox="1"/>
          <p:nvPr/>
        </p:nvSpPr>
        <p:spPr>
          <a:xfrm>
            <a:off x="903918" y="4517279"/>
            <a:ext cx="1869999" cy="252826"/>
          </a:xfrm>
          <a:prstGeom prst="rect">
            <a:avLst/>
          </a:prstGeom>
          <a:noFill/>
        </p:spPr>
        <p:txBody>
          <a:bodyPr wrap="none" rtlCol="0">
            <a:spAutoFit/>
          </a:bodyPr>
          <a:lstStyle/>
          <a:p>
            <a:pPr>
              <a:lnSpc>
                <a:spcPct val="70000"/>
              </a:lnSpc>
            </a:pPr>
            <a:r>
              <a:rPr lang="fr-FR" sz="1400">
                <a:ln w="12700">
                  <a:solidFill>
                    <a:srgbClr val="102031"/>
                  </a:solidFill>
                </a:ln>
                <a:solidFill>
                  <a:srgbClr val="102031"/>
                </a:solidFill>
              </a:rPr>
              <a:t>Evolutivité du modèle ?</a:t>
            </a:r>
          </a:p>
        </p:txBody>
      </p:sp>
      <p:sp>
        <p:nvSpPr>
          <p:cNvPr id="79" name="ZoneTexte 78">
            <a:extLst>
              <a:ext uri="{FF2B5EF4-FFF2-40B4-BE49-F238E27FC236}">
                <a16:creationId xmlns:a16="http://schemas.microsoft.com/office/drawing/2014/main" id="{53E203C9-23F6-0436-41E5-F289A0FBCA8A}"/>
              </a:ext>
            </a:extLst>
          </p:cNvPr>
          <p:cNvSpPr txBox="1"/>
          <p:nvPr/>
        </p:nvSpPr>
        <p:spPr>
          <a:xfrm>
            <a:off x="903918" y="4764118"/>
            <a:ext cx="1415259" cy="252826"/>
          </a:xfrm>
          <a:prstGeom prst="rect">
            <a:avLst/>
          </a:prstGeom>
          <a:noFill/>
        </p:spPr>
        <p:txBody>
          <a:bodyPr wrap="none" rtlCol="0">
            <a:spAutoFit/>
          </a:bodyPr>
          <a:lstStyle/>
          <a:p>
            <a:pPr>
              <a:lnSpc>
                <a:spcPct val="70000"/>
              </a:lnSpc>
            </a:pPr>
            <a:r>
              <a:rPr lang="fr-FR" sz="1400">
                <a:ln w="12700">
                  <a:solidFill>
                    <a:srgbClr val="102031"/>
                  </a:solidFill>
                </a:ln>
                <a:solidFill>
                  <a:srgbClr val="102031"/>
                </a:solidFill>
              </a:rPr>
              <a:t>Couplage faible ?</a:t>
            </a:r>
          </a:p>
        </p:txBody>
      </p:sp>
      <p:sp>
        <p:nvSpPr>
          <p:cNvPr id="80" name="ZoneTexte 79">
            <a:extLst>
              <a:ext uri="{FF2B5EF4-FFF2-40B4-BE49-F238E27FC236}">
                <a16:creationId xmlns:a16="http://schemas.microsoft.com/office/drawing/2014/main" id="{C0DD14CD-C66A-922B-3950-317189A3003D}"/>
              </a:ext>
            </a:extLst>
          </p:cNvPr>
          <p:cNvSpPr txBox="1"/>
          <p:nvPr/>
        </p:nvSpPr>
        <p:spPr>
          <a:xfrm>
            <a:off x="903918" y="5010955"/>
            <a:ext cx="1590500" cy="403637"/>
          </a:xfrm>
          <a:prstGeom prst="rect">
            <a:avLst/>
          </a:prstGeom>
          <a:noFill/>
        </p:spPr>
        <p:txBody>
          <a:bodyPr wrap="none" rtlCol="0">
            <a:spAutoFit/>
          </a:bodyPr>
          <a:lstStyle/>
          <a:p>
            <a:pPr>
              <a:lnSpc>
                <a:spcPct val="70000"/>
              </a:lnSpc>
            </a:pPr>
            <a:r>
              <a:rPr lang="fr-FR" sz="1400">
                <a:ln w="12700">
                  <a:solidFill>
                    <a:srgbClr val="102031"/>
                  </a:solidFill>
                </a:ln>
                <a:solidFill>
                  <a:srgbClr val="102031"/>
                </a:solidFill>
              </a:rPr>
              <a:t>Performance des </a:t>
            </a:r>
          </a:p>
          <a:p>
            <a:pPr>
              <a:lnSpc>
                <a:spcPct val="70000"/>
              </a:lnSpc>
            </a:pPr>
            <a:r>
              <a:rPr lang="fr-FR" sz="1400">
                <a:ln w="12700">
                  <a:solidFill>
                    <a:srgbClr val="102031"/>
                  </a:solidFill>
                </a:ln>
                <a:solidFill>
                  <a:srgbClr val="102031"/>
                </a:solidFill>
              </a:rPr>
              <a:t>bases de données ?</a:t>
            </a:r>
          </a:p>
        </p:txBody>
      </p:sp>
      <p:sp>
        <p:nvSpPr>
          <p:cNvPr id="89" name="ZoneTexte 88">
            <a:extLst>
              <a:ext uri="{FF2B5EF4-FFF2-40B4-BE49-F238E27FC236}">
                <a16:creationId xmlns:a16="http://schemas.microsoft.com/office/drawing/2014/main" id="{7A3860F9-6F5C-BF5B-2289-0B3E4FAB52FC}"/>
              </a:ext>
            </a:extLst>
          </p:cNvPr>
          <p:cNvSpPr txBox="1"/>
          <p:nvPr/>
        </p:nvSpPr>
        <p:spPr>
          <a:xfrm>
            <a:off x="661390" y="2509889"/>
            <a:ext cx="2266983" cy="1008866"/>
          </a:xfrm>
          <a:prstGeom prst="rect">
            <a:avLst/>
          </a:prstGeom>
          <a:noFill/>
        </p:spPr>
        <p:txBody>
          <a:bodyPr wrap="square">
            <a:spAutoFit/>
          </a:bodyPr>
          <a:lstStyle/>
          <a:p>
            <a:pPr>
              <a:lnSpc>
                <a:spcPct val="80000"/>
              </a:lnSpc>
            </a:pPr>
            <a:r>
              <a:rPr lang="fr-FR" sz="2000">
                <a:ln w="28575">
                  <a:solidFill>
                    <a:srgbClr val="102031"/>
                  </a:solidFill>
                </a:ln>
                <a:solidFill>
                  <a:srgbClr val="102031"/>
                </a:solidFill>
              </a:rPr>
              <a:t>Segmentation</a:t>
            </a:r>
            <a:r>
              <a:rPr lang="fr-FR">
                <a:ln w="28575">
                  <a:solidFill>
                    <a:srgbClr val="102031"/>
                  </a:solidFill>
                </a:ln>
                <a:solidFill>
                  <a:srgbClr val="102031"/>
                </a:solidFill>
              </a:rPr>
              <a:t> par domaines pour les responsabilités fonctionnelles </a:t>
            </a:r>
          </a:p>
        </p:txBody>
      </p:sp>
      <p:cxnSp>
        <p:nvCxnSpPr>
          <p:cNvPr id="92" name="Connecteur droit 91">
            <a:extLst>
              <a:ext uri="{FF2B5EF4-FFF2-40B4-BE49-F238E27FC236}">
                <a16:creationId xmlns:a16="http://schemas.microsoft.com/office/drawing/2014/main" id="{28AD7480-E831-85C7-727C-CB1FBE3468FF}"/>
              </a:ext>
            </a:extLst>
          </p:cNvPr>
          <p:cNvCxnSpPr/>
          <p:nvPr/>
        </p:nvCxnSpPr>
        <p:spPr>
          <a:xfrm>
            <a:off x="850457" y="3536735"/>
            <a:ext cx="0" cy="1819497"/>
          </a:xfrm>
          <a:prstGeom prst="line">
            <a:avLst/>
          </a:prstGeom>
          <a:ln w="82550" cap="rnd">
            <a:solidFill>
              <a:srgbClr val="102031">
                <a:alpha val="33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465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left)">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Lst>
  </p:timing>
  <p:extLst>
    <p:ext uri="{6950BFC3-D8DA-4A85-94F7-54DA5524770B}">
      <p188:commentRel xmlns:p188="http://schemas.microsoft.com/office/powerpoint/2018/8/main" r:id="rId4"/>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0E10F-A6D5-7014-B8DB-C520253162AB}"/>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FB7F5EE-7109-F87E-CA0B-9BCE8B9051AC}"/>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E728A17A-4A49-CF55-2636-F3FD8EE10C3B}"/>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2731B959-6107-8B7D-13D9-945D08DB97F6}"/>
              </a:ext>
            </a:extLst>
          </p:cNvPr>
          <p:cNvSpPr>
            <a:spLocks noGrp="1"/>
          </p:cNvSpPr>
          <p:nvPr>
            <p:ph type="sldNum" sz="quarter" idx="12"/>
          </p:nvPr>
        </p:nvSpPr>
        <p:spPr/>
        <p:txBody>
          <a:bodyPr/>
          <a:lstStyle/>
          <a:p>
            <a:fld id="{CD166EB1-B284-8541-B839-321F682B6B05}" type="slidenum">
              <a:rPr lang="fr-FR" smtClean="0"/>
              <a:pPr/>
              <a:t>14</a:t>
            </a:fld>
            <a:endParaRPr lang="fr-FR"/>
          </a:p>
        </p:txBody>
      </p:sp>
      <p:sp>
        <p:nvSpPr>
          <p:cNvPr id="6" name="Espace réservé du texte 5">
            <a:extLst>
              <a:ext uri="{FF2B5EF4-FFF2-40B4-BE49-F238E27FC236}">
                <a16:creationId xmlns:a16="http://schemas.microsoft.com/office/drawing/2014/main" id="{0CD3C736-6283-8D2C-E480-A4DF15EA09AB}"/>
              </a:ext>
            </a:extLst>
          </p:cNvPr>
          <p:cNvSpPr>
            <a:spLocks noGrp="1"/>
          </p:cNvSpPr>
          <p:nvPr>
            <p:ph type="body" sz="quarter" idx="19"/>
          </p:nvPr>
        </p:nvSpPr>
        <p:spPr/>
        <p:txBody>
          <a:bodyPr/>
          <a:lstStyle/>
          <a:p>
            <a:r>
              <a:rPr lang="fr-FR">
                <a:ln w="19050">
                  <a:solidFill>
                    <a:schemeClr val="bg1"/>
                  </a:solidFill>
                </a:ln>
              </a:rPr>
              <a:t>Rappels de concepts échangés il y a longtemps</a:t>
            </a:r>
          </a:p>
        </p:txBody>
      </p:sp>
      <p:sp>
        <p:nvSpPr>
          <p:cNvPr id="7" name="Espace réservé du texte 6">
            <a:extLst>
              <a:ext uri="{FF2B5EF4-FFF2-40B4-BE49-F238E27FC236}">
                <a16:creationId xmlns:a16="http://schemas.microsoft.com/office/drawing/2014/main" id="{AB5BC0E5-5112-5077-1E3A-8554BAF642F0}"/>
              </a:ext>
            </a:extLst>
          </p:cNvPr>
          <p:cNvSpPr>
            <a:spLocks noGrp="1"/>
          </p:cNvSpPr>
          <p:nvPr>
            <p:ph type="body" sz="quarter" idx="30"/>
          </p:nvPr>
        </p:nvSpPr>
        <p:spPr/>
        <p:txBody>
          <a:bodyPr/>
          <a:lstStyle/>
          <a:p>
            <a:r>
              <a:rPr lang="fr-FR">
                <a:ln w="19050">
                  <a:solidFill>
                    <a:schemeClr val="bg1"/>
                  </a:solidFill>
                </a:ln>
              </a:rPr>
              <a:t>03</a:t>
            </a:r>
          </a:p>
        </p:txBody>
      </p:sp>
      <p:sp>
        <p:nvSpPr>
          <p:cNvPr id="73" name="Espace réservé du texte 3">
            <a:extLst>
              <a:ext uri="{FF2B5EF4-FFF2-40B4-BE49-F238E27FC236}">
                <a16:creationId xmlns:a16="http://schemas.microsoft.com/office/drawing/2014/main" id="{6BA3E0A6-E40C-394A-4B45-19E8AC212D33}"/>
              </a:ext>
            </a:extLst>
          </p:cNvPr>
          <p:cNvSpPr txBox="1">
            <a:spLocks/>
          </p:cNvSpPr>
          <p:nvPr/>
        </p:nvSpPr>
        <p:spPr>
          <a:xfrm>
            <a:off x="4953666" y="890910"/>
            <a:ext cx="4585988"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200" b="1" i="0" u="none" strike="noStrike" kern="1200" cap="none" spc="0" normalizeH="0" baseline="0" noProof="0">
                <a:ln>
                  <a:solidFill>
                    <a:srgbClr val="102031"/>
                  </a:solidFill>
                </a:ln>
                <a:solidFill>
                  <a:srgbClr val="272727"/>
                </a:solidFill>
                <a:effectLst/>
                <a:uLnTx/>
                <a:uFillTx/>
                <a:latin typeface="Arial"/>
                <a:cs typeface="Arial"/>
              </a:rPr>
              <a:t>Rappels des principes présentés par ONEPOINT en 2022</a:t>
            </a:r>
          </a:p>
        </p:txBody>
      </p:sp>
      <p:sp>
        <p:nvSpPr>
          <p:cNvPr id="74" name="Espace réservé du texte 1">
            <a:extLst>
              <a:ext uri="{FF2B5EF4-FFF2-40B4-BE49-F238E27FC236}">
                <a16:creationId xmlns:a16="http://schemas.microsoft.com/office/drawing/2014/main" id="{4DC45878-83C6-6CF6-374B-A960D2E3BD1C}"/>
              </a:ext>
            </a:extLst>
          </p:cNvPr>
          <p:cNvSpPr txBox="1">
            <a:spLocks/>
          </p:cNvSpPr>
          <p:nvPr/>
        </p:nvSpPr>
        <p:spPr>
          <a:xfrm>
            <a:off x="305041" y="775622"/>
            <a:ext cx="11433652"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400" b="1" i="0" u="none" strike="noStrike" kern="1200" cap="all" spc="-150" normalizeH="0" baseline="0" noProof="0">
                <a:ln>
                  <a:noFill/>
                </a:ln>
                <a:solidFill>
                  <a:srgbClr val="272727"/>
                </a:solidFill>
                <a:effectLst/>
                <a:uLnTx/>
                <a:uFillTx/>
                <a:latin typeface="Arial Black"/>
                <a:ea typeface="+mn-ea"/>
                <a:cs typeface="+mn-cs"/>
              </a:rPr>
              <a:t>Médiation &amp; Urbanisation</a:t>
            </a:r>
          </a:p>
        </p:txBody>
      </p:sp>
      <p:grpSp>
        <p:nvGrpSpPr>
          <p:cNvPr id="5" name="Groupe 4">
            <a:extLst>
              <a:ext uri="{FF2B5EF4-FFF2-40B4-BE49-F238E27FC236}">
                <a16:creationId xmlns:a16="http://schemas.microsoft.com/office/drawing/2014/main" id="{702B1074-F6C6-8E31-B944-D49B18D4BE35}"/>
              </a:ext>
            </a:extLst>
          </p:cNvPr>
          <p:cNvGrpSpPr/>
          <p:nvPr/>
        </p:nvGrpSpPr>
        <p:grpSpPr>
          <a:xfrm>
            <a:off x="431844" y="1336006"/>
            <a:ext cx="5760612" cy="4918886"/>
            <a:chOff x="3044312" y="1780124"/>
            <a:chExt cx="5311433" cy="4610166"/>
          </a:xfrm>
        </p:grpSpPr>
        <p:sp>
          <p:nvSpPr>
            <p:cNvPr id="9" name="Rectangle : coins arrondis 8">
              <a:extLst>
                <a:ext uri="{FF2B5EF4-FFF2-40B4-BE49-F238E27FC236}">
                  <a16:creationId xmlns:a16="http://schemas.microsoft.com/office/drawing/2014/main" id="{F041FAA1-187D-8C96-CAD0-70DC9FDE6F3C}"/>
                </a:ext>
              </a:extLst>
            </p:cNvPr>
            <p:cNvSpPr/>
            <p:nvPr/>
          </p:nvSpPr>
          <p:spPr>
            <a:xfrm>
              <a:off x="3044312" y="1780124"/>
              <a:ext cx="5311433" cy="4610166"/>
            </a:xfrm>
            <a:prstGeom prst="roundRect">
              <a:avLst>
                <a:gd name="adj" fmla="val 9970"/>
              </a:avLst>
            </a:prstGeom>
            <a:solidFill>
              <a:schemeClr val="bg1">
                <a:alpha val="83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w="12700">
                  <a:solidFill>
                    <a:schemeClr val="tx1"/>
                  </a:solidFill>
                </a:ln>
                <a:solidFill>
                  <a:schemeClr val="tx2"/>
                </a:solidFill>
              </a:endParaRPr>
            </a:p>
          </p:txBody>
        </p:sp>
        <p:sp>
          <p:nvSpPr>
            <p:cNvPr id="10" name="ZoneTexte 9">
              <a:extLst>
                <a:ext uri="{FF2B5EF4-FFF2-40B4-BE49-F238E27FC236}">
                  <a16:creationId xmlns:a16="http://schemas.microsoft.com/office/drawing/2014/main" id="{176C9B00-72A4-A788-48F8-80ACB1A5A844}"/>
                </a:ext>
              </a:extLst>
            </p:cNvPr>
            <p:cNvSpPr txBox="1"/>
            <p:nvPr/>
          </p:nvSpPr>
          <p:spPr>
            <a:xfrm>
              <a:off x="4229562" y="1887909"/>
              <a:ext cx="2841291" cy="461665"/>
            </a:xfrm>
            <a:prstGeom prst="rect">
              <a:avLst/>
            </a:prstGeom>
            <a:noFill/>
            <a:ln>
              <a:noFill/>
            </a:ln>
          </p:spPr>
          <p:txBody>
            <a:bodyPr wrap="none" rtlCol="0">
              <a:spAutoFit/>
            </a:bodyPr>
            <a:lstStyle/>
            <a:p>
              <a:r>
                <a:rPr lang="fr-FR" sz="2400" b="1">
                  <a:ln w="28575">
                    <a:solidFill>
                      <a:schemeClr val="tx1"/>
                    </a:solidFill>
                  </a:ln>
                </a:rPr>
                <a:t>Plateforme d’échange</a:t>
              </a:r>
            </a:p>
          </p:txBody>
        </p:sp>
      </p:grpSp>
      <p:sp>
        <p:nvSpPr>
          <p:cNvPr id="11" name="Rectangle à coins arrondis 7">
            <a:extLst>
              <a:ext uri="{FF2B5EF4-FFF2-40B4-BE49-F238E27FC236}">
                <a16:creationId xmlns:a16="http://schemas.microsoft.com/office/drawing/2014/main" id="{05EE9829-988B-56C0-D57D-A2AD66A94CE2}"/>
              </a:ext>
            </a:extLst>
          </p:cNvPr>
          <p:cNvSpPr/>
          <p:nvPr/>
        </p:nvSpPr>
        <p:spPr>
          <a:xfrm>
            <a:off x="937303" y="2114642"/>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Harmoniser les échanges inter-applicatifs</a:t>
            </a:r>
          </a:p>
        </p:txBody>
      </p:sp>
      <p:sp>
        <p:nvSpPr>
          <p:cNvPr id="12" name="Rectangle à coins arrondis 7">
            <a:extLst>
              <a:ext uri="{FF2B5EF4-FFF2-40B4-BE49-F238E27FC236}">
                <a16:creationId xmlns:a16="http://schemas.microsoft.com/office/drawing/2014/main" id="{AF8D19D1-5DA1-0EAD-06C8-A9C18C985336}"/>
              </a:ext>
            </a:extLst>
          </p:cNvPr>
          <p:cNvSpPr/>
          <p:nvPr/>
        </p:nvSpPr>
        <p:spPr>
          <a:xfrm>
            <a:off x="937303" y="2881908"/>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Sécuriser le SI</a:t>
            </a:r>
          </a:p>
        </p:txBody>
      </p:sp>
      <p:sp>
        <p:nvSpPr>
          <p:cNvPr id="13" name="Rectangle à coins arrondis 7">
            <a:extLst>
              <a:ext uri="{FF2B5EF4-FFF2-40B4-BE49-F238E27FC236}">
                <a16:creationId xmlns:a16="http://schemas.microsoft.com/office/drawing/2014/main" id="{B9397584-CB8C-F67F-C24E-54337CC38EBA}"/>
              </a:ext>
            </a:extLst>
          </p:cNvPr>
          <p:cNvSpPr/>
          <p:nvPr/>
        </p:nvSpPr>
        <p:spPr>
          <a:xfrm>
            <a:off x="937303" y="4416440"/>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Transformer et enrichir selon des règles métiers</a:t>
            </a:r>
          </a:p>
        </p:txBody>
      </p:sp>
      <p:sp>
        <p:nvSpPr>
          <p:cNvPr id="14" name="Rectangle à coins arrondis 7">
            <a:extLst>
              <a:ext uri="{FF2B5EF4-FFF2-40B4-BE49-F238E27FC236}">
                <a16:creationId xmlns:a16="http://schemas.microsoft.com/office/drawing/2014/main" id="{8AD0F425-B5AF-7B05-6E87-82E2584AD51A}"/>
              </a:ext>
            </a:extLst>
          </p:cNvPr>
          <p:cNvSpPr/>
          <p:nvPr/>
        </p:nvSpPr>
        <p:spPr>
          <a:xfrm>
            <a:off x="937303" y="5183706"/>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Piloter les SLA et QoS</a:t>
            </a:r>
          </a:p>
        </p:txBody>
      </p:sp>
      <p:sp>
        <p:nvSpPr>
          <p:cNvPr id="16" name="Rectangle à coins arrondis 7">
            <a:extLst>
              <a:ext uri="{FF2B5EF4-FFF2-40B4-BE49-F238E27FC236}">
                <a16:creationId xmlns:a16="http://schemas.microsoft.com/office/drawing/2014/main" id="{BDBF5011-B75C-0C66-FE5B-F1D57D415A70}"/>
              </a:ext>
            </a:extLst>
          </p:cNvPr>
          <p:cNvSpPr/>
          <p:nvPr/>
        </p:nvSpPr>
        <p:spPr>
          <a:xfrm>
            <a:off x="937303" y="3649174"/>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Avoir un SI basé sur des services (SOA)</a:t>
            </a:r>
          </a:p>
        </p:txBody>
      </p:sp>
      <p:sp>
        <p:nvSpPr>
          <p:cNvPr id="28" name="Rectangle 27">
            <a:extLst>
              <a:ext uri="{FF2B5EF4-FFF2-40B4-BE49-F238E27FC236}">
                <a16:creationId xmlns:a16="http://schemas.microsoft.com/office/drawing/2014/main" id="{C6E8D093-7EE8-A8A2-8F1A-19AABD20B38F}"/>
              </a:ext>
            </a:extLst>
          </p:cNvPr>
          <p:cNvSpPr/>
          <p:nvPr/>
        </p:nvSpPr>
        <p:spPr>
          <a:xfrm>
            <a:off x="6466334" y="1569711"/>
            <a:ext cx="5198064" cy="162627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80000"/>
              </a:lnSpc>
            </a:pPr>
            <a:r>
              <a:rPr lang="fr-FR" sz="1600">
                <a:ln w="19050">
                  <a:solidFill>
                    <a:sysClr val="windowText" lastClr="000000">
                      <a:alpha val="60000"/>
                    </a:sysClr>
                  </a:solidFill>
                </a:ln>
                <a:solidFill>
                  <a:schemeClr val="tx1">
                    <a:alpha val="60000"/>
                  </a:schemeClr>
                </a:solidFill>
              </a:rPr>
              <a:t>Le service de médiation est à la base du socle de l’intégration applicative, assurant un découplage applicatif. Il est responsable de :</a:t>
            </a:r>
          </a:p>
          <a:p>
            <a:pPr marL="342900" indent="-342900" algn="just">
              <a:lnSpc>
                <a:spcPct val="80000"/>
              </a:lnSpc>
              <a:spcBef>
                <a:spcPts val="300"/>
              </a:spcBef>
              <a:buClr>
                <a:schemeClr val="tx1"/>
              </a:buClr>
              <a:buBlip>
                <a:blip r:embed="rId3"/>
              </a:buBlip>
            </a:pPr>
            <a:r>
              <a:rPr lang="fr-FR" sz="1400" b="1">
                <a:ln>
                  <a:solidFill>
                    <a:schemeClr val="accent6">
                      <a:lumMod val="60000"/>
                      <a:lumOff val="40000"/>
                    </a:schemeClr>
                  </a:solidFill>
                </a:ln>
                <a:solidFill>
                  <a:schemeClr val="accent6">
                    <a:lumMod val="60000"/>
                    <a:lumOff val="40000"/>
                  </a:schemeClr>
                </a:solidFill>
              </a:rPr>
              <a:t>L’échange de données au fil de l’eau entre applications au sein du SI pouvant router, transformer et orchestrer les messages d’un système à un autre </a:t>
            </a:r>
          </a:p>
          <a:p>
            <a:pPr marL="342900" indent="-342900" algn="just">
              <a:lnSpc>
                <a:spcPct val="80000"/>
              </a:lnSpc>
              <a:spcBef>
                <a:spcPts val="300"/>
              </a:spcBef>
              <a:buClr>
                <a:schemeClr val="tx1"/>
              </a:buClr>
              <a:buBlip>
                <a:blip r:embed="rId3"/>
              </a:buBlip>
            </a:pPr>
            <a:r>
              <a:rPr lang="fr-FR" sz="1400" b="1">
                <a:ln>
                  <a:solidFill>
                    <a:schemeClr val="accent6">
                      <a:lumMod val="60000"/>
                      <a:lumOff val="40000"/>
                    </a:schemeClr>
                  </a:solidFill>
                </a:ln>
                <a:solidFill>
                  <a:schemeClr val="accent6">
                    <a:lumMod val="60000"/>
                    <a:lumOff val="40000"/>
                  </a:schemeClr>
                </a:solidFill>
              </a:rPr>
              <a:t>La création de nouveaux services par orchestration de services existants</a:t>
            </a:r>
          </a:p>
        </p:txBody>
      </p:sp>
    </p:spTree>
    <p:extLst>
      <p:ext uri="{BB962C8B-B14F-4D97-AF65-F5344CB8AC3E}">
        <p14:creationId xmlns:p14="http://schemas.microsoft.com/office/powerpoint/2010/main" val="23588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51A14-509B-A4EB-DEED-9FC4149A48B5}"/>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37E5042-F75A-D9B8-466C-76243E7EC4E6}"/>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6816B79F-9A32-45B9-57F7-68BDDA6F6EC3}"/>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A0664CC8-C6DE-98BE-F3E6-B949749260A4}"/>
              </a:ext>
            </a:extLst>
          </p:cNvPr>
          <p:cNvSpPr>
            <a:spLocks noGrp="1"/>
          </p:cNvSpPr>
          <p:nvPr>
            <p:ph type="sldNum" sz="quarter" idx="12"/>
          </p:nvPr>
        </p:nvSpPr>
        <p:spPr/>
        <p:txBody>
          <a:bodyPr/>
          <a:lstStyle/>
          <a:p>
            <a:fld id="{CD166EB1-B284-8541-B839-321F682B6B05}" type="slidenum">
              <a:rPr lang="fr-FR" smtClean="0"/>
              <a:pPr/>
              <a:t>15</a:t>
            </a:fld>
            <a:endParaRPr lang="fr-FR"/>
          </a:p>
        </p:txBody>
      </p:sp>
      <p:sp>
        <p:nvSpPr>
          <p:cNvPr id="6" name="Espace réservé du texte 5">
            <a:extLst>
              <a:ext uri="{FF2B5EF4-FFF2-40B4-BE49-F238E27FC236}">
                <a16:creationId xmlns:a16="http://schemas.microsoft.com/office/drawing/2014/main" id="{79A64D5C-66F7-BB46-6982-352F59F8CEBA}"/>
              </a:ext>
            </a:extLst>
          </p:cNvPr>
          <p:cNvSpPr>
            <a:spLocks noGrp="1"/>
          </p:cNvSpPr>
          <p:nvPr>
            <p:ph type="body" sz="quarter" idx="19"/>
          </p:nvPr>
        </p:nvSpPr>
        <p:spPr/>
        <p:txBody>
          <a:bodyPr/>
          <a:lstStyle/>
          <a:p>
            <a:r>
              <a:rPr lang="fr-FR">
                <a:ln w="19050">
                  <a:solidFill>
                    <a:schemeClr val="bg1"/>
                  </a:solidFill>
                </a:ln>
              </a:rPr>
              <a:t>Et l’</a:t>
            </a:r>
            <a:r>
              <a:rPr lang="fr-FR" err="1">
                <a:ln w="19050">
                  <a:solidFill>
                    <a:schemeClr val="bg1"/>
                  </a:solidFill>
                </a:ln>
              </a:rPr>
              <a:t>IpaaS</a:t>
            </a:r>
            <a:r>
              <a:rPr lang="fr-FR">
                <a:ln w="19050">
                  <a:solidFill>
                    <a:schemeClr val="bg1"/>
                  </a:solidFill>
                </a:ln>
              </a:rPr>
              <a:t> ?</a:t>
            </a:r>
          </a:p>
        </p:txBody>
      </p:sp>
      <p:sp>
        <p:nvSpPr>
          <p:cNvPr id="7" name="Espace réservé du texte 6">
            <a:extLst>
              <a:ext uri="{FF2B5EF4-FFF2-40B4-BE49-F238E27FC236}">
                <a16:creationId xmlns:a16="http://schemas.microsoft.com/office/drawing/2014/main" id="{18E136B9-4BAC-5898-958B-B964F5C6A79F}"/>
              </a:ext>
            </a:extLst>
          </p:cNvPr>
          <p:cNvSpPr>
            <a:spLocks noGrp="1"/>
          </p:cNvSpPr>
          <p:nvPr>
            <p:ph type="body" sz="quarter" idx="30"/>
          </p:nvPr>
        </p:nvSpPr>
        <p:spPr/>
        <p:txBody>
          <a:bodyPr/>
          <a:lstStyle/>
          <a:p>
            <a:r>
              <a:rPr lang="fr-FR">
                <a:ln w="19050">
                  <a:solidFill>
                    <a:schemeClr val="bg1"/>
                  </a:solidFill>
                </a:ln>
              </a:rPr>
              <a:t>04</a:t>
            </a:r>
          </a:p>
        </p:txBody>
      </p:sp>
      <p:sp>
        <p:nvSpPr>
          <p:cNvPr id="73" name="Espace réservé du texte 3">
            <a:extLst>
              <a:ext uri="{FF2B5EF4-FFF2-40B4-BE49-F238E27FC236}">
                <a16:creationId xmlns:a16="http://schemas.microsoft.com/office/drawing/2014/main" id="{72D6F0E2-1ADC-7FA3-4D62-33D320D8F2CE}"/>
              </a:ext>
            </a:extLst>
          </p:cNvPr>
          <p:cNvSpPr txBox="1">
            <a:spLocks/>
          </p:cNvSpPr>
          <p:nvPr/>
        </p:nvSpPr>
        <p:spPr>
          <a:xfrm>
            <a:off x="4953666" y="890910"/>
            <a:ext cx="4585988"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200" b="1" i="0" u="none" strike="noStrike" kern="1200" cap="none" spc="0" normalizeH="0" baseline="0" noProof="0">
                <a:ln>
                  <a:solidFill>
                    <a:srgbClr val="102031"/>
                  </a:solidFill>
                </a:ln>
                <a:solidFill>
                  <a:srgbClr val="272727"/>
                </a:solidFill>
                <a:effectLst/>
                <a:uLnTx/>
                <a:uFillTx/>
                <a:latin typeface="Arial"/>
                <a:cs typeface="Arial"/>
              </a:rPr>
              <a:t>Rappels des principes présentés par ONEPOINT en 2022</a:t>
            </a:r>
          </a:p>
        </p:txBody>
      </p:sp>
      <p:sp>
        <p:nvSpPr>
          <p:cNvPr id="74" name="Espace réservé du texte 1">
            <a:extLst>
              <a:ext uri="{FF2B5EF4-FFF2-40B4-BE49-F238E27FC236}">
                <a16:creationId xmlns:a16="http://schemas.microsoft.com/office/drawing/2014/main" id="{37E936CC-6D66-F96B-B3B7-1A815DB452B7}"/>
              </a:ext>
            </a:extLst>
          </p:cNvPr>
          <p:cNvSpPr txBox="1">
            <a:spLocks/>
          </p:cNvSpPr>
          <p:nvPr/>
        </p:nvSpPr>
        <p:spPr>
          <a:xfrm>
            <a:off x="305041" y="775622"/>
            <a:ext cx="11433652"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400" b="1" i="0" u="none" strike="noStrike" kern="1200" cap="all" spc="-150" normalizeH="0" baseline="0" noProof="0">
                <a:ln>
                  <a:noFill/>
                </a:ln>
                <a:solidFill>
                  <a:srgbClr val="272727"/>
                </a:solidFill>
                <a:effectLst/>
                <a:uLnTx/>
                <a:uFillTx/>
                <a:latin typeface="Arial Black"/>
                <a:ea typeface="+mn-ea"/>
                <a:cs typeface="+mn-cs"/>
              </a:rPr>
              <a:t>Médiation &amp; Urbanisation</a:t>
            </a:r>
          </a:p>
        </p:txBody>
      </p:sp>
      <p:grpSp>
        <p:nvGrpSpPr>
          <p:cNvPr id="5" name="Groupe 4">
            <a:extLst>
              <a:ext uri="{FF2B5EF4-FFF2-40B4-BE49-F238E27FC236}">
                <a16:creationId xmlns:a16="http://schemas.microsoft.com/office/drawing/2014/main" id="{8EB60771-723B-C98D-0B9E-B3028653ABE8}"/>
              </a:ext>
            </a:extLst>
          </p:cNvPr>
          <p:cNvGrpSpPr/>
          <p:nvPr/>
        </p:nvGrpSpPr>
        <p:grpSpPr>
          <a:xfrm>
            <a:off x="431844" y="1336006"/>
            <a:ext cx="5760612" cy="4918886"/>
            <a:chOff x="3044312" y="1780124"/>
            <a:chExt cx="5311433" cy="4610166"/>
          </a:xfrm>
        </p:grpSpPr>
        <p:sp>
          <p:nvSpPr>
            <p:cNvPr id="9" name="Rectangle : coins arrondis 8">
              <a:extLst>
                <a:ext uri="{FF2B5EF4-FFF2-40B4-BE49-F238E27FC236}">
                  <a16:creationId xmlns:a16="http://schemas.microsoft.com/office/drawing/2014/main" id="{F2D296D8-2034-DAEC-FCCA-3325FA66ADF7}"/>
                </a:ext>
              </a:extLst>
            </p:cNvPr>
            <p:cNvSpPr/>
            <p:nvPr/>
          </p:nvSpPr>
          <p:spPr>
            <a:xfrm>
              <a:off x="3044312" y="1780124"/>
              <a:ext cx="5311433" cy="4610166"/>
            </a:xfrm>
            <a:prstGeom prst="roundRect">
              <a:avLst>
                <a:gd name="adj" fmla="val 9970"/>
              </a:avLst>
            </a:prstGeom>
            <a:solidFill>
              <a:schemeClr val="bg1">
                <a:alpha val="83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w="12700">
                  <a:solidFill>
                    <a:schemeClr val="tx1"/>
                  </a:solidFill>
                </a:ln>
                <a:solidFill>
                  <a:schemeClr val="tx2"/>
                </a:solidFill>
              </a:endParaRPr>
            </a:p>
          </p:txBody>
        </p:sp>
        <p:sp>
          <p:nvSpPr>
            <p:cNvPr id="10" name="ZoneTexte 9">
              <a:extLst>
                <a:ext uri="{FF2B5EF4-FFF2-40B4-BE49-F238E27FC236}">
                  <a16:creationId xmlns:a16="http://schemas.microsoft.com/office/drawing/2014/main" id="{DAB7591F-A409-A23A-2E6D-27B8C0ABCE4D}"/>
                </a:ext>
              </a:extLst>
            </p:cNvPr>
            <p:cNvSpPr txBox="1"/>
            <p:nvPr/>
          </p:nvSpPr>
          <p:spPr>
            <a:xfrm>
              <a:off x="4229562" y="1887909"/>
              <a:ext cx="2841291" cy="461665"/>
            </a:xfrm>
            <a:prstGeom prst="rect">
              <a:avLst/>
            </a:prstGeom>
            <a:noFill/>
            <a:ln>
              <a:noFill/>
            </a:ln>
          </p:spPr>
          <p:txBody>
            <a:bodyPr wrap="none" rtlCol="0">
              <a:spAutoFit/>
            </a:bodyPr>
            <a:lstStyle/>
            <a:p>
              <a:r>
                <a:rPr lang="fr-FR" sz="2400" b="1">
                  <a:ln w="28575">
                    <a:solidFill>
                      <a:schemeClr val="tx1"/>
                    </a:solidFill>
                  </a:ln>
                </a:rPr>
                <a:t>Plateforme d’échange</a:t>
              </a:r>
            </a:p>
          </p:txBody>
        </p:sp>
      </p:grpSp>
      <p:sp>
        <p:nvSpPr>
          <p:cNvPr id="11" name="Rectangle à coins arrondis 7">
            <a:extLst>
              <a:ext uri="{FF2B5EF4-FFF2-40B4-BE49-F238E27FC236}">
                <a16:creationId xmlns:a16="http://schemas.microsoft.com/office/drawing/2014/main" id="{2B893B30-8F6F-6032-760C-FFA614C6FE45}"/>
              </a:ext>
            </a:extLst>
          </p:cNvPr>
          <p:cNvSpPr/>
          <p:nvPr/>
        </p:nvSpPr>
        <p:spPr>
          <a:xfrm>
            <a:off x="937303" y="2114642"/>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Harmoniser les échanges inter-applicatifs</a:t>
            </a:r>
          </a:p>
        </p:txBody>
      </p:sp>
      <p:sp>
        <p:nvSpPr>
          <p:cNvPr id="12" name="Rectangle à coins arrondis 7">
            <a:extLst>
              <a:ext uri="{FF2B5EF4-FFF2-40B4-BE49-F238E27FC236}">
                <a16:creationId xmlns:a16="http://schemas.microsoft.com/office/drawing/2014/main" id="{2EBD28EB-1ED5-BECC-28A0-49CE05068CFD}"/>
              </a:ext>
            </a:extLst>
          </p:cNvPr>
          <p:cNvSpPr/>
          <p:nvPr/>
        </p:nvSpPr>
        <p:spPr>
          <a:xfrm>
            <a:off x="937303" y="2881908"/>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Sécuriser le SI</a:t>
            </a:r>
          </a:p>
        </p:txBody>
      </p:sp>
      <p:sp>
        <p:nvSpPr>
          <p:cNvPr id="13" name="Rectangle à coins arrondis 7">
            <a:extLst>
              <a:ext uri="{FF2B5EF4-FFF2-40B4-BE49-F238E27FC236}">
                <a16:creationId xmlns:a16="http://schemas.microsoft.com/office/drawing/2014/main" id="{E93EC12F-30DD-8966-0FC8-F69A70C01C0C}"/>
              </a:ext>
            </a:extLst>
          </p:cNvPr>
          <p:cNvSpPr/>
          <p:nvPr/>
        </p:nvSpPr>
        <p:spPr>
          <a:xfrm>
            <a:off x="937303" y="4416440"/>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Transformer et enrichir selon des règles métiers</a:t>
            </a:r>
          </a:p>
        </p:txBody>
      </p:sp>
      <p:sp>
        <p:nvSpPr>
          <p:cNvPr id="14" name="Rectangle à coins arrondis 7">
            <a:extLst>
              <a:ext uri="{FF2B5EF4-FFF2-40B4-BE49-F238E27FC236}">
                <a16:creationId xmlns:a16="http://schemas.microsoft.com/office/drawing/2014/main" id="{C700208F-91A8-1AB3-6DD0-AC27E958B64E}"/>
              </a:ext>
            </a:extLst>
          </p:cNvPr>
          <p:cNvSpPr/>
          <p:nvPr/>
        </p:nvSpPr>
        <p:spPr>
          <a:xfrm>
            <a:off x="937303" y="5183706"/>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Piloter les SLA et QoS</a:t>
            </a:r>
          </a:p>
        </p:txBody>
      </p:sp>
      <p:sp>
        <p:nvSpPr>
          <p:cNvPr id="16" name="Rectangle à coins arrondis 7">
            <a:extLst>
              <a:ext uri="{FF2B5EF4-FFF2-40B4-BE49-F238E27FC236}">
                <a16:creationId xmlns:a16="http://schemas.microsoft.com/office/drawing/2014/main" id="{508CAC5C-B873-EBAC-E726-DB080B3C07B8}"/>
              </a:ext>
            </a:extLst>
          </p:cNvPr>
          <p:cNvSpPr/>
          <p:nvPr/>
        </p:nvSpPr>
        <p:spPr>
          <a:xfrm>
            <a:off x="937303" y="3649174"/>
            <a:ext cx="4722174" cy="672913"/>
          </a:xfrm>
          <a:prstGeom prst="roundRect">
            <a:avLst/>
          </a:prstGeom>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b="1">
                <a:ln w="12700">
                  <a:solidFill>
                    <a:schemeClr val="tx1"/>
                  </a:solidFill>
                </a:ln>
                <a:solidFill>
                  <a:schemeClr val="tx1"/>
                </a:solidFill>
                <a:cs typeface="Arial" pitchFamily="34" charset="0"/>
              </a:rPr>
              <a:t>Avoir un SI basé sur des services (SOA)</a:t>
            </a:r>
          </a:p>
        </p:txBody>
      </p:sp>
      <p:sp>
        <p:nvSpPr>
          <p:cNvPr id="29" name="Rectangle 28">
            <a:extLst>
              <a:ext uri="{FF2B5EF4-FFF2-40B4-BE49-F238E27FC236}">
                <a16:creationId xmlns:a16="http://schemas.microsoft.com/office/drawing/2014/main" id="{DAE69F26-F1F3-3557-7F7F-EC989DCE3AE2}"/>
              </a:ext>
            </a:extLst>
          </p:cNvPr>
          <p:cNvSpPr/>
          <p:nvPr/>
        </p:nvSpPr>
        <p:spPr>
          <a:xfrm>
            <a:off x="6403871" y="1336006"/>
            <a:ext cx="5198064" cy="186999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80000"/>
              </a:lnSpc>
            </a:pPr>
            <a:r>
              <a:rPr lang="fr-FR" sz="1600">
                <a:ln w="19050">
                  <a:solidFill>
                    <a:sysClr val="windowText" lastClr="000000">
                      <a:alpha val="60000"/>
                    </a:sysClr>
                  </a:solidFill>
                </a:ln>
                <a:solidFill>
                  <a:schemeClr val="tx1">
                    <a:alpha val="60000"/>
                  </a:schemeClr>
                </a:solidFill>
              </a:rPr>
              <a:t>Une solution d'</a:t>
            </a:r>
            <a:r>
              <a:rPr lang="fr-FR" sz="1600" err="1">
                <a:ln w="19050">
                  <a:solidFill>
                    <a:sysClr val="windowText" lastClr="000000">
                      <a:alpha val="60000"/>
                    </a:sysClr>
                  </a:solidFill>
                </a:ln>
                <a:solidFill>
                  <a:schemeClr val="tx1">
                    <a:alpha val="60000"/>
                  </a:schemeClr>
                </a:solidFill>
              </a:rPr>
              <a:t>IPaaS</a:t>
            </a:r>
            <a:r>
              <a:rPr lang="fr-FR" sz="1600">
                <a:ln w="19050">
                  <a:solidFill>
                    <a:sysClr val="windowText" lastClr="000000">
                      <a:alpha val="60000"/>
                    </a:sysClr>
                  </a:solidFill>
                </a:ln>
                <a:solidFill>
                  <a:schemeClr val="tx1">
                    <a:alpha val="60000"/>
                  </a:schemeClr>
                </a:solidFill>
              </a:rPr>
              <a:t> </a:t>
            </a:r>
            <a:r>
              <a:rPr lang="fr-FR" sz="1050">
                <a:ln w="19050">
                  <a:solidFill>
                    <a:sysClr val="windowText" lastClr="000000">
                      <a:alpha val="60000"/>
                    </a:sysClr>
                  </a:solidFill>
                </a:ln>
                <a:solidFill>
                  <a:schemeClr val="tx1">
                    <a:alpha val="60000"/>
                  </a:schemeClr>
                </a:solidFill>
              </a:rPr>
              <a:t>(</a:t>
            </a:r>
            <a:r>
              <a:rPr lang="en-AE" sz="1200" i="1">
                <a:ln w="19050">
                  <a:solidFill>
                    <a:sysClr val="windowText" lastClr="000000">
                      <a:alpha val="60000"/>
                    </a:sysClr>
                  </a:solidFill>
                </a:ln>
                <a:solidFill>
                  <a:schemeClr val="tx1">
                    <a:alpha val="60000"/>
                  </a:schemeClr>
                </a:solidFill>
              </a:rPr>
              <a:t>Integration Platform as a Service</a:t>
            </a:r>
            <a:r>
              <a:rPr lang="fr-FR" sz="1050">
                <a:ln w="19050">
                  <a:solidFill>
                    <a:sysClr val="windowText" lastClr="000000">
                      <a:alpha val="60000"/>
                    </a:sysClr>
                  </a:solidFill>
                </a:ln>
                <a:solidFill>
                  <a:schemeClr val="tx1">
                    <a:alpha val="60000"/>
                  </a:schemeClr>
                </a:solidFill>
              </a:rPr>
              <a:t>)</a:t>
            </a:r>
            <a:r>
              <a:rPr lang="fr-FR" sz="1600">
                <a:ln w="19050">
                  <a:solidFill>
                    <a:sysClr val="windowText" lastClr="000000">
                      <a:alpha val="60000"/>
                    </a:sysClr>
                  </a:solidFill>
                </a:ln>
                <a:solidFill>
                  <a:schemeClr val="tx1">
                    <a:alpha val="60000"/>
                  </a:schemeClr>
                </a:solidFill>
              </a:rPr>
              <a:t> est une plateforme basée sur le cloud qui permet de connecter différentes applications, données et processus au sein d'une entreprise. Elle facilite l'intégration de multiples systèmes informatiques, qu'ils soient dans le cloud, sur site, ou hybrides, en simplifiant les connexions et en centralisant la gestion des données. Cela permet de créer des flux de travail automatisés entre les applications sans avoir besoin de coder chaque intégration individuellement.</a:t>
            </a:r>
            <a:endParaRPr lang="fr-FR" sz="1400" b="1">
              <a:ln>
                <a:solidFill>
                  <a:schemeClr val="accent6">
                    <a:lumMod val="60000"/>
                    <a:lumOff val="40000"/>
                  </a:schemeClr>
                </a:solidFill>
              </a:ln>
              <a:solidFill>
                <a:schemeClr val="accent6">
                  <a:lumMod val="60000"/>
                  <a:lumOff val="40000"/>
                </a:schemeClr>
              </a:solidFill>
            </a:endParaRPr>
          </a:p>
        </p:txBody>
      </p:sp>
      <p:sp>
        <p:nvSpPr>
          <p:cNvPr id="31" name="ZoneTexte 30">
            <a:extLst>
              <a:ext uri="{FF2B5EF4-FFF2-40B4-BE49-F238E27FC236}">
                <a16:creationId xmlns:a16="http://schemas.microsoft.com/office/drawing/2014/main" id="{2A6FE870-2F89-D0AE-406C-570AA267EBF4}"/>
              </a:ext>
            </a:extLst>
          </p:cNvPr>
          <p:cNvSpPr txBox="1"/>
          <p:nvPr/>
        </p:nvSpPr>
        <p:spPr>
          <a:xfrm>
            <a:off x="6403871" y="3322022"/>
            <a:ext cx="5122037" cy="2663486"/>
          </a:xfrm>
          <a:prstGeom prst="rect">
            <a:avLst/>
          </a:prstGeom>
          <a:noFill/>
        </p:spPr>
        <p:txBody>
          <a:bodyPr wrap="square">
            <a:spAutoFit/>
          </a:bodyPr>
          <a:lstStyle/>
          <a:p>
            <a:pPr marL="342900" indent="-342900">
              <a:lnSpc>
                <a:spcPct val="80000"/>
              </a:lnSpc>
              <a:spcBef>
                <a:spcPts val="300"/>
              </a:spcBef>
              <a:buClr>
                <a:schemeClr val="tx1"/>
              </a:buClr>
              <a:buBlip>
                <a:blip r:embed="rId3"/>
              </a:buBlip>
            </a:pPr>
            <a:r>
              <a:rPr lang="fr-FR" sz="1400" b="1">
                <a:ln>
                  <a:solidFill>
                    <a:sysClr val="windowText" lastClr="000000"/>
                  </a:solidFill>
                </a:ln>
                <a:solidFill>
                  <a:sysClr val="windowText" lastClr="000000"/>
                </a:solidFill>
              </a:rPr>
              <a:t>Connecteurs préconfigurés</a:t>
            </a:r>
            <a:r>
              <a:rPr lang="fr-FR" sz="1400" b="1">
                <a:ln>
                  <a:solidFill>
                    <a:schemeClr val="accent6">
                      <a:lumMod val="60000"/>
                      <a:lumOff val="40000"/>
                    </a:schemeClr>
                  </a:solidFill>
                </a:ln>
                <a:solidFill>
                  <a:schemeClr val="accent6">
                    <a:lumMod val="60000"/>
                    <a:lumOff val="40000"/>
                  </a:schemeClr>
                </a:solidFill>
              </a:rPr>
              <a:t> : Ces connecteurs facilitent l'intégration d'applications populaires comme Salesforce, SAP, Slack, etc.</a:t>
            </a:r>
          </a:p>
          <a:p>
            <a:pPr marL="342900" indent="-342900">
              <a:lnSpc>
                <a:spcPct val="80000"/>
              </a:lnSpc>
              <a:spcBef>
                <a:spcPts val="300"/>
              </a:spcBef>
              <a:buClr>
                <a:schemeClr val="tx1"/>
              </a:buClr>
              <a:buBlip>
                <a:blip r:embed="rId3"/>
              </a:buBlip>
            </a:pPr>
            <a:r>
              <a:rPr lang="fr-FR" sz="1400" b="1">
                <a:ln>
                  <a:solidFill>
                    <a:sysClr val="windowText" lastClr="000000"/>
                  </a:solidFill>
                </a:ln>
                <a:solidFill>
                  <a:sysClr val="windowText" lastClr="000000"/>
                </a:solidFill>
              </a:rPr>
              <a:t>Flux de travail automatisés</a:t>
            </a:r>
            <a:r>
              <a:rPr lang="fr-FR" sz="1400" b="1">
                <a:ln>
                  <a:solidFill>
                    <a:schemeClr val="accent6">
                      <a:lumMod val="60000"/>
                      <a:lumOff val="40000"/>
                    </a:schemeClr>
                  </a:solidFill>
                </a:ln>
                <a:solidFill>
                  <a:schemeClr val="accent6">
                    <a:lumMod val="60000"/>
                    <a:lumOff val="40000"/>
                  </a:schemeClr>
                </a:solidFill>
              </a:rPr>
              <a:t> : Elle permet de configurer des flux d'automatisation de processus, comme le transfert de données entre des systèmes de CRM et de comptabilité.</a:t>
            </a:r>
          </a:p>
          <a:p>
            <a:pPr marL="342900" indent="-342900">
              <a:lnSpc>
                <a:spcPct val="80000"/>
              </a:lnSpc>
              <a:spcBef>
                <a:spcPts val="300"/>
              </a:spcBef>
              <a:buClr>
                <a:schemeClr val="tx1"/>
              </a:buClr>
              <a:buBlip>
                <a:blip r:embed="rId3"/>
              </a:buBlip>
            </a:pPr>
            <a:r>
              <a:rPr lang="fr-FR" sz="1400" b="1">
                <a:ln>
                  <a:solidFill>
                    <a:sysClr val="windowText" lastClr="000000"/>
                  </a:solidFill>
                </a:ln>
                <a:solidFill>
                  <a:sysClr val="windowText" lastClr="000000"/>
                </a:solidFill>
              </a:rPr>
              <a:t>Transformation des données </a:t>
            </a:r>
            <a:r>
              <a:rPr lang="fr-FR" sz="1400" b="1">
                <a:ln>
                  <a:solidFill>
                    <a:schemeClr val="accent6">
                      <a:lumMod val="60000"/>
                      <a:lumOff val="40000"/>
                    </a:schemeClr>
                  </a:solidFill>
                </a:ln>
                <a:solidFill>
                  <a:schemeClr val="accent6">
                    <a:lumMod val="60000"/>
                    <a:lumOff val="40000"/>
                  </a:schemeClr>
                </a:solidFill>
              </a:rPr>
              <a:t>: Les plateformes </a:t>
            </a:r>
            <a:r>
              <a:rPr lang="fr-FR" sz="1400" b="1" err="1">
                <a:ln>
                  <a:solidFill>
                    <a:schemeClr val="accent6">
                      <a:lumMod val="60000"/>
                      <a:lumOff val="40000"/>
                    </a:schemeClr>
                  </a:solidFill>
                </a:ln>
                <a:solidFill>
                  <a:schemeClr val="accent6">
                    <a:lumMod val="60000"/>
                    <a:lumOff val="40000"/>
                  </a:schemeClr>
                </a:solidFill>
              </a:rPr>
              <a:t>IPaaS</a:t>
            </a:r>
            <a:r>
              <a:rPr lang="fr-FR" sz="1400" b="1">
                <a:ln>
                  <a:solidFill>
                    <a:schemeClr val="accent6">
                      <a:lumMod val="60000"/>
                      <a:lumOff val="40000"/>
                    </a:schemeClr>
                  </a:solidFill>
                </a:ln>
                <a:solidFill>
                  <a:schemeClr val="accent6">
                    <a:lumMod val="60000"/>
                    <a:lumOff val="40000"/>
                  </a:schemeClr>
                </a:solidFill>
              </a:rPr>
              <a:t> peuvent transformer les données entre les systèmes, ce qui garantit que les informations sont compatibles entre les applications.</a:t>
            </a:r>
          </a:p>
          <a:p>
            <a:pPr marL="342900" indent="-342900">
              <a:lnSpc>
                <a:spcPct val="80000"/>
              </a:lnSpc>
              <a:spcBef>
                <a:spcPts val="300"/>
              </a:spcBef>
              <a:buClr>
                <a:schemeClr val="tx1"/>
              </a:buClr>
              <a:buBlip>
                <a:blip r:embed="rId3"/>
              </a:buBlip>
            </a:pPr>
            <a:r>
              <a:rPr lang="fr-FR" sz="1400" b="1">
                <a:ln>
                  <a:solidFill>
                    <a:sysClr val="windowText" lastClr="000000"/>
                  </a:solidFill>
                </a:ln>
                <a:solidFill>
                  <a:sysClr val="windowText" lastClr="000000"/>
                </a:solidFill>
              </a:rPr>
              <a:t>Surveillance et gestion centralisées </a:t>
            </a:r>
            <a:r>
              <a:rPr lang="fr-FR" sz="1400" b="1">
                <a:ln>
                  <a:solidFill>
                    <a:schemeClr val="accent6">
                      <a:lumMod val="60000"/>
                      <a:lumOff val="40000"/>
                    </a:schemeClr>
                  </a:solidFill>
                </a:ln>
                <a:solidFill>
                  <a:schemeClr val="accent6">
                    <a:lumMod val="60000"/>
                    <a:lumOff val="40000"/>
                  </a:schemeClr>
                </a:solidFill>
              </a:rPr>
              <a:t>: Les entreprises peuvent surveiller et gérer toutes les intégrations à partir d'un tableau de bord central.</a:t>
            </a:r>
          </a:p>
          <a:p>
            <a:pPr marL="342900" indent="-342900">
              <a:lnSpc>
                <a:spcPct val="80000"/>
              </a:lnSpc>
              <a:spcBef>
                <a:spcPts val="300"/>
              </a:spcBef>
              <a:buClr>
                <a:schemeClr val="tx1"/>
              </a:buClr>
              <a:buBlip>
                <a:blip r:embed="rId3"/>
              </a:buBlip>
            </a:pPr>
            <a:r>
              <a:rPr lang="fr-FR" sz="1400" b="1">
                <a:ln>
                  <a:solidFill>
                    <a:sysClr val="windowText" lastClr="000000"/>
                  </a:solidFill>
                </a:ln>
                <a:solidFill>
                  <a:sysClr val="windowText" lastClr="000000"/>
                </a:solidFill>
              </a:rPr>
              <a:t>Évolutivité</a:t>
            </a:r>
            <a:r>
              <a:rPr lang="fr-FR" sz="1400" b="1">
                <a:ln>
                  <a:solidFill>
                    <a:schemeClr val="accent6">
                      <a:lumMod val="60000"/>
                      <a:lumOff val="40000"/>
                    </a:schemeClr>
                  </a:solidFill>
                </a:ln>
                <a:solidFill>
                  <a:schemeClr val="accent6">
                    <a:lumMod val="60000"/>
                    <a:lumOff val="40000"/>
                  </a:schemeClr>
                </a:solidFill>
              </a:rPr>
              <a:t> : Puisque la plateforme est basée sur le cloud, elle peut facilement s'adapter aux besoins croissants de l'entreprise.</a:t>
            </a:r>
          </a:p>
        </p:txBody>
      </p:sp>
    </p:spTree>
    <p:extLst>
      <p:ext uri="{BB962C8B-B14F-4D97-AF65-F5344CB8AC3E}">
        <p14:creationId xmlns:p14="http://schemas.microsoft.com/office/powerpoint/2010/main" val="104695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DB2E5-0DD0-8F09-F2E1-25CA8F4E523E}"/>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9403F79-14A7-201B-10C4-E61619EF4940}"/>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D245DA6F-2487-C338-8C0A-0326C4733C73}"/>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727F743B-63C5-D1FF-E617-65DF4E9A2A04}"/>
              </a:ext>
            </a:extLst>
          </p:cNvPr>
          <p:cNvSpPr>
            <a:spLocks noGrp="1"/>
          </p:cNvSpPr>
          <p:nvPr>
            <p:ph type="sldNum" sz="quarter" idx="12"/>
          </p:nvPr>
        </p:nvSpPr>
        <p:spPr/>
        <p:txBody>
          <a:bodyPr/>
          <a:lstStyle/>
          <a:p>
            <a:fld id="{CD166EB1-B284-8541-B839-321F682B6B05}" type="slidenum">
              <a:rPr lang="fr-FR" smtClean="0"/>
              <a:pPr/>
              <a:t>16</a:t>
            </a:fld>
            <a:endParaRPr lang="fr-FR"/>
          </a:p>
        </p:txBody>
      </p:sp>
      <p:sp>
        <p:nvSpPr>
          <p:cNvPr id="6" name="Espace réservé du texte 5">
            <a:extLst>
              <a:ext uri="{FF2B5EF4-FFF2-40B4-BE49-F238E27FC236}">
                <a16:creationId xmlns:a16="http://schemas.microsoft.com/office/drawing/2014/main" id="{B842E205-B1C7-489E-0CF2-46C605CB6D1F}"/>
              </a:ext>
            </a:extLst>
          </p:cNvPr>
          <p:cNvSpPr>
            <a:spLocks noGrp="1"/>
          </p:cNvSpPr>
          <p:nvPr>
            <p:ph type="body" sz="quarter" idx="19"/>
          </p:nvPr>
        </p:nvSpPr>
        <p:spPr/>
        <p:txBody>
          <a:bodyPr/>
          <a:lstStyle/>
          <a:p>
            <a:r>
              <a:rPr lang="fr-FR">
                <a:ln w="19050">
                  <a:solidFill>
                    <a:schemeClr val="bg1"/>
                  </a:solidFill>
                </a:ln>
              </a:rPr>
              <a:t>L’architecture BYCN repose sur des concepts forts.</a:t>
            </a:r>
          </a:p>
        </p:txBody>
      </p:sp>
      <p:sp>
        <p:nvSpPr>
          <p:cNvPr id="7" name="Espace réservé du texte 6">
            <a:extLst>
              <a:ext uri="{FF2B5EF4-FFF2-40B4-BE49-F238E27FC236}">
                <a16:creationId xmlns:a16="http://schemas.microsoft.com/office/drawing/2014/main" id="{5EB17C38-1E32-09E1-7E21-617E038ABFE3}"/>
              </a:ext>
            </a:extLst>
          </p:cNvPr>
          <p:cNvSpPr>
            <a:spLocks noGrp="1"/>
          </p:cNvSpPr>
          <p:nvPr>
            <p:ph type="body" sz="quarter" idx="30"/>
          </p:nvPr>
        </p:nvSpPr>
        <p:spPr/>
        <p:txBody>
          <a:bodyPr/>
          <a:lstStyle/>
          <a:p>
            <a:r>
              <a:rPr lang="fr-FR">
                <a:ln w="19050">
                  <a:solidFill>
                    <a:schemeClr val="bg1"/>
                  </a:solidFill>
                </a:ln>
              </a:rPr>
              <a:t>05</a:t>
            </a:r>
          </a:p>
        </p:txBody>
      </p:sp>
      <p:sp>
        <p:nvSpPr>
          <p:cNvPr id="5" name="ZoneTexte 4">
            <a:extLst>
              <a:ext uri="{FF2B5EF4-FFF2-40B4-BE49-F238E27FC236}">
                <a16:creationId xmlns:a16="http://schemas.microsoft.com/office/drawing/2014/main" id="{5352E570-B222-B524-8CFB-5D8D5CD91719}"/>
              </a:ext>
            </a:extLst>
          </p:cNvPr>
          <p:cNvSpPr txBox="1"/>
          <p:nvPr/>
        </p:nvSpPr>
        <p:spPr>
          <a:xfrm>
            <a:off x="547203" y="1450808"/>
            <a:ext cx="2318263" cy="307777"/>
          </a:xfrm>
          <a:prstGeom prst="rect">
            <a:avLst/>
          </a:prstGeom>
          <a:noFill/>
        </p:spPr>
        <p:txBody>
          <a:bodyPr wrap="none" rtlCol="0">
            <a:spAutoFit/>
          </a:bodyPr>
          <a:lstStyle/>
          <a:p>
            <a:r>
              <a:rPr lang="fr-FR" sz="1400" i="1">
                <a:ln w="12700">
                  <a:solidFill>
                    <a:schemeClr val="tx1"/>
                  </a:solidFill>
                </a:ln>
                <a:latin typeface="Avenir LT 35 Light" panose="02000503030000020003" pitchFamily="2" charset="0"/>
              </a:rPr>
              <a:t>« APIsation », SOA et DDD</a:t>
            </a:r>
          </a:p>
        </p:txBody>
      </p:sp>
      <p:sp>
        <p:nvSpPr>
          <p:cNvPr id="10" name="ZoneTexte 9">
            <a:extLst>
              <a:ext uri="{FF2B5EF4-FFF2-40B4-BE49-F238E27FC236}">
                <a16:creationId xmlns:a16="http://schemas.microsoft.com/office/drawing/2014/main" id="{39D43CAD-A143-97ED-D071-DE34FC9FD4AB}"/>
              </a:ext>
            </a:extLst>
          </p:cNvPr>
          <p:cNvSpPr txBox="1"/>
          <p:nvPr/>
        </p:nvSpPr>
        <p:spPr>
          <a:xfrm>
            <a:off x="512079" y="892755"/>
            <a:ext cx="4301177"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Product API »</a:t>
            </a:r>
          </a:p>
        </p:txBody>
      </p:sp>
      <p:sp>
        <p:nvSpPr>
          <p:cNvPr id="11" name="ZoneTexte 10">
            <a:extLst>
              <a:ext uri="{FF2B5EF4-FFF2-40B4-BE49-F238E27FC236}">
                <a16:creationId xmlns:a16="http://schemas.microsoft.com/office/drawing/2014/main" id="{241CD0F5-6F46-FAEA-D992-33CDF60C4FCA}"/>
              </a:ext>
            </a:extLst>
          </p:cNvPr>
          <p:cNvSpPr txBox="1"/>
          <p:nvPr/>
        </p:nvSpPr>
        <p:spPr>
          <a:xfrm>
            <a:off x="537577" y="1835684"/>
            <a:ext cx="5558423" cy="2554545"/>
          </a:xfrm>
          <a:prstGeom prst="rect">
            <a:avLst/>
          </a:prstGeom>
          <a:noFill/>
        </p:spPr>
        <p:txBody>
          <a:bodyPr wrap="square">
            <a:spAutoFit/>
          </a:bodyPr>
          <a:lstStyle/>
          <a:p>
            <a:pPr algn="just"/>
            <a:r>
              <a:rPr lang="en-US" sz="1400">
                <a:ln w="19050">
                  <a:solidFill>
                    <a:sysClr val="windowText" lastClr="000000">
                      <a:alpha val="60000"/>
                    </a:sysClr>
                  </a:solidFill>
                </a:ln>
              </a:rPr>
              <a:t>Cadre de </a:t>
            </a:r>
            <a:r>
              <a:rPr lang="fr-FR" sz="1400">
                <a:ln w="19050">
                  <a:solidFill>
                    <a:sysClr val="windowText" lastClr="000000">
                      <a:alpha val="60000"/>
                    </a:sysClr>
                  </a:solidFill>
                </a:ln>
              </a:rPr>
              <a:t>Réf</a:t>
            </a:r>
            <a:r>
              <a:rPr lang="en-US" sz="1400">
                <a:ln w="19050">
                  <a:solidFill>
                    <a:sysClr val="windowText" lastClr="000000">
                      <a:alpha val="60000"/>
                    </a:sysClr>
                  </a:solidFill>
                </a:ln>
              </a:rPr>
              <a:t>. : </a:t>
            </a:r>
          </a:p>
          <a:p>
            <a:pPr algn="just"/>
            <a:endParaRPr lang="en-US" sz="1400" i="1">
              <a:ln w="1905">
                <a:solidFill>
                  <a:srgbClr val="102031">
                    <a:alpha val="60000"/>
                  </a:srgbClr>
                </a:solidFill>
              </a:ln>
              <a:solidFill>
                <a:schemeClr val="tx1">
                  <a:alpha val="60000"/>
                </a:schemeClr>
              </a:solidFill>
            </a:endParaRPr>
          </a:p>
          <a:p>
            <a:pPr algn="just"/>
            <a:r>
              <a:rPr lang="en-US" sz="1400" i="1">
                <a:ln w="1905">
                  <a:solidFill>
                    <a:srgbClr val="102031">
                      <a:alpha val="60000"/>
                    </a:srgbClr>
                  </a:solidFill>
                </a:ln>
                <a:solidFill>
                  <a:schemeClr val="tx1">
                    <a:alpha val="60000"/>
                  </a:schemeClr>
                </a:solidFill>
              </a:rPr>
              <a:t>A </a:t>
            </a:r>
            <a:r>
              <a:rPr lang="en-US" sz="1400">
                <a:ln w="19050">
                  <a:solidFill>
                    <a:sysClr val="windowText" lastClr="000000">
                      <a:alpha val="60000"/>
                    </a:sysClr>
                  </a:solidFill>
                </a:ln>
                <a:solidFill>
                  <a:schemeClr val="tx1">
                    <a:alpha val="60000"/>
                  </a:schemeClr>
                </a:solidFill>
              </a:rPr>
              <a:t>product API </a:t>
            </a:r>
            <a:r>
              <a:rPr lang="en-US" sz="1400" i="1">
                <a:ln w="1905">
                  <a:solidFill>
                    <a:srgbClr val="102031">
                      <a:alpha val="60000"/>
                    </a:srgbClr>
                  </a:solidFill>
                </a:ln>
                <a:solidFill>
                  <a:schemeClr val="tx1">
                    <a:alpha val="60000"/>
                  </a:schemeClr>
                </a:solidFill>
              </a:rPr>
              <a:t>is the </a:t>
            </a:r>
            <a:r>
              <a:rPr lang="en-US" sz="1400">
                <a:ln w="19050">
                  <a:solidFill>
                    <a:sysClr val="windowText" lastClr="000000">
                      <a:alpha val="60000"/>
                    </a:sysClr>
                  </a:solidFill>
                </a:ln>
                <a:solidFill>
                  <a:schemeClr val="tx1">
                    <a:alpha val="60000"/>
                  </a:schemeClr>
                </a:solidFill>
              </a:rPr>
              <a:t>district</a:t>
            </a:r>
            <a:r>
              <a:rPr lang="en-US" sz="1400" i="1">
                <a:ln w="1905">
                  <a:solidFill>
                    <a:srgbClr val="102031">
                      <a:alpha val="60000"/>
                    </a:srgbClr>
                  </a:solidFill>
                </a:ln>
                <a:solidFill>
                  <a:schemeClr val="tx1">
                    <a:alpha val="60000"/>
                  </a:schemeClr>
                </a:solidFill>
              </a:rPr>
              <a:t> limit exposure of an API. The </a:t>
            </a:r>
            <a:r>
              <a:rPr lang="en-US" sz="1400">
                <a:ln w="19050">
                  <a:solidFill>
                    <a:sysClr val="windowText" lastClr="000000">
                      <a:alpha val="60000"/>
                    </a:sysClr>
                  </a:solidFill>
                </a:ln>
                <a:solidFill>
                  <a:schemeClr val="tx1">
                    <a:alpha val="60000"/>
                  </a:schemeClr>
                </a:solidFill>
              </a:rPr>
              <a:t>Product</a:t>
            </a:r>
            <a:r>
              <a:rPr lang="en-US" sz="1400" i="1">
                <a:ln w="1905">
                  <a:solidFill>
                    <a:srgbClr val="102031">
                      <a:alpha val="60000"/>
                    </a:srgbClr>
                  </a:solidFill>
                </a:ln>
                <a:solidFill>
                  <a:schemeClr val="tx1">
                    <a:alpha val="60000"/>
                  </a:schemeClr>
                </a:solidFill>
              </a:rPr>
              <a:t> </a:t>
            </a:r>
            <a:r>
              <a:rPr lang="en-US" sz="1400">
                <a:ln w="19050">
                  <a:solidFill>
                    <a:sysClr val="windowText" lastClr="000000">
                      <a:alpha val="60000"/>
                    </a:sysClr>
                  </a:solidFill>
                </a:ln>
                <a:solidFill>
                  <a:schemeClr val="tx1">
                    <a:alpha val="60000"/>
                  </a:schemeClr>
                </a:solidFill>
              </a:rPr>
              <a:t>API</a:t>
            </a:r>
            <a:r>
              <a:rPr lang="en-US" sz="1400" i="1">
                <a:ln w="1905">
                  <a:solidFill>
                    <a:srgbClr val="102031">
                      <a:alpha val="60000"/>
                    </a:srgbClr>
                  </a:solidFill>
                </a:ln>
                <a:solidFill>
                  <a:schemeClr val="tx1">
                    <a:alpha val="60000"/>
                  </a:schemeClr>
                </a:solidFill>
              </a:rPr>
              <a:t> depends on a </a:t>
            </a:r>
            <a:r>
              <a:rPr lang="en-US" sz="1400">
                <a:ln w="19050">
                  <a:solidFill>
                    <a:sysClr val="windowText" lastClr="000000">
                      <a:alpha val="60000"/>
                    </a:sysClr>
                  </a:solidFill>
                </a:ln>
                <a:solidFill>
                  <a:schemeClr val="tx1">
                    <a:alpha val="60000"/>
                  </a:schemeClr>
                </a:solidFill>
              </a:rPr>
              <a:t>District</a:t>
            </a:r>
            <a:r>
              <a:rPr lang="en-US" sz="1400" i="1">
                <a:ln w="1905">
                  <a:solidFill>
                    <a:srgbClr val="102031">
                      <a:alpha val="60000"/>
                    </a:srgbClr>
                  </a:solidFill>
                </a:ln>
                <a:solidFill>
                  <a:schemeClr val="tx1">
                    <a:alpha val="60000"/>
                  </a:schemeClr>
                </a:solidFill>
              </a:rPr>
              <a:t>. It presents </a:t>
            </a:r>
            <a:r>
              <a:rPr lang="en-US" sz="2000" i="1">
                <a:ln w="28575">
                  <a:solidFill>
                    <a:schemeClr val="accent6">
                      <a:lumMod val="75000"/>
                      <a:alpha val="60000"/>
                    </a:schemeClr>
                  </a:solidFill>
                </a:ln>
                <a:solidFill>
                  <a:schemeClr val="tx1">
                    <a:alpha val="60000"/>
                  </a:schemeClr>
                </a:solidFill>
              </a:rPr>
              <a:t>urbanized business objects</a:t>
            </a:r>
            <a:r>
              <a:rPr lang="en-US" sz="1400" i="1">
                <a:ln w="1905">
                  <a:solidFill>
                    <a:srgbClr val="102031">
                      <a:alpha val="60000"/>
                    </a:srgbClr>
                  </a:solidFill>
                </a:ln>
                <a:solidFill>
                  <a:schemeClr val="tx1">
                    <a:alpha val="60000"/>
                  </a:schemeClr>
                </a:solidFill>
              </a:rPr>
              <a:t> (e.g., site vision in inter-domain space, mediation). </a:t>
            </a:r>
            <a:r>
              <a:rPr lang="en-US" sz="1400" i="1">
                <a:ln w="1905">
                  <a:solidFill>
                    <a:schemeClr val="accent6">
                      <a:lumMod val="75000"/>
                      <a:alpha val="60000"/>
                    </a:schemeClr>
                  </a:solidFill>
                </a:ln>
                <a:solidFill>
                  <a:schemeClr val="accent6">
                    <a:lumMod val="75000"/>
                    <a:alpha val="60000"/>
                  </a:schemeClr>
                </a:solidFill>
              </a:rPr>
              <a:t>The </a:t>
            </a:r>
            <a:r>
              <a:rPr lang="en-US" sz="1400">
                <a:ln w="19050">
                  <a:solidFill>
                    <a:sysClr val="windowText" lastClr="000000">
                      <a:alpha val="60000"/>
                    </a:sysClr>
                  </a:solidFill>
                </a:ln>
                <a:solidFill>
                  <a:schemeClr val="tx1">
                    <a:alpha val="60000"/>
                  </a:schemeClr>
                </a:solidFill>
              </a:rPr>
              <a:t>Product</a:t>
            </a:r>
            <a:r>
              <a:rPr lang="en-US" sz="1400" i="1">
                <a:ln w="1905">
                  <a:solidFill>
                    <a:schemeClr val="accent6">
                      <a:lumMod val="75000"/>
                      <a:alpha val="60000"/>
                    </a:schemeClr>
                  </a:solidFill>
                </a:ln>
                <a:solidFill>
                  <a:schemeClr val="accent6">
                    <a:lumMod val="75000"/>
                    <a:alpha val="60000"/>
                  </a:schemeClr>
                </a:solidFill>
              </a:rPr>
              <a:t> </a:t>
            </a:r>
            <a:r>
              <a:rPr lang="en-US" sz="1400">
                <a:ln w="19050">
                  <a:solidFill>
                    <a:sysClr val="windowText" lastClr="000000">
                      <a:alpha val="60000"/>
                    </a:sysClr>
                  </a:solidFill>
                </a:ln>
                <a:solidFill>
                  <a:schemeClr val="tx1">
                    <a:alpha val="60000"/>
                  </a:schemeClr>
                </a:solidFill>
              </a:rPr>
              <a:t>API</a:t>
            </a:r>
            <a:r>
              <a:rPr lang="en-US" sz="1400" i="1">
                <a:ln w="1905">
                  <a:solidFill>
                    <a:schemeClr val="accent6">
                      <a:lumMod val="75000"/>
                      <a:alpha val="60000"/>
                    </a:schemeClr>
                  </a:solidFill>
                </a:ln>
                <a:solidFill>
                  <a:schemeClr val="accent6">
                    <a:lumMod val="75000"/>
                    <a:alpha val="60000"/>
                  </a:schemeClr>
                </a:solidFill>
              </a:rPr>
              <a:t> </a:t>
            </a:r>
            <a:r>
              <a:rPr lang="en-US" sz="1400">
                <a:ln w="19050">
                  <a:solidFill>
                    <a:sysClr val="windowText" lastClr="000000">
                      <a:alpha val="60000"/>
                    </a:sysClr>
                  </a:solidFill>
                </a:ln>
                <a:solidFill>
                  <a:schemeClr val="tx1">
                    <a:alpha val="60000"/>
                  </a:schemeClr>
                </a:solidFill>
              </a:rPr>
              <a:t>exposes</a:t>
            </a:r>
            <a:r>
              <a:rPr lang="en-US" sz="1400" i="1">
                <a:ln w="1905">
                  <a:solidFill>
                    <a:schemeClr val="accent6">
                      <a:lumMod val="75000"/>
                      <a:alpha val="60000"/>
                    </a:schemeClr>
                  </a:solidFill>
                </a:ln>
                <a:solidFill>
                  <a:schemeClr val="accent6">
                    <a:lumMod val="75000"/>
                    <a:alpha val="60000"/>
                  </a:schemeClr>
                </a:solidFill>
              </a:rPr>
              <a:t> </a:t>
            </a:r>
            <a:r>
              <a:rPr lang="en-US" sz="1400">
                <a:ln w="19050">
                  <a:solidFill>
                    <a:sysClr val="windowText" lastClr="000000">
                      <a:alpha val="60000"/>
                    </a:sysClr>
                  </a:solidFill>
                </a:ln>
                <a:solidFill>
                  <a:schemeClr val="tx1">
                    <a:alpha val="60000"/>
                  </a:schemeClr>
                </a:solidFill>
              </a:rPr>
              <a:t>data</a:t>
            </a:r>
            <a:r>
              <a:rPr lang="en-US" sz="1400" i="1">
                <a:ln w="1905">
                  <a:solidFill>
                    <a:schemeClr val="accent6">
                      <a:lumMod val="75000"/>
                      <a:alpha val="60000"/>
                    </a:schemeClr>
                  </a:solidFill>
                </a:ln>
                <a:solidFill>
                  <a:schemeClr val="accent6">
                    <a:lumMod val="75000"/>
                    <a:alpha val="60000"/>
                  </a:schemeClr>
                </a:solidFill>
              </a:rPr>
              <a:t> according to the </a:t>
            </a:r>
            <a:r>
              <a:rPr lang="en-US" sz="1400">
                <a:ln w="19050">
                  <a:solidFill>
                    <a:sysClr val="windowText" lastClr="000000">
                      <a:alpha val="60000"/>
                    </a:sysClr>
                  </a:solidFill>
                </a:ln>
                <a:solidFill>
                  <a:schemeClr val="tx1">
                    <a:alpha val="60000"/>
                  </a:schemeClr>
                </a:solidFill>
              </a:rPr>
              <a:t>ODATA</a:t>
            </a:r>
            <a:r>
              <a:rPr lang="en-US" sz="1400" i="1">
                <a:ln w="1905">
                  <a:solidFill>
                    <a:schemeClr val="accent6">
                      <a:lumMod val="75000"/>
                      <a:alpha val="60000"/>
                    </a:schemeClr>
                  </a:solidFill>
                </a:ln>
                <a:solidFill>
                  <a:schemeClr val="accent6">
                    <a:lumMod val="75000"/>
                    <a:alpha val="60000"/>
                  </a:schemeClr>
                </a:solidFill>
              </a:rPr>
              <a:t> </a:t>
            </a:r>
            <a:r>
              <a:rPr lang="en-US" sz="1400">
                <a:ln w="19050">
                  <a:solidFill>
                    <a:sysClr val="windowText" lastClr="000000">
                      <a:alpha val="60000"/>
                    </a:sysClr>
                  </a:solidFill>
                </a:ln>
                <a:solidFill>
                  <a:schemeClr val="tx1">
                    <a:alpha val="60000"/>
                  </a:schemeClr>
                </a:solidFill>
              </a:rPr>
              <a:t>pattern</a:t>
            </a:r>
            <a:r>
              <a:rPr lang="en-US" sz="1400" i="1">
                <a:ln w="1905">
                  <a:solidFill>
                    <a:srgbClr val="102031">
                      <a:alpha val="60000"/>
                    </a:srgbClr>
                  </a:solidFill>
                </a:ln>
                <a:solidFill>
                  <a:schemeClr val="tx1">
                    <a:alpha val="60000"/>
                  </a:schemeClr>
                </a:solidFill>
              </a:rPr>
              <a:t>. It is made up of:</a:t>
            </a:r>
          </a:p>
          <a:p>
            <a:pPr marL="324000" indent="324000" algn="just">
              <a:buBlip>
                <a:blip r:embed="rId4"/>
              </a:buBlip>
            </a:pPr>
            <a:r>
              <a:rPr lang="en-US" sz="1400" i="1">
                <a:ln w="1905">
                  <a:solidFill>
                    <a:srgbClr val="102031">
                      <a:alpha val="60000"/>
                    </a:srgbClr>
                  </a:solidFill>
                </a:ln>
                <a:solidFill>
                  <a:schemeClr val="tx1">
                    <a:alpha val="60000"/>
                  </a:schemeClr>
                </a:solidFill>
              </a:rPr>
              <a:t>1 Front panel process API</a:t>
            </a:r>
          </a:p>
          <a:p>
            <a:pPr marL="324000" indent="324000" algn="l">
              <a:buBlip>
                <a:blip r:embed="rId4"/>
              </a:buBlip>
            </a:pPr>
            <a:r>
              <a:rPr lang="en-US" sz="1400" i="1">
                <a:ln w="1905">
                  <a:solidFill>
                    <a:srgbClr val="102031">
                      <a:alpha val="60000"/>
                    </a:srgbClr>
                  </a:solidFill>
                </a:ln>
                <a:solidFill>
                  <a:schemeClr val="tx1">
                    <a:alpha val="60000"/>
                  </a:schemeClr>
                </a:solidFill>
              </a:rPr>
              <a:t>0 to N Process API</a:t>
            </a:r>
          </a:p>
          <a:p>
            <a:pPr marL="324000" indent="324000" algn="l">
              <a:buBlip>
                <a:blip r:embed="rId4"/>
              </a:buBlip>
            </a:pPr>
            <a:r>
              <a:rPr lang="en-US" sz="1400" i="1">
                <a:ln w="1905">
                  <a:solidFill>
                    <a:srgbClr val="102031">
                      <a:alpha val="60000"/>
                    </a:srgbClr>
                  </a:solidFill>
                </a:ln>
                <a:solidFill>
                  <a:schemeClr val="tx1">
                    <a:alpha val="60000"/>
                  </a:schemeClr>
                </a:solidFill>
              </a:rPr>
              <a:t>0 to N System API</a:t>
            </a:r>
          </a:p>
          <a:p>
            <a:pPr marL="324000" indent="324000" algn="l">
              <a:buBlip>
                <a:blip r:embed="rId4"/>
              </a:buBlip>
            </a:pPr>
            <a:r>
              <a:rPr lang="en-US" sz="1400" i="1">
                <a:ln w="1905">
                  <a:solidFill>
                    <a:srgbClr val="102031">
                      <a:alpha val="60000"/>
                    </a:srgbClr>
                  </a:solidFill>
                </a:ln>
                <a:solidFill>
                  <a:schemeClr val="tx1">
                    <a:alpha val="60000"/>
                  </a:schemeClr>
                </a:solidFill>
              </a:rPr>
              <a:t>0 to N Endpoint Flex Gateway</a:t>
            </a:r>
          </a:p>
          <a:p>
            <a:pPr marL="324000" indent="324000" algn="l">
              <a:buBlip>
                <a:blip r:embed="rId4"/>
              </a:buBlip>
            </a:pPr>
            <a:r>
              <a:rPr lang="en-US" sz="1400" i="1">
                <a:ln w="1905">
                  <a:solidFill>
                    <a:srgbClr val="102031">
                      <a:alpha val="60000"/>
                    </a:srgbClr>
                  </a:solidFill>
                </a:ln>
                <a:solidFill>
                  <a:schemeClr val="tx1">
                    <a:alpha val="60000"/>
                  </a:schemeClr>
                </a:solidFill>
              </a:rPr>
              <a:t>At least one process API or system API or Endpoint Flex Gateway</a:t>
            </a:r>
          </a:p>
        </p:txBody>
      </p:sp>
      <p:sp>
        <p:nvSpPr>
          <p:cNvPr id="14" name="ZoneTexte 13">
            <a:hlinkClick r:id="rId5"/>
            <a:extLst>
              <a:ext uri="{FF2B5EF4-FFF2-40B4-BE49-F238E27FC236}">
                <a16:creationId xmlns:a16="http://schemas.microsoft.com/office/drawing/2014/main" id="{D7C0DCF1-206B-60EE-0B87-966B45A4C4E7}"/>
              </a:ext>
            </a:extLst>
          </p:cNvPr>
          <p:cNvSpPr txBox="1"/>
          <p:nvPr/>
        </p:nvSpPr>
        <p:spPr>
          <a:xfrm>
            <a:off x="537577" y="4382190"/>
            <a:ext cx="6096000" cy="216213"/>
          </a:xfrm>
          <a:prstGeom prst="rect">
            <a:avLst/>
          </a:prstGeom>
          <a:noFill/>
        </p:spPr>
        <p:txBody>
          <a:bodyPr wrap="square" rtlCol="0">
            <a:spAutoFit/>
          </a:bodyPr>
          <a:lstStyle>
            <a:defPPr>
              <a:defRPr lang="fr-FR"/>
            </a:defPPr>
            <a:lvl1pPr algn="just">
              <a:lnSpc>
                <a:spcPct val="78000"/>
              </a:lnSpc>
              <a:spcAft>
                <a:spcPts val="600"/>
              </a:spcAft>
              <a:defRPr sz="1400" i="1">
                <a:ln w="1905">
                  <a:solidFill>
                    <a:srgbClr val="102031">
                      <a:alpha val="60000"/>
                    </a:srgbClr>
                  </a:solidFill>
                </a:ln>
                <a:solidFill>
                  <a:schemeClr val="tx1">
                    <a:alpha val="60000"/>
                  </a:schemeClr>
                </a:solidFill>
              </a:defRPr>
            </a:lvl1pPr>
          </a:lstStyle>
          <a:p>
            <a:r>
              <a:rPr lang="fr-FR" sz="1000"/>
              <a:t>https://bouyguesconstruction.sharepoint.com/sites/bycnitCommuArchi/SitePages/Glossary.aspx#product-api</a:t>
            </a:r>
          </a:p>
        </p:txBody>
      </p:sp>
      <p:sp>
        <p:nvSpPr>
          <p:cNvPr id="16" name="ZoneTexte 15">
            <a:extLst>
              <a:ext uri="{FF2B5EF4-FFF2-40B4-BE49-F238E27FC236}">
                <a16:creationId xmlns:a16="http://schemas.microsoft.com/office/drawing/2014/main" id="{65996FC2-6E35-8007-67A4-C1AD5503B42D}"/>
              </a:ext>
            </a:extLst>
          </p:cNvPr>
          <p:cNvSpPr txBox="1"/>
          <p:nvPr/>
        </p:nvSpPr>
        <p:spPr>
          <a:xfrm>
            <a:off x="6726111" y="736492"/>
            <a:ext cx="5282652" cy="5547609"/>
          </a:xfrm>
          <a:prstGeom prst="rect">
            <a:avLst/>
          </a:prstGeom>
          <a:noFill/>
        </p:spPr>
        <p:txBody>
          <a:bodyPr wrap="square">
            <a:spAutoFit/>
          </a:bodyPr>
          <a:lstStyle/>
          <a:p>
            <a:pPr>
              <a:lnSpc>
                <a:spcPct val="78000"/>
              </a:lnSpc>
            </a:pPr>
            <a:r>
              <a:rPr lang="fr-FR" sz="1200">
                <a:ln>
                  <a:solidFill>
                    <a:schemeClr val="accent6">
                      <a:lumMod val="60000"/>
                      <a:lumOff val="40000"/>
                    </a:schemeClr>
                  </a:solidFill>
                </a:ln>
                <a:solidFill>
                  <a:schemeClr val="accent6">
                    <a:lumMod val="60000"/>
                    <a:lumOff val="40000"/>
                  </a:schemeClr>
                </a:solidFill>
              </a:rPr>
              <a:t>Dans le cadre du </a:t>
            </a:r>
            <a:r>
              <a:rPr lang="fr-FR" sz="1400">
                <a:ln w="19050">
                  <a:solidFill>
                    <a:sysClr val="windowText" lastClr="000000">
                      <a:alpha val="60000"/>
                    </a:sysClr>
                  </a:solidFill>
                </a:ln>
                <a:solidFill>
                  <a:schemeClr val="tx1">
                    <a:alpha val="60000"/>
                  </a:schemeClr>
                </a:solidFill>
              </a:rPr>
              <a:t>Domain-Driven</a:t>
            </a:r>
            <a:r>
              <a:rPr lang="fr-FR" sz="1200" b="1">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Design</a:t>
            </a:r>
            <a:r>
              <a:rPr lang="fr-FR" sz="1200" b="1">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DDD</a:t>
            </a:r>
            <a:r>
              <a:rPr lang="fr-FR" sz="1200" b="1">
                <a:ln>
                  <a:solidFill>
                    <a:schemeClr val="accent6">
                      <a:lumMod val="60000"/>
                      <a:lumOff val="40000"/>
                    </a:schemeClr>
                  </a:solidFill>
                </a:ln>
                <a:solidFill>
                  <a:schemeClr val="accent6">
                    <a:lumMod val="60000"/>
                    <a:lumOff val="40000"/>
                  </a:schemeClr>
                </a:solidFill>
              </a:rPr>
              <a:t>)</a:t>
            </a:r>
            <a:r>
              <a:rPr lang="fr-FR" sz="1200">
                <a:ln>
                  <a:solidFill>
                    <a:schemeClr val="accent6">
                      <a:lumMod val="60000"/>
                      <a:lumOff val="40000"/>
                    </a:schemeClr>
                  </a:solidFill>
                </a:ln>
                <a:solidFill>
                  <a:schemeClr val="accent6">
                    <a:lumMod val="60000"/>
                    <a:lumOff val="40000"/>
                  </a:schemeClr>
                </a:solidFill>
              </a:rPr>
              <a:t>, le type d'API qui expose les systèmes d'un domaine est généralement appelé une </a:t>
            </a:r>
            <a:r>
              <a:rPr lang="fr-FR" sz="1200" b="1">
                <a:ln>
                  <a:solidFill>
                    <a:schemeClr val="accent6">
                      <a:lumMod val="60000"/>
                      <a:lumOff val="40000"/>
                    </a:schemeClr>
                  </a:solidFill>
                </a:ln>
                <a:solidFill>
                  <a:schemeClr val="accent6">
                    <a:lumMod val="60000"/>
                    <a:lumOff val="40000"/>
                  </a:schemeClr>
                </a:solidFill>
              </a:rPr>
              <a:t>API de Domaine</a:t>
            </a:r>
            <a:r>
              <a:rPr lang="fr-FR" sz="1200">
                <a:ln>
                  <a:solidFill>
                    <a:schemeClr val="accent6">
                      <a:lumMod val="60000"/>
                      <a:lumOff val="40000"/>
                    </a:schemeClr>
                  </a:solidFill>
                </a:ln>
                <a:solidFill>
                  <a:schemeClr val="accent6">
                    <a:lumMod val="60000"/>
                    <a:lumOff val="40000"/>
                  </a:schemeClr>
                </a:solidFill>
              </a:rPr>
              <a:t> ou </a:t>
            </a:r>
            <a:r>
              <a:rPr lang="fr-FR" sz="1200" b="1">
                <a:ln>
                  <a:solidFill>
                    <a:schemeClr val="accent6">
                      <a:lumMod val="60000"/>
                      <a:lumOff val="40000"/>
                    </a:schemeClr>
                  </a:solidFill>
                </a:ln>
                <a:solidFill>
                  <a:schemeClr val="accent6">
                    <a:lumMod val="60000"/>
                    <a:lumOff val="40000"/>
                  </a:schemeClr>
                </a:solidFill>
              </a:rPr>
              <a:t>API de Service de Domaine</a:t>
            </a:r>
            <a:r>
              <a:rPr lang="fr-FR" sz="1200">
                <a:ln>
                  <a:solidFill>
                    <a:schemeClr val="accent6">
                      <a:lumMod val="60000"/>
                      <a:lumOff val="40000"/>
                    </a:schemeClr>
                  </a:solidFill>
                </a:ln>
                <a:solidFill>
                  <a:schemeClr val="accent6">
                    <a:lumMod val="60000"/>
                    <a:lumOff val="40000"/>
                  </a:schemeClr>
                </a:solidFill>
              </a:rPr>
              <a:t>. Voici comment cela s'intègre et pourquoi c'est pertinent dans un contexte DDD :</a:t>
            </a:r>
          </a:p>
          <a:p>
            <a:pPr>
              <a:spcBef>
                <a:spcPts val="300"/>
              </a:spcBef>
              <a:spcAft>
                <a:spcPts val="300"/>
              </a:spcAft>
            </a:pPr>
            <a:r>
              <a:rPr lang="fr-FR" sz="1400">
                <a:ln w="19050">
                  <a:solidFill>
                    <a:sysClr val="windowText" lastClr="000000">
                      <a:alpha val="60000"/>
                    </a:sysClr>
                  </a:solidFill>
                </a:ln>
                <a:solidFill>
                  <a:schemeClr val="tx1">
                    <a:alpha val="60000"/>
                  </a:schemeClr>
                </a:solidFill>
              </a:rPr>
              <a:t>API de Domaine (ou API de Service de Domaine)</a:t>
            </a:r>
          </a:p>
          <a:p>
            <a:pPr marL="360000" lvl="1"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Une </a:t>
            </a:r>
            <a:r>
              <a:rPr lang="fr-FR" sz="1100" b="1">
                <a:ln>
                  <a:solidFill>
                    <a:schemeClr val="accent6">
                      <a:lumMod val="60000"/>
                      <a:lumOff val="40000"/>
                    </a:schemeClr>
                  </a:solidFill>
                </a:ln>
                <a:solidFill>
                  <a:schemeClr val="accent6">
                    <a:lumMod val="60000"/>
                    <a:lumOff val="40000"/>
                  </a:schemeClr>
                </a:solidFill>
              </a:rPr>
              <a:t>API de Domaine</a:t>
            </a:r>
            <a:r>
              <a:rPr lang="fr-FR" sz="1100">
                <a:ln>
                  <a:solidFill>
                    <a:schemeClr val="accent6">
                      <a:lumMod val="60000"/>
                      <a:lumOff val="40000"/>
                    </a:schemeClr>
                  </a:solidFill>
                </a:ln>
                <a:solidFill>
                  <a:schemeClr val="accent6">
                    <a:lumMod val="60000"/>
                    <a:lumOff val="40000"/>
                  </a:schemeClr>
                </a:solidFill>
              </a:rPr>
              <a:t> est conçue pour refléter et manipuler les </a:t>
            </a:r>
            <a:r>
              <a:rPr lang="fr-FR" sz="1100" b="1">
                <a:ln>
                  <a:solidFill>
                    <a:schemeClr val="accent6">
                      <a:lumMod val="60000"/>
                      <a:lumOff val="40000"/>
                    </a:schemeClr>
                  </a:solidFill>
                </a:ln>
                <a:solidFill>
                  <a:schemeClr val="accent6">
                    <a:lumMod val="60000"/>
                    <a:lumOff val="40000"/>
                  </a:schemeClr>
                </a:solidFill>
              </a:rPr>
              <a:t>logiques et les règles « métier »</a:t>
            </a:r>
            <a:r>
              <a:rPr lang="fr-FR" sz="1100">
                <a:ln>
                  <a:solidFill>
                    <a:schemeClr val="accent6">
                      <a:lumMod val="60000"/>
                      <a:lumOff val="40000"/>
                    </a:schemeClr>
                  </a:solidFill>
                </a:ln>
                <a:solidFill>
                  <a:schemeClr val="accent6">
                    <a:lumMod val="60000"/>
                    <a:lumOff val="40000"/>
                  </a:schemeClr>
                </a:solidFill>
              </a:rPr>
              <a:t> spécifiques d'un domaine. Elle expose les fonctionnalités qui sont pertinentes pour ce domaine, en mettant l'accent sur la logique métier plutôt que sur des opérations CRUD (</a:t>
            </a:r>
            <a:r>
              <a:rPr lang="en-US" sz="1100" i="1">
                <a:ln>
                  <a:solidFill>
                    <a:schemeClr val="accent6">
                      <a:lumMod val="60000"/>
                      <a:lumOff val="40000"/>
                    </a:schemeClr>
                  </a:solidFill>
                </a:ln>
                <a:solidFill>
                  <a:schemeClr val="accent6">
                    <a:lumMod val="60000"/>
                    <a:lumOff val="40000"/>
                  </a:schemeClr>
                </a:solidFill>
              </a:rPr>
              <a:t>Create, Read, Update, Delete</a:t>
            </a:r>
            <a:r>
              <a:rPr lang="fr-FR" sz="1100">
                <a:ln>
                  <a:solidFill>
                    <a:schemeClr val="accent6">
                      <a:lumMod val="60000"/>
                      <a:lumOff val="40000"/>
                    </a:schemeClr>
                  </a:solidFill>
                </a:ln>
                <a:solidFill>
                  <a:schemeClr val="accent6">
                    <a:lumMod val="60000"/>
                    <a:lumOff val="40000"/>
                  </a:schemeClr>
                </a:solidFill>
              </a:rPr>
              <a:t>) basiques.</a:t>
            </a:r>
          </a:p>
          <a:p>
            <a:pPr marL="360000" lvl="1"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Ces API sont directement liées </a:t>
            </a:r>
            <a:r>
              <a:rPr lang="fr-FR" sz="1400">
                <a:ln w="19050">
                  <a:solidFill>
                    <a:sysClr val="windowText" lastClr="000000">
                      <a:alpha val="60000"/>
                    </a:sysClr>
                  </a:solidFill>
                </a:ln>
                <a:solidFill>
                  <a:schemeClr val="tx1">
                    <a:alpha val="60000"/>
                  </a:schemeClr>
                </a:solidFill>
              </a:rPr>
              <a:t>aux Cas d'Utilisation du Domaine et à ses Concepts Métier</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encapsulant</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la</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complexité</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du</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domaine</a:t>
            </a:r>
            <a:r>
              <a:rPr lang="fr-FR" sz="1100">
                <a:ln>
                  <a:solidFill>
                    <a:schemeClr val="accent6">
                      <a:lumMod val="60000"/>
                      <a:lumOff val="40000"/>
                    </a:schemeClr>
                  </a:solidFill>
                </a:ln>
                <a:solidFill>
                  <a:schemeClr val="accent6">
                    <a:lumMod val="60000"/>
                    <a:lumOff val="40000"/>
                  </a:schemeClr>
                </a:solidFill>
              </a:rPr>
              <a:t> et </a:t>
            </a:r>
            <a:r>
              <a:rPr lang="fr-FR" sz="1400">
                <a:ln w="19050">
                  <a:solidFill>
                    <a:sysClr val="windowText" lastClr="000000">
                      <a:alpha val="60000"/>
                    </a:sysClr>
                  </a:solidFill>
                </a:ln>
                <a:solidFill>
                  <a:schemeClr val="tx1">
                    <a:alpha val="60000"/>
                  </a:schemeClr>
                </a:solidFill>
              </a:rPr>
              <a:t>fournissant</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des</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points</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d'entrée</a:t>
            </a:r>
            <a:r>
              <a:rPr lang="fr-FR" sz="1100">
                <a:ln>
                  <a:solidFill>
                    <a:schemeClr val="accent6">
                      <a:lumMod val="60000"/>
                      <a:lumOff val="40000"/>
                    </a:schemeClr>
                  </a:solidFill>
                </a:ln>
                <a:solidFill>
                  <a:schemeClr val="accent6">
                    <a:lumMod val="60000"/>
                    <a:lumOff val="40000"/>
                  </a:schemeClr>
                </a:solidFill>
              </a:rPr>
              <a:t> </a:t>
            </a:r>
            <a:r>
              <a:rPr lang="fr-FR" sz="1400">
                <a:ln w="19050">
                  <a:solidFill>
                    <a:sysClr val="windowText" lastClr="000000">
                      <a:alpha val="60000"/>
                    </a:sysClr>
                  </a:solidFill>
                </a:ln>
                <a:solidFill>
                  <a:schemeClr val="tx1">
                    <a:alpha val="60000"/>
                  </a:schemeClr>
                </a:solidFill>
              </a:rPr>
              <a:t>bien définis pour interagir </a:t>
            </a:r>
            <a:r>
              <a:rPr lang="fr-FR" sz="1100">
                <a:ln>
                  <a:solidFill>
                    <a:schemeClr val="accent6">
                      <a:lumMod val="60000"/>
                      <a:lumOff val="40000"/>
                    </a:schemeClr>
                  </a:solidFill>
                </a:ln>
                <a:solidFill>
                  <a:schemeClr val="accent6">
                    <a:lumMod val="60000"/>
                    <a:lumOff val="40000"/>
                  </a:schemeClr>
                </a:solidFill>
              </a:rPr>
              <a:t>avec celui-ci.</a:t>
            </a:r>
            <a:endParaRPr lang="fr-FR" sz="1200">
              <a:ln>
                <a:solidFill>
                  <a:schemeClr val="accent6">
                    <a:lumMod val="60000"/>
                    <a:lumOff val="40000"/>
                  </a:schemeClr>
                </a:solidFill>
              </a:ln>
              <a:solidFill>
                <a:schemeClr val="accent6">
                  <a:lumMod val="60000"/>
                  <a:lumOff val="40000"/>
                </a:schemeClr>
              </a:solidFill>
            </a:endParaRPr>
          </a:p>
          <a:p>
            <a:pPr>
              <a:spcBef>
                <a:spcPts val="300"/>
              </a:spcBef>
              <a:spcAft>
                <a:spcPts val="300"/>
              </a:spcAft>
            </a:pPr>
            <a:r>
              <a:rPr lang="fr-FR" sz="1400">
                <a:ln w="19050">
                  <a:solidFill>
                    <a:sysClr val="windowText" lastClr="000000">
                      <a:alpha val="60000"/>
                    </a:sysClr>
                  </a:solidFill>
                </a:ln>
                <a:solidFill>
                  <a:schemeClr val="tx1">
                    <a:alpha val="60000"/>
                  </a:schemeClr>
                </a:solidFill>
              </a:rPr>
              <a:t>Rôle dans le DDD</a:t>
            </a:r>
          </a:p>
          <a:p>
            <a:pPr marL="360000"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En Domain-Driven Design, le but est de modéliser un domaine de manière fidèle et de centraliser la logique métier dans des objets de domaine, comme des Entités, des Valeurs ou des Services de Domaine.</a:t>
            </a:r>
          </a:p>
          <a:p>
            <a:pPr marL="360000"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L'API de Domaine agit comme une interface entre le domaine et d'autres systèmes, assurant que les interactions se font à travers des abstractions significatives et pertinentes pour le domaine.</a:t>
            </a:r>
          </a:p>
          <a:p>
            <a:pPr marL="360000"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Elle cache la complexité interne du domaine tout en offrant des points d'entrée pour des fonctionnalités clés qui respectent les invariants et les règles métier.</a:t>
            </a:r>
            <a:endParaRPr lang="fr-FR" sz="1200">
              <a:ln>
                <a:solidFill>
                  <a:schemeClr val="accent6">
                    <a:lumMod val="60000"/>
                    <a:lumOff val="40000"/>
                  </a:schemeClr>
                </a:solidFill>
              </a:ln>
              <a:solidFill>
                <a:schemeClr val="accent6">
                  <a:lumMod val="60000"/>
                  <a:lumOff val="40000"/>
                </a:schemeClr>
              </a:solidFill>
            </a:endParaRPr>
          </a:p>
          <a:p>
            <a:pPr marL="360000" lvl="1"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Interface dédiée à un domaine spécifique.</a:t>
            </a:r>
          </a:p>
          <a:p>
            <a:pPr marL="360000" lvl="1"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Expose des opérations complexes liées à la logique métier (par exemple, "calculer le prix d'un produit avec des remises", "valider une commande", "générer un rapport financier").</a:t>
            </a:r>
          </a:p>
          <a:p>
            <a:pPr marL="360000" lvl="1" indent="-216000">
              <a:spcBef>
                <a:spcPts val="300"/>
              </a:spcBef>
              <a:spcAft>
                <a:spcPts val="300"/>
              </a:spcAft>
              <a:buBlip>
                <a:blip r:embed="rId4"/>
              </a:buBlip>
            </a:pPr>
            <a:r>
              <a:rPr lang="fr-FR" sz="1100">
                <a:ln>
                  <a:solidFill>
                    <a:schemeClr val="accent6">
                      <a:lumMod val="60000"/>
                      <a:lumOff val="40000"/>
                    </a:schemeClr>
                  </a:solidFill>
                </a:ln>
                <a:solidFill>
                  <a:schemeClr val="accent6">
                    <a:lumMod val="60000"/>
                    <a:lumOff val="40000"/>
                  </a:schemeClr>
                </a:solidFill>
              </a:rPr>
              <a:t>Respecte les invariants métier et applique les règles du domaine.</a:t>
            </a:r>
            <a:endParaRPr lang="fr-FR" sz="1200">
              <a:ln>
                <a:solidFill>
                  <a:schemeClr val="accent6">
                    <a:lumMod val="60000"/>
                    <a:lumOff val="40000"/>
                  </a:schemeClr>
                </a:solidFill>
              </a:ln>
              <a:solidFill>
                <a:schemeClr val="accent6">
                  <a:lumMod val="60000"/>
                  <a:lumOff val="40000"/>
                </a:schemeClr>
              </a:solidFill>
            </a:endParaRPr>
          </a:p>
        </p:txBody>
      </p:sp>
    </p:spTree>
    <p:extLst>
      <p:ext uri="{BB962C8B-B14F-4D97-AF65-F5344CB8AC3E}">
        <p14:creationId xmlns:p14="http://schemas.microsoft.com/office/powerpoint/2010/main" val="3992512587"/>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B7FC-F2C8-C287-23A7-32626FADC6BC}"/>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A6273AC-2B49-FA3F-22E0-9BB25489FFA3}"/>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0EBE8B14-BE5B-F858-2A27-C2EF4ABAABDF}"/>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A15BA1C9-CC3B-6418-A55C-0226AD71209D}"/>
              </a:ext>
            </a:extLst>
          </p:cNvPr>
          <p:cNvSpPr>
            <a:spLocks noGrp="1"/>
          </p:cNvSpPr>
          <p:nvPr>
            <p:ph type="sldNum" sz="quarter" idx="12"/>
          </p:nvPr>
        </p:nvSpPr>
        <p:spPr/>
        <p:txBody>
          <a:bodyPr/>
          <a:lstStyle/>
          <a:p>
            <a:fld id="{CD166EB1-B284-8541-B839-321F682B6B05}" type="slidenum">
              <a:rPr lang="fr-FR" smtClean="0"/>
              <a:pPr/>
              <a:t>17</a:t>
            </a:fld>
            <a:endParaRPr lang="fr-FR"/>
          </a:p>
        </p:txBody>
      </p:sp>
      <p:sp>
        <p:nvSpPr>
          <p:cNvPr id="6" name="Espace réservé du texte 5">
            <a:extLst>
              <a:ext uri="{FF2B5EF4-FFF2-40B4-BE49-F238E27FC236}">
                <a16:creationId xmlns:a16="http://schemas.microsoft.com/office/drawing/2014/main" id="{208D22B7-B4D8-213E-04CE-FBF83C275E89}"/>
              </a:ext>
            </a:extLst>
          </p:cNvPr>
          <p:cNvSpPr>
            <a:spLocks noGrp="1"/>
          </p:cNvSpPr>
          <p:nvPr>
            <p:ph type="body" sz="quarter" idx="19"/>
          </p:nvPr>
        </p:nvSpPr>
        <p:spPr/>
        <p:txBody>
          <a:bodyPr/>
          <a:lstStyle/>
          <a:p>
            <a:r>
              <a:rPr lang="fr-FR">
                <a:ln w="19050">
                  <a:solidFill>
                    <a:schemeClr val="bg1"/>
                  </a:solidFill>
                </a:ln>
              </a:rPr>
              <a:t>L’architecture BYCN repose sur des concepts forts.</a:t>
            </a:r>
          </a:p>
        </p:txBody>
      </p:sp>
      <p:sp>
        <p:nvSpPr>
          <p:cNvPr id="7" name="Espace réservé du texte 6">
            <a:extLst>
              <a:ext uri="{FF2B5EF4-FFF2-40B4-BE49-F238E27FC236}">
                <a16:creationId xmlns:a16="http://schemas.microsoft.com/office/drawing/2014/main" id="{C7F42451-543C-4441-0D8C-3808FB9C324E}"/>
              </a:ext>
            </a:extLst>
          </p:cNvPr>
          <p:cNvSpPr>
            <a:spLocks noGrp="1"/>
          </p:cNvSpPr>
          <p:nvPr>
            <p:ph type="body" sz="quarter" idx="30"/>
          </p:nvPr>
        </p:nvSpPr>
        <p:spPr/>
        <p:txBody>
          <a:bodyPr/>
          <a:lstStyle/>
          <a:p>
            <a:r>
              <a:rPr lang="fr-FR">
                <a:ln w="19050">
                  <a:solidFill>
                    <a:schemeClr val="bg1"/>
                  </a:solidFill>
                </a:ln>
              </a:rPr>
              <a:t>05</a:t>
            </a:r>
          </a:p>
        </p:txBody>
      </p:sp>
      <p:sp>
        <p:nvSpPr>
          <p:cNvPr id="5" name="ZoneTexte 4">
            <a:extLst>
              <a:ext uri="{FF2B5EF4-FFF2-40B4-BE49-F238E27FC236}">
                <a16:creationId xmlns:a16="http://schemas.microsoft.com/office/drawing/2014/main" id="{6DDA3974-30CA-9699-D2E5-A4044B9C1677}"/>
              </a:ext>
            </a:extLst>
          </p:cNvPr>
          <p:cNvSpPr txBox="1"/>
          <p:nvPr/>
        </p:nvSpPr>
        <p:spPr>
          <a:xfrm>
            <a:off x="537577" y="1162050"/>
            <a:ext cx="6346609" cy="707886"/>
          </a:xfrm>
          <a:prstGeom prst="rect">
            <a:avLst/>
          </a:prstGeom>
          <a:noFill/>
        </p:spPr>
        <p:txBody>
          <a:bodyPr wrap="none" rtlCol="0">
            <a:spAutoFit/>
          </a:bodyPr>
          <a:lstStyle/>
          <a:p>
            <a:r>
              <a:rPr lang="en-US" sz="4000">
                <a:ln w="28575">
                  <a:solidFill>
                    <a:schemeClr val="tx1"/>
                  </a:solidFill>
                </a:ln>
                <a:latin typeface="Avenir LT 35 Light" panose="02000503030000020003" pitchFamily="2" charset="0"/>
              </a:rPr>
              <a:t>API-led connectivity  </a:t>
            </a:r>
            <a:r>
              <a:rPr lang="fr-FR" sz="2800" i="1">
                <a:ln w="28575">
                  <a:solidFill>
                    <a:schemeClr val="tx1"/>
                  </a:solidFill>
                </a:ln>
                <a:latin typeface="Avenir LT 35 Light" panose="02000503030000020003" pitchFamily="2" charset="0"/>
              </a:rPr>
              <a:t>(rappels)</a:t>
            </a:r>
            <a:endParaRPr lang="fr-FR" sz="4000" i="1">
              <a:ln w="28575">
                <a:solidFill>
                  <a:schemeClr val="tx1"/>
                </a:solidFill>
              </a:ln>
              <a:latin typeface="Avenir LT 35 Light" panose="02000503030000020003" pitchFamily="2" charset="0"/>
            </a:endParaRPr>
          </a:p>
        </p:txBody>
      </p:sp>
      <p:sp>
        <p:nvSpPr>
          <p:cNvPr id="9" name="ZoneTexte 8">
            <a:extLst>
              <a:ext uri="{FF2B5EF4-FFF2-40B4-BE49-F238E27FC236}">
                <a16:creationId xmlns:a16="http://schemas.microsoft.com/office/drawing/2014/main" id="{4D3F0839-0127-4790-DA7C-EF9101AFDC6F}"/>
              </a:ext>
            </a:extLst>
          </p:cNvPr>
          <p:cNvSpPr txBox="1"/>
          <p:nvPr/>
        </p:nvSpPr>
        <p:spPr>
          <a:xfrm>
            <a:off x="522786" y="1869936"/>
            <a:ext cx="7525840" cy="2406300"/>
          </a:xfrm>
          <a:prstGeom prst="rect">
            <a:avLst/>
          </a:prstGeom>
          <a:noFill/>
        </p:spPr>
        <p:txBody>
          <a:bodyPr wrap="square" rtlCol="0">
            <a:spAutoFit/>
          </a:bodyPr>
          <a:lstStyle>
            <a:defPPr>
              <a:defRPr lang="fr-FR"/>
            </a:defPPr>
            <a:lvl1pPr>
              <a:lnSpc>
                <a:spcPct val="78000"/>
              </a:lnSpc>
              <a:defRPr>
                <a:ln w="1905">
                  <a:solidFill>
                    <a:srgbClr val="102031">
                      <a:alpha val="60000"/>
                    </a:srgbClr>
                  </a:solidFill>
                </a:ln>
                <a:solidFill>
                  <a:schemeClr val="tx1">
                    <a:alpha val="60000"/>
                  </a:schemeClr>
                </a:solidFill>
              </a:defRPr>
            </a:lvl1pPr>
          </a:lstStyle>
          <a:p>
            <a:pPr algn="just"/>
            <a:r>
              <a:rPr lang="fr-FR" sz="2400"/>
              <a:t>Dans l’architecture </a:t>
            </a:r>
            <a:r>
              <a:rPr lang="fr-FR" sz="2400" err="1">
                <a:ln w="28575">
                  <a:solidFill>
                    <a:sysClr val="windowText" lastClr="000000">
                      <a:alpha val="60000"/>
                    </a:sysClr>
                  </a:solidFill>
                </a:ln>
              </a:rPr>
              <a:t>MuleSoft</a:t>
            </a:r>
            <a:r>
              <a:rPr lang="fr-FR" sz="2400"/>
              <a:t> tout est vu comme étant un service exposé sous la forme d’une API (de type REST) et décomposé en couches de manière à garantir la réutilisation des services réalisés en fonction du périmètre adressé (</a:t>
            </a:r>
            <a:r>
              <a:rPr lang="fr-FR" sz="2400" err="1">
                <a:ln w="28575">
                  <a:solidFill>
                    <a:sysClr val="windowText" lastClr="000000">
                      <a:alpha val="60000"/>
                    </a:sysClr>
                  </a:solidFill>
                </a:ln>
              </a:rPr>
              <a:t>xAPI</a:t>
            </a:r>
            <a:r>
              <a:rPr lang="fr-FR" sz="2400"/>
              <a:t>, </a:t>
            </a:r>
            <a:r>
              <a:rPr lang="fr-FR" sz="2400" err="1">
                <a:ln w="28575">
                  <a:solidFill>
                    <a:sysClr val="windowText" lastClr="000000">
                      <a:alpha val="60000"/>
                    </a:sysClr>
                  </a:solidFill>
                </a:ln>
              </a:rPr>
              <a:t>pAPI</a:t>
            </a:r>
            <a:r>
              <a:rPr lang="fr-FR" sz="2400"/>
              <a:t>, </a:t>
            </a:r>
            <a:r>
              <a:rPr lang="fr-FR" sz="2400" err="1">
                <a:ln w="28575">
                  <a:solidFill>
                    <a:sysClr val="windowText" lastClr="000000">
                      <a:alpha val="60000"/>
                    </a:sysClr>
                  </a:solidFill>
                </a:ln>
              </a:rPr>
              <a:t>sAPI</a:t>
            </a:r>
            <a:r>
              <a:rPr lang="fr-FR" sz="2400"/>
              <a:t>).</a:t>
            </a:r>
          </a:p>
          <a:p>
            <a:endParaRPr lang="fr-FR" sz="2400"/>
          </a:p>
          <a:p>
            <a:r>
              <a:rPr lang="fr-FR" sz="2400"/>
              <a:t>Ces « services » sont, dans la réalité, implémentés sous forme de </a:t>
            </a:r>
            <a:r>
              <a:rPr lang="fr-FR" sz="2400" err="1">
                <a:ln w="28575">
                  <a:solidFill>
                    <a:sysClr val="windowText" lastClr="000000">
                      <a:alpha val="60000"/>
                    </a:sysClr>
                  </a:solidFill>
                </a:ln>
              </a:rPr>
              <a:t>MuleApp</a:t>
            </a:r>
            <a:r>
              <a:rPr lang="fr-FR" sz="2400"/>
              <a:t>. </a:t>
            </a:r>
          </a:p>
        </p:txBody>
      </p:sp>
      <p:pic>
        <p:nvPicPr>
          <p:cNvPr id="16" name="Image 15" descr="Une image contenant symbole, logo, Graphique, clipart&#10;&#10;Description générée automatiquement">
            <a:extLst>
              <a:ext uri="{FF2B5EF4-FFF2-40B4-BE49-F238E27FC236}">
                <a16:creationId xmlns:a16="http://schemas.microsoft.com/office/drawing/2014/main" id="{DA905C00-7288-F5A4-6902-8151282C23BC}"/>
              </a:ext>
            </a:extLst>
          </p:cNvPr>
          <p:cNvPicPr>
            <a:picLocks noChangeAspect="1"/>
          </p:cNvPicPr>
          <p:nvPr/>
        </p:nvPicPr>
        <p:blipFill>
          <a:blip r:embed="rId3">
            <a:alphaModFix amt="9000"/>
          </a:blip>
          <a:stretch>
            <a:fillRect/>
          </a:stretch>
        </p:blipFill>
        <p:spPr>
          <a:xfrm>
            <a:off x="537577" y="3101733"/>
            <a:ext cx="3017921" cy="1776844"/>
          </a:xfrm>
          <a:prstGeom prst="rect">
            <a:avLst/>
          </a:prstGeom>
        </p:spPr>
      </p:pic>
      <p:sp>
        <p:nvSpPr>
          <p:cNvPr id="17" name="ZoneTexte 16">
            <a:extLst>
              <a:ext uri="{FF2B5EF4-FFF2-40B4-BE49-F238E27FC236}">
                <a16:creationId xmlns:a16="http://schemas.microsoft.com/office/drawing/2014/main" id="{D8E28B33-1263-D98E-FD77-902EE2968895}"/>
              </a:ext>
            </a:extLst>
          </p:cNvPr>
          <p:cNvSpPr txBox="1"/>
          <p:nvPr/>
        </p:nvSpPr>
        <p:spPr>
          <a:xfrm>
            <a:off x="522786" y="4730108"/>
            <a:ext cx="7525840" cy="482568"/>
          </a:xfrm>
          <a:prstGeom prst="rect">
            <a:avLst/>
          </a:prstGeom>
          <a:noFill/>
        </p:spPr>
        <p:txBody>
          <a:bodyPr wrap="square" rtlCol="0">
            <a:spAutoFit/>
          </a:bodyPr>
          <a:lstStyle>
            <a:defPPr>
              <a:defRPr lang="fr-FR"/>
            </a:defPPr>
            <a:lvl1pPr>
              <a:lnSpc>
                <a:spcPct val="78000"/>
              </a:lnSpc>
              <a:defRPr>
                <a:ln w="1905">
                  <a:solidFill>
                    <a:srgbClr val="102031">
                      <a:alpha val="60000"/>
                    </a:srgbClr>
                  </a:solidFill>
                </a:ln>
                <a:solidFill>
                  <a:schemeClr val="tx1">
                    <a:alpha val="60000"/>
                  </a:schemeClr>
                </a:solidFill>
              </a:defRPr>
            </a:lvl1pPr>
          </a:lstStyle>
          <a:p>
            <a:pPr algn="just"/>
            <a:r>
              <a:rPr lang="fr-FR" sz="1600" i="1"/>
              <a:t>L’expérience API </a:t>
            </a:r>
            <a:r>
              <a:rPr lang="fr-FR" sz="1600" i="1" err="1">
                <a:ln w="28575">
                  <a:solidFill>
                    <a:sysClr val="windowText" lastClr="000000">
                      <a:alpha val="60000"/>
                    </a:sysClr>
                  </a:solidFill>
                </a:ln>
              </a:rPr>
              <a:t>xAPI</a:t>
            </a:r>
            <a:r>
              <a:rPr lang="fr-FR" sz="1600" i="1">
                <a:ln w="28575">
                  <a:solidFill>
                    <a:sysClr val="windowText" lastClr="000000">
                      <a:alpha val="60000"/>
                    </a:sysClr>
                  </a:solidFill>
                </a:ln>
              </a:rPr>
              <a:t> </a:t>
            </a:r>
            <a:r>
              <a:rPr lang="fr-FR" sz="1600" i="1"/>
              <a:t>n’est pas évoquée dans ce document car jugée moins pertinente dans le cas de la recommandation portée par ce document</a:t>
            </a:r>
          </a:p>
        </p:txBody>
      </p:sp>
    </p:spTree>
    <p:extLst>
      <p:ext uri="{BB962C8B-B14F-4D97-AF65-F5344CB8AC3E}">
        <p14:creationId xmlns:p14="http://schemas.microsoft.com/office/powerpoint/2010/main" val="2519186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80737-6B3B-4FEC-43B2-3AB52CDFBEC5}"/>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51D0B0F-6EEB-5EB7-F30A-5AF9820A6D94}"/>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1B5F376B-1C16-42D1-04AE-B0BCD540BA0E}"/>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C4E7F231-1951-3D4B-E8DA-848EE3F2C312}"/>
              </a:ext>
            </a:extLst>
          </p:cNvPr>
          <p:cNvSpPr>
            <a:spLocks noGrp="1"/>
          </p:cNvSpPr>
          <p:nvPr>
            <p:ph type="sldNum" sz="quarter" idx="12"/>
          </p:nvPr>
        </p:nvSpPr>
        <p:spPr/>
        <p:txBody>
          <a:bodyPr/>
          <a:lstStyle/>
          <a:p>
            <a:fld id="{CD166EB1-B284-8541-B839-321F682B6B05}" type="slidenum">
              <a:rPr lang="fr-FR" smtClean="0"/>
              <a:pPr/>
              <a:t>18</a:t>
            </a:fld>
            <a:endParaRPr lang="fr-FR"/>
          </a:p>
        </p:txBody>
      </p:sp>
      <p:sp>
        <p:nvSpPr>
          <p:cNvPr id="6" name="Espace réservé du texte 5">
            <a:extLst>
              <a:ext uri="{FF2B5EF4-FFF2-40B4-BE49-F238E27FC236}">
                <a16:creationId xmlns:a16="http://schemas.microsoft.com/office/drawing/2014/main" id="{668B1390-5F13-74E6-427C-4A33BEC7222B}"/>
              </a:ext>
            </a:extLst>
          </p:cNvPr>
          <p:cNvSpPr>
            <a:spLocks noGrp="1"/>
          </p:cNvSpPr>
          <p:nvPr>
            <p:ph type="body" sz="quarter" idx="19"/>
          </p:nvPr>
        </p:nvSpPr>
        <p:spPr/>
        <p:txBody>
          <a:bodyPr/>
          <a:lstStyle/>
          <a:p>
            <a:r>
              <a:rPr lang="fr-FR">
                <a:ln w="19050">
                  <a:solidFill>
                    <a:schemeClr val="bg1"/>
                  </a:solidFill>
                </a:ln>
              </a:rPr>
              <a:t>L’architecture BYCN repose sur des concepts forts.</a:t>
            </a:r>
          </a:p>
        </p:txBody>
      </p:sp>
      <p:sp>
        <p:nvSpPr>
          <p:cNvPr id="7" name="Espace réservé du texte 6">
            <a:extLst>
              <a:ext uri="{FF2B5EF4-FFF2-40B4-BE49-F238E27FC236}">
                <a16:creationId xmlns:a16="http://schemas.microsoft.com/office/drawing/2014/main" id="{44FA35C1-2E5E-6CAD-7E43-7C35AFF6A91D}"/>
              </a:ext>
            </a:extLst>
          </p:cNvPr>
          <p:cNvSpPr>
            <a:spLocks noGrp="1"/>
          </p:cNvSpPr>
          <p:nvPr>
            <p:ph type="body" sz="quarter" idx="30"/>
          </p:nvPr>
        </p:nvSpPr>
        <p:spPr/>
        <p:txBody>
          <a:bodyPr/>
          <a:lstStyle/>
          <a:p>
            <a:r>
              <a:rPr lang="fr-FR">
                <a:ln w="19050">
                  <a:solidFill>
                    <a:schemeClr val="bg1"/>
                  </a:solidFill>
                </a:ln>
              </a:rPr>
              <a:t>05</a:t>
            </a:r>
          </a:p>
        </p:txBody>
      </p:sp>
      <p:sp>
        <p:nvSpPr>
          <p:cNvPr id="5" name="ZoneTexte 4">
            <a:extLst>
              <a:ext uri="{FF2B5EF4-FFF2-40B4-BE49-F238E27FC236}">
                <a16:creationId xmlns:a16="http://schemas.microsoft.com/office/drawing/2014/main" id="{518FF2E5-3537-9DF8-2346-6361FA2D8DCE}"/>
              </a:ext>
            </a:extLst>
          </p:cNvPr>
          <p:cNvSpPr txBox="1"/>
          <p:nvPr/>
        </p:nvSpPr>
        <p:spPr>
          <a:xfrm>
            <a:off x="537577" y="1162050"/>
            <a:ext cx="6346609" cy="707886"/>
          </a:xfrm>
          <a:prstGeom prst="rect">
            <a:avLst/>
          </a:prstGeom>
          <a:noFill/>
        </p:spPr>
        <p:txBody>
          <a:bodyPr wrap="none" rtlCol="0">
            <a:spAutoFit/>
          </a:bodyPr>
          <a:lstStyle/>
          <a:p>
            <a:r>
              <a:rPr lang="en-US" sz="4000">
                <a:ln w="28575">
                  <a:solidFill>
                    <a:schemeClr val="tx1"/>
                  </a:solidFill>
                </a:ln>
                <a:latin typeface="Avenir LT 35 Light" panose="02000503030000020003" pitchFamily="2" charset="0"/>
              </a:rPr>
              <a:t>API-led connectivity  </a:t>
            </a:r>
            <a:r>
              <a:rPr lang="fr-FR" sz="2800" i="1">
                <a:ln w="28575">
                  <a:solidFill>
                    <a:schemeClr val="tx1"/>
                  </a:solidFill>
                </a:ln>
                <a:latin typeface="Avenir LT 35 Light" panose="02000503030000020003" pitchFamily="2" charset="0"/>
              </a:rPr>
              <a:t>(rappels)</a:t>
            </a:r>
            <a:endParaRPr lang="fr-FR" sz="4000" i="1">
              <a:ln w="28575">
                <a:solidFill>
                  <a:schemeClr val="tx1"/>
                </a:solidFill>
              </a:ln>
              <a:latin typeface="Avenir LT 35 Light" panose="02000503030000020003" pitchFamily="2" charset="0"/>
            </a:endParaRPr>
          </a:p>
        </p:txBody>
      </p:sp>
      <p:sp>
        <p:nvSpPr>
          <p:cNvPr id="10" name="ZoneTexte 9">
            <a:extLst>
              <a:ext uri="{FF2B5EF4-FFF2-40B4-BE49-F238E27FC236}">
                <a16:creationId xmlns:a16="http://schemas.microsoft.com/office/drawing/2014/main" id="{DF93E6ED-4D8A-1D66-B4BE-02F866680466}"/>
              </a:ext>
            </a:extLst>
          </p:cNvPr>
          <p:cNvSpPr txBox="1"/>
          <p:nvPr/>
        </p:nvSpPr>
        <p:spPr>
          <a:xfrm>
            <a:off x="537577" y="1833469"/>
            <a:ext cx="2539478" cy="461665"/>
          </a:xfrm>
          <a:prstGeom prst="rect">
            <a:avLst/>
          </a:prstGeom>
          <a:noFill/>
        </p:spPr>
        <p:txBody>
          <a:bodyPr wrap="none" rtlCol="0">
            <a:spAutoFit/>
          </a:bodyPr>
          <a:lstStyle/>
          <a:p>
            <a:r>
              <a:rPr lang="fr-FR" sz="2400">
                <a:ln w="28575">
                  <a:solidFill>
                    <a:schemeClr val="tx1"/>
                  </a:solidFill>
                </a:ln>
                <a:latin typeface="Avenir LT 35 Light" panose="02000503030000020003" pitchFamily="2" charset="0"/>
              </a:rPr>
              <a:t>Process API </a:t>
            </a:r>
            <a:r>
              <a:rPr lang="fr-FR">
                <a:ln w="28575">
                  <a:solidFill>
                    <a:schemeClr val="tx1"/>
                  </a:solidFill>
                </a:ln>
                <a:latin typeface="Avenir LT 35 Light" panose="02000503030000020003" pitchFamily="2" charset="0"/>
              </a:rPr>
              <a:t>(pAPI)</a:t>
            </a:r>
            <a:endParaRPr lang="fr-FR" sz="2400">
              <a:ln w="28575">
                <a:solidFill>
                  <a:schemeClr val="tx1"/>
                </a:solidFill>
              </a:ln>
              <a:latin typeface="Avenir LT 35 Light" panose="02000503030000020003" pitchFamily="2" charset="0"/>
            </a:endParaRPr>
          </a:p>
        </p:txBody>
      </p:sp>
      <p:sp>
        <p:nvSpPr>
          <p:cNvPr id="14" name="ZoneTexte 13">
            <a:extLst>
              <a:ext uri="{FF2B5EF4-FFF2-40B4-BE49-F238E27FC236}">
                <a16:creationId xmlns:a16="http://schemas.microsoft.com/office/drawing/2014/main" id="{638957E8-28E5-1465-B3DF-099A278EF4A7}"/>
              </a:ext>
            </a:extLst>
          </p:cNvPr>
          <p:cNvSpPr txBox="1"/>
          <p:nvPr/>
        </p:nvSpPr>
        <p:spPr>
          <a:xfrm>
            <a:off x="537577" y="2356139"/>
            <a:ext cx="5189665" cy="2835263"/>
          </a:xfrm>
          <a:prstGeom prst="rect">
            <a:avLst/>
          </a:prstGeom>
          <a:noFill/>
        </p:spPr>
        <p:txBody>
          <a:bodyPr wrap="square" rtlCol="0">
            <a:spAutoFit/>
          </a:bodyPr>
          <a:lstStyle>
            <a:defPPr>
              <a:defRPr lang="fr-FR"/>
            </a:defPPr>
            <a:lvl1pPr>
              <a:lnSpc>
                <a:spcPct val="78000"/>
              </a:lnSpc>
              <a:defRPr>
                <a:ln w="1905">
                  <a:solidFill>
                    <a:srgbClr val="102031">
                      <a:alpha val="60000"/>
                    </a:srgbClr>
                  </a:solidFill>
                </a:ln>
                <a:solidFill>
                  <a:schemeClr val="tx1">
                    <a:alpha val="60000"/>
                  </a:schemeClr>
                </a:solidFill>
              </a:defRPr>
            </a:lvl1pPr>
          </a:lstStyle>
          <a:p>
            <a:pPr algn="just">
              <a:spcAft>
                <a:spcPts val="600"/>
              </a:spcAft>
            </a:pPr>
            <a:r>
              <a:rPr lang="fr-FR" sz="1400"/>
              <a:t>Les </a:t>
            </a:r>
            <a:r>
              <a:rPr lang="fr-FR" sz="1400">
                <a:ln w="19050">
                  <a:solidFill>
                    <a:sysClr val="windowText" lastClr="000000">
                      <a:alpha val="60000"/>
                    </a:sysClr>
                  </a:solidFill>
                </a:ln>
              </a:rPr>
              <a:t>API processus interagissent avec les API systèmes</a:t>
            </a:r>
            <a:r>
              <a:rPr lang="fr-FR" sz="1400"/>
              <a:t> et façonnent les données au sein d'un seul système ou entre les systèmes (en brisant les silos de données) et sont créées ici sans dépendre des systèmes sources d'où proviennent ces données, ainsi que des canaux cibles par lesquels ces données sont livrées.</a:t>
            </a:r>
          </a:p>
          <a:p>
            <a:pPr algn="just">
              <a:spcAft>
                <a:spcPts val="600"/>
              </a:spcAft>
            </a:pPr>
            <a:r>
              <a:rPr lang="fr-FR" sz="1400"/>
              <a:t>Les API processus sont responsables de : </a:t>
            </a:r>
          </a:p>
          <a:p>
            <a:pPr marL="171450" indent="-171450" algn="just">
              <a:spcAft>
                <a:spcPts val="600"/>
              </a:spcAft>
              <a:buFontTx/>
              <a:buChar char="-"/>
            </a:pPr>
            <a:r>
              <a:rPr lang="fr-FR" sz="1400">
                <a:ln w="1905">
                  <a:solidFill>
                    <a:srgbClr val="102031">
                      <a:alpha val="60000"/>
                    </a:srgbClr>
                  </a:solidFill>
                </a:ln>
                <a:solidFill>
                  <a:schemeClr val="tx1">
                    <a:alpha val="60000"/>
                  </a:schemeClr>
                </a:solidFill>
              </a:rPr>
              <a:t>L’orchestration de plusieurs APIs en aval (c’est-à-dire de la collecte des données de plusieurs APIs en aval).</a:t>
            </a:r>
          </a:p>
          <a:p>
            <a:pPr marL="171450" indent="-171450" algn="just">
              <a:spcAft>
                <a:spcPts val="600"/>
              </a:spcAft>
              <a:buFontTx/>
              <a:buChar char="-"/>
            </a:pPr>
            <a:r>
              <a:rPr lang="fr-FR" sz="1400">
                <a:ln w="1905">
                  <a:solidFill>
                    <a:srgbClr val="102031">
                      <a:alpha val="60000"/>
                    </a:srgbClr>
                  </a:solidFill>
                </a:ln>
                <a:solidFill>
                  <a:schemeClr val="tx1">
                    <a:alpha val="60000"/>
                  </a:schemeClr>
                </a:solidFill>
              </a:rPr>
              <a:t>L’agrégation de données, du routage, de la gestion de erreurs.</a:t>
            </a:r>
          </a:p>
          <a:p>
            <a:pPr marL="171450" indent="-171450" algn="just">
              <a:spcAft>
                <a:spcPts val="600"/>
              </a:spcAft>
              <a:buFontTx/>
              <a:buChar char="-"/>
            </a:pPr>
            <a:r>
              <a:rPr lang="fr-FR" sz="1400">
                <a:ln w="1905">
                  <a:solidFill>
                    <a:srgbClr val="102031">
                      <a:alpha val="60000"/>
                    </a:srgbClr>
                  </a:solidFill>
                </a:ln>
                <a:solidFill>
                  <a:schemeClr val="tx1">
                    <a:alpha val="60000"/>
                  </a:schemeClr>
                </a:solidFill>
              </a:rPr>
              <a:t>L’exposition des données à l’API Expérience en amont de manière fiable et sécurisée.</a:t>
            </a:r>
          </a:p>
          <a:p>
            <a:pPr algn="just">
              <a:spcAft>
                <a:spcPts val="600"/>
              </a:spcAft>
            </a:pPr>
            <a:r>
              <a:rPr lang="fr-FR" sz="1400"/>
              <a:t>Les API processus ne sont pas obligatoires mais permettent de faire de la composition de services à valeur ajoutés fournis par les producteurs.</a:t>
            </a:r>
          </a:p>
        </p:txBody>
      </p:sp>
      <p:sp>
        <p:nvSpPr>
          <p:cNvPr id="11" name="ZoneTexte 10">
            <a:extLst>
              <a:ext uri="{FF2B5EF4-FFF2-40B4-BE49-F238E27FC236}">
                <a16:creationId xmlns:a16="http://schemas.microsoft.com/office/drawing/2014/main" id="{7C5E6C36-A061-1FD0-8FAA-6ADD8B9D5D27}"/>
              </a:ext>
            </a:extLst>
          </p:cNvPr>
          <p:cNvSpPr txBox="1"/>
          <p:nvPr/>
        </p:nvSpPr>
        <p:spPr>
          <a:xfrm>
            <a:off x="6200775" y="2356139"/>
            <a:ext cx="5257800" cy="1014958"/>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r>
              <a:rPr lang="en-US">
                <a:ln w="19050">
                  <a:solidFill>
                    <a:sysClr val="windowText" lastClr="000000">
                      <a:alpha val="60000"/>
                    </a:sysClr>
                  </a:solidFill>
                </a:ln>
              </a:rPr>
              <a:t>Cadre de </a:t>
            </a:r>
            <a:r>
              <a:rPr lang="fr-FR">
                <a:ln w="19050">
                  <a:solidFill>
                    <a:sysClr val="windowText" lastClr="000000">
                      <a:alpha val="60000"/>
                    </a:sysClr>
                  </a:solidFill>
                </a:ln>
              </a:rPr>
              <a:t>Réf</a:t>
            </a:r>
            <a:r>
              <a:rPr lang="en-US">
                <a:ln w="19050">
                  <a:solidFill>
                    <a:sysClr val="windowText" lastClr="000000">
                      <a:alpha val="60000"/>
                    </a:sysClr>
                  </a:solidFill>
                </a:ln>
              </a:rPr>
              <a:t>. : </a:t>
            </a:r>
          </a:p>
          <a:p>
            <a:r>
              <a:rPr lang="en-US" i="1"/>
              <a:t>Process APIs are APIs for transforming data to make it usable. They also make it possible to abstract the operation of calls. A process API can be used to call endpoints exposed on the Flex Gateway, system APIs or other process APIs.</a:t>
            </a:r>
            <a:endParaRPr lang="fr-FR" i="1"/>
          </a:p>
        </p:txBody>
      </p:sp>
      <p:sp>
        <p:nvSpPr>
          <p:cNvPr id="13" name="ZoneTexte 12">
            <a:hlinkClick r:id="rId3"/>
            <a:extLst>
              <a:ext uri="{FF2B5EF4-FFF2-40B4-BE49-F238E27FC236}">
                <a16:creationId xmlns:a16="http://schemas.microsoft.com/office/drawing/2014/main" id="{EE18F002-BDE8-1CD0-FF4C-C7E25C6D5041}"/>
              </a:ext>
            </a:extLst>
          </p:cNvPr>
          <p:cNvSpPr txBox="1"/>
          <p:nvPr/>
        </p:nvSpPr>
        <p:spPr>
          <a:xfrm>
            <a:off x="6200775" y="3283545"/>
            <a:ext cx="6096000" cy="216213"/>
          </a:xfrm>
          <a:prstGeom prst="rect">
            <a:avLst/>
          </a:prstGeom>
          <a:noFill/>
        </p:spPr>
        <p:txBody>
          <a:bodyPr wrap="square" rtlCol="0">
            <a:spAutoFit/>
          </a:bodyPr>
          <a:lstStyle>
            <a:defPPr>
              <a:defRPr lang="fr-FR"/>
            </a:defPPr>
            <a:lvl1pPr algn="just">
              <a:lnSpc>
                <a:spcPct val="78000"/>
              </a:lnSpc>
              <a:spcAft>
                <a:spcPts val="600"/>
              </a:spcAft>
              <a:defRPr sz="1400" i="1">
                <a:ln w="1905">
                  <a:solidFill>
                    <a:srgbClr val="102031">
                      <a:alpha val="60000"/>
                    </a:srgbClr>
                  </a:solidFill>
                </a:ln>
                <a:solidFill>
                  <a:schemeClr val="tx1">
                    <a:alpha val="60000"/>
                  </a:schemeClr>
                </a:solidFill>
              </a:defRPr>
            </a:lvl1pPr>
          </a:lstStyle>
          <a:p>
            <a:r>
              <a:rPr lang="fr-FR" sz="1000"/>
              <a:t>https://bouyguesconstruction.sharepoint.com/sites/bycnitCommuArchi/</a:t>
            </a:r>
            <a:r>
              <a:rPr lang="fr-FR" sz="900"/>
              <a:t>SitePages</a:t>
            </a:r>
            <a:r>
              <a:rPr lang="fr-FR" sz="1000"/>
              <a:t>/Glossary.aspx#p</a:t>
            </a:r>
          </a:p>
        </p:txBody>
      </p:sp>
      <p:pic>
        <p:nvPicPr>
          <p:cNvPr id="30" name="Image 29" descr="Une image contenant capture d’écran, texte, diagramme&#10;&#10;Description générée automatiquement">
            <a:extLst>
              <a:ext uri="{FF2B5EF4-FFF2-40B4-BE49-F238E27FC236}">
                <a16:creationId xmlns:a16="http://schemas.microsoft.com/office/drawing/2014/main" id="{3D756261-175C-0203-2555-5F3B09E36961}"/>
              </a:ext>
            </a:extLst>
          </p:cNvPr>
          <p:cNvPicPr>
            <a:picLocks noChangeAspect="1"/>
          </p:cNvPicPr>
          <p:nvPr/>
        </p:nvPicPr>
        <p:blipFill>
          <a:blip r:embed="rId4"/>
          <a:stretch>
            <a:fillRect/>
          </a:stretch>
        </p:blipFill>
        <p:spPr>
          <a:xfrm>
            <a:off x="6689725" y="3822846"/>
            <a:ext cx="4768850" cy="2229088"/>
          </a:xfrm>
          <a:prstGeom prst="rect">
            <a:avLst/>
          </a:prstGeom>
        </p:spPr>
      </p:pic>
    </p:spTree>
    <p:extLst>
      <p:ext uri="{BB962C8B-B14F-4D97-AF65-F5344CB8AC3E}">
        <p14:creationId xmlns:p14="http://schemas.microsoft.com/office/powerpoint/2010/main" val="2456616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5712-C8B8-AD40-ACBD-0435E17D7903}"/>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4710A55-74E5-E745-11FC-CAFC52CB828A}"/>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AF42CCDE-CBC3-2744-164A-CDB5C20A8F50}"/>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74F18ECC-2554-70C2-5FB7-988C1A4E745F}"/>
              </a:ext>
            </a:extLst>
          </p:cNvPr>
          <p:cNvSpPr>
            <a:spLocks noGrp="1"/>
          </p:cNvSpPr>
          <p:nvPr>
            <p:ph type="sldNum" sz="quarter" idx="12"/>
          </p:nvPr>
        </p:nvSpPr>
        <p:spPr/>
        <p:txBody>
          <a:bodyPr/>
          <a:lstStyle/>
          <a:p>
            <a:fld id="{CD166EB1-B284-8541-B839-321F682B6B05}" type="slidenum">
              <a:rPr lang="fr-FR" smtClean="0"/>
              <a:pPr/>
              <a:t>19</a:t>
            </a:fld>
            <a:endParaRPr lang="fr-FR"/>
          </a:p>
        </p:txBody>
      </p:sp>
      <p:sp>
        <p:nvSpPr>
          <p:cNvPr id="6" name="Espace réservé du texte 5">
            <a:extLst>
              <a:ext uri="{FF2B5EF4-FFF2-40B4-BE49-F238E27FC236}">
                <a16:creationId xmlns:a16="http://schemas.microsoft.com/office/drawing/2014/main" id="{FAC094D7-AE3E-961E-D617-06831CDF682B}"/>
              </a:ext>
            </a:extLst>
          </p:cNvPr>
          <p:cNvSpPr>
            <a:spLocks noGrp="1"/>
          </p:cNvSpPr>
          <p:nvPr>
            <p:ph type="body" sz="quarter" idx="19"/>
          </p:nvPr>
        </p:nvSpPr>
        <p:spPr/>
        <p:txBody>
          <a:bodyPr/>
          <a:lstStyle/>
          <a:p>
            <a:r>
              <a:rPr lang="fr-FR">
                <a:ln w="19050">
                  <a:solidFill>
                    <a:schemeClr val="bg1"/>
                  </a:solidFill>
                </a:ln>
              </a:rPr>
              <a:t>L’architecture BYCN repose sur des concepts forts.</a:t>
            </a:r>
          </a:p>
        </p:txBody>
      </p:sp>
      <p:sp>
        <p:nvSpPr>
          <p:cNvPr id="7" name="Espace réservé du texte 6">
            <a:extLst>
              <a:ext uri="{FF2B5EF4-FFF2-40B4-BE49-F238E27FC236}">
                <a16:creationId xmlns:a16="http://schemas.microsoft.com/office/drawing/2014/main" id="{9E0A2F7E-9598-5F1F-E8C5-88E1CA06C977}"/>
              </a:ext>
            </a:extLst>
          </p:cNvPr>
          <p:cNvSpPr>
            <a:spLocks noGrp="1"/>
          </p:cNvSpPr>
          <p:nvPr>
            <p:ph type="body" sz="quarter" idx="30"/>
          </p:nvPr>
        </p:nvSpPr>
        <p:spPr/>
        <p:txBody>
          <a:bodyPr/>
          <a:lstStyle/>
          <a:p>
            <a:r>
              <a:rPr lang="fr-FR">
                <a:ln w="19050">
                  <a:solidFill>
                    <a:schemeClr val="bg1"/>
                  </a:solidFill>
                </a:ln>
              </a:rPr>
              <a:t>05</a:t>
            </a:r>
          </a:p>
        </p:txBody>
      </p:sp>
      <p:sp>
        <p:nvSpPr>
          <p:cNvPr id="5" name="ZoneTexte 4">
            <a:extLst>
              <a:ext uri="{FF2B5EF4-FFF2-40B4-BE49-F238E27FC236}">
                <a16:creationId xmlns:a16="http://schemas.microsoft.com/office/drawing/2014/main" id="{846ABED6-07CC-08E5-9A6B-1B790176AD81}"/>
              </a:ext>
            </a:extLst>
          </p:cNvPr>
          <p:cNvSpPr txBox="1"/>
          <p:nvPr/>
        </p:nvSpPr>
        <p:spPr>
          <a:xfrm>
            <a:off x="537577" y="1162050"/>
            <a:ext cx="6346609" cy="707886"/>
          </a:xfrm>
          <a:prstGeom prst="rect">
            <a:avLst/>
          </a:prstGeom>
          <a:noFill/>
        </p:spPr>
        <p:txBody>
          <a:bodyPr wrap="none" rtlCol="0">
            <a:spAutoFit/>
          </a:bodyPr>
          <a:lstStyle/>
          <a:p>
            <a:r>
              <a:rPr lang="en-US" sz="4000">
                <a:ln w="28575">
                  <a:solidFill>
                    <a:schemeClr val="tx1"/>
                  </a:solidFill>
                </a:ln>
                <a:latin typeface="Avenir LT 35 Light" panose="02000503030000020003" pitchFamily="2" charset="0"/>
              </a:rPr>
              <a:t>API-led connectivity  </a:t>
            </a:r>
            <a:r>
              <a:rPr lang="fr-FR" sz="2800" i="1">
                <a:ln w="28575">
                  <a:solidFill>
                    <a:schemeClr val="tx1"/>
                  </a:solidFill>
                </a:ln>
                <a:latin typeface="Avenir LT 35 Light" panose="02000503030000020003" pitchFamily="2" charset="0"/>
              </a:rPr>
              <a:t>(rappels)</a:t>
            </a:r>
            <a:endParaRPr lang="fr-FR" sz="4000" i="1">
              <a:ln w="28575">
                <a:solidFill>
                  <a:schemeClr val="tx1"/>
                </a:solidFill>
              </a:ln>
              <a:latin typeface="Avenir LT 35 Light" panose="02000503030000020003" pitchFamily="2" charset="0"/>
            </a:endParaRPr>
          </a:p>
        </p:txBody>
      </p:sp>
      <p:sp>
        <p:nvSpPr>
          <p:cNvPr id="10" name="ZoneTexte 9">
            <a:extLst>
              <a:ext uri="{FF2B5EF4-FFF2-40B4-BE49-F238E27FC236}">
                <a16:creationId xmlns:a16="http://schemas.microsoft.com/office/drawing/2014/main" id="{454F1856-96FA-13D6-071E-0759429607B2}"/>
              </a:ext>
            </a:extLst>
          </p:cNvPr>
          <p:cNvSpPr txBox="1"/>
          <p:nvPr/>
        </p:nvSpPr>
        <p:spPr>
          <a:xfrm>
            <a:off x="537577" y="1833469"/>
            <a:ext cx="2363147" cy="461665"/>
          </a:xfrm>
          <a:prstGeom prst="rect">
            <a:avLst/>
          </a:prstGeom>
          <a:noFill/>
        </p:spPr>
        <p:txBody>
          <a:bodyPr wrap="none" rtlCol="0">
            <a:spAutoFit/>
          </a:bodyPr>
          <a:lstStyle/>
          <a:p>
            <a:r>
              <a:rPr lang="fr-FR" sz="2400">
                <a:ln w="28575">
                  <a:solidFill>
                    <a:schemeClr val="tx1"/>
                  </a:solidFill>
                </a:ln>
                <a:latin typeface="Avenir LT 35 Light" panose="02000503030000020003" pitchFamily="2" charset="0"/>
              </a:rPr>
              <a:t>System API </a:t>
            </a:r>
            <a:r>
              <a:rPr lang="fr-FR">
                <a:ln w="28575">
                  <a:solidFill>
                    <a:schemeClr val="tx1"/>
                  </a:solidFill>
                </a:ln>
                <a:latin typeface="Avenir LT 35 Light" panose="02000503030000020003" pitchFamily="2" charset="0"/>
              </a:rPr>
              <a:t>(sAPI)</a:t>
            </a:r>
            <a:endParaRPr lang="fr-FR" sz="2400">
              <a:ln w="28575">
                <a:solidFill>
                  <a:schemeClr val="tx1"/>
                </a:solidFill>
              </a:ln>
              <a:latin typeface="Avenir LT 35 Light" panose="02000503030000020003" pitchFamily="2" charset="0"/>
            </a:endParaRPr>
          </a:p>
        </p:txBody>
      </p:sp>
      <p:sp>
        <p:nvSpPr>
          <p:cNvPr id="11" name="ZoneTexte 10">
            <a:extLst>
              <a:ext uri="{FF2B5EF4-FFF2-40B4-BE49-F238E27FC236}">
                <a16:creationId xmlns:a16="http://schemas.microsoft.com/office/drawing/2014/main" id="{CC516D0B-A153-9443-B6EB-205636F89E39}"/>
              </a:ext>
            </a:extLst>
          </p:cNvPr>
          <p:cNvSpPr txBox="1"/>
          <p:nvPr/>
        </p:nvSpPr>
        <p:spPr>
          <a:xfrm>
            <a:off x="6200775" y="2356139"/>
            <a:ext cx="5257800" cy="2009140"/>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r>
              <a:rPr lang="en-US">
                <a:ln w="19050">
                  <a:solidFill>
                    <a:sysClr val="windowText" lastClr="000000">
                      <a:alpha val="60000"/>
                    </a:sysClr>
                  </a:solidFill>
                </a:ln>
              </a:rPr>
              <a:t>Cadre de </a:t>
            </a:r>
            <a:r>
              <a:rPr lang="fr-FR">
                <a:ln w="19050">
                  <a:solidFill>
                    <a:sysClr val="windowText" lastClr="000000">
                      <a:alpha val="60000"/>
                    </a:sysClr>
                  </a:solidFill>
                </a:ln>
              </a:rPr>
              <a:t>Réf</a:t>
            </a:r>
            <a:r>
              <a:rPr lang="en-US">
                <a:ln w="19050">
                  <a:solidFill>
                    <a:sysClr val="windowText" lastClr="000000">
                      <a:alpha val="60000"/>
                    </a:sysClr>
                  </a:solidFill>
                </a:ln>
              </a:rPr>
              <a:t>. : </a:t>
            </a:r>
          </a:p>
          <a:p>
            <a:r>
              <a:rPr lang="en-US" i="1"/>
              <a:t>A System API is the transfer of APIs from an application to the MuleSoft platform. It interacts directly with the backend system. In particular, it can be used to mask connectivity problems. </a:t>
            </a:r>
            <a:r>
              <a:rPr lang="en-US" i="1">
                <a:ln w="19050">
                  <a:solidFill>
                    <a:schemeClr val="tx1">
                      <a:alpha val="60000"/>
                    </a:schemeClr>
                  </a:solidFill>
                </a:ln>
              </a:rPr>
              <a:t>Each system API depends on one and only one application</a:t>
            </a:r>
            <a:r>
              <a:rPr lang="en-US" i="1"/>
              <a:t>. Although it is preferable to expose a single System API for an application, in certain cases (applications exposing a large number of Endpoints), it is possible to create several System APIs.</a:t>
            </a:r>
          </a:p>
          <a:p>
            <a:endParaRPr lang="en-US" i="1"/>
          </a:p>
          <a:p>
            <a:r>
              <a:rPr lang="en-US" i="1"/>
              <a:t> </a:t>
            </a:r>
            <a:endParaRPr lang="fr-FR" i="1"/>
          </a:p>
        </p:txBody>
      </p:sp>
      <p:sp>
        <p:nvSpPr>
          <p:cNvPr id="9" name="ZoneTexte 8">
            <a:hlinkClick r:id="rId3"/>
            <a:extLst>
              <a:ext uri="{FF2B5EF4-FFF2-40B4-BE49-F238E27FC236}">
                <a16:creationId xmlns:a16="http://schemas.microsoft.com/office/drawing/2014/main" id="{6F2B74A0-80BD-7847-810A-1CB6F917B9BD}"/>
              </a:ext>
            </a:extLst>
          </p:cNvPr>
          <p:cNvSpPr txBox="1"/>
          <p:nvPr/>
        </p:nvSpPr>
        <p:spPr>
          <a:xfrm>
            <a:off x="6234255" y="3752515"/>
            <a:ext cx="6096000" cy="215444"/>
          </a:xfrm>
          <a:prstGeom prst="rect">
            <a:avLst/>
          </a:prstGeom>
          <a:noFill/>
        </p:spPr>
        <p:txBody>
          <a:bodyPr wrap="square">
            <a:spAutoFit/>
          </a:bodyPr>
          <a:lstStyle/>
          <a:p>
            <a:r>
              <a:rPr lang="fr-FR" sz="800" i="1">
                <a:ln w="1905">
                  <a:solidFill>
                    <a:srgbClr val="102031">
                      <a:alpha val="60000"/>
                    </a:srgbClr>
                  </a:solidFill>
                </a:ln>
                <a:solidFill>
                  <a:schemeClr val="tx1">
                    <a:alpha val="60000"/>
                  </a:schemeClr>
                </a:solidFill>
              </a:rPr>
              <a:t>https://bouyguesconstruction.sharepoint.com/sites/bycnitCommuArchi/SitePages/Glossary.aspx#system-api-(api-syst%C3%A8me)</a:t>
            </a:r>
          </a:p>
        </p:txBody>
      </p:sp>
      <p:sp>
        <p:nvSpPr>
          <p:cNvPr id="15" name="ZoneTexte 14">
            <a:extLst>
              <a:ext uri="{FF2B5EF4-FFF2-40B4-BE49-F238E27FC236}">
                <a16:creationId xmlns:a16="http://schemas.microsoft.com/office/drawing/2014/main" id="{2CEC7CA9-3083-38D4-CD6B-8A33B524265D}"/>
              </a:ext>
            </a:extLst>
          </p:cNvPr>
          <p:cNvSpPr txBox="1"/>
          <p:nvPr/>
        </p:nvSpPr>
        <p:spPr>
          <a:xfrm>
            <a:off x="536369" y="2340137"/>
            <a:ext cx="5358593" cy="2604431"/>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r>
              <a:rPr lang="fr-FR"/>
              <a:t>Les </a:t>
            </a:r>
            <a:r>
              <a:rPr lang="fr-FR">
                <a:ln w="19050">
                  <a:solidFill>
                    <a:sysClr val="windowText" lastClr="000000">
                      <a:alpha val="60000"/>
                    </a:sysClr>
                  </a:solidFill>
                </a:ln>
              </a:rPr>
              <a:t>API système </a:t>
            </a:r>
            <a:r>
              <a:rPr lang="fr-FR"/>
              <a:t>accèdent généralement aux systèmes d'enregistrement de base et fournissent un moyen d'isoler l'utilisateur de la complexité ou de tout changement apporté aux systèmes sous-jacents. Une fois construits, de nombreux utilisateurs peuvent accéder aux données sans avoir besoin d'apprendre les systèmes sous-jacents et peuvent réutiliser ces API dans plusieurs projets.</a:t>
            </a:r>
          </a:p>
          <a:p>
            <a:r>
              <a:rPr lang="fr-FR"/>
              <a:t>Cette couche permet l’exposition sous forme d’API de système « </a:t>
            </a:r>
            <a:r>
              <a:rPr lang="en-US" i="1"/>
              <a:t>legacy </a:t>
            </a:r>
            <a:r>
              <a:rPr lang="fr-FR" i="1"/>
              <a:t>» </a:t>
            </a:r>
            <a:r>
              <a:rPr lang="fr-FR"/>
              <a:t>dans l’incapacité de fournir des expositions API ou des interfaces d’accès. Elles sont responsables de la connexion aux systèmes backend et de la récupération des données brutes. Elles peuvent être également utilisées comme filtrage, ou transformateur, ou agrégateur de format vis-à-vis des backend qu’elles exposent.</a:t>
            </a:r>
          </a:p>
          <a:p>
            <a:r>
              <a:rPr lang="fr-FR"/>
              <a:t>Elles portent la connectivité aux applications du SI existantes (exemple: ERP, CRM, systèmes « </a:t>
            </a:r>
            <a:r>
              <a:rPr lang="en-US" i="1"/>
              <a:t>Legacy</a:t>
            </a:r>
            <a:r>
              <a:rPr lang="fr-FR"/>
              <a:t> », Bases de données, etc.). </a:t>
            </a:r>
          </a:p>
        </p:txBody>
      </p:sp>
    </p:spTree>
    <p:extLst>
      <p:ext uri="{BB962C8B-B14F-4D97-AF65-F5344CB8AC3E}">
        <p14:creationId xmlns:p14="http://schemas.microsoft.com/office/powerpoint/2010/main" val="2938256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AD623-5352-7833-3DC2-6B973ED1FA21}"/>
            </a:ext>
          </a:extLst>
        </p:cNvPr>
        <p:cNvGrpSpPr/>
        <p:nvPr/>
      </p:nvGrpSpPr>
      <p:grpSpPr>
        <a:xfrm>
          <a:off x="0" y="0"/>
          <a:ext cx="0" cy="0"/>
          <a:chOff x="0" y="0"/>
          <a:chExt cx="0" cy="0"/>
        </a:xfrm>
      </p:grpSpPr>
      <p:pic>
        <p:nvPicPr>
          <p:cNvPr id="14" name="Image 13" descr="Une image contenant texte, diagramme, capture d’écran, carte&#10;&#10;Description générée automatiquement">
            <a:extLst>
              <a:ext uri="{FF2B5EF4-FFF2-40B4-BE49-F238E27FC236}">
                <a16:creationId xmlns:a16="http://schemas.microsoft.com/office/drawing/2014/main" id="{0A41E534-CA0E-F5A0-92FC-015026D5AAB0}"/>
              </a:ext>
            </a:extLst>
          </p:cNvPr>
          <p:cNvPicPr>
            <a:picLocks noChangeAspect="1"/>
          </p:cNvPicPr>
          <p:nvPr/>
        </p:nvPicPr>
        <p:blipFill>
          <a:blip r:embed="rId3"/>
          <a:stretch>
            <a:fillRect/>
          </a:stretch>
        </p:blipFill>
        <p:spPr>
          <a:xfrm>
            <a:off x="3428436" y="1452498"/>
            <a:ext cx="6721236" cy="5352906"/>
          </a:xfrm>
          <a:prstGeom prst="rect">
            <a:avLst/>
          </a:prstGeom>
        </p:spPr>
      </p:pic>
      <p:sp>
        <p:nvSpPr>
          <p:cNvPr id="2" name="Espace réservé de la date 1">
            <a:extLst>
              <a:ext uri="{FF2B5EF4-FFF2-40B4-BE49-F238E27FC236}">
                <a16:creationId xmlns:a16="http://schemas.microsoft.com/office/drawing/2014/main" id="{98B4CC01-F685-95C6-1436-CF1E582E12DF}"/>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B942025B-D189-8A15-CA21-3480B37C5611}"/>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3A123F22-13F9-BA15-7D56-523DD51FA6A6}"/>
              </a:ext>
            </a:extLst>
          </p:cNvPr>
          <p:cNvSpPr>
            <a:spLocks noGrp="1"/>
          </p:cNvSpPr>
          <p:nvPr>
            <p:ph type="sldNum" sz="quarter" idx="12"/>
          </p:nvPr>
        </p:nvSpPr>
        <p:spPr/>
        <p:txBody>
          <a:bodyPr/>
          <a:lstStyle/>
          <a:p>
            <a:fld id="{CD166EB1-B284-8541-B839-321F682B6B05}" type="slidenum">
              <a:rPr lang="fr-FR" smtClean="0"/>
              <a:pPr/>
              <a:t>20</a:t>
            </a:fld>
            <a:endParaRPr lang="fr-FR"/>
          </a:p>
        </p:txBody>
      </p:sp>
      <p:sp>
        <p:nvSpPr>
          <p:cNvPr id="6" name="Espace réservé du texte 5">
            <a:extLst>
              <a:ext uri="{FF2B5EF4-FFF2-40B4-BE49-F238E27FC236}">
                <a16:creationId xmlns:a16="http://schemas.microsoft.com/office/drawing/2014/main" id="{9D821638-06A9-E28A-79A2-2F58981CB8AE}"/>
              </a:ext>
            </a:extLst>
          </p:cNvPr>
          <p:cNvSpPr>
            <a:spLocks noGrp="1"/>
          </p:cNvSpPr>
          <p:nvPr>
            <p:ph type="body" sz="quarter" idx="19"/>
          </p:nvPr>
        </p:nvSpPr>
        <p:spPr/>
        <p:txBody>
          <a:bodyPr/>
          <a:lstStyle/>
          <a:p>
            <a:r>
              <a:rPr lang="fr-FR">
                <a:ln w="19050">
                  <a:solidFill>
                    <a:schemeClr val="bg1"/>
                  </a:solidFill>
                </a:ln>
              </a:rPr>
              <a:t>L’architecture BYCN repose sur des concepts forts.</a:t>
            </a:r>
          </a:p>
        </p:txBody>
      </p:sp>
      <p:sp>
        <p:nvSpPr>
          <p:cNvPr id="7" name="Espace réservé du texte 6">
            <a:extLst>
              <a:ext uri="{FF2B5EF4-FFF2-40B4-BE49-F238E27FC236}">
                <a16:creationId xmlns:a16="http://schemas.microsoft.com/office/drawing/2014/main" id="{82DA3882-79B0-564B-295D-53FE649CF0FC}"/>
              </a:ext>
            </a:extLst>
          </p:cNvPr>
          <p:cNvSpPr>
            <a:spLocks noGrp="1"/>
          </p:cNvSpPr>
          <p:nvPr>
            <p:ph type="body" sz="quarter" idx="30"/>
          </p:nvPr>
        </p:nvSpPr>
        <p:spPr/>
        <p:txBody>
          <a:bodyPr/>
          <a:lstStyle/>
          <a:p>
            <a:r>
              <a:rPr lang="fr-FR">
                <a:ln w="19050">
                  <a:solidFill>
                    <a:schemeClr val="bg1"/>
                  </a:solidFill>
                </a:ln>
              </a:rPr>
              <a:t>05</a:t>
            </a:r>
          </a:p>
        </p:txBody>
      </p:sp>
      <p:sp>
        <p:nvSpPr>
          <p:cNvPr id="5" name="ZoneTexte 4">
            <a:extLst>
              <a:ext uri="{FF2B5EF4-FFF2-40B4-BE49-F238E27FC236}">
                <a16:creationId xmlns:a16="http://schemas.microsoft.com/office/drawing/2014/main" id="{4F28E992-56BC-9587-4464-554D2D7C4D63}"/>
              </a:ext>
            </a:extLst>
          </p:cNvPr>
          <p:cNvSpPr txBox="1"/>
          <p:nvPr/>
        </p:nvSpPr>
        <p:spPr>
          <a:xfrm>
            <a:off x="537577" y="1162050"/>
            <a:ext cx="6346609" cy="707886"/>
          </a:xfrm>
          <a:prstGeom prst="rect">
            <a:avLst/>
          </a:prstGeom>
          <a:noFill/>
        </p:spPr>
        <p:txBody>
          <a:bodyPr wrap="none" rtlCol="0">
            <a:spAutoFit/>
          </a:bodyPr>
          <a:lstStyle/>
          <a:p>
            <a:r>
              <a:rPr lang="en-US" sz="4000">
                <a:ln w="28575">
                  <a:solidFill>
                    <a:schemeClr val="tx1"/>
                  </a:solidFill>
                </a:ln>
                <a:latin typeface="Avenir LT 35 Light" panose="02000503030000020003" pitchFamily="2" charset="0"/>
              </a:rPr>
              <a:t>API-led connectivity  </a:t>
            </a:r>
            <a:r>
              <a:rPr lang="fr-FR" sz="2800" i="1">
                <a:ln w="28575">
                  <a:solidFill>
                    <a:schemeClr val="tx1"/>
                  </a:solidFill>
                </a:ln>
                <a:latin typeface="Avenir LT 35 Light" panose="02000503030000020003" pitchFamily="2" charset="0"/>
              </a:rPr>
              <a:t>(rappels)</a:t>
            </a:r>
            <a:endParaRPr lang="fr-FR" sz="4000" i="1">
              <a:ln w="28575">
                <a:solidFill>
                  <a:schemeClr val="tx1"/>
                </a:solidFill>
              </a:ln>
              <a:latin typeface="Avenir LT 35 Light" panose="02000503030000020003" pitchFamily="2" charset="0"/>
            </a:endParaRPr>
          </a:p>
        </p:txBody>
      </p:sp>
      <p:sp>
        <p:nvSpPr>
          <p:cNvPr id="10" name="ZoneTexte 9">
            <a:extLst>
              <a:ext uri="{FF2B5EF4-FFF2-40B4-BE49-F238E27FC236}">
                <a16:creationId xmlns:a16="http://schemas.microsoft.com/office/drawing/2014/main" id="{A8E4AB3E-1695-3979-ED3F-14C4454689F0}"/>
              </a:ext>
            </a:extLst>
          </p:cNvPr>
          <p:cNvSpPr txBox="1"/>
          <p:nvPr/>
        </p:nvSpPr>
        <p:spPr>
          <a:xfrm>
            <a:off x="537577" y="1833469"/>
            <a:ext cx="2363147" cy="461665"/>
          </a:xfrm>
          <a:prstGeom prst="rect">
            <a:avLst/>
          </a:prstGeom>
          <a:noFill/>
        </p:spPr>
        <p:txBody>
          <a:bodyPr wrap="none" rtlCol="0">
            <a:spAutoFit/>
          </a:bodyPr>
          <a:lstStyle/>
          <a:p>
            <a:r>
              <a:rPr lang="fr-FR" sz="2400">
                <a:ln w="28575">
                  <a:solidFill>
                    <a:schemeClr val="tx1"/>
                  </a:solidFill>
                </a:ln>
                <a:latin typeface="Avenir LT 35 Light" panose="02000503030000020003" pitchFamily="2" charset="0"/>
              </a:rPr>
              <a:t>System API </a:t>
            </a:r>
            <a:r>
              <a:rPr lang="fr-FR">
                <a:ln w="28575">
                  <a:solidFill>
                    <a:schemeClr val="tx1"/>
                  </a:solidFill>
                </a:ln>
                <a:latin typeface="Avenir LT 35 Light" panose="02000503030000020003" pitchFamily="2" charset="0"/>
              </a:rPr>
              <a:t>(sAPI)</a:t>
            </a:r>
            <a:endParaRPr lang="fr-FR" sz="2400">
              <a:ln w="28575">
                <a:solidFill>
                  <a:schemeClr val="tx1"/>
                </a:solidFill>
              </a:ln>
              <a:latin typeface="Avenir LT 35 Light" panose="02000503030000020003" pitchFamily="2" charset="0"/>
            </a:endParaRPr>
          </a:p>
        </p:txBody>
      </p:sp>
    </p:spTree>
    <p:extLst>
      <p:ext uri="{BB962C8B-B14F-4D97-AF65-F5344CB8AC3E}">
        <p14:creationId xmlns:p14="http://schemas.microsoft.com/office/powerpoint/2010/main" val="1937079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D080B-A5FC-39F4-5451-89A8F42E74E9}"/>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3E1C7CC5-1D23-5C34-72E2-2B20A6284B6E}"/>
              </a:ext>
            </a:extLst>
          </p:cNvPr>
          <p:cNvSpPr/>
          <p:nvPr/>
        </p:nvSpPr>
        <p:spPr>
          <a:xfrm>
            <a:off x="279133" y="3681408"/>
            <a:ext cx="11636943" cy="2301595"/>
          </a:xfrm>
          <a:prstGeom prst="rect">
            <a:avLst/>
          </a:prstGeom>
          <a:solidFill>
            <a:schemeClr val="bg1">
              <a:lumMod val="95000"/>
              <a:alpha val="66000"/>
            </a:schemeClr>
          </a:solidFill>
          <a:ln w="12660" cap="flat">
            <a:noFill/>
            <a:prstDash val="solid"/>
            <a:miter/>
          </a:ln>
        </p:spPr>
        <p:txBody>
          <a:bodyPr rtlCol="0" anchor="ctr"/>
          <a:lstStyle/>
          <a:p>
            <a:pPr algn="l"/>
            <a:endParaRPr lang="fr-FR"/>
          </a:p>
        </p:txBody>
      </p:sp>
      <p:sp>
        <p:nvSpPr>
          <p:cNvPr id="2" name="Espace réservé de la date 1">
            <a:extLst>
              <a:ext uri="{FF2B5EF4-FFF2-40B4-BE49-F238E27FC236}">
                <a16:creationId xmlns:a16="http://schemas.microsoft.com/office/drawing/2014/main" id="{368F01EC-A2AC-5C32-76F0-ED6198534247}"/>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35FD8D69-213E-27FD-F938-CFD80A49938B}"/>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2559735D-6358-B96C-EB01-019724AC7191}"/>
              </a:ext>
            </a:extLst>
          </p:cNvPr>
          <p:cNvSpPr>
            <a:spLocks noGrp="1"/>
          </p:cNvSpPr>
          <p:nvPr>
            <p:ph type="sldNum" sz="quarter" idx="12"/>
          </p:nvPr>
        </p:nvSpPr>
        <p:spPr/>
        <p:txBody>
          <a:bodyPr/>
          <a:lstStyle/>
          <a:p>
            <a:fld id="{CD166EB1-B284-8541-B839-321F682B6B05}" type="slidenum">
              <a:rPr lang="fr-FR" smtClean="0"/>
              <a:pPr/>
              <a:t>21</a:t>
            </a:fld>
            <a:endParaRPr lang="fr-FR"/>
          </a:p>
        </p:txBody>
      </p:sp>
      <p:sp>
        <p:nvSpPr>
          <p:cNvPr id="6" name="Espace réservé du texte 5">
            <a:extLst>
              <a:ext uri="{FF2B5EF4-FFF2-40B4-BE49-F238E27FC236}">
                <a16:creationId xmlns:a16="http://schemas.microsoft.com/office/drawing/2014/main" id="{54022C9F-2C18-B00F-610F-2B88A5818D50}"/>
              </a:ext>
            </a:extLst>
          </p:cNvPr>
          <p:cNvSpPr>
            <a:spLocks noGrp="1"/>
          </p:cNvSpPr>
          <p:nvPr>
            <p:ph type="body" sz="quarter" idx="19"/>
          </p:nvPr>
        </p:nvSpPr>
        <p:spPr/>
        <p:txBody>
          <a:bodyPr/>
          <a:lstStyle/>
          <a:p>
            <a:r>
              <a:rPr lang="fr-FR">
                <a:ln w="19050">
                  <a:solidFill>
                    <a:schemeClr val="bg1"/>
                  </a:solidFill>
                </a:ln>
              </a:rPr>
              <a:t>L’architecture BYCN repose sur des concepts forts.</a:t>
            </a:r>
          </a:p>
        </p:txBody>
      </p:sp>
      <p:sp>
        <p:nvSpPr>
          <p:cNvPr id="7" name="Espace réservé du texte 6">
            <a:extLst>
              <a:ext uri="{FF2B5EF4-FFF2-40B4-BE49-F238E27FC236}">
                <a16:creationId xmlns:a16="http://schemas.microsoft.com/office/drawing/2014/main" id="{4E3C5D91-49F0-1BE7-64B7-15A40BB54D72}"/>
              </a:ext>
            </a:extLst>
          </p:cNvPr>
          <p:cNvSpPr>
            <a:spLocks noGrp="1"/>
          </p:cNvSpPr>
          <p:nvPr>
            <p:ph type="body" sz="quarter" idx="30"/>
          </p:nvPr>
        </p:nvSpPr>
        <p:spPr/>
        <p:txBody>
          <a:bodyPr/>
          <a:lstStyle/>
          <a:p>
            <a:r>
              <a:rPr lang="fr-FR">
                <a:ln w="19050">
                  <a:solidFill>
                    <a:schemeClr val="bg1"/>
                  </a:solidFill>
                </a:ln>
              </a:rPr>
              <a:t>05</a:t>
            </a:r>
          </a:p>
        </p:txBody>
      </p:sp>
      <p:sp>
        <p:nvSpPr>
          <p:cNvPr id="5" name="ZoneTexte 4">
            <a:extLst>
              <a:ext uri="{FF2B5EF4-FFF2-40B4-BE49-F238E27FC236}">
                <a16:creationId xmlns:a16="http://schemas.microsoft.com/office/drawing/2014/main" id="{839062E3-2326-6614-D355-CE1D899C2517}"/>
              </a:ext>
            </a:extLst>
          </p:cNvPr>
          <p:cNvSpPr txBox="1"/>
          <p:nvPr/>
        </p:nvSpPr>
        <p:spPr>
          <a:xfrm>
            <a:off x="537577" y="1162050"/>
            <a:ext cx="6213560" cy="707886"/>
          </a:xfrm>
          <a:prstGeom prst="rect">
            <a:avLst/>
          </a:prstGeom>
          <a:noFill/>
        </p:spPr>
        <p:txBody>
          <a:bodyPr wrap="none" rtlCol="0">
            <a:spAutoFit/>
          </a:bodyPr>
          <a:lstStyle/>
          <a:p>
            <a:r>
              <a:rPr lang="fr-FR" sz="4000">
                <a:ln w="28575">
                  <a:solidFill>
                    <a:schemeClr val="tx1"/>
                  </a:solidFill>
                </a:ln>
                <a:latin typeface="Avenir LT 35 Light" panose="02000503030000020003" pitchFamily="2" charset="0"/>
              </a:rPr>
              <a:t>API-</a:t>
            </a:r>
            <a:r>
              <a:rPr lang="fr-FR" sz="4000" err="1">
                <a:ln w="28575">
                  <a:solidFill>
                    <a:schemeClr val="tx1"/>
                  </a:solidFill>
                </a:ln>
                <a:latin typeface="Avenir LT 35 Light" panose="02000503030000020003" pitchFamily="2" charset="0"/>
              </a:rPr>
              <a:t>led</a:t>
            </a:r>
            <a:r>
              <a:rPr lang="fr-FR" sz="4000">
                <a:ln w="28575">
                  <a:solidFill>
                    <a:schemeClr val="tx1"/>
                  </a:solidFill>
                </a:ln>
                <a:latin typeface="Avenir LT 35 Light" panose="02000503030000020003" pitchFamily="2" charset="0"/>
              </a:rPr>
              <a:t> </a:t>
            </a:r>
            <a:r>
              <a:rPr lang="en-US" sz="4000">
                <a:ln w="28575">
                  <a:solidFill>
                    <a:schemeClr val="tx1"/>
                  </a:solidFill>
                </a:ln>
                <a:latin typeface="Avenir LT 35 Light" panose="02000503030000020003" pitchFamily="2" charset="0"/>
              </a:rPr>
              <a:t>connectivity</a:t>
            </a:r>
            <a:r>
              <a:rPr lang="fr-FR" sz="4000">
                <a:ln w="28575">
                  <a:solidFill>
                    <a:schemeClr val="tx1"/>
                  </a:solidFill>
                </a:ln>
                <a:latin typeface="Avenir LT 35 Light" panose="02000503030000020003" pitchFamily="2" charset="0"/>
              </a:rPr>
              <a:t> </a:t>
            </a:r>
            <a:r>
              <a:rPr lang="fr-FR" sz="2800" i="1">
                <a:ln w="28575">
                  <a:solidFill>
                    <a:schemeClr val="tx1"/>
                  </a:solidFill>
                </a:ln>
                <a:latin typeface="Avenir LT 35 Light" panose="02000503030000020003" pitchFamily="2" charset="0"/>
              </a:rPr>
              <a:t>(rappels)</a:t>
            </a:r>
            <a:endParaRPr lang="fr-FR" sz="4000" i="1">
              <a:ln w="28575">
                <a:solidFill>
                  <a:schemeClr val="tx1"/>
                </a:solidFill>
              </a:ln>
              <a:latin typeface="Avenir LT 35 Light" panose="02000503030000020003" pitchFamily="2" charset="0"/>
            </a:endParaRPr>
          </a:p>
        </p:txBody>
      </p:sp>
      <p:sp>
        <p:nvSpPr>
          <p:cNvPr id="10" name="ZoneTexte 9">
            <a:extLst>
              <a:ext uri="{FF2B5EF4-FFF2-40B4-BE49-F238E27FC236}">
                <a16:creationId xmlns:a16="http://schemas.microsoft.com/office/drawing/2014/main" id="{8F81BB8B-69F3-CFDF-C1FC-8C3EAF9B6858}"/>
              </a:ext>
            </a:extLst>
          </p:cNvPr>
          <p:cNvSpPr txBox="1"/>
          <p:nvPr/>
        </p:nvSpPr>
        <p:spPr>
          <a:xfrm>
            <a:off x="3474803" y="1966014"/>
            <a:ext cx="2539478" cy="461665"/>
          </a:xfrm>
          <a:prstGeom prst="rect">
            <a:avLst/>
          </a:prstGeom>
          <a:noFill/>
        </p:spPr>
        <p:txBody>
          <a:bodyPr wrap="none" rtlCol="0">
            <a:spAutoFit/>
          </a:bodyPr>
          <a:lstStyle/>
          <a:p>
            <a:r>
              <a:rPr lang="fr-FR" sz="2400">
                <a:ln w="28575">
                  <a:solidFill>
                    <a:schemeClr val="tx1"/>
                  </a:solidFill>
                </a:ln>
                <a:latin typeface="Avenir LT 35 Light" panose="02000503030000020003" pitchFamily="2" charset="0"/>
              </a:rPr>
              <a:t>Process API </a:t>
            </a:r>
            <a:r>
              <a:rPr lang="fr-FR">
                <a:ln w="28575">
                  <a:solidFill>
                    <a:schemeClr val="tx1"/>
                  </a:solidFill>
                </a:ln>
                <a:latin typeface="Avenir LT 35 Light" panose="02000503030000020003" pitchFamily="2" charset="0"/>
              </a:rPr>
              <a:t>(pAPI)</a:t>
            </a:r>
            <a:endParaRPr lang="fr-FR" sz="2400">
              <a:ln w="28575">
                <a:solidFill>
                  <a:schemeClr val="tx1"/>
                </a:solidFill>
              </a:ln>
              <a:latin typeface="Avenir LT 35 Light" panose="02000503030000020003" pitchFamily="2" charset="0"/>
            </a:endParaRPr>
          </a:p>
        </p:txBody>
      </p:sp>
      <p:sp>
        <p:nvSpPr>
          <p:cNvPr id="8" name="ZoneTexte 7">
            <a:extLst>
              <a:ext uri="{FF2B5EF4-FFF2-40B4-BE49-F238E27FC236}">
                <a16:creationId xmlns:a16="http://schemas.microsoft.com/office/drawing/2014/main" id="{D72E6FDA-AA7F-6559-D486-3E337E7A41D7}"/>
              </a:ext>
            </a:extLst>
          </p:cNvPr>
          <p:cNvSpPr txBox="1"/>
          <p:nvPr/>
        </p:nvSpPr>
        <p:spPr>
          <a:xfrm>
            <a:off x="7930415" y="1996074"/>
            <a:ext cx="2363147" cy="461665"/>
          </a:xfrm>
          <a:prstGeom prst="rect">
            <a:avLst/>
          </a:prstGeom>
          <a:noFill/>
        </p:spPr>
        <p:txBody>
          <a:bodyPr wrap="none" rtlCol="0">
            <a:spAutoFit/>
          </a:bodyPr>
          <a:lstStyle/>
          <a:p>
            <a:r>
              <a:rPr lang="fr-FR" sz="2400">
                <a:ln w="28575">
                  <a:solidFill>
                    <a:schemeClr val="tx1"/>
                  </a:solidFill>
                </a:ln>
                <a:latin typeface="Avenir LT 35 Light" panose="02000503030000020003" pitchFamily="2" charset="0"/>
              </a:rPr>
              <a:t>System API </a:t>
            </a:r>
            <a:r>
              <a:rPr lang="fr-FR">
                <a:ln w="28575">
                  <a:solidFill>
                    <a:schemeClr val="tx1"/>
                  </a:solidFill>
                </a:ln>
                <a:latin typeface="Avenir LT 35 Light" panose="02000503030000020003" pitchFamily="2" charset="0"/>
              </a:rPr>
              <a:t>(sAPI)</a:t>
            </a:r>
            <a:endParaRPr lang="fr-FR" sz="2400">
              <a:ln w="28575">
                <a:solidFill>
                  <a:schemeClr val="tx1"/>
                </a:solidFill>
              </a:ln>
              <a:latin typeface="Avenir LT 35 Light" panose="02000503030000020003" pitchFamily="2" charset="0"/>
            </a:endParaRPr>
          </a:p>
        </p:txBody>
      </p:sp>
      <p:sp>
        <p:nvSpPr>
          <p:cNvPr id="15" name="ZoneTexte 14">
            <a:extLst>
              <a:ext uri="{FF2B5EF4-FFF2-40B4-BE49-F238E27FC236}">
                <a16:creationId xmlns:a16="http://schemas.microsoft.com/office/drawing/2014/main" id="{4C9BA30D-E163-E659-65B2-8354C06AA280}"/>
              </a:ext>
            </a:extLst>
          </p:cNvPr>
          <p:cNvSpPr txBox="1"/>
          <p:nvPr/>
        </p:nvSpPr>
        <p:spPr>
          <a:xfrm>
            <a:off x="3050498" y="2577131"/>
            <a:ext cx="4208646" cy="1104277"/>
          </a:xfrm>
          <a:prstGeom prst="rect">
            <a:avLst/>
          </a:prstGeom>
          <a:noFill/>
        </p:spPr>
        <p:txBody>
          <a:bodyPr wrap="square">
            <a:spAutoFit/>
          </a:bodyPr>
          <a:lstStyle/>
          <a:p>
            <a:pPr marL="285750" indent="-285750">
              <a:lnSpc>
                <a:spcPct val="78000"/>
              </a:lnSpc>
              <a:buSzPct val="75000"/>
              <a:buBlip>
                <a:blip r:embed="rId4"/>
              </a:buBlip>
            </a:pPr>
            <a:r>
              <a:rPr lang="fr-FR" sz="1400">
                <a:ln w="19050">
                  <a:solidFill>
                    <a:schemeClr val="accent6">
                      <a:lumMod val="75000"/>
                    </a:schemeClr>
                  </a:solidFill>
                </a:ln>
                <a:latin typeface="Avenir LT 35 Light" panose="02000503030000020003" pitchFamily="2" charset="0"/>
                <a:cs typeface="Arial" panose="020B0604020202020204" pitchFamily="34" charset="0"/>
              </a:rPr>
              <a:t>Doit inclure la majorité des besoins d’orchestration qui prennent en charge l’agrégation, le routage conditionnel et le filtrage des informations</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Nécessité de communication avec les autres services et de publication d’Events</a:t>
            </a:r>
          </a:p>
        </p:txBody>
      </p:sp>
      <p:sp>
        <p:nvSpPr>
          <p:cNvPr id="16" name="ZoneTexte 15">
            <a:extLst>
              <a:ext uri="{FF2B5EF4-FFF2-40B4-BE49-F238E27FC236}">
                <a16:creationId xmlns:a16="http://schemas.microsoft.com/office/drawing/2014/main" id="{F100E29F-0E6D-2D1F-5D4B-2D756583DC4F}"/>
              </a:ext>
            </a:extLst>
          </p:cNvPr>
          <p:cNvSpPr txBox="1"/>
          <p:nvPr/>
        </p:nvSpPr>
        <p:spPr>
          <a:xfrm>
            <a:off x="3050498" y="3926938"/>
            <a:ext cx="4035392" cy="1440394"/>
          </a:xfrm>
          <a:prstGeom prst="rect">
            <a:avLst/>
          </a:prstGeom>
          <a:noFill/>
        </p:spPr>
        <p:txBody>
          <a:bodyPr wrap="square" rtlCol="0">
            <a:spAutoFit/>
          </a:bodyPr>
          <a:lstStyle/>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APIs non bloquantes</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Compréhension des données exposées par les systèmes avant l’agrégation</a:t>
            </a:r>
          </a:p>
          <a:p>
            <a:pPr marL="285750" indent="-285750">
              <a:lnSpc>
                <a:spcPct val="78000"/>
              </a:lnSpc>
              <a:buSzPct val="75000"/>
              <a:buBlip>
                <a:blip r:embed="rId4"/>
              </a:buBlip>
            </a:pPr>
            <a:r>
              <a:rPr lang="fr-FR" sz="1400">
                <a:ln w="19050">
                  <a:solidFill>
                    <a:schemeClr val="accent6">
                      <a:lumMod val="75000"/>
                    </a:schemeClr>
                  </a:solidFill>
                </a:ln>
                <a:latin typeface="Avenir LT 35 Light" panose="02000503030000020003" pitchFamily="2" charset="0"/>
                <a:cs typeface="Arial" panose="020B0604020202020204" pitchFamily="34" charset="0"/>
              </a:rPr>
              <a:t>Tâches d’agrégation de données, routage conditionnel et filtrage</a:t>
            </a:r>
          </a:p>
          <a:p>
            <a:pPr marL="285750" indent="-285750">
              <a:lnSpc>
                <a:spcPct val="78000"/>
              </a:lnSpc>
              <a:buSzPct val="75000"/>
              <a:buBlip>
                <a:blip r:embed="rId4"/>
              </a:buBlip>
            </a:pPr>
            <a:r>
              <a:rPr lang="fr-FR" sz="1400">
                <a:ln w="19050">
                  <a:solidFill>
                    <a:schemeClr val="accent6">
                      <a:lumMod val="75000"/>
                    </a:schemeClr>
                  </a:solidFill>
                </a:ln>
                <a:latin typeface="Avenir LT 35 Light" panose="02000503030000020003" pitchFamily="2" charset="0"/>
                <a:cs typeface="Arial" panose="020B0604020202020204" pitchFamily="34" charset="0"/>
              </a:rPr>
              <a:t>Gestion de taches non fonctionnelles et des évènements</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Peut appeler d’autres API process &amp; System</a:t>
            </a:r>
          </a:p>
        </p:txBody>
      </p:sp>
      <p:sp>
        <p:nvSpPr>
          <p:cNvPr id="17" name="ZoneTexte 16">
            <a:extLst>
              <a:ext uri="{FF2B5EF4-FFF2-40B4-BE49-F238E27FC236}">
                <a16:creationId xmlns:a16="http://schemas.microsoft.com/office/drawing/2014/main" id="{7F998CEA-40F6-A58F-1C91-30F535699283}"/>
              </a:ext>
            </a:extLst>
          </p:cNvPr>
          <p:cNvSpPr txBox="1"/>
          <p:nvPr/>
        </p:nvSpPr>
        <p:spPr>
          <a:xfrm>
            <a:off x="7516531" y="2592492"/>
            <a:ext cx="3550494" cy="600101"/>
          </a:xfrm>
          <a:prstGeom prst="rect">
            <a:avLst/>
          </a:prstGeom>
          <a:noFill/>
        </p:spPr>
        <p:txBody>
          <a:bodyPr wrap="square" rtlCol="0">
            <a:spAutoFit/>
          </a:bodyPr>
          <a:lstStyle/>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Basé sur les différentes applications internes monolithiques (ou non) et </a:t>
            </a:r>
            <a:r>
              <a:rPr lang="en-US" sz="1400" i="1">
                <a:ln>
                  <a:solidFill>
                    <a:schemeClr val="accent6">
                      <a:lumMod val="60000"/>
                      <a:lumOff val="40000"/>
                    </a:schemeClr>
                  </a:solidFill>
                </a:ln>
                <a:latin typeface="Avenir LT 35 Light" panose="02000503030000020003" pitchFamily="2" charset="0"/>
                <a:cs typeface="Arial" panose="020B0604020202020204" pitchFamily="34" charset="0"/>
              </a:rPr>
              <a:t>legacy</a:t>
            </a: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 à exposer non </a:t>
            </a:r>
            <a:r>
              <a:rPr lang="fr-FR" sz="1400" err="1">
                <a:ln>
                  <a:solidFill>
                    <a:schemeClr val="accent6">
                      <a:lumMod val="60000"/>
                      <a:lumOff val="40000"/>
                    </a:schemeClr>
                  </a:solidFill>
                </a:ln>
                <a:latin typeface="Avenir LT 35 Light" panose="02000503030000020003" pitchFamily="2" charset="0"/>
                <a:cs typeface="Arial" panose="020B0604020202020204" pitchFamily="34" charset="0"/>
              </a:rPr>
              <a:t>APIsées</a:t>
            </a:r>
            <a:endParaRPr lang="fr-FR" sz="1400">
              <a:ln>
                <a:solidFill>
                  <a:schemeClr val="accent6">
                    <a:lumMod val="60000"/>
                    <a:lumOff val="40000"/>
                  </a:schemeClr>
                </a:solidFill>
              </a:ln>
              <a:latin typeface="Avenir LT 35 Light" panose="02000503030000020003" pitchFamily="2" charset="0"/>
              <a:cs typeface="Arial" panose="020B0604020202020204" pitchFamily="34" charset="0"/>
            </a:endParaRPr>
          </a:p>
        </p:txBody>
      </p:sp>
      <p:sp>
        <p:nvSpPr>
          <p:cNvPr id="18" name="ZoneTexte 17">
            <a:extLst>
              <a:ext uri="{FF2B5EF4-FFF2-40B4-BE49-F238E27FC236}">
                <a16:creationId xmlns:a16="http://schemas.microsoft.com/office/drawing/2014/main" id="{23D5DD67-ED73-8EFE-40FD-41028BCEFFD5}"/>
              </a:ext>
            </a:extLst>
          </p:cNvPr>
          <p:cNvSpPr txBox="1"/>
          <p:nvPr/>
        </p:nvSpPr>
        <p:spPr>
          <a:xfrm>
            <a:off x="7516531" y="3991019"/>
            <a:ext cx="4173008" cy="1776512"/>
          </a:xfrm>
          <a:prstGeom prst="rect">
            <a:avLst/>
          </a:prstGeom>
          <a:noFill/>
        </p:spPr>
        <p:txBody>
          <a:bodyPr wrap="square" rtlCol="0">
            <a:spAutoFit/>
          </a:bodyPr>
          <a:lstStyle/>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Contexte précis, unique et délimité</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Exigences fonctionnelles et opérationnelles (batch, data </a:t>
            </a:r>
            <a:r>
              <a:rPr lang="en-US" sz="1400">
                <a:ln>
                  <a:solidFill>
                    <a:schemeClr val="accent6">
                      <a:lumMod val="60000"/>
                      <a:lumOff val="40000"/>
                    </a:schemeClr>
                  </a:solidFill>
                </a:ln>
                <a:latin typeface="Avenir LT 35 Light" panose="02000503030000020003" pitchFamily="2" charset="0"/>
                <a:cs typeface="Arial" panose="020B0604020202020204" pitchFamily="34" charset="0"/>
              </a:rPr>
              <a:t>warehouses</a:t>
            </a: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Multi protocolaires (REST, Streaming, …)</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Appelée à partir d’une API process ou Expérience uniquement</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Appels d’une API system à l’autre interdit sauf exception</a:t>
            </a:r>
          </a:p>
          <a:p>
            <a:pPr marL="285750" indent="-285750">
              <a:lnSpc>
                <a:spcPct val="78000"/>
              </a:lnSpc>
              <a:buSzPct val="75000"/>
              <a:buBlip>
                <a:blip r:embed="rId4"/>
              </a:buBlip>
            </a:pPr>
            <a:r>
              <a:rPr lang="fr-FR" sz="1400">
                <a:ln>
                  <a:solidFill>
                    <a:schemeClr val="accent6">
                      <a:lumMod val="60000"/>
                      <a:lumOff val="40000"/>
                    </a:schemeClr>
                  </a:solidFill>
                </a:ln>
                <a:latin typeface="Avenir LT 35 Light" panose="02000503030000020003" pitchFamily="2" charset="0"/>
                <a:cs typeface="Arial" panose="020B0604020202020204" pitchFamily="34" charset="0"/>
              </a:rPr>
              <a:t>Conception permettant un accès sur le temps (intervalle de temps, …)</a:t>
            </a:r>
          </a:p>
        </p:txBody>
      </p:sp>
      <p:cxnSp>
        <p:nvCxnSpPr>
          <p:cNvPr id="20" name="Connecteur droit 19">
            <a:extLst>
              <a:ext uri="{FF2B5EF4-FFF2-40B4-BE49-F238E27FC236}">
                <a16:creationId xmlns:a16="http://schemas.microsoft.com/office/drawing/2014/main" id="{B6700799-675A-221C-4BBE-1F6416F99966}"/>
              </a:ext>
            </a:extLst>
          </p:cNvPr>
          <p:cNvCxnSpPr/>
          <p:nvPr/>
        </p:nvCxnSpPr>
        <p:spPr>
          <a:xfrm>
            <a:off x="7228570" y="2361659"/>
            <a:ext cx="0" cy="34058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604D6FDE-FD0A-6635-0ED8-4AAB3BB6B015}"/>
              </a:ext>
            </a:extLst>
          </p:cNvPr>
          <p:cNvSpPr txBox="1"/>
          <p:nvPr/>
        </p:nvSpPr>
        <p:spPr>
          <a:xfrm>
            <a:off x="365761" y="2684194"/>
            <a:ext cx="2282717" cy="771686"/>
          </a:xfrm>
          <a:prstGeom prst="rect">
            <a:avLst/>
          </a:prstGeom>
          <a:noFill/>
        </p:spPr>
        <p:txBody>
          <a:bodyPr wrap="square" rtlCol="0">
            <a:spAutoFit/>
          </a:bodyPr>
          <a:lstStyle/>
          <a:p>
            <a:pPr algn="r">
              <a:lnSpc>
                <a:spcPct val="78000"/>
              </a:lnSpc>
            </a:pPr>
            <a:r>
              <a:rPr lang="fr-FR" sz="2800" b="1">
                <a:ln w="28575">
                  <a:solidFill>
                    <a:schemeClr val="accent6">
                      <a:lumMod val="60000"/>
                      <a:lumOff val="40000"/>
                    </a:schemeClr>
                  </a:solidFill>
                </a:ln>
                <a:solidFill>
                  <a:schemeClr val="accent6">
                    <a:lumMod val="60000"/>
                    <a:lumOff val="40000"/>
                  </a:schemeClr>
                </a:solidFill>
                <a:latin typeface="Avenir LT 35 Light" panose="02000503030000020003" pitchFamily="2" charset="0"/>
              </a:rPr>
              <a:t>Identifier l’API requise</a:t>
            </a:r>
          </a:p>
        </p:txBody>
      </p:sp>
      <p:sp>
        <p:nvSpPr>
          <p:cNvPr id="22" name="ZoneTexte 21">
            <a:extLst>
              <a:ext uri="{FF2B5EF4-FFF2-40B4-BE49-F238E27FC236}">
                <a16:creationId xmlns:a16="http://schemas.microsoft.com/office/drawing/2014/main" id="{83CF775A-8A90-042F-9CF1-AA144FEEE916}"/>
              </a:ext>
            </a:extLst>
          </p:cNvPr>
          <p:cNvSpPr txBox="1"/>
          <p:nvPr/>
        </p:nvSpPr>
        <p:spPr>
          <a:xfrm>
            <a:off x="365761" y="4388603"/>
            <a:ext cx="2282717" cy="435568"/>
          </a:xfrm>
          <a:prstGeom prst="rect">
            <a:avLst/>
          </a:prstGeom>
          <a:noFill/>
        </p:spPr>
        <p:txBody>
          <a:bodyPr wrap="square" rtlCol="0">
            <a:spAutoFit/>
          </a:bodyPr>
          <a:lstStyle/>
          <a:p>
            <a:pPr algn="r">
              <a:lnSpc>
                <a:spcPct val="78000"/>
              </a:lnSpc>
            </a:pPr>
            <a:r>
              <a:rPr lang="fr-FR" sz="2800" b="1">
                <a:ln w="28575">
                  <a:solidFill>
                    <a:schemeClr val="accent6">
                      <a:lumMod val="60000"/>
                      <a:lumOff val="40000"/>
                    </a:schemeClr>
                  </a:solidFill>
                </a:ln>
                <a:solidFill>
                  <a:schemeClr val="accent6">
                    <a:lumMod val="60000"/>
                    <a:lumOff val="40000"/>
                  </a:schemeClr>
                </a:solidFill>
                <a:latin typeface="Avenir LT 35 Light" panose="02000503030000020003" pitchFamily="2" charset="0"/>
              </a:rPr>
              <a:t>Spécification</a:t>
            </a:r>
          </a:p>
        </p:txBody>
      </p:sp>
    </p:spTree>
    <p:extLst>
      <p:ext uri="{BB962C8B-B14F-4D97-AF65-F5344CB8AC3E}">
        <p14:creationId xmlns:p14="http://schemas.microsoft.com/office/powerpoint/2010/main" val="393775679"/>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F1156-C17B-951B-A62C-82ECF751BA1C}"/>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716D4F5-78BF-4CE2-7BD1-EB90942EA750}"/>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5C3C229E-1003-DCC3-D438-98B7D9E0E529}"/>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CEDEB8BA-C32B-1605-9E7F-85AFED77B106}"/>
              </a:ext>
            </a:extLst>
          </p:cNvPr>
          <p:cNvSpPr>
            <a:spLocks noGrp="1"/>
          </p:cNvSpPr>
          <p:nvPr>
            <p:ph type="sldNum" sz="quarter" idx="12"/>
          </p:nvPr>
        </p:nvSpPr>
        <p:spPr/>
        <p:txBody>
          <a:bodyPr/>
          <a:lstStyle/>
          <a:p>
            <a:fld id="{CD166EB1-B284-8541-B839-321F682B6B05}" type="slidenum">
              <a:rPr lang="fr-FR" smtClean="0"/>
              <a:pPr/>
              <a:t>22</a:t>
            </a:fld>
            <a:endParaRPr lang="fr-FR"/>
          </a:p>
        </p:txBody>
      </p:sp>
      <p:sp>
        <p:nvSpPr>
          <p:cNvPr id="6" name="Espace réservé du texte 5">
            <a:extLst>
              <a:ext uri="{FF2B5EF4-FFF2-40B4-BE49-F238E27FC236}">
                <a16:creationId xmlns:a16="http://schemas.microsoft.com/office/drawing/2014/main" id="{4C9C97D9-5905-2D55-83BD-C9389CE3EAC3}"/>
              </a:ext>
            </a:extLst>
          </p:cNvPr>
          <p:cNvSpPr>
            <a:spLocks noGrp="1"/>
          </p:cNvSpPr>
          <p:nvPr>
            <p:ph type="body" sz="quarter" idx="19"/>
          </p:nvPr>
        </p:nvSpPr>
        <p:spPr/>
        <p:txBody>
          <a:bodyPr/>
          <a:lstStyle/>
          <a:p>
            <a:r>
              <a:rPr lang="fr-FR">
                <a:ln w="19050">
                  <a:solidFill>
                    <a:schemeClr val="bg1"/>
                  </a:solidFill>
                </a:ln>
              </a:rPr>
              <a:t>Rentrons dans le vif du sujet : La problématique</a:t>
            </a:r>
          </a:p>
        </p:txBody>
      </p:sp>
      <p:sp>
        <p:nvSpPr>
          <p:cNvPr id="7" name="Espace réservé du texte 6">
            <a:extLst>
              <a:ext uri="{FF2B5EF4-FFF2-40B4-BE49-F238E27FC236}">
                <a16:creationId xmlns:a16="http://schemas.microsoft.com/office/drawing/2014/main" id="{EDDB096A-7F7F-92AD-3133-6D4D7DE12E50}"/>
              </a:ext>
            </a:extLst>
          </p:cNvPr>
          <p:cNvSpPr>
            <a:spLocks noGrp="1"/>
          </p:cNvSpPr>
          <p:nvPr>
            <p:ph type="body" sz="quarter" idx="30"/>
          </p:nvPr>
        </p:nvSpPr>
        <p:spPr/>
        <p:txBody>
          <a:bodyPr/>
          <a:lstStyle/>
          <a:p>
            <a:r>
              <a:rPr lang="fr-FR">
                <a:ln w="19050">
                  <a:solidFill>
                    <a:schemeClr val="bg1"/>
                  </a:solidFill>
                </a:ln>
              </a:rPr>
              <a:t>06</a:t>
            </a:r>
          </a:p>
        </p:txBody>
      </p:sp>
      <p:sp>
        <p:nvSpPr>
          <p:cNvPr id="10" name="ZoneTexte 9">
            <a:extLst>
              <a:ext uri="{FF2B5EF4-FFF2-40B4-BE49-F238E27FC236}">
                <a16:creationId xmlns:a16="http://schemas.microsoft.com/office/drawing/2014/main" id="{7A0F9A43-CF39-05BB-8F59-3EAB64CBF7BA}"/>
              </a:ext>
            </a:extLst>
          </p:cNvPr>
          <p:cNvSpPr txBox="1"/>
          <p:nvPr/>
        </p:nvSpPr>
        <p:spPr>
          <a:xfrm>
            <a:off x="512079" y="892755"/>
            <a:ext cx="6587060"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Problématique Point à Point</a:t>
            </a:r>
          </a:p>
        </p:txBody>
      </p:sp>
      <p:sp>
        <p:nvSpPr>
          <p:cNvPr id="12" name="ZoneTexte 11">
            <a:extLst>
              <a:ext uri="{FF2B5EF4-FFF2-40B4-BE49-F238E27FC236}">
                <a16:creationId xmlns:a16="http://schemas.microsoft.com/office/drawing/2014/main" id="{D1D071C8-0853-208E-EC45-525ECD5CD5D9}"/>
              </a:ext>
            </a:extLst>
          </p:cNvPr>
          <p:cNvSpPr txBox="1"/>
          <p:nvPr/>
        </p:nvSpPr>
        <p:spPr>
          <a:xfrm>
            <a:off x="547203" y="1450808"/>
            <a:ext cx="6122189" cy="338554"/>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Quel modèle de communication, Intra-domaine,  inter-domaine ? </a:t>
            </a:r>
          </a:p>
        </p:txBody>
      </p:sp>
      <p:pic>
        <p:nvPicPr>
          <p:cNvPr id="19" name="Image 18" descr="Une image contenant texte, diagramme, capture d’écran, ligne&#10;&#10;Description générée automatiquement">
            <a:extLst>
              <a:ext uri="{FF2B5EF4-FFF2-40B4-BE49-F238E27FC236}">
                <a16:creationId xmlns:a16="http://schemas.microsoft.com/office/drawing/2014/main" id="{F0D0A2B0-39BA-888B-696D-3709381CE425}"/>
              </a:ext>
            </a:extLst>
          </p:cNvPr>
          <p:cNvPicPr>
            <a:picLocks noChangeAspect="1"/>
          </p:cNvPicPr>
          <p:nvPr/>
        </p:nvPicPr>
        <p:blipFill>
          <a:blip r:embed="rId3"/>
          <a:stretch>
            <a:fillRect/>
          </a:stretch>
        </p:blipFill>
        <p:spPr>
          <a:xfrm>
            <a:off x="968835" y="1855257"/>
            <a:ext cx="9326277" cy="3705742"/>
          </a:xfrm>
          <a:prstGeom prst="rect">
            <a:avLst/>
          </a:prstGeom>
        </p:spPr>
      </p:pic>
      <p:sp>
        <p:nvSpPr>
          <p:cNvPr id="20" name="ZoneTexte 19">
            <a:extLst>
              <a:ext uri="{FF2B5EF4-FFF2-40B4-BE49-F238E27FC236}">
                <a16:creationId xmlns:a16="http://schemas.microsoft.com/office/drawing/2014/main" id="{002FFE71-6D42-DA14-8543-E35F4F52C176}"/>
              </a:ext>
            </a:extLst>
          </p:cNvPr>
          <p:cNvSpPr txBox="1"/>
          <p:nvPr/>
        </p:nvSpPr>
        <p:spPr>
          <a:xfrm>
            <a:off x="1079794" y="5626894"/>
            <a:ext cx="8324715" cy="523220"/>
          </a:xfrm>
          <a:prstGeom prst="rect">
            <a:avLst/>
          </a:prstGeom>
          <a:noFill/>
        </p:spPr>
        <p:txBody>
          <a:bodyPr wrap="none" rtlCol="0">
            <a:spAutoFit/>
          </a:bodyPr>
          <a:lstStyle/>
          <a:p>
            <a:r>
              <a:rPr lang="fr-FR" sz="2800" i="1">
                <a:ln w="38100">
                  <a:solidFill>
                    <a:schemeClr val="tx1"/>
                  </a:solidFill>
                </a:ln>
                <a:latin typeface="Avenir LT 35 Light" panose="02000503030000020003" pitchFamily="2" charset="0"/>
              </a:rPr>
              <a:t>Pratique qu’il est recommandé de bannir dans le SI</a:t>
            </a:r>
          </a:p>
        </p:txBody>
      </p:sp>
    </p:spTree>
    <p:extLst>
      <p:ext uri="{BB962C8B-B14F-4D97-AF65-F5344CB8AC3E}">
        <p14:creationId xmlns:p14="http://schemas.microsoft.com/office/powerpoint/2010/main" val="3102160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B296B-DC2A-9B3D-8A88-17485E9B5412}"/>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2046096-5983-CEC0-689D-1D1B524159FC}"/>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DA81FD21-F63A-E210-7EBA-3A64B2CAA5E7}"/>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E06FF2C-21A9-CCCE-753F-F39B3DDDC0CC}"/>
              </a:ext>
            </a:extLst>
          </p:cNvPr>
          <p:cNvSpPr>
            <a:spLocks noGrp="1"/>
          </p:cNvSpPr>
          <p:nvPr>
            <p:ph type="sldNum" sz="quarter" idx="12"/>
          </p:nvPr>
        </p:nvSpPr>
        <p:spPr/>
        <p:txBody>
          <a:bodyPr/>
          <a:lstStyle/>
          <a:p>
            <a:fld id="{CD166EB1-B284-8541-B839-321F682B6B05}" type="slidenum">
              <a:rPr lang="fr-FR" smtClean="0"/>
              <a:pPr/>
              <a:t>23</a:t>
            </a:fld>
            <a:endParaRPr lang="fr-FR"/>
          </a:p>
        </p:txBody>
      </p:sp>
      <p:sp>
        <p:nvSpPr>
          <p:cNvPr id="6" name="Espace réservé du texte 5">
            <a:extLst>
              <a:ext uri="{FF2B5EF4-FFF2-40B4-BE49-F238E27FC236}">
                <a16:creationId xmlns:a16="http://schemas.microsoft.com/office/drawing/2014/main" id="{16CF989D-A81C-3F6E-4EE5-B50ADCF4FC5B}"/>
              </a:ext>
            </a:extLst>
          </p:cNvPr>
          <p:cNvSpPr>
            <a:spLocks noGrp="1"/>
          </p:cNvSpPr>
          <p:nvPr>
            <p:ph type="body" sz="quarter" idx="19"/>
          </p:nvPr>
        </p:nvSpPr>
        <p:spPr/>
        <p:txBody>
          <a:bodyPr/>
          <a:lstStyle/>
          <a:p>
            <a:r>
              <a:rPr lang="fr-FR">
                <a:ln w="19050">
                  <a:solidFill>
                    <a:schemeClr val="bg1"/>
                  </a:solidFill>
                </a:ln>
              </a:rPr>
              <a:t>Le modèle BYCN et les districts</a:t>
            </a:r>
          </a:p>
        </p:txBody>
      </p:sp>
      <p:sp>
        <p:nvSpPr>
          <p:cNvPr id="7" name="Espace réservé du texte 6">
            <a:extLst>
              <a:ext uri="{FF2B5EF4-FFF2-40B4-BE49-F238E27FC236}">
                <a16:creationId xmlns:a16="http://schemas.microsoft.com/office/drawing/2014/main" id="{6F23CAE1-6D27-8142-93CC-2EED12EFF790}"/>
              </a:ext>
            </a:extLst>
          </p:cNvPr>
          <p:cNvSpPr>
            <a:spLocks noGrp="1"/>
          </p:cNvSpPr>
          <p:nvPr>
            <p:ph type="body" sz="quarter" idx="30"/>
          </p:nvPr>
        </p:nvSpPr>
        <p:spPr/>
        <p:txBody>
          <a:bodyPr/>
          <a:lstStyle/>
          <a:p>
            <a:r>
              <a:rPr lang="fr-FR">
                <a:ln w="19050">
                  <a:solidFill>
                    <a:schemeClr val="bg1"/>
                  </a:solidFill>
                </a:ln>
              </a:rPr>
              <a:t>07</a:t>
            </a:r>
          </a:p>
        </p:txBody>
      </p:sp>
      <p:sp>
        <p:nvSpPr>
          <p:cNvPr id="5" name="ZoneTexte 4">
            <a:extLst>
              <a:ext uri="{FF2B5EF4-FFF2-40B4-BE49-F238E27FC236}">
                <a16:creationId xmlns:a16="http://schemas.microsoft.com/office/drawing/2014/main" id="{87F6ED57-9E27-9EAE-264C-6D4CF2F85AA4}"/>
              </a:ext>
            </a:extLst>
          </p:cNvPr>
          <p:cNvSpPr txBox="1"/>
          <p:nvPr/>
        </p:nvSpPr>
        <p:spPr>
          <a:xfrm>
            <a:off x="547203" y="1450808"/>
            <a:ext cx="2318263" cy="307777"/>
          </a:xfrm>
          <a:prstGeom prst="rect">
            <a:avLst/>
          </a:prstGeom>
          <a:noFill/>
        </p:spPr>
        <p:txBody>
          <a:bodyPr wrap="none" rtlCol="0">
            <a:spAutoFit/>
          </a:bodyPr>
          <a:lstStyle/>
          <a:p>
            <a:r>
              <a:rPr lang="fr-FR" sz="1400" i="1">
                <a:ln w="12700">
                  <a:solidFill>
                    <a:schemeClr val="tx1"/>
                  </a:solidFill>
                </a:ln>
                <a:latin typeface="Avenir LT 35 Light" panose="02000503030000020003" pitchFamily="2" charset="0"/>
              </a:rPr>
              <a:t>« APIsation », SOA et DDD</a:t>
            </a:r>
          </a:p>
        </p:txBody>
      </p:sp>
      <p:sp>
        <p:nvSpPr>
          <p:cNvPr id="10" name="ZoneTexte 9">
            <a:extLst>
              <a:ext uri="{FF2B5EF4-FFF2-40B4-BE49-F238E27FC236}">
                <a16:creationId xmlns:a16="http://schemas.microsoft.com/office/drawing/2014/main" id="{2A63BAFB-2E34-6F62-9AC7-DDAF4B08F176}"/>
              </a:ext>
            </a:extLst>
          </p:cNvPr>
          <p:cNvSpPr txBox="1"/>
          <p:nvPr/>
        </p:nvSpPr>
        <p:spPr>
          <a:xfrm>
            <a:off x="512079" y="892755"/>
            <a:ext cx="4301177"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Product API »</a:t>
            </a:r>
          </a:p>
        </p:txBody>
      </p:sp>
      <p:sp>
        <p:nvSpPr>
          <p:cNvPr id="12" name="ZoneTexte 11">
            <a:extLst>
              <a:ext uri="{FF2B5EF4-FFF2-40B4-BE49-F238E27FC236}">
                <a16:creationId xmlns:a16="http://schemas.microsoft.com/office/drawing/2014/main" id="{1FF96825-15FF-2FD2-E0C2-0A42F65418C8}"/>
              </a:ext>
            </a:extLst>
          </p:cNvPr>
          <p:cNvSpPr txBox="1"/>
          <p:nvPr/>
        </p:nvSpPr>
        <p:spPr>
          <a:xfrm>
            <a:off x="737407" y="5432124"/>
            <a:ext cx="4989835" cy="1183016"/>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4"/>
              </a:buBlip>
            </a:pPr>
            <a:r>
              <a:rPr lang="fr-FR"/>
              <a:t>Les communications sont des requêtes d’API (HTTPS/REST) de type synchrone dites « Est-Ouest »</a:t>
            </a:r>
          </a:p>
          <a:p>
            <a:pPr marL="285750" indent="-285750">
              <a:buBlip>
                <a:blip r:embed="rId4"/>
              </a:buBlip>
            </a:pPr>
            <a:r>
              <a:rPr lang="fr-FR"/>
              <a:t>Le pattern BYCN interdit les communications entre domaines qui n’impliquent pas l’API produit déployée en amont de l’application/service applicatif requêté. Ce pattern est plutôt recommandé.</a:t>
            </a:r>
          </a:p>
        </p:txBody>
      </p:sp>
      <p:sp>
        <p:nvSpPr>
          <p:cNvPr id="13" name="ZoneTexte 12">
            <a:extLst>
              <a:ext uri="{FF2B5EF4-FFF2-40B4-BE49-F238E27FC236}">
                <a16:creationId xmlns:a16="http://schemas.microsoft.com/office/drawing/2014/main" id="{10A9F4D8-3E4B-22CB-C040-18AEDB32E0BC}"/>
              </a:ext>
            </a:extLst>
          </p:cNvPr>
          <p:cNvSpPr txBox="1"/>
          <p:nvPr/>
        </p:nvSpPr>
        <p:spPr>
          <a:xfrm>
            <a:off x="2800952" y="1398419"/>
            <a:ext cx="6002367" cy="400110"/>
          </a:xfrm>
          <a:prstGeom prst="rect">
            <a:avLst/>
          </a:prstGeom>
          <a:noFill/>
        </p:spPr>
        <p:txBody>
          <a:bodyPr wrap="square" rtlCol="0">
            <a:spAutoFit/>
          </a:bodyPr>
          <a:lstStyle/>
          <a:p>
            <a:r>
              <a:rPr lang="fr-FR" sz="2000">
                <a:ln w="38100">
                  <a:solidFill>
                    <a:schemeClr val="accent6">
                      <a:lumMod val="60000"/>
                      <a:lumOff val="40000"/>
                    </a:schemeClr>
                  </a:solidFill>
                </a:ln>
                <a:latin typeface="Avenir LT 35 Light" panose="02000503030000020003" pitchFamily="2" charset="0"/>
              </a:rPr>
              <a:t>Quel modèle de communication ?</a:t>
            </a:r>
          </a:p>
        </p:txBody>
      </p:sp>
      <p:sp>
        <p:nvSpPr>
          <p:cNvPr id="15" name="ZoneTexte 14">
            <a:extLst>
              <a:ext uri="{FF2B5EF4-FFF2-40B4-BE49-F238E27FC236}">
                <a16:creationId xmlns:a16="http://schemas.microsoft.com/office/drawing/2014/main" id="{280B7D04-99EE-08E0-C041-260C141394B3}"/>
              </a:ext>
            </a:extLst>
          </p:cNvPr>
          <p:cNvSpPr txBox="1"/>
          <p:nvPr/>
        </p:nvSpPr>
        <p:spPr>
          <a:xfrm>
            <a:off x="5815141" y="5432124"/>
            <a:ext cx="4989835" cy="1014958"/>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4"/>
              </a:buBlip>
            </a:pPr>
            <a:r>
              <a:rPr lang="fr-FR"/>
              <a:t>Ce modèle est construit en faisant pleinement abstraction de l’usage d’une solution de médiation (i.e.: MuleSoft pour BYCN)</a:t>
            </a:r>
          </a:p>
          <a:p>
            <a:pPr marL="285750" indent="-285750">
              <a:buBlip>
                <a:blip r:embed="rId4"/>
              </a:buBlip>
            </a:pPr>
            <a:r>
              <a:rPr lang="fr-FR">
                <a:ln w="19050">
                  <a:solidFill>
                    <a:srgbClr val="102031">
                      <a:alpha val="60000"/>
                    </a:srgbClr>
                  </a:solidFill>
                </a:ln>
              </a:rPr>
              <a:t>BYCN suit la recommandation de ne pas faire du point-à-point.  La couche de médiation est alors le moyen d’assurer que le modèle est respecté.</a:t>
            </a:r>
          </a:p>
        </p:txBody>
      </p:sp>
      <p:pic>
        <p:nvPicPr>
          <p:cNvPr id="16" name="Image 15" descr="Une image contenant diagramme, texte, Plan, Dessin technique&#10;&#10;Description générée automatiquement">
            <a:extLst>
              <a:ext uri="{FF2B5EF4-FFF2-40B4-BE49-F238E27FC236}">
                <a16:creationId xmlns:a16="http://schemas.microsoft.com/office/drawing/2014/main" id="{470D16AB-449B-7207-AD68-AF738AB8F7C0}"/>
              </a:ext>
            </a:extLst>
          </p:cNvPr>
          <p:cNvPicPr>
            <a:picLocks noChangeAspect="1"/>
          </p:cNvPicPr>
          <p:nvPr/>
        </p:nvPicPr>
        <p:blipFill>
          <a:blip r:embed="rId5"/>
          <a:stretch>
            <a:fillRect/>
          </a:stretch>
        </p:blipFill>
        <p:spPr>
          <a:xfrm>
            <a:off x="1507940" y="1828406"/>
            <a:ext cx="8588389" cy="3533897"/>
          </a:xfrm>
          <a:prstGeom prst="rect">
            <a:avLst/>
          </a:prstGeom>
        </p:spPr>
      </p:pic>
    </p:spTree>
    <p:extLst>
      <p:ext uri="{BB962C8B-B14F-4D97-AF65-F5344CB8AC3E}">
        <p14:creationId xmlns:p14="http://schemas.microsoft.com/office/powerpoint/2010/main" val="97382497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4F44-31B5-91AD-3499-B6E9EF8D1483}"/>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DA6E9834-1A5C-4E88-6884-76EF1235172B}"/>
              </a:ext>
            </a:extLst>
          </p:cNvPr>
          <p:cNvSpPr>
            <a:spLocks noGrp="1"/>
          </p:cNvSpPr>
          <p:nvPr>
            <p:ph type="sldNum" sz="quarter" idx="12"/>
          </p:nvPr>
        </p:nvSpPr>
        <p:spPr/>
        <p:txBody>
          <a:bodyPr/>
          <a:lstStyle/>
          <a:p>
            <a:fld id="{CD166EB1-B284-8541-B839-321F682B6B05}" type="slidenum">
              <a:rPr lang="fr-FR" smtClean="0"/>
              <a:pPr/>
              <a:t>24</a:t>
            </a:fld>
            <a:endParaRPr lang="fr-FR"/>
          </a:p>
        </p:txBody>
      </p:sp>
      <p:sp>
        <p:nvSpPr>
          <p:cNvPr id="6" name="Espace réservé du texte 5">
            <a:extLst>
              <a:ext uri="{FF2B5EF4-FFF2-40B4-BE49-F238E27FC236}">
                <a16:creationId xmlns:a16="http://schemas.microsoft.com/office/drawing/2014/main" id="{E93061F2-C692-2CA1-ED39-AA7C81B9B3D4}"/>
              </a:ext>
            </a:extLst>
          </p:cNvPr>
          <p:cNvSpPr>
            <a:spLocks noGrp="1"/>
          </p:cNvSpPr>
          <p:nvPr>
            <p:ph type="body" sz="quarter" idx="19"/>
          </p:nvPr>
        </p:nvSpPr>
        <p:spPr/>
        <p:txBody>
          <a:bodyPr/>
          <a:lstStyle/>
          <a:p>
            <a:r>
              <a:rPr lang="fr-FR">
                <a:ln w="19050">
                  <a:solidFill>
                    <a:schemeClr val="bg1"/>
                  </a:solidFill>
                </a:ln>
              </a:rPr>
              <a:t>La Product API : Nœud essentiel du modèle BYCN</a:t>
            </a:r>
          </a:p>
        </p:txBody>
      </p:sp>
      <p:sp>
        <p:nvSpPr>
          <p:cNvPr id="7" name="Espace réservé du texte 6">
            <a:extLst>
              <a:ext uri="{FF2B5EF4-FFF2-40B4-BE49-F238E27FC236}">
                <a16:creationId xmlns:a16="http://schemas.microsoft.com/office/drawing/2014/main" id="{66521225-04E7-8650-11B0-FD0A5B24BF28}"/>
              </a:ext>
            </a:extLst>
          </p:cNvPr>
          <p:cNvSpPr>
            <a:spLocks noGrp="1"/>
          </p:cNvSpPr>
          <p:nvPr>
            <p:ph type="body" sz="quarter" idx="30"/>
          </p:nvPr>
        </p:nvSpPr>
        <p:spPr/>
        <p:txBody>
          <a:bodyPr/>
          <a:lstStyle/>
          <a:p>
            <a:r>
              <a:rPr lang="fr-FR">
                <a:ln w="19050">
                  <a:solidFill>
                    <a:schemeClr val="bg1"/>
                  </a:solidFill>
                </a:ln>
              </a:rPr>
              <a:t>08</a:t>
            </a:r>
          </a:p>
        </p:txBody>
      </p:sp>
      <p:sp>
        <p:nvSpPr>
          <p:cNvPr id="5" name="ZoneTexte 4">
            <a:extLst>
              <a:ext uri="{FF2B5EF4-FFF2-40B4-BE49-F238E27FC236}">
                <a16:creationId xmlns:a16="http://schemas.microsoft.com/office/drawing/2014/main" id="{B11B2B87-1F94-9A89-043F-EF34F8870E88}"/>
              </a:ext>
            </a:extLst>
          </p:cNvPr>
          <p:cNvSpPr txBox="1"/>
          <p:nvPr/>
        </p:nvSpPr>
        <p:spPr>
          <a:xfrm>
            <a:off x="547203" y="1450808"/>
            <a:ext cx="3627916" cy="523220"/>
          </a:xfrm>
          <a:prstGeom prst="rect">
            <a:avLst/>
          </a:prstGeom>
          <a:noFill/>
        </p:spPr>
        <p:txBody>
          <a:bodyPr wrap="none" rtlCol="0">
            <a:spAutoFit/>
          </a:bodyPr>
          <a:lstStyle/>
          <a:p>
            <a:r>
              <a:rPr lang="fr-FR" sz="1400" i="1">
                <a:ln w="12700">
                  <a:solidFill>
                    <a:schemeClr val="tx1"/>
                  </a:solidFill>
                </a:ln>
                <a:latin typeface="Avenir LT 35 Light" panose="02000503030000020003" pitchFamily="2" charset="0"/>
              </a:rPr>
              <a:t>L’API de domaine est implémentée avec le </a:t>
            </a:r>
          </a:p>
          <a:p>
            <a:r>
              <a:rPr lang="fr-FR" sz="1400" i="1">
                <a:ln w="12700">
                  <a:solidFill>
                    <a:schemeClr val="tx1"/>
                  </a:solidFill>
                </a:ln>
                <a:latin typeface="Avenir LT 35 Light" panose="02000503030000020003" pitchFamily="2" charset="0"/>
              </a:rPr>
              <a:t>modèle API-</a:t>
            </a:r>
            <a:r>
              <a:rPr lang="fr-FR" sz="1400" i="1" err="1">
                <a:ln w="12700">
                  <a:solidFill>
                    <a:schemeClr val="tx1"/>
                  </a:solidFill>
                </a:ln>
                <a:latin typeface="Avenir LT 35 Light" panose="02000503030000020003" pitchFamily="2" charset="0"/>
              </a:rPr>
              <a:t>led</a:t>
            </a:r>
            <a:r>
              <a:rPr lang="fr-FR" sz="1400" i="1">
                <a:ln w="12700">
                  <a:solidFill>
                    <a:schemeClr val="tx1"/>
                  </a:solidFill>
                </a:ln>
                <a:latin typeface="Avenir LT 35 Light" panose="02000503030000020003" pitchFamily="2" charset="0"/>
              </a:rPr>
              <a:t> </a:t>
            </a:r>
            <a:r>
              <a:rPr lang="fr-FR" sz="1400" i="1" err="1">
                <a:ln w="12700">
                  <a:solidFill>
                    <a:schemeClr val="tx1"/>
                  </a:solidFill>
                </a:ln>
                <a:latin typeface="Avenir LT 35 Light" panose="02000503030000020003" pitchFamily="2" charset="0"/>
              </a:rPr>
              <a:t>connectivity</a:t>
            </a:r>
            <a:endParaRPr lang="fr-FR" sz="1400" i="1">
              <a:ln w="12700">
                <a:solidFill>
                  <a:schemeClr val="tx1"/>
                </a:solidFill>
              </a:ln>
              <a:latin typeface="Avenir LT 35 Light" panose="02000503030000020003" pitchFamily="2" charset="0"/>
            </a:endParaRPr>
          </a:p>
        </p:txBody>
      </p:sp>
      <p:sp>
        <p:nvSpPr>
          <p:cNvPr id="10" name="ZoneTexte 9">
            <a:extLst>
              <a:ext uri="{FF2B5EF4-FFF2-40B4-BE49-F238E27FC236}">
                <a16:creationId xmlns:a16="http://schemas.microsoft.com/office/drawing/2014/main" id="{E9AF9DD1-7EEC-1BB6-426D-889B99A9ECD8}"/>
              </a:ext>
            </a:extLst>
          </p:cNvPr>
          <p:cNvSpPr txBox="1"/>
          <p:nvPr/>
        </p:nvSpPr>
        <p:spPr>
          <a:xfrm>
            <a:off x="512079" y="892755"/>
            <a:ext cx="4301177"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Product API »</a:t>
            </a:r>
          </a:p>
        </p:txBody>
      </p:sp>
      <p:pic>
        <p:nvPicPr>
          <p:cNvPr id="16" name="Image 15" descr="Une image contenant diagramme, texte, Plan, Dessin technique&#10;&#10;Description générée automatiquement">
            <a:extLst>
              <a:ext uri="{FF2B5EF4-FFF2-40B4-BE49-F238E27FC236}">
                <a16:creationId xmlns:a16="http://schemas.microsoft.com/office/drawing/2014/main" id="{E8561206-4FDC-C7DF-B1A6-1DA1B9B56090}"/>
              </a:ext>
            </a:extLst>
          </p:cNvPr>
          <p:cNvPicPr>
            <a:picLocks noChangeAspect="1"/>
          </p:cNvPicPr>
          <p:nvPr/>
        </p:nvPicPr>
        <p:blipFill>
          <a:blip r:embed="rId3"/>
          <a:stretch>
            <a:fillRect/>
          </a:stretch>
        </p:blipFill>
        <p:spPr>
          <a:xfrm>
            <a:off x="252264" y="2790212"/>
            <a:ext cx="4883616" cy="2009480"/>
          </a:xfrm>
          <a:prstGeom prst="rect">
            <a:avLst/>
          </a:prstGeom>
        </p:spPr>
      </p:pic>
      <p:sp>
        <p:nvSpPr>
          <p:cNvPr id="2" name="Espace réservé de la date 1">
            <a:extLst>
              <a:ext uri="{FF2B5EF4-FFF2-40B4-BE49-F238E27FC236}">
                <a16:creationId xmlns:a16="http://schemas.microsoft.com/office/drawing/2014/main" id="{7081BC38-16E5-2779-FE7A-0827E54D527C}"/>
              </a:ext>
            </a:extLst>
          </p:cNvPr>
          <p:cNvSpPr>
            <a:spLocks noGrp="1"/>
          </p:cNvSpPr>
          <p:nvPr>
            <p:ph type="dt" sz="half" idx="10"/>
          </p:nvPr>
        </p:nvSpPr>
        <p:spPr>
          <a:xfrm>
            <a:off x="10830711" y="6426109"/>
            <a:ext cx="718026" cy="215444"/>
          </a:xfrm>
        </p:spPr>
        <p:txBody>
          <a:bodyPr/>
          <a:lstStyle/>
          <a:p>
            <a:r>
              <a:rPr lang="fr-FR"/>
              <a:t>Juin 2024</a:t>
            </a:r>
          </a:p>
        </p:txBody>
      </p:sp>
      <p:sp>
        <p:nvSpPr>
          <p:cNvPr id="3" name="Espace réservé du pied de page 2">
            <a:extLst>
              <a:ext uri="{FF2B5EF4-FFF2-40B4-BE49-F238E27FC236}">
                <a16:creationId xmlns:a16="http://schemas.microsoft.com/office/drawing/2014/main" id="{9AB32C34-95C3-07B4-E26E-7475AFCB2BD8}"/>
              </a:ext>
            </a:extLst>
          </p:cNvPr>
          <p:cNvSpPr>
            <a:spLocks noGrp="1"/>
          </p:cNvSpPr>
          <p:nvPr>
            <p:ph type="ftr" sz="quarter" idx="11"/>
          </p:nvPr>
        </p:nvSpPr>
        <p:spPr>
          <a:xfrm>
            <a:off x="8286590" y="6426110"/>
            <a:ext cx="2492445" cy="215444"/>
          </a:xfrm>
        </p:spPr>
        <p:txBody>
          <a:bodyPr/>
          <a:lstStyle/>
          <a:p>
            <a:r>
              <a:rPr lang="fr-FR"/>
              <a:t>BOUYGUES CONSTRUCTION | </a:t>
            </a:r>
          </a:p>
        </p:txBody>
      </p:sp>
      <p:pic>
        <p:nvPicPr>
          <p:cNvPr id="18" name="Image 17" descr="Une image contenant capture d’écran, texte&#10;&#10;Description générée automatiquement">
            <a:extLst>
              <a:ext uri="{FF2B5EF4-FFF2-40B4-BE49-F238E27FC236}">
                <a16:creationId xmlns:a16="http://schemas.microsoft.com/office/drawing/2014/main" id="{88DD0FEF-F5BE-0874-97CB-6B9DE03A8491}"/>
              </a:ext>
            </a:extLst>
          </p:cNvPr>
          <p:cNvPicPr>
            <a:picLocks noChangeAspect="1"/>
          </p:cNvPicPr>
          <p:nvPr/>
        </p:nvPicPr>
        <p:blipFill>
          <a:blip r:embed="rId4"/>
          <a:stretch>
            <a:fillRect/>
          </a:stretch>
        </p:blipFill>
        <p:spPr>
          <a:xfrm>
            <a:off x="5831077" y="435814"/>
            <a:ext cx="5199184" cy="5946671"/>
          </a:xfrm>
          <a:prstGeom prst="rect">
            <a:avLst/>
          </a:prstGeom>
        </p:spPr>
      </p:pic>
      <p:sp>
        <p:nvSpPr>
          <p:cNvPr id="19" name="Ellipse 18">
            <a:extLst>
              <a:ext uri="{FF2B5EF4-FFF2-40B4-BE49-F238E27FC236}">
                <a16:creationId xmlns:a16="http://schemas.microsoft.com/office/drawing/2014/main" id="{D673CA5A-80AD-1ABB-09C4-A6DCBAE925A4}"/>
              </a:ext>
            </a:extLst>
          </p:cNvPr>
          <p:cNvSpPr/>
          <p:nvPr/>
        </p:nvSpPr>
        <p:spPr>
          <a:xfrm>
            <a:off x="3619500" y="3032760"/>
            <a:ext cx="1036320" cy="472440"/>
          </a:xfrm>
          <a:prstGeom prst="ellipse">
            <a:avLst/>
          </a:prstGeom>
          <a:noFill/>
          <a:ln w="28575" cap="flat">
            <a:solidFill>
              <a:srgbClr val="102031">
                <a:alpha val="75000"/>
              </a:srgbClr>
            </a:solidFill>
            <a:prstDash val="sysDash"/>
            <a:miter/>
          </a:ln>
        </p:spPr>
        <p:txBody>
          <a:bodyPr rtlCol="0" anchor="ctr"/>
          <a:lstStyle/>
          <a:p>
            <a:pPr algn="l"/>
            <a:endParaRPr lang="fr-FR"/>
          </a:p>
        </p:txBody>
      </p:sp>
      <p:sp>
        <p:nvSpPr>
          <p:cNvPr id="20" name="Ellipse 19">
            <a:extLst>
              <a:ext uri="{FF2B5EF4-FFF2-40B4-BE49-F238E27FC236}">
                <a16:creationId xmlns:a16="http://schemas.microsoft.com/office/drawing/2014/main" id="{4A72A141-0383-955D-7E65-06D12A964FB2}"/>
              </a:ext>
            </a:extLst>
          </p:cNvPr>
          <p:cNvSpPr/>
          <p:nvPr/>
        </p:nvSpPr>
        <p:spPr>
          <a:xfrm>
            <a:off x="6956127" y="771457"/>
            <a:ext cx="3148926" cy="1131988"/>
          </a:xfrm>
          <a:prstGeom prst="ellipse">
            <a:avLst/>
          </a:prstGeom>
          <a:noFill/>
          <a:ln w="28575" cap="flat">
            <a:solidFill>
              <a:srgbClr val="102031">
                <a:alpha val="75000"/>
              </a:srgbClr>
            </a:solidFill>
            <a:prstDash val="sysDash"/>
            <a:miter/>
          </a:ln>
        </p:spPr>
        <p:txBody>
          <a:bodyPr rtlCol="0" anchor="ctr"/>
          <a:lstStyle/>
          <a:p>
            <a:pPr algn="l"/>
            <a:endParaRPr lang="fr-FR"/>
          </a:p>
        </p:txBody>
      </p:sp>
      <p:sp>
        <p:nvSpPr>
          <p:cNvPr id="21" name="Forme libre : forme 20">
            <a:extLst>
              <a:ext uri="{FF2B5EF4-FFF2-40B4-BE49-F238E27FC236}">
                <a16:creationId xmlns:a16="http://schemas.microsoft.com/office/drawing/2014/main" id="{3D5FC8B1-7F0B-B309-2860-CDC5F9082941}"/>
              </a:ext>
            </a:extLst>
          </p:cNvPr>
          <p:cNvSpPr/>
          <p:nvPr/>
        </p:nvSpPr>
        <p:spPr>
          <a:xfrm>
            <a:off x="4497355" y="1530220"/>
            <a:ext cx="2388637" cy="1520890"/>
          </a:xfrm>
          <a:custGeom>
            <a:avLst/>
            <a:gdLst>
              <a:gd name="connsiteX0" fmla="*/ 0 w 2388637"/>
              <a:gd name="connsiteY0" fmla="*/ 1520890 h 1520890"/>
              <a:gd name="connsiteX1" fmla="*/ 2388637 w 2388637"/>
              <a:gd name="connsiteY1" fmla="*/ 0 h 1520890"/>
              <a:gd name="connsiteX0" fmla="*/ 0 w 2388637"/>
              <a:gd name="connsiteY0" fmla="*/ 1520890 h 1520890"/>
              <a:gd name="connsiteX1" fmla="*/ 2388637 w 2388637"/>
              <a:gd name="connsiteY1" fmla="*/ 0 h 1520890"/>
              <a:gd name="connsiteX0" fmla="*/ 0 w 2388637"/>
              <a:gd name="connsiteY0" fmla="*/ 1520890 h 1520890"/>
              <a:gd name="connsiteX1" fmla="*/ 2388637 w 2388637"/>
              <a:gd name="connsiteY1" fmla="*/ 0 h 1520890"/>
              <a:gd name="connsiteX0" fmla="*/ 0 w 2388637"/>
              <a:gd name="connsiteY0" fmla="*/ 1520890 h 1520890"/>
              <a:gd name="connsiteX1" fmla="*/ 2388637 w 2388637"/>
              <a:gd name="connsiteY1" fmla="*/ 0 h 1520890"/>
            </a:gdLst>
            <a:ahLst/>
            <a:cxnLst>
              <a:cxn ang="0">
                <a:pos x="connsiteX0" y="connsiteY0"/>
              </a:cxn>
              <a:cxn ang="0">
                <a:pos x="connsiteX1" y="connsiteY1"/>
              </a:cxn>
            </a:cxnLst>
            <a:rect l="l" t="t" r="r" b="b"/>
            <a:pathLst>
              <a:path w="2388637" h="1520890">
                <a:moveTo>
                  <a:pt x="0" y="1520890"/>
                </a:moveTo>
                <a:cubicBezTo>
                  <a:pt x="217715" y="799323"/>
                  <a:pt x="603381" y="49762"/>
                  <a:pt x="2388637" y="0"/>
                </a:cubicBezTo>
              </a:path>
            </a:pathLst>
          </a:custGeom>
          <a:noFill/>
          <a:ln w="38100" cap="flat">
            <a:solidFill>
              <a:srgbClr val="102031">
                <a:alpha val="75000"/>
              </a:srgbClr>
            </a:solidFill>
            <a:prstDash val="sysDash"/>
            <a:miter/>
            <a:tailEnd type="arrow" w="lg" len="lg"/>
          </a:ln>
        </p:spPr>
        <p:txBody>
          <a:bodyPr rtlCol="0" anchor="ctr"/>
          <a:lstStyle/>
          <a:p>
            <a:endParaRPr lang="fr-FR"/>
          </a:p>
        </p:txBody>
      </p:sp>
      <p:sp>
        <p:nvSpPr>
          <p:cNvPr id="22" name="ZoneTexte 21">
            <a:extLst>
              <a:ext uri="{FF2B5EF4-FFF2-40B4-BE49-F238E27FC236}">
                <a16:creationId xmlns:a16="http://schemas.microsoft.com/office/drawing/2014/main" id="{27B4801D-B0EB-90B2-2975-6FA6328A66D2}"/>
              </a:ext>
            </a:extLst>
          </p:cNvPr>
          <p:cNvSpPr txBox="1"/>
          <p:nvPr/>
        </p:nvSpPr>
        <p:spPr>
          <a:xfrm>
            <a:off x="332331" y="5042240"/>
            <a:ext cx="4989835" cy="1179682"/>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5"/>
              </a:buBlip>
            </a:pPr>
            <a:r>
              <a:rPr lang="fr-FR" sz="1800"/>
              <a:t>Au sein d’un domaine, le modèle permet une structuration et une intégration dans laquelle il est possible de faire de l’agrégation, de la composition,  de masquer les complexités des applications dites « </a:t>
            </a:r>
            <a:r>
              <a:rPr lang="en-US" sz="1800" i="1"/>
              <a:t>legacy</a:t>
            </a:r>
            <a:r>
              <a:rPr lang="fr-FR" sz="1800"/>
              <a:t> » grâce à l’abstraction.</a:t>
            </a:r>
          </a:p>
        </p:txBody>
      </p:sp>
    </p:spTree>
    <p:extLst>
      <p:ext uri="{BB962C8B-B14F-4D97-AF65-F5344CB8AC3E}">
        <p14:creationId xmlns:p14="http://schemas.microsoft.com/office/powerpoint/2010/main" val="57970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9ECBA-314D-B4CA-A312-ADED71F3872C}"/>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DE51A68-2130-B0CA-F8CE-D69A3E15752D}"/>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9F645996-D543-D4B2-7C39-7CD6989CE391}"/>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BE3FD441-4EE2-0244-36C7-886ADCEFDBA1}"/>
              </a:ext>
            </a:extLst>
          </p:cNvPr>
          <p:cNvSpPr>
            <a:spLocks noGrp="1"/>
          </p:cNvSpPr>
          <p:nvPr>
            <p:ph type="sldNum" sz="quarter" idx="12"/>
          </p:nvPr>
        </p:nvSpPr>
        <p:spPr/>
        <p:txBody>
          <a:bodyPr/>
          <a:lstStyle/>
          <a:p>
            <a:fld id="{CD166EB1-B284-8541-B839-321F682B6B05}" type="slidenum">
              <a:rPr lang="fr-FR" smtClean="0"/>
              <a:pPr/>
              <a:t>25</a:t>
            </a:fld>
            <a:endParaRPr lang="fr-FR"/>
          </a:p>
        </p:txBody>
      </p:sp>
      <p:sp>
        <p:nvSpPr>
          <p:cNvPr id="6" name="Espace réservé du texte 5">
            <a:extLst>
              <a:ext uri="{FF2B5EF4-FFF2-40B4-BE49-F238E27FC236}">
                <a16:creationId xmlns:a16="http://schemas.microsoft.com/office/drawing/2014/main" id="{598F7F4F-D569-8128-1C8C-C69238A66994}"/>
              </a:ext>
            </a:extLst>
          </p:cNvPr>
          <p:cNvSpPr>
            <a:spLocks noGrp="1"/>
          </p:cNvSpPr>
          <p:nvPr>
            <p:ph type="body" sz="quarter" idx="19"/>
          </p:nvPr>
        </p:nvSpPr>
        <p:spPr/>
        <p:txBody>
          <a:bodyPr/>
          <a:lstStyle/>
          <a:p>
            <a:r>
              <a:rPr lang="fr-FR">
                <a:ln w="19050">
                  <a:solidFill>
                    <a:schemeClr val="bg1"/>
                  </a:solidFill>
                </a:ln>
              </a:rPr>
              <a:t>La Flow API : Mais c’est quoi ?</a:t>
            </a:r>
          </a:p>
        </p:txBody>
      </p:sp>
      <p:sp>
        <p:nvSpPr>
          <p:cNvPr id="7" name="Espace réservé du texte 6">
            <a:extLst>
              <a:ext uri="{FF2B5EF4-FFF2-40B4-BE49-F238E27FC236}">
                <a16:creationId xmlns:a16="http://schemas.microsoft.com/office/drawing/2014/main" id="{7B01662A-2602-16BE-728D-075E8D851535}"/>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49AA6886-4B6E-721E-A65D-CEFF593AC71A}"/>
              </a:ext>
            </a:extLst>
          </p:cNvPr>
          <p:cNvSpPr txBox="1"/>
          <p:nvPr/>
        </p:nvSpPr>
        <p:spPr>
          <a:xfrm>
            <a:off x="512079" y="892755"/>
            <a:ext cx="7196201"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 </a:t>
            </a:r>
            <a:r>
              <a:rPr lang="fr-FR" sz="2800">
                <a:ln w="38100">
                  <a:solidFill>
                    <a:schemeClr val="tx1"/>
                  </a:solidFill>
                </a:ln>
                <a:latin typeface="Avenir LT 35 Light" panose="02000503030000020003" pitchFamily="2" charset="0"/>
              </a:rPr>
              <a:t>— une solution BYCN</a:t>
            </a:r>
            <a:endParaRPr lang="fr-FR" sz="4000">
              <a:ln w="38100">
                <a:solidFill>
                  <a:schemeClr val="tx1"/>
                </a:solidFill>
              </a:ln>
              <a:latin typeface="Avenir LT 35 Light" panose="02000503030000020003" pitchFamily="2" charset="0"/>
            </a:endParaRPr>
          </a:p>
        </p:txBody>
      </p:sp>
      <p:sp>
        <p:nvSpPr>
          <p:cNvPr id="16" name="ZoneTexte 15">
            <a:extLst>
              <a:ext uri="{FF2B5EF4-FFF2-40B4-BE49-F238E27FC236}">
                <a16:creationId xmlns:a16="http://schemas.microsoft.com/office/drawing/2014/main" id="{FF82C45A-7DE0-4171-C011-239F2031102B}"/>
              </a:ext>
            </a:extLst>
          </p:cNvPr>
          <p:cNvSpPr txBox="1"/>
          <p:nvPr/>
        </p:nvSpPr>
        <p:spPr>
          <a:xfrm>
            <a:off x="547203" y="5728149"/>
            <a:ext cx="4989835" cy="1014958"/>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4"/>
              </a:buBlip>
            </a:pPr>
            <a:r>
              <a:rPr lang="fr-FR">
                <a:ln w="19050">
                  <a:solidFill>
                    <a:srgbClr val="102031">
                      <a:alpha val="60000"/>
                    </a:srgbClr>
                  </a:solidFill>
                </a:ln>
              </a:rPr>
              <a:t>Objectifs de la Flow API chez BYCN :</a:t>
            </a:r>
            <a:r>
              <a:rPr lang="fr-FR"/>
              <a:t> Ordonnance, transforme, et intègre les données d’une application d’un domaine vers une application d’autre autre domaine. </a:t>
            </a:r>
          </a:p>
          <a:p>
            <a:pPr marL="285750" indent="-285750">
              <a:buBlip>
                <a:blip r:embed="rId4"/>
              </a:buBlip>
            </a:pPr>
            <a:r>
              <a:rPr lang="fr-FR"/>
              <a:t>L’initiative d’une itération du flux se fait au travers d’un déclenchement pas l’ordonnanceur (DOLLAR U.)</a:t>
            </a:r>
          </a:p>
        </p:txBody>
      </p:sp>
      <p:sp>
        <p:nvSpPr>
          <p:cNvPr id="23" name="ZoneTexte 22">
            <a:extLst>
              <a:ext uri="{FF2B5EF4-FFF2-40B4-BE49-F238E27FC236}">
                <a16:creationId xmlns:a16="http://schemas.microsoft.com/office/drawing/2014/main" id="{1B7EAE85-356D-F41A-BAA5-FCFE2484336A}"/>
              </a:ext>
            </a:extLst>
          </p:cNvPr>
          <p:cNvSpPr txBox="1"/>
          <p:nvPr/>
        </p:nvSpPr>
        <p:spPr>
          <a:xfrm>
            <a:off x="5650745" y="5728149"/>
            <a:ext cx="4989835" cy="846899"/>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4"/>
              </a:buBlip>
            </a:pPr>
            <a:r>
              <a:rPr lang="fr-FR">
                <a:ln w="9525">
                  <a:solidFill>
                    <a:srgbClr val="102031">
                      <a:alpha val="60000"/>
                    </a:srgbClr>
                  </a:solidFill>
                </a:ln>
              </a:rPr>
              <a:t>La Flow API s’appuie des « Product API » pour faire transiter les données d’une application à l’autre (domaine à l’autre)</a:t>
            </a:r>
          </a:p>
          <a:p>
            <a:pPr marL="285750" indent="-285750">
              <a:buBlip>
                <a:blip r:embed="rId4"/>
              </a:buBlip>
            </a:pPr>
            <a:r>
              <a:rPr lang="fr-FR">
                <a:ln w="28575">
                  <a:solidFill>
                    <a:srgbClr val="102031">
                      <a:alpha val="60000"/>
                    </a:srgbClr>
                  </a:solidFill>
                </a:ln>
              </a:rPr>
              <a:t>Questionnement et risques : </a:t>
            </a:r>
            <a:r>
              <a:rPr lang="fr-FR">
                <a:ln w="19050">
                  <a:solidFill>
                    <a:srgbClr val="102031">
                      <a:alpha val="60000"/>
                    </a:srgbClr>
                  </a:solidFill>
                </a:ln>
              </a:rPr>
              <a:t>A quel domaine est attribuée la gouvernance de la Flow API ?</a:t>
            </a:r>
          </a:p>
        </p:txBody>
      </p:sp>
      <p:pic>
        <p:nvPicPr>
          <p:cNvPr id="31" name="Image 30" descr="Une image contenant diagramme, texte, Plan, Dessin technique&#10;&#10;Description générée automatiquement">
            <a:extLst>
              <a:ext uri="{FF2B5EF4-FFF2-40B4-BE49-F238E27FC236}">
                <a16:creationId xmlns:a16="http://schemas.microsoft.com/office/drawing/2014/main" id="{AC845082-7626-BF86-8C2B-B0CC8FFC03F1}"/>
              </a:ext>
            </a:extLst>
          </p:cNvPr>
          <p:cNvPicPr>
            <a:picLocks noChangeAspect="1"/>
          </p:cNvPicPr>
          <p:nvPr/>
        </p:nvPicPr>
        <p:blipFill>
          <a:blip r:embed="rId5"/>
          <a:stretch>
            <a:fillRect/>
          </a:stretch>
        </p:blipFill>
        <p:spPr>
          <a:xfrm>
            <a:off x="968835" y="1845562"/>
            <a:ext cx="9585794" cy="3707073"/>
          </a:xfrm>
          <a:prstGeom prst="rect">
            <a:avLst/>
          </a:prstGeom>
        </p:spPr>
      </p:pic>
      <p:sp>
        <p:nvSpPr>
          <p:cNvPr id="8" name="ZoneTexte 7">
            <a:extLst>
              <a:ext uri="{FF2B5EF4-FFF2-40B4-BE49-F238E27FC236}">
                <a16:creationId xmlns:a16="http://schemas.microsoft.com/office/drawing/2014/main" id="{C81B8892-1832-9158-E142-15CDB40237E0}"/>
              </a:ext>
            </a:extLst>
          </p:cNvPr>
          <p:cNvSpPr txBox="1"/>
          <p:nvPr/>
        </p:nvSpPr>
        <p:spPr>
          <a:xfrm>
            <a:off x="524527" y="1377956"/>
            <a:ext cx="6097044" cy="369332"/>
          </a:xfrm>
          <a:prstGeom prst="rect">
            <a:avLst/>
          </a:prstGeom>
          <a:noFill/>
        </p:spPr>
        <p:txBody>
          <a:bodyPr wrap="square">
            <a:spAutoFit/>
          </a:bodyPr>
          <a:lstStyle/>
          <a:p>
            <a:r>
              <a:rPr lang="fr-FR" sz="1800">
                <a:ln w="28575">
                  <a:solidFill>
                    <a:schemeClr val="tx1"/>
                  </a:solidFill>
                </a:ln>
                <a:latin typeface="Avenir LT 35 Light" panose="02000503030000020003" pitchFamily="2" charset="0"/>
              </a:rPr>
              <a:t>pour rationaliser les communications inter-domaines</a:t>
            </a:r>
            <a:endParaRPr lang="fr-FR">
              <a:ln w="28575">
                <a:solidFill>
                  <a:schemeClr val="tx1"/>
                </a:solidFill>
              </a:ln>
            </a:endParaRPr>
          </a:p>
        </p:txBody>
      </p:sp>
      <p:sp>
        <p:nvSpPr>
          <p:cNvPr id="12" name="ZoneTexte 11">
            <a:extLst>
              <a:ext uri="{FF2B5EF4-FFF2-40B4-BE49-F238E27FC236}">
                <a16:creationId xmlns:a16="http://schemas.microsoft.com/office/drawing/2014/main" id="{2ED40CB8-E153-2B67-80E0-FBB9A5D070AF}"/>
              </a:ext>
            </a:extLst>
          </p:cNvPr>
          <p:cNvSpPr txBox="1"/>
          <p:nvPr/>
        </p:nvSpPr>
        <p:spPr>
          <a:xfrm>
            <a:off x="512079" y="1647714"/>
            <a:ext cx="3498073" cy="584775"/>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Ne fait pas partie de la </a:t>
            </a:r>
          </a:p>
          <a:p>
            <a:r>
              <a:rPr lang="fr-FR" sz="1600" i="1">
                <a:ln w="19050">
                  <a:solidFill>
                    <a:schemeClr val="tx1"/>
                  </a:solidFill>
                </a:ln>
                <a:latin typeface="Avenir LT 35 Light" panose="02000503030000020003" pitchFamily="2" charset="0"/>
              </a:rPr>
              <a:t>spécification « API-l</a:t>
            </a:r>
            <a:r>
              <a:rPr lang="en-US" sz="1600" i="1">
                <a:ln w="19050">
                  <a:solidFill>
                    <a:schemeClr val="tx1"/>
                  </a:solidFill>
                </a:ln>
                <a:latin typeface="Avenir LT 35 Light" panose="02000503030000020003" pitchFamily="2" charset="0"/>
              </a:rPr>
              <a:t>ed</a:t>
            </a:r>
            <a:r>
              <a:rPr lang="fr-FR" sz="1600" i="1">
                <a:ln w="19050">
                  <a:solidFill>
                    <a:schemeClr val="tx1"/>
                  </a:solidFill>
                </a:ln>
                <a:latin typeface="Avenir LT 35 Light" panose="02000503030000020003" pitchFamily="2" charset="0"/>
              </a:rPr>
              <a:t> </a:t>
            </a:r>
            <a:r>
              <a:rPr lang="en-US" sz="1600" i="1">
                <a:ln w="19050">
                  <a:solidFill>
                    <a:schemeClr val="tx1"/>
                  </a:solidFill>
                </a:ln>
                <a:latin typeface="Avenir LT 35 Light" panose="02000503030000020003" pitchFamily="2" charset="0"/>
              </a:rPr>
              <a:t>connectivity</a:t>
            </a:r>
            <a:r>
              <a:rPr lang="fr-FR" sz="1600" i="1">
                <a:ln w="19050">
                  <a:solidFill>
                    <a:schemeClr val="tx1"/>
                  </a:solidFill>
                </a:ln>
                <a:latin typeface="Avenir LT 35 Light" panose="02000503030000020003" pitchFamily="2" charset="0"/>
              </a:rPr>
              <a:t> »</a:t>
            </a:r>
          </a:p>
        </p:txBody>
      </p:sp>
    </p:spTree>
    <p:extLst>
      <p:ext uri="{BB962C8B-B14F-4D97-AF65-F5344CB8AC3E}">
        <p14:creationId xmlns:p14="http://schemas.microsoft.com/office/powerpoint/2010/main" val="2845697351"/>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25A79-7613-4565-2044-1785C471033C}"/>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A42AB89-B449-6A02-771B-2D1522FC1162}"/>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124516B3-7E02-A1BC-6F0E-B716C784B45B}"/>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D0517365-302D-E9BF-7B81-70833BD91E06}"/>
              </a:ext>
            </a:extLst>
          </p:cNvPr>
          <p:cNvSpPr>
            <a:spLocks noGrp="1"/>
          </p:cNvSpPr>
          <p:nvPr>
            <p:ph type="sldNum" sz="quarter" idx="12"/>
          </p:nvPr>
        </p:nvSpPr>
        <p:spPr/>
        <p:txBody>
          <a:bodyPr/>
          <a:lstStyle/>
          <a:p>
            <a:fld id="{CD166EB1-B284-8541-B839-321F682B6B05}" type="slidenum">
              <a:rPr lang="fr-FR" smtClean="0"/>
              <a:pPr/>
              <a:t>26</a:t>
            </a:fld>
            <a:endParaRPr lang="fr-FR"/>
          </a:p>
        </p:txBody>
      </p:sp>
      <p:sp>
        <p:nvSpPr>
          <p:cNvPr id="6" name="Espace réservé du texte 5">
            <a:extLst>
              <a:ext uri="{FF2B5EF4-FFF2-40B4-BE49-F238E27FC236}">
                <a16:creationId xmlns:a16="http://schemas.microsoft.com/office/drawing/2014/main" id="{36862577-0308-D821-2423-09767BC65EF5}"/>
              </a:ext>
            </a:extLst>
          </p:cNvPr>
          <p:cNvSpPr>
            <a:spLocks noGrp="1"/>
          </p:cNvSpPr>
          <p:nvPr>
            <p:ph type="body" sz="quarter" idx="19"/>
          </p:nvPr>
        </p:nvSpPr>
        <p:spPr/>
        <p:txBody>
          <a:bodyPr/>
          <a:lstStyle/>
          <a:p>
            <a:r>
              <a:rPr lang="fr-FR">
                <a:ln w="19050">
                  <a:solidFill>
                    <a:schemeClr val="bg1"/>
                  </a:solidFill>
                </a:ln>
              </a:rPr>
              <a:t>La Flow API : modèle BYCN, n’est pas une « Stream API »</a:t>
            </a:r>
          </a:p>
        </p:txBody>
      </p:sp>
      <p:sp>
        <p:nvSpPr>
          <p:cNvPr id="7" name="Espace réservé du texte 6">
            <a:extLst>
              <a:ext uri="{FF2B5EF4-FFF2-40B4-BE49-F238E27FC236}">
                <a16:creationId xmlns:a16="http://schemas.microsoft.com/office/drawing/2014/main" id="{A273004E-1DD9-6464-3C91-1C2A7447BD60}"/>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D0BEF484-A7F7-69C0-864A-C0669BA0B43E}"/>
              </a:ext>
            </a:extLst>
          </p:cNvPr>
          <p:cNvSpPr txBox="1"/>
          <p:nvPr/>
        </p:nvSpPr>
        <p:spPr>
          <a:xfrm>
            <a:off x="512079" y="892755"/>
            <a:ext cx="7196201"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 </a:t>
            </a:r>
            <a:r>
              <a:rPr lang="fr-FR" sz="2800">
                <a:ln w="38100">
                  <a:solidFill>
                    <a:schemeClr val="tx1"/>
                  </a:solidFill>
                </a:ln>
                <a:latin typeface="Avenir LT 35 Light" panose="02000503030000020003" pitchFamily="2" charset="0"/>
              </a:rPr>
              <a:t>— une solution BYCN</a:t>
            </a:r>
            <a:endParaRPr lang="fr-FR" sz="4000">
              <a:ln w="38100">
                <a:solidFill>
                  <a:schemeClr val="tx1"/>
                </a:solidFill>
              </a:ln>
              <a:latin typeface="Avenir LT 35 Light" panose="02000503030000020003" pitchFamily="2" charset="0"/>
            </a:endParaRPr>
          </a:p>
        </p:txBody>
      </p:sp>
      <p:sp>
        <p:nvSpPr>
          <p:cNvPr id="12" name="ZoneTexte 11">
            <a:extLst>
              <a:ext uri="{FF2B5EF4-FFF2-40B4-BE49-F238E27FC236}">
                <a16:creationId xmlns:a16="http://schemas.microsoft.com/office/drawing/2014/main" id="{1DE559BE-3E15-F577-184E-5E9C06F471F0}"/>
              </a:ext>
            </a:extLst>
          </p:cNvPr>
          <p:cNvSpPr txBox="1"/>
          <p:nvPr/>
        </p:nvSpPr>
        <p:spPr>
          <a:xfrm>
            <a:off x="547203" y="1450808"/>
            <a:ext cx="5575565" cy="338554"/>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Ne fait pas partie de la spécification « API-l</a:t>
            </a:r>
            <a:r>
              <a:rPr lang="en-US" sz="1600" i="1">
                <a:ln w="19050">
                  <a:solidFill>
                    <a:schemeClr val="tx1"/>
                  </a:solidFill>
                </a:ln>
                <a:latin typeface="Avenir LT 35 Light" panose="02000503030000020003" pitchFamily="2" charset="0"/>
              </a:rPr>
              <a:t>ed</a:t>
            </a:r>
            <a:r>
              <a:rPr lang="fr-FR" sz="1600" i="1">
                <a:ln w="19050">
                  <a:solidFill>
                    <a:schemeClr val="tx1"/>
                  </a:solidFill>
                </a:ln>
                <a:latin typeface="Avenir LT 35 Light" panose="02000503030000020003" pitchFamily="2" charset="0"/>
              </a:rPr>
              <a:t> </a:t>
            </a:r>
            <a:r>
              <a:rPr lang="en-US" sz="1600" i="1">
                <a:ln w="19050">
                  <a:solidFill>
                    <a:schemeClr val="tx1"/>
                  </a:solidFill>
                </a:ln>
                <a:latin typeface="Avenir LT 35 Light" panose="02000503030000020003" pitchFamily="2" charset="0"/>
              </a:rPr>
              <a:t>connectivity</a:t>
            </a:r>
            <a:r>
              <a:rPr lang="fr-FR" sz="1600" i="1">
                <a:ln w="19050">
                  <a:solidFill>
                    <a:schemeClr val="tx1"/>
                  </a:solidFill>
                </a:ln>
                <a:latin typeface="Avenir LT 35 Light" panose="02000503030000020003" pitchFamily="2" charset="0"/>
              </a:rPr>
              <a:t> »</a:t>
            </a:r>
          </a:p>
        </p:txBody>
      </p:sp>
      <p:pic>
        <p:nvPicPr>
          <p:cNvPr id="14" name="Image 13" descr="Une image contenant texte, diagramme, capture d’écran, Plan&#10;&#10;Description générée automatiquement">
            <a:extLst>
              <a:ext uri="{FF2B5EF4-FFF2-40B4-BE49-F238E27FC236}">
                <a16:creationId xmlns:a16="http://schemas.microsoft.com/office/drawing/2014/main" id="{82A38A5D-9D5C-25F4-4713-91F7F99D7DD5}"/>
              </a:ext>
            </a:extLst>
          </p:cNvPr>
          <p:cNvPicPr>
            <a:picLocks noChangeAspect="1"/>
          </p:cNvPicPr>
          <p:nvPr/>
        </p:nvPicPr>
        <p:blipFill>
          <a:blip r:embed="rId3"/>
          <a:stretch>
            <a:fillRect/>
          </a:stretch>
        </p:blipFill>
        <p:spPr>
          <a:xfrm>
            <a:off x="876301" y="2038548"/>
            <a:ext cx="8499711" cy="4556437"/>
          </a:xfrm>
          <a:prstGeom prst="rect">
            <a:avLst/>
          </a:prstGeom>
        </p:spPr>
      </p:pic>
    </p:spTree>
    <p:extLst>
      <p:ext uri="{BB962C8B-B14F-4D97-AF65-F5344CB8AC3E}">
        <p14:creationId xmlns:p14="http://schemas.microsoft.com/office/powerpoint/2010/main" val="3645816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B47B9-5E1C-FF5F-A32D-511D47901861}"/>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AA5DE0F-EABF-829A-885B-D97169E71B92}"/>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BB8A8F88-F3A3-3A5A-3D59-6F91EDC866F6}"/>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0C44A4F9-3FB7-0EEE-7DDE-014FC87B60A2}"/>
              </a:ext>
            </a:extLst>
          </p:cNvPr>
          <p:cNvSpPr>
            <a:spLocks noGrp="1"/>
          </p:cNvSpPr>
          <p:nvPr>
            <p:ph type="sldNum" sz="quarter" idx="12"/>
          </p:nvPr>
        </p:nvSpPr>
        <p:spPr/>
        <p:txBody>
          <a:bodyPr/>
          <a:lstStyle/>
          <a:p>
            <a:fld id="{CD166EB1-B284-8541-B839-321F682B6B05}" type="slidenum">
              <a:rPr lang="fr-FR" smtClean="0"/>
              <a:pPr/>
              <a:t>27</a:t>
            </a:fld>
            <a:endParaRPr lang="fr-FR"/>
          </a:p>
        </p:txBody>
      </p:sp>
      <p:sp>
        <p:nvSpPr>
          <p:cNvPr id="6" name="Espace réservé du texte 5">
            <a:extLst>
              <a:ext uri="{FF2B5EF4-FFF2-40B4-BE49-F238E27FC236}">
                <a16:creationId xmlns:a16="http://schemas.microsoft.com/office/drawing/2014/main" id="{3C6AD1B4-8296-61E2-AD01-5DD29F39B160}"/>
              </a:ext>
            </a:extLst>
          </p:cNvPr>
          <p:cNvSpPr>
            <a:spLocks noGrp="1"/>
          </p:cNvSpPr>
          <p:nvPr>
            <p:ph type="body" sz="quarter" idx="19"/>
          </p:nvPr>
        </p:nvSpPr>
        <p:spPr/>
        <p:txBody>
          <a:bodyPr/>
          <a:lstStyle/>
          <a:p>
            <a:r>
              <a:rPr lang="fr-FR">
                <a:ln w="19050">
                  <a:solidFill>
                    <a:schemeClr val="bg1"/>
                  </a:solidFill>
                </a:ln>
              </a:rPr>
              <a:t>La Flow API : Un nœud à l’extérieur du maillage ?</a:t>
            </a:r>
          </a:p>
        </p:txBody>
      </p:sp>
      <p:sp>
        <p:nvSpPr>
          <p:cNvPr id="7" name="Espace réservé du texte 6">
            <a:extLst>
              <a:ext uri="{FF2B5EF4-FFF2-40B4-BE49-F238E27FC236}">
                <a16:creationId xmlns:a16="http://schemas.microsoft.com/office/drawing/2014/main" id="{843C4F77-708F-A5C3-3E32-4CDADCB96F27}"/>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C3AA1BF8-A7EC-3471-443A-69D95C399B5F}"/>
              </a:ext>
            </a:extLst>
          </p:cNvPr>
          <p:cNvSpPr txBox="1"/>
          <p:nvPr/>
        </p:nvSpPr>
        <p:spPr>
          <a:xfrm>
            <a:off x="512079" y="892755"/>
            <a:ext cx="7196201"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 </a:t>
            </a:r>
            <a:r>
              <a:rPr lang="fr-FR" sz="2800">
                <a:ln w="38100">
                  <a:solidFill>
                    <a:schemeClr val="tx1"/>
                  </a:solidFill>
                </a:ln>
                <a:latin typeface="Avenir LT 35 Light" panose="02000503030000020003" pitchFamily="2" charset="0"/>
              </a:rPr>
              <a:t>— une solution BYCN</a:t>
            </a:r>
            <a:endParaRPr lang="fr-FR" sz="4000">
              <a:ln w="38100">
                <a:solidFill>
                  <a:schemeClr val="tx1"/>
                </a:solidFill>
              </a:ln>
              <a:latin typeface="Avenir LT 35 Light" panose="02000503030000020003" pitchFamily="2" charset="0"/>
            </a:endParaRPr>
          </a:p>
        </p:txBody>
      </p:sp>
      <p:sp>
        <p:nvSpPr>
          <p:cNvPr id="12" name="ZoneTexte 11">
            <a:extLst>
              <a:ext uri="{FF2B5EF4-FFF2-40B4-BE49-F238E27FC236}">
                <a16:creationId xmlns:a16="http://schemas.microsoft.com/office/drawing/2014/main" id="{9B533541-05F6-E205-CE67-5D82B9E03A82}"/>
              </a:ext>
            </a:extLst>
          </p:cNvPr>
          <p:cNvSpPr txBox="1"/>
          <p:nvPr/>
        </p:nvSpPr>
        <p:spPr>
          <a:xfrm>
            <a:off x="547203" y="1450808"/>
            <a:ext cx="5575565" cy="338554"/>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Ne fait pas partie de la spécification « API-l</a:t>
            </a:r>
            <a:r>
              <a:rPr lang="en-US" sz="1600" i="1">
                <a:ln w="19050">
                  <a:solidFill>
                    <a:schemeClr val="tx1"/>
                  </a:solidFill>
                </a:ln>
                <a:latin typeface="Avenir LT 35 Light" panose="02000503030000020003" pitchFamily="2" charset="0"/>
              </a:rPr>
              <a:t>ed</a:t>
            </a:r>
            <a:r>
              <a:rPr lang="fr-FR" sz="1600" i="1">
                <a:ln w="19050">
                  <a:solidFill>
                    <a:schemeClr val="tx1"/>
                  </a:solidFill>
                </a:ln>
                <a:latin typeface="Avenir LT 35 Light" panose="02000503030000020003" pitchFamily="2" charset="0"/>
              </a:rPr>
              <a:t> </a:t>
            </a:r>
            <a:r>
              <a:rPr lang="en-US" sz="1600" i="1">
                <a:ln w="19050">
                  <a:solidFill>
                    <a:schemeClr val="tx1"/>
                  </a:solidFill>
                </a:ln>
                <a:latin typeface="Avenir LT 35 Light" panose="02000503030000020003" pitchFamily="2" charset="0"/>
              </a:rPr>
              <a:t>connectivity</a:t>
            </a:r>
            <a:r>
              <a:rPr lang="fr-FR" sz="1600" i="1">
                <a:ln w="19050">
                  <a:solidFill>
                    <a:schemeClr val="tx1"/>
                  </a:solidFill>
                </a:ln>
                <a:latin typeface="Avenir LT 35 Light" panose="02000503030000020003" pitchFamily="2" charset="0"/>
              </a:rPr>
              <a:t> »</a:t>
            </a:r>
          </a:p>
        </p:txBody>
      </p:sp>
      <p:sp>
        <p:nvSpPr>
          <p:cNvPr id="5" name="ZoneTexte 4">
            <a:extLst>
              <a:ext uri="{FF2B5EF4-FFF2-40B4-BE49-F238E27FC236}">
                <a16:creationId xmlns:a16="http://schemas.microsoft.com/office/drawing/2014/main" id="{016E1F05-33AC-ED5C-109C-14B916AE6DEA}"/>
              </a:ext>
            </a:extLst>
          </p:cNvPr>
          <p:cNvSpPr txBox="1"/>
          <p:nvPr/>
        </p:nvSpPr>
        <p:spPr>
          <a:xfrm>
            <a:off x="6624735" y="2130367"/>
            <a:ext cx="5260120" cy="923843"/>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3"/>
              </a:buBlip>
            </a:pPr>
            <a:r>
              <a:rPr lang="fr-FR">
                <a:ln w="19050">
                  <a:solidFill>
                    <a:srgbClr val="102031">
                      <a:alpha val="60000"/>
                    </a:srgbClr>
                  </a:solidFill>
                </a:ln>
              </a:rPr>
              <a:t>Comment identifier la règle qui implique la création et l’implémentation d’une Flow API ?</a:t>
            </a:r>
          </a:p>
          <a:p>
            <a:pPr marL="285750" indent="-285750">
              <a:buBlip>
                <a:blip r:embed="rId3"/>
              </a:buBlip>
            </a:pPr>
            <a:r>
              <a:rPr lang="fr-FR">
                <a:ln w="19050">
                  <a:solidFill>
                    <a:srgbClr val="102031">
                      <a:alpha val="60000"/>
                    </a:srgbClr>
                  </a:solidFill>
                </a:ln>
              </a:rPr>
              <a:t>Une Flow API peut-elle assurer plusieurs flux entre 2 domaines ?</a:t>
            </a:r>
          </a:p>
          <a:p>
            <a:pPr marL="285750" indent="-285750">
              <a:buBlip>
                <a:blip r:embed="rId3"/>
              </a:buBlip>
            </a:pPr>
            <a:r>
              <a:rPr lang="fr-FR">
                <a:ln w="19050">
                  <a:solidFill>
                    <a:srgbClr val="102031">
                      <a:alpha val="60000"/>
                    </a:srgbClr>
                  </a:solidFill>
                </a:ln>
              </a:rPr>
              <a:t>Une Flow API peut-assurer un flux entre plus de deux domaines ?</a:t>
            </a:r>
            <a:endParaRPr lang="fr-FR"/>
          </a:p>
        </p:txBody>
      </p:sp>
      <p:sp>
        <p:nvSpPr>
          <p:cNvPr id="8" name="ZoneTexte 7">
            <a:extLst>
              <a:ext uri="{FF2B5EF4-FFF2-40B4-BE49-F238E27FC236}">
                <a16:creationId xmlns:a16="http://schemas.microsoft.com/office/drawing/2014/main" id="{654E27D1-BAEE-BBA8-0B47-26BDAAB5DCAB}"/>
              </a:ext>
            </a:extLst>
          </p:cNvPr>
          <p:cNvSpPr txBox="1"/>
          <p:nvPr/>
        </p:nvSpPr>
        <p:spPr>
          <a:xfrm>
            <a:off x="6617063" y="1668702"/>
            <a:ext cx="4596130" cy="461665"/>
          </a:xfrm>
          <a:prstGeom prst="rect">
            <a:avLst/>
          </a:prstGeom>
          <a:noFill/>
        </p:spPr>
        <p:txBody>
          <a:bodyPr wrap="none" rtlCol="0">
            <a:spAutoFit/>
          </a:bodyPr>
          <a:lstStyle/>
          <a:p>
            <a:r>
              <a:rPr lang="fr-FR" sz="2400" i="1">
                <a:ln w="19050">
                  <a:solidFill>
                    <a:schemeClr val="tx1"/>
                  </a:solidFill>
                </a:ln>
                <a:latin typeface="Avenir LT 35 Light" panose="02000503030000020003" pitchFamily="2" charset="0"/>
              </a:rPr>
              <a:t>Questionnements &amp; Complexité</a:t>
            </a:r>
          </a:p>
        </p:txBody>
      </p:sp>
      <p:cxnSp>
        <p:nvCxnSpPr>
          <p:cNvPr id="13" name="Connecteur droit 12">
            <a:extLst>
              <a:ext uri="{FF2B5EF4-FFF2-40B4-BE49-F238E27FC236}">
                <a16:creationId xmlns:a16="http://schemas.microsoft.com/office/drawing/2014/main" id="{5A805700-F98A-B954-257F-54022A1FBAA2}"/>
              </a:ext>
            </a:extLst>
          </p:cNvPr>
          <p:cNvCxnSpPr/>
          <p:nvPr/>
        </p:nvCxnSpPr>
        <p:spPr>
          <a:xfrm>
            <a:off x="7345981" y="2011188"/>
            <a:ext cx="3817628" cy="0"/>
          </a:xfrm>
          <a:prstGeom prst="line">
            <a:avLst/>
          </a:prstGeom>
          <a:ln w="203200" cap="rnd">
            <a:solidFill>
              <a:srgbClr val="102031">
                <a:alpha val="20000"/>
              </a:srgbClr>
            </a:solidFill>
          </a:ln>
        </p:spPr>
        <p:style>
          <a:lnRef idx="1">
            <a:schemeClr val="accent1"/>
          </a:lnRef>
          <a:fillRef idx="0">
            <a:schemeClr val="accent1"/>
          </a:fillRef>
          <a:effectRef idx="0">
            <a:schemeClr val="accent1"/>
          </a:effectRef>
          <a:fontRef idx="minor">
            <a:schemeClr val="tx1"/>
          </a:fontRef>
        </p:style>
      </p:cxnSp>
      <p:pic>
        <p:nvPicPr>
          <p:cNvPr id="19" name="Image 18" descr="Une image contenant capture d’écran, texte&#10;&#10;Description générée automatiquement">
            <a:extLst>
              <a:ext uri="{FF2B5EF4-FFF2-40B4-BE49-F238E27FC236}">
                <a16:creationId xmlns:a16="http://schemas.microsoft.com/office/drawing/2014/main" id="{7AB0EB4F-0958-10A8-F07F-96567AF03DCE}"/>
              </a:ext>
            </a:extLst>
          </p:cNvPr>
          <p:cNvPicPr>
            <a:picLocks noChangeAspect="1"/>
          </p:cNvPicPr>
          <p:nvPr/>
        </p:nvPicPr>
        <p:blipFill>
          <a:blip r:embed="rId4"/>
          <a:stretch>
            <a:fillRect/>
          </a:stretch>
        </p:blipFill>
        <p:spPr>
          <a:xfrm>
            <a:off x="340797" y="1820454"/>
            <a:ext cx="7659169" cy="4725059"/>
          </a:xfrm>
          <a:prstGeom prst="rect">
            <a:avLst/>
          </a:prstGeom>
        </p:spPr>
      </p:pic>
    </p:spTree>
    <p:extLst>
      <p:ext uri="{BB962C8B-B14F-4D97-AF65-F5344CB8AC3E}">
        <p14:creationId xmlns:p14="http://schemas.microsoft.com/office/powerpoint/2010/main" val="1736783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79B5-BE02-2646-6FCD-25CE2BAE807E}"/>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897386-8DD3-55DF-B20D-D01025F31641}"/>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505A2BB-A7CF-7C8C-CFD0-CFF98DE3ECF8}"/>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6FE3BF6A-9EF9-AB2C-CEC0-B6C2FB1A4BBA}"/>
              </a:ext>
            </a:extLst>
          </p:cNvPr>
          <p:cNvSpPr>
            <a:spLocks noGrp="1"/>
          </p:cNvSpPr>
          <p:nvPr>
            <p:ph type="sldNum" sz="quarter" idx="12"/>
          </p:nvPr>
        </p:nvSpPr>
        <p:spPr/>
        <p:txBody>
          <a:bodyPr/>
          <a:lstStyle/>
          <a:p>
            <a:fld id="{CD166EB1-B284-8541-B839-321F682B6B05}" type="slidenum">
              <a:rPr lang="fr-FR" smtClean="0"/>
              <a:pPr/>
              <a:t>28</a:t>
            </a:fld>
            <a:endParaRPr lang="fr-FR"/>
          </a:p>
        </p:txBody>
      </p:sp>
      <p:sp>
        <p:nvSpPr>
          <p:cNvPr id="6" name="Espace réservé du texte 5">
            <a:extLst>
              <a:ext uri="{FF2B5EF4-FFF2-40B4-BE49-F238E27FC236}">
                <a16:creationId xmlns:a16="http://schemas.microsoft.com/office/drawing/2014/main" id="{0F243DD3-7800-71E1-3CC4-F752FA7145C9}"/>
              </a:ext>
            </a:extLst>
          </p:cNvPr>
          <p:cNvSpPr>
            <a:spLocks noGrp="1"/>
          </p:cNvSpPr>
          <p:nvPr>
            <p:ph type="body" sz="quarter" idx="19"/>
          </p:nvPr>
        </p:nvSpPr>
        <p:spPr/>
        <p:txBody>
          <a:bodyPr/>
          <a:lstStyle/>
          <a:p>
            <a:r>
              <a:rPr lang="fr-FR">
                <a:ln w="19050">
                  <a:solidFill>
                    <a:schemeClr val="bg1"/>
                  </a:solidFill>
                </a:ln>
              </a:rPr>
              <a:t>La Flow API : Un nœud à l’extérieur du maillage ?</a:t>
            </a:r>
          </a:p>
        </p:txBody>
      </p:sp>
      <p:sp>
        <p:nvSpPr>
          <p:cNvPr id="7" name="Espace réservé du texte 6">
            <a:extLst>
              <a:ext uri="{FF2B5EF4-FFF2-40B4-BE49-F238E27FC236}">
                <a16:creationId xmlns:a16="http://schemas.microsoft.com/office/drawing/2014/main" id="{C874620A-4FD9-CE3D-2AA6-C65F9F61A504}"/>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97B75B7F-DDBD-716E-6E54-E75B0BDB0CC2}"/>
              </a:ext>
            </a:extLst>
          </p:cNvPr>
          <p:cNvSpPr txBox="1"/>
          <p:nvPr/>
        </p:nvSpPr>
        <p:spPr>
          <a:xfrm>
            <a:off x="512079" y="892755"/>
            <a:ext cx="7196201"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 </a:t>
            </a:r>
            <a:r>
              <a:rPr lang="fr-FR" sz="2800">
                <a:ln w="38100">
                  <a:solidFill>
                    <a:schemeClr val="tx1"/>
                  </a:solidFill>
                </a:ln>
                <a:latin typeface="Avenir LT 35 Light" panose="02000503030000020003" pitchFamily="2" charset="0"/>
              </a:rPr>
              <a:t>— une solution BYCN</a:t>
            </a:r>
            <a:endParaRPr lang="fr-FR" sz="4000">
              <a:ln w="38100">
                <a:solidFill>
                  <a:schemeClr val="tx1"/>
                </a:solidFill>
              </a:ln>
              <a:latin typeface="Avenir LT 35 Light" panose="02000503030000020003" pitchFamily="2" charset="0"/>
            </a:endParaRPr>
          </a:p>
        </p:txBody>
      </p:sp>
      <p:sp>
        <p:nvSpPr>
          <p:cNvPr id="12" name="ZoneTexte 11">
            <a:extLst>
              <a:ext uri="{FF2B5EF4-FFF2-40B4-BE49-F238E27FC236}">
                <a16:creationId xmlns:a16="http://schemas.microsoft.com/office/drawing/2014/main" id="{CD4D93E6-B8E9-92F8-11CA-A3B620146D86}"/>
              </a:ext>
            </a:extLst>
          </p:cNvPr>
          <p:cNvSpPr txBox="1"/>
          <p:nvPr/>
        </p:nvSpPr>
        <p:spPr>
          <a:xfrm>
            <a:off x="547203" y="1450808"/>
            <a:ext cx="5575565" cy="338554"/>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Ne fait pas partie de la spécification « API-l</a:t>
            </a:r>
            <a:r>
              <a:rPr lang="en-US" sz="1600" i="1">
                <a:ln w="19050">
                  <a:solidFill>
                    <a:schemeClr val="tx1"/>
                  </a:solidFill>
                </a:ln>
                <a:latin typeface="Avenir LT 35 Light" panose="02000503030000020003" pitchFamily="2" charset="0"/>
              </a:rPr>
              <a:t>ed</a:t>
            </a:r>
            <a:r>
              <a:rPr lang="fr-FR" sz="1600" i="1">
                <a:ln w="19050">
                  <a:solidFill>
                    <a:schemeClr val="tx1"/>
                  </a:solidFill>
                </a:ln>
                <a:latin typeface="Avenir LT 35 Light" panose="02000503030000020003" pitchFamily="2" charset="0"/>
              </a:rPr>
              <a:t> </a:t>
            </a:r>
            <a:r>
              <a:rPr lang="en-US" sz="1600" i="1">
                <a:ln w="19050">
                  <a:solidFill>
                    <a:schemeClr val="tx1"/>
                  </a:solidFill>
                </a:ln>
                <a:latin typeface="Avenir LT 35 Light" panose="02000503030000020003" pitchFamily="2" charset="0"/>
              </a:rPr>
              <a:t>connectivity</a:t>
            </a:r>
            <a:r>
              <a:rPr lang="fr-FR" sz="1600" i="1">
                <a:ln w="19050">
                  <a:solidFill>
                    <a:schemeClr val="tx1"/>
                  </a:solidFill>
                </a:ln>
                <a:latin typeface="Avenir LT 35 Light" panose="02000503030000020003" pitchFamily="2" charset="0"/>
              </a:rPr>
              <a:t> »</a:t>
            </a:r>
          </a:p>
        </p:txBody>
      </p:sp>
      <p:pic>
        <p:nvPicPr>
          <p:cNvPr id="17" name="Image 16" descr="Une image contenant capture d’écran&#10;&#10;Description générée automatiquement">
            <a:extLst>
              <a:ext uri="{FF2B5EF4-FFF2-40B4-BE49-F238E27FC236}">
                <a16:creationId xmlns:a16="http://schemas.microsoft.com/office/drawing/2014/main" id="{943CB61E-B608-CE54-04DF-B0BB3FB74E98}"/>
              </a:ext>
            </a:extLst>
          </p:cNvPr>
          <p:cNvPicPr>
            <a:picLocks noChangeAspect="1"/>
          </p:cNvPicPr>
          <p:nvPr/>
        </p:nvPicPr>
        <p:blipFill>
          <a:blip r:embed="rId3"/>
          <a:stretch>
            <a:fillRect/>
          </a:stretch>
        </p:blipFill>
        <p:spPr>
          <a:xfrm>
            <a:off x="105106" y="1862510"/>
            <a:ext cx="9234838" cy="5036452"/>
          </a:xfrm>
          <a:prstGeom prst="rect">
            <a:avLst/>
          </a:prstGeom>
        </p:spPr>
      </p:pic>
    </p:spTree>
    <p:extLst>
      <p:ext uri="{BB962C8B-B14F-4D97-AF65-F5344CB8AC3E}">
        <p14:creationId xmlns:p14="http://schemas.microsoft.com/office/powerpoint/2010/main" val="3298633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03F3-DF10-B7B6-CD83-4D7250586427}"/>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52B776D-0D3C-353F-F35E-9161C976A37E}"/>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AE8F2F5C-ACB8-7884-5645-12F1BE74271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FDECFAD5-278E-E8A7-E27C-41A593795861}"/>
              </a:ext>
            </a:extLst>
          </p:cNvPr>
          <p:cNvSpPr>
            <a:spLocks noGrp="1"/>
          </p:cNvSpPr>
          <p:nvPr>
            <p:ph type="sldNum" sz="quarter" idx="12"/>
          </p:nvPr>
        </p:nvSpPr>
        <p:spPr/>
        <p:txBody>
          <a:bodyPr/>
          <a:lstStyle/>
          <a:p>
            <a:fld id="{CD166EB1-B284-8541-B839-321F682B6B05}" type="slidenum">
              <a:rPr lang="fr-FR" smtClean="0"/>
              <a:pPr/>
              <a:t>29</a:t>
            </a:fld>
            <a:endParaRPr lang="fr-FR"/>
          </a:p>
        </p:txBody>
      </p:sp>
      <p:sp>
        <p:nvSpPr>
          <p:cNvPr id="6" name="Espace réservé du texte 5">
            <a:extLst>
              <a:ext uri="{FF2B5EF4-FFF2-40B4-BE49-F238E27FC236}">
                <a16:creationId xmlns:a16="http://schemas.microsoft.com/office/drawing/2014/main" id="{EA8CD064-8522-14CE-AA9B-168AD220594B}"/>
              </a:ext>
            </a:extLst>
          </p:cNvPr>
          <p:cNvSpPr>
            <a:spLocks noGrp="1"/>
          </p:cNvSpPr>
          <p:nvPr>
            <p:ph type="body" sz="quarter" idx="19"/>
          </p:nvPr>
        </p:nvSpPr>
        <p:spPr/>
        <p:txBody>
          <a:bodyPr/>
          <a:lstStyle/>
          <a:p>
            <a:r>
              <a:rPr lang="fr-FR">
                <a:ln w="19050">
                  <a:solidFill>
                    <a:schemeClr val="bg1"/>
                  </a:solidFill>
                </a:ln>
              </a:rPr>
              <a:t>La Flow API : Un nœud à l’extérieur du maillage ?</a:t>
            </a:r>
          </a:p>
        </p:txBody>
      </p:sp>
      <p:sp>
        <p:nvSpPr>
          <p:cNvPr id="7" name="Espace réservé du texte 6">
            <a:extLst>
              <a:ext uri="{FF2B5EF4-FFF2-40B4-BE49-F238E27FC236}">
                <a16:creationId xmlns:a16="http://schemas.microsoft.com/office/drawing/2014/main" id="{3C6774A3-8BE9-0509-E4B6-E63BAFFB35CB}"/>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8C8A6E61-A8C0-8279-E97D-864D03BD2603}"/>
              </a:ext>
            </a:extLst>
          </p:cNvPr>
          <p:cNvSpPr txBox="1"/>
          <p:nvPr/>
        </p:nvSpPr>
        <p:spPr>
          <a:xfrm>
            <a:off x="512079" y="892755"/>
            <a:ext cx="7196201"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 </a:t>
            </a:r>
            <a:r>
              <a:rPr lang="fr-FR" sz="2800">
                <a:ln w="38100">
                  <a:solidFill>
                    <a:schemeClr val="tx1"/>
                  </a:solidFill>
                </a:ln>
                <a:latin typeface="Avenir LT 35 Light" panose="02000503030000020003" pitchFamily="2" charset="0"/>
              </a:rPr>
              <a:t>— une solution BYCN</a:t>
            </a:r>
            <a:endParaRPr lang="fr-FR" sz="4000">
              <a:ln w="38100">
                <a:solidFill>
                  <a:schemeClr val="tx1"/>
                </a:solidFill>
              </a:ln>
              <a:latin typeface="Avenir LT 35 Light" panose="02000503030000020003" pitchFamily="2" charset="0"/>
            </a:endParaRPr>
          </a:p>
        </p:txBody>
      </p:sp>
      <p:sp>
        <p:nvSpPr>
          <p:cNvPr id="12" name="ZoneTexte 11">
            <a:extLst>
              <a:ext uri="{FF2B5EF4-FFF2-40B4-BE49-F238E27FC236}">
                <a16:creationId xmlns:a16="http://schemas.microsoft.com/office/drawing/2014/main" id="{346842A9-90B1-F723-0318-878DF8E0E53A}"/>
              </a:ext>
            </a:extLst>
          </p:cNvPr>
          <p:cNvSpPr txBox="1"/>
          <p:nvPr/>
        </p:nvSpPr>
        <p:spPr>
          <a:xfrm>
            <a:off x="547203" y="1450808"/>
            <a:ext cx="5575565" cy="338554"/>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Ne fait pas partie de la spécification « API-l</a:t>
            </a:r>
            <a:r>
              <a:rPr lang="en-US" sz="1600" i="1">
                <a:ln w="19050">
                  <a:solidFill>
                    <a:schemeClr val="tx1"/>
                  </a:solidFill>
                </a:ln>
                <a:latin typeface="Avenir LT 35 Light" panose="02000503030000020003" pitchFamily="2" charset="0"/>
              </a:rPr>
              <a:t>ed</a:t>
            </a:r>
            <a:r>
              <a:rPr lang="fr-FR" sz="1600" i="1">
                <a:ln w="19050">
                  <a:solidFill>
                    <a:schemeClr val="tx1"/>
                  </a:solidFill>
                </a:ln>
                <a:latin typeface="Avenir LT 35 Light" panose="02000503030000020003" pitchFamily="2" charset="0"/>
              </a:rPr>
              <a:t> </a:t>
            </a:r>
            <a:r>
              <a:rPr lang="en-US" sz="1600" i="1">
                <a:ln w="19050">
                  <a:solidFill>
                    <a:schemeClr val="tx1"/>
                  </a:solidFill>
                </a:ln>
                <a:latin typeface="Avenir LT 35 Light" panose="02000503030000020003" pitchFamily="2" charset="0"/>
              </a:rPr>
              <a:t>connectivity</a:t>
            </a:r>
            <a:r>
              <a:rPr lang="fr-FR" sz="1600" i="1">
                <a:ln w="19050">
                  <a:solidFill>
                    <a:schemeClr val="tx1"/>
                  </a:solidFill>
                </a:ln>
                <a:latin typeface="Avenir LT 35 Light" panose="02000503030000020003" pitchFamily="2" charset="0"/>
              </a:rPr>
              <a:t> »</a:t>
            </a:r>
          </a:p>
        </p:txBody>
      </p:sp>
      <p:pic>
        <p:nvPicPr>
          <p:cNvPr id="16" name="Image 15" descr="Une image contenant diagramme, Plan, texte, Dessin technique&#10;&#10;Description générée automatiquement">
            <a:extLst>
              <a:ext uri="{FF2B5EF4-FFF2-40B4-BE49-F238E27FC236}">
                <a16:creationId xmlns:a16="http://schemas.microsoft.com/office/drawing/2014/main" id="{99E63537-5CC5-2EFE-067C-18D3EF333AAC}"/>
              </a:ext>
            </a:extLst>
          </p:cNvPr>
          <p:cNvPicPr>
            <a:picLocks noChangeAspect="1"/>
          </p:cNvPicPr>
          <p:nvPr/>
        </p:nvPicPr>
        <p:blipFill>
          <a:blip r:embed="rId3"/>
          <a:stretch>
            <a:fillRect/>
          </a:stretch>
        </p:blipFill>
        <p:spPr>
          <a:xfrm>
            <a:off x="146222" y="1789362"/>
            <a:ext cx="8794770" cy="5068637"/>
          </a:xfrm>
          <a:prstGeom prst="rect">
            <a:avLst/>
          </a:prstGeom>
        </p:spPr>
      </p:pic>
      <p:sp>
        <p:nvSpPr>
          <p:cNvPr id="18" name="ZoneTexte 17">
            <a:extLst>
              <a:ext uri="{FF2B5EF4-FFF2-40B4-BE49-F238E27FC236}">
                <a16:creationId xmlns:a16="http://schemas.microsoft.com/office/drawing/2014/main" id="{379B0493-BC54-AFD6-454A-307ECEA0E7C1}"/>
              </a:ext>
            </a:extLst>
          </p:cNvPr>
          <p:cNvSpPr txBox="1"/>
          <p:nvPr/>
        </p:nvSpPr>
        <p:spPr>
          <a:xfrm>
            <a:off x="6523749" y="1728773"/>
            <a:ext cx="5260120" cy="1091902"/>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4"/>
              </a:buBlip>
            </a:pPr>
            <a:r>
              <a:rPr lang="fr-FR">
                <a:ln w="19050">
                  <a:solidFill>
                    <a:srgbClr val="102031">
                      <a:alpha val="60000"/>
                    </a:srgbClr>
                  </a:solidFill>
                </a:ln>
              </a:rPr>
              <a:t>Chaque composant du modèle est bien implémenté, en réalité, dans l’environnement CloudHub de MuleSoft.</a:t>
            </a:r>
          </a:p>
          <a:p>
            <a:pPr marL="285750" indent="-285750">
              <a:buBlip>
                <a:blip r:embed="rId4"/>
              </a:buBlip>
            </a:pPr>
            <a:r>
              <a:rPr lang="fr-FR">
                <a:ln w="19050">
                  <a:solidFill>
                    <a:srgbClr val="102031">
                      <a:alpha val="60000"/>
                    </a:srgbClr>
                  </a:solidFill>
                </a:ln>
              </a:rPr>
              <a:t>On ne précise pas, sur ce schéma, comment les applications du domaine sont déployées : </a:t>
            </a:r>
            <a:r>
              <a:rPr lang="en-US">
                <a:ln w="19050">
                  <a:solidFill>
                    <a:srgbClr val="102031">
                      <a:alpha val="60000"/>
                    </a:srgbClr>
                  </a:solidFill>
                </a:ln>
              </a:rPr>
              <a:t>On-premise</a:t>
            </a:r>
            <a:r>
              <a:rPr lang="fr-FR">
                <a:ln w="19050">
                  <a:solidFill>
                    <a:srgbClr val="102031">
                      <a:alpha val="60000"/>
                    </a:srgbClr>
                  </a:solidFill>
                </a:ln>
              </a:rPr>
              <a:t>, SaaS, LZA.</a:t>
            </a:r>
          </a:p>
          <a:p>
            <a:pPr marL="285750" indent="-285750">
              <a:buBlip>
                <a:blip r:embed="rId4"/>
              </a:buBlip>
            </a:pPr>
            <a:r>
              <a:rPr lang="fr-FR">
                <a:ln w="19050">
                  <a:solidFill>
                    <a:srgbClr val="102031">
                      <a:alpha val="60000"/>
                    </a:srgbClr>
                  </a:solidFill>
                </a:ln>
              </a:rPr>
              <a:t>La question de la gouvernance se pose déjà.</a:t>
            </a:r>
          </a:p>
        </p:txBody>
      </p:sp>
    </p:spTree>
    <p:extLst>
      <p:ext uri="{BB962C8B-B14F-4D97-AF65-F5344CB8AC3E}">
        <p14:creationId xmlns:p14="http://schemas.microsoft.com/office/powerpoint/2010/main" val="2795333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1281-CE88-196E-E2E7-CA21E29945BF}"/>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AA6F6AC-F242-4CFC-472E-88478069A989}"/>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F44122DC-F36A-8FBD-ED84-DBC38F8EF551}"/>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98C28FF8-306F-0682-6670-72FD2FC96CE3}"/>
              </a:ext>
            </a:extLst>
          </p:cNvPr>
          <p:cNvSpPr>
            <a:spLocks noGrp="1"/>
          </p:cNvSpPr>
          <p:nvPr>
            <p:ph type="sldNum" sz="quarter" idx="12"/>
          </p:nvPr>
        </p:nvSpPr>
        <p:spPr/>
        <p:txBody>
          <a:bodyPr/>
          <a:lstStyle/>
          <a:p>
            <a:fld id="{CD166EB1-B284-8541-B839-321F682B6B05}" type="slidenum">
              <a:rPr lang="fr-FR" smtClean="0"/>
              <a:pPr/>
              <a:t>30</a:t>
            </a:fld>
            <a:endParaRPr lang="fr-FR"/>
          </a:p>
        </p:txBody>
      </p:sp>
      <p:sp>
        <p:nvSpPr>
          <p:cNvPr id="6" name="Espace réservé du texte 5">
            <a:extLst>
              <a:ext uri="{FF2B5EF4-FFF2-40B4-BE49-F238E27FC236}">
                <a16:creationId xmlns:a16="http://schemas.microsoft.com/office/drawing/2014/main" id="{19B5EDE6-75BE-4B13-6275-50BD8C20E07F}"/>
              </a:ext>
            </a:extLst>
          </p:cNvPr>
          <p:cNvSpPr>
            <a:spLocks noGrp="1"/>
          </p:cNvSpPr>
          <p:nvPr>
            <p:ph type="body" sz="quarter" idx="19"/>
          </p:nvPr>
        </p:nvSpPr>
        <p:spPr/>
        <p:txBody>
          <a:bodyPr/>
          <a:lstStyle/>
          <a:p>
            <a:r>
              <a:rPr lang="fr-FR">
                <a:ln w="19050">
                  <a:solidFill>
                    <a:schemeClr val="bg1"/>
                  </a:solidFill>
                </a:ln>
              </a:rPr>
              <a:t>La Flow API : R&amp;R !</a:t>
            </a:r>
          </a:p>
        </p:txBody>
      </p:sp>
      <p:sp>
        <p:nvSpPr>
          <p:cNvPr id="7" name="Espace réservé du texte 6">
            <a:extLst>
              <a:ext uri="{FF2B5EF4-FFF2-40B4-BE49-F238E27FC236}">
                <a16:creationId xmlns:a16="http://schemas.microsoft.com/office/drawing/2014/main" id="{A41D3288-D76D-A064-710B-80F5F7837402}"/>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C6157B4E-D91B-91EF-9C7F-B840BFC429F5}"/>
              </a:ext>
            </a:extLst>
          </p:cNvPr>
          <p:cNvSpPr txBox="1"/>
          <p:nvPr/>
        </p:nvSpPr>
        <p:spPr>
          <a:xfrm>
            <a:off x="512079" y="892755"/>
            <a:ext cx="7196201"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 </a:t>
            </a:r>
            <a:r>
              <a:rPr lang="fr-FR" sz="2800">
                <a:ln w="38100">
                  <a:solidFill>
                    <a:schemeClr val="tx1"/>
                  </a:solidFill>
                </a:ln>
                <a:latin typeface="Avenir LT 35 Light" panose="02000503030000020003" pitchFamily="2" charset="0"/>
              </a:rPr>
              <a:t>— une solution BYCN</a:t>
            </a:r>
            <a:endParaRPr lang="fr-FR" sz="4000">
              <a:ln w="38100">
                <a:solidFill>
                  <a:schemeClr val="tx1"/>
                </a:solidFill>
              </a:ln>
              <a:latin typeface="Avenir LT 35 Light" panose="02000503030000020003" pitchFamily="2" charset="0"/>
            </a:endParaRPr>
          </a:p>
        </p:txBody>
      </p:sp>
      <p:sp>
        <p:nvSpPr>
          <p:cNvPr id="12" name="ZoneTexte 11">
            <a:extLst>
              <a:ext uri="{FF2B5EF4-FFF2-40B4-BE49-F238E27FC236}">
                <a16:creationId xmlns:a16="http://schemas.microsoft.com/office/drawing/2014/main" id="{8F5CCCD1-0598-1BEE-2995-60477FF1D107}"/>
              </a:ext>
            </a:extLst>
          </p:cNvPr>
          <p:cNvSpPr txBox="1"/>
          <p:nvPr/>
        </p:nvSpPr>
        <p:spPr>
          <a:xfrm>
            <a:off x="547203" y="1450808"/>
            <a:ext cx="5575565" cy="338554"/>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Ne fait pas partie de la spécification « API-l</a:t>
            </a:r>
            <a:r>
              <a:rPr lang="en-US" sz="1600" i="1">
                <a:ln w="19050">
                  <a:solidFill>
                    <a:schemeClr val="tx1"/>
                  </a:solidFill>
                </a:ln>
                <a:latin typeface="Avenir LT 35 Light" panose="02000503030000020003" pitchFamily="2" charset="0"/>
              </a:rPr>
              <a:t>ed</a:t>
            </a:r>
            <a:r>
              <a:rPr lang="fr-FR" sz="1600" i="1">
                <a:ln w="19050">
                  <a:solidFill>
                    <a:schemeClr val="tx1"/>
                  </a:solidFill>
                </a:ln>
                <a:latin typeface="Avenir LT 35 Light" panose="02000503030000020003" pitchFamily="2" charset="0"/>
              </a:rPr>
              <a:t> </a:t>
            </a:r>
            <a:r>
              <a:rPr lang="en-US" sz="1600" i="1">
                <a:ln w="19050">
                  <a:solidFill>
                    <a:schemeClr val="tx1"/>
                  </a:solidFill>
                </a:ln>
                <a:latin typeface="Avenir LT 35 Light" panose="02000503030000020003" pitchFamily="2" charset="0"/>
              </a:rPr>
              <a:t>connectivity</a:t>
            </a:r>
            <a:r>
              <a:rPr lang="fr-FR" sz="1600" i="1">
                <a:ln w="19050">
                  <a:solidFill>
                    <a:schemeClr val="tx1"/>
                  </a:solidFill>
                </a:ln>
                <a:latin typeface="Avenir LT 35 Light" panose="02000503030000020003" pitchFamily="2" charset="0"/>
              </a:rPr>
              <a:t> »</a:t>
            </a:r>
          </a:p>
        </p:txBody>
      </p:sp>
      <p:sp>
        <p:nvSpPr>
          <p:cNvPr id="9" name="ZoneTexte 8">
            <a:extLst>
              <a:ext uri="{FF2B5EF4-FFF2-40B4-BE49-F238E27FC236}">
                <a16:creationId xmlns:a16="http://schemas.microsoft.com/office/drawing/2014/main" id="{290EC49D-A08D-F5B1-64CD-A703D67CBC4F}"/>
              </a:ext>
            </a:extLst>
          </p:cNvPr>
          <p:cNvSpPr txBox="1"/>
          <p:nvPr/>
        </p:nvSpPr>
        <p:spPr>
          <a:xfrm>
            <a:off x="8433485" y="1728773"/>
            <a:ext cx="3350383" cy="1619161"/>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4"/>
              </a:buBlip>
            </a:pPr>
            <a:r>
              <a:rPr lang="fr-FR" sz="1200">
                <a:ln w="6350">
                  <a:solidFill>
                    <a:srgbClr val="102031">
                      <a:alpha val="60000"/>
                    </a:srgbClr>
                  </a:solidFill>
                </a:ln>
              </a:rPr>
              <a:t>Chaque appel d’API est authentifié. </a:t>
            </a:r>
            <a:r>
              <a:rPr lang="fr-FR">
                <a:ln w="9525">
                  <a:solidFill>
                    <a:srgbClr val="102031">
                      <a:alpha val="60000"/>
                    </a:srgbClr>
                  </a:solidFill>
                </a:ln>
              </a:rPr>
              <a:t>Sécuriser les flux est bien une fonction applicative d’une couche de médiation</a:t>
            </a:r>
            <a:r>
              <a:rPr lang="fr-FR" sz="1200">
                <a:ln w="6350">
                  <a:solidFill>
                    <a:srgbClr val="102031">
                      <a:alpha val="60000"/>
                    </a:srgbClr>
                  </a:solidFill>
                </a:ln>
              </a:rPr>
              <a:t>. </a:t>
            </a:r>
          </a:p>
          <a:p>
            <a:pPr marL="285750" indent="-285750">
              <a:buBlip>
                <a:blip r:embed="rId4"/>
              </a:buBlip>
            </a:pPr>
            <a:r>
              <a:rPr lang="fr-FR" sz="1200">
                <a:ln w="6350">
                  <a:solidFill>
                    <a:srgbClr val="102031">
                      <a:alpha val="60000"/>
                    </a:srgbClr>
                  </a:solidFill>
                </a:ln>
              </a:rPr>
              <a:t>En revanche, la multiplication des configurations associées au nombre de d’API de type « Flow » devrait être rationnalisé. </a:t>
            </a:r>
          </a:p>
          <a:p>
            <a:pPr marL="285750" indent="-285750">
              <a:buBlip>
                <a:blip r:embed="rId4"/>
              </a:buBlip>
            </a:pPr>
            <a:r>
              <a:rPr lang="fr-FR" sz="1200">
                <a:ln w="6350">
                  <a:solidFill>
                    <a:srgbClr val="102031">
                      <a:alpha val="60000"/>
                    </a:srgbClr>
                  </a:solidFill>
                </a:ln>
              </a:rPr>
              <a:t>Il est donc recommandé de faire des choix qui ne seront pas au détriment de la performance : mutualisation, usage de cache distribué, etc. </a:t>
            </a:r>
          </a:p>
        </p:txBody>
      </p:sp>
      <p:sp>
        <p:nvSpPr>
          <p:cNvPr id="11" name="ZoneTexte 10">
            <a:extLst>
              <a:ext uri="{FF2B5EF4-FFF2-40B4-BE49-F238E27FC236}">
                <a16:creationId xmlns:a16="http://schemas.microsoft.com/office/drawing/2014/main" id="{F684BC56-CEA3-A8A7-5D76-F490BB9555E1}"/>
              </a:ext>
            </a:extLst>
          </p:cNvPr>
          <p:cNvSpPr txBox="1"/>
          <p:nvPr/>
        </p:nvSpPr>
        <p:spPr>
          <a:xfrm>
            <a:off x="8433485" y="4429236"/>
            <a:ext cx="3350383" cy="1615058"/>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buBlip>
                <a:blip r:embed="rId4"/>
              </a:buBlip>
            </a:pPr>
            <a:r>
              <a:rPr lang="fr-FR" sz="1200">
                <a:ln w="6350">
                  <a:solidFill>
                    <a:srgbClr val="102031">
                      <a:alpha val="60000"/>
                    </a:srgbClr>
                  </a:solidFill>
                </a:ln>
              </a:rPr>
              <a:t>Les API de type « Flow »,dans le contexte de BYCN, sont amenées à enrichir les flots de données avec de la donnée du référentiel.</a:t>
            </a:r>
          </a:p>
          <a:p>
            <a:pPr marL="285750" indent="-285750">
              <a:buBlip>
                <a:blip r:embed="rId4"/>
              </a:buBlip>
            </a:pPr>
            <a:r>
              <a:rPr lang="fr-FR">
                <a:ln w="19050">
                  <a:solidFill>
                    <a:srgbClr val="102031">
                      <a:alpha val="60000"/>
                    </a:srgbClr>
                  </a:solidFill>
                </a:ln>
              </a:rPr>
              <a:t>Cet aspect de l’usage de la médiation est questionné puisque l’enrichissement de données dépasse le cadre des fonctions de routage, d’orchestration, de transcodage (etc.) et peut être assimilé à un enrichissement métier.</a:t>
            </a:r>
            <a:r>
              <a:rPr lang="fr-FR" sz="1200">
                <a:ln w="6350">
                  <a:solidFill>
                    <a:srgbClr val="102031">
                      <a:alpha val="60000"/>
                    </a:srgbClr>
                  </a:solidFill>
                </a:ln>
              </a:rPr>
              <a:t> </a:t>
            </a:r>
          </a:p>
        </p:txBody>
      </p:sp>
      <p:sp>
        <p:nvSpPr>
          <p:cNvPr id="13" name="ZoneTexte 12">
            <a:extLst>
              <a:ext uri="{FF2B5EF4-FFF2-40B4-BE49-F238E27FC236}">
                <a16:creationId xmlns:a16="http://schemas.microsoft.com/office/drawing/2014/main" id="{5331A163-2962-843E-8A55-F49F989024FE}"/>
              </a:ext>
            </a:extLst>
          </p:cNvPr>
          <p:cNvSpPr txBox="1"/>
          <p:nvPr/>
        </p:nvSpPr>
        <p:spPr>
          <a:xfrm>
            <a:off x="8460485" y="1267108"/>
            <a:ext cx="2432076" cy="461665"/>
          </a:xfrm>
          <a:prstGeom prst="rect">
            <a:avLst/>
          </a:prstGeom>
          <a:noFill/>
        </p:spPr>
        <p:txBody>
          <a:bodyPr wrap="none" rtlCol="0">
            <a:spAutoFit/>
          </a:bodyPr>
          <a:lstStyle/>
          <a:p>
            <a:r>
              <a:rPr lang="fr-FR" sz="2400" i="1">
                <a:ln w="19050">
                  <a:solidFill>
                    <a:schemeClr val="tx1"/>
                  </a:solidFill>
                </a:ln>
                <a:latin typeface="Avenir LT 35 Light" panose="02000503030000020003" pitchFamily="2" charset="0"/>
              </a:rPr>
              <a:t>Sécurité des flux</a:t>
            </a:r>
          </a:p>
        </p:txBody>
      </p:sp>
      <p:cxnSp>
        <p:nvCxnSpPr>
          <p:cNvPr id="14" name="Connecteur droit 13">
            <a:extLst>
              <a:ext uri="{FF2B5EF4-FFF2-40B4-BE49-F238E27FC236}">
                <a16:creationId xmlns:a16="http://schemas.microsoft.com/office/drawing/2014/main" id="{99929592-C7BD-A86F-50B0-088660A95EE9}"/>
              </a:ext>
            </a:extLst>
          </p:cNvPr>
          <p:cNvCxnSpPr>
            <a:cxnSpLocks/>
          </p:cNvCxnSpPr>
          <p:nvPr/>
        </p:nvCxnSpPr>
        <p:spPr>
          <a:xfrm flipV="1">
            <a:off x="8835081" y="1618735"/>
            <a:ext cx="2069757" cy="6179"/>
          </a:xfrm>
          <a:prstGeom prst="line">
            <a:avLst/>
          </a:prstGeom>
          <a:ln w="203200" cap="rnd">
            <a:solidFill>
              <a:srgbClr val="102031">
                <a:alpha val="20000"/>
              </a:srgbClr>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1CC36305-E613-8621-A85C-EE27CB1753A2}"/>
              </a:ext>
            </a:extLst>
          </p:cNvPr>
          <p:cNvSpPr txBox="1"/>
          <p:nvPr/>
        </p:nvSpPr>
        <p:spPr>
          <a:xfrm>
            <a:off x="8545949" y="3821875"/>
            <a:ext cx="3438762" cy="461665"/>
          </a:xfrm>
          <a:prstGeom prst="rect">
            <a:avLst/>
          </a:prstGeom>
          <a:noFill/>
        </p:spPr>
        <p:txBody>
          <a:bodyPr wrap="none" rtlCol="0">
            <a:spAutoFit/>
          </a:bodyPr>
          <a:lstStyle/>
          <a:p>
            <a:r>
              <a:rPr lang="fr-FR" sz="2400" i="1">
                <a:ln w="19050">
                  <a:solidFill>
                    <a:schemeClr val="tx1"/>
                  </a:solidFill>
                </a:ln>
                <a:latin typeface="Avenir LT 35 Light" panose="02000503030000020003" pitchFamily="2" charset="0"/>
              </a:rPr>
              <a:t>Enrichissement métier ?</a:t>
            </a:r>
          </a:p>
        </p:txBody>
      </p:sp>
      <p:cxnSp>
        <p:nvCxnSpPr>
          <p:cNvPr id="20" name="Connecteur droit 19">
            <a:extLst>
              <a:ext uri="{FF2B5EF4-FFF2-40B4-BE49-F238E27FC236}">
                <a16:creationId xmlns:a16="http://schemas.microsoft.com/office/drawing/2014/main" id="{274177AD-255B-168E-4334-BBB9661A59F6}"/>
              </a:ext>
            </a:extLst>
          </p:cNvPr>
          <p:cNvCxnSpPr>
            <a:cxnSpLocks/>
          </p:cNvCxnSpPr>
          <p:nvPr/>
        </p:nvCxnSpPr>
        <p:spPr>
          <a:xfrm flipV="1">
            <a:off x="8920545" y="4173502"/>
            <a:ext cx="2069757" cy="6179"/>
          </a:xfrm>
          <a:prstGeom prst="line">
            <a:avLst/>
          </a:prstGeom>
          <a:ln w="203200" cap="rnd">
            <a:solidFill>
              <a:srgbClr val="102031">
                <a:alpha val="20000"/>
              </a:srgbClr>
            </a:solidFill>
          </a:ln>
        </p:spPr>
        <p:style>
          <a:lnRef idx="1">
            <a:schemeClr val="accent1"/>
          </a:lnRef>
          <a:fillRef idx="0">
            <a:schemeClr val="accent1"/>
          </a:fillRef>
          <a:effectRef idx="0">
            <a:schemeClr val="accent1"/>
          </a:effectRef>
          <a:fontRef idx="minor">
            <a:schemeClr val="tx1"/>
          </a:fontRef>
        </p:style>
      </p:cxnSp>
      <p:pic>
        <p:nvPicPr>
          <p:cNvPr id="15" name="Image 14" descr="Une image contenant texte, diagramme, capture d’écran, Plan&#10;&#10;Description générée automatiquement">
            <a:extLst>
              <a:ext uri="{FF2B5EF4-FFF2-40B4-BE49-F238E27FC236}">
                <a16:creationId xmlns:a16="http://schemas.microsoft.com/office/drawing/2014/main" id="{95CA2D69-4EF6-026A-1FB8-66549F4051A4}"/>
              </a:ext>
            </a:extLst>
          </p:cNvPr>
          <p:cNvPicPr>
            <a:picLocks noChangeAspect="1"/>
          </p:cNvPicPr>
          <p:nvPr/>
        </p:nvPicPr>
        <p:blipFill>
          <a:blip r:embed="rId5"/>
          <a:stretch>
            <a:fillRect/>
          </a:stretch>
        </p:blipFill>
        <p:spPr>
          <a:xfrm>
            <a:off x="241165" y="1855257"/>
            <a:ext cx="8017218" cy="4695442"/>
          </a:xfrm>
          <a:prstGeom prst="rect">
            <a:avLst/>
          </a:prstGeom>
        </p:spPr>
      </p:pic>
    </p:spTree>
    <p:extLst>
      <p:ext uri="{BB962C8B-B14F-4D97-AF65-F5344CB8AC3E}">
        <p14:creationId xmlns:p14="http://schemas.microsoft.com/office/powerpoint/2010/main" val="917245863"/>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CD7A6-8717-4B93-83B8-CAC0F2B66E72}"/>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58EF4C6-1D5A-2205-8C31-A1A7F521D187}"/>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23693F10-0AF4-F1A7-104D-F0883DBE6467}"/>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76C129FC-EAD3-2DD0-353E-7AC13359EEC0}"/>
              </a:ext>
            </a:extLst>
          </p:cNvPr>
          <p:cNvSpPr>
            <a:spLocks noGrp="1"/>
          </p:cNvSpPr>
          <p:nvPr>
            <p:ph type="sldNum" sz="quarter" idx="12"/>
          </p:nvPr>
        </p:nvSpPr>
        <p:spPr/>
        <p:txBody>
          <a:bodyPr/>
          <a:lstStyle/>
          <a:p>
            <a:fld id="{CD166EB1-B284-8541-B839-321F682B6B05}" type="slidenum">
              <a:rPr lang="fr-FR" smtClean="0"/>
              <a:pPr/>
              <a:t>31</a:t>
            </a:fld>
            <a:endParaRPr lang="fr-FR"/>
          </a:p>
        </p:txBody>
      </p:sp>
      <p:sp>
        <p:nvSpPr>
          <p:cNvPr id="6" name="Espace réservé du texte 5">
            <a:extLst>
              <a:ext uri="{FF2B5EF4-FFF2-40B4-BE49-F238E27FC236}">
                <a16:creationId xmlns:a16="http://schemas.microsoft.com/office/drawing/2014/main" id="{8DE0B349-5C4C-8D6D-6B70-8E4BDEEDA764}"/>
              </a:ext>
            </a:extLst>
          </p:cNvPr>
          <p:cNvSpPr>
            <a:spLocks noGrp="1"/>
          </p:cNvSpPr>
          <p:nvPr>
            <p:ph type="body" sz="quarter" idx="19"/>
          </p:nvPr>
        </p:nvSpPr>
        <p:spPr/>
        <p:txBody>
          <a:bodyPr/>
          <a:lstStyle/>
          <a:p>
            <a:r>
              <a:rPr lang="fr-FR">
                <a:ln w="19050">
                  <a:solidFill>
                    <a:schemeClr val="bg1"/>
                  </a:solidFill>
                </a:ln>
              </a:rPr>
              <a:t>La Flow API : Complexité</a:t>
            </a:r>
          </a:p>
        </p:txBody>
      </p:sp>
      <p:sp>
        <p:nvSpPr>
          <p:cNvPr id="7" name="Espace réservé du texte 6">
            <a:extLst>
              <a:ext uri="{FF2B5EF4-FFF2-40B4-BE49-F238E27FC236}">
                <a16:creationId xmlns:a16="http://schemas.microsoft.com/office/drawing/2014/main" id="{2EB4B34C-1444-991E-8EBA-6099DDC3C6C3}"/>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B62FBEEA-561D-4EB8-D2A8-18C6921D561E}"/>
              </a:ext>
            </a:extLst>
          </p:cNvPr>
          <p:cNvSpPr txBox="1"/>
          <p:nvPr/>
        </p:nvSpPr>
        <p:spPr>
          <a:xfrm>
            <a:off x="512079" y="892755"/>
            <a:ext cx="7196201"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 </a:t>
            </a:r>
            <a:r>
              <a:rPr lang="fr-FR" sz="2800">
                <a:ln w="38100">
                  <a:solidFill>
                    <a:schemeClr val="tx1"/>
                  </a:solidFill>
                </a:ln>
                <a:latin typeface="Avenir LT 35 Light" panose="02000503030000020003" pitchFamily="2" charset="0"/>
              </a:rPr>
              <a:t>— une solution BYCN</a:t>
            </a:r>
            <a:endParaRPr lang="fr-FR" sz="4000">
              <a:ln w="38100">
                <a:solidFill>
                  <a:schemeClr val="tx1"/>
                </a:solidFill>
              </a:ln>
              <a:latin typeface="Avenir LT 35 Light" panose="02000503030000020003" pitchFamily="2" charset="0"/>
            </a:endParaRPr>
          </a:p>
        </p:txBody>
      </p:sp>
      <p:sp>
        <p:nvSpPr>
          <p:cNvPr id="12" name="ZoneTexte 11">
            <a:extLst>
              <a:ext uri="{FF2B5EF4-FFF2-40B4-BE49-F238E27FC236}">
                <a16:creationId xmlns:a16="http://schemas.microsoft.com/office/drawing/2014/main" id="{4C5A0F1C-1806-AAC0-D055-4521E8597CEB}"/>
              </a:ext>
            </a:extLst>
          </p:cNvPr>
          <p:cNvSpPr txBox="1"/>
          <p:nvPr/>
        </p:nvSpPr>
        <p:spPr>
          <a:xfrm>
            <a:off x="547203" y="1450808"/>
            <a:ext cx="5575565" cy="338554"/>
          </a:xfrm>
          <a:prstGeom prst="rect">
            <a:avLst/>
          </a:prstGeom>
          <a:noFill/>
        </p:spPr>
        <p:txBody>
          <a:bodyPr wrap="none" rtlCol="0">
            <a:spAutoFit/>
          </a:bodyPr>
          <a:lstStyle/>
          <a:p>
            <a:r>
              <a:rPr lang="fr-FR" sz="1600" i="1">
                <a:ln w="19050">
                  <a:solidFill>
                    <a:schemeClr val="tx1"/>
                  </a:solidFill>
                </a:ln>
                <a:latin typeface="Avenir LT 35 Light" panose="02000503030000020003" pitchFamily="2" charset="0"/>
              </a:rPr>
              <a:t>Ne fait pas partie de la spécification « API-l</a:t>
            </a:r>
            <a:r>
              <a:rPr lang="en-US" sz="1600" i="1">
                <a:ln w="19050">
                  <a:solidFill>
                    <a:schemeClr val="tx1"/>
                  </a:solidFill>
                </a:ln>
                <a:latin typeface="Avenir LT 35 Light" panose="02000503030000020003" pitchFamily="2" charset="0"/>
              </a:rPr>
              <a:t>ed</a:t>
            </a:r>
            <a:r>
              <a:rPr lang="fr-FR" sz="1600" i="1">
                <a:ln w="19050">
                  <a:solidFill>
                    <a:schemeClr val="tx1"/>
                  </a:solidFill>
                </a:ln>
                <a:latin typeface="Avenir LT 35 Light" panose="02000503030000020003" pitchFamily="2" charset="0"/>
              </a:rPr>
              <a:t> </a:t>
            </a:r>
            <a:r>
              <a:rPr lang="en-US" sz="1600" i="1">
                <a:ln w="19050">
                  <a:solidFill>
                    <a:schemeClr val="tx1"/>
                  </a:solidFill>
                </a:ln>
                <a:latin typeface="Avenir LT 35 Light" panose="02000503030000020003" pitchFamily="2" charset="0"/>
              </a:rPr>
              <a:t>connectivity</a:t>
            </a:r>
            <a:r>
              <a:rPr lang="fr-FR" sz="1600" i="1">
                <a:ln w="19050">
                  <a:solidFill>
                    <a:schemeClr val="tx1"/>
                  </a:solidFill>
                </a:ln>
                <a:latin typeface="Avenir LT 35 Light" panose="02000503030000020003" pitchFamily="2" charset="0"/>
              </a:rPr>
              <a:t> »</a:t>
            </a:r>
          </a:p>
        </p:txBody>
      </p:sp>
      <p:sp>
        <p:nvSpPr>
          <p:cNvPr id="16" name="ZoneTexte 15">
            <a:extLst>
              <a:ext uri="{FF2B5EF4-FFF2-40B4-BE49-F238E27FC236}">
                <a16:creationId xmlns:a16="http://schemas.microsoft.com/office/drawing/2014/main" id="{E0F657F9-222D-8E72-5DF5-F36797FCAF8E}"/>
              </a:ext>
            </a:extLst>
          </p:cNvPr>
          <p:cNvSpPr txBox="1"/>
          <p:nvPr/>
        </p:nvSpPr>
        <p:spPr>
          <a:xfrm>
            <a:off x="8433485" y="1728773"/>
            <a:ext cx="3350383" cy="3204275"/>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lgn="l">
              <a:buBlip>
                <a:blip r:embed="rId4"/>
              </a:buBlip>
            </a:pPr>
            <a:r>
              <a:rPr lang="fr-FR" sz="1200">
                <a:ln w="6350">
                  <a:solidFill>
                    <a:srgbClr val="102031">
                      <a:alpha val="60000"/>
                    </a:srgbClr>
                  </a:solidFill>
                </a:ln>
              </a:rPr>
              <a:t>Intégrer un système d’asynchronisme est pertinent. Dans ce cas, il permet d’inclure une gestion de réessaies comme le ferait un circuit breaker.</a:t>
            </a:r>
          </a:p>
          <a:p>
            <a:pPr marL="285750" indent="-285750" algn="l">
              <a:buBlip>
                <a:blip r:embed="rId4"/>
              </a:buBlip>
            </a:pPr>
            <a:r>
              <a:rPr lang="fr-FR" sz="1200">
                <a:ln w="6350">
                  <a:solidFill>
                    <a:srgbClr val="102031">
                      <a:alpha val="60000"/>
                    </a:srgbClr>
                  </a:solidFill>
                </a:ln>
              </a:rPr>
              <a:t>En revanche, si de tels mécanismes rentrent le standard d’usage de BYCN d’appel d’API, chaque intégration (quel que soit l’intégrateur, la médiation, chaque domaine) devra se plier à ce modèle. Ce dernier, doit donc être approfondi</a:t>
            </a:r>
          </a:p>
          <a:p>
            <a:pPr marL="285750" indent="-285750" algn="l">
              <a:buBlip>
                <a:blip r:embed="rId4"/>
              </a:buBlip>
            </a:pPr>
            <a:r>
              <a:rPr lang="fr-FR">
                <a:ln w="9525">
                  <a:solidFill>
                    <a:sysClr val="windowText" lastClr="000000">
                      <a:alpha val="60000"/>
                    </a:sysClr>
                  </a:solidFill>
                </a:ln>
              </a:rPr>
              <a:t>Dans de nombreuses organisations, le choix d’une surcouche de </a:t>
            </a:r>
            <a:r>
              <a:rPr lang="fr-FR" err="1">
                <a:ln w="9525">
                  <a:solidFill>
                    <a:sysClr val="windowText" lastClr="000000">
                      <a:alpha val="60000"/>
                    </a:sysClr>
                  </a:solidFill>
                </a:ln>
              </a:rPr>
              <a:t>framework</a:t>
            </a:r>
            <a:r>
              <a:rPr lang="fr-FR">
                <a:ln w="9525">
                  <a:solidFill>
                    <a:sysClr val="windowText" lastClr="000000">
                      <a:alpha val="60000"/>
                    </a:sysClr>
                  </a:solidFill>
                </a:ln>
              </a:rPr>
              <a:t> implémentée sous forme de bibliothèques, permet l’intégration standard de ces mécanismes. La gouvernance de ces </a:t>
            </a:r>
            <a:r>
              <a:rPr lang="fr-FR" err="1">
                <a:ln w="9525">
                  <a:solidFill>
                    <a:sysClr val="windowText" lastClr="000000">
                      <a:alpha val="60000"/>
                    </a:sysClr>
                  </a:solidFill>
                </a:ln>
              </a:rPr>
              <a:t>frameworks</a:t>
            </a:r>
            <a:r>
              <a:rPr lang="fr-FR">
                <a:ln w="9525">
                  <a:solidFill>
                    <a:sysClr val="windowText" lastClr="000000">
                      <a:alpha val="60000"/>
                    </a:sysClr>
                  </a:solidFill>
                </a:ln>
              </a:rPr>
              <a:t> est laissée à la charge d’une équipe middleware compétente et garante des solutions.</a:t>
            </a:r>
            <a:endParaRPr lang="fr-FR" sz="1200">
              <a:ln w="9525">
                <a:solidFill>
                  <a:sysClr val="windowText" lastClr="000000">
                    <a:alpha val="60000"/>
                  </a:sysClr>
                </a:solidFill>
              </a:ln>
            </a:endParaRPr>
          </a:p>
        </p:txBody>
      </p:sp>
      <p:sp>
        <p:nvSpPr>
          <p:cNvPr id="17" name="ZoneTexte 16">
            <a:extLst>
              <a:ext uri="{FF2B5EF4-FFF2-40B4-BE49-F238E27FC236}">
                <a16:creationId xmlns:a16="http://schemas.microsoft.com/office/drawing/2014/main" id="{74437CEF-F4FF-A1C0-166A-F2546F6C0FB4}"/>
              </a:ext>
            </a:extLst>
          </p:cNvPr>
          <p:cNvSpPr txBox="1"/>
          <p:nvPr/>
        </p:nvSpPr>
        <p:spPr>
          <a:xfrm>
            <a:off x="8460485" y="1267108"/>
            <a:ext cx="1774845" cy="461665"/>
          </a:xfrm>
          <a:prstGeom prst="rect">
            <a:avLst/>
          </a:prstGeom>
          <a:noFill/>
        </p:spPr>
        <p:txBody>
          <a:bodyPr wrap="none" rtlCol="0">
            <a:spAutoFit/>
          </a:bodyPr>
          <a:lstStyle/>
          <a:p>
            <a:r>
              <a:rPr lang="fr-FR" sz="2400" i="1">
                <a:ln w="19050">
                  <a:solidFill>
                    <a:schemeClr val="tx1"/>
                  </a:solidFill>
                </a:ln>
                <a:latin typeface="Avenir LT 35 Light" panose="02000503030000020003" pitchFamily="2" charset="0"/>
              </a:rPr>
              <a:t>Complexité</a:t>
            </a:r>
          </a:p>
        </p:txBody>
      </p:sp>
      <p:cxnSp>
        <p:nvCxnSpPr>
          <p:cNvPr id="18" name="Connecteur droit 17">
            <a:extLst>
              <a:ext uri="{FF2B5EF4-FFF2-40B4-BE49-F238E27FC236}">
                <a16:creationId xmlns:a16="http://schemas.microsoft.com/office/drawing/2014/main" id="{C8441535-3B92-2E98-1612-1CABA187C17F}"/>
              </a:ext>
            </a:extLst>
          </p:cNvPr>
          <p:cNvCxnSpPr>
            <a:cxnSpLocks/>
          </p:cNvCxnSpPr>
          <p:nvPr/>
        </p:nvCxnSpPr>
        <p:spPr>
          <a:xfrm flipV="1">
            <a:off x="8835081" y="1618735"/>
            <a:ext cx="2069757" cy="6179"/>
          </a:xfrm>
          <a:prstGeom prst="line">
            <a:avLst/>
          </a:prstGeom>
          <a:ln w="203200" cap="rnd">
            <a:solidFill>
              <a:srgbClr val="102031">
                <a:alpha val="20000"/>
              </a:srgbClr>
            </a:solidFill>
          </a:ln>
        </p:spPr>
        <p:style>
          <a:lnRef idx="1">
            <a:schemeClr val="accent1"/>
          </a:lnRef>
          <a:fillRef idx="0">
            <a:schemeClr val="accent1"/>
          </a:fillRef>
          <a:effectRef idx="0">
            <a:schemeClr val="accent1"/>
          </a:effectRef>
          <a:fontRef idx="minor">
            <a:schemeClr val="tx1"/>
          </a:fontRef>
        </p:style>
      </p:cxnSp>
      <p:pic>
        <p:nvPicPr>
          <p:cNvPr id="22" name="Image 21" descr="Une image contenant texte, diagramme, Plan, Dessin technique&#10;&#10;Description générée automatiquement">
            <a:extLst>
              <a:ext uri="{FF2B5EF4-FFF2-40B4-BE49-F238E27FC236}">
                <a16:creationId xmlns:a16="http://schemas.microsoft.com/office/drawing/2014/main" id="{176F67CC-F906-9143-5A4B-6FCBB53BD3E8}"/>
              </a:ext>
            </a:extLst>
          </p:cNvPr>
          <p:cNvPicPr>
            <a:picLocks noChangeAspect="1"/>
          </p:cNvPicPr>
          <p:nvPr/>
        </p:nvPicPr>
        <p:blipFill>
          <a:blip r:embed="rId5"/>
          <a:stretch>
            <a:fillRect/>
          </a:stretch>
        </p:blipFill>
        <p:spPr>
          <a:xfrm>
            <a:off x="348616" y="1855256"/>
            <a:ext cx="8092836" cy="4739729"/>
          </a:xfrm>
          <a:prstGeom prst="rect">
            <a:avLst/>
          </a:prstGeom>
        </p:spPr>
      </p:pic>
    </p:spTree>
    <p:extLst>
      <p:ext uri="{BB962C8B-B14F-4D97-AF65-F5344CB8AC3E}">
        <p14:creationId xmlns:p14="http://schemas.microsoft.com/office/powerpoint/2010/main" val="2727805229"/>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202FC-E16F-991D-34AB-EDF528BDE04B}"/>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8660A34-E132-416C-9851-2A92940A4C0F}"/>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501BC8CF-05BE-C10C-C8D2-1DDE1099744E}"/>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388B4860-0115-9EDD-355B-1A04A65C3E03}"/>
              </a:ext>
            </a:extLst>
          </p:cNvPr>
          <p:cNvSpPr>
            <a:spLocks noGrp="1"/>
          </p:cNvSpPr>
          <p:nvPr>
            <p:ph type="sldNum" sz="quarter" idx="12"/>
          </p:nvPr>
        </p:nvSpPr>
        <p:spPr/>
        <p:txBody>
          <a:bodyPr/>
          <a:lstStyle/>
          <a:p>
            <a:fld id="{CD166EB1-B284-8541-B839-321F682B6B05}" type="slidenum">
              <a:rPr lang="fr-FR" smtClean="0"/>
              <a:pPr/>
              <a:t>32</a:t>
            </a:fld>
            <a:endParaRPr lang="fr-FR"/>
          </a:p>
        </p:txBody>
      </p:sp>
      <p:sp>
        <p:nvSpPr>
          <p:cNvPr id="6" name="Espace réservé du texte 5">
            <a:extLst>
              <a:ext uri="{FF2B5EF4-FFF2-40B4-BE49-F238E27FC236}">
                <a16:creationId xmlns:a16="http://schemas.microsoft.com/office/drawing/2014/main" id="{2BBA36A6-8226-12CF-7BEB-137191E060E4}"/>
              </a:ext>
            </a:extLst>
          </p:cNvPr>
          <p:cNvSpPr>
            <a:spLocks noGrp="1"/>
          </p:cNvSpPr>
          <p:nvPr>
            <p:ph type="body" sz="quarter" idx="19"/>
          </p:nvPr>
        </p:nvSpPr>
        <p:spPr/>
        <p:txBody>
          <a:bodyPr/>
          <a:lstStyle/>
          <a:p>
            <a:r>
              <a:rPr lang="fr-FR">
                <a:ln w="19050">
                  <a:solidFill>
                    <a:schemeClr val="bg1"/>
                  </a:solidFill>
                </a:ln>
              </a:rPr>
              <a:t>La Flow API : Un nœud à l’extérieur du maillage ?</a:t>
            </a:r>
          </a:p>
        </p:txBody>
      </p:sp>
      <p:sp>
        <p:nvSpPr>
          <p:cNvPr id="7" name="Espace réservé du texte 6">
            <a:extLst>
              <a:ext uri="{FF2B5EF4-FFF2-40B4-BE49-F238E27FC236}">
                <a16:creationId xmlns:a16="http://schemas.microsoft.com/office/drawing/2014/main" id="{A6C0F5C0-8601-69E9-E38B-2E7E7A04226E}"/>
              </a:ext>
            </a:extLst>
          </p:cNvPr>
          <p:cNvSpPr>
            <a:spLocks noGrp="1"/>
          </p:cNvSpPr>
          <p:nvPr>
            <p:ph type="body" sz="quarter" idx="30"/>
          </p:nvPr>
        </p:nvSpPr>
        <p:spPr/>
        <p:txBody>
          <a:bodyPr/>
          <a:lstStyle/>
          <a:p>
            <a:r>
              <a:rPr lang="fr-FR">
                <a:ln w="19050">
                  <a:solidFill>
                    <a:schemeClr val="bg1"/>
                  </a:solidFill>
                </a:ln>
              </a:rPr>
              <a:t>09</a:t>
            </a:r>
          </a:p>
        </p:txBody>
      </p:sp>
      <p:sp>
        <p:nvSpPr>
          <p:cNvPr id="10" name="ZoneTexte 9">
            <a:extLst>
              <a:ext uri="{FF2B5EF4-FFF2-40B4-BE49-F238E27FC236}">
                <a16:creationId xmlns:a16="http://schemas.microsoft.com/office/drawing/2014/main" id="{7A5D617E-6040-1047-AF75-AD7FD8796C72}"/>
              </a:ext>
            </a:extLst>
          </p:cNvPr>
          <p:cNvSpPr txBox="1"/>
          <p:nvPr/>
        </p:nvSpPr>
        <p:spPr>
          <a:xfrm>
            <a:off x="5938281" y="31607"/>
            <a:ext cx="3586238" cy="707886"/>
          </a:xfrm>
          <a:prstGeom prst="rect">
            <a:avLst/>
          </a:prstGeom>
          <a:noFill/>
        </p:spPr>
        <p:txBody>
          <a:bodyPr wrap="none" rtlCol="0">
            <a:spAutoFit/>
          </a:bodyPr>
          <a:lstStyle/>
          <a:p>
            <a:r>
              <a:rPr lang="fr-FR" sz="4000">
                <a:ln w="38100">
                  <a:solidFill>
                    <a:schemeClr val="tx1"/>
                  </a:solidFill>
                </a:ln>
                <a:latin typeface="Avenir LT 35 Light" panose="02000503030000020003" pitchFamily="2" charset="0"/>
              </a:rPr>
              <a:t>La « Flow API »</a:t>
            </a:r>
          </a:p>
        </p:txBody>
      </p:sp>
      <p:sp>
        <p:nvSpPr>
          <p:cNvPr id="11" name="ZoneTexte 10">
            <a:extLst>
              <a:ext uri="{FF2B5EF4-FFF2-40B4-BE49-F238E27FC236}">
                <a16:creationId xmlns:a16="http://schemas.microsoft.com/office/drawing/2014/main" id="{84054913-8D0A-0340-E5F5-5BDBC49F88E4}"/>
              </a:ext>
            </a:extLst>
          </p:cNvPr>
          <p:cNvSpPr txBox="1"/>
          <p:nvPr/>
        </p:nvSpPr>
        <p:spPr>
          <a:xfrm>
            <a:off x="3594785" y="5705439"/>
            <a:ext cx="3350383" cy="961097"/>
          </a:xfrm>
          <a:prstGeom prst="rect">
            <a:avLst/>
          </a:prstGeom>
          <a:noFill/>
        </p:spPr>
        <p:txBody>
          <a:bodyPr wrap="square" rtlCol="0">
            <a:spAutoFit/>
          </a:bodyPr>
          <a:lstStyle>
            <a:defPPr>
              <a:defRPr lang="fr-FR"/>
            </a:defPPr>
            <a:lvl1pPr algn="just">
              <a:lnSpc>
                <a:spcPct val="78000"/>
              </a:lnSpc>
              <a:spcAft>
                <a:spcPts val="600"/>
              </a:spcAft>
              <a:defRPr sz="1400">
                <a:ln w="1905">
                  <a:solidFill>
                    <a:srgbClr val="102031">
                      <a:alpha val="60000"/>
                    </a:srgbClr>
                  </a:solidFill>
                </a:ln>
                <a:solidFill>
                  <a:schemeClr val="tx1">
                    <a:alpha val="60000"/>
                  </a:schemeClr>
                </a:solidFill>
              </a:defRPr>
            </a:lvl1pPr>
          </a:lstStyle>
          <a:p>
            <a:pPr marL="285750" indent="-285750" algn="l">
              <a:buBlip>
                <a:blip r:embed="rId4"/>
              </a:buBlip>
            </a:pPr>
            <a:r>
              <a:rPr lang="fr-FR" sz="1200">
                <a:ln w="6350">
                  <a:solidFill>
                    <a:srgbClr val="102031">
                      <a:alpha val="60000"/>
                    </a:srgbClr>
                  </a:solidFill>
                </a:ln>
              </a:rPr>
              <a:t>Même si — Assigner la gouvernance d’un domaine à une API de flux — permet de régler le problème de la gouvernance, il augmentera fortement les problèmes de maintenance, de responsabilités. La complexité est distribuée et par conséquent accrue.</a:t>
            </a:r>
          </a:p>
        </p:txBody>
      </p:sp>
      <p:sp>
        <p:nvSpPr>
          <p:cNvPr id="12" name="ZoneTexte 11">
            <a:extLst>
              <a:ext uri="{FF2B5EF4-FFF2-40B4-BE49-F238E27FC236}">
                <a16:creationId xmlns:a16="http://schemas.microsoft.com/office/drawing/2014/main" id="{805A1028-774F-6857-C5A6-1C938CF0CE1B}"/>
              </a:ext>
            </a:extLst>
          </p:cNvPr>
          <p:cNvSpPr txBox="1"/>
          <p:nvPr/>
        </p:nvSpPr>
        <p:spPr>
          <a:xfrm>
            <a:off x="3621785" y="5243774"/>
            <a:ext cx="2371162" cy="461665"/>
          </a:xfrm>
          <a:prstGeom prst="rect">
            <a:avLst/>
          </a:prstGeom>
          <a:noFill/>
        </p:spPr>
        <p:txBody>
          <a:bodyPr wrap="none" rtlCol="0">
            <a:spAutoFit/>
          </a:bodyPr>
          <a:lstStyle/>
          <a:p>
            <a:r>
              <a:rPr lang="fr-FR" sz="2400" i="1">
                <a:ln w="19050">
                  <a:solidFill>
                    <a:schemeClr val="tx1"/>
                  </a:solidFill>
                </a:ln>
                <a:latin typeface="Avenir LT 35 Light" panose="02000503030000020003" pitchFamily="2" charset="0"/>
              </a:rPr>
              <a:t>Quel domaine ?</a:t>
            </a:r>
          </a:p>
        </p:txBody>
      </p:sp>
      <p:cxnSp>
        <p:nvCxnSpPr>
          <p:cNvPr id="13" name="Connecteur droit 12">
            <a:extLst>
              <a:ext uri="{FF2B5EF4-FFF2-40B4-BE49-F238E27FC236}">
                <a16:creationId xmlns:a16="http://schemas.microsoft.com/office/drawing/2014/main" id="{70778FDB-D9C6-E0D5-6435-2FE7ACC2F34A}"/>
              </a:ext>
            </a:extLst>
          </p:cNvPr>
          <p:cNvCxnSpPr>
            <a:cxnSpLocks/>
          </p:cNvCxnSpPr>
          <p:nvPr/>
        </p:nvCxnSpPr>
        <p:spPr>
          <a:xfrm flipV="1">
            <a:off x="3996381" y="5595401"/>
            <a:ext cx="2069757" cy="6179"/>
          </a:xfrm>
          <a:prstGeom prst="line">
            <a:avLst/>
          </a:prstGeom>
          <a:ln w="203200" cap="rnd">
            <a:solidFill>
              <a:srgbClr val="102031">
                <a:alpha val="20000"/>
              </a:srgbClr>
            </a:solidFill>
          </a:ln>
        </p:spPr>
        <p:style>
          <a:lnRef idx="1">
            <a:schemeClr val="accent1"/>
          </a:lnRef>
          <a:fillRef idx="0">
            <a:schemeClr val="accent1"/>
          </a:fillRef>
          <a:effectRef idx="0">
            <a:schemeClr val="accent1"/>
          </a:effectRef>
          <a:fontRef idx="minor">
            <a:schemeClr val="tx1"/>
          </a:fontRef>
        </p:style>
      </p:cxnSp>
      <p:pic>
        <p:nvPicPr>
          <p:cNvPr id="16" name="Image 15" descr="Une image contenant capture d’écran&#10;&#10;Description générée automatiquement">
            <a:extLst>
              <a:ext uri="{FF2B5EF4-FFF2-40B4-BE49-F238E27FC236}">
                <a16:creationId xmlns:a16="http://schemas.microsoft.com/office/drawing/2014/main" id="{98989A24-0BEC-AA05-263E-061B3AA775D5}"/>
              </a:ext>
            </a:extLst>
          </p:cNvPr>
          <p:cNvPicPr>
            <a:picLocks noChangeAspect="1"/>
          </p:cNvPicPr>
          <p:nvPr/>
        </p:nvPicPr>
        <p:blipFill>
          <a:blip r:embed="rId5"/>
          <a:stretch>
            <a:fillRect/>
          </a:stretch>
        </p:blipFill>
        <p:spPr>
          <a:xfrm>
            <a:off x="350979" y="1038787"/>
            <a:ext cx="9360559" cy="5482197"/>
          </a:xfrm>
          <a:prstGeom prst="rect">
            <a:avLst/>
          </a:prstGeom>
        </p:spPr>
      </p:pic>
    </p:spTree>
    <p:extLst>
      <p:ext uri="{BB962C8B-B14F-4D97-AF65-F5344CB8AC3E}">
        <p14:creationId xmlns:p14="http://schemas.microsoft.com/office/powerpoint/2010/main" val="727371333"/>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6308-F2AA-E243-6BE8-EB9474DEB3CB}"/>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A0BB00B-CD88-E3E8-AFFE-AC1706C11E07}"/>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0C8DF450-CE77-0C02-9AF0-3EA5AE34B81E}"/>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E36E51CA-D620-25DD-234F-3C2ECE3AA437}"/>
              </a:ext>
            </a:extLst>
          </p:cNvPr>
          <p:cNvSpPr>
            <a:spLocks noGrp="1"/>
          </p:cNvSpPr>
          <p:nvPr>
            <p:ph type="sldNum" sz="quarter" idx="12"/>
          </p:nvPr>
        </p:nvSpPr>
        <p:spPr/>
        <p:txBody>
          <a:bodyPr/>
          <a:lstStyle/>
          <a:p>
            <a:fld id="{CD166EB1-B284-8541-B839-321F682B6B05}" type="slidenum">
              <a:rPr lang="fr-FR" smtClean="0"/>
              <a:pPr/>
              <a:t>33</a:t>
            </a:fld>
            <a:endParaRPr lang="fr-FR"/>
          </a:p>
        </p:txBody>
      </p:sp>
      <p:sp>
        <p:nvSpPr>
          <p:cNvPr id="6" name="Espace réservé du texte 5">
            <a:extLst>
              <a:ext uri="{FF2B5EF4-FFF2-40B4-BE49-F238E27FC236}">
                <a16:creationId xmlns:a16="http://schemas.microsoft.com/office/drawing/2014/main" id="{63D2CAE8-2568-3EBF-FBA4-6CE80B90F421}"/>
              </a:ext>
            </a:extLst>
          </p:cNvPr>
          <p:cNvSpPr>
            <a:spLocks noGrp="1"/>
          </p:cNvSpPr>
          <p:nvPr>
            <p:ph type="body" sz="quarter" idx="19"/>
          </p:nvPr>
        </p:nvSpPr>
        <p:spPr/>
        <p:txBody>
          <a:bodyPr/>
          <a:lstStyle/>
          <a:p>
            <a:r>
              <a:rPr lang="fr-FR">
                <a:ln w="19050">
                  <a:solidFill>
                    <a:schemeClr val="bg1"/>
                  </a:solidFill>
                </a:ln>
              </a:rPr>
              <a:t>Encore des rappels</a:t>
            </a:r>
          </a:p>
        </p:txBody>
      </p:sp>
      <p:sp>
        <p:nvSpPr>
          <p:cNvPr id="7" name="Espace réservé du texte 6">
            <a:extLst>
              <a:ext uri="{FF2B5EF4-FFF2-40B4-BE49-F238E27FC236}">
                <a16:creationId xmlns:a16="http://schemas.microsoft.com/office/drawing/2014/main" id="{0150E17D-2239-49AC-899D-4D3217910282}"/>
              </a:ext>
            </a:extLst>
          </p:cNvPr>
          <p:cNvSpPr>
            <a:spLocks noGrp="1"/>
          </p:cNvSpPr>
          <p:nvPr>
            <p:ph type="body" sz="quarter" idx="30"/>
          </p:nvPr>
        </p:nvSpPr>
        <p:spPr/>
        <p:txBody>
          <a:bodyPr/>
          <a:lstStyle/>
          <a:p>
            <a:r>
              <a:rPr lang="fr-FR">
                <a:ln w="19050">
                  <a:solidFill>
                    <a:schemeClr val="bg1"/>
                  </a:solidFill>
                </a:ln>
              </a:rPr>
              <a:t>10</a:t>
            </a:r>
          </a:p>
        </p:txBody>
      </p:sp>
      <p:sp>
        <p:nvSpPr>
          <p:cNvPr id="5" name="ZoneTexte 4">
            <a:extLst>
              <a:ext uri="{FF2B5EF4-FFF2-40B4-BE49-F238E27FC236}">
                <a16:creationId xmlns:a16="http://schemas.microsoft.com/office/drawing/2014/main" id="{354015D9-9176-3D53-3FAA-88310E421F07}"/>
              </a:ext>
            </a:extLst>
          </p:cNvPr>
          <p:cNvSpPr txBox="1"/>
          <p:nvPr/>
        </p:nvSpPr>
        <p:spPr>
          <a:xfrm>
            <a:off x="537577" y="1162050"/>
            <a:ext cx="5756704" cy="707886"/>
          </a:xfrm>
          <a:prstGeom prst="rect">
            <a:avLst/>
          </a:prstGeom>
          <a:noFill/>
        </p:spPr>
        <p:txBody>
          <a:bodyPr wrap="none" rtlCol="0">
            <a:spAutoFit/>
          </a:bodyPr>
          <a:lstStyle/>
          <a:p>
            <a:r>
              <a:rPr lang="fr-FR" sz="4000">
                <a:ln w="28575">
                  <a:solidFill>
                    <a:schemeClr val="tx1"/>
                  </a:solidFill>
                </a:ln>
                <a:latin typeface="Avenir LT 35 Light" panose="02000503030000020003" pitchFamily="2" charset="0"/>
              </a:rPr>
              <a:t>Principes d’architectures</a:t>
            </a:r>
          </a:p>
        </p:txBody>
      </p:sp>
      <p:sp>
        <p:nvSpPr>
          <p:cNvPr id="9" name="ZoneTexte 8">
            <a:extLst>
              <a:ext uri="{FF2B5EF4-FFF2-40B4-BE49-F238E27FC236}">
                <a16:creationId xmlns:a16="http://schemas.microsoft.com/office/drawing/2014/main" id="{518372B2-4A7A-D88E-0244-3B888D439C82}"/>
              </a:ext>
            </a:extLst>
          </p:cNvPr>
          <p:cNvSpPr txBox="1"/>
          <p:nvPr/>
        </p:nvSpPr>
        <p:spPr>
          <a:xfrm>
            <a:off x="537578" y="1985439"/>
            <a:ext cx="6065354" cy="3722942"/>
          </a:xfrm>
          <a:prstGeom prst="rect">
            <a:avLst/>
          </a:prstGeom>
          <a:noFill/>
        </p:spPr>
        <p:txBody>
          <a:bodyPr wrap="square">
            <a:spAutoFit/>
          </a:bodyPr>
          <a:lstStyle/>
          <a:p>
            <a:pPr marL="540000" lvl="0" indent="-540000">
              <a:lnSpc>
                <a:spcPct val="78000"/>
              </a:lnSpc>
              <a:spcAft>
                <a:spcPts val="600"/>
              </a:spcAft>
              <a:buSzPct val="90000"/>
              <a:buBlip>
                <a:blip r:embed="rId3"/>
              </a:buBlip>
            </a:pPr>
            <a:r>
              <a:rPr lang="fr-FR" b="0" u="sng">
                <a:ln w="19050">
                  <a:solidFill>
                    <a:srgbClr val="102031"/>
                  </a:solidFill>
                </a:ln>
                <a:solidFill>
                  <a:srgbClr val="102031"/>
                </a:solidFill>
                <a:latin typeface="Avenir LT 35 Light" panose="02000503030000020003" pitchFamily="2" charset="0"/>
                <a:cs typeface="Arial" panose="020B0604020202020204" pitchFamily="34" charset="0"/>
              </a:rPr>
              <a:t>Pas de règles fonctionnelles</a:t>
            </a:r>
          </a:p>
          <a:p>
            <a:pPr marL="540000" indent="-54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Un pivot est composé des attributs par </a:t>
            </a:r>
            <a:r>
              <a:rPr lang="fr-FR">
                <a:ln w="19050">
                  <a:solidFill>
                    <a:schemeClr val="accent6">
                      <a:lumMod val="60000"/>
                      <a:lumOff val="40000"/>
                    </a:schemeClr>
                  </a:solidFill>
                </a:ln>
                <a:solidFill>
                  <a:srgbClr val="102031"/>
                </a:solidFill>
                <a:latin typeface="Avenir LT 35 Light" panose="02000503030000020003" pitchFamily="2" charset="0"/>
              </a:rPr>
              <a:t>les producteurs-consommateurs / émetteur-abonnées </a:t>
            </a:r>
          </a:p>
          <a:p>
            <a:pPr marL="540000" indent="-54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Les seules orchestrations possibles dans l’API Management sont relatives à la sécurité pour faire appel à des services externes de gestion &amp; validation de </a:t>
            </a:r>
            <a:r>
              <a:rPr lang="en-US">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tokens</a:t>
            </a: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 / (dé)chiffrement/transcodification</a:t>
            </a:r>
          </a:p>
          <a:p>
            <a:pPr marL="540000" indent="-54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La plateforme de médiation prend en charge la distribution des </a:t>
            </a:r>
            <a:r>
              <a:rPr lang="en-US">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tokens</a:t>
            </a: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 </a:t>
            </a:r>
            <a:r>
              <a:rPr lang="fr-FR" i="1">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adhoc</a:t>
            </a: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 pour les systèmes producteurs</a:t>
            </a:r>
            <a:endParaRPr lang="fr-FR">
              <a:ln w="19050">
                <a:solidFill>
                  <a:schemeClr val="accent6">
                    <a:lumMod val="60000"/>
                    <a:lumOff val="40000"/>
                  </a:schemeClr>
                </a:solidFill>
              </a:ln>
              <a:solidFill>
                <a:srgbClr val="102031"/>
              </a:solidFill>
              <a:latin typeface="Avenir LT 35 Light" panose="02000503030000020003" pitchFamily="2" charset="0"/>
            </a:endParaRPr>
          </a:p>
          <a:p>
            <a:pPr marL="540000" indent="-54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Les infos relatives à un émetteur ne doivent pas figurer dans le pivot</a:t>
            </a:r>
          </a:p>
          <a:p>
            <a:pPr marL="540000" indent="-54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La couche de médiation prend en charge le volet syntaxique, sémantique et s’assure des SLA.</a:t>
            </a:r>
            <a:endParaRPr lang="fr-FR">
              <a:ln w="19050">
                <a:solidFill>
                  <a:schemeClr val="accent6">
                    <a:lumMod val="60000"/>
                    <a:lumOff val="40000"/>
                  </a:schemeClr>
                </a:solidFill>
              </a:ln>
              <a:solidFill>
                <a:srgbClr val="102031"/>
              </a:solidFill>
              <a:latin typeface="Avenir LT 35 Light" panose="02000503030000020003" pitchFamily="2" charset="0"/>
            </a:endParaRPr>
          </a:p>
        </p:txBody>
      </p:sp>
      <p:sp>
        <p:nvSpPr>
          <p:cNvPr id="17" name="ZoneTexte 16">
            <a:extLst>
              <a:ext uri="{FF2B5EF4-FFF2-40B4-BE49-F238E27FC236}">
                <a16:creationId xmlns:a16="http://schemas.microsoft.com/office/drawing/2014/main" id="{5F85EEAF-5471-7950-7CEF-CEEB85B6EF4A}"/>
              </a:ext>
            </a:extLst>
          </p:cNvPr>
          <p:cNvSpPr txBox="1"/>
          <p:nvPr/>
        </p:nvSpPr>
        <p:spPr>
          <a:xfrm>
            <a:off x="7071644" y="2293446"/>
            <a:ext cx="4969274" cy="745204"/>
          </a:xfrm>
          <a:prstGeom prst="rect">
            <a:avLst/>
          </a:prstGeom>
          <a:noFill/>
        </p:spPr>
        <p:txBody>
          <a:bodyPr wrap="square">
            <a:spAutoFit/>
          </a:bodyPr>
          <a:lstStyle/>
          <a:p>
            <a:pPr>
              <a:lnSpc>
                <a:spcPct val="78000"/>
              </a:lnSpc>
              <a:spcAft>
                <a:spcPts val="600"/>
              </a:spcAft>
              <a:buSzPct val="90000"/>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Usage des demi-flux à construire pour véhiculer les objets urbanisés, uniquement dans un sens si possible.</a:t>
            </a:r>
            <a:endParaRPr lang="fr-FR">
              <a:ln w="19050">
                <a:solidFill>
                  <a:schemeClr val="accent6">
                    <a:lumMod val="60000"/>
                    <a:lumOff val="40000"/>
                  </a:schemeClr>
                </a:solidFill>
              </a:ln>
              <a:solidFill>
                <a:srgbClr val="102031"/>
              </a:solidFill>
              <a:latin typeface="Avenir LT 35 Light" panose="02000503030000020003" pitchFamily="2" charset="0"/>
            </a:endParaRPr>
          </a:p>
        </p:txBody>
      </p:sp>
      <p:cxnSp>
        <p:nvCxnSpPr>
          <p:cNvPr id="19" name="Connecteur droit 18">
            <a:extLst>
              <a:ext uri="{FF2B5EF4-FFF2-40B4-BE49-F238E27FC236}">
                <a16:creationId xmlns:a16="http://schemas.microsoft.com/office/drawing/2014/main" id="{1EB24082-4055-BCDC-42DB-AA8C91BEFD03}"/>
              </a:ext>
            </a:extLst>
          </p:cNvPr>
          <p:cNvCxnSpPr/>
          <p:nvPr/>
        </p:nvCxnSpPr>
        <p:spPr>
          <a:xfrm>
            <a:off x="6458552" y="2293446"/>
            <a:ext cx="0" cy="449754"/>
          </a:xfrm>
          <a:prstGeom prst="line">
            <a:avLst/>
          </a:prstGeom>
          <a:ln w="38100" cap="rnd">
            <a:solidFill>
              <a:srgbClr val="102031"/>
            </a:solidFill>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B3BA7D99-B431-0723-6BB1-4AFFFCBC58DD}"/>
              </a:ext>
            </a:extLst>
          </p:cNvPr>
          <p:cNvCxnSpPr>
            <a:cxnSpLocks/>
          </p:cNvCxnSpPr>
          <p:nvPr/>
        </p:nvCxnSpPr>
        <p:spPr>
          <a:xfrm>
            <a:off x="6458552" y="2518323"/>
            <a:ext cx="529389" cy="0"/>
          </a:xfrm>
          <a:prstGeom prst="straightConnector1">
            <a:avLst/>
          </a:prstGeom>
          <a:ln w="38100" cap="rnd">
            <a:solidFill>
              <a:srgbClr val="10203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8406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C08E8-7AD4-4549-C0E4-142BFD0A56A3}"/>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A01E70E-EB3B-61AE-5C75-3ED575129154}"/>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0B2C3FD4-D29E-D2BB-AB70-8355EE7B84C6}"/>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0CD5F761-CBFE-0601-49DB-6FBCA733E09D}"/>
              </a:ext>
            </a:extLst>
          </p:cNvPr>
          <p:cNvSpPr>
            <a:spLocks noGrp="1"/>
          </p:cNvSpPr>
          <p:nvPr>
            <p:ph type="sldNum" sz="quarter" idx="12"/>
          </p:nvPr>
        </p:nvSpPr>
        <p:spPr/>
        <p:txBody>
          <a:bodyPr/>
          <a:lstStyle/>
          <a:p>
            <a:fld id="{CD166EB1-B284-8541-B839-321F682B6B05}" type="slidenum">
              <a:rPr lang="fr-FR" smtClean="0"/>
              <a:pPr/>
              <a:t>34</a:t>
            </a:fld>
            <a:endParaRPr lang="fr-FR"/>
          </a:p>
        </p:txBody>
      </p:sp>
      <p:sp>
        <p:nvSpPr>
          <p:cNvPr id="6" name="Espace réservé du texte 5">
            <a:extLst>
              <a:ext uri="{FF2B5EF4-FFF2-40B4-BE49-F238E27FC236}">
                <a16:creationId xmlns:a16="http://schemas.microsoft.com/office/drawing/2014/main" id="{0F1557E9-A982-90D9-D951-6AA245712C26}"/>
              </a:ext>
            </a:extLst>
          </p:cNvPr>
          <p:cNvSpPr>
            <a:spLocks noGrp="1"/>
          </p:cNvSpPr>
          <p:nvPr>
            <p:ph type="body" sz="quarter" idx="19"/>
          </p:nvPr>
        </p:nvSpPr>
        <p:spPr/>
        <p:txBody>
          <a:bodyPr/>
          <a:lstStyle/>
          <a:p>
            <a:r>
              <a:rPr lang="fr-FR">
                <a:ln w="19050">
                  <a:solidFill>
                    <a:schemeClr val="bg1"/>
                  </a:solidFill>
                </a:ln>
              </a:rPr>
              <a:t>Pas de règles métier dans la couche de médiation !</a:t>
            </a:r>
          </a:p>
        </p:txBody>
      </p:sp>
      <p:sp>
        <p:nvSpPr>
          <p:cNvPr id="7" name="Espace réservé du texte 6">
            <a:extLst>
              <a:ext uri="{FF2B5EF4-FFF2-40B4-BE49-F238E27FC236}">
                <a16:creationId xmlns:a16="http://schemas.microsoft.com/office/drawing/2014/main" id="{210C4C50-8DF0-57A1-738C-1C652F8683CD}"/>
              </a:ext>
            </a:extLst>
          </p:cNvPr>
          <p:cNvSpPr>
            <a:spLocks noGrp="1"/>
          </p:cNvSpPr>
          <p:nvPr>
            <p:ph type="body" sz="quarter" idx="30"/>
          </p:nvPr>
        </p:nvSpPr>
        <p:spPr/>
        <p:txBody>
          <a:bodyPr/>
          <a:lstStyle/>
          <a:p>
            <a:r>
              <a:rPr lang="fr-FR">
                <a:ln w="19050">
                  <a:solidFill>
                    <a:schemeClr val="bg1"/>
                  </a:solidFill>
                </a:ln>
              </a:rPr>
              <a:t>11</a:t>
            </a:r>
          </a:p>
        </p:txBody>
      </p:sp>
      <p:sp>
        <p:nvSpPr>
          <p:cNvPr id="9" name="ZoneTexte 8">
            <a:extLst>
              <a:ext uri="{FF2B5EF4-FFF2-40B4-BE49-F238E27FC236}">
                <a16:creationId xmlns:a16="http://schemas.microsoft.com/office/drawing/2014/main" id="{A9B6DC2F-5963-1A7A-DC98-CE02D62F6586}"/>
              </a:ext>
            </a:extLst>
          </p:cNvPr>
          <p:cNvSpPr txBox="1"/>
          <p:nvPr/>
        </p:nvSpPr>
        <p:spPr>
          <a:xfrm>
            <a:off x="226220" y="1170231"/>
            <a:ext cx="5174455" cy="3413820"/>
          </a:xfrm>
          <a:prstGeom prst="rect">
            <a:avLst/>
          </a:prstGeom>
          <a:noFill/>
        </p:spPr>
        <p:txBody>
          <a:bodyPr wrap="square">
            <a:spAutoFit/>
          </a:bodyPr>
          <a:lstStyle/>
          <a:p>
            <a:pPr>
              <a:lnSpc>
                <a:spcPct val="78000"/>
              </a:lnSpc>
            </a:pP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Un </a:t>
            </a:r>
            <a:r>
              <a:rPr lang="fr-FR" sz="1400" b="1">
                <a:ln>
                  <a:solidFill>
                    <a:schemeClr val="tx1"/>
                  </a:solidFill>
                </a:ln>
                <a:latin typeface="Avenir LT 35 Light" panose="02000503030000020003" pitchFamily="2" charset="0"/>
              </a:rPr>
              <a:t>processus métier</a:t>
            </a:r>
            <a:r>
              <a:rPr lang="fr-FR" sz="14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est un ensemble structuré d'activités ou de tâches réalisées par une organisation pour atteindre un objectif spécifique, souvent lié aux besoins ou attentes des clients ou à l'efficacité de l'entreprise. Ces processus sont au cœur des opérations d'une entreprise et déterminent la manière dont elle crée de la valeur, gère ses ressources, et atteint ses objectifs stratégiques.</a:t>
            </a:r>
          </a:p>
          <a:p>
            <a:pPr>
              <a:lnSpc>
                <a:spcPct val="78000"/>
              </a:lnSpc>
            </a:pPr>
            <a:endParaRPr lang="fr-FR" sz="1200" b="1">
              <a:ln>
                <a:solidFill>
                  <a:schemeClr val="accent6">
                    <a:lumMod val="60000"/>
                    <a:lumOff val="40000"/>
                  </a:schemeClr>
                </a:solidFill>
              </a:ln>
              <a:solidFill>
                <a:schemeClr val="accent6">
                  <a:lumMod val="60000"/>
                  <a:lumOff val="40000"/>
                </a:schemeClr>
              </a:solidFill>
              <a:latin typeface="Avenir LT 35 Light" panose="02000503030000020003" pitchFamily="2" charset="0"/>
            </a:endParaRPr>
          </a:p>
          <a:p>
            <a:pPr>
              <a:lnSpc>
                <a:spcPct val="78000"/>
              </a:lnSpc>
            </a:pPr>
            <a:r>
              <a:rPr lang="fr-FR" sz="1050" b="1">
                <a:ln>
                  <a:solidFill>
                    <a:schemeClr val="accent6">
                      <a:lumMod val="60000"/>
                      <a:lumOff val="40000"/>
                    </a:schemeClr>
                  </a:solidFill>
                </a:ln>
                <a:solidFill>
                  <a:schemeClr val="accent6">
                    <a:lumMod val="60000"/>
                    <a:lumOff val="40000"/>
                  </a:schemeClr>
                </a:solidFill>
                <a:latin typeface="Avenir LT 35 Light" panose="02000503030000020003" pitchFamily="2" charset="0"/>
              </a:rPr>
              <a:t>Caractéristiques d'un processus métier :</a:t>
            </a:r>
            <a:endParaRPr lang="fr-FR" sz="1200" b="1">
              <a:ln>
                <a:solidFill>
                  <a:schemeClr val="accent6">
                    <a:lumMod val="60000"/>
                    <a:lumOff val="40000"/>
                  </a:schemeClr>
                </a:solidFill>
              </a:ln>
              <a:solidFill>
                <a:schemeClr val="accent6">
                  <a:lumMod val="60000"/>
                  <a:lumOff val="40000"/>
                </a:schemeClr>
              </a:solidFill>
              <a:latin typeface="Avenir LT 35 Light" panose="02000503030000020003" pitchFamily="2" charset="0"/>
            </a:endParaRPr>
          </a:p>
          <a:p>
            <a:pPr>
              <a:lnSpc>
                <a:spcPct val="78000"/>
              </a:lnSpc>
            </a:pPr>
            <a:endParaRPr lang="fr-FR" sz="1200" b="1">
              <a:ln>
                <a:solidFill>
                  <a:schemeClr val="tx1"/>
                </a:solidFill>
              </a:ln>
              <a:latin typeface="Avenir LT 35 Light" panose="02000503030000020003" pitchFamily="2" charset="0"/>
            </a:endParaRPr>
          </a:p>
          <a:p>
            <a:pPr>
              <a:lnSpc>
                <a:spcPct val="78000"/>
              </a:lnSpc>
            </a:pPr>
            <a:r>
              <a:rPr lang="fr-FR" sz="1200" b="1">
                <a:ln>
                  <a:solidFill>
                    <a:schemeClr val="tx1"/>
                  </a:solidFill>
                </a:ln>
                <a:latin typeface="Avenir LT 35 Light" panose="02000503030000020003" pitchFamily="2" charset="0"/>
              </a:rPr>
              <a:t>Objectif</a:t>
            </a:r>
            <a:r>
              <a:rPr lang="fr-FR" sz="1200" b="1">
                <a:ln>
                  <a:solidFill>
                    <a:schemeClr val="accent6">
                      <a:lumMod val="60000"/>
                      <a:lumOff val="40000"/>
                    </a:schemeClr>
                  </a:solidFill>
                </a:ln>
                <a:solidFill>
                  <a:schemeClr val="accent6">
                    <a:lumMod val="60000"/>
                    <a:lumOff val="40000"/>
                  </a:schemeClr>
                </a:solidFill>
                <a:latin typeface="Avenir LT 35 Light" panose="02000503030000020003" pitchFamily="2" charset="0"/>
              </a:rPr>
              <a:t> </a:t>
            </a:r>
            <a:r>
              <a:rPr lang="fr-FR" sz="1200" b="1">
                <a:ln>
                  <a:solidFill>
                    <a:schemeClr val="tx1"/>
                  </a:solidFill>
                </a:ln>
                <a:latin typeface="Avenir LT 35 Light" panose="02000503030000020003" pitchFamily="2" charset="0"/>
              </a:rPr>
              <a:t>précis</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 Chaque processus vise un résultat spécifique, comme la production d'un bien, le traitement d'une commande ou la fourniture d'un service.</a:t>
            </a:r>
          </a:p>
          <a:p>
            <a:pPr>
              <a:lnSpc>
                <a:spcPct val="78000"/>
              </a:lnSpc>
            </a:pPr>
            <a:endParaRPr lang="fr-FR" sz="1200" b="1">
              <a:ln>
                <a:solidFill>
                  <a:schemeClr val="tx1"/>
                </a:solidFill>
              </a:ln>
              <a:latin typeface="Avenir LT 35 Light" panose="02000503030000020003" pitchFamily="2" charset="0"/>
            </a:endParaRPr>
          </a:p>
          <a:p>
            <a:pPr>
              <a:lnSpc>
                <a:spcPct val="78000"/>
              </a:lnSpc>
            </a:pPr>
            <a:r>
              <a:rPr lang="fr-FR" sz="1200" b="1">
                <a:ln>
                  <a:solidFill>
                    <a:schemeClr val="tx1"/>
                  </a:solidFill>
                </a:ln>
                <a:latin typeface="Avenir LT 35 Light" panose="02000503030000020003" pitchFamily="2" charset="0"/>
              </a:rPr>
              <a:t>Enchaînement</a:t>
            </a:r>
            <a:r>
              <a:rPr lang="fr-FR" sz="1200" b="1">
                <a:ln>
                  <a:solidFill>
                    <a:schemeClr val="accent6">
                      <a:lumMod val="60000"/>
                      <a:lumOff val="40000"/>
                    </a:schemeClr>
                  </a:solidFill>
                </a:ln>
                <a:solidFill>
                  <a:schemeClr val="accent6">
                    <a:lumMod val="60000"/>
                    <a:lumOff val="40000"/>
                  </a:schemeClr>
                </a:solidFill>
                <a:latin typeface="Avenir LT 35 Light" panose="02000503030000020003" pitchFamily="2" charset="0"/>
              </a:rPr>
              <a:t> </a:t>
            </a:r>
            <a:r>
              <a:rPr lang="fr-FR" sz="1200" b="1">
                <a:ln>
                  <a:solidFill>
                    <a:schemeClr val="tx1"/>
                  </a:solidFill>
                </a:ln>
                <a:latin typeface="Avenir LT 35 Light" panose="02000503030000020003" pitchFamily="2" charset="0"/>
              </a:rPr>
              <a:t>d'activités</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 Un processus métier est constitué d'une série d'étapes ou d'actions logiquement organisées, où chaque étape dépend des précédentes.</a:t>
            </a:r>
          </a:p>
          <a:p>
            <a:pPr>
              <a:lnSpc>
                <a:spcPct val="78000"/>
              </a:lnSpc>
            </a:pPr>
            <a:endParaRPr lang="fr-FR" sz="1200" b="1">
              <a:ln>
                <a:solidFill>
                  <a:schemeClr val="tx1"/>
                </a:solidFill>
              </a:ln>
              <a:latin typeface="Avenir LT 35 Light" panose="02000503030000020003" pitchFamily="2" charset="0"/>
            </a:endParaRPr>
          </a:p>
          <a:p>
            <a:pPr>
              <a:lnSpc>
                <a:spcPct val="78000"/>
              </a:lnSpc>
            </a:pPr>
            <a:r>
              <a:rPr lang="fr-FR" sz="1200" b="1">
                <a:ln>
                  <a:solidFill>
                    <a:schemeClr val="tx1"/>
                  </a:solidFill>
                </a:ln>
                <a:latin typeface="Avenir LT 35 Light" panose="02000503030000020003" pitchFamily="2" charset="0"/>
              </a:rPr>
              <a:t>Ressources</a:t>
            </a:r>
            <a:r>
              <a:rPr lang="fr-FR" sz="1200" b="1">
                <a:ln>
                  <a:solidFill>
                    <a:schemeClr val="accent6">
                      <a:lumMod val="60000"/>
                      <a:lumOff val="40000"/>
                    </a:schemeClr>
                  </a:solidFill>
                </a:ln>
                <a:solidFill>
                  <a:schemeClr val="accent6">
                    <a:lumMod val="60000"/>
                    <a:lumOff val="40000"/>
                  </a:schemeClr>
                </a:solidFill>
                <a:latin typeface="Avenir LT 35 Light" panose="02000503030000020003" pitchFamily="2" charset="0"/>
              </a:rPr>
              <a:t> </a:t>
            </a:r>
            <a:r>
              <a:rPr lang="fr-FR" sz="1200" b="1">
                <a:ln>
                  <a:solidFill>
                    <a:schemeClr val="tx1"/>
                  </a:solidFill>
                </a:ln>
                <a:latin typeface="Avenir LT 35 Light" panose="02000503030000020003" pitchFamily="2" charset="0"/>
              </a:rPr>
              <a:t>nécessaires</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 Il mobilise des ressources, telles que des employés, des </a:t>
            </a:r>
            <a:r>
              <a:rPr lang="fr-FR" sz="1200" b="1">
                <a:ln>
                  <a:solidFill>
                    <a:schemeClr val="tx1"/>
                  </a:solidFill>
                </a:ln>
                <a:latin typeface="Avenir LT 35 Light" panose="02000503030000020003" pitchFamily="2" charset="0"/>
              </a:rPr>
              <a:t>technologies</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a:t>
            </a:r>
            <a:r>
              <a:rPr lang="fr-FR" sz="1200" b="1">
                <a:ln>
                  <a:solidFill>
                    <a:schemeClr val="tx1"/>
                  </a:solidFill>
                </a:ln>
                <a:latin typeface="Avenir LT 35 Light" panose="02000503030000020003" pitchFamily="2" charset="0"/>
              </a:rPr>
              <a:t>ou</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a:t>
            </a:r>
            <a:r>
              <a:rPr lang="fr-FR" sz="1200" b="1">
                <a:ln>
                  <a:solidFill>
                    <a:schemeClr val="tx1"/>
                  </a:solidFill>
                </a:ln>
                <a:latin typeface="Avenir LT 35 Light" panose="02000503030000020003" pitchFamily="2" charset="0"/>
              </a:rPr>
              <a:t>des</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a:t>
            </a:r>
            <a:r>
              <a:rPr lang="fr-FR" sz="1200" b="1">
                <a:ln>
                  <a:solidFill>
                    <a:schemeClr val="tx1"/>
                  </a:solidFill>
                </a:ln>
                <a:latin typeface="Avenir LT 35 Light" panose="02000503030000020003" pitchFamily="2" charset="0"/>
              </a:rPr>
              <a:t>informations</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pour être réalisé efficacement.</a:t>
            </a:r>
          </a:p>
          <a:p>
            <a:pPr>
              <a:lnSpc>
                <a:spcPct val="78000"/>
              </a:lnSpc>
              <a:buFont typeface="+mj-lt"/>
              <a:buAutoNum type="arabicPeriod"/>
            </a:pPr>
            <a:r>
              <a:rPr lang="fr-FR" sz="1200" b="1">
                <a:ln>
                  <a:solidFill>
                    <a:schemeClr val="accent6">
                      <a:lumMod val="60000"/>
                      <a:lumOff val="40000"/>
                    </a:schemeClr>
                  </a:solidFill>
                </a:ln>
                <a:solidFill>
                  <a:schemeClr val="accent6">
                    <a:lumMod val="60000"/>
                    <a:lumOff val="40000"/>
                  </a:schemeClr>
                </a:solidFill>
                <a:latin typeface="Avenir LT 35 Light" panose="02000503030000020003" pitchFamily="2" charset="0"/>
              </a:rPr>
              <a:t>Résultats mesurables</a:t>
            </a:r>
            <a:r>
              <a:rPr lang="fr-FR" sz="1200">
                <a:ln>
                  <a:solidFill>
                    <a:schemeClr val="accent6">
                      <a:lumMod val="60000"/>
                      <a:lumOff val="40000"/>
                    </a:schemeClr>
                  </a:solidFill>
                </a:ln>
                <a:solidFill>
                  <a:schemeClr val="accent6">
                    <a:lumMod val="60000"/>
                    <a:lumOff val="40000"/>
                  </a:schemeClr>
                </a:solidFill>
                <a:latin typeface="Avenir LT 35 Light" panose="02000503030000020003" pitchFamily="2" charset="0"/>
              </a:rPr>
              <a:t> : Les processus sont souvent évalués à l'aide de critères de performance (coût, délai, qualité, etc.) afin de garantir leur efficacité et d'identifier des pistes d'amélioration.</a:t>
            </a:r>
          </a:p>
        </p:txBody>
      </p:sp>
      <p:sp>
        <p:nvSpPr>
          <p:cNvPr id="12" name="ZoneTexte 11">
            <a:extLst>
              <a:ext uri="{FF2B5EF4-FFF2-40B4-BE49-F238E27FC236}">
                <a16:creationId xmlns:a16="http://schemas.microsoft.com/office/drawing/2014/main" id="{F0C48216-6B90-355E-D209-22181CC759D8}"/>
              </a:ext>
            </a:extLst>
          </p:cNvPr>
          <p:cNvSpPr txBox="1"/>
          <p:nvPr/>
        </p:nvSpPr>
        <p:spPr>
          <a:xfrm>
            <a:off x="5888978" y="1170231"/>
            <a:ext cx="6095046" cy="5496889"/>
          </a:xfrm>
          <a:prstGeom prst="rect">
            <a:avLst/>
          </a:prstGeom>
          <a:noFill/>
        </p:spPr>
        <p:txBody>
          <a:bodyPr wrap="square">
            <a:spAutoFit/>
          </a:bodyPr>
          <a:lstStyle>
            <a:defPPr>
              <a:defRPr lang="fr-FR"/>
            </a:defPPr>
            <a:lvl1pPr>
              <a:lnSpc>
                <a:spcPct val="78000"/>
              </a:lnSpc>
              <a:defRPr sz="1400">
                <a:ln>
                  <a:solidFill>
                    <a:schemeClr val="accent6">
                      <a:lumMod val="60000"/>
                      <a:lumOff val="40000"/>
                    </a:schemeClr>
                  </a:solidFill>
                </a:ln>
                <a:solidFill>
                  <a:schemeClr val="accent6">
                    <a:lumMod val="60000"/>
                    <a:lumOff val="40000"/>
                  </a:schemeClr>
                </a:solidFill>
                <a:latin typeface="Avenir LT 35 Light" panose="02000503030000020003" pitchFamily="2" charset="0"/>
              </a:defRPr>
            </a:lvl1pPr>
          </a:lstStyle>
          <a:p>
            <a:r>
              <a:rPr lang="fr-FR" sz="1200"/>
              <a:t>Une </a:t>
            </a:r>
            <a:r>
              <a:rPr lang="fr-FR" b="1">
                <a:ln>
                  <a:solidFill>
                    <a:schemeClr val="tx1"/>
                  </a:solidFill>
                </a:ln>
                <a:solidFill>
                  <a:schemeClr val="tx1"/>
                </a:solidFill>
              </a:rPr>
              <a:t>règle</a:t>
            </a:r>
            <a:r>
              <a:rPr lang="fr-FR" sz="1200"/>
              <a:t> </a:t>
            </a:r>
            <a:r>
              <a:rPr lang="fr-FR" b="1">
                <a:ln>
                  <a:solidFill>
                    <a:schemeClr val="tx1"/>
                  </a:solidFill>
                </a:ln>
                <a:solidFill>
                  <a:schemeClr val="tx1"/>
                </a:solidFill>
              </a:rPr>
              <a:t>métier</a:t>
            </a:r>
            <a:r>
              <a:rPr lang="fr-FR" sz="1200"/>
              <a:t> est un principe, une condition ou une directive qui guide ou contraint les décisions et les actions </a:t>
            </a:r>
            <a:r>
              <a:rPr lang="fr-FR" b="1">
                <a:ln>
                  <a:solidFill>
                    <a:schemeClr val="tx1"/>
                  </a:solidFill>
                </a:ln>
                <a:solidFill>
                  <a:schemeClr val="tx1"/>
                </a:solidFill>
              </a:rPr>
              <a:t>au</a:t>
            </a:r>
            <a:r>
              <a:rPr lang="fr-FR" sz="1200"/>
              <a:t> </a:t>
            </a:r>
            <a:r>
              <a:rPr lang="fr-FR" b="1">
                <a:ln>
                  <a:solidFill>
                    <a:schemeClr val="tx1"/>
                  </a:solidFill>
                </a:ln>
                <a:solidFill>
                  <a:schemeClr val="tx1"/>
                </a:solidFill>
              </a:rPr>
              <a:t>sein</a:t>
            </a:r>
            <a:r>
              <a:rPr lang="fr-FR" sz="1200"/>
              <a:t> </a:t>
            </a:r>
            <a:r>
              <a:rPr lang="fr-FR" b="1">
                <a:ln>
                  <a:solidFill>
                    <a:schemeClr val="tx1"/>
                  </a:solidFill>
                </a:ln>
                <a:solidFill>
                  <a:schemeClr val="tx1"/>
                </a:solidFill>
              </a:rPr>
              <a:t>d’un</a:t>
            </a:r>
            <a:r>
              <a:rPr lang="fr-FR" sz="1200"/>
              <a:t> </a:t>
            </a:r>
            <a:r>
              <a:rPr lang="fr-FR" b="1">
                <a:ln>
                  <a:solidFill>
                    <a:schemeClr val="tx1"/>
                  </a:solidFill>
                </a:ln>
                <a:solidFill>
                  <a:schemeClr val="tx1"/>
                </a:solidFill>
              </a:rPr>
              <a:t>processus</a:t>
            </a:r>
            <a:r>
              <a:rPr lang="fr-FR" sz="1200"/>
              <a:t> </a:t>
            </a:r>
            <a:r>
              <a:rPr lang="fr-FR" b="1">
                <a:ln>
                  <a:solidFill>
                    <a:schemeClr val="tx1"/>
                  </a:solidFill>
                </a:ln>
                <a:solidFill>
                  <a:schemeClr val="tx1"/>
                </a:solidFill>
              </a:rPr>
              <a:t>métier</a:t>
            </a:r>
            <a:r>
              <a:rPr lang="fr-FR" sz="1200"/>
              <a:t>. Les règles métier sont conçues pour s'assurer que les processus respectent les objectifs stratégiques, les obligations légales, et les standards de l'organisation. </a:t>
            </a:r>
            <a:r>
              <a:rPr lang="fr-FR" b="1">
                <a:ln>
                  <a:solidFill>
                    <a:schemeClr val="tx1"/>
                  </a:solidFill>
                </a:ln>
                <a:solidFill>
                  <a:schemeClr val="tx1"/>
                </a:solidFill>
              </a:rPr>
              <a:t>Elles</a:t>
            </a:r>
            <a:r>
              <a:rPr lang="fr-FR" sz="1200"/>
              <a:t> </a:t>
            </a:r>
            <a:r>
              <a:rPr lang="fr-FR" b="1">
                <a:ln>
                  <a:solidFill>
                    <a:schemeClr val="tx1"/>
                  </a:solidFill>
                </a:ln>
                <a:solidFill>
                  <a:schemeClr val="tx1"/>
                </a:solidFill>
              </a:rPr>
              <a:t>sont</a:t>
            </a:r>
            <a:r>
              <a:rPr lang="fr-FR" sz="1200"/>
              <a:t> </a:t>
            </a:r>
            <a:r>
              <a:rPr lang="fr-FR" b="1">
                <a:ln>
                  <a:solidFill>
                    <a:schemeClr val="tx1"/>
                  </a:solidFill>
                </a:ln>
                <a:solidFill>
                  <a:schemeClr val="tx1"/>
                </a:solidFill>
              </a:rPr>
              <a:t>souvent</a:t>
            </a:r>
            <a:r>
              <a:rPr lang="fr-FR" sz="1200"/>
              <a:t> </a:t>
            </a:r>
            <a:r>
              <a:rPr lang="fr-FR" b="1">
                <a:ln>
                  <a:solidFill>
                    <a:schemeClr val="tx1"/>
                  </a:solidFill>
                </a:ln>
                <a:solidFill>
                  <a:schemeClr val="tx1"/>
                </a:solidFill>
              </a:rPr>
              <a:t>spécifiques</a:t>
            </a:r>
            <a:r>
              <a:rPr lang="fr-FR" sz="1200"/>
              <a:t> </a:t>
            </a:r>
            <a:r>
              <a:rPr lang="fr-FR" b="1">
                <a:ln>
                  <a:solidFill>
                    <a:schemeClr val="tx1"/>
                  </a:solidFill>
                </a:ln>
                <a:solidFill>
                  <a:schemeClr val="tx1"/>
                </a:solidFill>
              </a:rPr>
              <a:t>à</a:t>
            </a:r>
            <a:r>
              <a:rPr lang="fr-FR" sz="1200"/>
              <a:t> </a:t>
            </a:r>
            <a:r>
              <a:rPr lang="fr-FR" b="1">
                <a:ln>
                  <a:solidFill>
                    <a:schemeClr val="tx1"/>
                  </a:solidFill>
                </a:ln>
                <a:solidFill>
                  <a:schemeClr val="tx1"/>
                </a:solidFill>
              </a:rPr>
              <a:t>un</a:t>
            </a:r>
            <a:r>
              <a:rPr lang="fr-FR" sz="1200"/>
              <a:t> </a:t>
            </a:r>
            <a:r>
              <a:rPr lang="fr-FR" b="1">
                <a:ln>
                  <a:solidFill>
                    <a:schemeClr val="tx1"/>
                  </a:solidFill>
                </a:ln>
                <a:solidFill>
                  <a:schemeClr val="tx1"/>
                </a:solidFill>
              </a:rPr>
              <a:t>domaine</a:t>
            </a:r>
            <a:r>
              <a:rPr lang="fr-FR" sz="1200"/>
              <a:t> et permettent de normaliser les opérations.</a:t>
            </a:r>
          </a:p>
          <a:p>
            <a:endParaRPr lang="fr-FR" sz="1050"/>
          </a:p>
          <a:p>
            <a:r>
              <a:rPr lang="fr-FR" sz="1050"/>
              <a:t>Caractéristiques d'une règle métier :</a:t>
            </a:r>
          </a:p>
          <a:p>
            <a:endParaRPr lang="fr-FR" b="1">
              <a:ln>
                <a:solidFill>
                  <a:schemeClr val="tx1"/>
                </a:solidFill>
              </a:ln>
              <a:solidFill>
                <a:schemeClr val="tx1"/>
              </a:solidFill>
            </a:endParaRPr>
          </a:p>
          <a:p>
            <a:r>
              <a:rPr lang="fr-FR" b="1">
                <a:ln>
                  <a:solidFill>
                    <a:schemeClr val="tx1"/>
                  </a:solidFill>
                </a:ln>
                <a:solidFill>
                  <a:schemeClr val="tx1"/>
                </a:solidFill>
              </a:rPr>
              <a:t>Spécifique</a:t>
            </a:r>
            <a:r>
              <a:rPr lang="fr-FR" sz="1200"/>
              <a:t> </a:t>
            </a:r>
            <a:r>
              <a:rPr lang="fr-FR" b="1">
                <a:ln>
                  <a:solidFill>
                    <a:schemeClr val="tx1"/>
                  </a:solidFill>
                </a:ln>
                <a:solidFill>
                  <a:schemeClr val="tx1"/>
                </a:solidFill>
              </a:rPr>
              <a:t>et</a:t>
            </a:r>
            <a:r>
              <a:rPr lang="fr-FR" sz="1200"/>
              <a:t> </a:t>
            </a:r>
            <a:r>
              <a:rPr lang="fr-FR" b="1">
                <a:ln>
                  <a:solidFill>
                    <a:schemeClr val="tx1"/>
                  </a:solidFill>
                </a:ln>
                <a:solidFill>
                  <a:schemeClr val="tx1"/>
                </a:solidFill>
              </a:rPr>
              <a:t>précise</a:t>
            </a:r>
            <a:r>
              <a:rPr lang="fr-FR" sz="1200"/>
              <a:t> : Elle est formulée clairement, sans ambiguïté, pour éviter des interprétations multiples.</a:t>
            </a:r>
          </a:p>
          <a:p>
            <a:endParaRPr lang="fr-FR" b="1">
              <a:ln>
                <a:solidFill>
                  <a:schemeClr val="tx1"/>
                </a:solidFill>
              </a:ln>
              <a:solidFill>
                <a:schemeClr val="tx1"/>
              </a:solidFill>
            </a:endParaRPr>
          </a:p>
          <a:p>
            <a:r>
              <a:rPr lang="fr-FR" b="1">
                <a:ln>
                  <a:solidFill>
                    <a:schemeClr val="tx1"/>
                  </a:solidFill>
                </a:ln>
                <a:solidFill>
                  <a:schemeClr val="tx1"/>
                </a:solidFill>
              </a:rPr>
              <a:t>Guidance</a:t>
            </a:r>
            <a:r>
              <a:rPr lang="fr-FR" sz="1200"/>
              <a:t> </a:t>
            </a:r>
            <a:r>
              <a:rPr lang="fr-FR" b="1">
                <a:ln>
                  <a:solidFill>
                    <a:schemeClr val="tx1"/>
                  </a:solidFill>
                </a:ln>
                <a:solidFill>
                  <a:schemeClr val="tx1"/>
                </a:solidFill>
              </a:rPr>
              <a:t>sur</a:t>
            </a:r>
            <a:r>
              <a:rPr lang="fr-FR" sz="1200"/>
              <a:t> </a:t>
            </a:r>
            <a:r>
              <a:rPr lang="fr-FR" b="1">
                <a:ln>
                  <a:solidFill>
                    <a:schemeClr val="tx1"/>
                  </a:solidFill>
                </a:ln>
                <a:solidFill>
                  <a:schemeClr val="tx1"/>
                </a:solidFill>
              </a:rPr>
              <a:t>les</a:t>
            </a:r>
            <a:r>
              <a:rPr lang="fr-FR" sz="1200"/>
              <a:t> </a:t>
            </a:r>
            <a:r>
              <a:rPr lang="fr-FR" b="1">
                <a:ln>
                  <a:solidFill>
                    <a:schemeClr val="tx1"/>
                  </a:solidFill>
                </a:ln>
                <a:solidFill>
                  <a:schemeClr val="tx1"/>
                </a:solidFill>
              </a:rPr>
              <a:t>décisions</a:t>
            </a:r>
            <a:r>
              <a:rPr lang="fr-FR" sz="1200"/>
              <a:t> : Elle impose des critères à respecter pour prendre certaines décisions.</a:t>
            </a:r>
          </a:p>
          <a:p>
            <a:endParaRPr lang="fr-FR" b="1">
              <a:ln>
                <a:solidFill>
                  <a:schemeClr val="tx1"/>
                </a:solidFill>
              </a:ln>
              <a:solidFill>
                <a:schemeClr val="tx1"/>
              </a:solidFill>
            </a:endParaRPr>
          </a:p>
          <a:p>
            <a:r>
              <a:rPr lang="fr-FR" b="1">
                <a:ln>
                  <a:solidFill>
                    <a:schemeClr val="tx1"/>
                  </a:solidFill>
                </a:ln>
                <a:solidFill>
                  <a:schemeClr val="tx1"/>
                </a:solidFill>
              </a:rPr>
              <a:t>Applicabilité</a:t>
            </a:r>
            <a:r>
              <a:rPr lang="fr-FR" sz="1200"/>
              <a:t> : Elle s'applique systématiquement dans les situations spécifiées pour garantir la cohérence des actions et des décisions.</a:t>
            </a:r>
          </a:p>
          <a:p>
            <a:r>
              <a:rPr lang="fr-FR" sz="1200"/>
              <a:t>Indépendance : Elle est indépendante des processus et de la technologie, ce qui signifie qu'elle peut être appliquée à différents processus ou transposée dans un nouveau système sans modification.</a:t>
            </a:r>
          </a:p>
          <a:p>
            <a:endParaRPr lang="fr-FR" sz="1050"/>
          </a:p>
          <a:p>
            <a:r>
              <a:rPr lang="fr-FR" sz="1050"/>
              <a:t>Types de règles métier :</a:t>
            </a:r>
          </a:p>
          <a:p>
            <a:endParaRPr lang="fr-FR" b="1">
              <a:ln>
                <a:solidFill>
                  <a:schemeClr val="tx1"/>
                </a:solidFill>
              </a:ln>
              <a:solidFill>
                <a:schemeClr val="tx1"/>
              </a:solidFill>
            </a:endParaRPr>
          </a:p>
          <a:p>
            <a:r>
              <a:rPr lang="fr-FR" b="1">
                <a:ln>
                  <a:solidFill>
                    <a:schemeClr val="tx1"/>
                  </a:solidFill>
                </a:ln>
                <a:solidFill>
                  <a:schemeClr val="tx1"/>
                </a:solidFill>
              </a:rPr>
              <a:t>Règles</a:t>
            </a:r>
            <a:r>
              <a:rPr lang="fr-FR" sz="1200"/>
              <a:t> </a:t>
            </a:r>
            <a:r>
              <a:rPr lang="fr-FR" b="1">
                <a:ln>
                  <a:solidFill>
                    <a:schemeClr val="tx1"/>
                  </a:solidFill>
                </a:ln>
                <a:solidFill>
                  <a:schemeClr val="tx1"/>
                </a:solidFill>
              </a:rPr>
              <a:t>de</a:t>
            </a:r>
            <a:r>
              <a:rPr lang="fr-FR" sz="1200"/>
              <a:t> </a:t>
            </a:r>
            <a:r>
              <a:rPr lang="fr-FR" b="1">
                <a:ln>
                  <a:solidFill>
                    <a:schemeClr val="tx1"/>
                  </a:solidFill>
                </a:ln>
                <a:solidFill>
                  <a:schemeClr val="tx1"/>
                </a:solidFill>
              </a:rPr>
              <a:t>validation</a:t>
            </a:r>
            <a:r>
              <a:rPr lang="fr-FR" sz="1200"/>
              <a:t> : Elles définissent les conditions nécessaires pour valider ou rejeter une action (ex. un client doit avoir 18 ans ou plus pour passer une commande).</a:t>
            </a:r>
          </a:p>
          <a:p>
            <a:endParaRPr lang="fr-FR" b="1">
              <a:ln>
                <a:solidFill>
                  <a:schemeClr val="tx1"/>
                </a:solidFill>
              </a:ln>
              <a:solidFill>
                <a:schemeClr val="tx1"/>
              </a:solidFill>
            </a:endParaRPr>
          </a:p>
          <a:p>
            <a:r>
              <a:rPr lang="fr-FR" b="1">
                <a:ln>
                  <a:solidFill>
                    <a:schemeClr val="tx1"/>
                  </a:solidFill>
                </a:ln>
                <a:solidFill>
                  <a:schemeClr val="tx1"/>
                </a:solidFill>
              </a:rPr>
              <a:t>Règles</a:t>
            </a:r>
            <a:r>
              <a:rPr lang="fr-FR" sz="1200"/>
              <a:t> </a:t>
            </a:r>
            <a:r>
              <a:rPr lang="fr-FR" b="1">
                <a:ln>
                  <a:solidFill>
                    <a:schemeClr val="tx1"/>
                  </a:solidFill>
                </a:ln>
                <a:solidFill>
                  <a:schemeClr val="tx1"/>
                </a:solidFill>
              </a:rPr>
              <a:t>de</a:t>
            </a:r>
            <a:r>
              <a:rPr lang="fr-FR" sz="1200"/>
              <a:t> </a:t>
            </a:r>
            <a:r>
              <a:rPr lang="fr-FR" b="1">
                <a:ln>
                  <a:solidFill>
                    <a:schemeClr val="tx1"/>
                  </a:solidFill>
                </a:ln>
                <a:solidFill>
                  <a:schemeClr val="tx1"/>
                </a:solidFill>
              </a:rPr>
              <a:t>calcul</a:t>
            </a:r>
            <a:r>
              <a:rPr lang="fr-FR" sz="1200"/>
              <a:t> : Elles définissent les calculs ou les formules pour déterminer une valeur ou un montant (ex. appliquer une réduction de 10 % pour les commandes supérieures à 100 euros).</a:t>
            </a:r>
          </a:p>
          <a:p>
            <a:endParaRPr lang="fr-FR" b="1">
              <a:ln>
                <a:solidFill>
                  <a:schemeClr val="tx1"/>
                </a:solidFill>
              </a:ln>
              <a:solidFill>
                <a:schemeClr val="tx1"/>
              </a:solidFill>
            </a:endParaRPr>
          </a:p>
          <a:p>
            <a:r>
              <a:rPr lang="fr-FR" b="1">
                <a:ln>
                  <a:solidFill>
                    <a:schemeClr val="tx1"/>
                  </a:solidFill>
                </a:ln>
                <a:solidFill>
                  <a:schemeClr val="tx1"/>
                </a:solidFill>
              </a:rPr>
              <a:t>Règles</a:t>
            </a:r>
            <a:r>
              <a:rPr lang="fr-FR" sz="1200"/>
              <a:t> </a:t>
            </a:r>
            <a:r>
              <a:rPr lang="fr-FR" b="1">
                <a:ln>
                  <a:solidFill>
                    <a:schemeClr val="tx1"/>
                  </a:solidFill>
                </a:ln>
                <a:solidFill>
                  <a:schemeClr val="tx1"/>
                </a:solidFill>
              </a:rPr>
              <a:t>de</a:t>
            </a:r>
            <a:r>
              <a:rPr lang="fr-FR" sz="1200"/>
              <a:t> </a:t>
            </a:r>
            <a:r>
              <a:rPr lang="fr-FR" b="1">
                <a:ln>
                  <a:solidFill>
                    <a:schemeClr val="tx1"/>
                  </a:solidFill>
                </a:ln>
                <a:solidFill>
                  <a:schemeClr val="tx1"/>
                </a:solidFill>
              </a:rPr>
              <a:t>contrainte</a:t>
            </a:r>
            <a:r>
              <a:rPr lang="fr-FR" sz="1200"/>
              <a:t> : Elles définissent des restrictions ou des limites (ex. un produit ne peut être expédié que si le stock est suffisant).</a:t>
            </a:r>
          </a:p>
          <a:p>
            <a:endParaRPr lang="fr-FR" b="1">
              <a:ln>
                <a:solidFill>
                  <a:schemeClr val="tx1"/>
                </a:solidFill>
              </a:ln>
              <a:solidFill>
                <a:schemeClr val="tx1"/>
              </a:solidFill>
            </a:endParaRPr>
          </a:p>
          <a:p>
            <a:r>
              <a:rPr lang="fr-FR" b="1">
                <a:ln>
                  <a:solidFill>
                    <a:schemeClr val="tx1"/>
                  </a:solidFill>
                </a:ln>
                <a:solidFill>
                  <a:schemeClr val="tx1"/>
                </a:solidFill>
              </a:rPr>
              <a:t>Règles</a:t>
            </a:r>
            <a:r>
              <a:rPr lang="fr-FR" sz="1200"/>
              <a:t> </a:t>
            </a:r>
            <a:r>
              <a:rPr lang="fr-FR" b="1">
                <a:ln>
                  <a:solidFill>
                    <a:schemeClr val="tx1"/>
                  </a:solidFill>
                </a:ln>
                <a:solidFill>
                  <a:schemeClr val="tx1"/>
                </a:solidFill>
              </a:rPr>
              <a:t>de</a:t>
            </a:r>
            <a:r>
              <a:rPr lang="fr-FR" sz="1200"/>
              <a:t> </a:t>
            </a:r>
            <a:r>
              <a:rPr lang="fr-FR" b="1">
                <a:ln>
                  <a:solidFill>
                    <a:schemeClr val="tx1"/>
                  </a:solidFill>
                </a:ln>
                <a:solidFill>
                  <a:schemeClr val="tx1"/>
                </a:solidFill>
              </a:rPr>
              <a:t>déclenchement</a:t>
            </a:r>
            <a:r>
              <a:rPr lang="fr-FR" sz="1200"/>
              <a:t> : Elles spécifient les conditions dans lesquelles certaines actions sont initiées automatiquement (ex. envoyer un rappel de paiement après 30 jours de retard).</a:t>
            </a:r>
          </a:p>
        </p:txBody>
      </p:sp>
      <p:sp>
        <p:nvSpPr>
          <p:cNvPr id="13" name="ZoneTexte 12">
            <a:extLst>
              <a:ext uri="{FF2B5EF4-FFF2-40B4-BE49-F238E27FC236}">
                <a16:creationId xmlns:a16="http://schemas.microsoft.com/office/drawing/2014/main" id="{8561B6CC-C22E-32FD-0F64-1A1AA5F1DD83}"/>
              </a:ext>
            </a:extLst>
          </p:cNvPr>
          <p:cNvSpPr txBox="1"/>
          <p:nvPr/>
        </p:nvSpPr>
        <p:spPr>
          <a:xfrm>
            <a:off x="225885" y="790436"/>
            <a:ext cx="2507418" cy="461665"/>
          </a:xfrm>
          <a:prstGeom prst="rect">
            <a:avLst/>
          </a:prstGeom>
          <a:noFill/>
        </p:spPr>
        <p:txBody>
          <a:bodyPr wrap="none" rtlCol="0">
            <a:spAutoFit/>
          </a:bodyPr>
          <a:lstStyle/>
          <a:p>
            <a:r>
              <a:rPr lang="fr-FR" sz="2400">
                <a:ln w="28575">
                  <a:solidFill>
                    <a:schemeClr val="tx1"/>
                  </a:solidFill>
                </a:ln>
                <a:latin typeface="Avenir LT 35 Light" panose="02000503030000020003" pitchFamily="2" charset="0"/>
              </a:rPr>
              <a:t>Processus Métier</a:t>
            </a:r>
          </a:p>
        </p:txBody>
      </p:sp>
      <p:sp>
        <p:nvSpPr>
          <p:cNvPr id="14" name="ZoneTexte 13">
            <a:extLst>
              <a:ext uri="{FF2B5EF4-FFF2-40B4-BE49-F238E27FC236}">
                <a16:creationId xmlns:a16="http://schemas.microsoft.com/office/drawing/2014/main" id="{F61B840D-A677-1BF3-995F-61274D676BCC}"/>
              </a:ext>
            </a:extLst>
          </p:cNvPr>
          <p:cNvSpPr txBox="1"/>
          <p:nvPr/>
        </p:nvSpPr>
        <p:spPr>
          <a:xfrm>
            <a:off x="5888978" y="790435"/>
            <a:ext cx="1936749" cy="461665"/>
          </a:xfrm>
          <a:prstGeom prst="rect">
            <a:avLst/>
          </a:prstGeom>
          <a:noFill/>
        </p:spPr>
        <p:txBody>
          <a:bodyPr wrap="none" rtlCol="0">
            <a:spAutoFit/>
          </a:bodyPr>
          <a:lstStyle/>
          <a:p>
            <a:r>
              <a:rPr lang="fr-FR" sz="2400">
                <a:ln w="28575">
                  <a:solidFill>
                    <a:schemeClr val="tx1"/>
                  </a:solidFill>
                </a:ln>
                <a:latin typeface="Avenir LT 35 Light" panose="02000503030000020003" pitchFamily="2" charset="0"/>
              </a:rPr>
              <a:t>Règle métier</a:t>
            </a:r>
          </a:p>
        </p:txBody>
      </p:sp>
      <p:cxnSp>
        <p:nvCxnSpPr>
          <p:cNvPr id="15" name="Connecteur droit 14">
            <a:extLst>
              <a:ext uri="{FF2B5EF4-FFF2-40B4-BE49-F238E27FC236}">
                <a16:creationId xmlns:a16="http://schemas.microsoft.com/office/drawing/2014/main" id="{03615637-A833-9F7F-0B2E-F756535D377E}"/>
              </a:ext>
            </a:extLst>
          </p:cNvPr>
          <p:cNvCxnSpPr>
            <a:cxnSpLocks/>
          </p:cNvCxnSpPr>
          <p:nvPr/>
        </p:nvCxnSpPr>
        <p:spPr>
          <a:xfrm>
            <a:off x="5727242" y="2432050"/>
            <a:ext cx="0" cy="3950435"/>
          </a:xfrm>
          <a:prstGeom prst="line">
            <a:avLst/>
          </a:prstGeom>
          <a:ln w="38100" cap="rnd">
            <a:solidFill>
              <a:srgbClr val="102031"/>
            </a:solidFill>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6C32EB7C-A077-A088-7B76-4F6E17BE3A5E}"/>
              </a:ext>
            </a:extLst>
          </p:cNvPr>
          <p:cNvCxnSpPr>
            <a:cxnSpLocks/>
          </p:cNvCxnSpPr>
          <p:nvPr/>
        </p:nvCxnSpPr>
        <p:spPr>
          <a:xfrm flipH="1">
            <a:off x="4843990" y="5572673"/>
            <a:ext cx="883252" cy="0"/>
          </a:xfrm>
          <a:prstGeom prst="straightConnector1">
            <a:avLst/>
          </a:prstGeom>
          <a:ln w="38100" cap="rnd">
            <a:solidFill>
              <a:srgbClr val="102031"/>
            </a:solidFill>
            <a:tailEnd type="arrow"/>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8FE3573C-5585-C968-A4DF-A817F6794623}"/>
              </a:ext>
            </a:extLst>
          </p:cNvPr>
          <p:cNvSpPr txBox="1"/>
          <p:nvPr/>
        </p:nvSpPr>
        <p:spPr>
          <a:xfrm>
            <a:off x="1296223" y="5161067"/>
            <a:ext cx="3547766" cy="1057662"/>
          </a:xfrm>
          <a:prstGeom prst="rect">
            <a:avLst/>
          </a:prstGeom>
          <a:noFill/>
        </p:spPr>
        <p:txBody>
          <a:bodyPr wrap="none" rtlCol="0">
            <a:spAutoFit/>
          </a:bodyPr>
          <a:lstStyle/>
          <a:p>
            <a:pPr algn="r">
              <a:lnSpc>
                <a:spcPct val="78000"/>
              </a:lnSpc>
            </a:pPr>
            <a:r>
              <a:rPr lang="fr-FR" sz="2000">
                <a:ln w="28575">
                  <a:solidFill>
                    <a:schemeClr val="tx1"/>
                  </a:solidFill>
                </a:ln>
                <a:latin typeface="Avenir LT 35 Light" panose="02000503030000020003" pitchFamily="2" charset="0"/>
              </a:rPr>
              <a:t>Rappelons-nous ce </a:t>
            </a:r>
          </a:p>
          <a:p>
            <a:pPr algn="r">
              <a:lnSpc>
                <a:spcPct val="78000"/>
              </a:lnSpc>
            </a:pPr>
            <a:r>
              <a:rPr lang="fr-FR" sz="2000">
                <a:ln w="28575">
                  <a:solidFill>
                    <a:schemeClr val="tx1"/>
                  </a:solidFill>
                </a:ln>
                <a:latin typeface="Avenir LT 35 Light" panose="02000503030000020003" pitchFamily="2" charset="0"/>
              </a:rPr>
              <a:t>qu’il n’est pas recommandé </a:t>
            </a:r>
          </a:p>
          <a:p>
            <a:pPr algn="r">
              <a:lnSpc>
                <a:spcPct val="78000"/>
              </a:lnSpc>
            </a:pPr>
            <a:r>
              <a:rPr lang="fr-FR" sz="2000">
                <a:ln w="28575">
                  <a:solidFill>
                    <a:schemeClr val="tx1"/>
                  </a:solidFill>
                </a:ln>
                <a:latin typeface="Avenir LT 35 Light" panose="02000503030000020003" pitchFamily="2" charset="0"/>
              </a:rPr>
              <a:t>d’implémenter </a:t>
            </a:r>
          </a:p>
          <a:p>
            <a:pPr algn="r">
              <a:lnSpc>
                <a:spcPct val="78000"/>
              </a:lnSpc>
            </a:pPr>
            <a:r>
              <a:rPr lang="fr-FR" sz="2000">
                <a:ln w="28575">
                  <a:solidFill>
                    <a:schemeClr val="tx1"/>
                  </a:solidFill>
                </a:ln>
                <a:latin typeface="Avenir LT 35 Light" panose="02000503030000020003" pitchFamily="2" charset="0"/>
              </a:rPr>
              <a:t>dans la solution de médiation</a:t>
            </a:r>
          </a:p>
        </p:txBody>
      </p:sp>
    </p:spTree>
    <p:extLst>
      <p:ext uri="{BB962C8B-B14F-4D97-AF65-F5344CB8AC3E}">
        <p14:creationId xmlns:p14="http://schemas.microsoft.com/office/powerpoint/2010/main" val="2955683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577E7-308C-F0BE-A1FD-F6A82D5333F8}"/>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6495341-53E4-5967-4DCC-4A154F69EF09}"/>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EE6014E8-763E-6775-F1B0-3CE6BE1C20C9}"/>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30A04B74-B385-70CB-F431-51735CEF51A9}"/>
              </a:ext>
            </a:extLst>
          </p:cNvPr>
          <p:cNvSpPr>
            <a:spLocks noGrp="1"/>
          </p:cNvSpPr>
          <p:nvPr>
            <p:ph type="sldNum" sz="quarter" idx="12"/>
          </p:nvPr>
        </p:nvSpPr>
        <p:spPr/>
        <p:txBody>
          <a:bodyPr/>
          <a:lstStyle/>
          <a:p>
            <a:fld id="{CD166EB1-B284-8541-B839-321F682B6B05}" type="slidenum">
              <a:rPr lang="fr-FR" smtClean="0"/>
              <a:pPr/>
              <a:t>35</a:t>
            </a:fld>
            <a:endParaRPr lang="fr-FR"/>
          </a:p>
        </p:txBody>
      </p:sp>
      <p:sp>
        <p:nvSpPr>
          <p:cNvPr id="6" name="Espace réservé du texte 5">
            <a:extLst>
              <a:ext uri="{FF2B5EF4-FFF2-40B4-BE49-F238E27FC236}">
                <a16:creationId xmlns:a16="http://schemas.microsoft.com/office/drawing/2014/main" id="{FFD4B7E3-3842-1B5B-4811-B82E242165B3}"/>
              </a:ext>
            </a:extLst>
          </p:cNvPr>
          <p:cNvSpPr>
            <a:spLocks noGrp="1"/>
          </p:cNvSpPr>
          <p:nvPr>
            <p:ph type="body" sz="quarter" idx="19"/>
          </p:nvPr>
        </p:nvSpPr>
        <p:spPr/>
        <p:txBody>
          <a:bodyPr/>
          <a:lstStyle/>
          <a:p>
            <a:r>
              <a:rPr lang="fr-FR">
                <a:ln w="19050">
                  <a:solidFill>
                    <a:schemeClr val="bg1"/>
                  </a:solidFill>
                </a:ln>
              </a:rPr>
              <a:t>L’atelier API a proposé ces rappels</a:t>
            </a:r>
          </a:p>
        </p:txBody>
      </p:sp>
      <p:sp>
        <p:nvSpPr>
          <p:cNvPr id="7" name="Espace réservé du texte 6">
            <a:extLst>
              <a:ext uri="{FF2B5EF4-FFF2-40B4-BE49-F238E27FC236}">
                <a16:creationId xmlns:a16="http://schemas.microsoft.com/office/drawing/2014/main" id="{8FB60DA8-DF11-7F78-C0F1-1CA0F0D1C74F}"/>
              </a:ext>
            </a:extLst>
          </p:cNvPr>
          <p:cNvSpPr>
            <a:spLocks noGrp="1"/>
          </p:cNvSpPr>
          <p:nvPr>
            <p:ph type="body" sz="quarter" idx="30"/>
          </p:nvPr>
        </p:nvSpPr>
        <p:spPr/>
        <p:txBody>
          <a:bodyPr/>
          <a:lstStyle/>
          <a:p>
            <a:r>
              <a:rPr lang="fr-FR">
                <a:ln w="19050">
                  <a:solidFill>
                    <a:schemeClr val="bg1"/>
                  </a:solidFill>
                </a:ln>
              </a:rPr>
              <a:t>12</a:t>
            </a:r>
          </a:p>
        </p:txBody>
      </p:sp>
      <p:pic>
        <p:nvPicPr>
          <p:cNvPr id="11" name="Image 10">
            <a:extLst>
              <a:ext uri="{FF2B5EF4-FFF2-40B4-BE49-F238E27FC236}">
                <a16:creationId xmlns:a16="http://schemas.microsoft.com/office/drawing/2014/main" id="{173D53EF-3AC2-B790-9557-DF85A6B1EE48}"/>
              </a:ext>
            </a:extLst>
          </p:cNvPr>
          <p:cNvPicPr>
            <a:picLocks noChangeAspect="1"/>
          </p:cNvPicPr>
          <p:nvPr/>
        </p:nvPicPr>
        <p:blipFill>
          <a:blip r:embed="rId3"/>
          <a:stretch>
            <a:fillRect/>
          </a:stretch>
        </p:blipFill>
        <p:spPr>
          <a:xfrm>
            <a:off x="537577" y="850899"/>
            <a:ext cx="10030787" cy="5656591"/>
          </a:xfrm>
          <a:prstGeom prst="rect">
            <a:avLst/>
          </a:prstGeom>
          <a:solidFill>
            <a:srgbClr val="B8006D"/>
          </a:solidFill>
        </p:spPr>
      </p:pic>
      <p:sp>
        <p:nvSpPr>
          <p:cNvPr id="12" name="Espace réservé du texte 3">
            <a:extLst>
              <a:ext uri="{FF2B5EF4-FFF2-40B4-BE49-F238E27FC236}">
                <a16:creationId xmlns:a16="http://schemas.microsoft.com/office/drawing/2014/main" id="{8CF15A81-7A6D-0038-B671-7F9CA025FEEC}"/>
              </a:ext>
            </a:extLst>
          </p:cNvPr>
          <p:cNvSpPr txBox="1">
            <a:spLocks/>
          </p:cNvSpPr>
          <p:nvPr/>
        </p:nvSpPr>
        <p:spPr>
          <a:xfrm>
            <a:off x="4264209" y="1016665"/>
            <a:ext cx="589579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200" b="1" i="0" u="none" strike="noStrike" kern="1200" cap="none" spc="0" normalizeH="0" baseline="0" noProof="0">
                <a:ln>
                  <a:solidFill>
                    <a:srgbClr val="102031"/>
                  </a:solidFill>
                </a:ln>
                <a:solidFill>
                  <a:srgbClr val="272727"/>
                </a:solidFill>
                <a:effectLst/>
                <a:uLnTx/>
                <a:uFillTx/>
                <a:latin typeface="Arial"/>
                <a:cs typeface="Arial"/>
              </a:rPr>
              <a:t>Rappels des principes évoqués par ONEPOINT en 2024 en atelier API</a:t>
            </a:r>
          </a:p>
        </p:txBody>
      </p:sp>
    </p:spTree>
    <p:extLst>
      <p:ext uri="{BB962C8B-B14F-4D97-AF65-F5344CB8AC3E}">
        <p14:creationId xmlns:p14="http://schemas.microsoft.com/office/powerpoint/2010/main" val="1326856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B736A-117E-4259-E53D-D91888656A76}"/>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2C38DB0-4DF7-8882-353F-6D755979E059}"/>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761A782F-09C5-AAA0-E78C-240BB85F2FA7}"/>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250627D1-68F6-EF6D-C37B-4D524C9B6B52}"/>
              </a:ext>
            </a:extLst>
          </p:cNvPr>
          <p:cNvSpPr>
            <a:spLocks noGrp="1"/>
          </p:cNvSpPr>
          <p:nvPr>
            <p:ph type="sldNum" sz="quarter" idx="12"/>
          </p:nvPr>
        </p:nvSpPr>
        <p:spPr/>
        <p:txBody>
          <a:bodyPr/>
          <a:lstStyle/>
          <a:p>
            <a:fld id="{CD166EB1-B284-8541-B839-321F682B6B05}" type="slidenum">
              <a:rPr lang="fr-FR" smtClean="0"/>
              <a:pPr/>
              <a:t>36</a:t>
            </a:fld>
            <a:endParaRPr lang="fr-FR"/>
          </a:p>
        </p:txBody>
      </p:sp>
      <p:sp>
        <p:nvSpPr>
          <p:cNvPr id="6" name="Espace réservé du texte 5">
            <a:extLst>
              <a:ext uri="{FF2B5EF4-FFF2-40B4-BE49-F238E27FC236}">
                <a16:creationId xmlns:a16="http://schemas.microsoft.com/office/drawing/2014/main" id="{8CEC0405-F557-7202-1037-99C26EF50792}"/>
              </a:ext>
            </a:extLst>
          </p:cNvPr>
          <p:cNvSpPr>
            <a:spLocks noGrp="1"/>
          </p:cNvSpPr>
          <p:nvPr>
            <p:ph type="body" sz="quarter" idx="19"/>
          </p:nvPr>
        </p:nvSpPr>
        <p:spPr/>
        <p:txBody>
          <a:bodyPr/>
          <a:lstStyle/>
          <a:p>
            <a:r>
              <a:rPr lang="fr-FR">
                <a:ln w="19050">
                  <a:solidFill>
                    <a:schemeClr val="bg1"/>
                  </a:solidFill>
                </a:ln>
              </a:rPr>
              <a:t>L’atelier API a proposé ces rappels : Focus</a:t>
            </a:r>
          </a:p>
        </p:txBody>
      </p:sp>
      <p:sp>
        <p:nvSpPr>
          <p:cNvPr id="7" name="Espace réservé du texte 6">
            <a:extLst>
              <a:ext uri="{FF2B5EF4-FFF2-40B4-BE49-F238E27FC236}">
                <a16:creationId xmlns:a16="http://schemas.microsoft.com/office/drawing/2014/main" id="{84428557-1435-0BC0-5FD8-219A1423DBE0}"/>
              </a:ext>
            </a:extLst>
          </p:cNvPr>
          <p:cNvSpPr>
            <a:spLocks noGrp="1"/>
          </p:cNvSpPr>
          <p:nvPr>
            <p:ph type="body" sz="quarter" idx="30"/>
          </p:nvPr>
        </p:nvSpPr>
        <p:spPr/>
        <p:txBody>
          <a:bodyPr/>
          <a:lstStyle/>
          <a:p>
            <a:r>
              <a:rPr lang="fr-FR">
                <a:ln w="19050">
                  <a:solidFill>
                    <a:schemeClr val="bg1"/>
                  </a:solidFill>
                </a:ln>
              </a:rPr>
              <a:t>12</a:t>
            </a:r>
          </a:p>
        </p:txBody>
      </p:sp>
      <p:sp>
        <p:nvSpPr>
          <p:cNvPr id="9" name="Rectangle : coins arrondis 8">
            <a:extLst>
              <a:ext uri="{FF2B5EF4-FFF2-40B4-BE49-F238E27FC236}">
                <a16:creationId xmlns:a16="http://schemas.microsoft.com/office/drawing/2014/main" id="{08C22B08-4223-99C4-C75E-C337EA923844}"/>
              </a:ext>
            </a:extLst>
          </p:cNvPr>
          <p:cNvSpPr/>
          <p:nvPr/>
        </p:nvSpPr>
        <p:spPr>
          <a:xfrm>
            <a:off x="210948" y="1692208"/>
            <a:ext cx="2392827" cy="3049833"/>
          </a:xfrm>
          <a:prstGeom prst="roundRect">
            <a:avLst>
              <a:gd name="adj" fmla="val 0"/>
            </a:avLst>
          </a:prstGeom>
          <a:solidFill>
            <a:srgbClr val="B8006D"/>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26670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Poppins Light"/>
                <a:ea typeface="+mn-ea"/>
                <a:cs typeface="Arial" panose="020B0604020202020204" pitchFamily="34" charset="0"/>
              </a:rPr>
              <a:t>DON’T DO IT IN A CENTRAL, TRANSVERSAL COMPONENT BECAUSE BUSINESS WOULD BE DISPERSED IN ALL THE IT</a:t>
            </a:r>
          </a:p>
        </p:txBody>
      </p:sp>
      <p:sp>
        <p:nvSpPr>
          <p:cNvPr id="10" name="Ellipse 9">
            <a:extLst>
              <a:ext uri="{FF2B5EF4-FFF2-40B4-BE49-F238E27FC236}">
                <a16:creationId xmlns:a16="http://schemas.microsoft.com/office/drawing/2014/main" id="{AC9D3FF6-BD04-C95D-6B3D-19267B3BB495}"/>
              </a:ext>
            </a:extLst>
          </p:cNvPr>
          <p:cNvSpPr/>
          <p:nvPr/>
        </p:nvSpPr>
        <p:spPr>
          <a:xfrm>
            <a:off x="11052385" y="3217125"/>
            <a:ext cx="566058" cy="547396"/>
          </a:xfrm>
          <a:prstGeom prst="ellipse">
            <a:avLst/>
          </a:prstGeom>
          <a:solidFill>
            <a:srgbClr val="B800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prstClr val="white"/>
                </a:solidFill>
                <a:effectLst/>
                <a:uLnTx/>
                <a:uFillTx/>
                <a:latin typeface="Poppins Light"/>
                <a:ea typeface="+mn-ea"/>
                <a:cs typeface="+mn-cs"/>
              </a:rPr>
              <a:t>X</a:t>
            </a:r>
          </a:p>
        </p:txBody>
      </p:sp>
      <p:grpSp>
        <p:nvGrpSpPr>
          <p:cNvPr id="21" name="Groupe 20">
            <a:extLst>
              <a:ext uri="{FF2B5EF4-FFF2-40B4-BE49-F238E27FC236}">
                <a16:creationId xmlns:a16="http://schemas.microsoft.com/office/drawing/2014/main" id="{3E4E1104-2379-32C0-5551-4296FE34A241}"/>
              </a:ext>
            </a:extLst>
          </p:cNvPr>
          <p:cNvGrpSpPr/>
          <p:nvPr/>
        </p:nvGrpSpPr>
        <p:grpSpPr>
          <a:xfrm>
            <a:off x="2603775" y="1644667"/>
            <a:ext cx="8230895" cy="2445287"/>
            <a:chOff x="2965838" y="543144"/>
            <a:chExt cx="8230895" cy="3094003"/>
          </a:xfrm>
        </p:grpSpPr>
        <p:sp>
          <p:nvSpPr>
            <p:cNvPr id="22" name="Rectangle : coins arrondis 13">
              <a:extLst>
                <a:ext uri="{FF2B5EF4-FFF2-40B4-BE49-F238E27FC236}">
                  <a16:creationId xmlns:a16="http://schemas.microsoft.com/office/drawing/2014/main" id="{7ACD0A23-DE88-BD79-05F0-74C2B62859BB}"/>
                </a:ext>
              </a:extLst>
            </p:cNvPr>
            <p:cNvSpPr/>
            <p:nvPr/>
          </p:nvSpPr>
          <p:spPr>
            <a:xfrm>
              <a:off x="5610809" y="1849249"/>
              <a:ext cx="3097762" cy="1787898"/>
            </a:xfrm>
            <a:prstGeom prst="roundRect">
              <a:avLst>
                <a:gd name="adj" fmla="val 0"/>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B8006D"/>
                  </a:solidFill>
                  <a:effectLst/>
                  <a:uLnTx/>
                  <a:uFillTx/>
                  <a:latin typeface="Poppins Light"/>
                  <a:ea typeface="+mn-ea"/>
                  <a:cs typeface="+mn-cs"/>
                </a:rPr>
                <a:t>Central mediation layer</a:t>
              </a:r>
            </a:p>
          </p:txBody>
        </p:sp>
        <p:sp>
          <p:nvSpPr>
            <p:cNvPr id="23" name="Rectangle : coins arrondis 13">
              <a:extLst>
                <a:ext uri="{FF2B5EF4-FFF2-40B4-BE49-F238E27FC236}">
                  <a16:creationId xmlns:a16="http://schemas.microsoft.com/office/drawing/2014/main" id="{73F7F002-7193-0B81-BA1C-C7F598A8309E}"/>
                </a:ext>
              </a:extLst>
            </p:cNvPr>
            <p:cNvSpPr/>
            <p:nvPr/>
          </p:nvSpPr>
          <p:spPr>
            <a:xfrm>
              <a:off x="3183767" y="2302198"/>
              <a:ext cx="1332250"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A</a:t>
              </a:r>
            </a:p>
          </p:txBody>
        </p:sp>
        <p:sp>
          <p:nvSpPr>
            <p:cNvPr id="24" name="Rectangle : coins arrondis 13">
              <a:extLst>
                <a:ext uri="{FF2B5EF4-FFF2-40B4-BE49-F238E27FC236}">
                  <a16:creationId xmlns:a16="http://schemas.microsoft.com/office/drawing/2014/main" id="{D11C1797-E88E-EC58-B5D9-EC658E90DBA2}"/>
                </a:ext>
              </a:extLst>
            </p:cNvPr>
            <p:cNvSpPr/>
            <p:nvPr/>
          </p:nvSpPr>
          <p:spPr>
            <a:xfrm>
              <a:off x="9834465" y="2302198"/>
              <a:ext cx="1362268" cy="1242729"/>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Application B</a:t>
              </a:r>
            </a:p>
          </p:txBody>
        </p:sp>
        <p:cxnSp>
          <p:nvCxnSpPr>
            <p:cNvPr id="25" name="Connecteur droit avec flèche 24">
              <a:extLst>
                <a:ext uri="{FF2B5EF4-FFF2-40B4-BE49-F238E27FC236}">
                  <a16:creationId xmlns:a16="http://schemas.microsoft.com/office/drawing/2014/main" id="{9A45EA29-841C-7A4D-9154-69DFD9C810D0}"/>
                </a:ext>
              </a:extLst>
            </p:cNvPr>
            <p:cNvCxnSpPr>
              <a:cxnSpLocks/>
              <a:stCxn id="23" idx="3"/>
              <a:endCxn id="24" idx="1"/>
            </p:cNvCxnSpPr>
            <p:nvPr/>
          </p:nvCxnSpPr>
          <p:spPr>
            <a:xfrm>
              <a:off x="4516017" y="2923563"/>
              <a:ext cx="53184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0B06C099-A79F-8B88-AC34-B9855BCB7519}"/>
                </a:ext>
              </a:extLst>
            </p:cNvPr>
            <p:cNvSpPr txBox="1"/>
            <p:nvPr/>
          </p:nvSpPr>
          <p:spPr>
            <a:xfrm>
              <a:off x="6651697" y="2959230"/>
              <a:ext cx="1034368" cy="5451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PIVOT LANGUAGE</a:t>
              </a:r>
            </a:p>
          </p:txBody>
        </p:sp>
        <p:sp>
          <p:nvSpPr>
            <p:cNvPr id="27" name="Rectangle : coins arrondis 13">
              <a:extLst>
                <a:ext uri="{FF2B5EF4-FFF2-40B4-BE49-F238E27FC236}">
                  <a16:creationId xmlns:a16="http://schemas.microsoft.com/office/drawing/2014/main" id="{B0711987-EED4-44E1-6A68-930C1111ADBB}"/>
                </a:ext>
              </a:extLst>
            </p:cNvPr>
            <p:cNvSpPr/>
            <p:nvPr/>
          </p:nvSpPr>
          <p:spPr>
            <a:xfrm>
              <a:off x="5710336" y="2293805"/>
              <a:ext cx="963357"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 A Interface</a:t>
              </a:r>
            </a:p>
          </p:txBody>
        </p:sp>
        <p:sp>
          <p:nvSpPr>
            <p:cNvPr id="28" name="Rectangle : coins arrondis 13">
              <a:extLst>
                <a:ext uri="{FF2B5EF4-FFF2-40B4-BE49-F238E27FC236}">
                  <a16:creationId xmlns:a16="http://schemas.microsoft.com/office/drawing/2014/main" id="{9346403F-960C-D648-D9A0-AED20E67C399}"/>
                </a:ext>
              </a:extLst>
            </p:cNvPr>
            <p:cNvSpPr/>
            <p:nvPr/>
          </p:nvSpPr>
          <p:spPr>
            <a:xfrm>
              <a:off x="7671021" y="2289600"/>
              <a:ext cx="963357" cy="127378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Light"/>
                  <a:ea typeface="+mn-ea"/>
                  <a:cs typeface="+mn-cs"/>
                </a:rPr>
                <a:t>APP B Interface</a:t>
              </a:r>
            </a:p>
          </p:txBody>
        </p:sp>
        <p:sp>
          <p:nvSpPr>
            <p:cNvPr id="29" name="ZoneTexte 28">
              <a:extLst>
                <a:ext uri="{FF2B5EF4-FFF2-40B4-BE49-F238E27FC236}">
                  <a16:creationId xmlns:a16="http://schemas.microsoft.com/office/drawing/2014/main" id="{26A59CA2-669E-043D-6BB7-E15DB552A98D}"/>
                </a:ext>
              </a:extLst>
            </p:cNvPr>
            <p:cNvSpPr txBox="1"/>
            <p:nvPr/>
          </p:nvSpPr>
          <p:spPr>
            <a:xfrm>
              <a:off x="4582933" y="2944494"/>
              <a:ext cx="939680" cy="52572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30" name="ZoneTexte 29">
              <a:extLst>
                <a:ext uri="{FF2B5EF4-FFF2-40B4-BE49-F238E27FC236}">
                  <a16:creationId xmlns:a16="http://schemas.microsoft.com/office/drawing/2014/main" id="{CC09DA69-3162-AC56-AF47-5B21EEC3D31D}"/>
                </a:ext>
              </a:extLst>
            </p:cNvPr>
            <p:cNvSpPr txBox="1"/>
            <p:nvPr/>
          </p:nvSpPr>
          <p:spPr>
            <a:xfrm>
              <a:off x="8634382" y="2977546"/>
              <a:ext cx="1253445" cy="5451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DIFFERENT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E2124"/>
                  </a:solidFill>
                  <a:effectLst/>
                  <a:uLnTx/>
                  <a:uFillTx/>
                  <a:latin typeface="Poppins Light"/>
                  <a:ea typeface="+mn-ea"/>
                  <a:cs typeface="+mn-cs"/>
                </a:rPr>
                <a:t>LANGUAGE</a:t>
              </a:r>
            </a:p>
          </p:txBody>
        </p:sp>
        <p:sp>
          <p:nvSpPr>
            <p:cNvPr id="31" name="ZoneTexte 30">
              <a:extLst>
                <a:ext uri="{FF2B5EF4-FFF2-40B4-BE49-F238E27FC236}">
                  <a16:creationId xmlns:a16="http://schemas.microsoft.com/office/drawing/2014/main" id="{BFF3B92B-6984-C1E3-CFF0-6A5B076FF4CE}"/>
                </a:ext>
              </a:extLst>
            </p:cNvPr>
            <p:cNvSpPr txBox="1"/>
            <p:nvPr/>
          </p:nvSpPr>
          <p:spPr>
            <a:xfrm>
              <a:off x="6588293" y="2128234"/>
              <a:ext cx="1168129" cy="7301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A5E5"/>
                  </a:solidFill>
                  <a:effectLst/>
                  <a:uLnTx/>
                  <a:uFillTx/>
                  <a:latin typeface="Poppins Light"/>
                  <a:ea typeface="+mn-ea"/>
                  <a:cs typeface="+mn-cs"/>
                </a:rPr>
                <a:t>Enterprise objects dictionary</a:t>
              </a:r>
            </a:p>
          </p:txBody>
        </p:sp>
        <p:sp>
          <p:nvSpPr>
            <p:cNvPr id="33" name="ZoneTexte 32">
              <a:extLst>
                <a:ext uri="{FF2B5EF4-FFF2-40B4-BE49-F238E27FC236}">
                  <a16:creationId xmlns:a16="http://schemas.microsoft.com/office/drawing/2014/main" id="{6B0777D3-84E6-292F-328F-7DC1867BC859}"/>
                </a:ext>
              </a:extLst>
            </p:cNvPr>
            <p:cNvSpPr txBox="1"/>
            <p:nvPr/>
          </p:nvSpPr>
          <p:spPr>
            <a:xfrm>
              <a:off x="2965838" y="543144"/>
              <a:ext cx="5708285" cy="3310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E2124"/>
                  </a:solidFill>
                  <a:effectLst/>
                  <a:uLnTx/>
                  <a:uFillTx/>
                  <a:latin typeface="Poppins Light"/>
                  <a:ea typeface="+mn-ea"/>
                  <a:cs typeface="+mn-cs"/>
                </a:rPr>
                <a:t>More reusable but less performant &amp; more complex to maintain</a:t>
              </a:r>
            </a:p>
          </p:txBody>
        </p:sp>
      </p:grpSp>
      <p:sp>
        <p:nvSpPr>
          <p:cNvPr id="48" name="ZoneTexte 47">
            <a:extLst>
              <a:ext uri="{FF2B5EF4-FFF2-40B4-BE49-F238E27FC236}">
                <a16:creationId xmlns:a16="http://schemas.microsoft.com/office/drawing/2014/main" id="{D9802A08-A89C-0A78-8187-B008EF5B39EC}"/>
              </a:ext>
            </a:extLst>
          </p:cNvPr>
          <p:cNvSpPr txBox="1"/>
          <p:nvPr/>
        </p:nvSpPr>
        <p:spPr>
          <a:xfrm>
            <a:off x="4103710" y="2877427"/>
            <a:ext cx="123487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A</a:t>
            </a:r>
          </a:p>
        </p:txBody>
      </p:sp>
      <p:sp>
        <p:nvSpPr>
          <p:cNvPr id="49" name="ZoneTexte 48">
            <a:extLst>
              <a:ext uri="{FF2B5EF4-FFF2-40B4-BE49-F238E27FC236}">
                <a16:creationId xmlns:a16="http://schemas.microsoft.com/office/drawing/2014/main" id="{88724E32-CFC0-1D48-5657-8662EE99062A}"/>
              </a:ext>
            </a:extLst>
          </p:cNvPr>
          <p:cNvSpPr txBox="1"/>
          <p:nvPr/>
        </p:nvSpPr>
        <p:spPr>
          <a:xfrm>
            <a:off x="8268440" y="2904787"/>
            <a:ext cx="123487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A5E5"/>
                </a:solidFill>
                <a:effectLst/>
                <a:uLnTx/>
                <a:uFillTx/>
                <a:latin typeface="Poppins Light"/>
                <a:ea typeface="+mn-ea"/>
                <a:cs typeface="+mn-cs"/>
              </a:rPr>
              <a:t>Language specific to app B</a:t>
            </a:r>
          </a:p>
        </p:txBody>
      </p:sp>
      <p:sp>
        <p:nvSpPr>
          <p:cNvPr id="54" name="Rectangle : coins arrondis 53">
            <a:extLst>
              <a:ext uri="{FF2B5EF4-FFF2-40B4-BE49-F238E27FC236}">
                <a16:creationId xmlns:a16="http://schemas.microsoft.com/office/drawing/2014/main" id="{8D6D48F8-FFB3-9C79-DFB7-41501C19097B}"/>
              </a:ext>
            </a:extLst>
          </p:cNvPr>
          <p:cNvSpPr/>
          <p:nvPr/>
        </p:nvSpPr>
        <p:spPr>
          <a:xfrm>
            <a:off x="5200650" y="2635510"/>
            <a:ext cx="3200400" cy="1977766"/>
          </a:xfrm>
          <a:prstGeom prst="roundRect">
            <a:avLst>
              <a:gd name="adj" fmla="val 2391"/>
            </a:avLst>
          </a:prstGeom>
          <a:noFill/>
          <a:ln w="22225" cap="flat">
            <a:solidFill>
              <a:schemeClr val="tx1"/>
            </a:solidFill>
            <a:prstDash val="sysDash"/>
            <a:miter/>
          </a:ln>
        </p:spPr>
        <p:txBody>
          <a:bodyPr rtlCol="0" anchor="ctr"/>
          <a:lstStyle/>
          <a:p>
            <a:pPr algn="l"/>
            <a:endParaRPr lang="fr-FR"/>
          </a:p>
        </p:txBody>
      </p:sp>
      <p:sp>
        <p:nvSpPr>
          <p:cNvPr id="55" name="ZoneTexte 54">
            <a:extLst>
              <a:ext uri="{FF2B5EF4-FFF2-40B4-BE49-F238E27FC236}">
                <a16:creationId xmlns:a16="http://schemas.microsoft.com/office/drawing/2014/main" id="{4D668988-07B7-80AF-F256-3305FE6A9B0F}"/>
              </a:ext>
            </a:extLst>
          </p:cNvPr>
          <p:cNvSpPr txBox="1"/>
          <p:nvPr/>
        </p:nvSpPr>
        <p:spPr>
          <a:xfrm>
            <a:off x="5146900" y="2425029"/>
            <a:ext cx="1901599" cy="241028"/>
          </a:xfrm>
          <a:prstGeom prst="rect">
            <a:avLst/>
          </a:prstGeom>
          <a:noFill/>
        </p:spPr>
        <p:txBody>
          <a:bodyPr wrap="square" rtlCol="0">
            <a:spAutoFit/>
          </a:bodyPr>
          <a:lstStyle/>
          <a:p>
            <a:pPr>
              <a:lnSpc>
                <a:spcPct val="78000"/>
              </a:lnSpc>
            </a:pPr>
            <a:r>
              <a:rPr lang="fr-FR" sz="1200" err="1">
                <a:ln w="19050">
                  <a:solidFill>
                    <a:schemeClr val="tx1"/>
                  </a:solidFill>
                </a:ln>
              </a:rPr>
              <a:t>MuleSoft</a:t>
            </a:r>
            <a:r>
              <a:rPr lang="fr-FR" sz="1200">
                <a:ln w="19050">
                  <a:solidFill>
                    <a:schemeClr val="tx1"/>
                  </a:solidFill>
                </a:ln>
              </a:rPr>
              <a:t> CloudHub </a:t>
            </a:r>
            <a:r>
              <a:rPr lang="fr-FR" sz="1200" err="1">
                <a:ln w="19050">
                  <a:solidFill>
                    <a:schemeClr val="tx1"/>
                  </a:solidFill>
                </a:ln>
              </a:rPr>
              <a:t>IPaaS</a:t>
            </a:r>
            <a:endParaRPr lang="fr-FR" sz="1200">
              <a:ln w="19050">
                <a:solidFill>
                  <a:schemeClr val="tx1"/>
                </a:solidFill>
              </a:ln>
            </a:endParaRPr>
          </a:p>
        </p:txBody>
      </p:sp>
      <p:sp>
        <p:nvSpPr>
          <p:cNvPr id="57" name="Rectangle : coins arrondis 56">
            <a:extLst>
              <a:ext uri="{FF2B5EF4-FFF2-40B4-BE49-F238E27FC236}">
                <a16:creationId xmlns:a16="http://schemas.microsoft.com/office/drawing/2014/main" id="{A341EFF7-459A-4C44-5C43-F81D944F1114}"/>
              </a:ext>
            </a:extLst>
          </p:cNvPr>
          <p:cNvSpPr/>
          <p:nvPr/>
        </p:nvSpPr>
        <p:spPr>
          <a:xfrm>
            <a:off x="6413500" y="2904787"/>
            <a:ext cx="783588" cy="1053239"/>
          </a:xfrm>
          <a:prstGeom prst="roundRect">
            <a:avLst>
              <a:gd name="adj" fmla="val 8462"/>
            </a:avLst>
          </a:prstGeom>
          <a:noFill/>
          <a:ln w="15875" cap="flat">
            <a:solidFill>
              <a:schemeClr val="tx1"/>
            </a:solidFill>
            <a:prstDash val="sysDash"/>
            <a:miter/>
          </a:ln>
        </p:spPr>
        <p:txBody>
          <a:bodyPr rtlCol="0" anchor="ctr"/>
          <a:lstStyle/>
          <a:p>
            <a:endParaRPr lang="fr-FR"/>
          </a:p>
        </p:txBody>
      </p:sp>
      <p:sp>
        <p:nvSpPr>
          <p:cNvPr id="58" name="ZoneTexte 57">
            <a:extLst>
              <a:ext uri="{FF2B5EF4-FFF2-40B4-BE49-F238E27FC236}">
                <a16:creationId xmlns:a16="http://schemas.microsoft.com/office/drawing/2014/main" id="{A642D656-E4C5-D561-6156-126B7FA5AD54}"/>
              </a:ext>
            </a:extLst>
          </p:cNvPr>
          <p:cNvSpPr txBox="1"/>
          <p:nvPr/>
        </p:nvSpPr>
        <p:spPr>
          <a:xfrm>
            <a:off x="7746198" y="2059699"/>
            <a:ext cx="1232260" cy="276999"/>
          </a:xfrm>
          <a:prstGeom prst="rect">
            <a:avLst/>
          </a:prstGeom>
          <a:noFill/>
        </p:spPr>
        <p:txBody>
          <a:bodyPr wrap="none" rtlCol="0">
            <a:spAutoFit/>
          </a:bodyPr>
          <a:lstStyle/>
          <a:p>
            <a:r>
              <a:rPr lang="fr-FR" sz="1200">
                <a:ln w="19050">
                  <a:solidFill>
                    <a:schemeClr val="tx1"/>
                  </a:solidFill>
                </a:ln>
              </a:rPr>
              <a:t>Objets Urbanisés</a:t>
            </a:r>
          </a:p>
        </p:txBody>
      </p:sp>
      <p:sp>
        <p:nvSpPr>
          <p:cNvPr id="59" name="Forme libre : forme 58">
            <a:extLst>
              <a:ext uri="{FF2B5EF4-FFF2-40B4-BE49-F238E27FC236}">
                <a16:creationId xmlns:a16="http://schemas.microsoft.com/office/drawing/2014/main" id="{A22B24BE-40CD-5436-DEBF-A5FC3F538009}"/>
              </a:ext>
            </a:extLst>
          </p:cNvPr>
          <p:cNvSpPr/>
          <p:nvPr/>
        </p:nvSpPr>
        <p:spPr>
          <a:xfrm>
            <a:off x="7196138" y="2232025"/>
            <a:ext cx="604837" cy="676275"/>
          </a:xfrm>
          <a:custGeom>
            <a:avLst/>
            <a:gdLst>
              <a:gd name="connsiteX0" fmla="*/ 0 w 604837"/>
              <a:gd name="connsiteY0" fmla="*/ 676275 h 676275"/>
              <a:gd name="connsiteX1" fmla="*/ 604837 w 604837"/>
              <a:gd name="connsiteY1" fmla="*/ 0 h 676275"/>
              <a:gd name="connsiteX0" fmla="*/ 0 w 604837"/>
              <a:gd name="connsiteY0" fmla="*/ 676275 h 676275"/>
              <a:gd name="connsiteX1" fmla="*/ 604837 w 604837"/>
              <a:gd name="connsiteY1" fmla="*/ 0 h 676275"/>
              <a:gd name="connsiteX0" fmla="*/ 0 w 604837"/>
              <a:gd name="connsiteY0" fmla="*/ 676275 h 676275"/>
              <a:gd name="connsiteX1" fmla="*/ 604837 w 604837"/>
              <a:gd name="connsiteY1" fmla="*/ 0 h 676275"/>
            </a:gdLst>
            <a:ahLst/>
            <a:cxnLst>
              <a:cxn ang="0">
                <a:pos x="connsiteX0" y="connsiteY0"/>
              </a:cxn>
              <a:cxn ang="0">
                <a:pos x="connsiteX1" y="connsiteY1"/>
              </a:cxn>
            </a:cxnLst>
            <a:rect l="l" t="t" r="r" b="b"/>
            <a:pathLst>
              <a:path w="604837" h="676275">
                <a:moveTo>
                  <a:pt x="0" y="676275"/>
                </a:moveTo>
                <a:cubicBezTo>
                  <a:pt x="106362" y="274637"/>
                  <a:pt x="227012" y="34925"/>
                  <a:pt x="604837" y="0"/>
                </a:cubicBezTo>
              </a:path>
            </a:pathLst>
          </a:custGeom>
          <a:noFill/>
          <a:ln w="31750" cap="flat">
            <a:solidFill>
              <a:schemeClr val="tx1"/>
            </a:solidFill>
            <a:prstDash val="solid"/>
            <a:miter/>
            <a:headEnd type="arrow" w="sm" len="sm"/>
          </a:ln>
        </p:spPr>
        <p:txBody>
          <a:bodyPr rtlCol="0" anchor="ctr"/>
          <a:lstStyle/>
          <a:p>
            <a:pPr algn="ctr"/>
            <a:endParaRPr lang="fr-FR">
              <a:ln>
                <a:solidFill>
                  <a:schemeClr val="tx1"/>
                </a:solidFill>
              </a:ln>
            </a:endParaRPr>
          </a:p>
        </p:txBody>
      </p:sp>
      <p:sp>
        <p:nvSpPr>
          <p:cNvPr id="60" name="Rectangle : coins arrondis 59">
            <a:extLst>
              <a:ext uri="{FF2B5EF4-FFF2-40B4-BE49-F238E27FC236}">
                <a16:creationId xmlns:a16="http://schemas.microsoft.com/office/drawing/2014/main" id="{EE9AD4F2-B652-5051-C79F-6D8B53BE321A}"/>
              </a:ext>
            </a:extLst>
          </p:cNvPr>
          <p:cNvSpPr/>
          <p:nvPr/>
        </p:nvSpPr>
        <p:spPr>
          <a:xfrm>
            <a:off x="9353550" y="2911735"/>
            <a:ext cx="1609724" cy="1363403"/>
          </a:xfrm>
          <a:prstGeom prst="roundRect">
            <a:avLst>
              <a:gd name="adj" fmla="val 2391"/>
            </a:avLst>
          </a:prstGeom>
          <a:noFill/>
          <a:ln w="34925" cap="flat">
            <a:solidFill>
              <a:schemeClr val="tx1"/>
            </a:solidFill>
            <a:prstDash val="sysDash"/>
            <a:miter/>
          </a:ln>
        </p:spPr>
        <p:txBody>
          <a:bodyPr rtlCol="0" anchor="ctr"/>
          <a:lstStyle/>
          <a:p>
            <a:pPr algn="l"/>
            <a:endParaRPr lang="fr-FR"/>
          </a:p>
        </p:txBody>
      </p:sp>
      <p:sp>
        <p:nvSpPr>
          <p:cNvPr id="61" name="Rectangle : coins arrondis 60">
            <a:extLst>
              <a:ext uri="{FF2B5EF4-FFF2-40B4-BE49-F238E27FC236}">
                <a16:creationId xmlns:a16="http://schemas.microsoft.com/office/drawing/2014/main" id="{134749B6-4B5E-B262-72DC-2B672EC7F884}"/>
              </a:ext>
            </a:extLst>
          </p:cNvPr>
          <p:cNvSpPr/>
          <p:nvPr/>
        </p:nvSpPr>
        <p:spPr>
          <a:xfrm>
            <a:off x="2671761" y="2906972"/>
            <a:ext cx="1550989" cy="1363403"/>
          </a:xfrm>
          <a:prstGeom prst="roundRect">
            <a:avLst>
              <a:gd name="adj" fmla="val 2391"/>
            </a:avLst>
          </a:prstGeom>
          <a:noFill/>
          <a:ln w="34925" cap="flat">
            <a:solidFill>
              <a:schemeClr val="tx1"/>
            </a:solidFill>
            <a:prstDash val="sysDash"/>
            <a:miter/>
          </a:ln>
        </p:spPr>
        <p:txBody>
          <a:bodyPr rtlCol="0" anchor="ctr"/>
          <a:lstStyle/>
          <a:p>
            <a:pPr algn="l"/>
            <a:endParaRPr lang="fr-FR"/>
          </a:p>
        </p:txBody>
      </p:sp>
      <p:sp>
        <p:nvSpPr>
          <p:cNvPr id="62" name="ZoneTexte 61">
            <a:extLst>
              <a:ext uri="{FF2B5EF4-FFF2-40B4-BE49-F238E27FC236}">
                <a16:creationId xmlns:a16="http://schemas.microsoft.com/office/drawing/2014/main" id="{27625EC8-8BB8-FF79-F7D5-624A8695D233}"/>
              </a:ext>
            </a:extLst>
          </p:cNvPr>
          <p:cNvSpPr txBox="1"/>
          <p:nvPr/>
        </p:nvSpPr>
        <p:spPr>
          <a:xfrm>
            <a:off x="9395052" y="4267668"/>
            <a:ext cx="1717265" cy="241028"/>
          </a:xfrm>
          <a:prstGeom prst="rect">
            <a:avLst/>
          </a:prstGeom>
          <a:noFill/>
        </p:spPr>
        <p:txBody>
          <a:bodyPr wrap="none" rtlCol="0">
            <a:spAutoFit/>
          </a:bodyPr>
          <a:lstStyle/>
          <a:p>
            <a:pPr>
              <a:lnSpc>
                <a:spcPct val="78000"/>
              </a:lnSpc>
            </a:pPr>
            <a:r>
              <a:rPr lang="fr-FR" sz="1200">
                <a:ln w="19050">
                  <a:solidFill>
                    <a:schemeClr val="tx1"/>
                  </a:solidFill>
                </a:ln>
              </a:rPr>
              <a:t>Gouvernance Domaine B</a:t>
            </a:r>
          </a:p>
        </p:txBody>
      </p:sp>
      <p:sp>
        <p:nvSpPr>
          <p:cNvPr id="63" name="ZoneTexte 62">
            <a:extLst>
              <a:ext uri="{FF2B5EF4-FFF2-40B4-BE49-F238E27FC236}">
                <a16:creationId xmlns:a16="http://schemas.microsoft.com/office/drawing/2014/main" id="{47D60215-3D31-5978-CAE7-7B1C94CA0553}"/>
              </a:ext>
            </a:extLst>
          </p:cNvPr>
          <p:cNvSpPr txBox="1"/>
          <p:nvPr/>
        </p:nvSpPr>
        <p:spPr>
          <a:xfrm>
            <a:off x="2582650" y="4282349"/>
            <a:ext cx="1722074" cy="241028"/>
          </a:xfrm>
          <a:prstGeom prst="rect">
            <a:avLst/>
          </a:prstGeom>
          <a:noFill/>
        </p:spPr>
        <p:txBody>
          <a:bodyPr wrap="none" rtlCol="0">
            <a:spAutoFit/>
          </a:bodyPr>
          <a:lstStyle/>
          <a:p>
            <a:pPr>
              <a:lnSpc>
                <a:spcPct val="78000"/>
              </a:lnSpc>
            </a:pPr>
            <a:r>
              <a:rPr lang="fr-FR" sz="1200">
                <a:ln w="19050">
                  <a:solidFill>
                    <a:schemeClr val="tx1"/>
                  </a:solidFill>
                </a:ln>
              </a:rPr>
              <a:t>Gouvernance Domaine A</a:t>
            </a:r>
          </a:p>
        </p:txBody>
      </p:sp>
      <p:sp>
        <p:nvSpPr>
          <p:cNvPr id="67" name="ZoneTexte 66">
            <a:extLst>
              <a:ext uri="{FF2B5EF4-FFF2-40B4-BE49-F238E27FC236}">
                <a16:creationId xmlns:a16="http://schemas.microsoft.com/office/drawing/2014/main" id="{64046E5E-3713-A9B6-0B23-E0CC9B6802E5}"/>
              </a:ext>
            </a:extLst>
          </p:cNvPr>
          <p:cNvSpPr txBox="1"/>
          <p:nvPr/>
        </p:nvSpPr>
        <p:spPr>
          <a:xfrm>
            <a:off x="5856513" y="4349079"/>
            <a:ext cx="2120675" cy="241028"/>
          </a:xfrm>
          <a:prstGeom prst="rect">
            <a:avLst/>
          </a:prstGeom>
          <a:noFill/>
        </p:spPr>
        <p:txBody>
          <a:bodyPr wrap="square" rtlCol="0">
            <a:spAutoFit/>
          </a:bodyPr>
          <a:lstStyle/>
          <a:p>
            <a:pPr>
              <a:lnSpc>
                <a:spcPct val="78000"/>
              </a:lnSpc>
            </a:pPr>
            <a:r>
              <a:rPr lang="fr-FR" sz="1200">
                <a:ln w="19050">
                  <a:solidFill>
                    <a:schemeClr val="tx1"/>
                  </a:solidFill>
                </a:ln>
              </a:rPr>
              <a:t>Implémentation de la Flow API</a:t>
            </a:r>
          </a:p>
        </p:txBody>
      </p:sp>
      <p:sp>
        <p:nvSpPr>
          <p:cNvPr id="71" name="Espace réservé du texte 3">
            <a:extLst>
              <a:ext uri="{FF2B5EF4-FFF2-40B4-BE49-F238E27FC236}">
                <a16:creationId xmlns:a16="http://schemas.microsoft.com/office/drawing/2014/main" id="{0D787A60-2F0C-626C-BE33-DA925681D12F}"/>
              </a:ext>
            </a:extLst>
          </p:cNvPr>
          <p:cNvSpPr txBox="1">
            <a:spLocks/>
          </p:cNvSpPr>
          <p:nvPr/>
        </p:nvSpPr>
        <p:spPr>
          <a:xfrm>
            <a:off x="4264209" y="1080165"/>
            <a:ext cx="589579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200" b="1" i="0" u="none" strike="noStrike" kern="1200" cap="none" spc="0" normalizeH="0" baseline="0" noProof="0">
                <a:ln>
                  <a:solidFill>
                    <a:srgbClr val="102031"/>
                  </a:solidFill>
                </a:ln>
                <a:solidFill>
                  <a:srgbClr val="272727"/>
                </a:solidFill>
                <a:effectLst/>
                <a:uLnTx/>
                <a:uFillTx/>
                <a:latin typeface="Arial"/>
                <a:cs typeface="Arial"/>
              </a:rPr>
              <a:t>Rappels des principes évoqués par ONEPOINT en 2024 en atelier API</a:t>
            </a:r>
          </a:p>
        </p:txBody>
      </p:sp>
    </p:spTree>
    <p:extLst>
      <p:ext uri="{BB962C8B-B14F-4D97-AF65-F5344CB8AC3E}">
        <p14:creationId xmlns:p14="http://schemas.microsoft.com/office/powerpoint/2010/main" val="1300902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3B367-8A4A-0C79-5C99-6422EA0CA2EA}"/>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B532D44-4469-84BF-91D9-8B96E7A28173}"/>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596AB4EE-E1EC-F49F-80E7-D010F2A5518F}"/>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CF6EBDA9-F23B-47CF-9204-63B616EC2FC9}"/>
              </a:ext>
            </a:extLst>
          </p:cNvPr>
          <p:cNvSpPr>
            <a:spLocks noGrp="1"/>
          </p:cNvSpPr>
          <p:nvPr>
            <p:ph type="sldNum" sz="quarter" idx="12"/>
          </p:nvPr>
        </p:nvSpPr>
        <p:spPr/>
        <p:txBody>
          <a:bodyPr/>
          <a:lstStyle/>
          <a:p>
            <a:fld id="{CD166EB1-B284-8541-B839-321F682B6B05}" type="slidenum">
              <a:rPr lang="fr-FR" smtClean="0"/>
              <a:pPr/>
              <a:t>37</a:t>
            </a:fld>
            <a:endParaRPr lang="fr-FR"/>
          </a:p>
        </p:txBody>
      </p:sp>
      <p:sp>
        <p:nvSpPr>
          <p:cNvPr id="6" name="Espace réservé du texte 5">
            <a:extLst>
              <a:ext uri="{FF2B5EF4-FFF2-40B4-BE49-F238E27FC236}">
                <a16:creationId xmlns:a16="http://schemas.microsoft.com/office/drawing/2014/main" id="{364C718B-FEC0-F0FB-DDAD-C2B3D2E23161}"/>
              </a:ext>
            </a:extLst>
          </p:cNvPr>
          <p:cNvSpPr>
            <a:spLocks noGrp="1"/>
          </p:cNvSpPr>
          <p:nvPr>
            <p:ph type="body" sz="quarter" idx="19"/>
          </p:nvPr>
        </p:nvSpPr>
        <p:spPr/>
        <p:txBody>
          <a:bodyPr/>
          <a:lstStyle/>
          <a:p>
            <a:r>
              <a:rPr lang="fr-FR">
                <a:ln w="19050">
                  <a:solidFill>
                    <a:schemeClr val="bg1"/>
                  </a:solidFill>
                </a:ln>
              </a:rPr>
              <a:t>Pas de code métier : Quels inconvénients</a:t>
            </a:r>
          </a:p>
        </p:txBody>
      </p:sp>
      <p:sp>
        <p:nvSpPr>
          <p:cNvPr id="7" name="Espace réservé du texte 6">
            <a:extLst>
              <a:ext uri="{FF2B5EF4-FFF2-40B4-BE49-F238E27FC236}">
                <a16:creationId xmlns:a16="http://schemas.microsoft.com/office/drawing/2014/main" id="{19F3D9E3-2A02-C685-E95F-9B91CD6AB648}"/>
              </a:ext>
            </a:extLst>
          </p:cNvPr>
          <p:cNvSpPr>
            <a:spLocks noGrp="1"/>
          </p:cNvSpPr>
          <p:nvPr>
            <p:ph type="body" sz="quarter" idx="30"/>
          </p:nvPr>
        </p:nvSpPr>
        <p:spPr/>
        <p:txBody>
          <a:bodyPr/>
          <a:lstStyle/>
          <a:p>
            <a:r>
              <a:rPr lang="fr-FR">
                <a:ln w="19050">
                  <a:solidFill>
                    <a:schemeClr val="bg1"/>
                  </a:solidFill>
                </a:ln>
              </a:rPr>
              <a:t>13</a:t>
            </a:r>
          </a:p>
        </p:txBody>
      </p:sp>
      <p:sp>
        <p:nvSpPr>
          <p:cNvPr id="12" name="ZoneTexte 11">
            <a:extLst>
              <a:ext uri="{FF2B5EF4-FFF2-40B4-BE49-F238E27FC236}">
                <a16:creationId xmlns:a16="http://schemas.microsoft.com/office/drawing/2014/main" id="{B0232295-DBAC-FDB8-C61A-7A8B6C4CB505}"/>
              </a:ext>
            </a:extLst>
          </p:cNvPr>
          <p:cNvSpPr txBox="1"/>
          <p:nvPr/>
        </p:nvSpPr>
        <p:spPr>
          <a:xfrm>
            <a:off x="1988051" y="1985438"/>
            <a:ext cx="8215898" cy="3251916"/>
          </a:xfrm>
          <a:prstGeom prst="rect">
            <a:avLst/>
          </a:prstGeom>
          <a:noFill/>
        </p:spPr>
        <p:txBody>
          <a:bodyPr wrap="square">
            <a:spAutoFit/>
          </a:bodyPr>
          <a:lstStyle/>
          <a:p>
            <a:pPr marL="457200" lvl="0" indent="-457200">
              <a:lnSpc>
                <a:spcPct val="90000"/>
              </a:lnSpc>
              <a:spcAft>
                <a:spcPts val="600"/>
              </a:spcAft>
              <a:buSzPct val="90000"/>
              <a:buBlip>
                <a:blip r:embed="rId3"/>
              </a:buBlip>
            </a:pPr>
            <a:r>
              <a:rPr lang="fr-FR" sz="2400" b="0">
                <a:ln w="15875">
                  <a:solidFill>
                    <a:srgbClr val="102031"/>
                  </a:solidFill>
                </a:ln>
                <a:solidFill>
                  <a:srgbClr val="102031"/>
                </a:solidFill>
                <a:latin typeface="Avenir LT 35 Light" panose="02000503030000020003" pitchFamily="2" charset="0"/>
                <a:cs typeface="Arial" panose="020B0604020202020204" pitchFamily="34" charset="0"/>
              </a:rPr>
              <a:t>Violation de la séparation des responsabilités</a:t>
            </a:r>
          </a:p>
          <a:p>
            <a:pPr marL="457200" lvl="0" indent="-457200">
              <a:lnSpc>
                <a:spcPct val="90000"/>
              </a:lnSpc>
              <a:spcAft>
                <a:spcPts val="600"/>
              </a:spcAft>
              <a:buSzPct val="90000"/>
              <a:buBlip>
                <a:blip r:embed="rId3"/>
              </a:buBlip>
            </a:pPr>
            <a:r>
              <a:rPr lang="fr-FR" sz="2400">
                <a:ln w="15875">
                  <a:solidFill>
                    <a:srgbClr val="102031"/>
                  </a:solidFill>
                </a:ln>
                <a:solidFill>
                  <a:srgbClr val="102031"/>
                </a:solidFill>
                <a:latin typeface="Avenir LT 35 Light" panose="02000503030000020003" pitchFamily="2" charset="0"/>
                <a:cs typeface="Arial" panose="020B0604020202020204" pitchFamily="34" charset="0"/>
              </a:rPr>
              <a:t>Complexité accrue de la couche de médiation</a:t>
            </a:r>
          </a:p>
          <a:p>
            <a:pPr marL="457200" lvl="0" indent="-457200">
              <a:lnSpc>
                <a:spcPct val="90000"/>
              </a:lnSpc>
              <a:spcAft>
                <a:spcPts val="600"/>
              </a:spcAft>
              <a:buSzPct val="90000"/>
              <a:buBlip>
                <a:blip r:embed="rId3"/>
              </a:buBlip>
            </a:pPr>
            <a:r>
              <a:rPr lang="fr-FR" sz="2400">
                <a:ln w="15875">
                  <a:solidFill>
                    <a:srgbClr val="102031"/>
                  </a:solidFill>
                </a:ln>
                <a:solidFill>
                  <a:srgbClr val="102031"/>
                </a:solidFill>
                <a:latin typeface="Avenir LT 35 Light" panose="02000503030000020003" pitchFamily="2" charset="0"/>
                <a:cs typeface="Arial" panose="020B0604020202020204" pitchFamily="34" charset="0"/>
              </a:rPr>
              <a:t>Difficultés de maintenance et de mise à jour</a:t>
            </a:r>
          </a:p>
          <a:p>
            <a:pPr marL="457200" lvl="0" indent="-457200">
              <a:lnSpc>
                <a:spcPct val="90000"/>
              </a:lnSpc>
              <a:spcAft>
                <a:spcPts val="600"/>
              </a:spcAft>
              <a:buSzPct val="90000"/>
              <a:buBlip>
                <a:blip r:embed="rId3"/>
              </a:buBlip>
            </a:pPr>
            <a:r>
              <a:rPr lang="fr-FR" sz="2400">
                <a:ln w="15875">
                  <a:solidFill>
                    <a:srgbClr val="102031"/>
                  </a:solidFill>
                </a:ln>
                <a:solidFill>
                  <a:srgbClr val="102031"/>
                </a:solidFill>
                <a:latin typeface="Avenir LT 35 Light" panose="02000503030000020003" pitchFamily="2" charset="0"/>
                <a:cs typeface="Arial" panose="020B0604020202020204" pitchFamily="34" charset="0"/>
              </a:rPr>
              <a:t>Problèmes de performance</a:t>
            </a:r>
          </a:p>
          <a:p>
            <a:pPr marL="457200" lvl="0" indent="-457200">
              <a:lnSpc>
                <a:spcPct val="90000"/>
              </a:lnSpc>
              <a:spcAft>
                <a:spcPts val="600"/>
              </a:spcAft>
              <a:buSzPct val="90000"/>
              <a:buBlip>
                <a:blip r:embed="rId3"/>
              </a:buBlip>
            </a:pPr>
            <a:r>
              <a:rPr lang="fr-FR" sz="2400">
                <a:ln w="15875">
                  <a:solidFill>
                    <a:srgbClr val="102031"/>
                  </a:solidFill>
                </a:ln>
                <a:solidFill>
                  <a:srgbClr val="102031"/>
                </a:solidFill>
                <a:latin typeface="Avenir LT 35 Light" panose="02000503030000020003" pitchFamily="2" charset="0"/>
                <a:cs typeface="Arial" panose="020B0604020202020204" pitchFamily="34" charset="0"/>
              </a:rPr>
              <a:t>Perte de réutilisabilité</a:t>
            </a:r>
          </a:p>
          <a:p>
            <a:pPr marL="457200" lvl="0" indent="-457200">
              <a:lnSpc>
                <a:spcPct val="90000"/>
              </a:lnSpc>
              <a:spcAft>
                <a:spcPts val="600"/>
              </a:spcAft>
              <a:buSzPct val="90000"/>
              <a:buBlip>
                <a:blip r:embed="rId3"/>
              </a:buBlip>
            </a:pPr>
            <a:r>
              <a:rPr lang="fr-FR" sz="2400">
                <a:ln w="15875">
                  <a:solidFill>
                    <a:srgbClr val="102031"/>
                  </a:solidFill>
                </a:ln>
                <a:solidFill>
                  <a:srgbClr val="102031"/>
                </a:solidFill>
                <a:latin typeface="Avenir LT 35 Light" panose="02000503030000020003" pitchFamily="2" charset="0"/>
                <a:cs typeface="Arial" panose="020B0604020202020204" pitchFamily="34" charset="0"/>
              </a:rPr>
              <a:t>Risques de manque de testabilité et de transparence</a:t>
            </a:r>
          </a:p>
          <a:p>
            <a:pPr marL="457200" lvl="0" indent="-457200">
              <a:lnSpc>
                <a:spcPct val="90000"/>
              </a:lnSpc>
              <a:spcAft>
                <a:spcPts val="600"/>
              </a:spcAft>
              <a:buSzPct val="90000"/>
              <a:buBlip>
                <a:blip r:embed="rId3"/>
              </a:buBlip>
            </a:pPr>
            <a:r>
              <a:rPr lang="fr-FR" sz="2400">
                <a:ln w="15875">
                  <a:solidFill>
                    <a:srgbClr val="102031"/>
                  </a:solidFill>
                </a:ln>
                <a:solidFill>
                  <a:srgbClr val="102031"/>
                </a:solidFill>
                <a:latin typeface="Avenir LT 35 Light" panose="02000503030000020003" pitchFamily="2" charset="0"/>
                <a:cs typeface="Arial" panose="020B0604020202020204" pitchFamily="34" charset="0"/>
              </a:rPr>
              <a:t>Problèmes de sécurité et de conformité</a:t>
            </a:r>
          </a:p>
          <a:p>
            <a:pPr lvl="0">
              <a:lnSpc>
                <a:spcPct val="78000"/>
              </a:lnSpc>
              <a:spcAft>
                <a:spcPts val="600"/>
              </a:spcAft>
              <a:buSzPct val="90000"/>
            </a:pPr>
            <a:endParaRPr lang="fr-FR" sz="2000" b="0">
              <a:ln w="15875">
                <a:solidFill>
                  <a:srgbClr val="102031"/>
                </a:solidFill>
              </a:ln>
              <a:solidFill>
                <a:srgbClr val="102031"/>
              </a:solidFill>
              <a:latin typeface="Avenir LT 35 Light" panose="02000503030000020003" pitchFamily="2" charset="0"/>
              <a:cs typeface="Arial" panose="020B0604020202020204" pitchFamily="34" charset="0"/>
            </a:endParaRPr>
          </a:p>
        </p:txBody>
      </p:sp>
      <p:sp>
        <p:nvSpPr>
          <p:cNvPr id="13" name="ZoneTexte 12">
            <a:extLst>
              <a:ext uri="{FF2B5EF4-FFF2-40B4-BE49-F238E27FC236}">
                <a16:creationId xmlns:a16="http://schemas.microsoft.com/office/drawing/2014/main" id="{2E6FEABE-817E-7DAB-B28C-99D8D5A9FDEA}"/>
              </a:ext>
            </a:extLst>
          </p:cNvPr>
          <p:cNvSpPr txBox="1"/>
          <p:nvPr/>
        </p:nvSpPr>
        <p:spPr>
          <a:xfrm>
            <a:off x="537577" y="1162050"/>
            <a:ext cx="9878025" cy="584775"/>
          </a:xfrm>
          <a:prstGeom prst="rect">
            <a:avLst/>
          </a:prstGeom>
          <a:noFill/>
        </p:spPr>
        <p:txBody>
          <a:bodyPr wrap="none" rtlCol="0">
            <a:spAutoFit/>
          </a:bodyPr>
          <a:lstStyle/>
          <a:p>
            <a:r>
              <a:rPr lang="fr-FR" sz="3200">
                <a:ln w="38100">
                  <a:solidFill>
                    <a:schemeClr val="tx1"/>
                  </a:solidFill>
                </a:ln>
                <a:latin typeface="Avenir LT 35 Light" panose="02000503030000020003" pitchFamily="2" charset="0"/>
              </a:rPr>
              <a:t>Inconvénients mettre du code métier dans la couche</a:t>
            </a:r>
          </a:p>
        </p:txBody>
      </p:sp>
    </p:spTree>
    <p:extLst>
      <p:ext uri="{BB962C8B-B14F-4D97-AF65-F5344CB8AC3E}">
        <p14:creationId xmlns:p14="http://schemas.microsoft.com/office/powerpoint/2010/main" val="40199917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18CD-0EEE-7B33-EDE4-5C4E7C2645FF}"/>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B01CAD3-6363-2DEC-6068-917D3C282581}"/>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8AED1416-BBC3-C97C-BEF9-17F0635829A7}"/>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F3ECD4FB-98FA-1045-3187-829A209AC892}"/>
              </a:ext>
            </a:extLst>
          </p:cNvPr>
          <p:cNvSpPr>
            <a:spLocks noGrp="1"/>
          </p:cNvSpPr>
          <p:nvPr>
            <p:ph type="sldNum" sz="quarter" idx="12"/>
          </p:nvPr>
        </p:nvSpPr>
        <p:spPr/>
        <p:txBody>
          <a:bodyPr/>
          <a:lstStyle/>
          <a:p>
            <a:fld id="{CD166EB1-B284-8541-B839-321F682B6B05}" type="slidenum">
              <a:rPr lang="fr-FR" smtClean="0"/>
              <a:pPr/>
              <a:t>38</a:t>
            </a:fld>
            <a:endParaRPr lang="fr-FR"/>
          </a:p>
        </p:txBody>
      </p:sp>
      <p:sp>
        <p:nvSpPr>
          <p:cNvPr id="6" name="Espace réservé du texte 5">
            <a:extLst>
              <a:ext uri="{FF2B5EF4-FFF2-40B4-BE49-F238E27FC236}">
                <a16:creationId xmlns:a16="http://schemas.microsoft.com/office/drawing/2014/main" id="{5838B4AF-B78C-AF35-AC5D-3DD40AFA2C1B}"/>
              </a:ext>
            </a:extLst>
          </p:cNvPr>
          <p:cNvSpPr>
            <a:spLocks noGrp="1"/>
          </p:cNvSpPr>
          <p:nvPr>
            <p:ph type="body" sz="quarter" idx="19"/>
          </p:nvPr>
        </p:nvSpPr>
        <p:spPr/>
        <p:txBody>
          <a:bodyPr/>
          <a:lstStyle/>
          <a:p>
            <a:r>
              <a:rPr lang="fr-FR">
                <a:ln w="19050">
                  <a:solidFill>
                    <a:schemeClr val="bg1"/>
                  </a:solidFill>
                </a:ln>
              </a:rPr>
              <a:t>L’atelier API a proposé ces rappels : Focus</a:t>
            </a:r>
          </a:p>
        </p:txBody>
      </p:sp>
      <p:sp>
        <p:nvSpPr>
          <p:cNvPr id="7" name="Espace réservé du texte 6">
            <a:extLst>
              <a:ext uri="{FF2B5EF4-FFF2-40B4-BE49-F238E27FC236}">
                <a16:creationId xmlns:a16="http://schemas.microsoft.com/office/drawing/2014/main" id="{6CE60110-73BF-7470-A898-3EDBE1BE80A1}"/>
              </a:ext>
            </a:extLst>
          </p:cNvPr>
          <p:cNvSpPr>
            <a:spLocks noGrp="1"/>
          </p:cNvSpPr>
          <p:nvPr>
            <p:ph type="body" sz="quarter" idx="30"/>
          </p:nvPr>
        </p:nvSpPr>
        <p:spPr/>
        <p:txBody>
          <a:bodyPr/>
          <a:lstStyle/>
          <a:p>
            <a:r>
              <a:rPr lang="fr-FR">
                <a:ln w="19050">
                  <a:solidFill>
                    <a:schemeClr val="bg1"/>
                  </a:solidFill>
                </a:ln>
              </a:rPr>
              <a:t>14</a:t>
            </a:r>
          </a:p>
        </p:txBody>
      </p:sp>
      <p:pic>
        <p:nvPicPr>
          <p:cNvPr id="14" name="Image 13">
            <a:extLst>
              <a:ext uri="{FF2B5EF4-FFF2-40B4-BE49-F238E27FC236}">
                <a16:creationId xmlns:a16="http://schemas.microsoft.com/office/drawing/2014/main" id="{6236F0DA-3A66-C63F-5DFC-CFCC27F87825}"/>
              </a:ext>
            </a:extLst>
          </p:cNvPr>
          <p:cNvPicPr>
            <a:picLocks noChangeAspect="1"/>
          </p:cNvPicPr>
          <p:nvPr/>
        </p:nvPicPr>
        <p:blipFill>
          <a:blip r:embed="rId3"/>
          <a:stretch>
            <a:fillRect/>
          </a:stretch>
        </p:blipFill>
        <p:spPr>
          <a:xfrm>
            <a:off x="859967" y="851473"/>
            <a:ext cx="9734550" cy="5444349"/>
          </a:xfrm>
          <a:prstGeom prst="rect">
            <a:avLst/>
          </a:prstGeom>
        </p:spPr>
      </p:pic>
      <p:sp>
        <p:nvSpPr>
          <p:cNvPr id="15" name="Espace réservé du texte 3">
            <a:extLst>
              <a:ext uri="{FF2B5EF4-FFF2-40B4-BE49-F238E27FC236}">
                <a16:creationId xmlns:a16="http://schemas.microsoft.com/office/drawing/2014/main" id="{BF2FAA86-6D5F-8A11-6F66-524BBA4B289A}"/>
              </a:ext>
            </a:extLst>
          </p:cNvPr>
          <p:cNvSpPr txBox="1">
            <a:spLocks/>
          </p:cNvSpPr>
          <p:nvPr/>
        </p:nvSpPr>
        <p:spPr>
          <a:xfrm>
            <a:off x="4264209" y="1080165"/>
            <a:ext cx="589579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200" b="1" i="0" u="none" strike="noStrike" kern="1200" cap="none" spc="0" normalizeH="0" baseline="0" noProof="0">
                <a:ln>
                  <a:solidFill>
                    <a:srgbClr val="102031"/>
                  </a:solidFill>
                </a:ln>
                <a:solidFill>
                  <a:srgbClr val="272727"/>
                </a:solidFill>
                <a:effectLst/>
                <a:uLnTx/>
                <a:uFillTx/>
                <a:latin typeface="Arial"/>
                <a:cs typeface="Arial"/>
              </a:rPr>
              <a:t>Rappels des principes évoqués par ONEPOINT en 2024 en atelier API</a:t>
            </a:r>
          </a:p>
        </p:txBody>
      </p:sp>
    </p:spTree>
    <p:extLst>
      <p:ext uri="{BB962C8B-B14F-4D97-AF65-F5344CB8AC3E}">
        <p14:creationId xmlns:p14="http://schemas.microsoft.com/office/powerpoint/2010/main" val="4265668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5417C-171B-106A-3203-509C93195825}"/>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7A9D1A4-4616-2299-55B9-C64A1C05E4EF}"/>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22EA01BB-0B5E-64AD-AB4E-8BF88EDA4270}"/>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070A39BF-5449-9674-57AC-04539979EDD2}"/>
              </a:ext>
            </a:extLst>
          </p:cNvPr>
          <p:cNvSpPr>
            <a:spLocks noGrp="1"/>
          </p:cNvSpPr>
          <p:nvPr>
            <p:ph type="sldNum" sz="quarter" idx="12"/>
          </p:nvPr>
        </p:nvSpPr>
        <p:spPr/>
        <p:txBody>
          <a:bodyPr/>
          <a:lstStyle/>
          <a:p>
            <a:fld id="{CD166EB1-B284-8541-B839-321F682B6B05}" type="slidenum">
              <a:rPr lang="fr-FR" smtClean="0"/>
              <a:pPr/>
              <a:t>39</a:t>
            </a:fld>
            <a:endParaRPr lang="fr-FR"/>
          </a:p>
        </p:txBody>
      </p:sp>
      <p:sp>
        <p:nvSpPr>
          <p:cNvPr id="6" name="Espace réservé du texte 5">
            <a:extLst>
              <a:ext uri="{FF2B5EF4-FFF2-40B4-BE49-F238E27FC236}">
                <a16:creationId xmlns:a16="http://schemas.microsoft.com/office/drawing/2014/main" id="{817D67BB-14DA-BBAC-EAC1-5064B256C0DB}"/>
              </a:ext>
            </a:extLst>
          </p:cNvPr>
          <p:cNvSpPr>
            <a:spLocks noGrp="1"/>
          </p:cNvSpPr>
          <p:nvPr>
            <p:ph type="body" sz="quarter" idx="19"/>
          </p:nvPr>
        </p:nvSpPr>
        <p:spPr/>
        <p:txBody>
          <a:bodyPr/>
          <a:lstStyle/>
          <a:p>
            <a:r>
              <a:rPr lang="fr-FR">
                <a:ln w="19050">
                  <a:solidFill>
                    <a:schemeClr val="bg1"/>
                  </a:solidFill>
                </a:ln>
              </a:rPr>
              <a:t>Quelle alternative ?</a:t>
            </a:r>
          </a:p>
        </p:txBody>
      </p:sp>
      <p:sp>
        <p:nvSpPr>
          <p:cNvPr id="7" name="Espace réservé du texte 6">
            <a:extLst>
              <a:ext uri="{FF2B5EF4-FFF2-40B4-BE49-F238E27FC236}">
                <a16:creationId xmlns:a16="http://schemas.microsoft.com/office/drawing/2014/main" id="{8BB6CFCB-597A-B717-0F8A-718E99111CFE}"/>
              </a:ext>
            </a:extLst>
          </p:cNvPr>
          <p:cNvSpPr>
            <a:spLocks noGrp="1"/>
          </p:cNvSpPr>
          <p:nvPr>
            <p:ph type="body" sz="quarter" idx="30"/>
          </p:nvPr>
        </p:nvSpPr>
        <p:spPr/>
        <p:txBody>
          <a:bodyPr/>
          <a:lstStyle/>
          <a:p>
            <a:r>
              <a:rPr lang="fr-FR">
                <a:ln w="19050">
                  <a:solidFill>
                    <a:schemeClr val="bg1"/>
                  </a:solidFill>
                </a:ln>
              </a:rPr>
              <a:t>15</a:t>
            </a:r>
          </a:p>
        </p:txBody>
      </p:sp>
      <p:sp>
        <p:nvSpPr>
          <p:cNvPr id="25" name="ZoneTexte 24">
            <a:extLst>
              <a:ext uri="{FF2B5EF4-FFF2-40B4-BE49-F238E27FC236}">
                <a16:creationId xmlns:a16="http://schemas.microsoft.com/office/drawing/2014/main" id="{DC2F1860-D069-CD88-6039-2B3F5B242358}"/>
              </a:ext>
            </a:extLst>
          </p:cNvPr>
          <p:cNvSpPr txBox="1"/>
          <p:nvPr/>
        </p:nvSpPr>
        <p:spPr>
          <a:xfrm>
            <a:off x="6972742" y="255683"/>
            <a:ext cx="4713872" cy="6762877"/>
          </a:xfrm>
          <a:prstGeom prst="rect">
            <a:avLst/>
          </a:prstGeom>
          <a:noFill/>
        </p:spPr>
        <p:txBody>
          <a:bodyPr wrap="square">
            <a:spAutoFit/>
          </a:bodyPr>
          <a:lstStyle/>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Utiliser une façade en guise d’interface.</a:t>
            </a:r>
            <a:r>
              <a:rPr lang="fr-FR">
                <a:ln w="19050">
                  <a:solidFill>
                    <a:schemeClr val="accent6">
                      <a:lumMod val="60000"/>
                      <a:lumOff val="40000"/>
                    </a:schemeClr>
                  </a:solidFill>
                </a:ln>
                <a:solidFill>
                  <a:srgbClr val="102031"/>
                </a:solidFill>
                <a:latin typeface="Avenir LT 35 Light" panose="02000503030000020003" pitchFamily="2" charset="0"/>
              </a:rPr>
              <a:t> </a:t>
            </a: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rPr>
              <a:t>La façade est un socle de type squelette (framework) sur lequel s’appuie le domaine pour intégrer ses échanges.</a:t>
            </a: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rPr>
              <a:t>Le framework est bien issu d’un travail fait par la médiation pour s’assurer que les standards sont respectés en termes de sécurité, de découplage, de monitoring, de logs.</a:t>
            </a: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rPr>
              <a:t>Idéalement, cette façade n’est requêtée que par la « Process API » « Principale ».  Le couplage reste fort entre les deux. A discuter.</a:t>
            </a: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rPr>
              <a:t>Les échanges peuvent être mutualisés.</a:t>
            </a: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rPr>
              <a:t>La façade n’est connue que de la « Product API ». Le métier doit rester côté Product API </a:t>
            </a:r>
            <a:r>
              <a:rPr lang="fr-FR" sz="1400">
                <a:ln w="19050">
                  <a:solidFill>
                    <a:schemeClr val="accent6">
                      <a:lumMod val="60000"/>
                      <a:lumOff val="40000"/>
                    </a:schemeClr>
                  </a:solidFill>
                </a:ln>
                <a:solidFill>
                  <a:srgbClr val="102031"/>
                </a:solidFill>
                <a:latin typeface="Avenir LT 35 Light" panose="02000503030000020003" pitchFamily="2" charset="0"/>
              </a:rPr>
              <a:t>(même s’il est dans l’</a:t>
            </a:r>
            <a:r>
              <a:rPr lang="fr-FR" sz="1400" err="1">
                <a:ln w="19050">
                  <a:solidFill>
                    <a:schemeClr val="accent6">
                      <a:lumMod val="60000"/>
                      <a:lumOff val="40000"/>
                    </a:schemeClr>
                  </a:solidFill>
                </a:ln>
                <a:solidFill>
                  <a:srgbClr val="102031"/>
                </a:solidFill>
                <a:latin typeface="Avenir LT 35 Light" panose="02000503030000020003" pitchFamily="2" charset="0"/>
              </a:rPr>
              <a:t>IPaaS</a:t>
            </a:r>
            <a:r>
              <a:rPr lang="fr-FR" sz="1400">
                <a:ln w="19050">
                  <a:solidFill>
                    <a:schemeClr val="accent6">
                      <a:lumMod val="60000"/>
                      <a:lumOff val="40000"/>
                    </a:schemeClr>
                  </a:solidFill>
                </a:ln>
                <a:solidFill>
                  <a:srgbClr val="102031"/>
                </a:solidFill>
                <a:latin typeface="Avenir LT 35 Light" panose="02000503030000020003" pitchFamily="2" charset="0"/>
              </a:rPr>
              <a:t> </a:t>
            </a:r>
            <a:r>
              <a:rPr lang="fr-FR" sz="1400" err="1">
                <a:ln w="19050">
                  <a:solidFill>
                    <a:schemeClr val="accent6">
                      <a:lumMod val="60000"/>
                      <a:lumOff val="40000"/>
                    </a:schemeClr>
                  </a:solidFill>
                </a:ln>
                <a:solidFill>
                  <a:srgbClr val="102031"/>
                </a:solidFill>
                <a:latin typeface="Avenir LT 35 Light" panose="02000503030000020003" pitchFamily="2" charset="0"/>
              </a:rPr>
              <a:t>MuleSoft</a:t>
            </a:r>
            <a:r>
              <a:rPr lang="fr-FR" sz="1400">
                <a:ln w="19050">
                  <a:solidFill>
                    <a:schemeClr val="accent6">
                      <a:lumMod val="60000"/>
                      <a:lumOff val="40000"/>
                    </a:schemeClr>
                  </a:solidFill>
                </a:ln>
                <a:solidFill>
                  <a:srgbClr val="102031"/>
                </a:solidFill>
                <a:latin typeface="Avenir LT 35 Light" panose="02000503030000020003" pitchFamily="2" charset="0"/>
              </a:rPr>
              <a:t> … )</a:t>
            </a:r>
            <a:endParaRPr lang="fr-FR">
              <a:ln w="19050">
                <a:solidFill>
                  <a:schemeClr val="accent6">
                    <a:lumMod val="60000"/>
                    <a:lumOff val="40000"/>
                  </a:schemeClr>
                </a:solidFill>
              </a:ln>
              <a:solidFill>
                <a:srgbClr val="102031"/>
              </a:solidFill>
              <a:latin typeface="Avenir LT 35 Light" panose="02000503030000020003" pitchFamily="2" charset="0"/>
            </a:endParaRP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rPr>
              <a:t>Si BYCN souhaite maintenir DOLLAR U pour centraliser la fonction d’ordonnancement, la coupler avec une API exposée par la Product API.</a:t>
            </a: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La relation entre les Uses Cases implémentés et le nombre de façades est à discuter.</a:t>
            </a:r>
          </a:p>
          <a:p>
            <a:pPr marL="360000" indent="-360000">
              <a:lnSpc>
                <a:spcPct val="78000"/>
              </a:lnSpc>
              <a:spcAft>
                <a:spcPts val="600"/>
              </a:spcAft>
              <a:buSzPct val="90000"/>
              <a:buBlip>
                <a:blip r:embed="rId3"/>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Le modèle fait abstraction des couches d’API GW/APIM. Le flux est bien un flux Est-Ouest.</a:t>
            </a:r>
            <a:endParaRPr lang="fr-FR">
              <a:ln w="19050">
                <a:solidFill>
                  <a:schemeClr val="accent6">
                    <a:lumMod val="60000"/>
                    <a:lumOff val="40000"/>
                  </a:schemeClr>
                </a:solidFill>
              </a:ln>
              <a:solidFill>
                <a:srgbClr val="102031"/>
              </a:solidFill>
              <a:latin typeface="Avenir LT 35 Light" panose="02000503030000020003" pitchFamily="2" charset="0"/>
            </a:endParaRPr>
          </a:p>
        </p:txBody>
      </p:sp>
      <p:pic>
        <p:nvPicPr>
          <p:cNvPr id="30" name="Image 29" descr="Une image contenant texte, diagramme, Plan, capture d’écran&#10;&#10;Description générée automatiquement">
            <a:extLst>
              <a:ext uri="{FF2B5EF4-FFF2-40B4-BE49-F238E27FC236}">
                <a16:creationId xmlns:a16="http://schemas.microsoft.com/office/drawing/2014/main" id="{7CC80546-A409-C563-A4C3-A94767FDB242}"/>
              </a:ext>
            </a:extLst>
          </p:cNvPr>
          <p:cNvPicPr>
            <a:picLocks noChangeAspect="1"/>
          </p:cNvPicPr>
          <p:nvPr/>
        </p:nvPicPr>
        <p:blipFill>
          <a:blip r:embed="rId4"/>
          <a:stretch>
            <a:fillRect/>
          </a:stretch>
        </p:blipFill>
        <p:spPr>
          <a:xfrm>
            <a:off x="105106" y="857211"/>
            <a:ext cx="6781800" cy="5525274"/>
          </a:xfrm>
          <a:prstGeom prst="rect">
            <a:avLst/>
          </a:prstGeom>
        </p:spPr>
      </p:pic>
      <p:sp>
        <p:nvSpPr>
          <p:cNvPr id="28" name="ZoneTexte 27">
            <a:extLst>
              <a:ext uri="{FF2B5EF4-FFF2-40B4-BE49-F238E27FC236}">
                <a16:creationId xmlns:a16="http://schemas.microsoft.com/office/drawing/2014/main" id="{7DE927BE-F627-10E2-F0C4-52FE789647FA}"/>
              </a:ext>
            </a:extLst>
          </p:cNvPr>
          <p:cNvSpPr txBox="1"/>
          <p:nvPr/>
        </p:nvSpPr>
        <p:spPr>
          <a:xfrm>
            <a:off x="3160040" y="803206"/>
            <a:ext cx="3817071" cy="523220"/>
          </a:xfrm>
          <a:prstGeom prst="rect">
            <a:avLst/>
          </a:prstGeom>
          <a:noFill/>
        </p:spPr>
        <p:txBody>
          <a:bodyPr wrap="none" rtlCol="0">
            <a:spAutoFit/>
          </a:bodyPr>
          <a:lstStyle/>
          <a:p>
            <a:r>
              <a:rPr lang="fr-FR" sz="2800">
                <a:ln w="38100">
                  <a:solidFill>
                    <a:schemeClr val="tx1"/>
                  </a:solidFill>
                </a:ln>
                <a:latin typeface="Avenir LT 35 Light" panose="02000503030000020003" pitchFamily="2" charset="0"/>
              </a:rPr>
              <a:t>Solution à mi-chemin ?</a:t>
            </a:r>
          </a:p>
        </p:txBody>
      </p:sp>
    </p:spTree>
    <p:extLst>
      <p:ext uri="{BB962C8B-B14F-4D97-AF65-F5344CB8AC3E}">
        <p14:creationId xmlns:p14="http://schemas.microsoft.com/office/powerpoint/2010/main" val="3150014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EB0FD-2F2C-9C43-8C1E-29291A19D4E5}"/>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6EFE46E-B84B-34D1-7019-D713011C7D7F}"/>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15635881-020F-C6BE-73C7-32A61C2D3E06}"/>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29E604B9-124B-AAC9-3F33-6216E5F16936}"/>
              </a:ext>
            </a:extLst>
          </p:cNvPr>
          <p:cNvSpPr>
            <a:spLocks noGrp="1"/>
          </p:cNvSpPr>
          <p:nvPr>
            <p:ph type="sldNum" sz="quarter" idx="12"/>
          </p:nvPr>
        </p:nvSpPr>
        <p:spPr/>
        <p:txBody>
          <a:bodyPr/>
          <a:lstStyle/>
          <a:p>
            <a:fld id="{CD166EB1-B284-8541-B839-321F682B6B05}" type="slidenum">
              <a:rPr lang="fr-FR" smtClean="0"/>
              <a:pPr/>
              <a:t>40</a:t>
            </a:fld>
            <a:endParaRPr lang="fr-FR"/>
          </a:p>
        </p:txBody>
      </p:sp>
      <p:sp>
        <p:nvSpPr>
          <p:cNvPr id="6" name="Espace réservé du texte 5">
            <a:extLst>
              <a:ext uri="{FF2B5EF4-FFF2-40B4-BE49-F238E27FC236}">
                <a16:creationId xmlns:a16="http://schemas.microsoft.com/office/drawing/2014/main" id="{56473CE9-4949-22EE-64D6-39F31CEA5E6E}"/>
              </a:ext>
            </a:extLst>
          </p:cNvPr>
          <p:cNvSpPr>
            <a:spLocks noGrp="1"/>
          </p:cNvSpPr>
          <p:nvPr>
            <p:ph type="body" sz="quarter" idx="19"/>
          </p:nvPr>
        </p:nvSpPr>
        <p:spPr/>
        <p:txBody>
          <a:bodyPr/>
          <a:lstStyle/>
          <a:p>
            <a:r>
              <a:rPr lang="fr-FR">
                <a:ln w="19050">
                  <a:solidFill>
                    <a:schemeClr val="bg1"/>
                  </a:solidFill>
                </a:ln>
              </a:rPr>
              <a:t>Quelle alternative ?</a:t>
            </a:r>
          </a:p>
        </p:txBody>
      </p:sp>
      <p:sp>
        <p:nvSpPr>
          <p:cNvPr id="7" name="Espace réservé du texte 6">
            <a:extLst>
              <a:ext uri="{FF2B5EF4-FFF2-40B4-BE49-F238E27FC236}">
                <a16:creationId xmlns:a16="http://schemas.microsoft.com/office/drawing/2014/main" id="{14179B3F-787E-2D4C-7B01-9760330E054E}"/>
              </a:ext>
            </a:extLst>
          </p:cNvPr>
          <p:cNvSpPr>
            <a:spLocks noGrp="1"/>
          </p:cNvSpPr>
          <p:nvPr>
            <p:ph type="body" sz="quarter" idx="30"/>
          </p:nvPr>
        </p:nvSpPr>
        <p:spPr/>
        <p:txBody>
          <a:bodyPr/>
          <a:lstStyle/>
          <a:p>
            <a:r>
              <a:rPr lang="fr-FR">
                <a:ln w="19050">
                  <a:solidFill>
                    <a:schemeClr val="bg1"/>
                  </a:solidFill>
                </a:ln>
              </a:rPr>
              <a:t>15</a:t>
            </a:r>
          </a:p>
        </p:txBody>
      </p:sp>
      <p:pic>
        <p:nvPicPr>
          <p:cNvPr id="24" name="Image 23" descr="Une image contenant texte, diagramme, capture d’écran, Plan&#10;&#10;Description générée automatiquement">
            <a:extLst>
              <a:ext uri="{FF2B5EF4-FFF2-40B4-BE49-F238E27FC236}">
                <a16:creationId xmlns:a16="http://schemas.microsoft.com/office/drawing/2014/main" id="{BA90BC71-800C-0140-C016-306253DE385E}"/>
              </a:ext>
            </a:extLst>
          </p:cNvPr>
          <p:cNvPicPr>
            <a:picLocks noChangeAspect="1"/>
          </p:cNvPicPr>
          <p:nvPr/>
        </p:nvPicPr>
        <p:blipFill>
          <a:blip r:embed="rId3"/>
          <a:stretch>
            <a:fillRect/>
          </a:stretch>
        </p:blipFill>
        <p:spPr>
          <a:xfrm>
            <a:off x="537577" y="1050498"/>
            <a:ext cx="6435165" cy="5242863"/>
          </a:xfrm>
          <a:prstGeom prst="rect">
            <a:avLst/>
          </a:prstGeom>
        </p:spPr>
      </p:pic>
      <p:sp>
        <p:nvSpPr>
          <p:cNvPr id="25" name="ZoneTexte 24">
            <a:extLst>
              <a:ext uri="{FF2B5EF4-FFF2-40B4-BE49-F238E27FC236}">
                <a16:creationId xmlns:a16="http://schemas.microsoft.com/office/drawing/2014/main" id="{5B252CA4-BA9E-9357-C2DA-33B1F1F64F64}"/>
              </a:ext>
            </a:extLst>
          </p:cNvPr>
          <p:cNvSpPr txBox="1"/>
          <p:nvPr/>
        </p:nvSpPr>
        <p:spPr>
          <a:xfrm>
            <a:off x="7092529" y="967214"/>
            <a:ext cx="4713872" cy="4078168"/>
          </a:xfrm>
          <a:prstGeom prst="rect">
            <a:avLst/>
          </a:prstGeom>
          <a:noFill/>
        </p:spPr>
        <p:txBody>
          <a:bodyPr wrap="square">
            <a:spAutoFit/>
          </a:bodyPr>
          <a:lstStyle/>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Utiliser le modèle réfléchi dans la Flow API comme façade.</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Coupler la façade API avec la Product API.</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Limites et point d’intérêt : Une API pour exposer la façade ? — A priori, non pour limiter la latence entre la Product API et sa façade.</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Limites &amp; Challenges : Quelles autres solutions qu’une MuleApp en lieu et place de cette façade ?</a:t>
            </a:r>
            <a:r>
              <a:rPr lang="fr-FR">
                <a:ln w="19050">
                  <a:solidFill>
                    <a:schemeClr val="accent6">
                      <a:lumMod val="60000"/>
                      <a:lumOff val="40000"/>
                    </a:schemeClr>
                  </a:solidFill>
                </a:ln>
                <a:solidFill>
                  <a:srgbClr val="102031"/>
                </a:solidFill>
                <a:latin typeface="Avenir LT 35 Light" panose="02000503030000020003" pitchFamily="2" charset="0"/>
              </a:rPr>
              <a:t> </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Limites &amp; Challenges : La complexité reste identique mais mitigée par la proposition d’un framework maitrisé par la médiation. La maintenance de ce framework reste un défi et un inconvénient dont il faut tenir compte.</a:t>
            </a:r>
            <a:endParaRPr lang="fr-FR">
              <a:ln w="19050">
                <a:solidFill>
                  <a:schemeClr val="accent6">
                    <a:lumMod val="60000"/>
                    <a:lumOff val="40000"/>
                  </a:schemeClr>
                </a:solidFill>
              </a:ln>
              <a:solidFill>
                <a:srgbClr val="102031"/>
              </a:solidFill>
              <a:latin typeface="Avenir LT 35 Light" panose="02000503030000020003" pitchFamily="2" charset="0"/>
            </a:endParaRPr>
          </a:p>
        </p:txBody>
      </p:sp>
      <p:sp>
        <p:nvSpPr>
          <p:cNvPr id="5" name="ZoneTexte 4">
            <a:extLst>
              <a:ext uri="{FF2B5EF4-FFF2-40B4-BE49-F238E27FC236}">
                <a16:creationId xmlns:a16="http://schemas.microsoft.com/office/drawing/2014/main" id="{584820F8-A9FA-EE5A-F348-A50688BEE49D}"/>
              </a:ext>
            </a:extLst>
          </p:cNvPr>
          <p:cNvSpPr txBox="1"/>
          <p:nvPr/>
        </p:nvSpPr>
        <p:spPr>
          <a:xfrm>
            <a:off x="5966740" y="114919"/>
            <a:ext cx="3817071" cy="523220"/>
          </a:xfrm>
          <a:prstGeom prst="rect">
            <a:avLst/>
          </a:prstGeom>
          <a:noFill/>
        </p:spPr>
        <p:txBody>
          <a:bodyPr wrap="none" rtlCol="0">
            <a:spAutoFit/>
          </a:bodyPr>
          <a:lstStyle/>
          <a:p>
            <a:r>
              <a:rPr lang="fr-FR" sz="2800">
                <a:ln w="38100">
                  <a:solidFill>
                    <a:schemeClr val="tx1"/>
                  </a:solidFill>
                </a:ln>
                <a:latin typeface="Avenir LT 35 Light" panose="02000503030000020003" pitchFamily="2" charset="0"/>
              </a:rPr>
              <a:t>Solution à mi-chemin ?</a:t>
            </a:r>
          </a:p>
        </p:txBody>
      </p:sp>
    </p:spTree>
    <p:extLst>
      <p:ext uri="{BB962C8B-B14F-4D97-AF65-F5344CB8AC3E}">
        <p14:creationId xmlns:p14="http://schemas.microsoft.com/office/powerpoint/2010/main" val="26107080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83ED8-0749-7244-9D5E-D44C1C3324FB}"/>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234A2A8-8731-675F-78CB-40A907928BA7}"/>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AEB6DB38-169E-9770-9EB4-9C6B465A3AEC}"/>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DC85B062-4F82-72E6-5BB5-2571BB8561BE}"/>
              </a:ext>
            </a:extLst>
          </p:cNvPr>
          <p:cNvSpPr>
            <a:spLocks noGrp="1"/>
          </p:cNvSpPr>
          <p:nvPr>
            <p:ph type="sldNum" sz="quarter" idx="12"/>
          </p:nvPr>
        </p:nvSpPr>
        <p:spPr/>
        <p:txBody>
          <a:bodyPr/>
          <a:lstStyle/>
          <a:p>
            <a:fld id="{CD166EB1-B284-8541-B839-321F682B6B05}" type="slidenum">
              <a:rPr lang="fr-FR" smtClean="0"/>
              <a:pPr/>
              <a:t>41</a:t>
            </a:fld>
            <a:endParaRPr lang="fr-FR"/>
          </a:p>
        </p:txBody>
      </p:sp>
      <p:sp>
        <p:nvSpPr>
          <p:cNvPr id="6" name="Espace réservé du texte 5">
            <a:extLst>
              <a:ext uri="{FF2B5EF4-FFF2-40B4-BE49-F238E27FC236}">
                <a16:creationId xmlns:a16="http://schemas.microsoft.com/office/drawing/2014/main" id="{98D3C44A-8509-0C03-5286-994CE9D01542}"/>
              </a:ext>
            </a:extLst>
          </p:cNvPr>
          <p:cNvSpPr>
            <a:spLocks noGrp="1"/>
          </p:cNvSpPr>
          <p:nvPr>
            <p:ph type="body" sz="quarter" idx="19"/>
          </p:nvPr>
        </p:nvSpPr>
        <p:spPr/>
        <p:txBody>
          <a:bodyPr/>
          <a:lstStyle/>
          <a:p>
            <a:r>
              <a:rPr lang="fr-FR">
                <a:ln w="19050">
                  <a:solidFill>
                    <a:schemeClr val="bg1"/>
                  </a:solidFill>
                </a:ln>
              </a:rPr>
              <a:t>Quelle Alternative ?</a:t>
            </a:r>
          </a:p>
        </p:txBody>
      </p:sp>
      <p:sp>
        <p:nvSpPr>
          <p:cNvPr id="7" name="Espace réservé du texte 6">
            <a:extLst>
              <a:ext uri="{FF2B5EF4-FFF2-40B4-BE49-F238E27FC236}">
                <a16:creationId xmlns:a16="http://schemas.microsoft.com/office/drawing/2014/main" id="{0BFA5684-43F5-D884-A0C2-4A4DBC07AC31}"/>
              </a:ext>
            </a:extLst>
          </p:cNvPr>
          <p:cNvSpPr>
            <a:spLocks noGrp="1"/>
          </p:cNvSpPr>
          <p:nvPr>
            <p:ph type="body" sz="quarter" idx="30"/>
          </p:nvPr>
        </p:nvSpPr>
        <p:spPr/>
        <p:txBody>
          <a:bodyPr/>
          <a:lstStyle/>
          <a:p>
            <a:r>
              <a:rPr lang="fr-FR">
                <a:ln w="19050">
                  <a:solidFill>
                    <a:schemeClr val="bg1"/>
                  </a:solidFill>
                </a:ln>
              </a:rPr>
              <a:t>15</a:t>
            </a:r>
          </a:p>
        </p:txBody>
      </p:sp>
      <p:pic>
        <p:nvPicPr>
          <p:cNvPr id="14" name="Image 13" descr="Une image contenant texte, diagramme, Plan, Dessin technique&#10;&#10;Description générée automatiquement">
            <a:extLst>
              <a:ext uri="{FF2B5EF4-FFF2-40B4-BE49-F238E27FC236}">
                <a16:creationId xmlns:a16="http://schemas.microsoft.com/office/drawing/2014/main" id="{7F5702C5-8F0A-E5E6-B797-A272FF47B07A}"/>
              </a:ext>
            </a:extLst>
          </p:cNvPr>
          <p:cNvPicPr>
            <a:picLocks noChangeAspect="1"/>
          </p:cNvPicPr>
          <p:nvPr/>
        </p:nvPicPr>
        <p:blipFill>
          <a:blip r:embed="rId3"/>
          <a:stretch>
            <a:fillRect/>
          </a:stretch>
        </p:blipFill>
        <p:spPr>
          <a:xfrm>
            <a:off x="876301" y="785371"/>
            <a:ext cx="10114729" cy="5640738"/>
          </a:xfrm>
          <a:prstGeom prst="rect">
            <a:avLst/>
          </a:prstGeom>
        </p:spPr>
      </p:pic>
      <p:sp>
        <p:nvSpPr>
          <p:cNvPr id="15" name="ZoneTexte 14">
            <a:extLst>
              <a:ext uri="{FF2B5EF4-FFF2-40B4-BE49-F238E27FC236}">
                <a16:creationId xmlns:a16="http://schemas.microsoft.com/office/drawing/2014/main" id="{F1C6443B-282D-F09F-EA52-3AC71F066CF8}"/>
              </a:ext>
            </a:extLst>
          </p:cNvPr>
          <p:cNvSpPr txBox="1"/>
          <p:nvPr/>
        </p:nvSpPr>
        <p:spPr>
          <a:xfrm>
            <a:off x="5979440" y="170281"/>
            <a:ext cx="3817071" cy="523220"/>
          </a:xfrm>
          <a:prstGeom prst="rect">
            <a:avLst/>
          </a:prstGeom>
          <a:noFill/>
        </p:spPr>
        <p:txBody>
          <a:bodyPr wrap="none" rtlCol="0">
            <a:spAutoFit/>
          </a:bodyPr>
          <a:lstStyle/>
          <a:p>
            <a:r>
              <a:rPr lang="fr-FR" sz="2800">
                <a:ln w="38100">
                  <a:solidFill>
                    <a:schemeClr val="tx1"/>
                  </a:solidFill>
                </a:ln>
                <a:latin typeface="Avenir LT 35 Light" panose="02000503030000020003" pitchFamily="2" charset="0"/>
              </a:rPr>
              <a:t>Solution à mi-chemin ?</a:t>
            </a:r>
          </a:p>
        </p:txBody>
      </p:sp>
    </p:spTree>
    <p:extLst>
      <p:ext uri="{BB962C8B-B14F-4D97-AF65-F5344CB8AC3E}">
        <p14:creationId xmlns:p14="http://schemas.microsoft.com/office/powerpoint/2010/main" val="40350044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88B33-ADF8-634B-CC79-EF97C8728AA3}"/>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0ACCBA1-CEB1-25A3-1919-120791D1CDC9}"/>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EC3048FD-FDB9-1985-F920-BAA233ADF6BB}"/>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A2DAA350-C551-4C70-DFC4-51D394B9808D}"/>
              </a:ext>
            </a:extLst>
          </p:cNvPr>
          <p:cNvSpPr>
            <a:spLocks noGrp="1"/>
          </p:cNvSpPr>
          <p:nvPr>
            <p:ph type="sldNum" sz="quarter" idx="12"/>
          </p:nvPr>
        </p:nvSpPr>
        <p:spPr/>
        <p:txBody>
          <a:bodyPr/>
          <a:lstStyle/>
          <a:p>
            <a:fld id="{CD166EB1-B284-8541-B839-321F682B6B05}" type="slidenum">
              <a:rPr lang="fr-FR" smtClean="0"/>
              <a:pPr/>
              <a:t>42</a:t>
            </a:fld>
            <a:endParaRPr lang="fr-FR"/>
          </a:p>
        </p:txBody>
      </p:sp>
      <p:sp>
        <p:nvSpPr>
          <p:cNvPr id="6" name="Espace réservé du texte 5">
            <a:extLst>
              <a:ext uri="{FF2B5EF4-FFF2-40B4-BE49-F238E27FC236}">
                <a16:creationId xmlns:a16="http://schemas.microsoft.com/office/drawing/2014/main" id="{0AB5D930-DA5B-159C-4C6A-C2DA81797816}"/>
              </a:ext>
            </a:extLst>
          </p:cNvPr>
          <p:cNvSpPr>
            <a:spLocks noGrp="1"/>
          </p:cNvSpPr>
          <p:nvPr>
            <p:ph type="body" sz="quarter" idx="19"/>
          </p:nvPr>
        </p:nvSpPr>
        <p:spPr/>
        <p:txBody>
          <a:bodyPr/>
          <a:lstStyle/>
          <a:p>
            <a:r>
              <a:rPr lang="fr-FR">
                <a:ln w="19050">
                  <a:solidFill>
                    <a:schemeClr val="bg1"/>
                  </a:solidFill>
                </a:ln>
              </a:rPr>
              <a:t>Quelle Alternative ?</a:t>
            </a:r>
          </a:p>
        </p:txBody>
      </p:sp>
      <p:sp>
        <p:nvSpPr>
          <p:cNvPr id="7" name="Espace réservé du texte 6">
            <a:extLst>
              <a:ext uri="{FF2B5EF4-FFF2-40B4-BE49-F238E27FC236}">
                <a16:creationId xmlns:a16="http://schemas.microsoft.com/office/drawing/2014/main" id="{D24D7AC7-DF06-8FA2-626E-F25ED916FEC2}"/>
              </a:ext>
            </a:extLst>
          </p:cNvPr>
          <p:cNvSpPr>
            <a:spLocks noGrp="1"/>
          </p:cNvSpPr>
          <p:nvPr>
            <p:ph type="body" sz="quarter" idx="30"/>
          </p:nvPr>
        </p:nvSpPr>
        <p:spPr/>
        <p:txBody>
          <a:bodyPr/>
          <a:lstStyle/>
          <a:p>
            <a:r>
              <a:rPr lang="fr-FR">
                <a:ln w="19050">
                  <a:solidFill>
                    <a:schemeClr val="bg1"/>
                  </a:solidFill>
                </a:ln>
              </a:rPr>
              <a:t>15</a:t>
            </a:r>
          </a:p>
        </p:txBody>
      </p:sp>
      <p:pic>
        <p:nvPicPr>
          <p:cNvPr id="12" name="Image 11" descr="Une image contenant diagramme, texte, Plan, Dessin technique&#10;&#10;Description générée automatiquement">
            <a:extLst>
              <a:ext uri="{FF2B5EF4-FFF2-40B4-BE49-F238E27FC236}">
                <a16:creationId xmlns:a16="http://schemas.microsoft.com/office/drawing/2014/main" id="{77FD6CA1-7FE0-D722-25C7-0518B5F2D931}"/>
              </a:ext>
            </a:extLst>
          </p:cNvPr>
          <p:cNvPicPr>
            <a:picLocks noChangeAspect="1"/>
          </p:cNvPicPr>
          <p:nvPr/>
        </p:nvPicPr>
        <p:blipFill>
          <a:blip r:embed="rId3"/>
          <a:stretch>
            <a:fillRect/>
          </a:stretch>
        </p:blipFill>
        <p:spPr>
          <a:xfrm>
            <a:off x="296164" y="1074311"/>
            <a:ext cx="6523736" cy="3755338"/>
          </a:xfrm>
          <a:prstGeom prst="rect">
            <a:avLst/>
          </a:prstGeom>
        </p:spPr>
      </p:pic>
      <p:sp>
        <p:nvSpPr>
          <p:cNvPr id="13" name="ZoneTexte 12">
            <a:extLst>
              <a:ext uri="{FF2B5EF4-FFF2-40B4-BE49-F238E27FC236}">
                <a16:creationId xmlns:a16="http://schemas.microsoft.com/office/drawing/2014/main" id="{B986FDAC-C885-B143-C457-6FC6CC0B9CA6}"/>
              </a:ext>
            </a:extLst>
          </p:cNvPr>
          <p:cNvSpPr txBox="1"/>
          <p:nvPr/>
        </p:nvSpPr>
        <p:spPr>
          <a:xfrm>
            <a:off x="7017192" y="1074311"/>
            <a:ext cx="4713872" cy="4587281"/>
          </a:xfrm>
          <a:prstGeom prst="rect">
            <a:avLst/>
          </a:prstGeom>
          <a:noFill/>
        </p:spPr>
        <p:txBody>
          <a:bodyPr wrap="square">
            <a:spAutoFit/>
          </a:bodyPr>
          <a:lstStyle/>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Modèle de repli sur le modèle EDA n’est pas possible.</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cs typeface="Arial" panose="020B0604020202020204" pitchFamily="34" charset="0"/>
              </a:rPr>
              <a:t>Responsabilités conservées au niveau du domaine. Pas de surcharge par rapport au modèle précédent.</a:t>
            </a:r>
            <a:r>
              <a:rPr lang="fr-FR">
                <a:ln w="19050">
                  <a:solidFill>
                    <a:schemeClr val="accent6">
                      <a:lumMod val="60000"/>
                      <a:lumOff val="40000"/>
                    </a:schemeClr>
                  </a:solidFill>
                </a:ln>
                <a:solidFill>
                  <a:srgbClr val="102031"/>
                </a:solidFill>
                <a:latin typeface="Avenir LT 35 Light" panose="02000503030000020003" pitchFamily="2" charset="0"/>
              </a:rPr>
              <a:t> </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rPr>
              <a:t>Conservation de la maitrise des aspects techniques liés aux standards BYCN</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rPr>
              <a:t>Réutilisabilité, administration, observabilité restent adressés</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rPr>
              <a:t>Limites et points d’attention : la mise à jour, la migration du framework est un sujet d’architecture logicielle sur lequel il faudra être précautionneux.</a:t>
            </a:r>
          </a:p>
          <a:p>
            <a:pPr marL="360000" indent="-360000">
              <a:lnSpc>
                <a:spcPct val="78000"/>
              </a:lnSpc>
              <a:spcAft>
                <a:spcPts val="600"/>
              </a:spcAft>
              <a:buSzPct val="90000"/>
              <a:buBlip>
                <a:blip r:embed="rId4"/>
              </a:buBlip>
            </a:pPr>
            <a:r>
              <a:rPr lang="fr-FR">
                <a:ln w="19050">
                  <a:solidFill>
                    <a:schemeClr val="accent6">
                      <a:lumMod val="60000"/>
                      <a:lumOff val="40000"/>
                    </a:schemeClr>
                  </a:solidFill>
                </a:ln>
                <a:solidFill>
                  <a:srgbClr val="102031"/>
                </a:solidFill>
                <a:latin typeface="Avenir LT 35 Light" panose="02000503030000020003" pitchFamily="2" charset="0"/>
              </a:rPr>
              <a:t>Limites et points d’attention : Le modèle diffère du point-à-point mais conserve des similitudes. La mutualisation est importante mais le découplage des composants selon les UC reste importants</a:t>
            </a:r>
          </a:p>
        </p:txBody>
      </p:sp>
      <p:sp>
        <p:nvSpPr>
          <p:cNvPr id="15" name="ZoneTexte 14">
            <a:extLst>
              <a:ext uri="{FF2B5EF4-FFF2-40B4-BE49-F238E27FC236}">
                <a16:creationId xmlns:a16="http://schemas.microsoft.com/office/drawing/2014/main" id="{D9F9BECF-9648-9C70-D5F2-E98990E9E818}"/>
              </a:ext>
            </a:extLst>
          </p:cNvPr>
          <p:cNvSpPr txBox="1"/>
          <p:nvPr/>
        </p:nvSpPr>
        <p:spPr>
          <a:xfrm>
            <a:off x="5979440" y="170281"/>
            <a:ext cx="3817071" cy="523220"/>
          </a:xfrm>
          <a:prstGeom prst="rect">
            <a:avLst/>
          </a:prstGeom>
          <a:noFill/>
        </p:spPr>
        <p:txBody>
          <a:bodyPr wrap="none" rtlCol="0">
            <a:spAutoFit/>
          </a:bodyPr>
          <a:lstStyle/>
          <a:p>
            <a:r>
              <a:rPr lang="fr-FR" sz="2800">
                <a:ln w="38100">
                  <a:solidFill>
                    <a:schemeClr val="tx1"/>
                  </a:solidFill>
                </a:ln>
                <a:latin typeface="Avenir LT 35 Light" panose="02000503030000020003" pitchFamily="2" charset="0"/>
              </a:rPr>
              <a:t>Solution à mi-chemin ?</a:t>
            </a:r>
          </a:p>
        </p:txBody>
      </p:sp>
    </p:spTree>
    <p:extLst>
      <p:ext uri="{BB962C8B-B14F-4D97-AF65-F5344CB8AC3E}">
        <p14:creationId xmlns:p14="http://schemas.microsoft.com/office/powerpoint/2010/main" val="6833611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1C6C2-1D6B-EB77-2FA1-B8EB8EAEF446}"/>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EC09D33-328A-104D-A32F-E5E28F3788DF}"/>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B0B5C175-6C61-B2B3-95AC-331ED00FE785}"/>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515E991C-8D13-0390-8322-11BF778DFB65}"/>
              </a:ext>
            </a:extLst>
          </p:cNvPr>
          <p:cNvSpPr>
            <a:spLocks noGrp="1"/>
          </p:cNvSpPr>
          <p:nvPr>
            <p:ph type="sldNum" sz="quarter" idx="12"/>
          </p:nvPr>
        </p:nvSpPr>
        <p:spPr/>
        <p:txBody>
          <a:bodyPr/>
          <a:lstStyle/>
          <a:p>
            <a:fld id="{CD166EB1-B284-8541-B839-321F682B6B05}" type="slidenum">
              <a:rPr lang="fr-FR" smtClean="0"/>
              <a:pPr/>
              <a:t>43</a:t>
            </a:fld>
            <a:endParaRPr lang="fr-FR"/>
          </a:p>
        </p:txBody>
      </p:sp>
      <p:sp>
        <p:nvSpPr>
          <p:cNvPr id="6" name="Espace réservé du texte 5">
            <a:extLst>
              <a:ext uri="{FF2B5EF4-FFF2-40B4-BE49-F238E27FC236}">
                <a16:creationId xmlns:a16="http://schemas.microsoft.com/office/drawing/2014/main" id="{B0203C36-BF15-26D0-39DA-8A839F362A11}"/>
              </a:ext>
            </a:extLst>
          </p:cNvPr>
          <p:cNvSpPr>
            <a:spLocks noGrp="1"/>
          </p:cNvSpPr>
          <p:nvPr>
            <p:ph type="body" sz="quarter" idx="19"/>
          </p:nvPr>
        </p:nvSpPr>
        <p:spPr/>
        <p:txBody>
          <a:bodyPr/>
          <a:lstStyle/>
          <a:p>
            <a:r>
              <a:rPr lang="fr-FR">
                <a:ln w="19050">
                  <a:solidFill>
                    <a:schemeClr val="bg1"/>
                  </a:solidFill>
                </a:ln>
              </a:rPr>
              <a:t>UC SOA</a:t>
            </a:r>
          </a:p>
        </p:txBody>
      </p:sp>
      <p:sp>
        <p:nvSpPr>
          <p:cNvPr id="7" name="Espace réservé du texte 6">
            <a:extLst>
              <a:ext uri="{FF2B5EF4-FFF2-40B4-BE49-F238E27FC236}">
                <a16:creationId xmlns:a16="http://schemas.microsoft.com/office/drawing/2014/main" id="{4690491A-6B5B-3BBA-51ED-F6C6C8BC8C05}"/>
              </a:ext>
            </a:extLst>
          </p:cNvPr>
          <p:cNvSpPr>
            <a:spLocks noGrp="1"/>
          </p:cNvSpPr>
          <p:nvPr>
            <p:ph type="body" sz="quarter" idx="30"/>
          </p:nvPr>
        </p:nvSpPr>
        <p:spPr/>
        <p:txBody>
          <a:bodyPr/>
          <a:lstStyle/>
          <a:p>
            <a:r>
              <a:rPr lang="fr-FR">
                <a:ln w="19050">
                  <a:solidFill>
                    <a:schemeClr val="bg1"/>
                  </a:solidFill>
                </a:ln>
              </a:rPr>
              <a:t>15</a:t>
            </a:r>
          </a:p>
        </p:txBody>
      </p:sp>
      <p:sp>
        <p:nvSpPr>
          <p:cNvPr id="9" name="ZoneTexte 8">
            <a:extLst>
              <a:ext uri="{FF2B5EF4-FFF2-40B4-BE49-F238E27FC236}">
                <a16:creationId xmlns:a16="http://schemas.microsoft.com/office/drawing/2014/main" id="{992A1702-DFAA-B1B3-BF08-BFA69762D473}"/>
              </a:ext>
            </a:extLst>
          </p:cNvPr>
          <p:cNvSpPr txBox="1"/>
          <p:nvPr/>
        </p:nvSpPr>
        <p:spPr>
          <a:xfrm>
            <a:off x="5979440" y="170281"/>
            <a:ext cx="5480988" cy="523220"/>
          </a:xfrm>
          <a:prstGeom prst="rect">
            <a:avLst/>
          </a:prstGeom>
          <a:noFill/>
        </p:spPr>
        <p:txBody>
          <a:bodyPr wrap="none" rtlCol="0">
            <a:spAutoFit/>
          </a:bodyPr>
          <a:lstStyle/>
          <a:p>
            <a:r>
              <a:rPr lang="fr-FR" sz="2800">
                <a:ln w="38100">
                  <a:solidFill>
                    <a:schemeClr val="tx1"/>
                  </a:solidFill>
                </a:ln>
                <a:latin typeface="Avenir LT 35 Light" panose="02000503030000020003" pitchFamily="2" charset="0"/>
              </a:rPr>
              <a:t>Use Case générique orienté SOA</a:t>
            </a:r>
          </a:p>
        </p:txBody>
      </p:sp>
      <p:pic>
        <p:nvPicPr>
          <p:cNvPr id="11" name="Image 10" descr="Une image contenant diagramme, Plan, Dessin technique, schématique&#10;&#10;Description générée automatiquement">
            <a:extLst>
              <a:ext uri="{FF2B5EF4-FFF2-40B4-BE49-F238E27FC236}">
                <a16:creationId xmlns:a16="http://schemas.microsoft.com/office/drawing/2014/main" id="{BA40C7F6-EAF0-8F88-E3EB-69A5E9E6BCB8}"/>
              </a:ext>
            </a:extLst>
          </p:cNvPr>
          <p:cNvPicPr>
            <a:picLocks noChangeAspect="1"/>
          </p:cNvPicPr>
          <p:nvPr/>
        </p:nvPicPr>
        <p:blipFill>
          <a:blip r:embed="rId3"/>
          <a:stretch>
            <a:fillRect/>
          </a:stretch>
        </p:blipFill>
        <p:spPr>
          <a:xfrm>
            <a:off x="275535" y="1019344"/>
            <a:ext cx="7877865" cy="4819311"/>
          </a:xfrm>
          <a:prstGeom prst="rect">
            <a:avLst/>
          </a:prstGeom>
        </p:spPr>
      </p:pic>
    </p:spTree>
    <p:extLst>
      <p:ext uri="{BB962C8B-B14F-4D97-AF65-F5344CB8AC3E}">
        <p14:creationId xmlns:p14="http://schemas.microsoft.com/office/powerpoint/2010/main" val="13117266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C4117-6D8D-65F0-1B42-9E228CA80B93}"/>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ED53D3-510A-A030-B809-0A791D5F7582}"/>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67E57E8E-5879-56C3-4FC6-2A5386AC578E}"/>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CB158F67-B10C-7EA3-7929-140F1FC030BB}"/>
              </a:ext>
            </a:extLst>
          </p:cNvPr>
          <p:cNvSpPr>
            <a:spLocks noGrp="1"/>
          </p:cNvSpPr>
          <p:nvPr>
            <p:ph type="sldNum" sz="quarter" idx="12"/>
          </p:nvPr>
        </p:nvSpPr>
        <p:spPr/>
        <p:txBody>
          <a:bodyPr/>
          <a:lstStyle/>
          <a:p>
            <a:fld id="{CD166EB1-B284-8541-B839-321F682B6B05}" type="slidenum">
              <a:rPr lang="fr-FR" smtClean="0"/>
              <a:pPr/>
              <a:t>44</a:t>
            </a:fld>
            <a:endParaRPr lang="fr-FR"/>
          </a:p>
        </p:txBody>
      </p:sp>
      <p:sp>
        <p:nvSpPr>
          <p:cNvPr id="6" name="Espace réservé du texte 5">
            <a:extLst>
              <a:ext uri="{FF2B5EF4-FFF2-40B4-BE49-F238E27FC236}">
                <a16:creationId xmlns:a16="http://schemas.microsoft.com/office/drawing/2014/main" id="{6F21F7FB-1520-5456-4F7E-6F86749FC0BB}"/>
              </a:ext>
            </a:extLst>
          </p:cNvPr>
          <p:cNvSpPr>
            <a:spLocks noGrp="1"/>
          </p:cNvSpPr>
          <p:nvPr>
            <p:ph type="body" sz="quarter" idx="19"/>
          </p:nvPr>
        </p:nvSpPr>
        <p:spPr/>
        <p:txBody>
          <a:bodyPr/>
          <a:lstStyle/>
          <a:p>
            <a:r>
              <a:rPr lang="fr-FR">
                <a:ln w="19050">
                  <a:solidFill>
                    <a:schemeClr val="bg1"/>
                  </a:solidFill>
                </a:ln>
              </a:rPr>
              <a:t>UC EDA / SOA</a:t>
            </a:r>
          </a:p>
        </p:txBody>
      </p:sp>
      <p:sp>
        <p:nvSpPr>
          <p:cNvPr id="7" name="Espace réservé du texte 6">
            <a:extLst>
              <a:ext uri="{FF2B5EF4-FFF2-40B4-BE49-F238E27FC236}">
                <a16:creationId xmlns:a16="http://schemas.microsoft.com/office/drawing/2014/main" id="{1A05E84A-ABE6-076F-D012-EF9DF623356B}"/>
              </a:ext>
            </a:extLst>
          </p:cNvPr>
          <p:cNvSpPr>
            <a:spLocks noGrp="1"/>
          </p:cNvSpPr>
          <p:nvPr>
            <p:ph type="body" sz="quarter" idx="30"/>
          </p:nvPr>
        </p:nvSpPr>
        <p:spPr/>
        <p:txBody>
          <a:bodyPr/>
          <a:lstStyle/>
          <a:p>
            <a:r>
              <a:rPr lang="fr-FR">
                <a:ln w="19050">
                  <a:solidFill>
                    <a:schemeClr val="bg1"/>
                  </a:solidFill>
                </a:ln>
              </a:rPr>
              <a:t>15</a:t>
            </a:r>
          </a:p>
        </p:txBody>
      </p:sp>
      <p:sp>
        <p:nvSpPr>
          <p:cNvPr id="9" name="ZoneTexte 8">
            <a:extLst>
              <a:ext uri="{FF2B5EF4-FFF2-40B4-BE49-F238E27FC236}">
                <a16:creationId xmlns:a16="http://schemas.microsoft.com/office/drawing/2014/main" id="{BF113D59-A41E-1553-2FCC-7BD63F73C722}"/>
              </a:ext>
            </a:extLst>
          </p:cNvPr>
          <p:cNvSpPr txBox="1"/>
          <p:nvPr/>
        </p:nvSpPr>
        <p:spPr>
          <a:xfrm>
            <a:off x="5979440" y="170281"/>
            <a:ext cx="5458546" cy="461665"/>
          </a:xfrm>
          <a:prstGeom prst="rect">
            <a:avLst/>
          </a:prstGeom>
          <a:noFill/>
        </p:spPr>
        <p:txBody>
          <a:bodyPr wrap="none" rtlCol="0">
            <a:spAutoFit/>
          </a:bodyPr>
          <a:lstStyle/>
          <a:p>
            <a:r>
              <a:rPr lang="fr-FR" sz="2400">
                <a:ln w="38100">
                  <a:solidFill>
                    <a:schemeClr val="tx1"/>
                  </a:solidFill>
                </a:ln>
                <a:latin typeface="Avenir LT 35 Light" panose="02000503030000020003" pitchFamily="2" charset="0"/>
              </a:rPr>
              <a:t>Use Case générique orienté EDA/SOA</a:t>
            </a:r>
          </a:p>
        </p:txBody>
      </p:sp>
      <p:pic>
        <p:nvPicPr>
          <p:cNvPr id="8" name="Image 7" descr="Une image contenant diagramme, Plan, Dessin technique, schématique&#10;&#10;Description générée automatiquement">
            <a:extLst>
              <a:ext uri="{FF2B5EF4-FFF2-40B4-BE49-F238E27FC236}">
                <a16:creationId xmlns:a16="http://schemas.microsoft.com/office/drawing/2014/main" id="{ECA91844-076F-BD4E-6E99-D5FC7A97EB0E}"/>
              </a:ext>
            </a:extLst>
          </p:cNvPr>
          <p:cNvPicPr>
            <a:picLocks noChangeAspect="1"/>
          </p:cNvPicPr>
          <p:nvPr/>
        </p:nvPicPr>
        <p:blipFill>
          <a:blip r:embed="rId3"/>
          <a:stretch>
            <a:fillRect/>
          </a:stretch>
        </p:blipFill>
        <p:spPr>
          <a:xfrm>
            <a:off x="562004" y="997112"/>
            <a:ext cx="7722217" cy="5428997"/>
          </a:xfrm>
          <a:prstGeom prst="rect">
            <a:avLst/>
          </a:prstGeom>
        </p:spPr>
      </p:pic>
    </p:spTree>
    <p:extLst>
      <p:ext uri="{BB962C8B-B14F-4D97-AF65-F5344CB8AC3E}">
        <p14:creationId xmlns:p14="http://schemas.microsoft.com/office/powerpoint/2010/main" val="28711644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45</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a:t>Description des scénarios</a:t>
            </a: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endParaRPr lang="fr-FR"/>
          </a:p>
        </p:txBody>
      </p:sp>
      <p:sp>
        <p:nvSpPr>
          <p:cNvPr id="8" name="Espace réservé du texte 2">
            <a:extLst>
              <a:ext uri="{FF2B5EF4-FFF2-40B4-BE49-F238E27FC236}">
                <a16:creationId xmlns:a16="http://schemas.microsoft.com/office/drawing/2014/main" id="{B175A0BF-6A7B-E586-CC7D-569872214755}"/>
              </a:ext>
            </a:extLst>
          </p:cNvPr>
          <p:cNvSpPr txBox="1">
            <a:spLocks/>
          </p:cNvSpPr>
          <p:nvPr/>
        </p:nvSpPr>
        <p:spPr>
          <a:xfrm>
            <a:off x="538163" y="2124075"/>
            <a:ext cx="11085990" cy="4114800"/>
          </a:xfrm>
          <a:prstGeom prst="rect">
            <a:avLst/>
          </a:prstGeom>
        </p:spPr>
        <p:txBody>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Il est possible de présenter de façon exhaustive le détail des scénarios envisagés sur les aspects nécessaires à faciliter la prise des décisions (architecture technique, infrastructure et/ou fonctionnelle).</a:t>
            </a:r>
          </a:p>
        </p:txBody>
      </p:sp>
      <p:sp>
        <p:nvSpPr>
          <p:cNvPr id="9" name="Rectangle : coins arrondis 8">
            <a:extLst>
              <a:ext uri="{FF2B5EF4-FFF2-40B4-BE49-F238E27FC236}">
                <a16:creationId xmlns:a16="http://schemas.microsoft.com/office/drawing/2014/main" id="{0A5ADF18-9356-F2CE-B7DD-EAFA7413FD36}"/>
              </a:ext>
            </a:extLst>
          </p:cNvPr>
          <p:cNvSpPr/>
          <p:nvPr/>
        </p:nvSpPr>
        <p:spPr>
          <a:xfrm>
            <a:off x="1876425" y="3438525"/>
            <a:ext cx="8439150" cy="2066925"/>
          </a:xfrm>
          <a:prstGeom prst="roundRect">
            <a:avLst/>
          </a:prstGeom>
          <a:solidFill>
            <a:srgbClr val="1C2959"/>
          </a:solidFill>
          <a:ln w="12660" cap="flat">
            <a:noFill/>
            <a:prstDash val="solid"/>
            <a:miter/>
          </a:ln>
        </p:spPr>
        <p:txBody>
          <a:bodyPr rtlCol="0" anchor="ctr"/>
          <a:lstStyle/>
          <a:p>
            <a:pPr algn="ctr"/>
            <a:r>
              <a:rPr lang="fr-FR">
                <a:solidFill>
                  <a:schemeClr val="bg1"/>
                </a:solidFill>
              </a:rPr>
              <a:t>Ajouter des exemples de schéma « standard » BYCN</a:t>
            </a:r>
          </a:p>
          <a:p>
            <a:pPr algn="ctr"/>
            <a:r>
              <a:rPr lang="fr-FR">
                <a:solidFill>
                  <a:schemeClr val="bg1"/>
                </a:solidFill>
              </a:rPr>
              <a:t>Technique / Infrastructure / Fonctionnelle</a:t>
            </a:r>
          </a:p>
        </p:txBody>
      </p:sp>
    </p:spTree>
    <p:extLst>
      <p:ext uri="{BB962C8B-B14F-4D97-AF65-F5344CB8AC3E}">
        <p14:creationId xmlns:p14="http://schemas.microsoft.com/office/powerpoint/2010/main" val="34276002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D0DFA-AEBD-823C-1B04-5BD7A98CC53B}"/>
              </a:ext>
            </a:extLst>
          </p:cNvPr>
          <p:cNvSpPr>
            <a:spLocks noGrp="1"/>
          </p:cNvSpPr>
          <p:nvPr>
            <p:ph type="title"/>
          </p:nvPr>
        </p:nvSpPr>
        <p:spPr>
          <a:xfrm>
            <a:off x="537575" y="849535"/>
            <a:ext cx="11086578" cy="535531"/>
          </a:xfrm>
        </p:spPr>
        <p:txBody>
          <a:bodyPr/>
          <a:lstStyle/>
          <a:p>
            <a:r>
              <a:rPr lang="fr-FR" sz="3200"/>
              <a:t>Description des Scenarios proposés et soumis à validation (1/2)</a:t>
            </a:r>
          </a:p>
        </p:txBody>
      </p:sp>
      <p:sp>
        <p:nvSpPr>
          <p:cNvPr id="3" name="Espace réservé de la date 2">
            <a:extLst>
              <a:ext uri="{FF2B5EF4-FFF2-40B4-BE49-F238E27FC236}">
                <a16:creationId xmlns:a16="http://schemas.microsoft.com/office/drawing/2014/main" id="{FB899A66-B396-880B-EAF4-AACCD6476203}"/>
              </a:ext>
            </a:extLst>
          </p:cNvPr>
          <p:cNvSpPr>
            <a:spLocks noGrp="1"/>
          </p:cNvSpPr>
          <p:nvPr>
            <p:ph type="dt" sz="half" idx="10"/>
          </p:nvPr>
        </p:nvSpPr>
        <p:spPr/>
        <p:txBody>
          <a:bodyPr/>
          <a:lstStyle/>
          <a:p>
            <a:r>
              <a:rPr lang="fr-FR"/>
              <a:t>Juin 2024</a:t>
            </a:r>
          </a:p>
        </p:txBody>
      </p:sp>
      <p:sp>
        <p:nvSpPr>
          <p:cNvPr id="4" name="Espace réservé du pied de page 3">
            <a:extLst>
              <a:ext uri="{FF2B5EF4-FFF2-40B4-BE49-F238E27FC236}">
                <a16:creationId xmlns:a16="http://schemas.microsoft.com/office/drawing/2014/main" id="{CC1A4C13-70BA-7B3B-8CF4-D3EE37F6B4A3}"/>
              </a:ext>
            </a:extLst>
          </p:cNvPr>
          <p:cNvSpPr>
            <a:spLocks noGrp="1"/>
          </p:cNvSpPr>
          <p:nvPr>
            <p:ph type="ftr" sz="quarter" idx="11"/>
          </p:nvPr>
        </p:nvSpPr>
        <p:spPr/>
        <p:txBody>
          <a:bodyPr/>
          <a:lstStyle/>
          <a:p>
            <a:r>
              <a:rPr lang="fr-FR"/>
              <a:t>BOUYGUES CONSTRUCTION | </a:t>
            </a:r>
          </a:p>
        </p:txBody>
      </p:sp>
      <p:sp>
        <p:nvSpPr>
          <p:cNvPr id="5" name="Espace réservé du numéro de diapositive 4">
            <a:extLst>
              <a:ext uri="{FF2B5EF4-FFF2-40B4-BE49-F238E27FC236}">
                <a16:creationId xmlns:a16="http://schemas.microsoft.com/office/drawing/2014/main" id="{11CA0C56-5033-0292-49B8-50796A50D8F5}"/>
              </a:ext>
            </a:extLst>
          </p:cNvPr>
          <p:cNvSpPr>
            <a:spLocks noGrp="1"/>
          </p:cNvSpPr>
          <p:nvPr>
            <p:ph type="sldNum" sz="quarter" idx="12"/>
          </p:nvPr>
        </p:nvSpPr>
        <p:spPr/>
        <p:txBody>
          <a:bodyPr/>
          <a:lstStyle/>
          <a:p>
            <a:fld id="{CD166EB1-B284-8541-B839-321F682B6B05}" type="slidenum">
              <a:rPr lang="fr-FR" smtClean="0"/>
              <a:pPr/>
              <a:t>46</a:t>
            </a:fld>
            <a:endParaRPr lang="fr-FR"/>
          </a:p>
        </p:txBody>
      </p:sp>
      <p:sp>
        <p:nvSpPr>
          <p:cNvPr id="6" name="Espace réservé du texte 5">
            <a:extLst>
              <a:ext uri="{FF2B5EF4-FFF2-40B4-BE49-F238E27FC236}">
                <a16:creationId xmlns:a16="http://schemas.microsoft.com/office/drawing/2014/main" id="{84BD60FC-C0F0-DDE8-E466-CF9C9E58AF52}"/>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889D77D4-8406-283A-CDCF-AAF639D76581}"/>
              </a:ext>
            </a:extLst>
          </p:cNvPr>
          <p:cNvSpPr>
            <a:spLocks noGrp="1"/>
          </p:cNvSpPr>
          <p:nvPr>
            <p:ph type="body" sz="quarter" idx="30"/>
          </p:nvPr>
        </p:nvSpPr>
        <p:spPr/>
        <p:txBody>
          <a:bodyPr/>
          <a:lstStyle/>
          <a:p>
            <a:endParaRPr lang="fr-FR"/>
          </a:p>
        </p:txBody>
      </p:sp>
      <p:graphicFrame>
        <p:nvGraphicFramePr>
          <p:cNvPr id="8" name="Tableau 3">
            <a:extLst>
              <a:ext uri="{FF2B5EF4-FFF2-40B4-BE49-F238E27FC236}">
                <a16:creationId xmlns:a16="http://schemas.microsoft.com/office/drawing/2014/main" id="{49DC8997-904C-B58E-48CB-2F35589A1726}"/>
              </a:ext>
            </a:extLst>
          </p:cNvPr>
          <p:cNvGraphicFramePr>
            <a:graphicFrameLocks noGrp="1"/>
          </p:cNvGraphicFramePr>
          <p:nvPr>
            <p:custDataLst>
              <p:tags r:id="rId1"/>
            </p:custDataLst>
            <p:extLst>
              <p:ext uri="{D42A27DB-BD31-4B8C-83A1-F6EECF244321}">
                <p14:modId xmlns:p14="http://schemas.microsoft.com/office/powerpoint/2010/main" val="2852796043"/>
              </p:ext>
            </p:extLst>
          </p:nvPr>
        </p:nvGraphicFramePr>
        <p:xfrm>
          <a:off x="278027" y="1743075"/>
          <a:ext cx="11406949" cy="4697852"/>
        </p:xfrm>
        <a:graphic>
          <a:graphicData uri="http://schemas.openxmlformats.org/drawingml/2006/table">
            <a:tbl>
              <a:tblPr firstRow="1" firstCol="1" bandRow="1">
                <a:tableStyleId>{5C22544A-7EE6-4342-B048-85BDC9FD1C3A}</a:tableStyleId>
              </a:tblPr>
              <a:tblGrid>
                <a:gridCol w="1229497">
                  <a:extLst>
                    <a:ext uri="{9D8B030D-6E8A-4147-A177-3AD203B41FA5}">
                      <a16:colId xmlns:a16="http://schemas.microsoft.com/office/drawing/2014/main" val="1701024074"/>
                    </a:ext>
                  </a:extLst>
                </a:gridCol>
                <a:gridCol w="3392484">
                  <a:extLst>
                    <a:ext uri="{9D8B030D-6E8A-4147-A177-3AD203B41FA5}">
                      <a16:colId xmlns:a16="http://schemas.microsoft.com/office/drawing/2014/main" val="1224835592"/>
                    </a:ext>
                  </a:extLst>
                </a:gridCol>
                <a:gridCol w="3392484">
                  <a:extLst>
                    <a:ext uri="{9D8B030D-6E8A-4147-A177-3AD203B41FA5}">
                      <a16:colId xmlns:a16="http://schemas.microsoft.com/office/drawing/2014/main" val="3006677995"/>
                    </a:ext>
                  </a:extLst>
                </a:gridCol>
                <a:gridCol w="1696242">
                  <a:extLst>
                    <a:ext uri="{9D8B030D-6E8A-4147-A177-3AD203B41FA5}">
                      <a16:colId xmlns:a16="http://schemas.microsoft.com/office/drawing/2014/main" val="2900948006"/>
                    </a:ext>
                  </a:extLst>
                </a:gridCol>
                <a:gridCol w="1696242">
                  <a:extLst>
                    <a:ext uri="{9D8B030D-6E8A-4147-A177-3AD203B41FA5}">
                      <a16:colId xmlns:a16="http://schemas.microsoft.com/office/drawing/2014/main" val="2263398244"/>
                    </a:ext>
                  </a:extLst>
                </a:gridCol>
              </a:tblGrid>
              <a:tr h="278954">
                <a:tc rowSpan="2">
                  <a:txBody>
                    <a:bodyPr/>
                    <a:lstStyle/>
                    <a:p>
                      <a:endParaRPr lang="fr-FR" sz="1200"/>
                    </a:p>
                  </a:txBody>
                  <a:tcPr vert="vert270"/>
                </a:tc>
                <a:tc rowSpan="2">
                  <a:txBody>
                    <a:bodyPr/>
                    <a:lstStyle/>
                    <a:p>
                      <a:pPr algn="ctr"/>
                      <a:r>
                        <a:rPr lang="fr-FR" sz="1400"/>
                        <a:t>Scénario 1</a:t>
                      </a:r>
                    </a:p>
                    <a:p>
                      <a:pPr algn="ctr"/>
                      <a:r>
                        <a:rPr lang="fr-FR" sz="1400" b="0">
                          <a:latin typeface="Arial" pitchFamily="34" charset="0"/>
                        </a:rPr>
                        <a:t>Libellé du scénario 1</a:t>
                      </a:r>
                      <a:endParaRPr lang="fr-FR" sz="1400" b="0"/>
                    </a:p>
                  </a:txBody>
                  <a:tcPr anchor="ctr"/>
                </a:tc>
                <a:tc rowSpan="2">
                  <a:txBody>
                    <a:bodyPr/>
                    <a:lstStyle/>
                    <a:p>
                      <a:pPr algn="ctr"/>
                      <a:r>
                        <a:rPr lang="fr-FR" sz="1400"/>
                        <a:t>Scénario 2</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400" b="0">
                          <a:latin typeface="Arial" pitchFamily="34" charset="0"/>
                        </a:rPr>
                        <a:t>Libellé du scénario 2</a:t>
                      </a:r>
                      <a:endParaRPr lang="fr-FR" sz="1400" b="0"/>
                    </a:p>
                  </a:txBody>
                  <a:tcPr anchor="ctr"/>
                </a:tc>
                <a:tc gridSpan="2">
                  <a:txBody>
                    <a:bodyPr/>
                    <a:lstStyle/>
                    <a:p>
                      <a:pPr algn="ctr"/>
                      <a:r>
                        <a:rPr lang="fr-FR" sz="1400"/>
                        <a:t>Scénario 3</a:t>
                      </a:r>
                    </a:p>
                  </a:txBody>
                  <a:tcPr anchor="ctr"/>
                </a:tc>
                <a:tc hMerge="1">
                  <a:txBody>
                    <a:bodyPr/>
                    <a:lstStyle/>
                    <a:p>
                      <a:endParaRPr lang="fr-FR"/>
                    </a:p>
                  </a:txBody>
                  <a:tcPr/>
                </a:tc>
                <a:extLst>
                  <a:ext uri="{0D108BD9-81ED-4DB2-BD59-A6C34878D82A}">
                    <a16:rowId xmlns:a16="http://schemas.microsoft.com/office/drawing/2014/main" val="57534750"/>
                  </a:ext>
                </a:extLst>
              </a:tr>
              <a:tr h="362640">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ctr"/>
                      <a:r>
                        <a:rPr lang="fr-FR" sz="1000" b="1" kern="1200" baseline="0">
                          <a:solidFill>
                            <a:schemeClr val="bg1"/>
                          </a:solidFill>
                          <a:latin typeface="+mn-lt"/>
                          <a:ea typeface="+mn-ea"/>
                          <a:cs typeface="+mn-cs"/>
                        </a:rPr>
                        <a:t>Variante 3.a</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 </a:t>
                      </a:r>
                      <a:endParaRPr lang="fr-FR" sz="1000">
                        <a:solidFill>
                          <a:schemeClr val="bg1"/>
                        </a:solidFill>
                      </a:endParaRPr>
                    </a:p>
                  </a:txBody>
                  <a:tcPr anchor="ctr">
                    <a:solidFill>
                      <a:schemeClr val="accent1"/>
                    </a:solidFill>
                  </a:tcPr>
                </a:tc>
                <a:tc>
                  <a:txBody>
                    <a:bodyPr/>
                    <a:lstStyle/>
                    <a:p>
                      <a:pPr algn="ctr"/>
                      <a:r>
                        <a:rPr lang="fr-FR" sz="1000" b="1" kern="1200" baseline="0">
                          <a:solidFill>
                            <a:schemeClr val="bg1"/>
                          </a:solidFill>
                          <a:latin typeface="+mn-lt"/>
                          <a:ea typeface="+mn-ea"/>
                          <a:cs typeface="+mn-cs"/>
                        </a:rPr>
                        <a:t>Variante 3.b</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a:t>
                      </a:r>
                      <a:endParaRPr lang="fr-FR" sz="1000">
                        <a:solidFill>
                          <a:schemeClr val="bg1"/>
                        </a:solidFill>
                      </a:endParaRPr>
                    </a:p>
                  </a:txBody>
                  <a:tcPr anchor="ctr">
                    <a:solidFill>
                      <a:schemeClr val="accent1"/>
                    </a:solidFill>
                  </a:tcPr>
                </a:tc>
                <a:extLst>
                  <a:ext uri="{0D108BD9-81ED-4DB2-BD59-A6C34878D82A}">
                    <a16:rowId xmlns:a16="http://schemas.microsoft.com/office/drawing/2014/main" val="94341970"/>
                  </a:ext>
                </a:extLst>
              </a:tr>
              <a:tr h="999203">
                <a:tc>
                  <a:txBody>
                    <a:bodyPr/>
                    <a:lstStyle/>
                    <a:p>
                      <a:pPr algn="ctr"/>
                      <a:r>
                        <a:rPr lang="fr-FR" sz="1000"/>
                        <a:t>Approches et hypothèses</a:t>
                      </a:r>
                    </a:p>
                  </a:txBody>
                  <a:tcPr anchor="ctr"/>
                </a:tc>
                <a:tc>
                  <a:txBody>
                    <a:bodyPr/>
                    <a:lstStyle/>
                    <a:p>
                      <a:pPr algn="l"/>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560918172"/>
                  </a:ext>
                </a:extLst>
              </a:tr>
              <a:tr h="999203">
                <a:tc>
                  <a:txBody>
                    <a:bodyPr/>
                    <a:lstStyle/>
                    <a:p>
                      <a:pPr algn="ctr"/>
                      <a:r>
                        <a:rPr lang="fr-FR" sz="1000"/>
                        <a:t>Réponse fonctionnelle</a:t>
                      </a:r>
                    </a:p>
                  </a:txBody>
                  <a:tcPr anchor="ctr"/>
                </a:tc>
                <a:tc>
                  <a:txBody>
                    <a:bodyPr/>
                    <a:lstStyle/>
                    <a:p>
                      <a:pPr algn="l"/>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1204684916"/>
                  </a:ext>
                </a:extLst>
              </a:tr>
              <a:tr h="999203">
                <a:tc>
                  <a:txBody>
                    <a:bodyPr/>
                    <a:lstStyle/>
                    <a:p>
                      <a:pPr algn="ctr"/>
                      <a:r>
                        <a:rPr lang="fr-FR" sz="1000"/>
                        <a:t>Réponse technique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287069577"/>
                  </a:ext>
                </a:extLst>
              </a:tr>
              <a:tr h="999203">
                <a:tc>
                  <a:txBody>
                    <a:bodyPr/>
                    <a:lstStyle/>
                    <a:p>
                      <a:pPr algn="ctr"/>
                      <a:r>
                        <a:rPr lang="fr-FR" sz="1000"/>
                        <a:t>Urbanisation et </a:t>
                      </a:r>
                    </a:p>
                    <a:p>
                      <a:pPr algn="ctr"/>
                      <a:r>
                        <a:rPr lang="fr-FR" sz="1000"/>
                        <a:t>architecture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440746152"/>
                  </a:ext>
                </a:extLst>
              </a:tr>
            </a:tbl>
          </a:graphicData>
        </a:graphic>
      </p:graphicFrame>
      <p:sp>
        <p:nvSpPr>
          <p:cNvPr id="9" name="Rectangle à coins arrondis 10">
            <a:extLst>
              <a:ext uri="{FF2B5EF4-FFF2-40B4-BE49-F238E27FC236}">
                <a16:creationId xmlns:a16="http://schemas.microsoft.com/office/drawing/2014/main" id="{094DC5DD-2F37-7ECA-EAD8-F04309D36E1C}"/>
              </a:ext>
            </a:extLst>
          </p:cNvPr>
          <p:cNvSpPr/>
          <p:nvPr>
            <p:custDataLst>
              <p:tags r:id="rId2"/>
            </p:custDataLst>
          </p:nvPr>
        </p:nvSpPr>
        <p:spPr>
          <a:xfrm>
            <a:off x="4921513" y="2567571"/>
            <a:ext cx="2878432" cy="238363"/>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Présentation du scénario et des hypothèses associées</a:t>
            </a:r>
          </a:p>
        </p:txBody>
      </p:sp>
      <p:sp>
        <p:nvSpPr>
          <p:cNvPr id="10" name="Rectangle à coins arrondis 10">
            <a:extLst>
              <a:ext uri="{FF2B5EF4-FFF2-40B4-BE49-F238E27FC236}">
                <a16:creationId xmlns:a16="http://schemas.microsoft.com/office/drawing/2014/main" id="{D44F6ABE-3EC7-26E3-2BC3-4710429A6C1F}"/>
              </a:ext>
            </a:extLst>
          </p:cNvPr>
          <p:cNvSpPr/>
          <p:nvPr>
            <p:custDataLst>
              <p:tags r:id="rId3"/>
            </p:custDataLst>
          </p:nvPr>
        </p:nvSpPr>
        <p:spPr>
          <a:xfrm>
            <a:off x="4921512" y="3637675"/>
            <a:ext cx="2878432" cy="408623"/>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Évaluer si le scénario couvre les besoins fonctionnels (apport métier, mutualisation, pérennité, …)</a:t>
            </a:r>
          </a:p>
        </p:txBody>
      </p:sp>
      <p:sp>
        <p:nvSpPr>
          <p:cNvPr id="11" name="Rectangle à coins arrondis 10">
            <a:extLst>
              <a:ext uri="{FF2B5EF4-FFF2-40B4-BE49-F238E27FC236}">
                <a16:creationId xmlns:a16="http://schemas.microsoft.com/office/drawing/2014/main" id="{1C62D317-0430-78DD-2DCB-DADACE467E50}"/>
              </a:ext>
            </a:extLst>
          </p:cNvPr>
          <p:cNvSpPr/>
          <p:nvPr>
            <p:custDataLst>
              <p:tags r:id="rId4"/>
            </p:custDataLst>
          </p:nvPr>
        </p:nvSpPr>
        <p:spPr>
          <a:xfrm>
            <a:off x="4921511" y="4707779"/>
            <a:ext cx="2878432" cy="578882"/>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Évaluer si les besoins / impacts du scénario sur le périmètre technique du projet (infrastructure, mutualisation, pérennité, …)</a:t>
            </a:r>
          </a:p>
        </p:txBody>
      </p:sp>
      <p:sp>
        <p:nvSpPr>
          <p:cNvPr id="12" name="Rectangle à coins arrondis 10">
            <a:extLst>
              <a:ext uri="{FF2B5EF4-FFF2-40B4-BE49-F238E27FC236}">
                <a16:creationId xmlns:a16="http://schemas.microsoft.com/office/drawing/2014/main" id="{0057069E-48A0-A958-4FFD-7FA426410F41}"/>
              </a:ext>
            </a:extLst>
          </p:cNvPr>
          <p:cNvSpPr/>
          <p:nvPr>
            <p:custDataLst>
              <p:tags r:id="rId5"/>
            </p:custDataLst>
          </p:nvPr>
        </p:nvSpPr>
        <p:spPr>
          <a:xfrm>
            <a:off x="4921510" y="5558808"/>
            <a:ext cx="2878432" cy="749141"/>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Évaluation du scénario en termes de conformité avec les principes et bonnes pratiques d’urbanisation et d’architecture (cadre de référence, doctrine cloud, doctrine data…). </a:t>
            </a:r>
          </a:p>
        </p:txBody>
      </p:sp>
    </p:spTree>
    <p:extLst>
      <p:ext uri="{BB962C8B-B14F-4D97-AF65-F5344CB8AC3E}">
        <p14:creationId xmlns:p14="http://schemas.microsoft.com/office/powerpoint/2010/main" val="2012332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D0DFA-AEBD-823C-1B04-5BD7A98CC53B}"/>
              </a:ext>
            </a:extLst>
          </p:cNvPr>
          <p:cNvSpPr>
            <a:spLocks noGrp="1"/>
          </p:cNvSpPr>
          <p:nvPr>
            <p:ph type="title"/>
          </p:nvPr>
        </p:nvSpPr>
        <p:spPr>
          <a:xfrm>
            <a:off x="537575" y="849535"/>
            <a:ext cx="11086578" cy="535531"/>
          </a:xfrm>
        </p:spPr>
        <p:txBody>
          <a:bodyPr/>
          <a:lstStyle/>
          <a:p>
            <a:r>
              <a:rPr lang="fr-FR" sz="3200"/>
              <a:t>Description des Scenarios proposés et soumis à validation (2/2)</a:t>
            </a:r>
          </a:p>
        </p:txBody>
      </p:sp>
      <p:sp>
        <p:nvSpPr>
          <p:cNvPr id="3" name="Espace réservé de la date 2">
            <a:extLst>
              <a:ext uri="{FF2B5EF4-FFF2-40B4-BE49-F238E27FC236}">
                <a16:creationId xmlns:a16="http://schemas.microsoft.com/office/drawing/2014/main" id="{FB899A66-B396-880B-EAF4-AACCD6476203}"/>
              </a:ext>
            </a:extLst>
          </p:cNvPr>
          <p:cNvSpPr>
            <a:spLocks noGrp="1"/>
          </p:cNvSpPr>
          <p:nvPr>
            <p:ph type="dt" sz="half" idx="10"/>
          </p:nvPr>
        </p:nvSpPr>
        <p:spPr/>
        <p:txBody>
          <a:bodyPr/>
          <a:lstStyle/>
          <a:p>
            <a:r>
              <a:rPr lang="fr-FR"/>
              <a:t>Juin 2024</a:t>
            </a:r>
          </a:p>
        </p:txBody>
      </p:sp>
      <p:sp>
        <p:nvSpPr>
          <p:cNvPr id="4" name="Espace réservé du pied de page 3">
            <a:extLst>
              <a:ext uri="{FF2B5EF4-FFF2-40B4-BE49-F238E27FC236}">
                <a16:creationId xmlns:a16="http://schemas.microsoft.com/office/drawing/2014/main" id="{CC1A4C13-70BA-7B3B-8CF4-D3EE37F6B4A3}"/>
              </a:ext>
            </a:extLst>
          </p:cNvPr>
          <p:cNvSpPr>
            <a:spLocks noGrp="1"/>
          </p:cNvSpPr>
          <p:nvPr>
            <p:ph type="ftr" sz="quarter" idx="11"/>
          </p:nvPr>
        </p:nvSpPr>
        <p:spPr/>
        <p:txBody>
          <a:bodyPr/>
          <a:lstStyle/>
          <a:p>
            <a:r>
              <a:rPr lang="fr-FR"/>
              <a:t>BOUYGUES CONSTRUCTION | </a:t>
            </a:r>
          </a:p>
        </p:txBody>
      </p:sp>
      <p:sp>
        <p:nvSpPr>
          <p:cNvPr id="5" name="Espace réservé du numéro de diapositive 4">
            <a:extLst>
              <a:ext uri="{FF2B5EF4-FFF2-40B4-BE49-F238E27FC236}">
                <a16:creationId xmlns:a16="http://schemas.microsoft.com/office/drawing/2014/main" id="{11CA0C56-5033-0292-49B8-50796A50D8F5}"/>
              </a:ext>
            </a:extLst>
          </p:cNvPr>
          <p:cNvSpPr>
            <a:spLocks noGrp="1"/>
          </p:cNvSpPr>
          <p:nvPr>
            <p:ph type="sldNum" sz="quarter" idx="12"/>
          </p:nvPr>
        </p:nvSpPr>
        <p:spPr/>
        <p:txBody>
          <a:bodyPr/>
          <a:lstStyle/>
          <a:p>
            <a:fld id="{CD166EB1-B284-8541-B839-321F682B6B05}" type="slidenum">
              <a:rPr lang="fr-FR" smtClean="0"/>
              <a:pPr/>
              <a:t>47</a:t>
            </a:fld>
            <a:endParaRPr lang="fr-FR"/>
          </a:p>
        </p:txBody>
      </p:sp>
      <p:sp>
        <p:nvSpPr>
          <p:cNvPr id="6" name="Espace réservé du texte 5">
            <a:extLst>
              <a:ext uri="{FF2B5EF4-FFF2-40B4-BE49-F238E27FC236}">
                <a16:creationId xmlns:a16="http://schemas.microsoft.com/office/drawing/2014/main" id="{84BD60FC-C0F0-DDE8-E466-CF9C9E58AF52}"/>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889D77D4-8406-283A-CDCF-AAF639D76581}"/>
              </a:ext>
            </a:extLst>
          </p:cNvPr>
          <p:cNvSpPr>
            <a:spLocks noGrp="1"/>
          </p:cNvSpPr>
          <p:nvPr>
            <p:ph type="body" sz="quarter" idx="30"/>
          </p:nvPr>
        </p:nvSpPr>
        <p:spPr/>
        <p:txBody>
          <a:bodyPr/>
          <a:lstStyle/>
          <a:p>
            <a:endParaRPr lang="fr-FR"/>
          </a:p>
        </p:txBody>
      </p:sp>
      <p:graphicFrame>
        <p:nvGraphicFramePr>
          <p:cNvPr id="8" name="Tableau 3">
            <a:extLst>
              <a:ext uri="{FF2B5EF4-FFF2-40B4-BE49-F238E27FC236}">
                <a16:creationId xmlns:a16="http://schemas.microsoft.com/office/drawing/2014/main" id="{49DC8997-904C-B58E-48CB-2F35589A1726}"/>
              </a:ext>
            </a:extLst>
          </p:cNvPr>
          <p:cNvGraphicFramePr>
            <a:graphicFrameLocks noGrp="1"/>
          </p:cNvGraphicFramePr>
          <p:nvPr>
            <p:custDataLst>
              <p:tags r:id="rId1"/>
            </p:custDataLst>
            <p:extLst>
              <p:ext uri="{D42A27DB-BD31-4B8C-83A1-F6EECF244321}">
                <p14:modId xmlns:p14="http://schemas.microsoft.com/office/powerpoint/2010/main" val="41441510"/>
              </p:ext>
            </p:extLst>
          </p:nvPr>
        </p:nvGraphicFramePr>
        <p:xfrm>
          <a:off x="278027" y="1743075"/>
          <a:ext cx="11406949" cy="3698649"/>
        </p:xfrm>
        <a:graphic>
          <a:graphicData uri="http://schemas.openxmlformats.org/drawingml/2006/table">
            <a:tbl>
              <a:tblPr firstRow="1" firstCol="1" bandRow="1">
                <a:tableStyleId>{5C22544A-7EE6-4342-B048-85BDC9FD1C3A}</a:tableStyleId>
              </a:tblPr>
              <a:tblGrid>
                <a:gridCol w="1229497">
                  <a:extLst>
                    <a:ext uri="{9D8B030D-6E8A-4147-A177-3AD203B41FA5}">
                      <a16:colId xmlns:a16="http://schemas.microsoft.com/office/drawing/2014/main" val="1701024074"/>
                    </a:ext>
                  </a:extLst>
                </a:gridCol>
                <a:gridCol w="3392484">
                  <a:extLst>
                    <a:ext uri="{9D8B030D-6E8A-4147-A177-3AD203B41FA5}">
                      <a16:colId xmlns:a16="http://schemas.microsoft.com/office/drawing/2014/main" val="1224835592"/>
                    </a:ext>
                  </a:extLst>
                </a:gridCol>
                <a:gridCol w="3392484">
                  <a:extLst>
                    <a:ext uri="{9D8B030D-6E8A-4147-A177-3AD203B41FA5}">
                      <a16:colId xmlns:a16="http://schemas.microsoft.com/office/drawing/2014/main" val="3006677995"/>
                    </a:ext>
                  </a:extLst>
                </a:gridCol>
                <a:gridCol w="1696242">
                  <a:extLst>
                    <a:ext uri="{9D8B030D-6E8A-4147-A177-3AD203B41FA5}">
                      <a16:colId xmlns:a16="http://schemas.microsoft.com/office/drawing/2014/main" val="2900948006"/>
                    </a:ext>
                  </a:extLst>
                </a:gridCol>
                <a:gridCol w="1696242">
                  <a:extLst>
                    <a:ext uri="{9D8B030D-6E8A-4147-A177-3AD203B41FA5}">
                      <a16:colId xmlns:a16="http://schemas.microsoft.com/office/drawing/2014/main" val="2263398244"/>
                    </a:ext>
                  </a:extLst>
                </a:gridCol>
              </a:tblGrid>
              <a:tr h="278954">
                <a:tc rowSpan="2">
                  <a:txBody>
                    <a:bodyPr/>
                    <a:lstStyle/>
                    <a:p>
                      <a:endParaRPr lang="fr-FR" sz="1200"/>
                    </a:p>
                  </a:txBody>
                  <a:tcPr vert="vert270"/>
                </a:tc>
                <a:tc rowSpan="2">
                  <a:txBody>
                    <a:bodyPr/>
                    <a:lstStyle/>
                    <a:p>
                      <a:pPr algn="ctr"/>
                      <a:r>
                        <a:rPr lang="fr-FR" sz="1400"/>
                        <a:t>Scénario 1</a:t>
                      </a:r>
                    </a:p>
                    <a:p>
                      <a:pPr algn="ctr"/>
                      <a:r>
                        <a:rPr lang="fr-FR" sz="1400" b="0">
                          <a:latin typeface="Arial" pitchFamily="34" charset="0"/>
                        </a:rPr>
                        <a:t>Libellé du scénario 1</a:t>
                      </a:r>
                      <a:endParaRPr lang="fr-FR" sz="1400" b="0"/>
                    </a:p>
                  </a:txBody>
                  <a:tcPr anchor="ctr"/>
                </a:tc>
                <a:tc rowSpan="2">
                  <a:txBody>
                    <a:bodyPr/>
                    <a:lstStyle/>
                    <a:p>
                      <a:pPr algn="ctr"/>
                      <a:r>
                        <a:rPr lang="fr-FR" sz="1400"/>
                        <a:t>Scénario 2</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400" b="0">
                          <a:latin typeface="Arial" pitchFamily="34" charset="0"/>
                        </a:rPr>
                        <a:t>Libellé du scénario 2</a:t>
                      </a:r>
                      <a:endParaRPr lang="fr-FR" sz="1400" b="0"/>
                    </a:p>
                  </a:txBody>
                  <a:tcPr anchor="ctr"/>
                </a:tc>
                <a:tc gridSpan="2">
                  <a:txBody>
                    <a:bodyPr/>
                    <a:lstStyle/>
                    <a:p>
                      <a:pPr algn="ctr"/>
                      <a:r>
                        <a:rPr lang="fr-FR" sz="1400"/>
                        <a:t>Scénario 3</a:t>
                      </a:r>
                    </a:p>
                  </a:txBody>
                  <a:tcPr anchor="ctr"/>
                </a:tc>
                <a:tc hMerge="1">
                  <a:txBody>
                    <a:bodyPr/>
                    <a:lstStyle/>
                    <a:p>
                      <a:endParaRPr lang="fr-FR"/>
                    </a:p>
                  </a:txBody>
                  <a:tcPr/>
                </a:tc>
                <a:extLst>
                  <a:ext uri="{0D108BD9-81ED-4DB2-BD59-A6C34878D82A}">
                    <a16:rowId xmlns:a16="http://schemas.microsoft.com/office/drawing/2014/main" val="57534750"/>
                  </a:ext>
                </a:extLst>
              </a:tr>
              <a:tr h="362640">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ctr"/>
                      <a:r>
                        <a:rPr lang="fr-FR" sz="1000" b="1" kern="1200" baseline="0">
                          <a:solidFill>
                            <a:schemeClr val="bg1"/>
                          </a:solidFill>
                          <a:latin typeface="+mn-lt"/>
                          <a:ea typeface="+mn-ea"/>
                          <a:cs typeface="+mn-cs"/>
                        </a:rPr>
                        <a:t>Variante 3.a</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 </a:t>
                      </a:r>
                      <a:endParaRPr lang="fr-FR" sz="1000">
                        <a:solidFill>
                          <a:schemeClr val="bg1"/>
                        </a:solidFill>
                      </a:endParaRPr>
                    </a:p>
                  </a:txBody>
                  <a:tcPr anchor="ctr">
                    <a:solidFill>
                      <a:schemeClr val="accent1"/>
                    </a:solidFill>
                  </a:tcPr>
                </a:tc>
                <a:tc>
                  <a:txBody>
                    <a:bodyPr/>
                    <a:lstStyle/>
                    <a:p>
                      <a:pPr algn="ctr"/>
                      <a:r>
                        <a:rPr lang="fr-FR" sz="1000" b="1" kern="1200" baseline="0">
                          <a:solidFill>
                            <a:schemeClr val="bg1"/>
                          </a:solidFill>
                          <a:latin typeface="+mn-lt"/>
                          <a:ea typeface="+mn-ea"/>
                          <a:cs typeface="+mn-cs"/>
                        </a:rPr>
                        <a:t>Variante 3.b</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a:t>
                      </a:r>
                      <a:endParaRPr lang="fr-FR" sz="1000">
                        <a:solidFill>
                          <a:schemeClr val="bg1"/>
                        </a:solidFill>
                      </a:endParaRPr>
                    </a:p>
                  </a:txBody>
                  <a:tcPr anchor="ctr">
                    <a:solidFill>
                      <a:schemeClr val="accent1"/>
                    </a:solidFill>
                  </a:tcPr>
                </a:tc>
                <a:extLst>
                  <a:ext uri="{0D108BD9-81ED-4DB2-BD59-A6C34878D82A}">
                    <a16:rowId xmlns:a16="http://schemas.microsoft.com/office/drawing/2014/main" val="94341970"/>
                  </a:ext>
                </a:extLst>
              </a:tr>
              <a:tr h="999203">
                <a:tc>
                  <a:txBody>
                    <a:bodyPr/>
                    <a:lstStyle/>
                    <a:p>
                      <a:pPr algn="ctr"/>
                      <a:r>
                        <a:rPr lang="fr-FR" sz="1200"/>
                        <a:t>Coûts</a:t>
                      </a:r>
                    </a:p>
                  </a:txBody>
                  <a:tcPr anchor="ctr"/>
                </a:tc>
                <a:tc>
                  <a:txBody>
                    <a:bodyPr/>
                    <a:lstStyle/>
                    <a:p>
                      <a:pPr algn="l"/>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560918172"/>
                  </a:ext>
                </a:extLst>
              </a:tr>
              <a:tr h="999203">
                <a:tc>
                  <a:txBody>
                    <a:bodyPr/>
                    <a:lstStyle/>
                    <a:p>
                      <a:pPr algn="ctr"/>
                      <a:r>
                        <a:rPr lang="fr-FR" sz="1200"/>
                        <a:t>Planning</a:t>
                      </a:r>
                    </a:p>
                  </a:txBody>
                  <a:tcPr anchor="ctr"/>
                </a:tc>
                <a:tc>
                  <a:txBody>
                    <a:bodyPr/>
                    <a:lstStyle/>
                    <a:p>
                      <a:pPr algn="l"/>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1204684916"/>
                  </a:ext>
                </a:extLst>
              </a:tr>
              <a:tr h="999203">
                <a:tc>
                  <a:txBody>
                    <a:bodyPr/>
                    <a:lstStyle/>
                    <a:p>
                      <a:pPr algn="ctr"/>
                      <a:r>
                        <a:rPr lang="fr-FR" sz="1200"/>
                        <a:t>Evaluation du ROI / Gains espérés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287069577"/>
                  </a:ext>
                </a:extLst>
              </a:tr>
            </a:tbl>
          </a:graphicData>
        </a:graphic>
      </p:graphicFrame>
      <p:sp>
        <p:nvSpPr>
          <p:cNvPr id="13" name="Rectangle à coins arrondis 10">
            <a:extLst>
              <a:ext uri="{FF2B5EF4-FFF2-40B4-BE49-F238E27FC236}">
                <a16:creationId xmlns:a16="http://schemas.microsoft.com/office/drawing/2014/main" id="{BC0DA091-231E-0269-92C7-0A93129491F1}"/>
              </a:ext>
            </a:extLst>
          </p:cNvPr>
          <p:cNvSpPr/>
          <p:nvPr>
            <p:custDataLst>
              <p:tags r:id="rId2"/>
            </p:custDataLst>
          </p:nvPr>
        </p:nvSpPr>
        <p:spPr>
          <a:xfrm>
            <a:off x="4931038" y="2653296"/>
            <a:ext cx="2878432" cy="578882"/>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Estimation globale du coût des différents scénarios (mise en place, run, …). Si on sait que l’un sera nécessairement plus cher que l’autre.</a:t>
            </a:r>
          </a:p>
        </p:txBody>
      </p:sp>
      <p:sp>
        <p:nvSpPr>
          <p:cNvPr id="14" name="Rectangle à coins arrondis 10">
            <a:extLst>
              <a:ext uri="{FF2B5EF4-FFF2-40B4-BE49-F238E27FC236}">
                <a16:creationId xmlns:a16="http://schemas.microsoft.com/office/drawing/2014/main" id="{EE113F29-AF42-2851-7C78-AD03322BD45B}"/>
              </a:ext>
            </a:extLst>
          </p:cNvPr>
          <p:cNvSpPr/>
          <p:nvPr>
            <p:custDataLst>
              <p:tags r:id="rId3"/>
            </p:custDataLst>
          </p:nvPr>
        </p:nvSpPr>
        <p:spPr>
          <a:xfrm>
            <a:off x="4931037" y="3723400"/>
            <a:ext cx="2878432" cy="578882"/>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Estimation globale du temps de mise en place (hors prérequis). Si on sait que l’un sera nécessairement plus long à implémenter qu’un autre</a:t>
            </a:r>
          </a:p>
        </p:txBody>
      </p:sp>
      <p:sp>
        <p:nvSpPr>
          <p:cNvPr id="15" name="Rectangle à coins arrondis 10">
            <a:extLst>
              <a:ext uri="{FF2B5EF4-FFF2-40B4-BE49-F238E27FC236}">
                <a16:creationId xmlns:a16="http://schemas.microsoft.com/office/drawing/2014/main" id="{15730D54-C1A1-C019-4B47-547FA7B733D9}"/>
              </a:ext>
            </a:extLst>
          </p:cNvPr>
          <p:cNvSpPr/>
          <p:nvPr>
            <p:custDataLst>
              <p:tags r:id="rId4"/>
            </p:custDataLst>
          </p:nvPr>
        </p:nvSpPr>
        <p:spPr>
          <a:xfrm>
            <a:off x="4931036" y="4793504"/>
            <a:ext cx="2878432" cy="238363"/>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Les gains espérés par scénario (bénéfices majeurs).</a:t>
            </a:r>
          </a:p>
        </p:txBody>
      </p:sp>
    </p:spTree>
    <p:extLst>
      <p:ext uri="{BB962C8B-B14F-4D97-AF65-F5344CB8AC3E}">
        <p14:creationId xmlns:p14="http://schemas.microsoft.com/office/powerpoint/2010/main" val="4089220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D0DFA-AEBD-823C-1B04-5BD7A98CC53B}"/>
              </a:ext>
            </a:extLst>
          </p:cNvPr>
          <p:cNvSpPr>
            <a:spLocks noGrp="1"/>
          </p:cNvSpPr>
          <p:nvPr>
            <p:ph type="title"/>
          </p:nvPr>
        </p:nvSpPr>
        <p:spPr>
          <a:xfrm>
            <a:off x="537575" y="849535"/>
            <a:ext cx="11086578" cy="590931"/>
          </a:xfrm>
        </p:spPr>
        <p:txBody>
          <a:bodyPr/>
          <a:lstStyle/>
          <a:p>
            <a:r>
              <a:rPr lang="fr-FR"/>
              <a:t>Diagramme de séquence</a:t>
            </a:r>
            <a:endParaRPr lang="fr-FR" sz="4000"/>
          </a:p>
        </p:txBody>
      </p:sp>
      <p:sp>
        <p:nvSpPr>
          <p:cNvPr id="3" name="Espace réservé de la date 2">
            <a:extLst>
              <a:ext uri="{FF2B5EF4-FFF2-40B4-BE49-F238E27FC236}">
                <a16:creationId xmlns:a16="http://schemas.microsoft.com/office/drawing/2014/main" id="{FB899A66-B396-880B-EAF4-AACCD6476203}"/>
              </a:ext>
            </a:extLst>
          </p:cNvPr>
          <p:cNvSpPr>
            <a:spLocks noGrp="1"/>
          </p:cNvSpPr>
          <p:nvPr>
            <p:ph type="dt" sz="half" idx="10"/>
          </p:nvPr>
        </p:nvSpPr>
        <p:spPr/>
        <p:txBody>
          <a:bodyPr/>
          <a:lstStyle/>
          <a:p>
            <a:r>
              <a:rPr lang="fr-FR"/>
              <a:t>Juin 2024</a:t>
            </a:r>
          </a:p>
        </p:txBody>
      </p:sp>
      <p:sp>
        <p:nvSpPr>
          <p:cNvPr id="4" name="Espace réservé du pied de page 3">
            <a:extLst>
              <a:ext uri="{FF2B5EF4-FFF2-40B4-BE49-F238E27FC236}">
                <a16:creationId xmlns:a16="http://schemas.microsoft.com/office/drawing/2014/main" id="{CC1A4C13-70BA-7B3B-8CF4-D3EE37F6B4A3}"/>
              </a:ext>
            </a:extLst>
          </p:cNvPr>
          <p:cNvSpPr>
            <a:spLocks noGrp="1"/>
          </p:cNvSpPr>
          <p:nvPr>
            <p:ph type="ftr" sz="quarter" idx="11"/>
          </p:nvPr>
        </p:nvSpPr>
        <p:spPr/>
        <p:txBody>
          <a:bodyPr/>
          <a:lstStyle/>
          <a:p>
            <a:r>
              <a:rPr lang="fr-FR"/>
              <a:t>BOUYGUES CONSTRUCTION | </a:t>
            </a:r>
          </a:p>
        </p:txBody>
      </p:sp>
      <p:sp>
        <p:nvSpPr>
          <p:cNvPr id="5" name="Espace réservé du numéro de diapositive 4">
            <a:extLst>
              <a:ext uri="{FF2B5EF4-FFF2-40B4-BE49-F238E27FC236}">
                <a16:creationId xmlns:a16="http://schemas.microsoft.com/office/drawing/2014/main" id="{11CA0C56-5033-0292-49B8-50796A50D8F5}"/>
              </a:ext>
            </a:extLst>
          </p:cNvPr>
          <p:cNvSpPr>
            <a:spLocks noGrp="1"/>
          </p:cNvSpPr>
          <p:nvPr>
            <p:ph type="sldNum" sz="quarter" idx="12"/>
          </p:nvPr>
        </p:nvSpPr>
        <p:spPr/>
        <p:txBody>
          <a:bodyPr/>
          <a:lstStyle/>
          <a:p>
            <a:fld id="{CD166EB1-B284-8541-B839-321F682B6B05}" type="slidenum">
              <a:rPr lang="fr-FR" smtClean="0"/>
              <a:pPr/>
              <a:t>48</a:t>
            </a:fld>
            <a:endParaRPr lang="fr-FR"/>
          </a:p>
        </p:txBody>
      </p:sp>
      <p:sp>
        <p:nvSpPr>
          <p:cNvPr id="6" name="Espace réservé du texte 5">
            <a:extLst>
              <a:ext uri="{FF2B5EF4-FFF2-40B4-BE49-F238E27FC236}">
                <a16:creationId xmlns:a16="http://schemas.microsoft.com/office/drawing/2014/main" id="{84BD60FC-C0F0-DDE8-E466-CF9C9E58AF52}"/>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889D77D4-8406-283A-CDCF-AAF639D76581}"/>
              </a:ext>
            </a:extLst>
          </p:cNvPr>
          <p:cNvSpPr>
            <a:spLocks noGrp="1"/>
          </p:cNvSpPr>
          <p:nvPr>
            <p:ph type="body" sz="quarter" idx="30"/>
          </p:nvPr>
        </p:nvSpPr>
        <p:spPr/>
        <p:txBody>
          <a:bodyPr/>
          <a:lstStyle/>
          <a:p>
            <a:endParaRPr lang="fr-FR"/>
          </a:p>
        </p:txBody>
      </p:sp>
      <p:sp>
        <p:nvSpPr>
          <p:cNvPr id="9" name="Espace réservé de la date 1">
            <a:extLst>
              <a:ext uri="{FF2B5EF4-FFF2-40B4-BE49-F238E27FC236}">
                <a16:creationId xmlns:a16="http://schemas.microsoft.com/office/drawing/2014/main" id="{78BA2FBF-7139-4654-ECF7-9B3831A874EE}"/>
              </a:ext>
            </a:extLst>
          </p:cNvPr>
          <p:cNvSpPr txBox="1">
            <a:spLocks/>
          </p:cNvSpPr>
          <p:nvPr>
            <p:custDataLst>
              <p:tags r:id="rId1"/>
            </p:custDataLst>
          </p:nvPr>
        </p:nvSpPr>
        <p:spPr>
          <a:xfrm>
            <a:off x="10143249" y="491687"/>
            <a:ext cx="1405823" cy="170334"/>
          </a:xfrm>
          <a:prstGeom prst="rect">
            <a:avLst/>
          </a:prstGeom>
        </p:spPr>
        <p:txBody>
          <a:bodyPr vert="horz" wrap="square" lIns="0" tIns="45720" rIns="0" bIns="45720" rtlCol="0" anchor="ctr">
            <a:spAutoFit/>
          </a:bodyPr>
          <a:lstStyle>
            <a:defPPr>
              <a:defRPr lang="fr-FR"/>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27/04/2023</a:t>
            </a:r>
          </a:p>
        </p:txBody>
      </p:sp>
      <p:sp>
        <p:nvSpPr>
          <p:cNvPr id="10" name="Rectangle 9">
            <a:extLst>
              <a:ext uri="{FF2B5EF4-FFF2-40B4-BE49-F238E27FC236}">
                <a16:creationId xmlns:a16="http://schemas.microsoft.com/office/drawing/2014/main" id="{364AEBCD-3CF4-D147-97FF-2950C09C417A}"/>
              </a:ext>
            </a:extLst>
          </p:cNvPr>
          <p:cNvSpPr/>
          <p:nvPr>
            <p:custDataLst>
              <p:tags r:id="rId2"/>
            </p:custDataLst>
          </p:nvPr>
        </p:nvSpPr>
        <p:spPr>
          <a:xfrm>
            <a:off x="9890709" y="289010"/>
            <a:ext cx="2086714" cy="8441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du numéro de diapositive 2">
            <a:extLst>
              <a:ext uri="{FF2B5EF4-FFF2-40B4-BE49-F238E27FC236}">
                <a16:creationId xmlns:a16="http://schemas.microsoft.com/office/drawing/2014/main" id="{7E67C100-20BF-3FA7-5758-07A31E3EC9B1}"/>
              </a:ext>
            </a:extLst>
          </p:cNvPr>
          <p:cNvSpPr txBox="1">
            <a:spLocks/>
          </p:cNvSpPr>
          <p:nvPr>
            <p:custDataLst>
              <p:tags r:id="rId3"/>
            </p:custDataLst>
          </p:nvPr>
        </p:nvSpPr>
        <p:spPr>
          <a:xfrm>
            <a:off x="8941777" y="6395234"/>
            <a:ext cx="2743200" cy="206104"/>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B54B0F7-55DD-40D6-B7F4-70B586885C0B}" type="slidenum">
              <a:rPr lang="fr-FR" smtClean="0"/>
              <a:pPr/>
              <a:t>48</a:t>
            </a:fld>
            <a:endParaRPr lang="fr-FR"/>
          </a:p>
        </p:txBody>
      </p:sp>
      <p:sp>
        <p:nvSpPr>
          <p:cNvPr id="12" name="Rectangle 11">
            <a:extLst>
              <a:ext uri="{FF2B5EF4-FFF2-40B4-BE49-F238E27FC236}">
                <a16:creationId xmlns:a16="http://schemas.microsoft.com/office/drawing/2014/main" id="{7C680F00-2D16-06FC-7F43-57C61395F7BA}"/>
              </a:ext>
            </a:extLst>
          </p:cNvPr>
          <p:cNvSpPr/>
          <p:nvPr>
            <p:custDataLst>
              <p:tags r:id="rId4"/>
            </p:custDataLst>
          </p:nvPr>
        </p:nvSpPr>
        <p:spPr>
          <a:xfrm>
            <a:off x="169767" y="4544244"/>
            <a:ext cx="11887731" cy="2159121"/>
          </a:xfrm>
          <a:prstGeom prst="rect">
            <a:avLst/>
          </a:prstGeom>
          <a:solidFill>
            <a:schemeClr val="accent2">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Poppins"/>
              <a:ea typeface="+mn-ea"/>
              <a:cs typeface="+mn-cs"/>
            </a:endParaRPr>
          </a:p>
        </p:txBody>
      </p:sp>
      <p:sp>
        <p:nvSpPr>
          <p:cNvPr id="16" name="Rectangle 15">
            <a:extLst>
              <a:ext uri="{FF2B5EF4-FFF2-40B4-BE49-F238E27FC236}">
                <a16:creationId xmlns:a16="http://schemas.microsoft.com/office/drawing/2014/main" id="{21D69355-EAD4-CFAE-EB27-AD9FACB19A23}"/>
              </a:ext>
            </a:extLst>
          </p:cNvPr>
          <p:cNvSpPr/>
          <p:nvPr>
            <p:custDataLst>
              <p:tags r:id="rId5"/>
            </p:custDataLst>
          </p:nvPr>
        </p:nvSpPr>
        <p:spPr>
          <a:xfrm>
            <a:off x="169767" y="3371244"/>
            <a:ext cx="11887731" cy="1099981"/>
          </a:xfrm>
          <a:prstGeom prst="rect">
            <a:avLst/>
          </a:prstGeom>
          <a:solidFill>
            <a:schemeClr val="accent2">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Poppins"/>
              <a:ea typeface="+mn-ea"/>
              <a:cs typeface="+mn-cs"/>
            </a:endParaRPr>
          </a:p>
        </p:txBody>
      </p:sp>
      <p:sp>
        <p:nvSpPr>
          <p:cNvPr id="17" name="Rectangle 16">
            <a:extLst>
              <a:ext uri="{FF2B5EF4-FFF2-40B4-BE49-F238E27FC236}">
                <a16:creationId xmlns:a16="http://schemas.microsoft.com/office/drawing/2014/main" id="{9A312F28-2750-E0A6-D624-EE48475199D5}"/>
              </a:ext>
            </a:extLst>
          </p:cNvPr>
          <p:cNvSpPr/>
          <p:nvPr>
            <p:custDataLst>
              <p:tags r:id="rId6"/>
            </p:custDataLst>
          </p:nvPr>
        </p:nvSpPr>
        <p:spPr>
          <a:xfrm>
            <a:off x="169767" y="2003538"/>
            <a:ext cx="11890043" cy="1296527"/>
          </a:xfrm>
          <a:prstGeom prst="rect">
            <a:avLst/>
          </a:prstGeom>
          <a:solidFill>
            <a:schemeClr val="accent2">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Poppins"/>
              <a:ea typeface="+mn-ea"/>
              <a:cs typeface="+mn-cs"/>
            </a:endParaRPr>
          </a:p>
        </p:txBody>
      </p:sp>
      <p:cxnSp>
        <p:nvCxnSpPr>
          <p:cNvPr id="18" name="Connecteur droit 17">
            <a:extLst>
              <a:ext uri="{FF2B5EF4-FFF2-40B4-BE49-F238E27FC236}">
                <a16:creationId xmlns:a16="http://schemas.microsoft.com/office/drawing/2014/main" id="{DE379C3F-214E-D1C5-CBA5-D44253EF7E70}"/>
              </a:ext>
            </a:extLst>
          </p:cNvPr>
          <p:cNvCxnSpPr>
            <a:cxnSpLocks/>
          </p:cNvCxnSpPr>
          <p:nvPr>
            <p:custDataLst>
              <p:tags r:id="rId7"/>
            </p:custDataLst>
          </p:nvPr>
        </p:nvCxnSpPr>
        <p:spPr>
          <a:xfrm>
            <a:off x="2647855" y="1916282"/>
            <a:ext cx="1"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440D88AC-CF04-5B83-9EEF-58015326F8B7}"/>
              </a:ext>
            </a:extLst>
          </p:cNvPr>
          <p:cNvCxnSpPr>
            <a:cxnSpLocks/>
          </p:cNvCxnSpPr>
          <p:nvPr>
            <p:custDataLst>
              <p:tags r:id="rId8"/>
            </p:custDataLst>
          </p:nvPr>
        </p:nvCxnSpPr>
        <p:spPr>
          <a:xfrm flipH="1">
            <a:off x="6604481" y="1916282"/>
            <a:ext cx="2957"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7960D2E0-D4DB-0AE4-C67E-EF73983A3A4A}"/>
              </a:ext>
            </a:extLst>
          </p:cNvPr>
          <p:cNvCxnSpPr>
            <a:cxnSpLocks/>
          </p:cNvCxnSpPr>
          <p:nvPr>
            <p:custDataLst>
              <p:tags r:id="rId9"/>
            </p:custDataLst>
          </p:nvPr>
        </p:nvCxnSpPr>
        <p:spPr>
          <a:xfrm flipH="1">
            <a:off x="7595171" y="1916282"/>
            <a:ext cx="10694"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B08B3317-D2B4-96CF-60FF-27B2CE0E3540}"/>
              </a:ext>
            </a:extLst>
          </p:cNvPr>
          <p:cNvSpPr txBox="1"/>
          <p:nvPr>
            <p:custDataLst>
              <p:tags r:id="rId10"/>
            </p:custDataLst>
          </p:nvPr>
        </p:nvSpPr>
        <p:spPr>
          <a:xfrm>
            <a:off x="245278" y="2328636"/>
            <a:ext cx="12600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a:ln>
                  <a:noFill/>
                </a:ln>
                <a:solidFill>
                  <a:schemeClr val="accent1"/>
                </a:solidFill>
                <a:effectLst/>
                <a:uLnTx/>
                <a:uFillTx/>
                <a:latin typeface="Arial" panose="020B0604020202020204" pitchFamily="34" charset="0"/>
                <a:ea typeface="+mn-ea"/>
                <a:cs typeface="+mn-cs"/>
              </a:rPr>
              <a:t>Nom du processus #1</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a:solidFill>
                  <a:schemeClr val="accent1"/>
                </a:solidFill>
                <a:latin typeface="Arial" panose="020B0604020202020204" pitchFamily="34" charset="0"/>
              </a:rPr>
              <a:t>(existant)</a:t>
            </a:r>
            <a:endParaRPr kumimoji="0" lang="fr-FR" sz="1200" b="0" i="0" u="none" strike="noStrike" kern="1200" cap="none" spc="0" normalizeH="0" baseline="0">
              <a:ln>
                <a:noFill/>
              </a:ln>
              <a:solidFill>
                <a:schemeClr val="accent1"/>
              </a:solidFill>
              <a:effectLst/>
              <a:uLnTx/>
              <a:uFillTx/>
              <a:latin typeface="Poppins"/>
              <a:ea typeface="+mn-ea"/>
              <a:cs typeface="+mn-cs"/>
            </a:endParaRPr>
          </a:p>
        </p:txBody>
      </p:sp>
      <p:sp>
        <p:nvSpPr>
          <p:cNvPr id="22" name="Rectangle 21">
            <a:extLst>
              <a:ext uri="{FF2B5EF4-FFF2-40B4-BE49-F238E27FC236}">
                <a16:creationId xmlns:a16="http://schemas.microsoft.com/office/drawing/2014/main" id="{3AD37313-9D58-0699-7CA2-7F8A78EFC1C7}"/>
              </a:ext>
            </a:extLst>
          </p:cNvPr>
          <p:cNvSpPr/>
          <p:nvPr>
            <p:custDataLst>
              <p:tags r:id="rId11"/>
            </p:custDataLst>
          </p:nvPr>
        </p:nvSpPr>
        <p:spPr>
          <a:xfrm>
            <a:off x="2194050"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#1</a:t>
            </a:r>
          </a:p>
        </p:txBody>
      </p:sp>
      <p:sp>
        <p:nvSpPr>
          <p:cNvPr id="23" name="Rectangle 22">
            <a:extLst>
              <a:ext uri="{FF2B5EF4-FFF2-40B4-BE49-F238E27FC236}">
                <a16:creationId xmlns:a16="http://schemas.microsoft.com/office/drawing/2014/main" id="{8275FACD-E015-09E3-3835-8E6F72C7F316}"/>
              </a:ext>
            </a:extLst>
          </p:cNvPr>
          <p:cNvSpPr/>
          <p:nvPr>
            <p:custDataLst>
              <p:tags r:id="rId12"/>
            </p:custDataLst>
          </p:nvPr>
        </p:nvSpPr>
        <p:spPr>
          <a:xfrm>
            <a:off x="6171442"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#X</a:t>
            </a:r>
          </a:p>
        </p:txBody>
      </p:sp>
      <p:sp>
        <p:nvSpPr>
          <p:cNvPr id="24" name="Rectangle 23">
            <a:extLst>
              <a:ext uri="{FF2B5EF4-FFF2-40B4-BE49-F238E27FC236}">
                <a16:creationId xmlns:a16="http://schemas.microsoft.com/office/drawing/2014/main" id="{2755AF7E-28A0-6DB0-1DB8-03FF44180719}"/>
              </a:ext>
            </a:extLst>
          </p:cNvPr>
          <p:cNvSpPr/>
          <p:nvPr>
            <p:custDataLst>
              <p:tags r:id="rId13"/>
            </p:custDataLst>
          </p:nvPr>
        </p:nvSpPr>
        <p:spPr>
          <a:xfrm>
            <a:off x="7165790"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#X</a:t>
            </a:r>
          </a:p>
        </p:txBody>
      </p:sp>
      <p:sp>
        <p:nvSpPr>
          <p:cNvPr id="25" name="Rectangle 24">
            <a:extLst>
              <a:ext uri="{FF2B5EF4-FFF2-40B4-BE49-F238E27FC236}">
                <a16:creationId xmlns:a16="http://schemas.microsoft.com/office/drawing/2014/main" id="{A387AE06-05D1-407E-E3F4-64618BB2BB0D}"/>
              </a:ext>
            </a:extLst>
          </p:cNvPr>
          <p:cNvSpPr/>
          <p:nvPr>
            <p:custDataLst>
              <p:tags r:id="rId14"/>
            </p:custDataLst>
          </p:nvPr>
        </p:nvSpPr>
        <p:spPr>
          <a:xfrm>
            <a:off x="4182746"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a:t>
            </a:r>
          </a:p>
        </p:txBody>
      </p:sp>
      <p:cxnSp>
        <p:nvCxnSpPr>
          <p:cNvPr id="26" name="Connecteur droit 25">
            <a:extLst>
              <a:ext uri="{FF2B5EF4-FFF2-40B4-BE49-F238E27FC236}">
                <a16:creationId xmlns:a16="http://schemas.microsoft.com/office/drawing/2014/main" id="{8136D5FC-9202-3A90-CFC4-3C534DD29431}"/>
              </a:ext>
            </a:extLst>
          </p:cNvPr>
          <p:cNvCxnSpPr>
            <a:cxnSpLocks/>
          </p:cNvCxnSpPr>
          <p:nvPr>
            <p:custDataLst>
              <p:tags r:id="rId15"/>
            </p:custDataLst>
          </p:nvPr>
        </p:nvCxnSpPr>
        <p:spPr>
          <a:xfrm>
            <a:off x="4616532" y="1916282"/>
            <a:ext cx="1"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976C3C5B-7815-91D5-A043-9FBE207B8906}"/>
              </a:ext>
            </a:extLst>
          </p:cNvPr>
          <p:cNvCxnSpPr>
            <a:cxnSpLocks/>
          </p:cNvCxnSpPr>
          <p:nvPr>
            <p:custDataLst>
              <p:tags r:id="rId16"/>
            </p:custDataLst>
          </p:nvPr>
        </p:nvCxnSpPr>
        <p:spPr>
          <a:xfrm>
            <a:off x="3638398" y="1916282"/>
            <a:ext cx="1"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1348558F-2582-4C47-2C50-F72D54F79924}"/>
              </a:ext>
            </a:extLst>
          </p:cNvPr>
          <p:cNvSpPr/>
          <p:nvPr>
            <p:custDataLst>
              <p:tags r:id="rId17"/>
            </p:custDataLst>
          </p:nvPr>
        </p:nvSpPr>
        <p:spPr>
          <a:xfrm>
            <a:off x="3188398"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#1</a:t>
            </a:r>
          </a:p>
        </p:txBody>
      </p:sp>
      <p:cxnSp>
        <p:nvCxnSpPr>
          <p:cNvPr id="29" name="Connecteur droit 28">
            <a:extLst>
              <a:ext uri="{FF2B5EF4-FFF2-40B4-BE49-F238E27FC236}">
                <a16:creationId xmlns:a16="http://schemas.microsoft.com/office/drawing/2014/main" id="{42210BA6-3F0F-A0A2-4306-0A6C8B70630B}"/>
              </a:ext>
            </a:extLst>
          </p:cNvPr>
          <p:cNvCxnSpPr>
            <a:cxnSpLocks/>
          </p:cNvCxnSpPr>
          <p:nvPr>
            <p:custDataLst>
              <p:tags r:id="rId18"/>
            </p:custDataLst>
          </p:nvPr>
        </p:nvCxnSpPr>
        <p:spPr>
          <a:xfrm>
            <a:off x="1662855" y="1916282"/>
            <a:ext cx="1"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550D813-7838-E137-11AF-463BE8D61EF7}"/>
              </a:ext>
            </a:extLst>
          </p:cNvPr>
          <p:cNvSpPr/>
          <p:nvPr>
            <p:custDataLst>
              <p:tags r:id="rId19"/>
            </p:custDataLst>
          </p:nvPr>
        </p:nvSpPr>
        <p:spPr>
          <a:xfrm>
            <a:off x="1199702"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#1</a:t>
            </a:r>
          </a:p>
        </p:txBody>
      </p:sp>
      <p:sp>
        <p:nvSpPr>
          <p:cNvPr id="31" name="Rectangle 30">
            <a:extLst>
              <a:ext uri="{FF2B5EF4-FFF2-40B4-BE49-F238E27FC236}">
                <a16:creationId xmlns:a16="http://schemas.microsoft.com/office/drawing/2014/main" id="{A96098EA-22C9-C85C-4C3F-7B87CCABAE07}"/>
              </a:ext>
            </a:extLst>
          </p:cNvPr>
          <p:cNvSpPr/>
          <p:nvPr>
            <p:custDataLst>
              <p:tags r:id="rId20"/>
            </p:custDataLst>
          </p:nvPr>
        </p:nvSpPr>
        <p:spPr>
          <a:xfrm>
            <a:off x="9324410" y="289010"/>
            <a:ext cx="72000" cy="936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32" name="ZoneTexte 31">
            <a:extLst>
              <a:ext uri="{FF2B5EF4-FFF2-40B4-BE49-F238E27FC236}">
                <a16:creationId xmlns:a16="http://schemas.microsoft.com/office/drawing/2014/main" id="{EB3F4DD9-35A1-7012-8FF1-11AE686F4C10}"/>
              </a:ext>
            </a:extLst>
          </p:cNvPr>
          <p:cNvSpPr txBox="1"/>
          <p:nvPr>
            <p:custDataLst>
              <p:tags r:id="rId21"/>
            </p:custDataLst>
          </p:nvPr>
        </p:nvSpPr>
        <p:spPr>
          <a:xfrm>
            <a:off x="245278" y="3598069"/>
            <a:ext cx="1260000" cy="646331"/>
          </a:xfrm>
          <a:prstGeom prst="rect">
            <a:avLst/>
          </a:prstGeom>
          <a:noFill/>
        </p:spPr>
        <p:txBody>
          <a:bodyPr wrap="square" lIns="91440" tIns="45720" rIns="91440" bIns="45720" rtlCol="0" anchor="t">
            <a:spAutoFit/>
          </a:bodyPr>
          <a:lstStyle>
            <a:defPPr>
              <a:defRPr lang="fr-FR"/>
            </a:defPPr>
            <a:lvl1pPr algn="ctr">
              <a:defRPr sz="16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a:ln>
                  <a:noFill/>
                </a:ln>
                <a:solidFill>
                  <a:schemeClr val="accent1"/>
                </a:solidFill>
                <a:effectLst/>
                <a:uLnTx/>
                <a:uFillTx/>
                <a:latin typeface="Arial" panose="020B0604020202020204" pitchFamily="34" charset="0"/>
                <a:ea typeface="+mn-ea"/>
                <a:cs typeface="+mn-cs"/>
              </a:rPr>
              <a:t>Nom du processus #1</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a:solidFill>
                  <a:schemeClr val="accent1"/>
                </a:solidFill>
                <a:latin typeface="Arial" panose="020B0604020202020204" pitchFamily="34" charset="0"/>
              </a:rPr>
              <a:t>(scénario 1)</a:t>
            </a:r>
            <a:endParaRPr kumimoji="0" lang="fr-FR" sz="1200" b="0" i="0" u="none" strike="noStrike" kern="1200" cap="none" spc="0" normalizeH="0" baseline="0">
              <a:ln>
                <a:noFill/>
              </a:ln>
              <a:solidFill>
                <a:schemeClr val="accent1"/>
              </a:solidFill>
              <a:effectLst/>
              <a:uLnTx/>
              <a:uFillTx/>
              <a:latin typeface="Poppins"/>
              <a:ea typeface="+mn-ea"/>
              <a:cs typeface="+mn-cs"/>
            </a:endParaRPr>
          </a:p>
        </p:txBody>
      </p:sp>
      <p:cxnSp>
        <p:nvCxnSpPr>
          <p:cNvPr id="33" name="Connecteur droit 32">
            <a:extLst>
              <a:ext uri="{FF2B5EF4-FFF2-40B4-BE49-F238E27FC236}">
                <a16:creationId xmlns:a16="http://schemas.microsoft.com/office/drawing/2014/main" id="{18726273-E3FB-337D-F306-E0DE067E8902}"/>
              </a:ext>
            </a:extLst>
          </p:cNvPr>
          <p:cNvCxnSpPr>
            <a:cxnSpLocks/>
          </p:cNvCxnSpPr>
          <p:nvPr>
            <p:custDataLst>
              <p:tags r:id="rId22"/>
            </p:custDataLst>
          </p:nvPr>
        </p:nvCxnSpPr>
        <p:spPr>
          <a:xfrm flipH="1">
            <a:off x="5613791" y="1916282"/>
            <a:ext cx="2957"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34084B5-F594-40EA-E56F-D117B95D6B13}"/>
              </a:ext>
            </a:extLst>
          </p:cNvPr>
          <p:cNvSpPr/>
          <p:nvPr>
            <p:custDataLst>
              <p:tags r:id="rId23"/>
            </p:custDataLst>
          </p:nvPr>
        </p:nvSpPr>
        <p:spPr>
          <a:xfrm>
            <a:off x="5177094"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a:t>
            </a:r>
          </a:p>
        </p:txBody>
      </p:sp>
      <p:sp>
        <p:nvSpPr>
          <p:cNvPr id="35" name="Rectangle 34">
            <a:extLst>
              <a:ext uri="{FF2B5EF4-FFF2-40B4-BE49-F238E27FC236}">
                <a16:creationId xmlns:a16="http://schemas.microsoft.com/office/drawing/2014/main" id="{BF2F3496-F54B-8797-B811-AC67AA9471EF}"/>
              </a:ext>
            </a:extLst>
          </p:cNvPr>
          <p:cNvSpPr/>
          <p:nvPr>
            <p:custDataLst>
              <p:tags r:id="rId24"/>
            </p:custDataLst>
          </p:nvPr>
        </p:nvSpPr>
        <p:spPr>
          <a:xfrm>
            <a:off x="8160138"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#X</a:t>
            </a:r>
          </a:p>
        </p:txBody>
      </p:sp>
      <p:sp>
        <p:nvSpPr>
          <p:cNvPr id="36" name="Rectangle 35">
            <a:extLst>
              <a:ext uri="{FF2B5EF4-FFF2-40B4-BE49-F238E27FC236}">
                <a16:creationId xmlns:a16="http://schemas.microsoft.com/office/drawing/2014/main" id="{F258A19B-2044-40F0-4A43-5CEBE2120948}"/>
              </a:ext>
            </a:extLst>
          </p:cNvPr>
          <p:cNvSpPr/>
          <p:nvPr>
            <p:custDataLst>
              <p:tags r:id="rId25"/>
            </p:custDataLst>
          </p:nvPr>
        </p:nvSpPr>
        <p:spPr>
          <a:xfrm>
            <a:off x="9154486" y="1445274"/>
            <a:ext cx="900000" cy="469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#X</a:t>
            </a:r>
          </a:p>
        </p:txBody>
      </p:sp>
      <p:sp>
        <p:nvSpPr>
          <p:cNvPr id="37" name="Rectangle 36">
            <a:extLst>
              <a:ext uri="{FF2B5EF4-FFF2-40B4-BE49-F238E27FC236}">
                <a16:creationId xmlns:a16="http://schemas.microsoft.com/office/drawing/2014/main" id="{00A60AB7-2C5C-82D7-E749-6FAE0E87E233}"/>
              </a:ext>
            </a:extLst>
          </p:cNvPr>
          <p:cNvSpPr/>
          <p:nvPr>
            <p:custDataLst>
              <p:tags r:id="rId26"/>
            </p:custDataLst>
          </p:nvPr>
        </p:nvSpPr>
        <p:spPr>
          <a:xfrm>
            <a:off x="10148834" y="1445274"/>
            <a:ext cx="900000" cy="46902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#X</a:t>
            </a:r>
          </a:p>
        </p:txBody>
      </p:sp>
      <p:sp>
        <p:nvSpPr>
          <p:cNvPr id="38" name="Rectangle 37">
            <a:extLst>
              <a:ext uri="{FF2B5EF4-FFF2-40B4-BE49-F238E27FC236}">
                <a16:creationId xmlns:a16="http://schemas.microsoft.com/office/drawing/2014/main" id="{A1131413-B57B-A97D-1176-BB8A49E8FD50}"/>
              </a:ext>
            </a:extLst>
          </p:cNvPr>
          <p:cNvSpPr/>
          <p:nvPr>
            <p:custDataLst>
              <p:tags r:id="rId27"/>
            </p:custDataLst>
          </p:nvPr>
        </p:nvSpPr>
        <p:spPr>
          <a:xfrm>
            <a:off x="11143178" y="1445274"/>
            <a:ext cx="900000" cy="46902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800" i="1">
                <a:solidFill>
                  <a:schemeClr val="bg1"/>
                </a:solidFill>
                <a:latin typeface="Poppins"/>
              </a:rPr>
              <a:t>Nom de l’application / acteurs #X</a:t>
            </a:r>
          </a:p>
        </p:txBody>
      </p:sp>
      <p:cxnSp>
        <p:nvCxnSpPr>
          <p:cNvPr id="39" name="Connecteur droit 38">
            <a:extLst>
              <a:ext uri="{FF2B5EF4-FFF2-40B4-BE49-F238E27FC236}">
                <a16:creationId xmlns:a16="http://schemas.microsoft.com/office/drawing/2014/main" id="{7CE316E5-8F6E-8FDC-EDB9-EFE36D1821A8}"/>
              </a:ext>
            </a:extLst>
          </p:cNvPr>
          <p:cNvCxnSpPr>
            <a:cxnSpLocks/>
          </p:cNvCxnSpPr>
          <p:nvPr>
            <p:custDataLst>
              <p:tags r:id="rId28"/>
            </p:custDataLst>
          </p:nvPr>
        </p:nvCxnSpPr>
        <p:spPr>
          <a:xfrm>
            <a:off x="8593598" y="1916282"/>
            <a:ext cx="13586"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77AB2A4F-CC92-03F0-AA28-09AD57C2FBF4}"/>
              </a:ext>
            </a:extLst>
          </p:cNvPr>
          <p:cNvCxnSpPr>
            <a:cxnSpLocks/>
          </p:cNvCxnSpPr>
          <p:nvPr>
            <p:custDataLst>
              <p:tags r:id="rId29"/>
            </p:custDataLst>
          </p:nvPr>
        </p:nvCxnSpPr>
        <p:spPr>
          <a:xfrm>
            <a:off x="9613967" y="1916282"/>
            <a:ext cx="13586"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00B47609-3F53-8727-4BA0-69DBCE4980B7}"/>
              </a:ext>
            </a:extLst>
          </p:cNvPr>
          <p:cNvCxnSpPr>
            <a:cxnSpLocks/>
          </p:cNvCxnSpPr>
          <p:nvPr>
            <p:custDataLst>
              <p:tags r:id="rId30"/>
            </p:custDataLst>
          </p:nvPr>
        </p:nvCxnSpPr>
        <p:spPr>
          <a:xfrm>
            <a:off x="10596236" y="1916282"/>
            <a:ext cx="13586"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266CA921-DF2C-8C71-34C1-5832EE60BB70}"/>
              </a:ext>
            </a:extLst>
          </p:cNvPr>
          <p:cNvCxnSpPr>
            <a:cxnSpLocks/>
          </p:cNvCxnSpPr>
          <p:nvPr>
            <p:custDataLst>
              <p:tags r:id="rId31"/>
            </p:custDataLst>
          </p:nvPr>
        </p:nvCxnSpPr>
        <p:spPr>
          <a:xfrm>
            <a:off x="11597552" y="1916282"/>
            <a:ext cx="13586" cy="478800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43" name="ZoneTexte 42">
            <a:extLst>
              <a:ext uri="{FF2B5EF4-FFF2-40B4-BE49-F238E27FC236}">
                <a16:creationId xmlns:a16="http://schemas.microsoft.com/office/drawing/2014/main" id="{75100298-CDC7-B35D-A68F-64FA2A1FFB7A}"/>
              </a:ext>
            </a:extLst>
          </p:cNvPr>
          <p:cNvSpPr txBox="1"/>
          <p:nvPr>
            <p:custDataLst>
              <p:tags r:id="rId32"/>
            </p:custDataLst>
          </p:nvPr>
        </p:nvSpPr>
        <p:spPr>
          <a:xfrm>
            <a:off x="245278" y="5392972"/>
            <a:ext cx="1260000"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a:ln>
                  <a:noFill/>
                </a:ln>
                <a:solidFill>
                  <a:schemeClr val="accent1"/>
                </a:solidFill>
                <a:effectLst/>
                <a:uLnTx/>
                <a:uFillTx/>
                <a:latin typeface="Arial" panose="020B0604020202020204" pitchFamily="34" charset="0"/>
                <a:ea typeface="+mn-ea"/>
                <a:cs typeface="+mn-cs"/>
              </a:rPr>
              <a:t>Nom du processus #2</a:t>
            </a:r>
            <a:endParaRPr kumimoji="0" lang="fr-FR" sz="1200" b="0" i="0" u="none" strike="noStrike" kern="1200" cap="none" spc="0" normalizeH="0" baseline="0">
              <a:ln>
                <a:noFill/>
              </a:ln>
              <a:solidFill>
                <a:schemeClr val="accent1"/>
              </a:solidFill>
              <a:effectLst/>
              <a:uLnTx/>
              <a:uFillTx/>
              <a:latin typeface="Poppins"/>
              <a:ea typeface="+mn-ea"/>
              <a:cs typeface="+mn-cs"/>
            </a:endParaRPr>
          </a:p>
        </p:txBody>
      </p:sp>
      <p:sp>
        <p:nvSpPr>
          <p:cNvPr id="44" name="Rectangle 43">
            <a:extLst>
              <a:ext uri="{FF2B5EF4-FFF2-40B4-BE49-F238E27FC236}">
                <a16:creationId xmlns:a16="http://schemas.microsoft.com/office/drawing/2014/main" id="{FA7ED80D-1288-F424-C905-CC1958B79EEB}"/>
              </a:ext>
            </a:extLst>
          </p:cNvPr>
          <p:cNvSpPr/>
          <p:nvPr>
            <p:custDataLst>
              <p:tags r:id="rId33"/>
            </p:custDataLst>
          </p:nvPr>
        </p:nvSpPr>
        <p:spPr>
          <a:xfrm>
            <a:off x="9497945" y="437674"/>
            <a:ext cx="72000" cy="576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09BAB27B-7F8F-4612-4989-AB06086DF77D}"/>
              </a:ext>
            </a:extLst>
          </p:cNvPr>
          <p:cNvSpPr/>
          <p:nvPr>
            <p:custDataLst>
              <p:tags r:id="rId34"/>
            </p:custDataLst>
          </p:nvPr>
        </p:nvSpPr>
        <p:spPr>
          <a:xfrm>
            <a:off x="9671481" y="545674"/>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cxnSp>
        <p:nvCxnSpPr>
          <p:cNvPr id="46" name="Connecteur droit avec flèche 117">
            <a:extLst>
              <a:ext uri="{FF2B5EF4-FFF2-40B4-BE49-F238E27FC236}">
                <a16:creationId xmlns:a16="http://schemas.microsoft.com/office/drawing/2014/main" id="{8222B889-FA26-B459-0527-B6C899E41A8B}"/>
              </a:ext>
            </a:extLst>
          </p:cNvPr>
          <p:cNvCxnSpPr>
            <a:cxnSpLocks/>
          </p:cNvCxnSpPr>
          <p:nvPr>
            <p:custDataLst>
              <p:tags r:id="rId35"/>
            </p:custDataLst>
          </p:nvPr>
        </p:nvCxnSpPr>
        <p:spPr>
          <a:xfrm>
            <a:off x="10106792" y="979519"/>
            <a:ext cx="648343"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7" name="ZoneTexte 155">
            <a:extLst>
              <a:ext uri="{FF2B5EF4-FFF2-40B4-BE49-F238E27FC236}">
                <a16:creationId xmlns:a16="http://schemas.microsoft.com/office/drawing/2014/main" id="{802EE374-F37A-98DC-EBD5-6C53C504C7C2}"/>
              </a:ext>
            </a:extLst>
          </p:cNvPr>
          <p:cNvSpPr txBox="1"/>
          <p:nvPr>
            <p:custDataLst>
              <p:tags r:id="rId36"/>
            </p:custDataLst>
          </p:nvPr>
        </p:nvSpPr>
        <p:spPr>
          <a:xfrm>
            <a:off x="10111807" y="801399"/>
            <a:ext cx="720000"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srgbClr val="000000"/>
                </a:solidFill>
                <a:effectLst/>
                <a:uLnTx/>
                <a:uFillTx/>
                <a:latin typeface="Poppins"/>
                <a:ea typeface="+mn-ea"/>
                <a:cs typeface="+mn-cs"/>
              </a:rPr>
              <a:t>Exemple</a:t>
            </a:r>
            <a:endParaRPr kumimoji="0" lang="fr-FR" sz="1800" b="0" i="0" u="none" strike="noStrike" kern="1200" cap="none" spc="0" normalizeH="0" baseline="0">
              <a:ln>
                <a:noFill/>
              </a:ln>
              <a:solidFill>
                <a:srgbClr val="000000"/>
              </a:solidFill>
              <a:effectLst/>
              <a:uLnTx/>
              <a:uFillTx/>
              <a:latin typeface="Poppins"/>
              <a:ea typeface="+mn-ea"/>
              <a:cs typeface="+mn-cs"/>
            </a:endParaRPr>
          </a:p>
        </p:txBody>
      </p:sp>
      <p:grpSp>
        <p:nvGrpSpPr>
          <p:cNvPr id="48" name="Groupe 47">
            <a:extLst>
              <a:ext uri="{FF2B5EF4-FFF2-40B4-BE49-F238E27FC236}">
                <a16:creationId xmlns:a16="http://schemas.microsoft.com/office/drawing/2014/main" id="{36B7FC8E-34FD-510C-4124-ECF15D36626D}"/>
              </a:ext>
            </a:extLst>
          </p:cNvPr>
          <p:cNvGrpSpPr/>
          <p:nvPr>
            <p:custDataLst>
              <p:tags r:id="rId37"/>
            </p:custDataLst>
          </p:nvPr>
        </p:nvGrpSpPr>
        <p:grpSpPr>
          <a:xfrm rot="10800000" flipH="1">
            <a:off x="11135955" y="793111"/>
            <a:ext cx="266984" cy="247688"/>
            <a:chOff x="8266604" y="3028912"/>
            <a:chExt cx="383893" cy="247688"/>
          </a:xfrm>
        </p:grpSpPr>
        <p:cxnSp>
          <p:nvCxnSpPr>
            <p:cNvPr id="49" name="Connecteur droit 48">
              <a:extLst>
                <a:ext uri="{FF2B5EF4-FFF2-40B4-BE49-F238E27FC236}">
                  <a16:creationId xmlns:a16="http://schemas.microsoft.com/office/drawing/2014/main" id="{09F59530-7591-40CA-8F33-5281B10FB29D}"/>
                </a:ext>
              </a:extLst>
            </p:cNvPr>
            <p:cNvCxnSpPr/>
            <p:nvPr/>
          </p:nvCxnSpPr>
          <p:spPr>
            <a:xfrm>
              <a:off x="8266604" y="3028912"/>
              <a:ext cx="383893" cy="0"/>
            </a:xfrm>
            <a:prstGeom prst="line">
              <a:avLst/>
            </a:prstGeom>
            <a:ln>
              <a:solidFill>
                <a:srgbClr val="0070C0"/>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61749E3F-371C-0692-AF59-F5CA0E4D3908}"/>
                </a:ext>
              </a:extLst>
            </p:cNvPr>
            <p:cNvCxnSpPr/>
            <p:nvPr/>
          </p:nvCxnSpPr>
          <p:spPr>
            <a:xfrm>
              <a:off x="8650497" y="3028912"/>
              <a:ext cx="0" cy="247688"/>
            </a:xfrm>
            <a:prstGeom prst="line">
              <a:avLst/>
            </a:prstGeom>
            <a:ln>
              <a:solidFill>
                <a:srgbClr val="0070C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2806138B-50C5-5A09-3577-7B395BDDBD18}"/>
                </a:ext>
              </a:extLst>
            </p:cNvPr>
            <p:cNvCxnSpPr/>
            <p:nvPr/>
          </p:nvCxnSpPr>
          <p:spPr>
            <a:xfrm flipH="1" flipV="1">
              <a:off x="8289132" y="3273426"/>
              <a:ext cx="361365" cy="1587"/>
            </a:xfrm>
            <a:prstGeom prst="straightConnector1">
              <a:avLst/>
            </a:prstGeom>
            <a:ln>
              <a:solidFill>
                <a:srgbClr val="0070C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grpSp>
      <p:sp>
        <p:nvSpPr>
          <p:cNvPr id="52" name="ZoneTexte 51">
            <a:extLst>
              <a:ext uri="{FF2B5EF4-FFF2-40B4-BE49-F238E27FC236}">
                <a16:creationId xmlns:a16="http://schemas.microsoft.com/office/drawing/2014/main" id="{5B3E0AB1-C5D4-4CFA-DB8E-8FDD89701424}"/>
              </a:ext>
            </a:extLst>
          </p:cNvPr>
          <p:cNvSpPr txBox="1"/>
          <p:nvPr>
            <p:custDataLst>
              <p:tags r:id="rId38"/>
            </p:custDataLst>
          </p:nvPr>
        </p:nvSpPr>
        <p:spPr>
          <a:xfrm>
            <a:off x="11478129" y="856238"/>
            <a:ext cx="759296"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a:ln>
                  <a:noFill/>
                </a:ln>
                <a:solidFill>
                  <a:srgbClr val="000000"/>
                </a:solidFill>
                <a:effectLst/>
                <a:uLnTx/>
                <a:uFillTx/>
                <a:latin typeface="Calibri" panose="020F0502020204030204"/>
                <a:ea typeface="+mn-ea"/>
                <a:cs typeface="Calibri"/>
              </a:rPr>
              <a:t>Exemple</a:t>
            </a:r>
            <a:endParaRPr kumimoji="0" lang="fr-FR" sz="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53" name="ZoneTexte 52">
            <a:extLst>
              <a:ext uri="{FF2B5EF4-FFF2-40B4-BE49-F238E27FC236}">
                <a16:creationId xmlns:a16="http://schemas.microsoft.com/office/drawing/2014/main" id="{34A0EA78-E65D-1333-5065-7435DA6B3AA6}"/>
              </a:ext>
            </a:extLst>
          </p:cNvPr>
          <p:cNvSpPr txBox="1"/>
          <p:nvPr>
            <p:custDataLst>
              <p:tags r:id="rId39"/>
            </p:custDataLst>
          </p:nvPr>
        </p:nvSpPr>
        <p:spPr>
          <a:xfrm>
            <a:off x="10111807" y="485058"/>
            <a:ext cx="720000"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srgbClr val="000000"/>
                </a:solidFill>
                <a:effectLst/>
                <a:uLnTx/>
                <a:uFillTx/>
                <a:latin typeface="Poppins"/>
                <a:ea typeface="+mn-ea"/>
                <a:cs typeface="Calibri"/>
              </a:rPr>
              <a:t>Exemple</a:t>
            </a:r>
          </a:p>
        </p:txBody>
      </p:sp>
      <p:cxnSp>
        <p:nvCxnSpPr>
          <p:cNvPr id="54" name="Connecteur droit avec flèche 254">
            <a:extLst>
              <a:ext uri="{FF2B5EF4-FFF2-40B4-BE49-F238E27FC236}">
                <a16:creationId xmlns:a16="http://schemas.microsoft.com/office/drawing/2014/main" id="{CB3A94DF-FF00-9C14-C5EB-40BB04ADE575}"/>
              </a:ext>
            </a:extLst>
          </p:cNvPr>
          <p:cNvCxnSpPr>
            <a:cxnSpLocks/>
          </p:cNvCxnSpPr>
          <p:nvPr>
            <p:custDataLst>
              <p:tags r:id="rId40"/>
            </p:custDataLst>
          </p:nvPr>
        </p:nvCxnSpPr>
        <p:spPr>
          <a:xfrm flipH="1">
            <a:off x="10109286" y="666702"/>
            <a:ext cx="645849"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E3DB5B29-73A9-7A5C-22C9-5E6995E99E80}"/>
              </a:ext>
            </a:extLst>
          </p:cNvPr>
          <p:cNvSpPr txBox="1"/>
          <p:nvPr>
            <p:custDataLst>
              <p:tags r:id="rId41"/>
            </p:custDataLst>
          </p:nvPr>
        </p:nvSpPr>
        <p:spPr>
          <a:xfrm>
            <a:off x="11067441" y="485058"/>
            <a:ext cx="462964"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prstClr val="black"/>
                </a:solidFill>
                <a:effectLst/>
                <a:uLnTx/>
                <a:uFillTx/>
                <a:latin typeface="Calibri" panose="020F0502020204030204"/>
                <a:ea typeface="+mn-ea"/>
                <a:cs typeface="+mn-cs"/>
              </a:rPr>
              <a:t>Exemple</a:t>
            </a:r>
          </a:p>
        </p:txBody>
      </p:sp>
      <p:grpSp>
        <p:nvGrpSpPr>
          <p:cNvPr id="56" name="Groupe 55">
            <a:extLst>
              <a:ext uri="{FF2B5EF4-FFF2-40B4-BE49-F238E27FC236}">
                <a16:creationId xmlns:a16="http://schemas.microsoft.com/office/drawing/2014/main" id="{7FC3183B-42C5-6CCA-3740-B059D495287C}"/>
              </a:ext>
            </a:extLst>
          </p:cNvPr>
          <p:cNvGrpSpPr/>
          <p:nvPr>
            <p:custDataLst>
              <p:tags r:id="rId42"/>
            </p:custDataLst>
          </p:nvPr>
        </p:nvGrpSpPr>
        <p:grpSpPr>
          <a:xfrm flipH="1">
            <a:off x="11579630" y="410056"/>
            <a:ext cx="266984" cy="247688"/>
            <a:chOff x="8266604" y="3028912"/>
            <a:chExt cx="383893" cy="247688"/>
          </a:xfrm>
        </p:grpSpPr>
        <p:cxnSp>
          <p:nvCxnSpPr>
            <p:cNvPr id="57" name="Connecteur droit 56">
              <a:extLst>
                <a:ext uri="{FF2B5EF4-FFF2-40B4-BE49-F238E27FC236}">
                  <a16:creationId xmlns:a16="http://schemas.microsoft.com/office/drawing/2014/main" id="{9EBF1C12-7529-532D-2DD7-40B80916232D}"/>
                </a:ext>
              </a:extLst>
            </p:cNvPr>
            <p:cNvCxnSpPr/>
            <p:nvPr/>
          </p:nvCxnSpPr>
          <p:spPr>
            <a:xfrm>
              <a:off x="8266604" y="3028912"/>
              <a:ext cx="383893" cy="0"/>
            </a:xfrm>
            <a:prstGeom prst="line">
              <a:avLst/>
            </a:prstGeom>
            <a:ln>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371E6ED7-5E32-1424-0D42-48609786F691}"/>
                </a:ext>
              </a:extLst>
            </p:cNvPr>
            <p:cNvCxnSpPr/>
            <p:nvPr/>
          </p:nvCxnSpPr>
          <p:spPr>
            <a:xfrm>
              <a:off x="8650497" y="3028912"/>
              <a:ext cx="0" cy="247688"/>
            </a:xfrm>
            <a:prstGeom prst="line">
              <a:avLst/>
            </a:prstGeom>
            <a:ln>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2D3421CC-A3DB-BF28-7403-7F3BB9359B38}"/>
                </a:ext>
              </a:extLst>
            </p:cNvPr>
            <p:cNvCxnSpPr/>
            <p:nvPr/>
          </p:nvCxnSpPr>
          <p:spPr>
            <a:xfrm flipH="1" flipV="1">
              <a:off x="8289132" y="3273426"/>
              <a:ext cx="361365" cy="1587"/>
            </a:xfrm>
            <a:prstGeom prst="straightConnector1">
              <a:avLst/>
            </a:prstGeom>
            <a:ln>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60" name="Rectangle 59">
            <a:extLst>
              <a:ext uri="{FF2B5EF4-FFF2-40B4-BE49-F238E27FC236}">
                <a16:creationId xmlns:a16="http://schemas.microsoft.com/office/drawing/2014/main" id="{7DEB938F-90B7-E843-A68B-B30B0E3CF4F1}"/>
              </a:ext>
            </a:extLst>
          </p:cNvPr>
          <p:cNvSpPr/>
          <p:nvPr>
            <p:custDataLst>
              <p:tags r:id="rId43"/>
            </p:custDataLst>
          </p:nvPr>
        </p:nvSpPr>
        <p:spPr>
          <a:xfrm>
            <a:off x="8557595" y="2590850"/>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D95202C1-E72C-5E5D-8D3C-3B9849A86C0D}"/>
              </a:ext>
            </a:extLst>
          </p:cNvPr>
          <p:cNvSpPr/>
          <p:nvPr>
            <p:custDataLst>
              <p:tags r:id="rId44"/>
            </p:custDataLst>
          </p:nvPr>
        </p:nvSpPr>
        <p:spPr>
          <a:xfrm>
            <a:off x="4571210" y="2568626"/>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62" name="ZoneTexte 61">
            <a:extLst>
              <a:ext uri="{FF2B5EF4-FFF2-40B4-BE49-F238E27FC236}">
                <a16:creationId xmlns:a16="http://schemas.microsoft.com/office/drawing/2014/main" id="{965FF220-412D-F109-76A5-7E81365B7467}"/>
              </a:ext>
            </a:extLst>
          </p:cNvPr>
          <p:cNvSpPr txBox="1"/>
          <p:nvPr>
            <p:custDataLst>
              <p:tags r:id="rId45"/>
            </p:custDataLst>
          </p:nvPr>
        </p:nvSpPr>
        <p:spPr>
          <a:xfrm>
            <a:off x="4801678" y="2610043"/>
            <a:ext cx="2259070"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srgbClr val="000000"/>
                </a:solidFill>
                <a:effectLst/>
                <a:uLnTx/>
                <a:uFillTx/>
                <a:latin typeface="Poppins"/>
                <a:ea typeface="+mn-ea"/>
                <a:cs typeface="Calibri"/>
              </a:rPr>
              <a:t>Description fonctionnelle de l’interface</a:t>
            </a:r>
          </a:p>
        </p:txBody>
      </p:sp>
      <p:cxnSp>
        <p:nvCxnSpPr>
          <p:cNvPr id="63" name="Connecteur droit avec flèche 254">
            <a:extLst>
              <a:ext uri="{FF2B5EF4-FFF2-40B4-BE49-F238E27FC236}">
                <a16:creationId xmlns:a16="http://schemas.microsoft.com/office/drawing/2014/main" id="{04AF3AA2-3507-BE58-9BC8-48CE02924BF0}"/>
              </a:ext>
            </a:extLst>
          </p:cNvPr>
          <p:cNvCxnSpPr>
            <a:cxnSpLocks/>
          </p:cNvCxnSpPr>
          <p:nvPr>
            <p:custDataLst>
              <p:tags r:id="rId46"/>
            </p:custDataLst>
          </p:nvPr>
        </p:nvCxnSpPr>
        <p:spPr>
          <a:xfrm flipH="1">
            <a:off x="4643210" y="2729988"/>
            <a:ext cx="3888000"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CB706403-2B7E-9AA6-38A6-90E00791DF13}"/>
              </a:ext>
            </a:extLst>
          </p:cNvPr>
          <p:cNvSpPr/>
          <p:nvPr>
            <p:custDataLst>
              <p:tags r:id="rId47"/>
            </p:custDataLst>
          </p:nvPr>
        </p:nvSpPr>
        <p:spPr>
          <a:xfrm>
            <a:off x="8570342" y="3661734"/>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65" name="Rectangle 64">
            <a:extLst>
              <a:ext uri="{FF2B5EF4-FFF2-40B4-BE49-F238E27FC236}">
                <a16:creationId xmlns:a16="http://schemas.microsoft.com/office/drawing/2014/main" id="{49388D56-59C2-879D-216D-10C02DFF08E6}"/>
              </a:ext>
            </a:extLst>
          </p:cNvPr>
          <p:cNvSpPr/>
          <p:nvPr>
            <p:custDataLst>
              <p:tags r:id="rId48"/>
            </p:custDataLst>
          </p:nvPr>
        </p:nvSpPr>
        <p:spPr>
          <a:xfrm>
            <a:off x="4583957" y="3639510"/>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66" name="ZoneTexte 65">
            <a:extLst>
              <a:ext uri="{FF2B5EF4-FFF2-40B4-BE49-F238E27FC236}">
                <a16:creationId xmlns:a16="http://schemas.microsoft.com/office/drawing/2014/main" id="{9211CCA8-72AF-47DD-9543-2C87BA2D83CD}"/>
              </a:ext>
            </a:extLst>
          </p:cNvPr>
          <p:cNvSpPr txBox="1"/>
          <p:nvPr>
            <p:custDataLst>
              <p:tags r:id="rId49"/>
            </p:custDataLst>
          </p:nvPr>
        </p:nvSpPr>
        <p:spPr>
          <a:xfrm>
            <a:off x="4814425" y="3652352"/>
            <a:ext cx="2058416"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srgbClr val="000000"/>
                </a:solidFill>
                <a:effectLst/>
                <a:uLnTx/>
                <a:uFillTx/>
                <a:latin typeface="Poppins"/>
                <a:ea typeface="+mn-ea"/>
                <a:cs typeface="Calibri"/>
              </a:rPr>
              <a:t>Description fonctionnelle de l’interface</a:t>
            </a:r>
          </a:p>
        </p:txBody>
      </p:sp>
      <p:cxnSp>
        <p:nvCxnSpPr>
          <p:cNvPr id="67" name="Connecteur droit avec flèche 254">
            <a:extLst>
              <a:ext uri="{FF2B5EF4-FFF2-40B4-BE49-F238E27FC236}">
                <a16:creationId xmlns:a16="http://schemas.microsoft.com/office/drawing/2014/main" id="{C0082E75-FA66-F518-BBB7-E7281965AAFC}"/>
              </a:ext>
            </a:extLst>
          </p:cNvPr>
          <p:cNvCxnSpPr>
            <a:cxnSpLocks/>
          </p:cNvCxnSpPr>
          <p:nvPr>
            <p:custDataLst>
              <p:tags r:id="rId50"/>
            </p:custDataLst>
          </p:nvPr>
        </p:nvCxnSpPr>
        <p:spPr>
          <a:xfrm flipH="1">
            <a:off x="4655957" y="3781822"/>
            <a:ext cx="3888000"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210AD169-2F35-0749-FF6D-F8B08D351B78}"/>
              </a:ext>
            </a:extLst>
          </p:cNvPr>
          <p:cNvSpPr/>
          <p:nvPr>
            <p:custDataLst>
              <p:tags r:id="rId51"/>
            </p:custDataLst>
          </p:nvPr>
        </p:nvSpPr>
        <p:spPr>
          <a:xfrm>
            <a:off x="8570342" y="4775002"/>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69" name="Rectangle 68">
            <a:extLst>
              <a:ext uri="{FF2B5EF4-FFF2-40B4-BE49-F238E27FC236}">
                <a16:creationId xmlns:a16="http://schemas.microsoft.com/office/drawing/2014/main" id="{F6C52ADD-7530-9F17-8B79-06CCF058A910}"/>
              </a:ext>
            </a:extLst>
          </p:cNvPr>
          <p:cNvSpPr/>
          <p:nvPr>
            <p:custDataLst>
              <p:tags r:id="rId52"/>
            </p:custDataLst>
          </p:nvPr>
        </p:nvSpPr>
        <p:spPr>
          <a:xfrm>
            <a:off x="4583957" y="4752778"/>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70" name="ZoneTexte 69">
            <a:extLst>
              <a:ext uri="{FF2B5EF4-FFF2-40B4-BE49-F238E27FC236}">
                <a16:creationId xmlns:a16="http://schemas.microsoft.com/office/drawing/2014/main" id="{979C7E70-E83E-F841-19E6-4EA6455D8479}"/>
              </a:ext>
            </a:extLst>
          </p:cNvPr>
          <p:cNvSpPr txBox="1"/>
          <p:nvPr>
            <p:custDataLst>
              <p:tags r:id="rId53"/>
            </p:custDataLst>
          </p:nvPr>
        </p:nvSpPr>
        <p:spPr>
          <a:xfrm>
            <a:off x="4814425" y="4765620"/>
            <a:ext cx="2138778"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srgbClr val="000000"/>
                </a:solidFill>
                <a:effectLst/>
                <a:uLnTx/>
                <a:uFillTx/>
                <a:latin typeface="Poppins"/>
                <a:ea typeface="+mn-ea"/>
                <a:cs typeface="Calibri"/>
              </a:rPr>
              <a:t>Description fonctionnelle de l’interface</a:t>
            </a:r>
          </a:p>
        </p:txBody>
      </p:sp>
      <p:cxnSp>
        <p:nvCxnSpPr>
          <p:cNvPr id="71" name="Connecteur droit avec flèche 254">
            <a:extLst>
              <a:ext uri="{FF2B5EF4-FFF2-40B4-BE49-F238E27FC236}">
                <a16:creationId xmlns:a16="http://schemas.microsoft.com/office/drawing/2014/main" id="{DC1A2558-2557-5433-878F-42D363CEB9CF}"/>
              </a:ext>
            </a:extLst>
          </p:cNvPr>
          <p:cNvCxnSpPr>
            <a:cxnSpLocks/>
          </p:cNvCxnSpPr>
          <p:nvPr>
            <p:custDataLst>
              <p:tags r:id="rId54"/>
            </p:custDataLst>
          </p:nvPr>
        </p:nvCxnSpPr>
        <p:spPr>
          <a:xfrm flipH="1">
            <a:off x="4655957" y="4895090"/>
            <a:ext cx="3888000"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1C3F3350-1536-FED3-DEDE-C2E38EF87246}"/>
              </a:ext>
            </a:extLst>
          </p:cNvPr>
          <p:cNvSpPr/>
          <p:nvPr>
            <p:custDataLst>
              <p:tags r:id="rId55"/>
            </p:custDataLst>
          </p:nvPr>
        </p:nvSpPr>
        <p:spPr>
          <a:xfrm>
            <a:off x="8254486" y="331535"/>
            <a:ext cx="900000" cy="433965"/>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a:ln>
                  <a:noFill/>
                </a:ln>
                <a:solidFill>
                  <a:schemeClr val="bg1"/>
                </a:solidFill>
                <a:effectLst/>
                <a:uLnTx/>
                <a:uFillTx/>
                <a:latin typeface="Poppins"/>
                <a:ea typeface="+mn-ea"/>
                <a:cs typeface="+mn-cs"/>
              </a:rPr>
              <a:t>Application / acteurs Externe au SI BYCN</a:t>
            </a:r>
          </a:p>
        </p:txBody>
      </p:sp>
      <p:sp>
        <p:nvSpPr>
          <p:cNvPr id="73" name="Rectangle 72">
            <a:extLst>
              <a:ext uri="{FF2B5EF4-FFF2-40B4-BE49-F238E27FC236}">
                <a16:creationId xmlns:a16="http://schemas.microsoft.com/office/drawing/2014/main" id="{064BA488-32FA-DFF6-7572-2EAD43B366D6}"/>
              </a:ext>
            </a:extLst>
          </p:cNvPr>
          <p:cNvSpPr/>
          <p:nvPr>
            <p:custDataLst>
              <p:tags r:id="rId56"/>
            </p:custDataLst>
          </p:nvPr>
        </p:nvSpPr>
        <p:spPr>
          <a:xfrm>
            <a:off x="8254486" y="813930"/>
            <a:ext cx="900000" cy="433965"/>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a:ln>
                  <a:noFill/>
                </a:ln>
                <a:solidFill>
                  <a:schemeClr val="bg1"/>
                </a:solidFill>
                <a:effectLst/>
                <a:uLnTx/>
                <a:uFillTx/>
                <a:latin typeface="Poppins"/>
                <a:ea typeface="+mn-ea"/>
                <a:cs typeface="+mn-cs"/>
              </a:rPr>
              <a:t>Application / acteurs Interne au SI </a:t>
            </a:r>
            <a:r>
              <a:rPr lang="fr-FR" sz="800" i="1">
                <a:solidFill>
                  <a:schemeClr val="bg1"/>
                </a:solidFill>
                <a:latin typeface="Poppins"/>
              </a:rPr>
              <a:t>BYCN</a:t>
            </a:r>
            <a:endParaRPr kumimoji="0" lang="fr-FR" sz="800" b="0" i="1" u="none" strike="noStrike" kern="1200" cap="none" spc="0" normalizeH="0" baseline="0">
              <a:ln>
                <a:noFill/>
              </a:ln>
              <a:solidFill>
                <a:schemeClr val="bg1"/>
              </a:solidFill>
              <a:effectLst/>
              <a:uLnTx/>
              <a:uFillTx/>
              <a:latin typeface="Poppins"/>
              <a:ea typeface="+mn-ea"/>
              <a:cs typeface="+mn-cs"/>
            </a:endParaRPr>
          </a:p>
        </p:txBody>
      </p:sp>
      <p:sp>
        <p:nvSpPr>
          <p:cNvPr id="74" name="Rectangle à coins arrondis 10">
            <a:extLst>
              <a:ext uri="{FF2B5EF4-FFF2-40B4-BE49-F238E27FC236}">
                <a16:creationId xmlns:a16="http://schemas.microsoft.com/office/drawing/2014/main" id="{B6217488-F04A-922E-297E-E37E31CD5287}"/>
              </a:ext>
            </a:extLst>
          </p:cNvPr>
          <p:cNvSpPr/>
          <p:nvPr>
            <p:custDataLst>
              <p:tags r:id="rId57"/>
            </p:custDataLst>
          </p:nvPr>
        </p:nvSpPr>
        <p:spPr>
          <a:xfrm flipH="1">
            <a:off x="8706722" y="3487213"/>
            <a:ext cx="3240000" cy="851297"/>
          </a:xfrm>
          <a:prstGeom prst="wedgeRoundRectCallout">
            <a:avLst>
              <a:gd name="adj1" fmla="val 69700"/>
              <a:gd name="adj2" fmla="val 26739"/>
              <a:gd name="adj3" fmla="val 16667"/>
            </a:avLst>
          </a:prstGeom>
          <a:solidFill>
            <a:schemeClr val="bg1">
              <a:alpha val="85000"/>
            </a:schemeClr>
          </a:solidFill>
          <a:ln w="12700">
            <a:solidFill>
              <a:schemeClr val="accent2">
                <a:lumMod val="50000"/>
              </a:schemeClr>
            </a:solidFill>
          </a:ln>
        </p:spPr>
        <p:txBody>
          <a:bodyPr wrap="square" lIns="36000" tIns="0" rIns="36000" bIns="0" rtlCol="0" anchor="ctr">
            <a:spAutoFit/>
          </a:bodyPr>
          <a:lstStyle/>
          <a:p>
            <a:pPr marL="171450" indent="-171450">
              <a:buFont typeface="Webdings" panose="05030102010509060703" pitchFamily="18" charset="2"/>
              <a:buChar char=")"/>
            </a:pPr>
            <a:r>
              <a:rPr lang="fr-FR" sz="1000" i="1">
                <a:solidFill>
                  <a:schemeClr val="accent6">
                    <a:lumMod val="75000"/>
                  </a:schemeClr>
                </a:solidFill>
                <a:latin typeface="Arial Narrow" panose="020B0606020202030204" pitchFamily="34" charset="0"/>
                <a:sym typeface="Webdings" panose="05030102010509060703" pitchFamily="18" charset="2"/>
              </a:rPr>
              <a:t>Réaliser le diagramme de séquence des processus impactés. Il est nécessaire de schématiser plusieurs fois les mêmes processus s’il y a des différences entre les scénarios.</a:t>
            </a:r>
          </a:p>
          <a:p>
            <a:pPr marL="171450" indent="-171450">
              <a:buFont typeface="Webdings" panose="05030102010509060703" pitchFamily="18" charset="2"/>
              <a:buChar char=")"/>
            </a:pPr>
            <a:r>
              <a:rPr lang="fr-FR" sz="1000" i="1">
                <a:solidFill>
                  <a:schemeClr val="accent6">
                    <a:lumMod val="75000"/>
                  </a:schemeClr>
                </a:solidFill>
                <a:latin typeface="Arial Narrow" panose="020B0606020202030204" pitchFamily="34" charset="0"/>
                <a:sym typeface="Webdings" panose="05030102010509060703" pitchFamily="18" charset="2"/>
              </a:rPr>
              <a:t>Cette slide peut être dupliqué si nécessaire pour permettre de détailler l’ensemble des processus impactés/identifiés.</a:t>
            </a:r>
          </a:p>
        </p:txBody>
      </p:sp>
      <p:sp>
        <p:nvSpPr>
          <p:cNvPr id="75" name="Rectangle à coins arrondis 10">
            <a:extLst>
              <a:ext uri="{FF2B5EF4-FFF2-40B4-BE49-F238E27FC236}">
                <a16:creationId xmlns:a16="http://schemas.microsoft.com/office/drawing/2014/main" id="{DC0A5316-B253-C66E-FFAC-ECE689CD5E0C}"/>
              </a:ext>
            </a:extLst>
          </p:cNvPr>
          <p:cNvSpPr/>
          <p:nvPr>
            <p:custDataLst>
              <p:tags r:id="rId58"/>
            </p:custDataLst>
          </p:nvPr>
        </p:nvSpPr>
        <p:spPr>
          <a:xfrm>
            <a:off x="8706722" y="2307930"/>
            <a:ext cx="3240000" cy="408623"/>
          </a:xfrm>
          <a:prstGeom prst="wedgeRoundRectCallout">
            <a:avLst>
              <a:gd name="adj1" fmla="val 6313"/>
              <a:gd name="adj2" fmla="val -126932"/>
              <a:gd name="adj3" fmla="val 16667"/>
            </a:avLst>
          </a:prstGeom>
          <a:solidFill>
            <a:schemeClr val="bg1">
              <a:alpha val="85000"/>
            </a:schemeClr>
          </a:solidFill>
          <a:ln w="12700">
            <a:solidFill>
              <a:schemeClr val="accent2">
                <a:lumMod val="50000"/>
              </a:schemeClr>
            </a:solidFill>
          </a:ln>
        </p:spPr>
        <p:txBody>
          <a:bodyPr wrap="square" lIns="36000" tIns="0" rIns="36000" bIns="0" rtlCol="0" anchor="ctr">
            <a:spAutoFit/>
          </a:bodyPr>
          <a:lstStyle/>
          <a:p>
            <a:r>
              <a:rPr lang="fr-FR" sz="14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1000" i="1">
                <a:solidFill>
                  <a:schemeClr val="accent6">
                    <a:lumMod val="75000"/>
                  </a:schemeClr>
                </a:solidFill>
                <a:latin typeface="Arial Narrow" panose="020B0606020202030204" pitchFamily="34" charset="0"/>
                <a:sym typeface="Webdings" panose="05030102010509060703" pitchFamily="18" charset="2"/>
              </a:rPr>
              <a:t> Les applications/partenaires externes sont dans une couleur différente et tout à droite du schéma.</a:t>
            </a:r>
          </a:p>
        </p:txBody>
      </p:sp>
      <p:sp>
        <p:nvSpPr>
          <p:cNvPr id="76" name="Rectangle à coins arrondis 10">
            <a:extLst>
              <a:ext uri="{FF2B5EF4-FFF2-40B4-BE49-F238E27FC236}">
                <a16:creationId xmlns:a16="http://schemas.microsoft.com/office/drawing/2014/main" id="{AF042A32-0239-1830-71ED-9DF8EFD7423F}"/>
              </a:ext>
            </a:extLst>
          </p:cNvPr>
          <p:cNvSpPr/>
          <p:nvPr>
            <p:custDataLst>
              <p:tags r:id="rId59"/>
            </p:custDataLst>
          </p:nvPr>
        </p:nvSpPr>
        <p:spPr>
          <a:xfrm>
            <a:off x="1692650" y="2256852"/>
            <a:ext cx="2878432" cy="510778"/>
          </a:xfrm>
          <a:prstGeom prst="wedgeRoundRectCallout">
            <a:avLst>
              <a:gd name="adj1" fmla="val -43265"/>
              <a:gd name="adj2" fmla="val -103749"/>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pPr marL="171450" indent="-171450">
              <a:buFont typeface="Webdings" panose="05030102010509060703" pitchFamily="18" charset="2"/>
              <a:buChar char=")"/>
            </a:pPr>
            <a:r>
              <a:rPr lang="fr-FR" sz="1000" i="1">
                <a:solidFill>
                  <a:schemeClr val="accent6">
                    <a:lumMod val="75000"/>
                  </a:schemeClr>
                </a:solidFill>
                <a:latin typeface="Arial Narrow" panose="020B0606020202030204" pitchFamily="34" charset="0"/>
                <a:sym typeface="Webdings" panose="05030102010509060703" pitchFamily="18" charset="2"/>
              </a:rPr>
              <a:t>Pour faciliter la lecture dans la mesure du possible on positionne les acteurs internes en premier, tout à gauche du schéma.</a:t>
            </a:r>
          </a:p>
        </p:txBody>
      </p:sp>
      <p:sp>
        <p:nvSpPr>
          <p:cNvPr id="77" name="Rectangle à coins arrondis 10">
            <a:extLst>
              <a:ext uri="{FF2B5EF4-FFF2-40B4-BE49-F238E27FC236}">
                <a16:creationId xmlns:a16="http://schemas.microsoft.com/office/drawing/2014/main" id="{3009F575-2CA0-AD35-86FD-FA10F8237702}"/>
              </a:ext>
            </a:extLst>
          </p:cNvPr>
          <p:cNvSpPr/>
          <p:nvPr>
            <p:custDataLst>
              <p:tags r:id="rId60"/>
            </p:custDataLst>
          </p:nvPr>
        </p:nvSpPr>
        <p:spPr>
          <a:xfrm>
            <a:off x="8706722" y="2771225"/>
            <a:ext cx="3240000" cy="510778"/>
          </a:xfrm>
          <a:prstGeom prst="wedgeRoundRectCallout">
            <a:avLst>
              <a:gd name="adj1" fmla="val -73851"/>
              <a:gd name="adj2" fmla="val 15598"/>
              <a:gd name="adj3" fmla="val 16667"/>
            </a:avLst>
          </a:prstGeom>
          <a:solidFill>
            <a:schemeClr val="bg1">
              <a:alpha val="85000"/>
            </a:schemeClr>
          </a:solidFill>
          <a:ln w="12700">
            <a:solidFill>
              <a:schemeClr val="accent2">
                <a:lumMod val="50000"/>
              </a:schemeClr>
            </a:solidFill>
          </a:ln>
        </p:spPr>
        <p:txBody>
          <a:bodyPr wrap="square" lIns="36000" tIns="0" rIns="36000" bIns="0" rtlCol="0" anchor="ctr">
            <a:spAutoFit/>
          </a:bodyPr>
          <a:lstStyle/>
          <a:p>
            <a:pPr marL="171450" indent="-171450">
              <a:buFont typeface="Webdings" panose="05030102010509060703" pitchFamily="18" charset="2"/>
              <a:buChar char=")"/>
            </a:pPr>
            <a:r>
              <a:rPr lang="fr-FR" sz="1000" i="1">
                <a:solidFill>
                  <a:schemeClr val="accent6">
                    <a:lumMod val="75000"/>
                  </a:schemeClr>
                </a:solidFill>
                <a:latin typeface="Arial Narrow" panose="020B0606020202030204" pitchFamily="34" charset="0"/>
                <a:sym typeface="Webdings" panose="05030102010509060703" pitchFamily="18" charset="2"/>
              </a:rPr>
              <a:t>Chaque zone est dédiée à un processus, elle peut être agrandie autant que nécessaire (et si nécessaire supprimer les zones plus bas)</a:t>
            </a:r>
          </a:p>
        </p:txBody>
      </p:sp>
      <p:sp>
        <p:nvSpPr>
          <p:cNvPr id="78" name="Rectangle 77">
            <a:extLst>
              <a:ext uri="{FF2B5EF4-FFF2-40B4-BE49-F238E27FC236}">
                <a16:creationId xmlns:a16="http://schemas.microsoft.com/office/drawing/2014/main" id="{EFDBD9CC-F28C-69CF-4A4C-071A0ABAD2FA}"/>
              </a:ext>
            </a:extLst>
          </p:cNvPr>
          <p:cNvSpPr/>
          <p:nvPr>
            <p:custDataLst>
              <p:tags r:id="rId61"/>
            </p:custDataLst>
          </p:nvPr>
        </p:nvSpPr>
        <p:spPr>
          <a:xfrm>
            <a:off x="2473961" y="5245936"/>
            <a:ext cx="6844301" cy="6357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a:solidFill>
                  <a:schemeClr val="accent1"/>
                </a:solidFill>
              </a:rPr>
              <a:t>Scénario 1</a:t>
            </a:r>
          </a:p>
        </p:txBody>
      </p:sp>
      <p:sp>
        <p:nvSpPr>
          <p:cNvPr id="79" name="Rectangle 78">
            <a:extLst>
              <a:ext uri="{FF2B5EF4-FFF2-40B4-BE49-F238E27FC236}">
                <a16:creationId xmlns:a16="http://schemas.microsoft.com/office/drawing/2014/main" id="{F8869116-6164-7F9B-6F6C-3C28AF857411}"/>
              </a:ext>
            </a:extLst>
          </p:cNvPr>
          <p:cNvSpPr/>
          <p:nvPr>
            <p:custDataLst>
              <p:tags r:id="rId62"/>
            </p:custDataLst>
          </p:nvPr>
        </p:nvSpPr>
        <p:spPr>
          <a:xfrm>
            <a:off x="2473961" y="6003580"/>
            <a:ext cx="6844301" cy="6357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a:solidFill>
                  <a:schemeClr val="accent1"/>
                </a:solidFill>
              </a:rPr>
              <a:t>Scénario 2</a:t>
            </a:r>
          </a:p>
        </p:txBody>
      </p:sp>
      <p:sp>
        <p:nvSpPr>
          <p:cNvPr id="80" name="Rectangle 79">
            <a:extLst>
              <a:ext uri="{FF2B5EF4-FFF2-40B4-BE49-F238E27FC236}">
                <a16:creationId xmlns:a16="http://schemas.microsoft.com/office/drawing/2014/main" id="{BB883550-6497-97D8-8324-1BA1D96F6873}"/>
              </a:ext>
            </a:extLst>
          </p:cNvPr>
          <p:cNvSpPr/>
          <p:nvPr>
            <p:custDataLst>
              <p:tags r:id="rId63"/>
            </p:custDataLst>
          </p:nvPr>
        </p:nvSpPr>
        <p:spPr>
          <a:xfrm>
            <a:off x="8577490" y="5406737"/>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E4D58E7C-91D3-AB56-A37B-04DE22E73068}"/>
              </a:ext>
            </a:extLst>
          </p:cNvPr>
          <p:cNvSpPr/>
          <p:nvPr>
            <p:custDataLst>
              <p:tags r:id="rId64"/>
            </p:custDataLst>
          </p:nvPr>
        </p:nvSpPr>
        <p:spPr>
          <a:xfrm>
            <a:off x="3588167" y="5428525"/>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82" name="ZoneTexte 81">
            <a:extLst>
              <a:ext uri="{FF2B5EF4-FFF2-40B4-BE49-F238E27FC236}">
                <a16:creationId xmlns:a16="http://schemas.microsoft.com/office/drawing/2014/main" id="{CA0D80F9-8E47-EB6E-20CE-ACB5FCC1CB47}"/>
              </a:ext>
            </a:extLst>
          </p:cNvPr>
          <p:cNvSpPr txBox="1"/>
          <p:nvPr>
            <p:custDataLst>
              <p:tags r:id="rId65"/>
            </p:custDataLst>
          </p:nvPr>
        </p:nvSpPr>
        <p:spPr>
          <a:xfrm>
            <a:off x="3818635" y="5441367"/>
            <a:ext cx="2138778"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srgbClr val="000000"/>
                </a:solidFill>
                <a:effectLst/>
                <a:uLnTx/>
                <a:uFillTx/>
                <a:latin typeface="Poppins"/>
                <a:ea typeface="+mn-ea"/>
                <a:cs typeface="Calibri"/>
              </a:rPr>
              <a:t>Description fonctionnelle de l’interface</a:t>
            </a:r>
          </a:p>
        </p:txBody>
      </p:sp>
      <p:cxnSp>
        <p:nvCxnSpPr>
          <p:cNvPr id="83" name="Connecteur droit avec flèche 254">
            <a:extLst>
              <a:ext uri="{FF2B5EF4-FFF2-40B4-BE49-F238E27FC236}">
                <a16:creationId xmlns:a16="http://schemas.microsoft.com/office/drawing/2014/main" id="{63A6E897-A2A7-DA56-C654-AD1720A7B8AF}"/>
              </a:ext>
            </a:extLst>
          </p:cNvPr>
          <p:cNvCxnSpPr>
            <a:cxnSpLocks/>
            <a:stCxn id="80" idx="1"/>
          </p:cNvCxnSpPr>
          <p:nvPr>
            <p:custDataLst>
              <p:tags r:id="rId66"/>
            </p:custDataLst>
          </p:nvPr>
        </p:nvCxnSpPr>
        <p:spPr>
          <a:xfrm flipH="1" flipV="1">
            <a:off x="3660167" y="5570837"/>
            <a:ext cx="4917323" cy="1590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1231FAC1-4F38-536B-13B1-C802AE5FACE6}"/>
              </a:ext>
            </a:extLst>
          </p:cNvPr>
          <p:cNvSpPr/>
          <p:nvPr>
            <p:custDataLst>
              <p:tags r:id="rId67"/>
            </p:custDataLst>
          </p:nvPr>
        </p:nvSpPr>
        <p:spPr>
          <a:xfrm>
            <a:off x="8557467" y="6234832"/>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D0EC725F-4C14-A46A-3B2B-4441148386CB}"/>
              </a:ext>
            </a:extLst>
          </p:cNvPr>
          <p:cNvSpPr/>
          <p:nvPr>
            <p:custDataLst>
              <p:tags r:id="rId68"/>
            </p:custDataLst>
          </p:nvPr>
        </p:nvSpPr>
        <p:spPr>
          <a:xfrm>
            <a:off x="4571082" y="6212608"/>
            <a:ext cx="72000" cy="360000"/>
          </a:xfrm>
          <a:prstGeom prst="rect">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rgbClr val="FFFFFF"/>
              </a:solidFill>
              <a:effectLst/>
              <a:uLnTx/>
              <a:uFillTx/>
              <a:latin typeface="Calibri" panose="020F0502020204030204"/>
              <a:ea typeface="+mn-ea"/>
              <a:cs typeface="+mn-cs"/>
            </a:endParaRPr>
          </a:p>
        </p:txBody>
      </p:sp>
      <p:sp>
        <p:nvSpPr>
          <p:cNvPr id="86" name="ZoneTexte 85">
            <a:extLst>
              <a:ext uri="{FF2B5EF4-FFF2-40B4-BE49-F238E27FC236}">
                <a16:creationId xmlns:a16="http://schemas.microsoft.com/office/drawing/2014/main" id="{830ED0FE-DDDD-B721-8F44-851191B2D0E0}"/>
              </a:ext>
            </a:extLst>
          </p:cNvPr>
          <p:cNvSpPr txBox="1"/>
          <p:nvPr>
            <p:custDataLst>
              <p:tags r:id="rId69"/>
            </p:custDataLst>
          </p:nvPr>
        </p:nvSpPr>
        <p:spPr>
          <a:xfrm>
            <a:off x="4801550" y="6225450"/>
            <a:ext cx="2138778"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a:ln>
                  <a:noFill/>
                </a:ln>
                <a:solidFill>
                  <a:srgbClr val="000000"/>
                </a:solidFill>
                <a:effectLst/>
                <a:uLnTx/>
                <a:uFillTx/>
                <a:latin typeface="Poppins"/>
                <a:ea typeface="+mn-ea"/>
                <a:cs typeface="Calibri"/>
              </a:rPr>
              <a:t>Description fonctionnelle de l’interface</a:t>
            </a:r>
          </a:p>
        </p:txBody>
      </p:sp>
      <p:cxnSp>
        <p:nvCxnSpPr>
          <p:cNvPr id="87" name="Connecteur droit avec flèche 254">
            <a:extLst>
              <a:ext uri="{FF2B5EF4-FFF2-40B4-BE49-F238E27FC236}">
                <a16:creationId xmlns:a16="http://schemas.microsoft.com/office/drawing/2014/main" id="{04F076BE-42CD-046F-9F13-FD1D9651914A}"/>
              </a:ext>
            </a:extLst>
          </p:cNvPr>
          <p:cNvCxnSpPr>
            <a:cxnSpLocks/>
          </p:cNvCxnSpPr>
          <p:nvPr>
            <p:custDataLst>
              <p:tags r:id="rId70"/>
            </p:custDataLst>
          </p:nvPr>
        </p:nvCxnSpPr>
        <p:spPr>
          <a:xfrm flipH="1">
            <a:off x="4643082" y="6354920"/>
            <a:ext cx="3888000"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8" name="Rectangle à coins arrondis 10">
            <a:extLst>
              <a:ext uri="{FF2B5EF4-FFF2-40B4-BE49-F238E27FC236}">
                <a16:creationId xmlns:a16="http://schemas.microsoft.com/office/drawing/2014/main" id="{124A42A1-A02B-7293-3918-B61087131385}"/>
              </a:ext>
            </a:extLst>
          </p:cNvPr>
          <p:cNvSpPr/>
          <p:nvPr>
            <p:custDataLst>
              <p:tags r:id="rId71"/>
            </p:custDataLst>
          </p:nvPr>
        </p:nvSpPr>
        <p:spPr>
          <a:xfrm>
            <a:off x="9574748" y="5255959"/>
            <a:ext cx="2371974" cy="510778"/>
          </a:xfrm>
          <a:prstGeom prst="wedgeRoundRectCallout">
            <a:avLst>
              <a:gd name="adj1" fmla="val -73078"/>
              <a:gd name="adj2" fmla="val 31511"/>
              <a:gd name="adj3" fmla="val 16667"/>
            </a:avLst>
          </a:prstGeom>
          <a:solidFill>
            <a:schemeClr val="bg1">
              <a:alpha val="85000"/>
            </a:schemeClr>
          </a:solidFill>
          <a:ln w="12700">
            <a:solidFill>
              <a:schemeClr val="accent2">
                <a:lumMod val="50000"/>
              </a:schemeClr>
            </a:solidFill>
          </a:ln>
        </p:spPr>
        <p:txBody>
          <a:bodyPr wrap="square" lIns="36000" tIns="0" rIns="36000" bIns="0" rtlCol="0" anchor="ctr">
            <a:spAutoFit/>
          </a:bodyPr>
          <a:lstStyle/>
          <a:p>
            <a:pPr marL="171450" indent="-171450">
              <a:buFont typeface="Webdings" panose="05030102010509060703" pitchFamily="18" charset="2"/>
              <a:buChar char=")"/>
            </a:pPr>
            <a:r>
              <a:rPr lang="fr-FR" sz="1000" i="1">
                <a:solidFill>
                  <a:schemeClr val="accent6">
                    <a:lumMod val="75000"/>
                  </a:schemeClr>
                </a:solidFill>
                <a:latin typeface="Arial Narrow" panose="020B0606020202030204" pitchFamily="34" charset="0"/>
                <a:sym typeface="Webdings" panose="05030102010509060703" pitchFamily="18" charset="2"/>
              </a:rPr>
              <a:t>Il est possible de diviser partiellement un processus en deux pour afficher les subtilités entre les scénarios.</a:t>
            </a:r>
          </a:p>
        </p:txBody>
      </p:sp>
    </p:spTree>
    <p:extLst>
      <p:ext uri="{BB962C8B-B14F-4D97-AF65-F5344CB8AC3E}">
        <p14:creationId xmlns:p14="http://schemas.microsoft.com/office/powerpoint/2010/main" val="27835647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49</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a:t>Architecture logique urbanisée</a:t>
            </a: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endParaRPr lang="fr-FR"/>
          </a:p>
        </p:txBody>
      </p:sp>
      <p:sp>
        <p:nvSpPr>
          <p:cNvPr id="65" name="Rectangle : coins arrondis 64">
            <a:extLst>
              <a:ext uri="{FF2B5EF4-FFF2-40B4-BE49-F238E27FC236}">
                <a16:creationId xmlns:a16="http://schemas.microsoft.com/office/drawing/2014/main" id="{14201668-FEAD-0D17-B450-23AA3EAABF4B}"/>
              </a:ext>
            </a:extLst>
          </p:cNvPr>
          <p:cNvSpPr/>
          <p:nvPr/>
        </p:nvSpPr>
        <p:spPr>
          <a:xfrm>
            <a:off x="1710449" y="2023333"/>
            <a:ext cx="9092055" cy="3600450"/>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fr-FR"/>
              <a:t>Schéma d’architecture sous un format standardisé entre les architectes BYCN</a:t>
            </a:r>
          </a:p>
          <a:p>
            <a:pPr algn="ctr"/>
            <a:r>
              <a:rPr lang="fr-FR"/>
              <a:t>(travaux en cours par l’équipe d’architecture)</a:t>
            </a:r>
          </a:p>
        </p:txBody>
      </p:sp>
    </p:spTree>
    <p:extLst>
      <p:ext uri="{BB962C8B-B14F-4D97-AF65-F5344CB8AC3E}">
        <p14:creationId xmlns:p14="http://schemas.microsoft.com/office/powerpoint/2010/main" val="5174550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D0DFA-AEBD-823C-1B04-5BD7A98CC53B}"/>
              </a:ext>
            </a:extLst>
          </p:cNvPr>
          <p:cNvSpPr>
            <a:spLocks noGrp="1"/>
          </p:cNvSpPr>
          <p:nvPr>
            <p:ph type="title"/>
          </p:nvPr>
        </p:nvSpPr>
        <p:spPr>
          <a:xfrm>
            <a:off x="537575" y="849535"/>
            <a:ext cx="11086578" cy="535531"/>
          </a:xfrm>
        </p:spPr>
        <p:txBody>
          <a:bodyPr/>
          <a:lstStyle/>
          <a:p>
            <a:r>
              <a:rPr lang="fr-FR" sz="3200" b="1"/>
              <a:t>Architectural Scenario </a:t>
            </a:r>
            <a:r>
              <a:rPr lang="en-GB" sz="3200" b="1"/>
              <a:t>summary</a:t>
            </a:r>
          </a:p>
        </p:txBody>
      </p:sp>
      <p:sp>
        <p:nvSpPr>
          <p:cNvPr id="3" name="Espace réservé de la date 2">
            <a:extLst>
              <a:ext uri="{FF2B5EF4-FFF2-40B4-BE49-F238E27FC236}">
                <a16:creationId xmlns:a16="http://schemas.microsoft.com/office/drawing/2014/main" id="{FB899A66-B396-880B-EAF4-AACCD6476203}"/>
              </a:ext>
            </a:extLst>
          </p:cNvPr>
          <p:cNvSpPr>
            <a:spLocks noGrp="1"/>
          </p:cNvSpPr>
          <p:nvPr>
            <p:ph type="dt" sz="half" idx="10"/>
          </p:nvPr>
        </p:nvSpPr>
        <p:spPr/>
        <p:txBody>
          <a:bodyPr/>
          <a:lstStyle/>
          <a:p>
            <a:r>
              <a:rPr lang="fr-FR"/>
              <a:t>Juin 2024</a:t>
            </a:r>
          </a:p>
        </p:txBody>
      </p:sp>
      <p:sp>
        <p:nvSpPr>
          <p:cNvPr id="4" name="Espace réservé du pied de page 3">
            <a:extLst>
              <a:ext uri="{FF2B5EF4-FFF2-40B4-BE49-F238E27FC236}">
                <a16:creationId xmlns:a16="http://schemas.microsoft.com/office/drawing/2014/main" id="{CC1A4C13-70BA-7B3B-8CF4-D3EE37F6B4A3}"/>
              </a:ext>
            </a:extLst>
          </p:cNvPr>
          <p:cNvSpPr>
            <a:spLocks noGrp="1"/>
          </p:cNvSpPr>
          <p:nvPr>
            <p:ph type="ftr" sz="quarter" idx="11"/>
          </p:nvPr>
        </p:nvSpPr>
        <p:spPr/>
        <p:txBody>
          <a:bodyPr/>
          <a:lstStyle/>
          <a:p>
            <a:r>
              <a:rPr lang="fr-FR"/>
              <a:t>BOUYGUES CONSTRUCTION | </a:t>
            </a:r>
          </a:p>
        </p:txBody>
      </p:sp>
      <p:sp>
        <p:nvSpPr>
          <p:cNvPr id="5" name="Espace réservé du numéro de diapositive 4">
            <a:extLst>
              <a:ext uri="{FF2B5EF4-FFF2-40B4-BE49-F238E27FC236}">
                <a16:creationId xmlns:a16="http://schemas.microsoft.com/office/drawing/2014/main" id="{11CA0C56-5033-0292-49B8-50796A50D8F5}"/>
              </a:ext>
            </a:extLst>
          </p:cNvPr>
          <p:cNvSpPr>
            <a:spLocks noGrp="1"/>
          </p:cNvSpPr>
          <p:nvPr>
            <p:ph type="sldNum" sz="quarter" idx="12"/>
          </p:nvPr>
        </p:nvSpPr>
        <p:spPr/>
        <p:txBody>
          <a:bodyPr/>
          <a:lstStyle/>
          <a:p>
            <a:fld id="{CD166EB1-B284-8541-B839-321F682B6B05}" type="slidenum">
              <a:rPr lang="fr-FR" smtClean="0"/>
              <a:pPr/>
              <a:t>50</a:t>
            </a:fld>
            <a:endParaRPr lang="fr-FR"/>
          </a:p>
        </p:txBody>
      </p:sp>
      <p:sp>
        <p:nvSpPr>
          <p:cNvPr id="6" name="Espace réservé du texte 5">
            <a:extLst>
              <a:ext uri="{FF2B5EF4-FFF2-40B4-BE49-F238E27FC236}">
                <a16:creationId xmlns:a16="http://schemas.microsoft.com/office/drawing/2014/main" id="{84BD60FC-C0F0-DDE8-E466-CF9C9E58AF52}"/>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889D77D4-8406-283A-CDCF-AAF639D76581}"/>
              </a:ext>
            </a:extLst>
          </p:cNvPr>
          <p:cNvSpPr>
            <a:spLocks noGrp="1"/>
          </p:cNvSpPr>
          <p:nvPr>
            <p:ph type="body" sz="quarter" idx="30"/>
          </p:nvPr>
        </p:nvSpPr>
        <p:spPr/>
        <p:txBody>
          <a:bodyPr/>
          <a:lstStyle/>
          <a:p>
            <a:endParaRPr lang="fr-FR"/>
          </a:p>
        </p:txBody>
      </p:sp>
      <p:graphicFrame>
        <p:nvGraphicFramePr>
          <p:cNvPr id="13" name="Tableau 3">
            <a:extLst>
              <a:ext uri="{FF2B5EF4-FFF2-40B4-BE49-F238E27FC236}">
                <a16:creationId xmlns:a16="http://schemas.microsoft.com/office/drawing/2014/main" id="{BF55EC0A-1AED-D5B0-5667-924D50473433}"/>
              </a:ext>
            </a:extLst>
          </p:cNvPr>
          <p:cNvGraphicFramePr>
            <a:graphicFrameLocks noGrp="1"/>
          </p:cNvGraphicFramePr>
          <p:nvPr>
            <p:custDataLst>
              <p:tags r:id="rId1"/>
            </p:custDataLst>
            <p:extLst>
              <p:ext uri="{D42A27DB-BD31-4B8C-83A1-F6EECF244321}">
                <p14:modId xmlns:p14="http://schemas.microsoft.com/office/powerpoint/2010/main" val="566732096"/>
              </p:ext>
            </p:extLst>
          </p:nvPr>
        </p:nvGraphicFramePr>
        <p:xfrm>
          <a:off x="278027" y="1313309"/>
          <a:ext cx="11406949" cy="5154166"/>
        </p:xfrm>
        <a:graphic>
          <a:graphicData uri="http://schemas.openxmlformats.org/drawingml/2006/table">
            <a:tbl>
              <a:tblPr firstRow="1" firstCol="1" bandRow="1">
                <a:tableStyleId>{5C22544A-7EE6-4342-B048-85BDC9FD1C3A}</a:tableStyleId>
              </a:tblPr>
              <a:tblGrid>
                <a:gridCol w="1229497">
                  <a:extLst>
                    <a:ext uri="{9D8B030D-6E8A-4147-A177-3AD203B41FA5}">
                      <a16:colId xmlns:a16="http://schemas.microsoft.com/office/drawing/2014/main" val="1701024074"/>
                    </a:ext>
                  </a:extLst>
                </a:gridCol>
                <a:gridCol w="3392484">
                  <a:extLst>
                    <a:ext uri="{9D8B030D-6E8A-4147-A177-3AD203B41FA5}">
                      <a16:colId xmlns:a16="http://schemas.microsoft.com/office/drawing/2014/main" val="1224835592"/>
                    </a:ext>
                  </a:extLst>
                </a:gridCol>
                <a:gridCol w="3392484">
                  <a:extLst>
                    <a:ext uri="{9D8B030D-6E8A-4147-A177-3AD203B41FA5}">
                      <a16:colId xmlns:a16="http://schemas.microsoft.com/office/drawing/2014/main" val="3006677995"/>
                    </a:ext>
                  </a:extLst>
                </a:gridCol>
                <a:gridCol w="1696242">
                  <a:extLst>
                    <a:ext uri="{9D8B030D-6E8A-4147-A177-3AD203B41FA5}">
                      <a16:colId xmlns:a16="http://schemas.microsoft.com/office/drawing/2014/main" val="2900948006"/>
                    </a:ext>
                  </a:extLst>
                </a:gridCol>
                <a:gridCol w="1696242">
                  <a:extLst>
                    <a:ext uri="{9D8B030D-6E8A-4147-A177-3AD203B41FA5}">
                      <a16:colId xmlns:a16="http://schemas.microsoft.com/office/drawing/2014/main" val="2263398244"/>
                    </a:ext>
                  </a:extLst>
                </a:gridCol>
              </a:tblGrid>
              <a:tr h="306222">
                <a:tc rowSpan="2">
                  <a:txBody>
                    <a:bodyPr/>
                    <a:lstStyle/>
                    <a:p>
                      <a:pPr algn="ctr"/>
                      <a:r>
                        <a:rPr lang="fr-FR" sz="1000"/>
                        <a:t>Scénario d’évolution (*)</a:t>
                      </a:r>
                    </a:p>
                  </a:txBody>
                  <a:tcPr anchor="ctr"/>
                </a:tc>
                <a:tc rowSpan="2">
                  <a:txBody>
                    <a:bodyPr/>
                    <a:lstStyle/>
                    <a:p>
                      <a:pPr algn="ctr"/>
                      <a:r>
                        <a:rPr lang="fr-FR" sz="1400"/>
                        <a:t>Scénario 1</a:t>
                      </a:r>
                    </a:p>
                    <a:p>
                      <a:pPr algn="ctr"/>
                      <a:r>
                        <a:rPr lang="fr-FR" sz="1400" b="0">
                          <a:latin typeface="Arial" pitchFamily="34" charset="0"/>
                        </a:rPr>
                        <a:t>Libellé du scénario 1</a:t>
                      </a:r>
                      <a:endParaRPr lang="fr-FR" sz="1400" b="0"/>
                    </a:p>
                  </a:txBody>
                  <a:tcPr anchor="ctr"/>
                </a:tc>
                <a:tc rowSpan="2">
                  <a:txBody>
                    <a:bodyPr/>
                    <a:lstStyle/>
                    <a:p>
                      <a:pPr algn="ctr"/>
                      <a:r>
                        <a:rPr lang="fr-FR" sz="1400"/>
                        <a:t>Scénario 2</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400" b="0">
                          <a:latin typeface="Arial" pitchFamily="34" charset="0"/>
                        </a:rPr>
                        <a:t>Libellé du scénario 2</a:t>
                      </a:r>
                      <a:endParaRPr lang="fr-FR" sz="1400" b="0"/>
                    </a:p>
                  </a:txBody>
                  <a:tcPr anchor="ctr"/>
                </a:tc>
                <a:tc gridSpan="2">
                  <a:txBody>
                    <a:bodyPr/>
                    <a:lstStyle/>
                    <a:p>
                      <a:pPr algn="ctr"/>
                      <a:r>
                        <a:rPr lang="fr-FR" sz="1400"/>
                        <a:t>Scénario 3</a:t>
                      </a:r>
                    </a:p>
                  </a:txBody>
                  <a:tcPr anchor="ctr"/>
                </a:tc>
                <a:tc hMerge="1">
                  <a:txBody>
                    <a:bodyPr/>
                    <a:lstStyle/>
                    <a:p>
                      <a:endParaRPr lang="fr-FR"/>
                    </a:p>
                  </a:txBody>
                  <a:tcPr/>
                </a:tc>
                <a:extLst>
                  <a:ext uri="{0D108BD9-81ED-4DB2-BD59-A6C34878D82A}">
                    <a16:rowId xmlns:a16="http://schemas.microsoft.com/office/drawing/2014/main" val="57534750"/>
                  </a:ext>
                </a:extLst>
              </a:tr>
              <a:tr h="398088">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ctr"/>
                      <a:r>
                        <a:rPr lang="fr-FR" sz="1000" b="1" kern="1200" baseline="0">
                          <a:solidFill>
                            <a:schemeClr val="bg1"/>
                          </a:solidFill>
                          <a:latin typeface="+mn-lt"/>
                          <a:ea typeface="+mn-ea"/>
                          <a:cs typeface="+mn-cs"/>
                        </a:rPr>
                        <a:t>Variante 3.a</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 </a:t>
                      </a:r>
                      <a:endParaRPr lang="fr-FR" sz="1000">
                        <a:solidFill>
                          <a:schemeClr val="bg1"/>
                        </a:solidFill>
                      </a:endParaRPr>
                    </a:p>
                  </a:txBody>
                  <a:tcPr anchor="ctr">
                    <a:solidFill>
                      <a:schemeClr val="accent1"/>
                    </a:solidFill>
                  </a:tcPr>
                </a:tc>
                <a:tc>
                  <a:txBody>
                    <a:bodyPr/>
                    <a:lstStyle/>
                    <a:p>
                      <a:pPr algn="ctr"/>
                      <a:r>
                        <a:rPr lang="fr-FR" sz="1000" b="1" kern="1200" baseline="0">
                          <a:solidFill>
                            <a:schemeClr val="bg1"/>
                          </a:solidFill>
                          <a:latin typeface="+mn-lt"/>
                          <a:ea typeface="+mn-ea"/>
                          <a:cs typeface="+mn-cs"/>
                        </a:rPr>
                        <a:t>Variante 3.b</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a:t>
                      </a:r>
                      <a:endParaRPr lang="fr-FR" sz="1000">
                        <a:solidFill>
                          <a:schemeClr val="bg1"/>
                        </a:solidFill>
                      </a:endParaRPr>
                    </a:p>
                  </a:txBody>
                  <a:tcPr anchor="ctr">
                    <a:solidFill>
                      <a:schemeClr val="accent1"/>
                    </a:solidFill>
                  </a:tcPr>
                </a:tc>
                <a:extLst>
                  <a:ext uri="{0D108BD9-81ED-4DB2-BD59-A6C34878D82A}">
                    <a16:rowId xmlns:a16="http://schemas.microsoft.com/office/drawing/2014/main" val="94341970"/>
                  </a:ext>
                </a:extLst>
              </a:tr>
              <a:tr h="556232">
                <a:tc>
                  <a:txBody>
                    <a:bodyPr/>
                    <a:lstStyle/>
                    <a:p>
                      <a:pPr algn="ctr"/>
                      <a:r>
                        <a:rPr lang="fr-FR" sz="1000" b="1" i="0" kern="1200">
                          <a:solidFill>
                            <a:schemeClr val="bg1"/>
                          </a:solidFill>
                          <a:latin typeface="+mn-lt"/>
                          <a:ea typeface="+mn-ea"/>
                          <a:cs typeface="+mn-cs"/>
                        </a:rPr>
                        <a:t>Couverture</a:t>
                      </a:r>
                      <a:r>
                        <a:rPr lang="fr-FR" sz="1000" b="1" i="0" kern="1200" baseline="0">
                          <a:solidFill>
                            <a:schemeClr val="bg1"/>
                          </a:solidFill>
                          <a:latin typeface="+mn-lt"/>
                          <a:ea typeface="+mn-ea"/>
                          <a:cs typeface="+mn-cs"/>
                        </a:rPr>
                        <a:t> des besoins </a:t>
                      </a:r>
                      <a:endParaRPr lang="fr-FR" sz="1000" b="1" i="0" kern="1200">
                        <a:solidFill>
                          <a:schemeClr val="bg1"/>
                        </a:solidFill>
                        <a:latin typeface="+mn-lt"/>
                        <a:ea typeface="+mn-ea"/>
                        <a:cs typeface="+mn-cs"/>
                      </a:endParaRPr>
                    </a:p>
                  </a:txBody>
                  <a:tcPr anchor="ctr"/>
                </a:tc>
                <a:tc>
                  <a:txBody>
                    <a:bodyPr/>
                    <a:lstStyle/>
                    <a:p>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560918172"/>
                  </a:ext>
                </a:extLst>
              </a:tr>
              <a:tr h="556232">
                <a:tc>
                  <a:txBody>
                    <a:bodyPr/>
                    <a:lstStyle/>
                    <a:p>
                      <a:pPr algn="ctr"/>
                      <a:r>
                        <a:rPr lang="fr-FR" sz="1000" b="1" i="0" kern="1200">
                          <a:solidFill>
                            <a:schemeClr val="bg1"/>
                          </a:solidFill>
                          <a:latin typeface="+mn-lt"/>
                          <a:ea typeface="+mn-ea"/>
                          <a:cs typeface="+mn-cs"/>
                        </a:rPr>
                        <a:t>Coûts</a:t>
                      </a:r>
                    </a:p>
                  </a:txBody>
                  <a:tcPr anchor="ctr"/>
                </a:tc>
                <a:tc>
                  <a:txBody>
                    <a:bodyPr/>
                    <a:lstStyle/>
                    <a:p>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4031143553"/>
                  </a:ext>
                </a:extLst>
              </a:tr>
              <a:tr h="556232">
                <a:tc>
                  <a:txBody>
                    <a:bodyPr/>
                    <a:lstStyle/>
                    <a:p>
                      <a:pPr algn="ctr"/>
                      <a:r>
                        <a:rPr lang="fr-FR" sz="1000" b="1" i="0" kern="1200">
                          <a:solidFill>
                            <a:schemeClr val="bg1"/>
                          </a:solidFill>
                          <a:latin typeface="+mn-lt"/>
                          <a:ea typeface="+mn-ea"/>
                          <a:cs typeface="+mn-cs"/>
                        </a:rPr>
                        <a:t>Temps de mise en place</a:t>
                      </a:r>
                    </a:p>
                  </a:txBody>
                  <a:tcPr anchor="ctr"/>
                </a:tc>
                <a:tc>
                  <a:txBody>
                    <a:bodyPr/>
                    <a:lstStyle/>
                    <a:p>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918903826"/>
                  </a:ext>
                </a:extLst>
              </a:tr>
              <a:tr h="556232">
                <a:tc>
                  <a:txBody>
                    <a:bodyPr/>
                    <a:lstStyle/>
                    <a:p>
                      <a:pPr algn="ctr"/>
                      <a:r>
                        <a:rPr lang="fr-FR" sz="1000" b="1" i="0" kern="1200">
                          <a:solidFill>
                            <a:schemeClr val="bg1"/>
                          </a:solidFill>
                          <a:latin typeface="+mn-lt"/>
                          <a:ea typeface="+mn-ea"/>
                          <a:cs typeface="+mn-cs"/>
                        </a:rPr>
                        <a:t>Urbanisation et </a:t>
                      </a:r>
                    </a:p>
                    <a:p>
                      <a:pPr algn="ctr"/>
                      <a:r>
                        <a:rPr lang="fr-FR" sz="1000" b="1" i="0" kern="1200">
                          <a:solidFill>
                            <a:schemeClr val="bg1"/>
                          </a:solidFill>
                          <a:latin typeface="+mn-lt"/>
                          <a:ea typeface="+mn-ea"/>
                          <a:cs typeface="+mn-cs"/>
                        </a:rPr>
                        <a:t>Architecture</a:t>
                      </a:r>
                    </a:p>
                  </a:txBody>
                  <a:tcPr anchor="ctr"/>
                </a:tc>
                <a:tc>
                  <a:txBody>
                    <a:bodyPr/>
                    <a:lstStyle/>
                    <a:p>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2505225186"/>
                  </a:ext>
                </a:extLst>
              </a:tr>
              <a:tr h="556232">
                <a:tc>
                  <a:txBody>
                    <a:bodyPr/>
                    <a:lstStyle/>
                    <a:p>
                      <a:pPr algn="ctr"/>
                      <a:r>
                        <a:rPr lang="fr-FR" sz="1000" b="1" i="0" kern="1200">
                          <a:solidFill>
                            <a:schemeClr val="bg1"/>
                          </a:solidFill>
                          <a:latin typeface="+mn-lt"/>
                          <a:ea typeface="+mn-ea"/>
                          <a:cs typeface="+mn-cs"/>
                        </a:rPr>
                        <a:t>Impacts</a:t>
                      </a:r>
                      <a:endParaRPr lang="fr-FR" sz="1000" b="1" i="0" kern="1200" baseline="0">
                        <a:solidFill>
                          <a:schemeClr val="bg1"/>
                        </a:solidFill>
                        <a:latin typeface="+mn-lt"/>
                        <a:ea typeface="+mn-ea"/>
                        <a:cs typeface="+mn-cs"/>
                      </a:endParaRPr>
                    </a:p>
                  </a:txBody>
                  <a:tcPr anchor="ctr"/>
                </a:tc>
                <a:tc>
                  <a:txBody>
                    <a:bodyPr/>
                    <a:lstStyle/>
                    <a:p>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822166264"/>
                  </a:ext>
                </a:extLst>
              </a:tr>
              <a:tr h="556232">
                <a:tc>
                  <a:txBody>
                    <a:bodyPr/>
                    <a:lstStyle/>
                    <a:p>
                      <a:pPr algn="ctr"/>
                      <a:r>
                        <a:rPr lang="fr-FR" sz="1000" b="1" i="0" kern="1200">
                          <a:solidFill>
                            <a:schemeClr val="bg1"/>
                          </a:solidFill>
                          <a:latin typeface="+mn-lt"/>
                          <a:ea typeface="+mn-ea"/>
                          <a:cs typeface="+mn-cs"/>
                        </a:rPr>
                        <a:t>Gains espérés</a:t>
                      </a:r>
                    </a:p>
                  </a:txBody>
                  <a:tcPr anchor="ctr"/>
                </a:tc>
                <a:tc>
                  <a:txBody>
                    <a:bodyPr/>
                    <a:lstStyle/>
                    <a:p>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1204684916"/>
                  </a:ext>
                </a:extLst>
              </a:tr>
              <a:tr h="556232">
                <a:tc>
                  <a:txBody>
                    <a:bodyPr/>
                    <a:lstStyle/>
                    <a:p>
                      <a:pPr algn="ctr"/>
                      <a:r>
                        <a:rPr lang="fr-FR" sz="1000" b="1" i="0" kern="1200">
                          <a:solidFill>
                            <a:schemeClr val="bg1"/>
                          </a:solidFill>
                          <a:latin typeface="+mn-lt"/>
                          <a:ea typeface="+mn-ea"/>
                          <a:cs typeface="+mn-cs"/>
                        </a:rPr>
                        <a:t>Risques (probabilité, gravité)</a:t>
                      </a:r>
                    </a:p>
                  </a:txBody>
                  <a:tcPr anchor="ctr"/>
                </a:tc>
                <a:tc>
                  <a:txBody>
                    <a:bodyPr/>
                    <a:lstStyle/>
                    <a:p>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3287069577"/>
                  </a:ext>
                </a:extLst>
              </a:tr>
              <a:tr h="556232">
                <a:tc>
                  <a:txBody>
                    <a:bodyPr/>
                    <a:lstStyle/>
                    <a:p>
                      <a:pPr algn="ctr"/>
                      <a:r>
                        <a:rPr lang="fr-FR" sz="1000" b="1" i="0" kern="1200">
                          <a:solidFill>
                            <a:schemeClr val="bg1"/>
                          </a:solidFill>
                          <a:latin typeface="+mn-lt"/>
                          <a:ea typeface="+mn-ea"/>
                          <a:cs typeface="+mn-cs"/>
                        </a:rPr>
                        <a:t>Prérequis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i="0"/>
                    </a:p>
                  </a:txBody>
                  <a:tcPr anchor="ctr"/>
                </a:tc>
                <a:tc>
                  <a:txBody>
                    <a:bodyPr/>
                    <a:lstStyle/>
                    <a:p>
                      <a:pPr algn="l"/>
                      <a:endParaRPr lang="fr-FR" i="0"/>
                    </a:p>
                  </a:txBody>
                  <a:tcPr anchor="ctr"/>
                </a:tc>
                <a:tc gridSpan="2">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440746152"/>
                  </a:ext>
                </a:extLst>
              </a:tr>
            </a:tbl>
          </a:graphicData>
        </a:graphic>
      </p:graphicFrame>
      <p:sp>
        <p:nvSpPr>
          <p:cNvPr id="14" name="ZoneTexte 13">
            <a:extLst>
              <a:ext uri="{FF2B5EF4-FFF2-40B4-BE49-F238E27FC236}">
                <a16:creationId xmlns:a16="http://schemas.microsoft.com/office/drawing/2014/main" id="{583E621C-87B1-918A-CF10-C25D7056D26F}"/>
              </a:ext>
            </a:extLst>
          </p:cNvPr>
          <p:cNvSpPr txBox="1"/>
          <p:nvPr>
            <p:custDataLst>
              <p:tags r:id="rId2"/>
            </p:custDataLst>
          </p:nvPr>
        </p:nvSpPr>
        <p:spPr>
          <a:xfrm rot="16200000">
            <a:off x="-2062823" y="4184039"/>
            <a:ext cx="4435477" cy="246221"/>
          </a:xfrm>
          <a:prstGeom prst="rect">
            <a:avLst/>
          </a:prstGeom>
          <a:noFill/>
        </p:spPr>
        <p:txBody>
          <a:bodyPr wrap="square">
            <a:spAutoFit/>
          </a:bodyPr>
          <a:lstStyle/>
          <a:p>
            <a:pPr algn="ctr"/>
            <a:r>
              <a:rPr lang="fr-FR" sz="1000"/>
              <a:t>Critères de choix de scénario d’architecture SI </a:t>
            </a:r>
          </a:p>
        </p:txBody>
      </p:sp>
      <p:sp>
        <p:nvSpPr>
          <p:cNvPr id="15" name="ZoneTexte 14">
            <a:extLst>
              <a:ext uri="{FF2B5EF4-FFF2-40B4-BE49-F238E27FC236}">
                <a16:creationId xmlns:a16="http://schemas.microsoft.com/office/drawing/2014/main" id="{44349641-0FCF-B266-0B70-1457550DD879}"/>
              </a:ext>
            </a:extLst>
          </p:cNvPr>
          <p:cNvSpPr txBox="1"/>
          <p:nvPr>
            <p:custDataLst>
              <p:tags r:id="rId3"/>
            </p:custDataLst>
          </p:nvPr>
        </p:nvSpPr>
        <p:spPr>
          <a:xfrm>
            <a:off x="6629307" y="2363653"/>
            <a:ext cx="4914039" cy="2713172"/>
          </a:xfrm>
          <a:prstGeom prst="rect">
            <a:avLst/>
          </a:prstGeom>
          <a:solidFill>
            <a:schemeClr val="bg1">
              <a:alpha val="85000"/>
            </a:schemeClr>
          </a:solidFill>
        </p:spPr>
        <p:txBody>
          <a:bodyPr wrap="square" rtlCol="0" anchor="ctr">
            <a:noAutofit/>
          </a:bodyPr>
          <a:lstStyle/>
          <a:p>
            <a:r>
              <a:rPr lang="fr-FR" sz="1200">
                <a:solidFill>
                  <a:schemeClr val="accent6">
                    <a:lumMod val="75000"/>
                  </a:schemeClr>
                </a:solidFill>
                <a:latin typeface="Segoe UI Symbol" panose="020B0502040204020203" pitchFamily="34" charset="0"/>
                <a:ea typeface="Segoe UI Symbol" panose="020B0502040204020203" pitchFamily="34" charset="0"/>
                <a:sym typeface="Webdings" panose="05030102010509060703" pitchFamily="18" charset="2"/>
              </a:rPr>
              <a:t> </a:t>
            </a:r>
            <a:r>
              <a:rPr lang="fr-FR" sz="1000" b="1">
                <a:solidFill>
                  <a:schemeClr val="accent6">
                    <a:lumMod val="75000"/>
                  </a:schemeClr>
                </a:solidFill>
              </a:rPr>
              <a:t>Aide</a:t>
            </a:r>
          </a:p>
          <a:p>
            <a:r>
              <a:rPr lang="fr-FR" sz="900" i="1">
                <a:solidFill>
                  <a:schemeClr val="accent6">
                    <a:lumMod val="75000"/>
                  </a:schemeClr>
                </a:solidFill>
              </a:rPr>
              <a:t>Dans ce chapitre on compare les scénarios selon les axes des besoins, des coûts, des délais, des gains espérés, des impacts, des risques et aussi sur la pertinence en termes d’urbanisation et d’architecture. Les prérequis, quand nécessaires, sont également indiqués.</a:t>
            </a:r>
          </a:p>
          <a:p>
            <a:pPr marL="171450" indent="-171450">
              <a:buFont typeface="Arial" panose="020B0604020202020204" pitchFamily="34" charset="0"/>
              <a:buChar char="•"/>
            </a:pPr>
            <a:r>
              <a:rPr lang="fr-FR" sz="900" i="1">
                <a:solidFill>
                  <a:schemeClr val="accent6">
                    <a:lumMod val="75000"/>
                  </a:schemeClr>
                </a:solidFill>
              </a:rPr>
              <a:t>Les variantes des scénarios sont regroupées dans la représentation.</a:t>
            </a:r>
          </a:p>
          <a:p>
            <a:pPr marL="171450" indent="-171450">
              <a:buFont typeface="Arial" panose="020B0604020202020204" pitchFamily="34" charset="0"/>
              <a:buChar char="•"/>
            </a:pPr>
            <a:r>
              <a:rPr lang="fr-FR" sz="900" i="1">
                <a:solidFill>
                  <a:schemeClr val="accent6">
                    <a:lumMod val="75000"/>
                  </a:schemeClr>
                </a:solidFill>
              </a:rPr>
              <a:t>Lorsque l’on remplit les cases, on indique par (+) ou (-) s’il s’agit d’un point positif ou négatif. Sauf pour la case « Impacts » où il s’agit uniquement d’une liste.</a:t>
            </a:r>
          </a:p>
          <a:p>
            <a:pPr marL="171450" indent="-171450">
              <a:buFont typeface="Arial" panose="020B0604020202020204" pitchFamily="34" charset="0"/>
              <a:buChar char="•"/>
            </a:pPr>
            <a:r>
              <a:rPr lang="fr-FR" sz="900" i="1">
                <a:solidFill>
                  <a:schemeClr val="accent6">
                    <a:lumMod val="75000"/>
                  </a:schemeClr>
                </a:solidFill>
              </a:rPr>
              <a:t>On colorie les cases en rouge, orange et vert pour éclairer la comparaison des scénarios. Voir l’exemple slide suivant.</a:t>
            </a:r>
          </a:p>
          <a:p>
            <a:pPr marL="171450" indent="-171450">
              <a:buFont typeface="Arial" panose="020B0604020202020204" pitchFamily="34" charset="0"/>
              <a:buChar char="•"/>
            </a:pPr>
            <a:r>
              <a:rPr lang="fr-FR" sz="900" i="1">
                <a:solidFill>
                  <a:schemeClr val="accent6">
                    <a:lumMod val="75000"/>
                  </a:schemeClr>
                </a:solidFill>
              </a:rPr>
              <a:t>La ligne « Urbanisation et architecture » est à remplir par l’architecte.</a:t>
            </a:r>
          </a:p>
          <a:p>
            <a:pPr marL="171450" indent="-171450">
              <a:buFont typeface="Arial" panose="020B0604020202020204" pitchFamily="34" charset="0"/>
              <a:buChar char="•"/>
            </a:pPr>
            <a:r>
              <a:rPr lang="fr-FR" sz="900" i="1">
                <a:solidFill>
                  <a:schemeClr val="accent6">
                    <a:lumMod val="75000"/>
                  </a:schemeClr>
                </a:solidFill>
              </a:rPr>
              <a:t>L’ensemble des scénarios proposés par l’équipe projet et/ou les fonctions transverses doivent être évalués. Un scénario peut ne plus être évalué si accord de l’ensemble des parties prenantes. </a:t>
            </a:r>
          </a:p>
          <a:p>
            <a:pPr marL="171450" indent="-171450">
              <a:buFont typeface="Arial" panose="020B0604020202020204" pitchFamily="34" charset="0"/>
              <a:buChar char="•"/>
            </a:pPr>
            <a:r>
              <a:rPr lang="fr-FR" sz="900" i="1">
                <a:solidFill>
                  <a:schemeClr val="accent6">
                    <a:lumMod val="75000"/>
                  </a:schemeClr>
                </a:solidFill>
              </a:rPr>
              <a:t>L’équipe architecture préconise un ou plusieurs scénarios qui seront encadrés en bleu.</a:t>
            </a:r>
          </a:p>
          <a:p>
            <a:pPr marL="171450" indent="-171450">
              <a:buFont typeface="Arial" panose="020B0604020202020204" pitchFamily="34" charset="0"/>
              <a:buChar char="•"/>
            </a:pPr>
            <a:r>
              <a:rPr lang="fr-FR" sz="900" i="1">
                <a:solidFill>
                  <a:schemeClr val="accent6">
                    <a:lumMod val="75000"/>
                  </a:schemeClr>
                </a:solidFill>
              </a:rPr>
              <a:t>L’équipe projet pourra préconiser un scénario qui serait encadré en vert.</a:t>
            </a:r>
          </a:p>
          <a:p>
            <a:pPr marL="171450" indent="-171450">
              <a:buFont typeface="Arial" panose="020B0604020202020204" pitchFamily="34" charset="0"/>
              <a:buChar char="•"/>
            </a:pPr>
            <a:r>
              <a:rPr lang="fr-FR" sz="900" i="1">
                <a:solidFill>
                  <a:schemeClr val="accent6">
                    <a:lumMod val="75000"/>
                  </a:schemeClr>
                </a:solidFill>
              </a:rPr>
              <a:t>L’étude devra être présentée en comité d’architecture.</a:t>
            </a:r>
          </a:p>
          <a:p>
            <a:pPr marL="171450" indent="-171450">
              <a:buFont typeface="Arial" panose="020B0604020202020204" pitchFamily="34" charset="0"/>
              <a:buChar char="•"/>
            </a:pPr>
            <a:r>
              <a:rPr lang="fr-FR" sz="900" i="1">
                <a:solidFill>
                  <a:schemeClr val="accent6">
                    <a:lumMod val="75000"/>
                  </a:schemeClr>
                </a:solidFill>
              </a:rPr>
              <a:t>Les différents scénarios pourront être accompagnés de schéma d’architecture afin de mieux les illustrer et faciliter la compréhension.</a:t>
            </a:r>
          </a:p>
        </p:txBody>
      </p:sp>
      <p:sp>
        <p:nvSpPr>
          <p:cNvPr id="16" name="Rectangle à coins arrondis 10">
            <a:extLst>
              <a:ext uri="{FF2B5EF4-FFF2-40B4-BE49-F238E27FC236}">
                <a16:creationId xmlns:a16="http://schemas.microsoft.com/office/drawing/2014/main" id="{AD467CE9-1087-B0CE-0926-FC7662ABC36D}"/>
              </a:ext>
            </a:extLst>
          </p:cNvPr>
          <p:cNvSpPr/>
          <p:nvPr>
            <p:custDataLst>
              <p:tags r:id="rId4"/>
            </p:custDataLst>
          </p:nvPr>
        </p:nvSpPr>
        <p:spPr>
          <a:xfrm>
            <a:off x="4294254" y="2062189"/>
            <a:ext cx="2103658" cy="323493"/>
          </a:xfrm>
          <a:prstGeom prst="wedgeRoundRectCallout">
            <a:avLst>
              <a:gd name="adj1" fmla="val -54896"/>
              <a:gd name="adj2" fmla="val 22864"/>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Vérifier si le scénario couvre les besoins fonctionnels et non fonctionnels </a:t>
            </a:r>
            <a:endParaRPr lang="fr-FR" sz="800" i="1">
              <a:solidFill>
                <a:schemeClr val="accent6">
                  <a:lumMod val="75000"/>
                </a:schemeClr>
              </a:solidFill>
              <a:latin typeface="Arial Narrow" panose="020B0606020202030204" pitchFamily="34" charset="0"/>
            </a:endParaRPr>
          </a:p>
        </p:txBody>
      </p:sp>
      <p:sp>
        <p:nvSpPr>
          <p:cNvPr id="17" name="Rectangle à coins arrondis 11">
            <a:extLst>
              <a:ext uri="{FF2B5EF4-FFF2-40B4-BE49-F238E27FC236}">
                <a16:creationId xmlns:a16="http://schemas.microsoft.com/office/drawing/2014/main" id="{7F080591-036C-75F0-E111-1FBA69DDCAA8}"/>
              </a:ext>
            </a:extLst>
          </p:cNvPr>
          <p:cNvSpPr/>
          <p:nvPr>
            <p:custDataLst>
              <p:tags r:id="rId5"/>
            </p:custDataLst>
          </p:nvPr>
        </p:nvSpPr>
        <p:spPr>
          <a:xfrm>
            <a:off x="4294254" y="2448659"/>
            <a:ext cx="2103658" cy="459700"/>
          </a:xfrm>
          <a:prstGeom prst="wedgeRoundRectCallout">
            <a:avLst>
              <a:gd name="adj1" fmla="val -55947"/>
              <a:gd name="adj2" fmla="val 11498"/>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Estimation globale du coût des différents scénarios (mise en place, </a:t>
            </a:r>
            <a:r>
              <a:rPr lang="fr-FR" sz="800" i="1" err="1">
                <a:solidFill>
                  <a:schemeClr val="accent6">
                    <a:lumMod val="75000"/>
                  </a:schemeClr>
                </a:solidFill>
                <a:latin typeface="Arial Narrow" panose="020B0606020202030204" pitchFamily="34" charset="0"/>
                <a:sym typeface="Webdings" panose="05030102010509060703" pitchFamily="18" charset="2"/>
              </a:rPr>
              <a:t>run</a:t>
            </a:r>
            <a:r>
              <a:rPr lang="fr-FR" sz="800" i="1">
                <a:solidFill>
                  <a:schemeClr val="accent6">
                    <a:lumMod val="75000"/>
                  </a:schemeClr>
                </a:solidFill>
                <a:latin typeface="Arial Narrow" panose="020B0606020202030204" pitchFamily="34" charset="0"/>
                <a:sym typeface="Webdings" panose="05030102010509060703" pitchFamily="18" charset="2"/>
              </a:rPr>
              <a:t>, …). Si on sait que l’un sera nécessairement plus cher que l’autre.</a:t>
            </a:r>
            <a:endParaRPr lang="fr-FR" sz="800" i="1">
              <a:solidFill>
                <a:schemeClr val="accent6">
                  <a:lumMod val="75000"/>
                </a:schemeClr>
              </a:solidFill>
              <a:latin typeface="Arial Narrow" panose="020B0606020202030204" pitchFamily="34" charset="0"/>
            </a:endParaRPr>
          </a:p>
        </p:txBody>
      </p:sp>
      <p:sp>
        <p:nvSpPr>
          <p:cNvPr id="18" name="Rectangle à coins arrondis 14">
            <a:extLst>
              <a:ext uri="{FF2B5EF4-FFF2-40B4-BE49-F238E27FC236}">
                <a16:creationId xmlns:a16="http://schemas.microsoft.com/office/drawing/2014/main" id="{B4E50C15-225F-7173-8911-D887CFF3C71E}"/>
              </a:ext>
            </a:extLst>
          </p:cNvPr>
          <p:cNvSpPr/>
          <p:nvPr>
            <p:custDataLst>
              <p:tags r:id="rId6"/>
            </p:custDataLst>
          </p:nvPr>
        </p:nvSpPr>
        <p:spPr>
          <a:xfrm>
            <a:off x="4294254" y="2971336"/>
            <a:ext cx="2103658" cy="459700"/>
          </a:xfrm>
          <a:prstGeom prst="wedgeRoundRectCallout">
            <a:avLst>
              <a:gd name="adj1" fmla="val -57160"/>
              <a:gd name="adj2" fmla="val 34645"/>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Estimation globale du temps de mise en place (hors prérequis). Si on sait que l’un sera nécessairement plus long à implémenter que l’autre.</a:t>
            </a:r>
            <a:endParaRPr lang="fr-FR" sz="800" i="1">
              <a:solidFill>
                <a:schemeClr val="accent6">
                  <a:lumMod val="75000"/>
                </a:schemeClr>
              </a:solidFill>
              <a:latin typeface="Arial Narrow" panose="020B0606020202030204" pitchFamily="34" charset="0"/>
            </a:endParaRPr>
          </a:p>
        </p:txBody>
      </p:sp>
      <p:sp>
        <p:nvSpPr>
          <p:cNvPr id="19" name="Rectangle à coins arrondis 15">
            <a:extLst>
              <a:ext uri="{FF2B5EF4-FFF2-40B4-BE49-F238E27FC236}">
                <a16:creationId xmlns:a16="http://schemas.microsoft.com/office/drawing/2014/main" id="{80208B87-2152-D563-0096-F421E363C536}"/>
              </a:ext>
            </a:extLst>
          </p:cNvPr>
          <p:cNvSpPr/>
          <p:nvPr>
            <p:custDataLst>
              <p:tags r:id="rId7"/>
            </p:custDataLst>
          </p:nvPr>
        </p:nvSpPr>
        <p:spPr>
          <a:xfrm>
            <a:off x="4294254" y="4289105"/>
            <a:ext cx="2103658" cy="595908"/>
          </a:xfrm>
          <a:prstGeom prst="wedgeRoundRectCallout">
            <a:avLst>
              <a:gd name="adj1" fmla="val -57109"/>
              <a:gd name="adj2" fmla="val -16055"/>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Les impacts du scénario sur le SI existant : niveau applicatif : composant enlevé, composant rajouté, infrastructure, Et aussi niveau processus, opération, organisation, compétences, …</a:t>
            </a:r>
            <a:endParaRPr lang="fr-FR" sz="800" i="1">
              <a:solidFill>
                <a:schemeClr val="accent6">
                  <a:lumMod val="75000"/>
                </a:schemeClr>
              </a:solidFill>
              <a:latin typeface="Arial Narrow" panose="020B0606020202030204" pitchFamily="34" charset="0"/>
            </a:endParaRPr>
          </a:p>
        </p:txBody>
      </p:sp>
      <p:sp>
        <p:nvSpPr>
          <p:cNvPr id="20" name="Rectangle à coins arrondis 16">
            <a:extLst>
              <a:ext uri="{FF2B5EF4-FFF2-40B4-BE49-F238E27FC236}">
                <a16:creationId xmlns:a16="http://schemas.microsoft.com/office/drawing/2014/main" id="{B9D4BD90-F2FE-EF54-4941-2F577D995EBD}"/>
              </a:ext>
            </a:extLst>
          </p:cNvPr>
          <p:cNvSpPr/>
          <p:nvPr>
            <p:custDataLst>
              <p:tags r:id="rId8"/>
            </p:custDataLst>
          </p:nvPr>
        </p:nvSpPr>
        <p:spPr>
          <a:xfrm>
            <a:off x="4294254" y="6129553"/>
            <a:ext cx="2103658" cy="323493"/>
          </a:xfrm>
          <a:prstGeom prst="wedgeRoundRectCallout">
            <a:avLst>
              <a:gd name="adj1" fmla="val -56323"/>
              <a:gd name="adj2" fmla="val -49581"/>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Prérequis hors du projet nécessaires à la réalisation du scénario.</a:t>
            </a:r>
            <a:endParaRPr lang="fr-FR" sz="800" i="1">
              <a:solidFill>
                <a:schemeClr val="accent6">
                  <a:lumMod val="75000"/>
                </a:schemeClr>
              </a:solidFill>
              <a:latin typeface="Arial Narrow" panose="020B0606020202030204" pitchFamily="34" charset="0"/>
            </a:endParaRPr>
          </a:p>
        </p:txBody>
      </p:sp>
      <p:sp>
        <p:nvSpPr>
          <p:cNvPr id="21" name="Rectangle à coins arrondis 17">
            <a:extLst>
              <a:ext uri="{FF2B5EF4-FFF2-40B4-BE49-F238E27FC236}">
                <a16:creationId xmlns:a16="http://schemas.microsoft.com/office/drawing/2014/main" id="{5BA3B241-306A-25A3-141C-AAAEDC137A43}"/>
              </a:ext>
            </a:extLst>
          </p:cNvPr>
          <p:cNvSpPr/>
          <p:nvPr>
            <p:custDataLst>
              <p:tags r:id="rId9"/>
            </p:custDataLst>
          </p:nvPr>
        </p:nvSpPr>
        <p:spPr>
          <a:xfrm>
            <a:off x="4294254" y="5334460"/>
            <a:ext cx="2103658" cy="732115"/>
          </a:xfrm>
          <a:prstGeom prst="wedgeRoundRectCallout">
            <a:avLst>
              <a:gd name="adj1" fmla="val -56799"/>
              <a:gd name="adj2" fmla="val -22437"/>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Les risques qui pourraient empêcher le déroulement du scénario.</a:t>
            </a:r>
            <a:br>
              <a:rPr lang="fr-FR" sz="800" i="1">
                <a:solidFill>
                  <a:schemeClr val="accent6">
                    <a:lumMod val="75000"/>
                  </a:schemeClr>
                </a:solidFill>
                <a:latin typeface="Arial Narrow" panose="020B0606020202030204" pitchFamily="34" charset="0"/>
                <a:sym typeface="Webdings" panose="05030102010509060703" pitchFamily="18" charset="2"/>
              </a:rPr>
            </a:br>
            <a:r>
              <a:rPr lang="fr-FR" sz="800" i="1">
                <a:solidFill>
                  <a:schemeClr val="accent6">
                    <a:lumMod val="75000"/>
                  </a:schemeClr>
                </a:solidFill>
                <a:latin typeface="Arial Narrow" panose="020B0606020202030204" pitchFamily="34" charset="0"/>
                <a:sym typeface="Webdings" panose="05030102010509060703" pitchFamily="18" charset="2"/>
              </a:rPr>
              <a:t>Les risques potentiels induits par la mise en place du scénario (instabilité SI, performance, SI, charge du métier).</a:t>
            </a:r>
            <a:endParaRPr lang="fr-FR" sz="800" i="1">
              <a:solidFill>
                <a:schemeClr val="accent6">
                  <a:lumMod val="75000"/>
                </a:schemeClr>
              </a:solidFill>
              <a:latin typeface="Arial Narrow" panose="020B0606020202030204" pitchFamily="34" charset="0"/>
            </a:endParaRPr>
          </a:p>
        </p:txBody>
      </p:sp>
      <p:sp>
        <p:nvSpPr>
          <p:cNvPr id="22" name="Rectangle à coins arrondis 19">
            <a:extLst>
              <a:ext uri="{FF2B5EF4-FFF2-40B4-BE49-F238E27FC236}">
                <a16:creationId xmlns:a16="http://schemas.microsoft.com/office/drawing/2014/main" id="{862337FB-7B63-8475-04B7-F56ECC348460}"/>
              </a:ext>
            </a:extLst>
          </p:cNvPr>
          <p:cNvSpPr/>
          <p:nvPr>
            <p:custDataLst>
              <p:tags r:id="rId10"/>
            </p:custDataLst>
          </p:nvPr>
        </p:nvSpPr>
        <p:spPr>
          <a:xfrm>
            <a:off x="4294254" y="3494013"/>
            <a:ext cx="2103658" cy="732115"/>
          </a:xfrm>
          <a:prstGeom prst="wedgeRoundRectCallout">
            <a:avLst>
              <a:gd name="adj1" fmla="val -56071"/>
              <a:gd name="adj2" fmla="val 4298"/>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Évaluation du scénario en termes de conformité avec les principes et bonnes pratiques d’urbanisation et d’architecture. </a:t>
            </a:r>
          </a:p>
          <a:p>
            <a:r>
              <a:rPr lang="fr-FR" sz="800" i="1">
                <a:solidFill>
                  <a:schemeClr val="accent6">
                    <a:lumMod val="75000"/>
                  </a:schemeClr>
                </a:solidFill>
                <a:latin typeface="Arial Narrow" panose="020B0606020202030204" pitchFamily="34" charset="0"/>
              </a:rPr>
              <a:t>À remplir par l’architecte. Le projet est libre de proposer les éléments qu’ils auraient identifiés.</a:t>
            </a:r>
          </a:p>
        </p:txBody>
      </p:sp>
      <p:sp>
        <p:nvSpPr>
          <p:cNvPr id="23" name="Rectangle à coins arrondis 17">
            <a:extLst>
              <a:ext uri="{FF2B5EF4-FFF2-40B4-BE49-F238E27FC236}">
                <a16:creationId xmlns:a16="http://schemas.microsoft.com/office/drawing/2014/main" id="{D6FF382C-DA99-9AD1-705A-A0DEBFA22735}"/>
              </a:ext>
            </a:extLst>
          </p:cNvPr>
          <p:cNvSpPr/>
          <p:nvPr>
            <p:custDataLst>
              <p:tags r:id="rId11"/>
            </p:custDataLst>
          </p:nvPr>
        </p:nvSpPr>
        <p:spPr>
          <a:xfrm>
            <a:off x="4294254" y="4947990"/>
            <a:ext cx="2103658" cy="323493"/>
          </a:xfrm>
          <a:prstGeom prst="wedgeRoundRectCallout">
            <a:avLst>
              <a:gd name="adj1" fmla="val -56799"/>
              <a:gd name="adj2" fmla="val -22437"/>
              <a:gd name="adj3" fmla="val 16667"/>
            </a:avLst>
          </a:prstGeom>
          <a:solidFill>
            <a:schemeClr val="bg1">
              <a:alpha val="85000"/>
            </a:schemeClr>
          </a:solidFill>
          <a:ln w="12700">
            <a:solidFill>
              <a:schemeClr val="accent2">
                <a:lumMod val="50000"/>
              </a:schemeClr>
            </a:solidFill>
          </a:ln>
        </p:spPr>
        <p:txBody>
          <a:bodyPr wrap="square" lIns="36000" tIns="0" rIns="36000" bIns="0" rtlCol="0">
            <a:spAutoFit/>
          </a:bodyPr>
          <a:lstStyle/>
          <a:p>
            <a:r>
              <a:rPr lang="fr-FR" sz="1100">
                <a:solidFill>
                  <a:schemeClr val="accent6">
                    <a:lumMod val="75000"/>
                  </a:schemeClr>
                </a:solidFill>
                <a:latin typeface="Arial Narrow" panose="020B0606020202030204" pitchFamily="34" charset="0"/>
                <a:ea typeface="Segoe UI Symbol" panose="020B0502040204020203" pitchFamily="34" charset="0"/>
                <a:sym typeface="Webdings" panose="05030102010509060703" pitchFamily="18" charset="2"/>
              </a:rPr>
              <a:t></a:t>
            </a:r>
            <a:r>
              <a:rPr lang="fr-FR" sz="800" i="1">
                <a:solidFill>
                  <a:schemeClr val="accent6">
                    <a:lumMod val="75000"/>
                  </a:schemeClr>
                </a:solidFill>
                <a:latin typeface="Arial Narrow" panose="020B0606020202030204" pitchFamily="34" charset="0"/>
                <a:sym typeface="Webdings" panose="05030102010509060703" pitchFamily="18" charset="2"/>
              </a:rPr>
              <a:t> Les gains espérés par scénario (bénéfices majeurs).</a:t>
            </a:r>
            <a:endParaRPr lang="fr-FR" sz="800" i="1">
              <a:solidFill>
                <a:schemeClr val="accent6">
                  <a:lumMod val="75000"/>
                </a:schemeClr>
              </a:solidFill>
              <a:latin typeface="Arial Narrow" panose="020B0606020202030204" pitchFamily="34" charset="0"/>
            </a:endParaRPr>
          </a:p>
        </p:txBody>
      </p:sp>
      <p:grpSp>
        <p:nvGrpSpPr>
          <p:cNvPr id="8" name="Groupe 7">
            <a:extLst>
              <a:ext uri="{FF2B5EF4-FFF2-40B4-BE49-F238E27FC236}">
                <a16:creationId xmlns:a16="http://schemas.microsoft.com/office/drawing/2014/main" id="{2E350A10-AC18-A6FD-BC11-44D96DF9911A}"/>
              </a:ext>
            </a:extLst>
          </p:cNvPr>
          <p:cNvGrpSpPr/>
          <p:nvPr/>
        </p:nvGrpSpPr>
        <p:grpSpPr>
          <a:xfrm>
            <a:off x="9827839" y="529011"/>
            <a:ext cx="1857137" cy="603666"/>
            <a:chOff x="9750115" y="1599440"/>
            <a:chExt cx="1857137" cy="603666"/>
          </a:xfrm>
        </p:grpSpPr>
        <p:sp>
          <p:nvSpPr>
            <p:cNvPr id="9" name="Rectangle : coins arrondis 8">
              <a:extLst>
                <a:ext uri="{FF2B5EF4-FFF2-40B4-BE49-F238E27FC236}">
                  <a16:creationId xmlns:a16="http://schemas.microsoft.com/office/drawing/2014/main" id="{7CC090EE-64FD-1886-5CC8-D7238B7307E7}"/>
                </a:ext>
              </a:extLst>
            </p:cNvPr>
            <p:cNvSpPr/>
            <p:nvPr/>
          </p:nvSpPr>
          <p:spPr>
            <a:xfrm>
              <a:off x="9750115" y="1599440"/>
              <a:ext cx="1857137" cy="603666"/>
            </a:xfrm>
            <a:prstGeom prst="roundRect">
              <a:avLst>
                <a:gd name="adj" fmla="val 16667"/>
              </a:avLst>
            </a:prstGeom>
            <a:solidFill>
              <a:schemeClr val="bg1"/>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chemeClr val="tx1"/>
                </a:solidFill>
                <a:latin typeface="+mj-lt"/>
              </a:endParaRPr>
            </a:p>
          </p:txBody>
        </p:sp>
        <p:sp>
          <p:nvSpPr>
            <p:cNvPr id="10" name="Rectangle 9">
              <a:extLst>
                <a:ext uri="{FF2B5EF4-FFF2-40B4-BE49-F238E27FC236}">
                  <a16:creationId xmlns:a16="http://schemas.microsoft.com/office/drawing/2014/main" id="{4AF8292D-DD3E-F5E2-7C79-C57065CBAF66}"/>
                </a:ext>
              </a:extLst>
            </p:cNvPr>
            <p:cNvSpPr/>
            <p:nvPr>
              <p:custDataLst>
                <p:tags r:id="rId13"/>
              </p:custDataLst>
            </p:nvPr>
          </p:nvSpPr>
          <p:spPr>
            <a:xfrm>
              <a:off x="9904392" y="1784246"/>
              <a:ext cx="1569722" cy="3240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8000"/>
                </a:lnSpc>
              </a:pPr>
              <a:r>
                <a:rPr lang="en-GB" sz="1200">
                  <a:solidFill>
                    <a:schemeClr val="tx1"/>
                  </a:solidFill>
                  <a:latin typeface="Avenir Next LT Pro" panose="020B0504020202020204" pitchFamily="34" charset="0"/>
                </a:rPr>
                <a:t>Architecture  recommended scenario</a:t>
              </a:r>
            </a:p>
          </p:txBody>
        </p:sp>
      </p:grpSp>
      <p:grpSp>
        <p:nvGrpSpPr>
          <p:cNvPr id="11" name="Groupe 10">
            <a:extLst>
              <a:ext uri="{FF2B5EF4-FFF2-40B4-BE49-F238E27FC236}">
                <a16:creationId xmlns:a16="http://schemas.microsoft.com/office/drawing/2014/main" id="{31002E16-B645-DDE1-EC37-B250BBBEA38E}"/>
              </a:ext>
            </a:extLst>
          </p:cNvPr>
          <p:cNvGrpSpPr/>
          <p:nvPr/>
        </p:nvGrpSpPr>
        <p:grpSpPr>
          <a:xfrm>
            <a:off x="7917222" y="529771"/>
            <a:ext cx="1857137" cy="603666"/>
            <a:chOff x="7839498" y="1600200"/>
            <a:chExt cx="1857137" cy="603666"/>
          </a:xfrm>
        </p:grpSpPr>
        <p:sp>
          <p:nvSpPr>
            <p:cNvPr id="12" name="Rectangle : coins arrondis 11">
              <a:extLst>
                <a:ext uri="{FF2B5EF4-FFF2-40B4-BE49-F238E27FC236}">
                  <a16:creationId xmlns:a16="http://schemas.microsoft.com/office/drawing/2014/main" id="{B2334AB4-5C5D-49BD-9DEA-D5BC72DD3735}"/>
                </a:ext>
              </a:extLst>
            </p:cNvPr>
            <p:cNvSpPr/>
            <p:nvPr/>
          </p:nvSpPr>
          <p:spPr>
            <a:xfrm>
              <a:off x="7839498" y="1600200"/>
              <a:ext cx="1857137" cy="603666"/>
            </a:xfrm>
            <a:prstGeom prst="roundRect">
              <a:avLst>
                <a:gd name="adj" fmla="val 13511"/>
              </a:avLst>
            </a:prstGeom>
            <a:solidFill>
              <a:schemeClr val="bg1"/>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chemeClr val="tx1"/>
                </a:solidFill>
                <a:latin typeface="+mj-lt"/>
              </a:endParaRPr>
            </a:p>
          </p:txBody>
        </p:sp>
        <p:sp>
          <p:nvSpPr>
            <p:cNvPr id="24" name="Rectangle 23">
              <a:extLst>
                <a:ext uri="{FF2B5EF4-FFF2-40B4-BE49-F238E27FC236}">
                  <a16:creationId xmlns:a16="http://schemas.microsoft.com/office/drawing/2014/main" id="{90226A8F-18C0-ED73-6C13-55831D7ED333}"/>
                </a:ext>
              </a:extLst>
            </p:cNvPr>
            <p:cNvSpPr/>
            <p:nvPr>
              <p:custDataLst>
                <p:tags r:id="rId12"/>
              </p:custDataLst>
            </p:nvPr>
          </p:nvSpPr>
          <p:spPr>
            <a:xfrm>
              <a:off x="7972637" y="1761760"/>
              <a:ext cx="1569722" cy="3240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8000"/>
                </a:lnSpc>
              </a:pPr>
              <a:r>
                <a:rPr lang="en-GB" sz="1200">
                  <a:solidFill>
                    <a:schemeClr val="tx1"/>
                  </a:solidFill>
                  <a:latin typeface="Avenir Next LT Pro" panose="020B0504020202020204" pitchFamily="34" charset="0"/>
                </a:rPr>
                <a:t>IT Project Team uphold scenario </a:t>
              </a:r>
            </a:p>
          </p:txBody>
        </p:sp>
      </p:grpSp>
    </p:spTree>
    <p:extLst>
      <p:ext uri="{BB962C8B-B14F-4D97-AF65-F5344CB8AC3E}">
        <p14:creationId xmlns:p14="http://schemas.microsoft.com/office/powerpoint/2010/main" val="21805817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D0DFA-AEBD-823C-1B04-5BD7A98CC53B}"/>
              </a:ext>
            </a:extLst>
          </p:cNvPr>
          <p:cNvSpPr>
            <a:spLocks noGrp="1"/>
          </p:cNvSpPr>
          <p:nvPr>
            <p:ph type="title"/>
          </p:nvPr>
        </p:nvSpPr>
        <p:spPr>
          <a:xfrm>
            <a:off x="537575" y="849535"/>
            <a:ext cx="11086578" cy="535531"/>
          </a:xfrm>
        </p:spPr>
        <p:txBody>
          <a:bodyPr/>
          <a:lstStyle/>
          <a:p>
            <a:r>
              <a:rPr lang="fr-FR" sz="3200" b="1"/>
              <a:t>Architectural Scenario </a:t>
            </a:r>
            <a:r>
              <a:rPr lang="en-GB" sz="3200" b="1"/>
              <a:t>summary</a:t>
            </a:r>
            <a:endParaRPr lang="fr-FR" sz="3200"/>
          </a:p>
        </p:txBody>
      </p:sp>
      <p:sp>
        <p:nvSpPr>
          <p:cNvPr id="5" name="Espace réservé du numéro de diapositive 4">
            <a:extLst>
              <a:ext uri="{FF2B5EF4-FFF2-40B4-BE49-F238E27FC236}">
                <a16:creationId xmlns:a16="http://schemas.microsoft.com/office/drawing/2014/main" id="{11CA0C56-5033-0292-49B8-50796A50D8F5}"/>
              </a:ext>
            </a:extLst>
          </p:cNvPr>
          <p:cNvSpPr>
            <a:spLocks noGrp="1"/>
          </p:cNvSpPr>
          <p:nvPr>
            <p:ph type="sldNum" sz="quarter" idx="12"/>
          </p:nvPr>
        </p:nvSpPr>
        <p:spPr/>
        <p:txBody>
          <a:bodyPr/>
          <a:lstStyle/>
          <a:p>
            <a:fld id="{CD166EB1-B284-8541-B839-321F682B6B05}" type="slidenum">
              <a:rPr lang="fr-FR" smtClean="0"/>
              <a:pPr/>
              <a:t>51</a:t>
            </a:fld>
            <a:endParaRPr lang="fr-FR"/>
          </a:p>
        </p:txBody>
      </p:sp>
      <p:sp>
        <p:nvSpPr>
          <p:cNvPr id="6" name="Espace réservé du texte 5">
            <a:extLst>
              <a:ext uri="{FF2B5EF4-FFF2-40B4-BE49-F238E27FC236}">
                <a16:creationId xmlns:a16="http://schemas.microsoft.com/office/drawing/2014/main" id="{84BD60FC-C0F0-DDE8-E466-CF9C9E58AF52}"/>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889D77D4-8406-283A-CDCF-AAF639D76581}"/>
              </a:ext>
            </a:extLst>
          </p:cNvPr>
          <p:cNvSpPr>
            <a:spLocks noGrp="1"/>
          </p:cNvSpPr>
          <p:nvPr>
            <p:ph type="body" sz="quarter" idx="30"/>
          </p:nvPr>
        </p:nvSpPr>
        <p:spPr/>
        <p:txBody>
          <a:bodyPr/>
          <a:lstStyle/>
          <a:p>
            <a:endParaRPr lang="fr-FR"/>
          </a:p>
        </p:txBody>
      </p:sp>
      <p:sp>
        <p:nvSpPr>
          <p:cNvPr id="26" name="Espace réservé du numéro de diapositive 3">
            <a:extLst>
              <a:ext uri="{FF2B5EF4-FFF2-40B4-BE49-F238E27FC236}">
                <a16:creationId xmlns:a16="http://schemas.microsoft.com/office/drawing/2014/main" id="{9D8E8ABF-86CC-1093-619A-154483137702}"/>
              </a:ext>
            </a:extLst>
          </p:cNvPr>
          <p:cNvSpPr txBox="1">
            <a:spLocks/>
          </p:cNvSpPr>
          <p:nvPr>
            <p:custDataLst>
              <p:tags r:id="rId1"/>
            </p:custDataLst>
          </p:nvPr>
        </p:nvSpPr>
        <p:spPr>
          <a:xfrm>
            <a:off x="8941777" y="6395234"/>
            <a:ext cx="2743200" cy="206104"/>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B54B0F7-55DD-40D6-B7F4-70B586885C0B}" type="slidenum">
              <a:rPr lang="fr-FR" smtClean="0"/>
              <a:pPr/>
              <a:t>51</a:t>
            </a:fld>
            <a:endParaRPr lang="fr-FR"/>
          </a:p>
        </p:txBody>
      </p:sp>
      <p:graphicFrame>
        <p:nvGraphicFramePr>
          <p:cNvPr id="27" name="Tableau 3">
            <a:extLst>
              <a:ext uri="{FF2B5EF4-FFF2-40B4-BE49-F238E27FC236}">
                <a16:creationId xmlns:a16="http://schemas.microsoft.com/office/drawing/2014/main" id="{54CEBB83-6CA7-B6DC-C361-71D4B8844DF6}"/>
              </a:ext>
            </a:extLst>
          </p:cNvPr>
          <p:cNvGraphicFramePr>
            <a:graphicFrameLocks noGrp="1"/>
          </p:cNvGraphicFramePr>
          <p:nvPr>
            <p:custDataLst>
              <p:tags r:id="rId2"/>
            </p:custDataLst>
            <p:extLst>
              <p:ext uri="{D42A27DB-BD31-4B8C-83A1-F6EECF244321}">
                <p14:modId xmlns:p14="http://schemas.microsoft.com/office/powerpoint/2010/main" val="2164126853"/>
              </p:ext>
            </p:extLst>
          </p:nvPr>
        </p:nvGraphicFramePr>
        <p:xfrm>
          <a:off x="278027" y="1313309"/>
          <a:ext cx="11406949" cy="5445924"/>
        </p:xfrm>
        <a:graphic>
          <a:graphicData uri="http://schemas.openxmlformats.org/drawingml/2006/table">
            <a:tbl>
              <a:tblPr firstRow="1" firstCol="1" bandRow="1">
                <a:tableStyleId>{5C22544A-7EE6-4342-B048-85BDC9FD1C3A}</a:tableStyleId>
              </a:tblPr>
              <a:tblGrid>
                <a:gridCol w="1229497">
                  <a:extLst>
                    <a:ext uri="{9D8B030D-6E8A-4147-A177-3AD203B41FA5}">
                      <a16:colId xmlns:a16="http://schemas.microsoft.com/office/drawing/2014/main" val="1701024074"/>
                    </a:ext>
                  </a:extLst>
                </a:gridCol>
                <a:gridCol w="3392484">
                  <a:extLst>
                    <a:ext uri="{9D8B030D-6E8A-4147-A177-3AD203B41FA5}">
                      <a16:colId xmlns:a16="http://schemas.microsoft.com/office/drawing/2014/main" val="1224835592"/>
                    </a:ext>
                  </a:extLst>
                </a:gridCol>
                <a:gridCol w="3392484">
                  <a:extLst>
                    <a:ext uri="{9D8B030D-6E8A-4147-A177-3AD203B41FA5}">
                      <a16:colId xmlns:a16="http://schemas.microsoft.com/office/drawing/2014/main" val="3006677995"/>
                    </a:ext>
                  </a:extLst>
                </a:gridCol>
                <a:gridCol w="1696242">
                  <a:extLst>
                    <a:ext uri="{9D8B030D-6E8A-4147-A177-3AD203B41FA5}">
                      <a16:colId xmlns:a16="http://schemas.microsoft.com/office/drawing/2014/main" val="2900948006"/>
                    </a:ext>
                  </a:extLst>
                </a:gridCol>
                <a:gridCol w="1696242">
                  <a:extLst>
                    <a:ext uri="{9D8B030D-6E8A-4147-A177-3AD203B41FA5}">
                      <a16:colId xmlns:a16="http://schemas.microsoft.com/office/drawing/2014/main" val="2263398244"/>
                    </a:ext>
                  </a:extLst>
                </a:gridCol>
              </a:tblGrid>
              <a:tr h="285748">
                <a:tc rowSpan="2">
                  <a:txBody>
                    <a:bodyPr/>
                    <a:lstStyle/>
                    <a:p>
                      <a:pPr algn="ctr"/>
                      <a:r>
                        <a:rPr lang="fr-FR" sz="1000"/>
                        <a:t>Scénario d’évolution (*)</a:t>
                      </a:r>
                    </a:p>
                  </a:txBody>
                  <a:tcPr anchor="ctr">
                    <a:solidFill>
                      <a:schemeClr val="accent1">
                        <a:alpha val="58000"/>
                      </a:schemeClr>
                    </a:solidFill>
                  </a:tcPr>
                </a:tc>
                <a:tc rowSpan="2">
                  <a:txBody>
                    <a:bodyPr/>
                    <a:lstStyle/>
                    <a:p>
                      <a:pPr algn="ctr"/>
                      <a:r>
                        <a:rPr lang="fr-FR" sz="1400"/>
                        <a:t>Scénario 1</a:t>
                      </a:r>
                    </a:p>
                    <a:p>
                      <a:pPr algn="ctr"/>
                      <a:r>
                        <a:rPr lang="fr-FR" sz="1400" b="0">
                          <a:latin typeface="Arial" pitchFamily="34" charset="0"/>
                        </a:rPr>
                        <a:t>Libellé du scénario 1</a:t>
                      </a:r>
                      <a:endParaRPr lang="fr-FR" sz="1400" b="0"/>
                    </a:p>
                  </a:txBody>
                  <a:tcPr anchor="ctr">
                    <a:solidFill>
                      <a:schemeClr val="accent1">
                        <a:alpha val="58000"/>
                      </a:schemeClr>
                    </a:solidFill>
                  </a:tcPr>
                </a:tc>
                <a:tc rowSpan="2">
                  <a:txBody>
                    <a:bodyPr/>
                    <a:lstStyle/>
                    <a:p>
                      <a:pPr algn="ctr"/>
                      <a:r>
                        <a:rPr lang="fr-FR" sz="1400"/>
                        <a:t>Scénario 2</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400" b="0">
                          <a:latin typeface="Arial" pitchFamily="34" charset="0"/>
                        </a:rPr>
                        <a:t>Libellé du scénario 2</a:t>
                      </a:r>
                      <a:endParaRPr lang="fr-FR" sz="1400" b="0"/>
                    </a:p>
                  </a:txBody>
                  <a:tcPr anchor="ctr">
                    <a:solidFill>
                      <a:schemeClr val="accent1">
                        <a:alpha val="58000"/>
                      </a:schemeClr>
                    </a:solidFill>
                  </a:tcPr>
                </a:tc>
                <a:tc gridSpan="2">
                  <a:txBody>
                    <a:bodyPr/>
                    <a:lstStyle/>
                    <a:p>
                      <a:pPr algn="ctr"/>
                      <a:r>
                        <a:rPr lang="fr-FR" sz="1400"/>
                        <a:t>Scénario 3</a:t>
                      </a:r>
                    </a:p>
                  </a:txBody>
                  <a:tcPr anchor="ctr">
                    <a:solidFill>
                      <a:schemeClr val="accent1">
                        <a:alpha val="58000"/>
                      </a:schemeClr>
                    </a:solidFill>
                  </a:tcPr>
                </a:tc>
                <a:tc hMerge="1">
                  <a:txBody>
                    <a:bodyPr/>
                    <a:lstStyle/>
                    <a:p>
                      <a:endParaRPr lang="fr-FR"/>
                    </a:p>
                  </a:txBody>
                  <a:tcPr/>
                </a:tc>
                <a:extLst>
                  <a:ext uri="{0D108BD9-81ED-4DB2-BD59-A6C34878D82A}">
                    <a16:rowId xmlns:a16="http://schemas.microsoft.com/office/drawing/2014/main" val="57534750"/>
                  </a:ext>
                </a:extLst>
              </a:tr>
              <a:tr h="371472">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ctr"/>
                      <a:r>
                        <a:rPr lang="fr-FR" sz="1000" b="1" kern="1200" baseline="0">
                          <a:solidFill>
                            <a:schemeClr val="bg1"/>
                          </a:solidFill>
                          <a:latin typeface="+mn-lt"/>
                          <a:ea typeface="+mn-ea"/>
                          <a:cs typeface="+mn-cs"/>
                        </a:rPr>
                        <a:t>Variante 3.a</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 </a:t>
                      </a:r>
                      <a:endParaRPr lang="fr-FR" sz="1000">
                        <a:solidFill>
                          <a:schemeClr val="bg1"/>
                        </a:solidFill>
                      </a:endParaRPr>
                    </a:p>
                  </a:txBody>
                  <a:tcPr anchor="ctr">
                    <a:solidFill>
                      <a:schemeClr val="accent1">
                        <a:alpha val="58000"/>
                      </a:schemeClr>
                    </a:solidFill>
                  </a:tcPr>
                </a:tc>
                <a:tc>
                  <a:txBody>
                    <a:bodyPr/>
                    <a:lstStyle/>
                    <a:p>
                      <a:pPr algn="ctr"/>
                      <a:r>
                        <a:rPr lang="fr-FR" sz="1000" b="1" kern="1200" baseline="0">
                          <a:solidFill>
                            <a:schemeClr val="bg1"/>
                          </a:solidFill>
                          <a:latin typeface="+mn-lt"/>
                          <a:ea typeface="+mn-ea"/>
                          <a:cs typeface="+mn-cs"/>
                        </a:rPr>
                        <a:t>Variante 3.b</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000">
                          <a:solidFill>
                            <a:schemeClr val="bg1"/>
                          </a:solidFill>
                          <a:latin typeface="Arial" pitchFamily="34" charset="0"/>
                        </a:rPr>
                        <a:t>Libellé du scénario</a:t>
                      </a:r>
                      <a:endParaRPr lang="fr-FR" sz="1000">
                        <a:solidFill>
                          <a:schemeClr val="bg1"/>
                        </a:solidFill>
                      </a:endParaRPr>
                    </a:p>
                  </a:txBody>
                  <a:tcPr anchor="ctr">
                    <a:solidFill>
                      <a:schemeClr val="accent1">
                        <a:alpha val="62000"/>
                      </a:schemeClr>
                    </a:solidFill>
                  </a:tcPr>
                </a:tc>
                <a:extLst>
                  <a:ext uri="{0D108BD9-81ED-4DB2-BD59-A6C34878D82A}">
                    <a16:rowId xmlns:a16="http://schemas.microsoft.com/office/drawing/2014/main" val="94341970"/>
                  </a:ext>
                </a:extLst>
              </a:tr>
              <a:tr h="424221">
                <a:tc>
                  <a:txBody>
                    <a:bodyPr/>
                    <a:lstStyle/>
                    <a:p>
                      <a:pPr algn="ctr"/>
                      <a:r>
                        <a:rPr lang="fr-FR" sz="1000" b="1" i="0" kern="1200">
                          <a:solidFill>
                            <a:schemeClr val="bg1"/>
                          </a:solidFill>
                          <a:latin typeface="+mn-lt"/>
                          <a:ea typeface="+mn-ea"/>
                          <a:cs typeface="+mn-cs"/>
                        </a:rPr>
                        <a:t>Couverture</a:t>
                      </a:r>
                      <a:r>
                        <a:rPr lang="fr-FR" sz="1000" b="1" i="0" kern="1200" baseline="0">
                          <a:solidFill>
                            <a:schemeClr val="bg1"/>
                          </a:solidFill>
                          <a:latin typeface="+mn-lt"/>
                          <a:ea typeface="+mn-ea"/>
                          <a:cs typeface="+mn-cs"/>
                        </a:rPr>
                        <a:t> des besoins </a:t>
                      </a:r>
                      <a:endParaRPr lang="fr-FR" sz="1000" b="1" i="0" kern="1200">
                        <a:solidFill>
                          <a:schemeClr val="bg1"/>
                        </a:solidFill>
                        <a:latin typeface="+mn-lt"/>
                        <a:ea typeface="+mn-ea"/>
                        <a:cs typeface="+mn-cs"/>
                      </a:endParaRPr>
                    </a:p>
                  </a:txBody>
                  <a:tcPr anchor="ctr">
                    <a:solidFill>
                      <a:schemeClr val="accent1">
                        <a:alpha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a:t>
                      </a:r>
                      <a:r>
                        <a:rPr lang="fr-FR" sz="800" kern="1200" baseline="0">
                          <a:solidFill>
                            <a:schemeClr val="tx1"/>
                          </a:solidFill>
                          <a:latin typeface="Arial Narrow" panose="020B0606020202030204" pitchFamily="34" charset="0"/>
                          <a:ea typeface="+mn-ea"/>
                          <a:cs typeface="+mn-cs"/>
                        </a:rPr>
                        <a:t> Besoins tous couverts</a:t>
                      </a:r>
                      <a:endParaRPr lang="fr-FR" sz="800" kern="1200">
                        <a:solidFill>
                          <a:schemeClr val="tx1"/>
                        </a:solidFill>
                        <a:latin typeface="Arial Narrow" panose="020B0606020202030204" pitchFamily="34" charset="0"/>
                        <a:ea typeface="+mn-ea"/>
                        <a:cs typeface="+mn-cs"/>
                      </a:endParaRPr>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BF3 non-bloquant partiellement couvert</a:t>
                      </a:r>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BF1,2 et BNF2 bloquants non couverts</a:t>
                      </a:r>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a:t>
                      </a:r>
                      <a:r>
                        <a:rPr lang="fr-FR" sz="800" kern="1200" baseline="0">
                          <a:solidFill>
                            <a:schemeClr val="tx1"/>
                          </a:solidFill>
                          <a:latin typeface="Arial Narrow" panose="020B0606020202030204" pitchFamily="34" charset="0"/>
                          <a:ea typeface="+mn-ea"/>
                          <a:cs typeface="+mn-cs"/>
                        </a:rPr>
                        <a:t> Besoins tous couverts</a:t>
                      </a:r>
                      <a:endParaRPr lang="fr-FR" sz="800" kern="1200">
                        <a:solidFill>
                          <a:schemeClr val="tx1"/>
                        </a:solidFill>
                        <a:latin typeface="Arial Narrow" panose="020B0606020202030204" pitchFamily="34" charset="0"/>
                        <a:ea typeface="+mn-ea"/>
                        <a:cs typeface="+mn-cs"/>
                      </a:endParaRPr>
                    </a:p>
                  </a:txBody>
                  <a:tcPr>
                    <a:solidFill>
                      <a:schemeClr val="accent2">
                        <a:lumMod val="60000"/>
                        <a:lumOff val="40000"/>
                      </a:schemeClr>
                    </a:solidFill>
                  </a:tcPr>
                </a:tc>
                <a:extLst>
                  <a:ext uri="{0D108BD9-81ED-4DB2-BD59-A6C34878D82A}">
                    <a16:rowId xmlns:a16="http://schemas.microsoft.com/office/drawing/2014/main" val="3560918172"/>
                  </a:ext>
                </a:extLst>
              </a:tr>
              <a:tr h="657220">
                <a:tc>
                  <a:txBody>
                    <a:bodyPr/>
                    <a:lstStyle/>
                    <a:p>
                      <a:pPr algn="ctr"/>
                      <a:r>
                        <a:rPr lang="fr-FR" sz="1000" b="1" i="0" kern="1200">
                          <a:solidFill>
                            <a:schemeClr val="bg1"/>
                          </a:solidFill>
                          <a:latin typeface="+mn-lt"/>
                          <a:ea typeface="+mn-ea"/>
                          <a:cs typeface="+mn-cs"/>
                        </a:rPr>
                        <a:t>Coûts</a:t>
                      </a:r>
                    </a:p>
                  </a:txBody>
                  <a:tcPr anchor="ctr">
                    <a:solidFill>
                      <a:schemeClr val="accent1">
                        <a:alpha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a:t>
                      </a:r>
                      <a:r>
                        <a:rPr lang="fr-FR" sz="800" kern="1200" baseline="0">
                          <a:solidFill>
                            <a:schemeClr val="tx1"/>
                          </a:solidFill>
                          <a:latin typeface="Arial Narrow" panose="020B0606020202030204" pitchFamily="34" charset="0"/>
                          <a:ea typeface="+mn-ea"/>
                          <a:cs typeface="+mn-cs"/>
                        </a:rPr>
                        <a:t> Faibles</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Budget prévisionnel respecté</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Charge allouée respectée</a:t>
                      </a:r>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a:t>
                      </a:r>
                      <a:r>
                        <a:rPr lang="fr-FR" sz="800" kern="1200" baseline="0">
                          <a:solidFill>
                            <a:schemeClr val="tx1"/>
                          </a:solidFill>
                          <a:latin typeface="Arial Narrow" panose="020B0606020202030204" pitchFamily="34" charset="0"/>
                          <a:ea typeface="+mn-ea"/>
                          <a:cs typeface="+mn-cs"/>
                        </a:rPr>
                        <a:t> Moyens</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Léger dépassement du budget</a:t>
                      </a:r>
                      <a:r>
                        <a:rPr lang="fr-FR" sz="800" kern="1200" baseline="0">
                          <a:solidFill>
                            <a:schemeClr val="tx1"/>
                          </a:solidFill>
                          <a:latin typeface="Arial Narrow" panose="020B0606020202030204" pitchFamily="34" charset="0"/>
                          <a:ea typeface="+mn-ea"/>
                          <a:cs typeface="+mn-cs"/>
                        </a:rPr>
                        <a:t> prévisionnel</a:t>
                      </a:r>
                      <a:endParaRPr lang="fr-FR" sz="800" kern="120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Dépassement moyen de la charge allouée</a:t>
                      </a:r>
                    </a:p>
                  </a:txBody>
                  <a:tcPr>
                    <a:solidFill>
                      <a:schemeClr val="accent5">
                        <a:lumMod val="60000"/>
                        <a:lumOff val="40000"/>
                      </a:schemeClr>
                    </a:solidFill>
                  </a:tcPr>
                </a:tc>
                <a:tc>
                  <a:txBody>
                    <a:bodyPr/>
                    <a:lstStyle/>
                    <a:p>
                      <a:pPr algn="l"/>
                      <a:r>
                        <a:rPr lang="fr-FR" sz="800" kern="1200">
                          <a:solidFill>
                            <a:schemeClr val="tx1"/>
                          </a:solidFill>
                          <a:latin typeface="Arial Narrow" panose="020B0606020202030204" pitchFamily="34" charset="0"/>
                          <a:ea typeface="+mn-ea"/>
                          <a:cs typeface="+mn-cs"/>
                        </a:rPr>
                        <a:t>(-) Elevés</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Fort dépassement du budget</a:t>
                      </a:r>
                      <a:r>
                        <a:rPr lang="fr-FR" sz="800" kern="1200" baseline="0">
                          <a:solidFill>
                            <a:schemeClr val="tx1"/>
                          </a:solidFill>
                          <a:latin typeface="Arial Narrow" panose="020B0606020202030204" pitchFamily="34" charset="0"/>
                          <a:ea typeface="+mn-ea"/>
                          <a:cs typeface="+mn-cs"/>
                        </a:rPr>
                        <a:t> </a:t>
                      </a:r>
                      <a:r>
                        <a:rPr lang="fr-FR" sz="800" kern="1200">
                          <a:solidFill>
                            <a:schemeClr val="tx1"/>
                          </a:solidFill>
                          <a:latin typeface="Arial Narrow" panose="020B0606020202030204" pitchFamily="34" charset="0"/>
                          <a:ea typeface="+mn-ea"/>
                          <a:cs typeface="+mn-cs"/>
                        </a:rPr>
                        <a:t>prévisionnel</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Dépassement important de la charge allouée</a:t>
                      </a:r>
                      <a:endParaRPr lang="fr-FR" sz="800" kern="1200" baseline="0">
                        <a:solidFill>
                          <a:schemeClr val="tx1"/>
                        </a:solidFill>
                        <a:latin typeface="Arial Narrow" panose="020B0606020202030204" pitchFamily="34" charset="0"/>
                        <a:ea typeface="+mn-ea"/>
                        <a:cs typeface="+mn-cs"/>
                      </a:endParaRPr>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Léger dépassement du budget</a:t>
                      </a:r>
                      <a:r>
                        <a:rPr lang="fr-FR" sz="800" kern="1200" baseline="0">
                          <a:solidFill>
                            <a:schemeClr val="tx1"/>
                          </a:solidFill>
                          <a:latin typeface="Arial Narrow" panose="020B0606020202030204" pitchFamily="34" charset="0"/>
                          <a:ea typeface="+mn-ea"/>
                          <a:cs typeface="+mn-cs"/>
                        </a:rPr>
                        <a:t> prévisionnel</a:t>
                      </a:r>
                      <a:endParaRPr lang="fr-FR" sz="800" kern="1200">
                        <a:solidFill>
                          <a:schemeClr val="tx1"/>
                        </a:solidFill>
                        <a:latin typeface="Arial Narrow" panose="020B0606020202030204" pitchFamily="34" charset="0"/>
                        <a:ea typeface="+mn-ea"/>
                        <a:cs typeface="+mn-cs"/>
                      </a:endParaRPr>
                    </a:p>
                  </a:txBody>
                  <a:tcPr>
                    <a:solidFill>
                      <a:schemeClr val="accent5">
                        <a:lumMod val="60000"/>
                        <a:lumOff val="40000"/>
                      </a:schemeClr>
                    </a:solidFill>
                  </a:tcPr>
                </a:tc>
                <a:extLst>
                  <a:ext uri="{0D108BD9-81ED-4DB2-BD59-A6C34878D82A}">
                    <a16:rowId xmlns:a16="http://schemas.microsoft.com/office/drawing/2014/main" val="4031143553"/>
                  </a:ext>
                </a:extLst>
              </a:tr>
              <a:tr h="424221">
                <a:tc>
                  <a:txBody>
                    <a:bodyPr/>
                    <a:lstStyle/>
                    <a:p>
                      <a:pPr algn="ctr"/>
                      <a:r>
                        <a:rPr lang="fr-FR" sz="1000" b="1" i="0" kern="1200">
                          <a:solidFill>
                            <a:schemeClr val="bg1"/>
                          </a:solidFill>
                          <a:latin typeface="+mn-lt"/>
                          <a:ea typeface="+mn-ea"/>
                          <a:cs typeface="+mn-cs"/>
                        </a:rPr>
                        <a:t>Temps de mise en place</a:t>
                      </a:r>
                    </a:p>
                  </a:txBody>
                  <a:tcPr anchor="ctr">
                    <a:solidFill>
                      <a:schemeClr val="accent1">
                        <a:alpha val="60000"/>
                      </a:schemeClr>
                    </a:solidFill>
                  </a:tcPr>
                </a:tc>
                <a:tc>
                  <a:txBody>
                    <a:bodyPr/>
                    <a:lstStyle/>
                    <a:p>
                      <a:pPr algn="l"/>
                      <a:r>
                        <a:rPr lang="fr-FR" sz="800" kern="1200">
                          <a:solidFill>
                            <a:schemeClr val="tx1"/>
                          </a:solidFill>
                          <a:latin typeface="Arial Narrow" panose="020B0606020202030204" pitchFamily="34" charset="0"/>
                          <a:ea typeface="+mn-ea"/>
                          <a:cs typeface="+mn-cs"/>
                        </a:rPr>
                        <a:t>(+) En phase avec les délais</a:t>
                      </a:r>
                    </a:p>
                  </a:txBody>
                  <a:tcPr>
                    <a:solidFill>
                      <a:schemeClr val="accent2">
                        <a:lumMod val="60000"/>
                        <a:lumOff val="40000"/>
                      </a:schemeClr>
                    </a:solidFill>
                  </a:tcPr>
                </a:tc>
                <a:tc>
                  <a:txBody>
                    <a:bodyPr/>
                    <a:lstStyle/>
                    <a:p>
                      <a:pPr algn="l"/>
                      <a:r>
                        <a:rPr lang="fr-FR" sz="800" kern="1200">
                          <a:solidFill>
                            <a:schemeClr val="tx1"/>
                          </a:solidFill>
                          <a:latin typeface="Arial Narrow" panose="020B0606020202030204" pitchFamily="34" charset="0"/>
                          <a:ea typeface="+mn-ea"/>
                          <a:cs typeface="+mn-cs"/>
                        </a:rPr>
                        <a:t>(-) Délais moyennement dépassés</a:t>
                      </a:r>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Délais largement dépassés</a:t>
                      </a:r>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Délais légèrement dépassés</a:t>
                      </a:r>
                    </a:p>
                  </a:txBody>
                  <a:tcPr>
                    <a:solidFill>
                      <a:schemeClr val="accent5">
                        <a:lumMod val="60000"/>
                        <a:lumOff val="40000"/>
                      </a:schemeClr>
                    </a:solidFill>
                  </a:tcPr>
                </a:tc>
                <a:extLst>
                  <a:ext uri="{0D108BD9-81ED-4DB2-BD59-A6C34878D82A}">
                    <a16:rowId xmlns:a16="http://schemas.microsoft.com/office/drawing/2014/main" val="3918903826"/>
                  </a:ext>
                </a:extLst>
              </a:tr>
              <a:tr h="885818">
                <a:tc>
                  <a:txBody>
                    <a:bodyPr/>
                    <a:lstStyle/>
                    <a:p>
                      <a:pPr algn="ctr"/>
                      <a:r>
                        <a:rPr lang="fr-FR" sz="1000" b="1" i="0" kern="1200">
                          <a:solidFill>
                            <a:schemeClr val="bg1"/>
                          </a:solidFill>
                          <a:latin typeface="+mn-lt"/>
                          <a:ea typeface="+mn-ea"/>
                          <a:cs typeface="+mn-cs"/>
                        </a:rPr>
                        <a:t>Urbanisation et </a:t>
                      </a:r>
                    </a:p>
                    <a:p>
                      <a:pPr algn="ctr"/>
                      <a:r>
                        <a:rPr lang="fr-FR" sz="1000" b="1" i="0" kern="1200">
                          <a:solidFill>
                            <a:schemeClr val="bg1"/>
                          </a:solidFill>
                          <a:latin typeface="+mn-lt"/>
                          <a:ea typeface="+mn-ea"/>
                          <a:cs typeface="+mn-cs"/>
                        </a:rPr>
                        <a:t>Architecture</a:t>
                      </a:r>
                    </a:p>
                  </a:txBody>
                  <a:tcPr anchor="ctr">
                    <a:solidFill>
                      <a:schemeClr val="accent1">
                        <a:alpha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Architecture SOA</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Découplage fonctionnel et technique</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Simplicité de packaging et livrable</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Utilisation de la brique SI transverse dédiée</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Évolutif</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Service réutilisable</a:t>
                      </a:r>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Évolutif</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Service réutilisable</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Redondance des données.</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Fraîcheur de données J-2</a:t>
                      </a:r>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Complexification du SI.</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Obsolescence des technologies </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Manque de modularité.</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Couplage fonctionnel. </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Sécurité : Confidentialité non assurée</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Hors standard DBA </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Chargement manuel</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a:t>
                      </a:r>
                      <a:r>
                        <a:rPr lang="fr-FR" sz="800" kern="1200">
                          <a:solidFill>
                            <a:schemeClr val="tx1"/>
                          </a:solidFill>
                          <a:latin typeface="Arial Narrow" panose="020B0606020202030204" pitchFamily="34" charset="0"/>
                          <a:ea typeface="+mn-ea"/>
                          <a:cs typeface="+mn-cs"/>
                        </a:rPr>
                        <a:t>SI du domaine </a:t>
                      </a:r>
                      <a:r>
                        <a:rPr lang="fr-FR" sz="800" kern="1200" baseline="0">
                          <a:solidFill>
                            <a:schemeClr val="tx1"/>
                          </a:solidFill>
                          <a:latin typeface="Arial Narrow" panose="020B0606020202030204" pitchFamily="34" charset="0"/>
                          <a:ea typeface="+mn-ea"/>
                          <a:cs typeface="+mn-cs"/>
                        </a:rPr>
                        <a:t>urbanisé : </a:t>
                      </a:r>
                      <a:r>
                        <a:rPr lang="fr-FR" sz="800" kern="1200">
                          <a:solidFill>
                            <a:schemeClr val="tx1"/>
                          </a:solidFill>
                          <a:latin typeface="Arial Narrow" panose="020B0606020202030204" pitchFamily="34" charset="0"/>
                          <a:ea typeface="+mn-ea"/>
                          <a:cs typeface="+mn-cs"/>
                        </a:rPr>
                        <a:t>Architecture SOA, Architecture Agile, </a:t>
                      </a:r>
                      <a:r>
                        <a:rPr lang="fr-FR" sz="800" kern="1200" baseline="0">
                          <a:solidFill>
                            <a:schemeClr val="tx1"/>
                          </a:solidFill>
                          <a:latin typeface="Arial Narrow" panose="020B0606020202030204" pitchFamily="34" charset="0"/>
                          <a:ea typeface="+mn-ea"/>
                          <a:cs typeface="+mn-cs"/>
                        </a:rPr>
                        <a:t>Briques communes ou réutilisables, agrégateurs...</a:t>
                      </a:r>
                      <a:endParaRPr lang="fr-FR" sz="800" kern="120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Simplification du SI.</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baseline="0">
                          <a:solidFill>
                            <a:schemeClr val="tx1"/>
                          </a:solidFill>
                          <a:latin typeface="Arial Narrow" panose="020B0606020202030204" pitchFamily="34" charset="0"/>
                          <a:ea typeface="+mn-ea"/>
                          <a:cs typeface="+mn-cs"/>
                        </a:rPr>
                        <a:t>(+) Évolutif</a:t>
                      </a:r>
                    </a:p>
                  </a:txBody>
                  <a:tcPr>
                    <a:solidFill>
                      <a:schemeClr val="accent2">
                        <a:lumMod val="60000"/>
                        <a:lumOff val="40000"/>
                      </a:schemeClr>
                    </a:solidFill>
                  </a:tcPr>
                </a:tc>
                <a:extLst>
                  <a:ext uri="{0D108BD9-81ED-4DB2-BD59-A6C34878D82A}">
                    <a16:rowId xmlns:a16="http://schemas.microsoft.com/office/drawing/2014/main" val="2505225186"/>
                  </a:ext>
                </a:extLst>
              </a:tr>
              <a:tr h="771519">
                <a:tc>
                  <a:txBody>
                    <a:bodyPr/>
                    <a:lstStyle/>
                    <a:p>
                      <a:pPr algn="ctr"/>
                      <a:r>
                        <a:rPr lang="fr-FR" sz="1000" b="1" i="0" kern="1200">
                          <a:solidFill>
                            <a:schemeClr val="bg1"/>
                          </a:solidFill>
                          <a:latin typeface="+mn-lt"/>
                          <a:ea typeface="+mn-ea"/>
                          <a:cs typeface="+mn-cs"/>
                        </a:rPr>
                        <a:t>Impacts</a:t>
                      </a:r>
                      <a:endParaRPr lang="fr-FR" sz="1000" b="1" i="0" kern="1200" baseline="0">
                        <a:solidFill>
                          <a:schemeClr val="bg1"/>
                        </a:solidFill>
                        <a:latin typeface="+mn-lt"/>
                        <a:ea typeface="+mn-ea"/>
                        <a:cs typeface="+mn-cs"/>
                      </a:endParaRPr>
                    </a:p>
                  </a:txBody>
                  <a:tcPr anchor="ctr">
                    <a:solidFill>
                      <a:schemeClr val="accent1">
                        <a:alpha val="60000"/>
                      </a:schemeClr>
                    </a:solidFill>
                  </a:tcPr>
                </a:tc>
                <a:tc>
                  <a:txBody>
                    <a:bodyPr/>
                    <a:lstStyle/>
                    <a:p>
                      <a:pPr algn="l"/>
                      <a:r>
                        <a:rPr lang="fr-FR" sz="800" kern="1200">
                          <a:solidFill>
                            <a:schemeClr val="tx1"/>
                          </a:solidFill>
                          <a:latin typeface="Arial Narrow" panose="020B0606020202030204" pitchFamily="34" charset="0"/>
                          <a:ea typeface="+mn-ea"/>
                          <a:cs typeface="+mn-cs"/>
                        </a:rPr>
                        <a:t>Impact faible</a:t>
                      </a:r>
                    </a:p>
                    <a:p>
                      <a:pPr marL="0" indent="0" algn="l">
                        <a:buFontTx/>
                        <a:buNone/>
                      </a:pPr>
                      <a:r>
                        <a:rPr lang="fr-FR" sz="800" kern="1200">
                          <a:solidFill>
                            <a:schemeClr val="tx1"/>
                          </a:solidFill>
                          <a:latin typeface="Arial Narrow" panose="020B0606020202030204" pitchFamily="34" charset="0"/>
                          <a:ea typeface="+mn-ea"/>
                          <a:cs typeface="+mn-cs"/>
                        </a:rPr>
                        <a:t>- Évolution application App1</a:t>
                      </a:r>
                    </a:p>
                  </a:txBody>
                  <a:tcPr>
                    <a:solidFill>
                      <a:schemeClr val="accent2">
                        <a:lumMod val="60000"/>
                        <a:lumOff val="40000"/>
                      </a:schemeClr>
                    </a:solidFill>
                  </a:tcPr>
                </a:tc>
                <a:tc>
                  <a:txBody>
                    <a:bodyPr/>
                    <a:lstStyle/>
                    <a:p>
                      <a:pPr algn="l"/>
                      <a:r>
                        <a:rPr lang="fr-FR" sz="800" kern="1200">
                          <a:solidFill>
                            <a:schemeClr val="tx1"/>
                          </a:solidFill>
                          <a:latin typeface="Arial Narrow" panose="020B0606020202030204" pitchFamily="34" charset="0"/>
                          <a:ea typeface="+mn-ea"/>
                          <a:cs typeface="+mn-cs"/>
                        </a:rPr>
                        <a:t>Impact moyen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a:t>
                      </a:r>
                      <a:r>
                        <a:rPr lang="fr-FR" sz="800" kern="1200" baseline="0">
                          <a:solidFill>
                            <a:schemeClr val="tx1"/>
                          </a:solidFill>
                          <a:latin typeface="Arial Narrow" panose="020B0606020202030204" pitchFamily="34" charset="0"/>
                          <a:ea typeface="+mn-ea"/>
                          <a:cs typeface="+mn-cs"/>
                        </a:rPr>
                        <a:t> </a:t>
                      </a:r>
                      <a:r>
                        <a:rPr lang="fr-FR" sz="800" kern="1200">
                          <a:solidFill>
                            <a:schemeClr val="tx1"/>
                          </a:solidFill>
                          <a:latin typeface="Arial Narrow" panose="020B0606020202030204" pitchFamily="34" charset="0"/>
                          <a:ea typeface="+mn-ea"/>
                          <a:cs typeface="+mn-cs"/>
                        </a:rPr>
                        <a:t>Ajout application App2</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Décommissionnement</a:t>
                      </a:r>
                      <a:r>
                        <a:rPr lang="fr-FR" sz="800" kern="1200" baseline="0">
                          <a:solidFill>
                            <a:schemeClr val="tx1"/>
                          </a:solidFill>
                          <a:latin typeface="Arial Narrow" panose="020B0606020202030204" pitchFamily="34" charset="0"/>
                          <a:ea typeface="+mn-ea"/>
                          <a:cs typeface="+mn-cs"/>
                        </a:rPr>
                        <a:t> </a:t>
                      </a:r>
                      <a:r>
                        <a:rPr lang="fr-FR" sz="800" kern="1200">
                          <a:solidFill>
                            <a:schemeClr val="tx1"/>
                          </a:solidFill>
                          <a:latin typeface="Arial Narrow" panose="020B0606020202030204" pitchFamily="34" charset="0"/>
                          <a:ea typeface="+mn-ea"/>
                          <a:cs typeface="+mn-cs"/>
                        </a:rPr>
                        <a:t>App1</a:t>
                      </a:r>
                    </a:p>
                    <a:p>
                      <a:pPr marL="0" indent="0" algn="l">
                        <a:buFontTx/>
                        <a:buNone/>
                      </a:pPr>
                      <a:endParaRPr lang="fr-FR" sz="800" kern="1200">
                        <a:solidFill>
                          <a:schemeClr val="tx1"/>
                        </a:solidFill>
                        <a:latin typeface="Arial Narrow" panose="020B0606020202030204" pitchFamily="34" charset="0"/>
                        <a:ea typeface="+mn-ea"/>
                        <a:cs typeface="+mn-cs"/>
                      </a:endParaRPr>
                    </a:p>
                    <a:p>
                      <a:pPr marL="0" indent="0" algn="l">
                        <a:buFontTx/>
                        <a:buNone/>
                      </a:pPr>
                      <a:endParaRPr lang="fr-FR" sz="800" kern="1200">
                        <a:solidFill>
                          <a:schemeClr val="tx1"/>
                        </a:solidFill>
                        <a:latin typeface="Arial Narrow" panose="020B0606020202030204" pitchFamily="34" charset="0"/>
                        <a:ea typeface="+mn-ea"/>
                        <a:cs typeface="+mn-cs"/>
                      </a:endParaRPr>
                    </a:p>
                  </a:txBody>
                  <a:tcPr>
                    <a:solidFill>
                      <a:schemeClr val="accent5">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Impact fort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800" kern="1200">
                          <a:solidFill>
                            <a:schemeClr val="tx1"/>
                          </a:solidFill>
                          <a:latin typeface="Arial Narrow" panose="020B0606020202030204" pitchFamily="34" charset="0"/>
                          <a:ea typeface="+mn-ea"/>
                          <a:cs typeface="+mn-cs"/>
                        </a:rPr>
                        <a:t>Ajout application App2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800" kern="1200" baseline="0">
                          <a:solidFill>
                            <a:schemeClr val="tx1"/>
                          </a:solidFill>
                          <a:latin typeface="Arial Narrow" panose="020B0606020202030204" pitchFamily="34" charset="0"/>
                          <a:ea typeface="+mn-ea"/>
                          <a:cs typeface="+mn-cs"/>
                        </a:rPr>
                        <a:t>Développement </a:t>
                      </a:r>
                      <a:r>
                        <a:rPr lang="fr-FR" sz="800" kern="1200" baseline="0" err="1">
                          <a:solidFill>
                            <a:schemeClr val="tx1"/>
                          </a:solidFill>
                          <a:latin typeface="Arial Narrow" panose="020B0606020202030204" pitchFamily="34" charset="0"/>
                          <a:ea typeface="+mn-ea"/>
                          <a:cs typeface="+mn-cs"/>
                        </a:rPr>
                        <a:t>webservice</a:t>
                      </a:r>
                      <a:endParaRPr lang="fr-FR" sz="800" kern="1200" baseline="0">
                        <a:solidFill>
                          <a:schemeClr val="tx1"/>
                        </a:solidFill>
                        <a:latin typeface="Arial Narrow" panose="020B060602020203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800" kern="1200">
                          <a:solidFill>
                            <a:schemeClr val="tx1"/>
                          </a:solidFill>
                          <a:latin typeface="Arial Narrow" panose="020B0606020202030204" pitchFamily="34" charset="0"/>
                          <a:ea typeface="+mn-ea"/>
                          <a:cs typeface="+mn-cs"/>
                        </a:rPr>
                        <a:t>Ajout environnement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800" kern="1200">
                          <a:solidFill>
                            <a:schemeClr val="tx1"/>
                          </a:solidFill>
                          <a:latin typeface="Arial Narrow" panose="020B0606020202030204" pitchFamily="34" charset="0"/>
                          <a:ea typeface="+mn-ea"/>
                          <a:cs typeface="+mn-cs"/>
                        </a:rPr>
                        <a:t>Ajout </a:t>
                      </a:r>
                      <a:r>
                        <a:rPr lang="fr-FR" sz="800" kern="1200" baseline="0">
                          <a:solidFill>
                            <a:schemeClr val="tx1"/>
                          </a:solidFill>
                          <a:latin typeface="Arial Narrow" panose="020B0606020202030204" pitchFamily="34" charset="0"/>
                          <a:ea typeface="+mn-ea"/>
                          <a:cs typeface="+mn-cs"/>
                        </a:rPr>
                        <a:t>livrables (doc exploitation)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800" kern="1200" baseline="0">
                          <a:solidFill>
                            <a:schemeClr val="tx1"/>
                          </a:solidFill>
                          <a:latin typeface="Arial Narrow" panose="020B0606020202030204" pitchFamily="34" charset="0"/>
                          <a:ea typeface="+mn-ea"/>
                          <a:cs typeface="+mn-cs"/>
                        </a:rPr>
                        <a:t>Nouveaux processus DSI</a:t>
                      </a:r>
                    </a:p>
                  </a:txBody>
                  <a:tcPr>
                    <a:solidFill>
                      <a:schemeClr val="accent4">
                        <a:lumMod val="40000"/>
                        <a:lumOff val="60000"/>
                      </a:schemeClr>
                    </a:solidFill>
                  </a:tcPr>
                </a:tc>
                <a:tc>
                  <a:txBody>
                    <a:bodyPr/>
                    <a:lstStyle/>
                    <a:p>
                      <a:pPr algn="l"/>
                      <a:r>
                        <a:rPr lang="fr-FR" sz="800" kern="1200">
                          <a:solidFill>
                            <a:schemeClr val="tx1"/>
                          </a:solidFill>
                          <a:latin typeface="Arial Narrow" panose="020B0606020202030204" pitchFamily="34" charset="0"/>
                          <a:ea typeface="+mn-ea"/>
                          <a:cs typeface="+mn-cs"/>
                        </a:rPr>
                        <a:t>Impact moyen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a:t>
                      </a:r>
                      <a:r>
                        <a:rPr lang="fr-FR" sz="800" kern="1200" baseline="0">
                          <a:solidFill>
                            <a:schemeClr val="tx1"/>
                          </a:solidFill>
                          <a:latin typeface="Arial Narrow" panose="020B0606020202030204" pitchFamily="34" charset="0"/>
                          <a:ea typeface="+mn-ea"/>
                          <a:cs typeface="+mn-cs"/>
                        </a:rPr>
                        <a:t> </a:t>
                      </a:r>
                      <a:r>
                        <a:rPr lang="fr-FR" sz="800" kern="1200">
                          <a:solidFill>
                            <a:schemeClr val="tx1"/>
                          </a:solidFill>
                          <a:latin typeface="Arial Narrow" panose="020B0606020202030204" pitchFamily="34" charset="0"/>
                          <a:ea typeface="+mn-ea"/>
                          <a:cs typeface="+mn-cs"/>
                        </a:rPr>
                        <a:t>Ajout application App2</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Décommissionnement</a:t>
                      </a:r>
                      <a:r>
                        <a:rPr lang="fr-FR" sz="800" kern="1200" baseline="0">
                          <a:solidFill>
                            <a:schemeClr val="tx1"/>
                          </a:solidFill>
                          <a:latin typeface="Arial Narrow" panose="020B0606020202030204" pitchFamily="34" charset="0"/>
                          <a:ea typeface="+mn-ea"/>
                          <a:cs typeface="+mn-cs"/>
                        </a:rPr>
                        <a:t> </a:t>
                      </a:r>
                      <a:r>
                        <a:rPr lang="fr-FR" sz="800" kern="1200">
                          <a:solidFill>
                            <a:schemeClr val="tx1"/>
                          </a:solidFill>
                          <a:latin typeface="Arial Narrow" panose="020B0606020202030204" pitchFamily="34" charset="0"/>
                          <a:ea typeface="+mn-ea"/>
                          <a:cs typeface="+mn-cs"/>
                        </a:rPr>
                        <a:t>App1</a:t>
                      </a:r>
                    </a:p>
                  </a:txBody>
                  <a:tcPr>
                    <a:solidFill>
                      <a:schemeClr val="accent5">
                        <a:lumMod val="60000"/>
                        <a:lumOff val="40000"/>
                      </a:schemeClr>
                    </a:solidFill>
                  </a:tcPr>
                </a:tc>
                <a:extLst>
                  <a:ext uri="{0D108BD9-81ED-4DB2-BD59-A6C34878D82A}">
                    <a16:rowId xmlns:a16="http://schemas.microsoft.com/office/drawing/2014/main" val="3822166264"/>
                  </a:ext>
                </a:extLst>
              </a:tr>
              <a:tr h="424221">
                <a:tc>
                  <a:txBody>
                    <a:bodyPr/>
                    <a:lstStyle/>
                    <a:p>
                      <a:pPr algn="ctr"/>
                      <a:r>
                        <a:rPr lang="fr-FR" sz="1000" b="1" i="0" kern="1200">
                          <a:solidFill>
                            <a:schemeClr val="bg1"/>
                          </a:solidFill>
                          <a:latin typeface="+mn-lt"/>
                          <a:ea typeface="+mn-ea"/>
                          <a:cs typeface="+mn-cs"/>
                        </a:rPr>
                        <a:t>Gains espérés</a:t>
                      </a:r>
                    </a:p>
                  </a:txBody>
                  <a:tcPr anchor="ctr">
                    <a:solidFill>
                      <a:schemeClr val="accent1">
                        <a:alpha val="60000"/>
                      </a:schemeClr>
                    </a:solidFill>
                  </a:tcPr>
                </a:tc>
                <a:tc>
                  <a:txBody>
                    <a:bodyPr/>
                    <a:lstStyle/>
                    <a:p>
                      <a:pPr algn="l"/>
                      <a:endParaRPr lang="fr-FR" sz="800" kern="1200" baseline="0">
                        <a:solidFill>
                          <a:schemeClr val="tx1"/>
                        </a:solidFill>
                        <a:latin typeface="Arial Narrow" panose="020B0606020202030204" pitchFamily="34" charset="0"/>
                        <a:ea typeface="+mn-ea"/>
                        <a:cs typeface="+mn-cs"/>
                      </a:endParaRPr>
                    </a:p>
                  </a:txBody>
                  <a:tcPr>
                    <a:solidFill>
                      <a:schemeClr val="accent2">
                        <a:lumMod val="60000"/>
                        <a:lumOff val="40000"/>
                      </a:schemeClr>
                    </a:solidFill>
                  </a:tcPr>
                </a:tc>
                <a:tc>
                  <a:txBody>
                    <a:bodyPr/>
                    <a:lstStyle/>
                    <a:p>
                      <a:pPr algn="l"/>
                      <a:endParaRPr lang="fr-FR" sz="800" kern="1200" baseline="0">
                        <a:solidFill>
                          <a:schemeClr val="tx1"/>
                        </a:solidFill>
                        <a:latin typeface="Arial Narrow" panose="020B0606020202030204" pitchFamily="34" charset="0"/>
                        <a:ea typeface="+mn-ea"/>
                        <a:cs typeface="+mn-cs"/>
                      </a:endParaRPr>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800" kern="1200" baseline="0">
                        <a:solidFill>
                          <a:schemeClr val="tx1"/>
                        </a:solidFill>
                        <a:latin typeface="Arial Narrow" panose="020B0606020202030204" pitchFamily="34" charset="0"/>
                        <a:ea typeface="+mn-ea"/>
                        <a:cs typeface="+mn-cs"/>
                      </a:endParaRPr>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800" kern="1200">
                        <a:solidFill>
                          <a:schemeClr val="tx1"/>
                        </a:solidFill>
                        <a:latin typeface="Arial Narrow" panose="020B0606020202030204" pitchFamily="34" charset="0"/>
                        <a:ea typeface="+mn-ea"/>
                        <a:cs typeface="+mn-cs"/>
                      </a:endParaRPr>
                    </a:p>
                  </a:txBody>
                  <a:tcPr>
                    <a:solidFill>
                      <a:schemeClr val="accent2">
                        <a:lumMod val="60000"/>
                        <a:lumOff val="40000"/>
                      </a:schemeClr>
                    </a:solidFill>
                  </a:tcPr>
                </a:tc>
                <a:extLst>
                  <a:ext uri="{0D108BD9-81ED-4DB2-BD59-A6C34878D82A}">
                    <a16:rowId xmlns:a16="http://schemas.microsoft.com/office/drawing/2014/main" val="1204684916"/>
                  </a:ext>
                </a:extLst>
              </a:tr>
              <a:tr h="542920">
                <a:tc>
                  <a:txBody>
                    <a:bodyPr/>
                    <a:lstStyle/>
                    <a:p>
                      <a:pPr algn="ctr"/>
                      <a:r>
                        <a:rPr lang="fr-FR" sz="1000" b="1" i="0" kern="1200">
                          <a:solidFill>
                            <a:schemeClr val="bg1"/>
                          </a:solidFill>
                          <a:latin typeface="+mn-lt"/>
                          <a:ea typeface="+mn-ea"/>
                          <a:cs typeface="+mn-cs"/>
                        </a:rPr>
                        <a:t>Risques (probabilité, gravité)</a:t>
                      </a:r>
                    </a:p>
                  </a:txBody>
                  <a:tcPr anchor="ctr">
                    <a:solidFill>
                      <a:schemeClr val="accent1">
                        <a:alpha val="60000"/>
                      </a:schemeClr>
                    </a:solidFill>
                  </a:tcPr>
                </a:tc>
                <a:tc>
                  <a:txBody>
                    <a:bodyPr/>
                    <a:lstStyle/>
                    <a:p>
                      <a:pPr algn="l"/>
                      <a:r>
                        <a:rPr lang="fr-FR" sz="800" kern="1200" baseline="0">
                          <a:solidFill>
                            <a:schemeClr val="tx1"/>
                          </a:solidFill>
                          <a:latin typeface="Arial Narrow" panose="020B0606020202030204" pitchFamily="34" charset="0"/>
                          <a:ea typeface="+mn-ea"/>
                          <a:cs typeface="+mn-cs"/>
                        </a:rPr>
                        <a:t>NA</a:t>
                      </a:r>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Dérive </a:t>
                      </a:r>
                      <a:r>
                        <a:rPr lang="fr-FR" sz="800" kern="1200" baseline="0">
                          <a:solidFill>
                            <a:schemeClr val="tx1"/>
                          </a:solidFill>
                          <a:latin typeface="Arial Narrow" panose="020B0606020202030204" pitchFamily="34" charset="0"/>
                          <a:ea typeface="+mn-ea"/>
                          <a:cs typeface="+mn-cs"/>
                        </a:rPr>
                        <a:t>planning (dépendance équipe Z)</a:t>
                      </a:r>
                      <a:endParaRPr lang="fr-FR" sz="800" kern="1200">
                        <a:solidFill>
                          <a:schemeClr val="tx1"/>
                        </a:solidFill>
                        <a:latin typeface="Arial Narrow" panose="020B0606020202030204" pitchFamily="34" charset="0"/>
                        <a:ea typeface="+mn-ea"/>
                        <a:cs typeface="+mn-cs"/>
                      </a:endParaRPr>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Non respect</a:t>
                      </a:r>
                      <a:r>
                        <a:rPr lang="fr-FR" sz="800" kern="1200" baseline="0">
                          <a:solidFill>
                            <a:schemeClr val="tx1"/>
                          </a:solidFill>
                          <a:latin typeface="Arial Narrow" panose="020B0606020202030204" pitchFamily="34" charset="0"/>
                          <a:ea typeface="+mn-ea"/>
                          <a:cs typeface="+mn-cs"/>
                        </a:rPr>
                        <a:t> engagements </a:t>
                      </a:r>
                      <a:r>
                        <a:rPr lang="fr-FR" sz="800" kern="1200">
                          <a:solidFill>
                            <a:schemeClr val="tx1"/>
                          </a:solidFill>
                          <a:latin typeface="Arial Narrow" panose="020B0606020202030204" pitchFamily="34" charset="0"/>
                          <a:ea typeface="+mn-ea"/>
                          <a:cs typeface="+mn-cs"/>
                        </a:rPr>
                        <a:t>SLA (disponibilité, performance, back-up, …)</a:t>
                      </a:r>
                      <a:endParaRPr lang="fr-FR" sz="800" kern="1200" baseline="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Risque impact performance App4</a:t>
                      </a:r>
                    </a:p>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 Augmentation du travail du</a:t>
                      </a:r>
                      <a:r>
                        <a:rPr lang="fr-FR" sz="800" kern="1200" baseline="0">
                          <a:solidFill>
                            <a:schemeClr val="tx1"/>
                          </a:solidFill>
                          <a:latin typeface="Arial Narrow" panose="020B0606020202030204" pitchFamily="34" charset="0"/>
                          <a:ea typeface="+mn-ea"/>
                          <a:cs typeface="+mn-cs"/>
                        </a:rPr>
                        <a:t> métier</a:t>
                      </a:r>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800" kern="1200">
                          <a:solidFill>
                            <a:schemeClr val="tx1"/>
                          </a:solidFill>
                          <a:latin typeface="Arial Narrow" panose="020B0606020202030204" pitchFamily="34" charset="0"/>
                          <a:ea typeface="+mn-ea"/>
                          <a:cs typeface="+mn-cs"/>
                        </a:rPr>
                        <a:t>NA</a:t>
                      </a:r>
                    </a:p>
                  </a:txBody>
                  <a:tcPr>
                    <a:solidFill>
                      <a:schemeClr val="accent2">
                        <a:lumMod val="60000"/>
                        <a:lumOff val="40000"/>
                      </a:schemeClr>
                    </a:solidFill>
                  </a:tcPr>
                </a:tc>
                <a:extLst>
                  <a:ext uri="{0D108BD9-81ED-4DB2-BD59-A6C34878D82A}">
                    <a16:rowId xmlns:a16="http://schemas.microsoft.com/office/drawing/2014/main" val="3287069577"/>
                  </a:ext>
                </a:extLst>
              </a:tr>
              <a:tr h="424221">
                <a:tc>
                  <a:txBody>
                    <a:bodyPr/>
                    <a:lstStyle/>
                    <a:p>
                      <a:pPr algn="ctr"/>
                      <a:r>
                        <a:rPr lang="fr-FR" sz="1000" b="1" i="0" kern="1200">
                          <a:solidFill>
                            <a:schemeClr val="bg1"/>
                          </a:solidFill>
                          <a:latin typeface="+mn-lt"/>
                          <a:ea typeface="+mn-ea"/>
                          <a:cs typeface="+mn-cs"/>
                        </a:rPr>
                        <a:t>Prérequis </a:t>
                      </a:r>
                    </a:p>
                  </a:txBody>
                  <a:tcPr anchor="ctr">
                    <a:solidFill>
                      <a:schemeClr val="accent1">
                        <a:alpha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i="0"/>
                    </a:p>
                  </a:txBody>
                  <a:tcPr anchor="ctr">
                    <a:solidFill>
                      <a:schemeClr val="accent2">
                        <a:lumMod val="60000"/>
                        <a:lumOff val="40000"/>
                      </a:schemeClr>
                    </a:solidFill>
                  </a:tcPr>
                </a:tc>
                <a:tc gridSpan="3">
                  <a:txBody>
                    <a:bodyPr/>
                    <a:lstStyle/>
                    <a:p>
                      <a:pPr algn="ctr"/>
                      <a:r>
                        <a:rPr lang="fr-FR" sz="1200" i="0"/>
                        <a:t>Évolution Brique Technologique B1</a:t>
                      </a:r>
                    </a:p>
                  </a:txBody>
                  <a:tcPr anchor="ctr"/>
                </a:tc>
                <a:tc hMerge="1">
                  <a:txBody>
                    <a:bodyPr/>
                    <a:lstStyle/>
                    <a:p>
                      <a:pPr algn="l"/>
                      <a:endParaRPr lang="fr-FR" i="0"/>
                    </a:p>
                  </a:txBody>
                  <a:tcPr anchor="ctr"/>
                </a:tc>
                <a:tc hMerge="1">
                  <a:txBody>
                    <a:bodyPr/>
                    <a:lstStyle/>
                    <a:p>
                      <a:endParaRPr lang="fr-FR"/>
                    </a:p>
                  </a:txBody>
                  <a:tcPr/>
                </a:tc>
                <a:extLst>
                  <a:ext uri="{0D108BD9-81ED-4DB2-BD59-A6C34878D82A}">
                    <a16:rowId xmlns:a16="http://schemas.microsoft.com/office/drawing/2014/main" val="440746152"/>
                  </a:ext>
                </a:extLst>
              </a:tr>
            </a:tbl>
          </a:graphicData>
        </a:graphic>
      </p:graphicFrame>
      <p:sp>
        <p:nvSpPr>
          <p:cNvPr id="28" name="ZoneTexte 27">
            <a:extLst>
              <a:ext uri="{FF2B5EF4-FFF2-40B4-BE49-F238E27FC236}">
                <a16:creationId xmlns:a16="http://schemas.microsoft.com/office/drawing/2014/main" id="{9AF3FDE2-3CB6-0F81-9477-2967ACE649FD}"/>
              </a:ext>
            </a:extLst>
          </p:cNvPr>
          <p:cNvSpPr txBox="1"/>
          <p:nvPr>
            <p:custDataLst>
              <p:tags r:id="rId3"/>
            </p:custDataLst>
          </p:nvPr>
        </p:nvSpPr>
        <p:spPr>
          <a:xfrm rot="16200000">
            <a:off x="-2062823" y="4184039"/>
            <a:ext cx="4435477" cy="246221"/>
          </a:xfrm>
          <a:prstGeom prst="rect">
            <a:avLst/>
          </a:prstGeom>
          <a:noFill/>
        </p:spPr>
        <p:txBody>
          <a:bodyPr wrap="square">
            <a:spAutoFit/>
          </a:bodyPr>
          <a:lstStyle/>
          <a:p>
            <a:pPr algn="ctr"/>
            <a:r>
              <a:rPr lang="fr-FR" sz="1000"/>
              <a:t>Critères de choix de scénario d’architecture SI </a:t>
            </a:r>
          </a:p>
        </p:txBody>
      </p:sp>
      <p:sp>
        <p:nvSpPr>
          <p:cNvPr id="29" name="Rectangle 28">
            <a:extLst>
              <a:ext uri="{FF2B5EF4-FFF2-40B4-BE49-F238E27FC236}">
                <a16:creationId xmlns:a16="http://schemas.microsoft.com/office/drawing/2014/main" id="{74B9FFD3-12A2-46B9-872D-96FEF2A698A3}"/>
              </a:ext>
            </a:extLst>
          </p:cNvPr>
          <p:cNvSpPr/>
          <p:nvPr>
            <p:custDataLst>
              <p:tags r:id="rId4"/>
            </p:custDataLst>
          </p:nvPr>
        </p:nvSpPr>
        <p:spPr>
          <a:xfrm>
            <a:off x="1493520" y="1917700"/>
            <a:ext cx="3437890" cy="4859906"/>
          </a:xfrm>
          <a:prstGeom prst="rect">
            <a:avLst/>
          </a:prstGeom>
          <a:noFill/>
          <a:ln w="793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chemeClr val="accent2"/>
              </a:solidFill>
              <a:latin typeface="+mj-lt"/>
            </a:endParaRPr>
          </a:p>
        </p:txBody>
      </p:sp>
      <p:sp>
        <p:nvSpPr>
          <p:cNvPr id="30" name="Rectangle 29">
            <a:extLst>
              <a:ext uri="{FF2B5EF4-FFF2-40B4-BE49-F238E27FC236}">
                <a16:creationId xmlns:a16="http://schemas.microsoft.com/office/drawing/2014/main" id="{F4D636D6-6564-3DED-34A7-7ED269D17D94}"/>
              </a:ext>
            </a:extLst>
          </p:cNvPr>
          <p:cNvSpPr/>
          <p:nvPr>
            <p:custDataLst>
              <p:tags r:id="rId5"/>
            </p:custDataLst>
          </p:nvPr>
        </p:nvSpPr>
        <p:spPr>
          <a:xfrm>
            <a:off x="1546860" y="1981201"/>
            <a:ext cx="3307080" cy="4732020"/>
          </a:xfrm>
          <a:prstGeom prst="rect">
            <a:avLst/>
          </a:prstGeom>
          <a:noFill/>
          <a:ln w="793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rgbClr val="00B0F0"/>
              </a:solidFill>
              <a:latin typeface="+mj-lt"/>
            </a:endParaRPr>
          </a:p>
        </p:txBody>
      </p:sp>
      <p:sp>
        <p:nvSpPr>
          <p:cNvPr id="31" name="Rectangle 30">
            <a:extLst>
              <a:ext uri="{FF2B5EF4-FFF2-40B4-BE49-F238E27FC236}">
                <a16:creationId xmlns:a16="http://schemas.microsoft.com/office/drawing/2014/main" id="{417192A6-125D-0724-150D-CE4240AD9898}"/>
              </a:ext>
            </a:extLst>
          </p:cNvPr>
          <p:cNvSpPr/>
          <p:nvPr>
            <p:custDataLst>
              <p:tags r:id="rId6"/>
            </p:custDataLst>
          </p:nvPr>
        </p:nvSpPr>
        <p:spPr>
          <a:xfrm>
            <a:off x="9988550" y="1647254"/>
            <a:ext cx="1696426" cy="5130352"/>
          </a:xfrm>
          <a:prstGeom prst="rect">
            <a:avLst/>
          </a:prstGeom>
          <a:noFill/>
          <a:ln w="825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rgbClr val="00B0F0"/>
              </a:solidFill>
              <a:latin typeface="+mj-lt"/>
            </a:endParaRPr>
          </a:p>
        </p:txBody>
      </p:sp>
      <p:sp>
        <p:nvSpPr>
          <p:cNvPr id="12" name="Rectangle : coins arrondis 11">
            <a:extLst>
              <a:ext uri="{FF2B5EF4-FFF2-40B4-BE49-F238E27FC236}">
                <a16:creationId xmlns:a16="http://schemas.microsoft.com/office/drawing/2014/main" id="{8A9A0520-B050-39EF-0685-49C6B4B0128C}"/>
              </a:ext>
            </a:extLst>
          </p:cNvPr>
          <p:cNvSpPr/>
          <p:nvPr/>
        </p:nvSpPr>
        <p:spPr>
          <a:xfrm rot="19965072">
            <a:off x="2837542" y="3262344"/>
            <a:ext cx="7621531" cy="1511915"/>
          </a:xfrm>
          <a:prstGeom prst="roundRect">
            <a:avLst>
              <a:gd name="adj" fmla="val 50000"/>
            </a:avLst>
          </a:prstGeom>
          <a:solidFill>
            <a:schemeClr val="bg1">
              <a:alpha val="37000"/>
            </a:schemeClr>
          </a:solidFill>
          <a:ln w="12660" cap="flat">
            <a:solidFill>
              <a:srgbClr val="00A885">
                <a:alpha val="11000"/>
              </a:srgbClr>
            </a:solidFill>
            <a:prstDash val="dash"/>
            <a:miter/>
          </a:ln>
        </p:spPr>
        <p:txBody>
          <a:bodyPr rtlCol="0" anchor="ctr"/>
          <a:lstStyle/>
          <a:p>
            <a:pPr algn="ctr"/>
            <a:r>
              <a:rPr lang="fr-FR" sz="6000" b="1" spc="400">
                <a:solidFill>
                  <a:srgbClr val="00A885">
                    <a:alpha val="11000"/>
                  </a:srgbClr>
                </a:solidFill>
                <a:latin typeface="Avenir Next LT Pro" panose="020B0504020202020204" pitchFamily="34" charset="0"/>
              </a:rPr>
              <a:t>EXEMPLE</a:t>
            </a:r>
          </a:p>
        </p:txBody>
      </p:sp>
      <p:grpSp>
        <p:nvGrpSpPr>
          <p:cNvPr id="3" name="Groupe 2">
            <a:extLst>
              <a:ext uri="{FF2B5EF4-FFF2-40B4-BE49-F238E27FC236}">
                <a16:creationId xmlns:a16="http://schemas.microsoft.com/office/drawing/2014/main" id="{FC6FF12F-0B21-D552-539D-68668683C654}"/>
              </a:ext>
            </a:extLst>
          </p:cNvPr>
          <p:cNvGrpSpPr/>
          <p:nvPr/>
        </p:nvGrpSpPr>
        <p:grpSpPr>
          <a:xfrm>
            <a:off x="9827839" y="529011"/>
            <a:ext cx="1857137" cy="603666"/>
            <a:chOff x="9750115" y="1599440"/>
            <a:chExt cx="1857137" cy="603666"/>
          </a:xfrm>
        </p:grpSpPr>
        <p:sp>
          <p:nvSpPr>
            <p:cNvPr id="4" name="Rectangle : coins arrondis 3">
              <a:extLst>
                <a:ext uri="{FF2B5EF4-FFF2-40B4-BE49-F238E27FC236}">
                  <a16:creationId xmlns:a16="http://schemas.microsoft.com/office/drawing/2014/main" id="{D945A44E-C245-7F52-472A-9253C1A04EDA}"/>
                </a:ext>
              </a:extLst>
            </p:cNvPr>
            <p:cNvSpPr/>
            <p:nvPr/>
          </p:nvSpPr>
          <p:spPr>
            <a:xfrm>
              <a:off x="9750115" y="1599440"/>
              <a:ext cx="1857137" cy="603666"/>
            </a:xfrm>
            <a:prstGeom prst="roundRect">
              <a:avLst>
                <a:gd name="adj" fmla="val 16667"/>
              </a:avLst>
            </a:prstGeom>
            <a:solidFill>
              <a:schemeClr val="bg1"/>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chemeClr val="tx1"/>
                </a:solidFill>
                <a:latin typeface="+mj-lt"/>
              </a:endParaRPr>
            </a:p>
          </p:txBody>
        </p:sp>
        <p:sp>
          <p:nvSpPr>
            <p:cNvPr id="8" name="Rectangle 7">
              <a:extLst>
                <a:ext uri="{FF2B5EF4-FFF2-40B4-BE49-F238E27FC236}">
                  <a16:creationId xmlns:a16="http://schemas.microsoft.com/office/drawing/2014/main" id="{46097CA0-8C2C-1DCC-A196-FB2B929C693D}"/>
                </a:ext>
              </a:extLst>
            </p:cNvPr>
            <p:cNvSpPr/>
            <p:nvPr>
              <p:custDataLst>
                <p:tags r:id="rId8"/>
              </p:custDataLst>
            </p:nvPr>
          </p:nvSpPr>
          <p:spPr>
            <a:xfrm>
              <a:off x="9904392" y="1784246"/>
              <a:ext cx="1569722" cy="3240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8000"/>
                </a:lnSpc>
              </a:pPr>
              <a:r>
                <a:rPr lang="en-GB" sz="1200">
                  <a:solidFill>
                    <a:schemeClr val="tx1"/>
                  </a:solidFill>
                  <a:latin typeface="Avenir Next LT Pro" panose="020B0504020202020204" pitchFamily="34" charset="0"/>
                </a:rPr>
                <a:t>Architecture  recommended scenario</a:t>
              </a:r>
            </a:p>
          </p:txBody>
        </p:sp>
      </p:grpSp>
      <p:grpSp>
        <p:nvGrpSpPr>
          <p:cNvPr id="9" name="Groupe 8">
            <a:extLst>
              <a:ext uri="{FF2B5EF4-FFF2-40B4-BE49-F238E27FC236}">
                <a16:creationId xmlns:a16="http://schemas.microsoft.com/office/drawing/2014/main" id="{F3F29C01-B977-AF05-968A-B92A5A481212}"/>
              </a:ext>
            </a:extLst>
          </p:cNvPr>
          <p:cNvGrpSpPr/>
          <p:nvPr/>
        </p:nvGrpSpPr>
        <p:grpSpPr>
          <a:xfrm>
            <a:off x="7917222" y="529771"/>
            <a:ext cx="1857137" cy="603666"/>
            <a:chOff x="7839498" y="1600200"/>
            <a:chExt cx="1857137" cy="603666"/>
          </a:xfrm>
        </p:grpSpPr>
        <p:sp>
          <p:nvSpPr>
            <p:cNvPr id="10" name="Rectangle : coins arrondis 9">
              <a:extLst>
                <a:ext uri="{FF2B5EF4-FFF2-40B4-BE49-F238E27FC236}">
                  <a16:creationId xmlns:a16="http://schemas.microsoft.com/office/drawing/2014/main" id="{8FEC2C6A-6139-9D31-92A0-ECD056B3F58C}"/>
                </a:ext>
              </a:extLst>
            </p:cNvPr>
            <p:cNvSpPr/>
            <p:nvPr/>
          </p:nvSpPr>
          <p:spPr>
            <a:xfrm>
              <a:off x="7839498" y="1600200"/>
              <a:ext cx="1857137" cy="603666"/>
            </a:xfrm>
            <a:prstGeom prst="roundRect">
              <a:avLst>
                <a:gd name="adj" fmla="val 13511"/>
              </a:avLst>
            </a:prstGeom>
            <a:solidFill>
              <a:schemeClr val="bg1"/>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chemeClr val="tx1"/>
                </a:solidFill>
                <a:latin typeface="+mj-lt"/>
              </a:endParaRPr>
            </a:p>
          </p:txBody>
        </p:sp>
        <p:sp>
          <p:nvSpPr>
            <p:cNvPr id="11" name="Rectangle 10">
              <a:extLst>
                <a:ext uri="{FF2B5EF4-FFF2-40B4-BE49-F238E27FC236}">
                  <a16:creationId xmlns:a16="http://schemas.microsoft.com/office/drawing/2014/main" id="{4A6D8FE6-A45D-0AAD-7FC7-2F7251923834}"/>
                </a:ext>
              </a:extLst>
            </p:cNvPr>
            <p:cNvSpPr/>
            <p:nvPr>
              <p:custDataLst>
                <p:tags r:id="rId7"/>
              </p:custDataLst>
            </p:nvPr>
          </p:nvSpPr>
          <p:spPr>
            <a:xfrm>
              <a:off x="7972637" y="1761760"/>
              <a:ext cx="1569722" cy="3240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8000"/>
                </a:lnSpc>
              </a:pPr>
              <a:r>
                <a:rPr lang="en-GB" sz="1200">
                  <a:solidFill>
                    <a:schemeClr val="tx1"/>
                  </a:solidFill>
                  <a:latin typeface="Avenir Next LT Pro" panose="020B0504020202020204" pitchFamily="34" charset="0"/>
                </a:rPr>
                <a:t>IT Project Team uphold scenario </a:t>
              </a:r>
            </a:p>
          </p:txBody>
        </p:sp>
      </p:grpSp>
      <p:sp>
        <p:nvSpPr>
          <p:cNvPr id="13" name="Espace réservé de la date 12">
            <a:extLst>
              <a:ext uri="{FF2B5EF4-FFF2-40B4-BE49-F238E27FC236}">
                <a16:creationId xmlns:a16="http://schemas.microsoft.com/office/drawing/2014/main" id="{A9ADE5B6-1479-4E4A-0549-CA49BB0F2083}"/>
              </a:ext>
            </a:extLst>
          </p:cNvPr>
          <p:cNvSpPr>
            <a:spLocks noGrp="1"/>
          </p:cNvSpPr>
          <p:nvPr>
            <p:ph type="dt" sz="half" idx="10"/>
          </p:nvPr>
        </p:nvSpPr>
        <p:spPr/>
        <p:txBody>
          <a:bodyPr/>
          <a:lstStyle/>
          <a:p>
            <a:r>
              <a:rPr lang="fr-FR"/>
              <a:t>Juin 2024</a:t>
            </a:r>
          </a:p>
        </p:txBody>
      </p:sp>
      <p:sp>
        <p:nvSpPr>
          <p:cNvPr id="14" name="Espace réservé du pied de page 13">
            <a:extLst>
              <a:ext uri="{FF2B5EF4-FFF2-40B4-BE49-F238E27FC236}">
                <a16:creationId xmlns:a16="http://schemas.microsoft.com/office/drawing/2014/main" id="{8E9BF345-1379-A44F-C149-D328C65B87C9}"/>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38149336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0" name="Ellipse 169">
            <a:extLst>
              <a:ext uri="{FF2B5EF4-FFF2-40B4-BE49-F238E27FC236}">
                <a16:creationId xmlns:a16="http://schemas.microsoft.com/office/drawing/2014/main" id="{F22E6E38-C3EF-40F3-34AF-316B5B68B8FD}"/>
              </a:ext>
            </a:extLst>
          </p:cNvPr>
          <p:cNvSpPr/>
          <p:nvPr/>
        </p:nvSpPr>
        <p:spPr>
          <a:xfrm>
            <a:off x="4276053" y="3101086"/>
            <a:ext cx="609481" cy="667792"/>
          </a:xfrm>
          <a:prstGeom prst="ellipse">
            <a:avLst/>
          </a:prstGeom>
          <a:solidFill>
            <a:srgbClr val="00A885">
              <a:alpha val="16000"/>
            </a:srgbClr>
          </a:solidFill>
          <a:ln w="12660" cap="flat">
            <a:noFill/>
            <a:prstDash val="solid"/>
            <a:miter/>
          </a:ln>
          <a:effectLst>
            <a:outerShdw blurRad="152400" dist="101600" dir="2700000" algn="tl" rotWithShape="0">
              <a:prstClr val="black">
                <a:alpha val="40000"/>
              </a:prstClr>
            </a:outerShdw>
          </a:effectLst>
        </p:spPr>
        <p:txBody>
          <a:bodyPr rtlCol="0" anchor="ctr"/>
          <a:lstStyle/>
          <a:p>
            <a:pPr algn="l"/>
            <a:endParaRPr lang="fr-FR">
              <a:solidFill>
                <a:srgbClr val="93C52A"/>
              </a:solidFill>
            </a:endParaRPr>
          </a:p>
        </p:txBody>
      </p:sp>
      <p:sp>
        <p:nvSpPr>
          <p:cNvPr id="169" name="Rectangle : coins arrondis 168">
            <a:extLst>
              <a:ext uri="{FF2B5EF4-FFF2-40B4-BE49-F238E27FC236}">
                <a16:creationId xmlns:a16="http://schemas.microsoft.com/office/drawing/2014/main" id="{4AA74770-2A85-FC4F-174F-F0B087D28370}"/>
              </a:ext>
            </a:extLst>
          </p:cNvPr>
          <p:cNvSpPr/>
          <p:nvPr/>
        </p:nvSpPr>
        <p:spPr>
          <a:xfrm>
            <a:off x="5727242" y="5623504"/>
            <a:ext cx="4346033" cy="769921"/>
          </a:xfrm>
          <a:prstGeom prst="roundRect">
            <a:avLst>
              <a:gd name="adj" fmla="val 50000"/>
            </a:avLst>
          </a:prstGeom>
          <a:solidFill>
            <a:schemeClr val="bg1">
              <a:alpha val="37000"/>
            </a:schemeClr>
          </a:solidFill>
          <a:ln w="12660" cap="flat">
            <a:solidFill>
              <a:schemeClr val="tx1">
                <a:alpha val="28000"/>
              </a:schemeClr>
            </a:solidFill>
            <a:prstDash val="dash"/>
            <a:miter/>
          </a:ln>
        </p:spPr>
        <p:txBody>
          <a:bodyPr rtlCol="0" anchor="ctr"/>
          <a:lstStyle/>
          <a:p>
            <a:pPr algn="ctr"/>
            <a:r>
              <a:rPr lang="fr-FR" sz="6000" b="1" spc="400">
                <a:solidFill>
                  <a:schemeClr val="tx1">
                    <a:alpha val="5000"/>
                  </a:schemeClr>
                </a:solidFill>
                <a:latin typeface="Avenir Next LT Pro" panose="020B0504020202020204" pitchFamily="34" charset="0"/>
              </a:rPr>
              <a:t>EXEMPLE</a:t>
            </a:r>
          </a:p>
        </p:txBody>
      </p:sp>
      <p:sp>
        <p:nvSpPr>
          <p:cNvPr id="2" name="Titre 1">
            <a:extLst>
              <a:ext uri="{FF2B5EF4-FFF2-40B4-BE49-F238E27FC236}">
                <a16:creationId xmlns:a16="http://schemas.microsoft.com/office/drawing/2014/main" id="{30FD0DFA-AEBD-823C-1B04-5BD7A98CC53B}"/>
              </a:ext>
            </a:extLst>
          </p:cNvPr>
          <p:cNvSpPr>
            <a:spLocks noGrp="1"/>
          </p:cNvSpPr>
          <p:nvPr>
            <p:ph type="title"/>
          </p:nvPr>
        </p:nvSpPr>
        <p:spPr>
          <a:xfrm>
            <a:off x="537575" y="849535"/>
            <a:ext cx="4201725" cy="590931"/>
          </a:xfrm>
        </p:spPr>
        <p:txBody>
          <a:bodyPr/>
          <a:lstStyle/>
          <a:p>
            <a:r>
              <a:rPr lang="en-GB" sz="3200" b="1">
                <a:latin typeface="Avenir Next LT Pro" panose="020B0504020202020204" pitchFamily="34" charset="0"/>
              </a:rPr>
              <a:t>Scenario overview</a:t>
            </a:r>
            <a:endParaRPr lang="en-GB" sz="3200" b="1" i="1">
              <a:solidFill>
                <a:srgbClr val="F5C56F"/>
              </a:solidFill>
              <a:latin typeface="Avenir Next LT Pro" panose="020B0504020202020204" pitchFamily="34" charset="0"/>
            </a:endParaRPr>
          </a:p>
        </p:txBody>
      </p:sp>
      <p:sp>
        <p:nvSpPr>
          <p:cNvPr id="5" name="Espace réservé du numéro de diapositive 4">
            <a:extLst>
              <a:ext uri="{FF2B5EF4-FFF2-40B4-BE49-F238E27FC236}">
                <a16:creationId xmlns:a16="http://schemas.microsoft.com/office/drawing/2014/main" id="{11CA0C56-5033-0292-49B8-50796A50D8F5}"/>
              </a:ext>
            </a:extLst>
          </p:cNvPr>
          <p:cNvSpPr>
            <a:spLocks noGrp="1"/>
          </p:cNvSpPr>
          <p:nvPr>
            <p:ph type="sldNum" sz="quarter" idx="12"/>
          </p:nvPr>
        </p:nvSpPr>
        <p:spPr/>
        <p:txBody>
          <a:bodyPr/>
          <a:lstStyle/>
          <a:p>
            <a:fld id="{CD166EB1-B284-8541-B839-321F682B6B05}" type="slidenum">
              <a:rPr lang="fr-FR" smtClean="0"/>
              <a:pPr/>
              <a:t>52</a:t>
            </a:fld>
            <a:endParaRPr lang="fr-FR"/>
          </a:p>
        </p:txBody>
      </p:sp>
      <p:sp>
        <p:nvSpPr>
          <p:cNvPr id="180" name="Espace réservé du texte 179">
            <a:extLst>
              <a:ext uri="{FF2B5EF4-FFF2-40B4-BE49-F238E27FC236}">
                <a16:creationId xmlns:a16="http://schemas.microsoft.com/office/drawing/2014/main" id="{FF39CEC6-6160-423C-8C28-C8944C7296C9}"/>
              </a:ext>
            </a:extLst>
          </p:cNvPr>
          <p:cNvSpPr>
            <a:spLocks noGrp="1"/>
          </p:cNvSpPr>
          <p:nvPr>
            <p:ph type="body" sz="quarter" idx="19"/>
          </p:nvPr>
        </p:nvSpPr>
        <p:spPr/>
        <p:txBody>
          <a:bodyPr/>
          <a:lstStyle/>
          <a:p>
            <a:endParaRPr lang="fr-FR"/>
          </a:p>
        </p:txBody>
      </p:sp>
      <p:sp>
        <p:nvSpPr>
          <p:cNvPr id="181" name="Espace réservé du texte 180">
            <a:extLst>
              <a:ext uri="{FF2B5EF4-FFF2-40B4-BE49-F238E27FC236}">
                <a16:creationId xmlns:a16="http://schemas.microsoft.com/office/drawing/2014/main" id="{F87A7A83-7DC9-0AE2-0679-94D2D7D40F08}"/>
              </a:ext>
            </a:extLst>
          </p:cNvPr>
          <p:cNvSpPr>
            <a:spLocks noGrp="1"/>
          </p:cNvSpPr>
          <p:nvPr>
            <p:ph type="body" sz="quarter" idx="30"/>
          </p:nvPr>
        </p:nvSpPr>
        <p:spPr/>
        <p:txBody>
          <a:bodyPr/>
          <a:lstStyle/>
          <a:p>
            <a:endParaRPr lang="fr-FR"/>
          </a:p>
        </p:txBody>
      </p:sp>
      <p:sp>
        <p:nvSpPr>
          <p:cNvPr id="28" name="ZoneTexte 27">
            <a:extLst>
              <a:ext uri="{FF2B5EF4-FFF2-40B4-BE49-F238E27FC236}">
                <a16:creationId xmlns:a16="http://schemas.microsoft.com/office/drawing/2014/main" id="{9AF3FDE2-3CB6-0F81-9477-2967ACE649FD}"/>
              </a:ext>
            </a:extLst>
          </p:cNvPr>
          <p:cNvSpPr txBox="1"/>
          <p:nvPr>
            <p:custDataLst>
              <p:tags r:id="rId1"/>
            </p:custDataLst>
          </p:nvPr>
        </p:nvSpPr>
        <p:spPr>
          <a:xfrm rot="16200000">
            <a:off x="-2517523" y="4033897"/>
            <a:ext cx="4435477" cy="246221"/>
          </a:xfrm>
          <a:prstGeom prst="rect">
            <a:avLst/>
          </a:prstGeom>
          <a:noFill/>
        </p:spPr>
        <p:txBody>
          <a:bodyPr wrap="square">
            <a:spAutoFit/>
          </a:bodyPr>
          <a:lstStyle/>
          <a:p>
            <a:pPr algn="ctr"/>
            <a:r>
              <a:rPr lang="fr-FR" sz="1000"/>
              <a:t>Critères de choix de scénario d’architecture SI </a:t>
            </a:r>
          </a:p>
        </p:txBody>
      </p:sp>
      <p:cxnSp>
        <p:nvCxnSpPr>
          <p:cNvPr id="39" name="Connecteur droit avec flèche 38">
            <a:extLst>
              <a:ext uri="{FF2B5EF4-FFF2-40B4-BE49-F238E27FC236}">
                <a16:creationId xmlns:a16="http://schemas.microsoft.com/office/drawing/2014/main" id="{99EC877B-8EB2-A35E-FAC6-563AF2B8C00F}"/>
              </a:ext>
            </a:extLst>
          </p:cNvPr>
          <p:cNvCxnSpPr>
            <a:cxnSpLocks/>
          </p:cNvCxnSpPr>
          <p:nvPr/>
        </p:nvCxnSpPr>
        <p:spPr>
          <a:xfrm flipV="1">
            <a:off x="3769978" y="1640693"/>
            <a:ext cx="0" cy="3455765"/>
          </a:xfrm>
          <a:prstGeom prst="straightConnector1">
            <a:avLst/>
          </a:prstGeom>
          <a:ln w="34925">
            <a:solidFill>
              <a:srgbClr val="102031"/>
            </a:solidFill>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DB3FA75B-FC51-C03E-A2C5-BE9F67F93121}"/>
              </a:ext>
            </a:extLst>
          </p:cNvPr>
          <p:cNvCxnSpPr>
            <a:cxnSpLocks/>
          </p:cNvCxnSpPr>
          <p:nvPr/>
        </p:nvCxnSpPr>
        <p:spPr>
          <a:xfrm>
            <a:off x="3769978" y="5096458"/>
            <a:ext cx="5234591" cy="0"/>
          </a:xfrm>
          <a:prstGeom prst="straightConnector1">
            <a:avLst/>
          </a:prstGeom>
          <a:ln w="34925">
            <a:solidFill>
              <a:srgbClr val="102031"/>
            </a:solidFill>
            <a:tailEnd type="arrow"/>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EF42EF8F-C628-93C0-C8A4-CB136021D889}"/>
              </a:ext>
            </a:extLst>
          </p:cNvPr>
          <p:cNvCxnSpPr>
            <a:cxnSpLocks/>
          </p:cNvCxnSpPr>
          <p:nvPr/>
        </p:nvCxnSpPr>
        <p:spPr>
          <a:xfrm flipH="1">
            <a:off x="1207404" y="5096458"/>
            <a:ext cx="2562574" cy="1447610"/>
          </a:xfrm>
          <a:prstGeom prst="straightConnector1">
            <a:avLst/>
          </a:prstGeom>
          <a:ln w="34925">
            <a:solidFill>
              <a:srgbClr val="102031"/>
            </a:solidFill>
            <a:tailEnd type="arrow"/>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A9D5E117-0B05-24E4-9FD1-FAEB5EEC0CA7}"/>
              </a:ext>
            </a:extLst>
          </p:cNvPr>
          <p:cNvSpPr txBox="1"/>
          <p:nvPr/>
        </p:nvSpPr>
        <p:spPr>
          <a:xfrm>
            <a:off x="5727242" y="5129249"/>
            <a:ext cx="1320061" cy="334579"/>
          </a:xfrm>
          <a:prstGeom prst="rect">
            <a:avLst/>
          </a:prstGeom>
          <a:noFill/>
        </p:spPr>
        <p:txBody>
          <a:bodyPr wrap="square">
            <a:spAutoFit/>
          </a:bodyPr>
          <a:lstStyle/>
          <a:p>
            <a:pPr algn="ctr">
              <a:lnSpc>
                <a:spcPct val="70000"/>
              </a:lnSpc>
            </a:pPr>
            <a:r>
              <a:rPr lang="en-GB" sz="1100" b="1" i="0" kern="1200">
                <a:latin typeface="Avenir Next LT Pro" panose="020B0504020202020204" pitchFamily="34" charset="0"/>
              </a:rPr>
              <a:t>Requirements </a:t>
            </a:r>
          </a:p>
          <a:p>
            <a:pPr algn="ctr">
              <a:lnSpc>
                <a:spcPct val="70000"/>
              </a:lnSpc>
            </a:pPr>
            <a:r>
              <a:rPr lang="en-GB" sz="1100" b="1" i="0" kern="1200">
                <a:latin typeface="Avenir Next LT Pro" panose="020B0504020202020204" pitchFamily="34" charset="0"/>
              </a:rPr>
              <a:t>coverage</a:t>
            </a:r>
          </a:p>
        </p:txBody>
      </p:sp>
      <p:sp>
        <p:nvSpPr>
          <p:cNvPr id="50" name="ZoneTexte 49">
            <a:extLst>
              <a:ext uri="{FF2B5EF4-FFF2-40B4-BE49-F238E27FC236}">
                <a16:creationId xmlns:a16="http://schemas.microsoft.com/office/drawing/2014/main" id="{7ACF436D-24CE-4A43-D064-58AE998D51F2}"/>
              </a:ext>
            </a:extLst>
          </p:cNvPr>
          <p:cNvSpPr txBox="1"/>
          <p:nvPr/>
        </p:nvSpPr>
        <p:spPr>
          <a:xfrm rot="-5400000">
            <a:off x="3220073" y="3173971"/>
            <a:ext cx="838200" cy="261610"/>
          </a:xfrm>
          <a:prstGeom prst="rect">
            <a:avLst/>
          </a:prstGeom>
          <a:noFill/>
        </p:spPr>
        <p:txBody>
          <a:bodyPr wrap="square">
            <a:spAutoFit/>
          </a:bodyPr>
          <a:lstStyle>
            <a:defPPr>
              <a:defRPr lang="fr-FR"/>
            </a:defPPr>
            <a:lvl1pPr algn="ctr">
              <a:defRPr sz="1100" b="1" i="0">
                <a:latin typeface="Avenir Next LT Pro" panose="020B0504020202020204" pitchFamily="34" charset="0"/>
              </a:defRPr>
            </a:lvl1pPr>
          </a:lstStyle>
          <a:p>
            <a:r>
              <a:rPr lang="en-GB"/>
              <a:t>Costs</a:t>
            </a:r>
          </a:p>
        </p:txBody>
      </p:sp>
      <p:sp>
        <p:nvSpPr>
          <p:cNvPr id="52" name="ZoneTexte 51">
            <a:extLst>
              <a:ext uri="{FF2B5EF4-FFF2-40B4-BE49-F238E27FC236}">
                <a16:creationId xmlns:a16="http://schemas.microsoft.com/office/drawing/2014/main" id="{AF99105F-AD73-50F7-07C8-69C47AFC569F}"/>
              </a:ext>
            </a:extLst>
          </p:cNvPr>
          <p:cNvSpPr txBox="1"/>
          <p:nvPr/>
        </p:nvSpPr>
        <p:spPr>
          <a:xfrm rot="-1800000">
            <a:off x="1651269" y="5672680"/>
            <a:ext cx="2105025" cy="261610"/>
          </a:xfrm>
          <a:prstGeom prst="rect">
            <a:avLst/>
          </a:prstGeom>
          <a:noFill/>
        </p:spPr>
        <p:txBody>
          <a:bodyPr wrap="square">
            <a:spAutoFit/>
            <a:scene3d>
              <a:camera prst="orthographicFront">
                <a:rot lat="0" lon="0" rev="0"/>
              </a:camera>
              <a:lightRig rig="threePt" dir="t"/>
            </a:scene3d>
          </a:bodyPr>
          <a:lstStyle>
            <a:defPPr>
              <a:defRPr lang="fr-FR"/>
            </a:defPPr>
            <a:lvl1pPr algn="ctr">
              <a:defRPr sz="1100" b="1" i="0">
                <a:latin typeface="Avenir Next LT Pro" panose="020B0504020202020204" pitchFamily="34" charset="0"/>
              </a:defRPr>
            </a:lvl1pPr>
          </a:lstStyle>
          <a:p>
            <a:r>
              <a:rPr lang="en-GB"/>
              <a:t>Commissioning time</a:t>
            </a:r>
          </a:p>
        </p:txBody>
      </p:sp>
      <p:pic>
        <p:nvPicPr>
          <p:cNvPr id="56" name="Graphique 55">
            <a:extLst>
              <a:ext uri="{FF2B5EF4-FFF2-40B4-BE49-F238E27FC236}">
                <a16:creationId xmlns:a16="http://schemas.microsoft.com/office/drawing/2014/main" id="{3C1DED37-4D6A-0CDA-D3DF-5612013EDE03}"/>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264489" y="3246565"/>
            <a:ext cx="400678" cy="400678"/>
          </a:xfrm>
          <a:prstGeom prst="rect">
            <a:avLst/>
          </a:prstGeom>
        </p:spPr>
      </p:pic>
      <p:pic>
        <p:nvPicPr>
          <p:cNvPr id="58" name="Graphique 57">
            <a:extLst>
              <a:ext uri="{FF2B5EF4-FFF2-40B4-BE49-F238E27FC236}">
                <a16:creationId xmlns:a16="http://schemas.microsoft.com/office/drawing/2014/main" id="{2F5167E7-DA8B-A56B-3A3D-703301A666ED}"/>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6751742" y="5167244"/>
            <a:ext cx="443500" cy="443500"/>
          </a:xfrm>
          <a:prstGeom prst="rect">
            <a:avLst/>
          </a:prstGeom>
        </p:spPr>
      </p:pic>
      <p:pic>
        <p:nvPicPr>
          <p:cNvPr id="59" name="Graphique 58">
            <a:extLst>
              <a:ext uri="{FF2B5EF4-FFF2-40B4-BE49-F238E27FC236}">
                <a16:creationId xmlns:a16="http://schemas.microsoft.com/office/drawing/2014/main" id="{0CB071C2-2585-E36C-4F1C-78B38DC505EF}"/>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2703781" y="5871284"/>
            <a:ext cx="307108" cy="307108"/>
          </a:xfrm>
          <a:prstGeom prst="rect">
            <a:avLst/>
          </a:prstGeom>
        </p:spPr>
      </p:pic>
      <p:sp>
        <p:nvSpPr>
          <p:cNvPr id="60" name="ZoneTexte 59">
            <a:extLst>
              <a:ext uri="{FF2B5EF4-FFF2-40B4-BE49-F238E27FC236}">
                <a16:creationId xmlns:a16="http://schemas.microsoft.com/office/drawing/2014/main" id="{4BD2C42E-D439-5210-EA98-8BA2F7D59B35}"/>
              </a:ext>
            </a:extLst>
          </p:cNvPr>
          <p:cNvSpPr txBox="1"/>
          <p:nvPr/>
        </p:nvSpPr>
        <p:spPr>
          <a:xfrm>
            <a:off x="3769978" y="4773666"/>
            <a:ext cx="1099955" cy="268535"/>
          </a:xfrm>
          <a:prstGeom prst="rect">
            <a:avLst/>
          </a:prstGeom>
          <a:noFill/>
        </p:spPr>
        <p:txBody>
          <a:bodyPr wrap="square">
            <a:spAutoFit/>
          </a:bodyPr>
          <a:lstStyle/>
          <a:p>
            <a:pPr>
              <a:lnSpc>
                <a:spcPct val="70000"/>
              </a:lnSpc>
            </a:pPr>
            <a:r>
              <a:rPr lang="en-GB" sz="800" i="1" kern="1200">
                <a:solidFill>
                  <a:schemeClr val="tx1">
                    <a:alpha val="60000"/>
                  </a:schemeClr>
                </a:solidFill>
                <a:latin typeface="Avenir Next LT Pro" panose="020B0504020202020204" pitchFamily="34" charset="0"/>
              </a:rPr>
              <a:t>Poor requirement </a:t>
            </a:r>
          </a:p>
          <a:p>
            <a:pPr>
              <a:lnSpc>
                <a:spcPct val="70000"/>
              </a:lnSpc>
            </a:pPr>
            <a:r>
              <a:rPr lang="en-GB" sz="800" i="1" kern="1200">
                <a:solidFill>
                  <a:schemeClr val="tx1">
                    <a:alpha val="60000"/>
                  </a:schemeClr>
                </a:solidFill>
                <a:latin typeface="Avenir Next LT Pro" panose="020B0504020202020204" pitchFamily="34" charset="0"/>
              </a:rPr>
              <a:t>coverage</a:t>
            </a:r>
          </a:p>
        </p:txBody>
      </p:sp>
      <p:sp>
        <p:nvSpPr>
          <p:cNvPr id="61" name="ZoneTexte 60">
            <a:extLst>
              <a:ext uri="{FF2B5EF4-FFF2-40B4-BE49-F238E27FC236}">
                <a16:creationId xmlns:a16="http://schemas.microsoft.com/office/drawing/2014/main" id="{7A040FE0-B7AA-BBA2-48BA-D5B0F170E677}"/>
              </a:ext>
            </a:extLst>
          </p:cNvPr>
          <p:cNvSpPr txBox="1"/>
          <p:nvPr/>
        </p:nvSpPr>
        <p:spPr>
          <a:xfrm>
            <a:off x="7952425" y="4773665"/>
            <a:ext cx="1099955" cy="268535"/>
          </a:xfrm>
          <a:prstGeom prst="rect">
            <a:avLst/>
          </a:prstGeom>
          <a:noFill/>
        </p:spPr>
        <p:txBody>
          <a:bodyPr wrap="square">
            <a:spAutoFit/>
          </a:bodyPr>
          <a:lstStyle/>
          <a:p>
            <a:pPr algn="r">
              <a:lnSpc>
                <a:spcPct val="70000"/>
              </a:lnSpc>
            </a:pPr>
            <a:r>
              <a:rPr lang="en-GB" sz="800" i="1" kern="1200">
                <a:solidFill>
                  <a:schemeClr val="tx1">
                    <a:alpha val="60000"/>
                  </a:schemeClr>
                </a:solidFill>
                <a:latin typeface="Avenir Next LT Pro" panose="020B0504020202020204" pitchFamily="34" charset="0"/>
              </a:rPr>
              <a:t>Large requirement </a:t>
            </a:r>
          </a:p>
          <a:p>
            <a:pPr algn="r">
              <a:lnSpc>
                <a:spcPct val="70000"/>
              </a:lnSpc>
            </a:pPr>
            <a:r>
              <a:rPr lang="en-GB" sz="800" i="1" kern="1200">
                <a:solidFill>
                  <a:schemeClr val="tx1">
                    <a:alpha val="60000"/>
                  </a:schemeClr>
                </a:solidFill>
                <a:latin typeface="Avenir Next LT Pro" panose="020B0504020202020204" pitchFamily="34" charset="0"/>
              </a:rPr>
              <a:t>coverage</a:t>
            </a:r>
          </a:p>
        </p:txBody>
      </p:sp>
      <p:sp>
        <p:nvSpPr>
          <p:cNvPr id="62" name="ZoneTexte 61">
            <a:extLst>
              <a:ext uri="{FF2B5EF4-FFF2-40B4-BE49-F238E27FC236}">
                <a16:creationId xmlns:a16="http://schemas.microsoft.com/office/drawing/2014/main" id="{DEF2B601-F97F-107D-DE47-E4539D47E5E8}"/>
              </a:ext>
            </a:extLst>
          </p:cNvPr>
          <p:cNvSpPr txBox="1"/>
          <p:nvPr/>
        </p:nvSpPr>
        <p:spPr>
          <a:xfrm>
            <a:off x="2670023" y="1811985"/>
            <a:ext cx="1099955" cy="354712"/>
          </a:xfrm>
          <a:prstGeom prst="rect">
            <a:avLst/>
          </a:prstGeom>
          <a:noFill/>
        </p:spPr>
        <p:txBody>
          <a:bodyPr wrap="square">
            <a:spAutoFit/>
          </a:bodyPr>
          <a:lstStyle/>
          <a:p>
            <a:pPr algn="r">
              <a:lnSpc>
                <a:spcPct val="70000"/>
              </a:lnSpc>
            </a:pPr>
            <a:r>
              <a:rPr lang="en-GB" sz="800" i="1" kern="1200">
                <a:solidFill>
                  <a:schemeClr val="tx1">
                    <a:alpha val="60000"/>
                  </a:schemeClr>
                </a:solidFill>
                <a:latin typeface="Avenir Next LT Pro" panose="020B0504020202020204" pitchFamily="34" charset="0"/>
              </a:rPr>
              <a:t>Low Commissioning Costs </a:t>
            </a:r>
          </a:p>
        </p:txBody>
      </p:sp>
      <p:sp>
        <p:nvSpPr>
          <p:cNvPr id="63" name="ZoneTexte 62">
            <a:extLst>
              <a:ext uri="{FF2B5EF4-FFF2-40B4-BE49-F238E27FC236}">
                <a16:creationId xmlns:a16="http://schemas.microsoft.com/office/drawing/2014/main" id="{002B25E3-DFB6-795B-3572-4A5E554A6C20}"/>
              </a:ext>
            </a:extLst>
          </p:cNvPr>
          <p:cNvSpPr txBox="1"/>
          <p:nvPr/>
        </p:nvSpPr>
        <p:spPr>
          <a:xfrm>
            <a:off x="2670022" y="4727111"/>
            <a:ext cx="1099955" cy="354712"/>
          </a:xfrm>
          <a:prstGeom prst="rect">
            <a:avLst/>
          </a:prstGeom>
          <a:noFill/>
        </p:spPr>
        <p:txBody>
          <a:bodyPr wrap="square">
            <a:spAutoFit/>
          </a:bodyPr>
          <a:lstStyle/>
          <a:p>
            <a:pPr algn="r">
              <a:lnSpc>
                <a:spcPct val="70000"/>
              </a:lnSpc>
            </a:pPr>
            <a:r>
              <a:rPr lang="en-GB" sz="800" i="1" kern="1200">
                <a:solidFill>
                  <a:schemeClr val="tx1">
                    <a:alpha val="60000"/>
                  </a:schemeClr>
                </a:solidFill>
                <a:latin typeface="Avenir Next LT Pro" panose="020B0504020202020204" pitchFamily="34" charset="0"/>
              </a:rPr>
              <a:t>High Commissioning Costs </a:t>
            </a:r>
          </a:p>
        </p:txBody>
      </p:sp>
      <p:sp>
        <p:nvSpPr>
          <p:cNvPr id="66" name="ZoneTexte 65">
            <a:extLst>
              <a:ext uri="{FF2B5EF4-FFF2-40B4-BE49-F238E27FC236}">
                <a16:creationId xmlns:a16="http://schemas.microsoft.com/office/drawing/2014/main" id="{5AA5DC43-C464-374D-47EB-9E2BD1AB726A}"/>
              </a:ext>
            </a:extLst>
          </p:cNvPr>
          <p:cNvSpPr txBox="1"/>
          <p:nvPr/>
        </p:nvSpPr>
        <p:spPr>
          <a:xfrm>
            <a:off x="3565060" y="5211638"/>
            <a:ext cx="1099955" cy="354712"/>
          </a:xfrm>
          <a:prstGeom prst="rect">
            <a:avLst/>
          </a:prstGeom>
          <a:noFill/>
        </p:spPr>
        <p:txBody>
          <a:bodyPr wrap="square">
            <a:spAutoFit/>
          </a:bodyPr>
          <a:lstStyle/>
          <a:p>
            <a:pPr>
              <a:lnSpc>
                <a:spcPct val="70000"/>
              </a:lnSpc>
            </a:pPr>
            <a:r>
              <a:rPr lang="en-GB" sz="800" i="1" kern="1200">
                <a:solidFill>
                  <a:schemeClr val="tx1">
                    <a:alpha val="60000"/>
                  </a:schemeClr>
                </a:solidFill>
                <a:latin typeface="Avenir Next LT Pro" panose="020B0504020202020204" pitchFamily="34" charset="0"/>
              </a:rPr>
              <a:t>High Commissioning Time </a:t>
            </a:r>
          </a:p>
        </p:txBody>
      </p:sp>
      <p:sp>
        <p:nvSpPr>
          <p:cNvPr id="67" name="ZoneTexte 66">
            <a:extLst>
              <a:ext uri="{FF2B5EF4-FFF2-40B4-BE49-F238E27FC236}">
                <a16:creationId xmlns:a16="http://schemas.microsoft.com/office/drawing/2014/main" id="{1272D2DB-BA22-7604-B1BD-BEE8C03C89FD}"/>
              </a:ext>
            </a:extLst>
          </p:cNvPr>
          <p:cNvSpPr txBox="1"/>
          <p:nvPr/>
        </p:nvSpPr>
        <p:spPr>
          <a:xfrm>
            <a:off x="1518125" y="6350355"/>
            <a:ext cx="1099955" cy="354712"/>
          </a:xfrm>
          <a:prstGeom prst="rect">
            <a:avLst/>
          </a:prstGeom>
          <a:noFill/>
        </p:spPr>
        <p:txBody>
          <a:bodyPr wrap="square">
            <a:spAutoFit/>
          </a:bodyPr>
          <a:lstStyle/>
          <a:p>
            <a:pPr>
              <a:lnSpc>
                <a:spcPct val="70000"/>
              </a:lnSpc>
            </a:pPr>
            <a:r>
              <a:rPr lang="en-GB" sz="800" i="1" kern="1200">
                <a:solidFill>
                  <a:schemeClr val="tx1">
                    <a:alpha val="60000"/>
                  </a:schemeClr>
                </a:solidFill>
                <a:latin typeface="Avenir Next LT Pro" panose="020B0504020202020204" pitchFamily="34" charset="0"/>
              </a:rPr>
              <a:t>Low Commissioning Time </a:t>
            </a:r>
          </a:p>
        </p:txBody>
      </p:sp>
      <p:sp>
        <p:nvSpPr>
          <p:cNvPr id="72" name="Ellipse 71">
            <a:extLst>
              <a:ext uri="{FF2B5EF4-FFF2-40B4-BE49-F238E27FC236}">
                <a16:creationId xmlns:a16="http://schemas.microsoft.com/office/drawing/2014/main" id="{B9E138FD-31E1-00FC-14C7-C99BB93A5519}"/>
              </a:ext>
            </a:extLst>
          </p:cNvPr>
          <p:cNvSpPr>
            <a:spLocks noChangeAspect="1"/>
          </p:cNvSpPr>
          <p:nvPr/>
        </p:nvSpPr>
        <p:spPr>
          <a:xfrm>
            <a:off x="5119091" y="4237958"/>
            <a:ext cx="144000" cy="144000"/>
          </a:xfrm>
          <a:prstGeom prst="ellipse">
            <a:avLst/>
          </a:prstGeom>
          <a:noFill/>
          <a:ln w="98425" cap="flat" cmpd="tri">
            <a:solidFill>
              <a:srgbClr val="FACA00"/>
            </a:solidFill>
            <a:prstDash val="solid"/>
            <a:miter/>
          </a:ln>
        </p:spPr>
        <p:txBody>
          <a:bodyPr rtlCol="0" anchor="ctr"/>
          <a:lstStyle/>
          <a:p>
            <a:pPr algn="l"/>
            <a:endParaRPr lang="fr-FR"/>
          </a:p>
        </p:txBody>
      </p:sp>
      <p:cxnSp>
        <p:nvCxnSpPr>
          <p:cNvPr id="75" name="Connecteur droit 74">
            <a:extLst>
              <a:ext uri="{FF2B5EF4-FFF2-40B4-BE49-F238E27FC236}">
                <a16:creationId xmlns:a16="http://schemas.microsoft.com/office/drawing/2014/main" id="{19A8A752-D97F-A4D8-6E9C-4B26403F6C1B}"/>
              </a:ext>
            </a:extLst>
          </p:cNvPr>
          <p:cNvCxnSpPr>
            <a:cxnSpLocks/>
            <a:stCxn id="68" idx="4"/>
          </p:cNvCxnSpPr>
          <p:nvPr/>
        </p:nvCxnSpPr>
        <p:spPr>
          <a:xfrm flipH="1">
            <a:off x="4528935" y="4212638"/>
            <a:ext cx="18204" cy="1658646"/>
          </a:xfrm>
          <a:prstGeom prst="line">
            <a:avLst/>
          </a:prstGeom>
          <a:ln w="15875">
            <a:solidFill>
              <a:srgbClr val="00B7B5">
                <a:alpha val="27000"/>
              </a:srgbClr>
            </a:solidFill>
            <a:prstDash val="sysDash"/>
          </a:ln>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8DABBC64-96B3-E599-0065-361224A38212}"/>
              </a:ext>
            </a:extLst>
          </p:cNvPr>
          <p:cNvCxnSpPr>
            <a:cxnSpLocks/>
            <a:stCxn id="68" idx="1"/>
          </p:cNvCxnSpPr>
          <p:nvPr/>
        </p:nvCxnSpPr>
        <p:spPr>
          <a:xfrm flipH="1" flipV="1">
            <a:off x="3769977" y="3504047"/>
            <a:ext cx="726250" cy="585679"/>
          </a:xfrm>
          <a:prstGeom prst="line">
            <a:avLst/>
          </a:prstGeom>
          <a:ln w="15875">
            <a:solidFill>
              <a:srgbClr val="00B7B5">
                <a:alpha val="27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204EBD2C-EDA3-8947-A969-A9755EB726DB}"/>
              </a:ext>
            </a:extLst>
          </p:cNvPr>
          <p:cNvCxnSpPr>
            <a:cxnSpLocks/>
          </p:cNvCxnSpPr>
          <p:nvPr/>
        </p:nvCxnSpPr>
        <p:spPr>
          <a:xfrm flipH="1">
            <a:off x="4523490" y="5115857"/>
            <a:ext cx="971995" cy="760190"/>
          </a:xfrm>
          <a:prstGeom prst="line">
            <a:avLst/>
          </a:prstGeom>
          <a:ln w="15875">
            <a:solidFill>
              <a:srgbClr val="00B7B5">
                <a:alpha val="27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86" name="Connecteur droit 85">
            <a:extLst>
              <a:ext uri="{FF2B5EF4-FFF2-40B4-BE49-F238E27FC236}">
                <a16:creationId xmlns:a16="http://schemas.microsoft.com/office/drawing/2014/main" id="{32EA8461-8F0C-4427-81AC-B1A29703F6C8}"/>
              </a:ext>
            </a:extLst>
          </p:cNvPr>
          <p:cNvCxnSpPr>
            <a:cxnSpLocks/>
          </p:cNvCxnSpPr>
          <p:nvPr/>
        </p:nvCxnSpPr>
        <p:spPr>
          <a:xfrm flipH="1" flipV="1">
            <a:off x="2863801" y="5850648"/>
            <a:ext cx="1669473" cy="20636"/>
          </a:xfrm>
          <a:prstGeom prst="line">
            <a:avLst/>
          </a:prstGeom>
          <a:ln w="15875">
            <a:solidFill>
              <a:srgbClr val="00B7B5">
                <a:alpha val="27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6FE6C6AA-BD94-92C1-BB18-4BE09DECCA93}"/>
              </a:ext>
            </a:extLst>
          </p:cNvPr>
          <p:cNvCxnSpPr>
            <a:cxnSpLocks/>
          </p:cNvCxnSpPr>
          <p:nvPr/>
        </p:nvCxnSpPr>
        <p:spPr>
          <a:xfrm flipH="1" flipV="1">
            <a:off x="3763190" y="5112604"/>
            <a:ext cx="760300" cy="758680"/>
          </a:xfrm>
          <a:prstGeom prst="line">
            <a:avLst/>
          </a:prstGeom>
          <a:ln w="15875">
            <a:solidFill>
              <a:srgbClr val="00B7B5">
                <a:alpha val="27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96" name="Connecteur droit avec flèche 95">
            <a:extLst>
              <a:ext uri="{FF2B5EF4-FFF2-40B4-BE49-F238E27FC236}">
                <a16:creationId xmlns:a16="http://schemas.microsoft.com/office/drawing/2014/main" id="{A8319FB7-9660-525F-1C5A-50DA00039282}"/>
              </a:ext>
            </a:extLst>
          </p:cNvPr>
          <p:cNvCxnSpPr>
            <a:cxnSpLocks/>
          </p:cNvCxnSpPr>
          <p:nvPr/>
        </p:nvCxnSpPr>
        <p:spPr>
          <a:xfrm flipV="1">
            <a:off x="3776767" y="4249178"/>
            <a:ext cx="690727" cy="839578"/>
          </a:xfrm>
          <a:prstGeom prst="straightConnector1">
            <a:avLst/>
          </a:prstGeom>
          <a:ln w="38100">
            <a:solidFill>
              <a:srgbClr val="00B7B5"/>
            </a:solidFill>
            <a:tailEnd type="arrow"/>
          </a:ln>
        </p:spPr>
        <p:style>
          <a:lnRef idx="1">
            <a:schemeClr val="accent1"/>
          </a:lnRef>
          <a:fillRef idx="0">
            <a:schemeClr val="accent1"/>
          </a:fillRef>
          <a:effectRef idx="0">
            <a:schemeClr val="accent1"/>
          </a:effectRef>
          <a:fontRef idx="minor">
            <a:schemeClr val="tx1"/>
          </a:fontRef>
        </p:style>
      </p:cxnSp>
      <p:cxnSp>
        <p:nvCxnSpPr>
          <p:cNvPr id="100" name="Connecteur droit 99">
            <a:extLst>
              <a:ext uri="{FF2B5EF4-FFF2-40B4-BE49-F238E27FC236}">
                <a16:creationId xmlns:a16="http://schemas.microsoft.com/office/drawing/2014/main" id="{5628593A-810A-5A8B-0D6C-C3EDBBD8D608}"/>
              </a:ext>
            </a:extLst>
          </p:cNvPr>
          <p:cNvCxnSpPr>
            <a:cxnSpLocks/>
            <a:stCxn id="72" idx="4"/>
          </p:cNvCxnSpPr>
          <p:nvPr/>
        </p:nvCxnSpPr>
        <p:spPr>
          <a:xfrm>
            <a:off x="5191091" y="4381958"/>
            <a:ext cx="0" cy="1796434"/>
          </a:xfrm>
          <a:prstGeom prst="line">
            <a:avLst/>
          </a:prstGeom>
          <a:ln w="19050">
            <a:solidFill>
              <a:srgbClr val="FACA00">
                <a:alpha val="45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102" name="Connecteur droit 101">
            <a:extLst>
              <a:ext uri="{FF2B5EF4-FFF2-40B4-BE49-F238E27FC236}">
                <a16:creationId xmlns:a16="http://schemas.microsoft.com/office/drawing/2014/main" id="{207C0F42-7F1C-4AF3-29E6-86EBE51ACD70}"/>
              </a:ext>
            </a:extLst>
          </p:cNvPr>
          <p:cNvCxnSpPr>
            <a:cxnSpLocks/>
            <a:stCxn id="72" idx="1"/>
          </p:cNvCxnSpPr>
          <p:nvPr/>
        </p:nvCxnSpPr>
        <p:spPr>
          <a:xfrm flipH="1" flipV="1">
            <a:off x="3768994" y="3214128"/>
            <a:ext cx="1371185" cy="1044918"/>
          </a:xfrm>
          <a:prstGeom prst="line">
            <a:avLst/>
          </a:prstGeom>
          <a:ln w="12700">
            <a:solidFill>
              <a:srgbClr val="FACA00"/>
            </a:solidFill>
            <a:prstDash val="dash"/>
          </a:ln>
        </p:spPr>
        <p:style>
          <a:lnRef idx="1">
            <a:schemeClr val="accent1"/>
          </a:lnRef>
          <a:fillRef idx="0">
            <a:schemeClr val="accent1"/>
          </a:fillRef>
          <a:effectRef idx="0">
            <a:schemeClr val="accent1"/>
          </a:effectRef>
          <a:fontRef idx="minor">
            <a:schemeClr val="tx1"/>
          </a:fontRef>
        </p:style>
      </p:cxnSp>
      <p:cxnSp>
        <p:nvCxnSpPr>
          <p:cNvPr id="108" name="Connecteur droit 107">
            <a:extLst>
              <a:ext uri="{FF2B5EF4-FFF2-40B4-BE49-F238E27FC236}">
                <a16:creationId xmlns:a16="http://schemas.microsoft.com/office/drawing/2014/main" id="{FCF72D02-BB51-6396-7E1D-3EF51454C6A5}"/>
              </a:ext>
            </a:extLst>
          </p:cNvPr>
          <p:cNvCxnSpPr>
            <a:cxnSpLocks/>
          </p:cNvCxnSpPr>
          <p:nvPr/>
        </p:nvCxnSpPr>
        <p:spPr>
          <a:xfrm flipH="1">
            <a:off x="5212071" y="5416751"/>
            <a:ext cx="781280" cy="744243"/>
          </a:xfrm>
          <a:prstGeom prst="line">
            <a:avLst/>
          </a:prstGeom>
          <a:ln w="12700">
            <a:solidFill>
              <a:srgbClr val="FACA00">
                <a:alpha val="62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72DFA3EC-74DC-3AEB-0A1C-0416149E17B0}"/>
              </a:ext>
            </a:extLst>
          </p:cNvPr>
          <p:cNvCxnSpPr>
            <a:cxnSpLocks/>
          </p:cNvCxnSpPr>
          <p:nvPr/>
        </p:nvCxnSpPr>
        <p:spPr>
          <a:xfrm>
            <a:off x="3104805" y="6154261"/>
            <a:ext cx="2101207" cy="16645"/>
          </a:xfrm>
          <a:prstGeom prst="line">
            <a:avLst/>
          </a:prstGeom>
          <a:ln w="19050">
            <a:solidFill>
              <a:srgbClr val="FACA00">
                <a:alpha val="62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9A52D1C3-BA1B-E2B5-EDB8-47402A174CBC}"/>
              </a:ext>
            </a:extLst>
          </p:cNvPr>
          <p:cNvCxnSpPr>
            <a:endCxn id="72" idx="3"/>
          </p:cNvCxnSpPr>
          <p:nvPr/>
        </p:nvCxnSpPr>
        <p:spPr>
          <a:xfrm flipV="1">
            <a:off x="3776767" y="4360870"/>
            <a:ext cx="1363412" cy="735588"/>
          </a:xfrm>
          <a:prstGeom prst="straightConnector1">
            <a:avLst/>
          </a:prstGeom>
          <a:ln w="38100">
            <a:solidFill>
              <a:srgbClr val="FACA00"/>
            </a:solidFill>
            <a:tailEnd type="arrow"/>
          </a:ln>
        </p:spPr>
        <p:style>
          <a:lnRef idx="1">
            <a:schemeClr val="accent1"/>
          </a:lnRef>
          <a:fillRef idx="0">
            <a:schemeClr val="accent1"/>
          </a:fillRef>
          <a:effectRef idx="0">
            <a:schemeClr val="accent1"/>
          </a:effectRef>
          <a:fontRef idx="minor">
            <a:schemeClr val="tx1"/>
          </a:fontRef>
        </p:style>
      </p:cxnSp>
      <p:cxnSp>
        <p:nvCxnSpPr>
          <p:cNvPr id="120" name="Connecteur droit 119">
            <a:extLst>
              <a:ext uri="{FF2B5EF4-FFF2-40B4-BE49-F238E27FC236}">
                <a16:creationId xmlns:a16="http://schemas.microsoft.com/office/drawing/2014/main" id="{6DEDC3F1-B513-2788-79CF-0B7582681169}"/>
              </a:ext>
            </a:extLst>
          </p:cNvPr>
          <p:cNvCxnSpPr>
            <a:cxnSpLocks/>
            <a:stCxn id="73" idx="4"/>
          </p:cNvCxnSpPr>
          <p:nvPr/>
        </p:nvCxnSpPr>
        <p:spPr>
          <a:xfrm flipH="1">
            <a:off x="4552584" y="3507859"/>
            <a:ext cx="37837" cy="2872926"/>
          </a:xfrm>
          <a:prstGeom prst="line">
            <a:avLst/>
          </a:prstGeom>
          <a:ln w="19050">
            <a:solidFill>
              <a:srgbClr val="E65012">
                <a:alpha val="45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961B58F2-94B9-B681-A40E-84ECC56B13E5}"/>
              </a:ext>
            </a:extLst>
          </p:cNvPr>
          <p:cNvCxnSpPr>
            <a:cxnSpLocks/>
            <a:endCxn id="73" idx="1"/>
          </p:cNvCxnSpPr>
          <p:nvPr/>
        </p:nvCxnSpPr>
        <p:spPr>
          <a:xfrm>
            <a:off x="3768994" y="2827241"/>
            <a:ext cx="770515" cy="557706"/>
          </a:xfrm>
          <a:prstGeom prst="line">
            <a:avLst/>
          </a:prstGeom>
          <a:ln w="19050">
            <a:solidFill>
              <a:srgbClr val="E65012">
                <a:alpha val="45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134" name="Connecteur droit 133">
            <a:extLst>
              <a:ext uri="{FF2B5EF4-FFF2-40B4-BE49-F238E27FC236}">
                <a16:creationId xmlns:a16="http://schemas.microsoft.com/office/drawing/2014/main" id="{F96CEDE1-D642-9F71-900F-B25FB5D3F97A}"/>
              </a:ext>
            </a:extLst>
          </p:cNvPr>
          <p:cNvCxnSpPr>
            <a:cxnSpLocks/>
          </p:cNvCxnSpPr>
          <p:nvPr/>
        </p:nvCxnSpPr>
        <p:spPr>
          <a:xfrm flipH="1">
            <a:off x="4554253" y="5126889"/>
            <a:ext cx="1319360" cy="1223466"/>
          </a:xfrm>
          <a:prstGeom prst="line">
            <a:avLst/>
          </a:prstGeom>
          <a:ln w="19050">
            <a:solidFill>
              <a:srgbClr val="E65012">
                <a:alpha val="45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137" name="Connecteur droit 136">
            <a:extLst>
              <a:ext uri="{FF2B5EF4-FFF2-40B4-BE49-F238E27FC236}">
                <a16:creationId xmlns:a16="http://schemas.microsoft.com/office/drawing/2014/main" id="{2113C4C6-DD63-585F-BAAB-CD75A31828C0}"/>
              </a:ext>
            </a:extLst>
          </p:cNvPr>
          <p:cNvCxnSpPr>
            <a:cxnSpLocks/>
          </p:cNvCxnSpPr>
          <p:nvPr/>
        </p:nvCxnSpPr>
        <p:spPr>
          <a:xfrm flipH="1" flipV="1">
            <a:off x="1590957" y="6356794"/>
            <a:ext cx="2932533" cy="35905"/>
          </a:xfrm>
          <a:prstGeom prst="line">
            <a:avLst/>
          </a:prstGeom>
          <a:ln w="19050">
            <a:solidFill>
              <a:srgbClr val="E65012">
                <a:alpha val="45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142" name="Connecteur droit avec flèche 141">
            <a:extLst>
              <a:ext uri="{FF2B5EF4-FFF2-40B4-BE49-F238E27FC236}">
                <a16:creationId xmlns:a16="http://schemas.microsoft.com/office/drawing/2014/main" id="{E30EE42C-8DA3-42C0-F07F-7F7CC366C754}"/>
              </a:ext>
            </a:extLst>
          </p:cNvPr>
          <p:cNvCxnSpPr>
            <a:cxnSpLocks/>
            <a:endCxn id="73" idx="3"/>
          </p:cNvCxnSpPr>
          <p:nvPr/>
        </p:nvCxnSpPr>
        <p:spPr>
          <a:xfrm flipV="1">
            <a:off x="3789288" y="3486771"/>
            <a:ext cx="750221" cy="1640118"/>
          </a:xfrm>
          <a:prstGeom prst="straightConnector1">
            <a:avLst/>
          </a:prstGeom>
          <a:ln w="38100">
            <a:solidFill>
              <a:srgbClr val="E65012"/>
            </a:solidFill>
            <a:tailEnd type="arrow"/>
          </a:ln>
        </p:spPr>
        <p:style>
          <a:lnRef idx="1">
            <a:schemeClr val="accent1"/>
          </a:lnRef>
          <a:fillRef idx="0">
            <a:schemeClr val="accent1"/>
          </a:fillRef>
          <a:effectRef idx="0">
            <a:schemeClr val="accent1"/>
          </a:effectRef>
          <a:fontRef idx="minor">
            <a:schemeClr val="tx1"/>
          </a:fontRef>
        </p:style>
      </p:cxnSp>
      <p:sp>
        <p:nvSpPr>
          <p:cNvPr id="145" name="ZoneTexte 144">
            <a:extLst>
              <a:ext uri="{FF2B5EF4-FFF2-40B4-BE49-F238E27FC236}">
                <a16:creationId xmlns:a16="http://schemas.microsoft.com/office/drawing/2014/main" id="{C45053D7-E255-E804-A4CE-362E0EC9DAC1}"/>
              </a:ext>
            </a:extLst>
          </p:cNvPr>
          <p:cNvSpPr txBox="1"/>
          <p:nvPr/>
        </p:nvSpPr>
        <p:spPr>
          <a:xfrm>
            <a:off x="3900609" y="3798784"/>
            <a:ext cx="838691" cy="246221"/>
          </a:xfrm>
          <a:prstGeom prst="rect">
            <a:avLst/>
          </a:prstGeom>
          <a:noFill/>
        </p:spPr>
        <p:txBody>
          <a:bodyPr wrap="none" rtlCol="0">
            <a:spAutoFit/>
          </a:bodyPr>
          <a:lstStyle/>
          <a:p>
            <a:r>
              <a:rPr lang="fr-FR" sz="1000" b="1">
                <a:solidFill>
                  <a:srgbClr val="00B7B5"/>
                </a:solidFill>
                <a:latin typeface="Avenir Next LT Pro" panose="020B0504020202020204" pitchFamily="34" charset="0"/>
              </a:rPr>
              <a:t>Scénario 1</a:t>
            </a:r>
          </a:p>
        </p:txBody>
      </p:sp>
      <p:sp>
        <p:nvSpPr>
          <p:cNvPr id="146" name="ZoneTexte 145">
            <a:extLst>
              <a:ext uri="{FF2B5EF4-FFF2-40B4-BE49-F238E27FC236}">
                <a16:creationId xmlns:a16="http://schemas.microsoft.com/office/drawing/2014/main" id="{15918B37-6B0C-849C-B9F8-14A0E9CE5AA8}"/>
              </a:ext>
            </a:extLst>
          </p:cNvPr>
          <p:cNvSpPr txBox="1"/>
          <p:nvPr/>
        </p:nvSpPr>
        <p:spPr>
          <a:xfrm>
            <a:off x="4971017" y="3960748"/>
            <a:ext cx="838691" cy="246221"/>
          </a:xfrm>
          <a:prstGeom prst="rect">
            <a:avLst/>
          </a:prstGeom>
          <a:noFill/>
        </p:spPr>
        <p:txBody>
          <a:bodyPr wrap="none" rtlCol="0">
            <a:spAutoFit/>
          </a:bodyPr>
          <a:lstStyle/>
          <a:p>
            <a:r>
              <a:rPr lang="fr-FR" sz="1000" b="1">
                <a:solidFill>
                  <a:srgbClr val="FACA00"/>
                </a:solidFill>
                <a:latin typeface="Avenir Next LT Pro" panose="020B0504020202020204" pitchFamily="34" charset="0"/>
              </a:rPr>
              <a:t>Scénario 2</a:t>
            </a:r>
          </a:p>
        </p:txBody>
      </p:sp>
      <p:sp>
        <p:nvSpPr>
          <p:cNvPr id="147" name="ZoneTexte 146">
            <a:extLst>
              <a:ext uri="{FF2B5EF4-FFF2-40B4-BE49-F238E27FC236}">
                <a16:creationId xmlns:a16="http://schemas.microsoft.com/office/drawing/2014/main" id="{D32A6338-38FE-2D08-5C91-B751165CAECA}"/>
              </a:ext>
            </a:extLst>
          </p:cNvPr>
          <p:cNvSpPr txBox="1"/>
          <p:nvPr/>
        </p:nvSpPr>
        <p:spPr>
          <a:xfrm>
            <a:off x="4660235" y="3284164"/>
            <a:ext cx="838691" cy="246221"/>
          </a:xfrm>
          <a:prstGeom prst="rect">
            <a:avLst/>
          </a:prstGeom>
          <a:noFill/>
        </p:spPr>
        <p:txBody>
          <a:bodyPr wrap="none" rtlCol="0">
            <a:spAutoFit/>
          </a:bodyPr>
          <a:lstStyle/>
          <a:p>
            <a:r>
              <a:rPr lang="fr-FR" sz="1000" b="1">
                <a:solidFill>
                  <a:srgbClr val="E65012"/>
                </a:solidFill>
                <a:latin typeface="Avenir Next LT Pro" panose="020B0504020202020204" pitchFamily="34" charset="0"/>
              </a:rPr>
              <a:t>Scénario 3</a:t>
            </a:r>
          </a:p>
        </p:txBody>
      </p:sp>
      <p:sp>
        <p:nvSpPr>
          <p:cNvPr id="73" name="Ellipse 72">
            <a:extLst>
              <a:ext uri="{FF2B5EF4-FFF2-40B4-BE49-F238E27FC236}">
                <a16:creationId xmlns:a16="http://schemas.microsoft.com/office/drawing/2014/main" id="{7629CE06-22C1-869A-CE3B-EAE901E08B4B}"/>
              </a:ext>
            </a:extLst>
          </p:cNvPr>
          <p:cNvSpPr>
            <a:spLocks noChangeAspect="1"/>
          </p:cNvSpPr>
          <p:nvPr/>
        </p:nvSpPr>
        <p:spPr>
          <a:xfrm>
            <a:off x="4518421" y="3363859"/>
            <a:ext cx="144000" cy="144000"/>
          </a:xfrm>
          <a:prstGeom prst="ellipse">
            <a:avLst/>
          </a:prstGeom>
          <a:noFill/>
          <a:ln w="98425" cap="flat" cmpd="tri">
            <a:solidFill>
              <a:srgbClr val="E65012"/>
            </a:solidFill>
            <a:prstDash val="solid"/>
            <a:miter/>
          </a:ln>
        </p:spPr>
        <p:txBody>
          <a:bodyPr rtlCol="0" anchor="ctr"/>
          <a:lstStyle/>
          <a:p>
            <a:pPr algn="l"/>
            <a:endParaRPr lang="fr-FR"/>
          </a:p>
        </p:txBody>
      </p:sp>
      <p:sp>
        <p:nvSpPr>
          <p:cNvPr id="68" name="Ellipse 67">
            <a:extLst>
              <a:ext uri="{FF2B5EF4-FFF2-40B4-BE49-F238E27FC236}">
                <a16:creationId xmlns:a16="http://schemas.microsoft.com/office/drawing/2014/main" id="{88B9BA92-66AB-744D-2A0D-C852CF91EEA6}"/>
              </a:ext>
            </a:extLst>
          </p:cNvPr>
          <p:cNvSpPr>
            <a:spLocks noChangeAspect="1"/>
          </p:cNvSpPr>
          <p:nvPr/>
        </p:nvSpPr>
        <p:spPr>
          <a:xfrm>
            <a:off x="4475139" y="4068638"/>
            <a:ext cx="144000" cy="144000"/>
          </a:xfrm>
          <a:prstGeom prst="ellipse">
            <a:avLst/>
          </a:prstGeom>
          <a:noFill/>
          <a:ln w="98425" cap="flat" cmpd="tri">
            <a:solidFill>
              <a:srgbClr val="00B7B5"/>
            </a:solidFill>
            <a:prstDash val="solid"/>
            <a:miter/>
          </a:ln>
        </p:spPr>
        <p:txBody>
          <a:bodyPr rtlCol="0" anchor="ctr"/>
          <a:lstStyle/>
          <a:p>
            <a:pPr algn="l"/>
            <a:endParaRPr lang="fr-FR"/>
          </a:p>
        </p:txBody>
      </p:sp>
      <p:sp>
        <p:nvSpPr>
          <p:cNvPr id="160" name="Titre 1">
            <a:extLst>
              <a:ext uri="{FF2B5EF4-FFF2-40B4-BE49-F238E27FC236}">
                <a16:creationId xmlns:a16="http://schemas.microsoft.com/office/drawing/2014/main" id="{2D061C7E-3B37-A201-A80A-3C59A7306A07}"/>
              </a:ext>
            </a:extLst>
          </p:cNvPr>
          <p:cNvSpPr txBox="1">
            <a:spLocks/>
          </p:cNvSpPr>
          <p:nvPr/>
        </p:nvSpPr>
        <p:spPr>
          <a:xfrm>
            <a:off x="706939" y="1261603"/>
            <a:ext cx="3333015" cy="313932"/>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kern="1200">
                <a:solidFill>
                  <a:schemeClr val="accent3"/>
                </a:solidFill>
                <a:latin typeface="+mj-lt"/>
                <a:ea typeface="+mj-ea"/>
                <a:cs typeface="+mj-cs"/>
              </a:defRPr>
            </a:lvl1pPr>
          </a:lstStyle>
          <a:p>
            <a:r>
              <a:rPr lang="en-GB" sz="1600" b="1">
                <a:solidFill>
                  <a:srgbClr val="102031">
                    <a:alpha val="39000"/>
                  </a:srgbClr>
                </a:solidFill>
                <a:latin typeface="Avenir Next LT Pro" panose="020B0504020202020204" pitchFamily="34" charset="0"/>
              </a:rPr>
              <a:t>Use a graphical vectorial view</a:t>
            </a:r>
            <a:endParaRPr lang="en-GB" sz="1600" b="1" i="1">
              <a:solidFill>
                <a:srgbClr val="102031">
                  <a:alpha val="39000"/>
                </a:srgbClr>
              </a:solidFill>
              <a:latin typeface="Avenir Next LT Pro" panose="020B0504020202020204" pitchFamily="34" charset="0"/>
            </a:endParaRPr>
          </a:p>
        </p:txBody>
      </p:sp>
      <p:sp>
        <p:nvSpPr>
          <p:cNvPr id="171" name="Ellipse 170">
            <a:extLst>
              <a:ext uri="{FF2B5EF4-FFF2-40B4-BE49-F238E27FC236}">
                <a16:creationId xmlns:a16="http://schemas.microsoft.com/office/drawing/2014/main" id="{DC33A286-92BE-1432-CAC5-C3900091FC30}"/>
              </a:ext>
            </a:extLst>
          </p:cNvPr>
          <p:cNvSpPr/>
          <p:nvPr/>
        </p:nvSpPr>
        <p:spPr>
          <a:xfrm>
            <a:off x="4870157" y="3995026"/>
            <a:ext cx="609481" cy="667792"/>
          </a:xfrm>
          <a:prstGeom prst="ellipse">
            <a:avLst/>
          </a:prstGeom>
          <a:solidFill>
            <a:srgbClr val="93C52A">
              <a:alpha val="16000"/>
            </a:srgbClr>
          </a:solidFill>
          <a:ln w="12660" cap="flat">
            <a:noFill/>
            <a:prstDash val="solid"/>
            <a:miter/>
          </a:ln>
          <a:effectLst>
            <a:outerShdw blurRad="152400" dist="101600" dir="2700000" algn="tl" rotWithShape="0">
              <a:prstClr val="black">
                <a:alpha val="40000"/>
              </a:prstClr>
            </a:outerShdw>
          </a:effectLst>
        </p:spPr>
        <p:txBody>
          <a:bodyPr rtlCol="0" anchor="ctr"/>
          <a:lstStyle/>
          <a:p>
            <a:pPr algn="l"/>
            <a:endParaRPr lang="fr-FR">
              <a:solidFill>
                <a:srgbClr val="93C52A"/>
              </a:solidFill>
            </a:endParaRPr>
          </a:p>
        </p:txBody>
      </p:sp>
      <p:grpSp>
        <p:nvGrpSpPr>
          <p:cNvPr id="174" name="Groupe 173">
            <a:extLst>
              <a:ext uri="{FF2B5EF4-FFF2-40B4-BE49-F238E27FC236}">
                <a16:creationId xmlns:a16="http://schemas.microsoft.com/office/drawing/2014/main" id="{C3F84345-EFB9-2727-9585-6140F935A353}"/>
              </a:ext>
            </a:extLst>
          </p:cNvPr>
          <p:cNvGrpSpPr/>
          <p:nvPr/>
        </p:nvGrpSpPr>
        <p:grpSpPr>
          <a:xfrm>
            <a:off x="6095288" y="3237196"/>
            <a:ext cx="1857137" cy="603666"/>
            <a:chOff x="9750115" y="1599440"/>
            <a:chExt cx="1857137" cy="603666"/>
          </a:xfrm>
        </p:grpSpPr>
        <p:sp>
          <p:nvSpPr>
            <p:cNvPr id="175" name="Rectangle : coins arrondis 174">
              <a:extLst>
                <a:ext uri="{FF2B5EF4-FFF2-40B4-BE49-F238E27FC236}">
                  <a16:creationId xmlns:a16="http://schemas.microsoft.com/office/drawing/2014/main" id="{B2A2A4D7-433D-33AA-D080-7A2B96AA4292}"/>
                </a:ext>
              </a:extLst>
            </p:cNvPr>
            <p:cNvSpPr/>
            <p:nvPr/>
          </p:nvSpPr>
          <p:spPr>
            <a:xfrm>
              <a:off x="9750115" y="1599440"/>
              <a:ext cx="1857137" cy="603666"/>
            </a:xfrm>
            <a:prstGeom prst="roundRect">
              <a:avLst>
                <a:gd name="adj" fmla="val 45068"/>
              </a:avLst>
            </a:prstGeom>
            <a:solidFill>
              <a:schemeClr val="bg1"/>
            </a:solidFill>
            <a:ln w="28575">
              <a:solidFill>
                <a:srgbClr val="00A8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rgbClr val="00B0F0"/>
                </a:solidFill>
                <a:latin typeface="+mj-lt"/>
              </a:endParaRPr>
            </a:p>
          </p:txBody>
        </p:sp>
        <p:sp>
          <p:nvSpPr>
            <p:cNvPr id="176" name="Rectangle 175">
              <a:extLst>
                <a:ext uri="{FF2B5EF4-FFF2-40B4-BE49-F238E27FC236}">
                  <a16:creationId xmlns:a16="http://schemas.microsoft.com/office/drawing/2014/main" id="{D459E045-C622-A93D-3833-C9879FD2A0E3}"/>
                </a:ext>
              </a:extLst>
            </p:cNvPr>
            <p:cNvSpPr/>
            <p:nvPr>
              <p:custDataLst>
                <p:tags r:id="rId3"/>
              </p:custDataLst>
            </p:nvPr>
          </p:nvSpPr>
          <p:spPr>
            <a:xfrm>
              <a:off x="9904392" y="1784246"/>
              <a:ext cx="1569722" cy="3240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8000"/>
                </a:lnSpc>
              </a:pPr>
              <a:r>
                <a:rPr lang="en-GB" sz="1200">
                  <a:solidFill>
                    <a:srgbClr val="00A885"/>
                  </a:solidFill>
                  <a:latin typeface="Avenir Next LT Pro" panose="020B0504020202020204" pitchFamily="34" charset="0"/>
                </a:rPr>
                <a:t>Architecture  recommended scenario</a:t>
              </a:r>
            </a:p>
          </p:txBody>
        </p:sp>
      </p:grpSp>
      <p:grpSp>
        <p:nvGrpSpPr>
          <p:cNvPr id="177" name="Groupe 176">
            <a:extLst>
              <a:ext uri="{FF2B5EF4-FFF2-40B4-BE49-F238E27FC236}">
                <a16:creationId xmlns:a16="http://schemas.microsoft.com/office/drawing/2014/main" id="{B677D01A-0C60-4A37-B23A-8E9CE630ED28}"/>
              </a:ext>
            </a:extLst>
          </p:cNvPr>
          <p:cNvGrpSpPr/>
          <p:nvPr/>
        </p:nvGrpSpPr>
        <p:grpSpPr>
          <a:xfrm>
            <a:off x="6105857" y="3978723"/>
            <a:ext cx="1857137" cy="603666"/>
            <a:chOff x="7839498" y="1600200"/>
            <a:chExt cx="1857137" cy="603666"/>
          </a:xfrm>
        </p:grpSpPr>
        <p:sp>
          <p:nvSpPr>
            <p:cNvPr id="178" name="Rectangle : coins arrondis 177">
              <a:extLst>
                <a:ext uri="{FF2B5EF4-FFF2-40B4-BE49-F238E27FC236}">
                  <a16:creationId xmlns:a16="http://schemas.microsoft.com/office/drawing/2014/main" id="{54B03DF6-179E-BBE6-CA8B-21C2680B4A6C}"/>
                </a:ext>
              </a:extLst>
            </p:cNvPr>
            <p:cNvSpPr/>
            <p:nvPr/>
          </p:nvSpPr>
          <p:spPr>
            <a:xfrm>
              <a:off x="7839498" y="1600200"/>
              <a:ext cx="1857137" cy="603666"/>
            </a:xfrm>
            <a:prstGeom prst="roundRect">
              <a:avLst>
                <a:gd name="adj" fmla="val 45068"/>
              </a:avLst>
            </a:prstGeom>
            <a:solidFill>
              <a:schemeClr val="bg1"/>
            </a:solidFill>
            <a:ln w="28575">
              <a:solidFill>
                <a:srgbClr val="93C5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i="1">
                <a:solidFill>
                  <a:schemeClr val="accent2"/>
                </a:solidFill>
                <a:latin typeface="+mj-lt"/>
              </a:endParaRPr>
            </a:p>
          </p:txBody>
        </p:sp>
        <p:sp>
          <p:nvSpPr>
            <p:cNvPr id="179" name="Rectangle 178">
              <a:extLst>
                <a:ext uri="{FF2B5EF4-FFF2-40B4-BE49-F238E27FC236}">
                  <a16:creationId xmlns:a16="http://schemas.microsoft.com/office/drawing/2014/main" id="{1BCDED65-A5A5-C007-232E-38D31D22F0DD}"/>
                </a:ext>
              </a:extLst>
            </p:cNvPr>
            <p:cNvSpPr/>
            <p:nvPr>
              <p:custDataLst>
                <p:tags r:id="rId2"/>
              </p:custDataLst>
            </p:nvPr>
          </p:nvSpPr>
          <p:spPr>
            <a:xfrm>
              <a:off x="7972637" y="1761760"/>
              <a:ext cx="1569722" cy="3240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8000"/>
                </a:lnSpc>
              </a:pPr>
              <a:r>
                <a:rPr lang="en-GB" sz="1200">
                  <a:solidFill>
                    <a:srgbClr val="93C52A"/>
                  </a:solidFill>
                  <a:latin typeface="Avenir Next LT Pro" panose="020B0504020202020204" pitchFamily="34" charset="0"/>
                </a:rPr>
                <a:t>IT Project Team uphold scenario </a:t>
              </a:r>
            </a:p>
          </p:txBody>
        </p:sp>
      </p:grpSp>
      <p:sp>
        <p:nvSpPr>
          <p:cNvPr id="3" name="Espace réservé de la date 2">
            <a:extLst>
              <a:ext uri="{FF2B5EF4-FFF2-40B4-BE49-F238E27FC236}">
                <a16:creationId xmlns:a16="http://schemas.microsoft.com/office/drawing/2014/main" id="{0E060778-F87B-972E-635F-45DEF7E4B201}"/>
              </a:ext>
            </a:extLst>
          </p:cNvPr>
          <p:cNvSpPr>
            <a:spLocks noGrp="1"/>
          </p:cNvSpPr>
          <p:nvPr>
            <p:ph type="dt" sz="half" idx="10"/>
          </p:nvPr>
        </p:nvSpPr>
        <p:spPr/>
        <p:txBody>
          <a:bodyPr/>
          <a:lstStyle/>
          <a:p>
            <a:r>
              <a:rPr lang="fr-FR"/>
              <a:t>Juin 2024</a:t>
            </a:r>
          </a:p>
        </p:txBody>
      </p:sp>
      <p:sp>
        <p:nvSpPr>
          <p:cNvPr id="4" name="Espace réservé du pied de page 3">
            <a:extLst>
              <a:ext uri="{FF2B5EF4-FFF2-40B4-BE49-F238E27FC236}">
                <a16:creationId xmlns:a16="http://schemas.microsoft.com/office/drawing/2014/main" id="{B55580CA-EA05-5B70-6C2C-26B6DCFDE8B5}"/>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3074213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50E7AE-E5D8-9DA6-8080-FDC23CD64F56}"/>
              </a:ext>
            </a:extLst>
          </p:cNvPr>
          <p:cNvSpPr>
            <a:spLocks noGrp="1"/>
          </p:cNvSpPr>
          <p:nvPr>
            <p:ph type="title"/>
            <p:custDataLst>
              <p:tags r:id="rId1"/>
            </p:custDataLst>
          </p:nvPr>
        </p:nvSpPr>
        <p:spPr>
          <a:xfrm>
            <a:off x="537575" y="849535"/>
            <a:ext cx="11086578" cy="480131"/>
          </a:xfrm>
        </p:spPr>
        <p:txBody>
          <a:bodyPr/>
          <a:lstStyle/>
          <a:p>
            <a:r>
              <a:rPr lang="fr-FR" sz="2800" b="1"/>
              <a:t>Pattern d’architecture</a:t>
            </a:r>
          </a:p>
        </p:txBody>
      </p:sp>
      <p:sp>
        <p:nvSpPr>
          <p:cNvPr id="6" name="Espace réservé du texte 5">
            <a:extLst>
              <a:ext uri="{FF2B5EF4-FFF2-40B4-BE49-F238E27FC236}">
                <a16:creationId xmlns:a16="http://schemas.microsoft.com/office/drawing/2014/main" id="{DAC5DA09-2784-F005-9BCF-58384168130D}"/>
              </a:ext>
            </a:extLst>
          </p:cNvPr>
          <p:cNvSpPr>
            <a:spLocks noGrp="1"/>
          </p:cNvSpPr>
          <p:nvPr>
            <p:ph type="body" sz="quarter" idx="19"/>
            <p:custDataLst>
              <p:tags r:id="rId2"/>
            </p:custDataLst>
          </p:nvPr>
        </p:nvSpPr>
        <p:spPr/>
        <p:txBody>
          <a:bodyPr/>
          <a:lstStyle/>
          <a:p>
            <a:r>
              <a:rPr lang="fr-FR"/>
              <a:t>Identification de pattern réutilisable</a:t>
            </a:r>
          </a:p>
        </p:txBody>
      </p:sp>
      <p:sp>
        <p:nvSpPr>
          <p:cNvPr id="7" name="Espace réservé du texte 6">
            <a:extLst>
              <a:ext uri="{FF2B5EF4-FFF2-40B4-BE49-F238E27FC236}">
                <a16:creationId xmlns:a16="http://schemas.microsoft.com/office/drawing/2014/main" id="{8E507B06-198C-CAB8-584F-CAAC08AC5927}"/>
              </a:ext>
            </a:extLst>
          </p:cNvPr>
          <p:cNvSpPr>
            <a:spLocks noGrp="1"/>
          </p:cNvSpPr>
          <p:nvPr>
            <p:ph type="body" sz="quarter" idx="30"/>
          </p:nvPr>
        </p:nvSpPr>
        <p:spPr/>
        <p:txBody>
          <a:bodyPr/>
          <a:lstStyle/>
          <a:p>
            <a:endParaRPr lang="fr-FR"/>
          </a:p>
        </p:txBody>
      </p:sp>
      <p:sp>
        <p:nvSpPr>
          <p:cNvPr id="2" name="Espace réservé de la date 1">
            <a:extLst>
              <a:ext uri="{FF2B5EF4-FFF2-40B4-BE49-F238E27FC236}">
                <a16:creationId xmlns:a16="http://schemas.microsoft.com/office/drawing/2014/main" id="{46BAAB24-B454-C82E-0D9D-A52F70BABE8B}"/>
              </a:ext>
            </a:extLst>
          </p:cNvPr>
          <p:cNvSpPr>
            <a:spLocks noGrp="1"/>
          </p:cNvSpPr>
          <p:nvPr>
            <p:ph type="dt" sz="half" idx="10"/>
            <p:custDataLst>
              <p:tags r:id="rId3"/>
            </p:custDataLst>
          </p:nvPr>
        </p:nvSpPr>
        <p:spPr/>
        <p:txBody>
          <a:bodyPr/>
          <a:lstStyle/>
          <a:p>
            <a:r>
              <a:rPr lang="fr-FR"/>
              <a:t>Juin 2024</a:t>
            </a:r>
          </a:p>
        </p:txBody>
      </p:sp>
      <p:sp>
        <p:nvSpPr>
          <p:cNvPr id="4" name="Espace réservé du numéro de diapositive 3">
            <a:extLst>
              <a:ext uri="{FF2B5EF4-FFF2-40B4-BE49-F238E27FC236}">
                <a16:creationId xmlns:a16="http://schemas.microsoft.com/office/drawing/2014/main" id="{0654D6CC-F3FC-85F0-6D41-60742E4B88D1}"/>
              </a:ext>
            </a:extLst>
          </p:cNvPr>
          <p:cNvSpPr>
            <a:spLocks noGrp="1"/>
          </p:cNvSpPr>
          <p:nvPr>
            <p:ph type="sldNum" sz="quarter" idx="12"/>
            <p:custDataLst>
              <p:tags r:id="rId4"/>
            </p:custDataLst>
          </p:nvPr>
        </p:nvSpPr>
        <p:spPr/>
        <p:txBody>
          <a:bodyPr/>
          <a:lstStyle/>
          <a:p>
            <a:fld id="{6B54B0F7-55DD-40D6-B7F4-70B586885C0B}" type="slidenum">
              <a:rPr lang="fr-FR" smtClean="0"/>
              <a:pPr/>
              <a:t>53</a:t>
            </a:fld>
            <a:endParaRPr lang="fr-FR"/>
          </a:p>
        </p:txBody>
      </p:sp>
      <p:sp>
        <p:nvSpPr>
          <p:cNvPr id="3" name="ZoneTexte 2">
            <a:extLst>
              <a:ext uri="{FF2B5EF4-FFF2-40B4-BE49-F238E27FC236}">
                <a16:creationId xmlns:a16="http://schemas.microsoft.com/office/drawing/2014/main" id="{2CA589E1-6A30-90D2-25B9-88DDD73E5968}"/>
              </a:ext>
            </a:extLst>
          </p:cNvPr>
          <p:cNvSpPr txBox="1"/>
          <p:nvPr>
            <p:custDataLst>
              <p:tags r:id="rId5"/>
            </p:custDataLst>
          </p:nvPr>
        </p:nvSpPr>
        <p:spPr>
          <a:xfrm>
            <a:off x="648653" y="1505622"/>
            <a:ext cx="7780972" cy="3570208"/>
          </a:xfrm>
          <a:prstGeom prst="rect">
            <a:avLst/>
          </a:prstGeom>
          <a:noFill/>
        </p:spPr>
        <p:txBody>
          <a:bodyPr wrap="square" lIns="91440" tIns="45720" rIns="91440" bIns="45720" rtlCol="0" anchor="t">
            <a:spAutoFit/>
          </a:bodyPr>
          <a:lstStyle/>
          <a:p>
            <a:pPr>
              <a:spcAft>
                <a:spcPts val="1800"/>
              </a:spcAft>
            </a:pPr>
            <a:r>
              <a:rPr lang="fr-FR" sz="2000" i="1">
                <a:solidFill>
                  <a:schemeClr val="dk1"/>
                </a:solidFill>
                <a:latin typeface="Avenir Next LT Pro" panose="020B0504020202020204" pitchFamily="34" charset="0"/>
              </a:rPr>
              <a:t>Lorsqu’un pattern d’architecture est considéré comme réutilisable, il est nécessaire de les présenter en détail en expliquant pourquoi afin que celui puisse être considéré comme standard :</a:t>
            </a:r>
          </a:p>
          <a:p>
            <a:pPr marL="360000" indent="-360000">
              <a:buBlip>
                <a:blip r:embed="rId7"/>
              </a:buBlip>
            </a:pPr>
            <a:r>
              <a:rPr lang="fr-FR" sz="2400" i="1">
                <a:solidFill>
                  <a:schemeClr val="dk1"/>
                </a:solidFill>
                <a:latin typeface="Avenir Next LT Pro" panose="020B0504020202020204" pitchFamily="34" charset="0"/>
              </a:rPr>
              <a:t>Introduction du pattern</a:t>
            </a:r>
          </a:p>
          <a:p>
            <a:pPr marL="360000" indent="-360000">
              <a:buBlip>
                <a:blip r:embed="rId7"/>
              </a:buBlip>
            </a:pPr>
            <a:r>
              <a:rPr lang="fr-FR" sz="2400" i="1">
                <a:solidFill>
                  <a:schemeClr val="dk1"/>
                </a:solidFill>
                <a:latin typeface="Avenir Next LT Pro" panose="020B0504020202020204" pitchFamily="34" charset="0"/>
              </a:rPr>
              <a:t>Schéma du pattern</a:t>
            </a:r>
          </a:p>
          <a:p>
            <a:pPr marL="360000" indent="-360000">
              <a:buBlip>
                <a:blip r:embed="rId7"/>
              </a:buBlip>
            </a:pPr>
            <a:r>
              <a:rPr lang="fr-FR" sz="2400" i="1">
                <a:solidFill>
                  <a:schemeClr val="dk1"/>
                </a:solidFill>
                <a:latin typeface="Avenir Next LT Pro" panose="020B0504020202020204" pitchFamily="34" charset="0"/>
              </a:rPr>
              <a:t>Cas d’usage identifiés pour son usage</a:t>
            </a:r>
          </a:p>
          <a:p>
            <a:pPr marL="360000" indent="-360000">
              <a:buBlip>
                <a:blip r:embed="rId7"/>
              </a:buBlip>
            </a:pPr>
            <a:r>
              <a:rPr lang="fr-FR" sz="2400" i="1">
                <a:solidFill>
                  <a:schemeClr val="dk1"/>
                </a:solidFill>
                <a:latin typeface="Avenir Next LT Pro" panose="020B0504020202020204" pitchFamily="34" charset="0"/>
              </a:rPr>
              <a:t>Avantages et inconvénients du pattern</a:t>
            </a:r>
          </a:p>
          <a:p>
            <a:pPr>
              <a:spcBef>
                <a:spcPts val="1800"/>
              </a:spcBef>
            </a:pPr>
            <a:r>
              <a:rPr lang="fr-FR" sz="2000" i="1">
                <a:solidFill>
                  <a:schemeClr val="dk1"/>
                </a:solidFill>
                <a:latin typeface="Avenir Next LT Pro" panose="020B0504020202020204" pitchFamily="34" charset="0"/>
              </a:rPr>
              <a:t>Le comité d’architecture peut en séance décider d’inscrire ce pattern en tant que bonne pratique d’architecture</a:t>
            </a:r>
          </a:p>
        </p:txBody>
      </p:sp>
      <p:sp>
        <p:nvSpPr>
          <p:cNvPr id="8" name="Espace réservé du pied de page 7">
            <a:extLst>
              <a:ext uri="{FF2B5EF4-FFF2-40B4-BE49-F238E27FC236}">
                <a16:creationId xmlns:a16="http://schemas.microsoft.com/office/drawing/2014/main" id="{2B8C92FE-2116-CA4F-B292-278D6D676FA2}"/>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35184750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Juin 2024</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54</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a:t>Synthèse de la présentation </a:t>
            </a: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endParaRPr lang="fr-FR"/>
          </a:p>
        </p:txBody>
      </p:sp>
      <p:graphicFrame>
        <p:nvGraphicFramePr>
          <p:cNvPr id="8" name="Tableau 3">
            <a:extLst>
              <a:ext uri="{FF2B5EF4-FFF2-40B4-BE49-F238E27FC236}">
                <a16:creationId xmlns:a16="http://schemas.microsoft.com/office/drawing/2014/main" id="{2682A5BC-3239-0858-A014-9BEFE6339481}"/>
              </a:ext>
            </a:extLst>
          </p:cNvPr>
          <p:cNvGraphicFramePr>
            <a:graphicFrameLocks noGrp="1"/>
          </p:cNvGraphicFramePr>
          <p:nvPr>
            <p:custDataLst>
              <p:tags r:id="rId1"/>
            </p:custDataLst>
            <p:extLst>
              <p:ext uri="{D42A27DB-BD31-4B8C-83A1-F6EECF244321}">
                <p14:modId xmlns:p14="http://schemas.microsoft.com/office/powerpoint/2010/main" val="443288608"/>
              </p:ext>
            </p:extLst>
          </p:nvPr>
        </p:nvGraphicFramePr>
        <p:xfrm>
          <a:off x="278027" y="1651862"/>
          <a:ext cx="11406949" cy="4734504"/>
        </p:xfrm>
        <a:graphic>
          <a:graphicData uri="http://schemas.openxmlformats.org/drawingml/2006/table">
            <a:tbl>
              <a:tblPr firstCol="1" bandRow="1">
                <a:tableStyleId>{5C22544A-7EE6-4342-B048-85BDC9FD1C3A}</a:tableStyleId>
              </a:tblPr>
              <a:tblGrid>
                <a:gridCol w="2533135">
                  <a:extLst>
                    <a:ext uri="{9D8B030D-6E8A-4147-A177-3AD203B41FA5}">
                      <a16:colId xmlns:a16="http://schemas.microsoft.com/office/drawing/2014/main" val="1701024074"/>
                    </a:ext>
                  </a:extLst>
                </a:gridCol>
                <a:gridCol w="8873814">
                  <a:extLst>
                    <a:ext uri="{9D8B030D-6E8A-4147-A177-3AD203B41FA5}">
                      <a16:colId xmlns:a16="http://schemas.microsoft.com/office/drawing/2014/main" val="1224835592"/>
                    </a:ext>
                  </a:extLst>
                </a:gridCol>
              </a:tblGrid>
              <a:tr h="1183626">
                <a:tc>
                  <a:txBody>
                    <a:bodyPr/>
                    <a:lstStyle/>
                    <a:p>
                      <a:pPr marL="0" indent="-72000" algn="ctr">
                        <a:lnSpc>
                          <a:spcPct val="78000"/>
                        </a:lnSpc>
                        <a:spcBef>
                          <a:spcPts val="0"/>
                        </a:spcBef>
                        <a:spcAft>
                          <a:spcPts val="0"/>
                        </a:spcAft>
                        <a:buSzPct val="120000"/>
                      </a:pPr>
                      <a:r>
                        <a:rPr lang="fr-FR" sz="1800">
                          <a:solidFill>
                            <a:schemeClr val="bg1"/>
                          </a:solidFill>
                          <a:latin typeface="Avenir Next LT Pro" panose="020B0504020202020204" pitchFamily="34" charset="0"/>
                        </a:rPr>
                        <a:t>Scénario </a:t>
                      </a:r>
                    </a:p>
                    <a:p>
                      <a:pPr marL="0" indent="-72000" algn="ctr">
                        <a:lnSpc>
                          <a:spcPct val="78000"/>
                        </a:lnSpc>
                        <a:spcBef>
                          <a:spcPts val="0"/>
                        </a:spcBef>
                        <a:spcAft>
                          <a:spcPts val="0"/>
                        </a:spcAft>
                        <a:buSzPct val="120000"/>
                      </a:pPr>
                      <a:r>
                        <a:rPr lang="fr-FR" sz="1800">
                          <a:solidFill>
                            <a:schemeClr val="bg1"/>
                          </a:solidFill>
                          <a:latin typeface="Avenir Next LT Pro" panose="020B0504020202020204" pitchFamily="34" charset="0"/>
                        </a:rPr>
                        <a:t>préconisé</a:t>
                      </a:r>
                    </a:p>
                  </a:txBody>
                  <a:tcPr marL="91439" marR="91439" marT="45715" marB="45715" anchor="ctr" horzOverflow="overflow"/>
                </a:tc>
                <a:tc>
                  <a:txBody>
                    <a:bodyPr/>
                    <a:lstStyle/>
                    <a:p>
                      <a:pPr algn="l"/>
                      <a:endParaRPr lang="fr-FR" sz="1000" i="0"/>
                    </a:p>
                  </a:txBody>
                  <a:tcPr anchor="ctr"/>
                </a:tc>
                <a:extLst>
                  <a:ext uri="{0D108BD9-81ED-4DB2-BD59-A6C34878D82A}">
                    <a16:rowId xmlns:a16="http://schemas.microsoft.com/office/drawing/2014/main" val="3560918172"/>
                  </a:ext>
                </a:extLst>
              </a:tr>
              <a:tr h="1183626">
                <a:tc>
                  <a:txBody>
                    <a:bodyPr/>
                    <a:lstStyle/>
                    <a:p>
                      <a:pPr marL="0" indent="-72000" algn="ctr">
                        <a:lnSpc>
                          <a:spcPct val="78000"/>
                        </a:lnSpc>
                        <a:spcBef>
                          <a:spcPts val="0"/>
                        </a:spcBef>
                        <a:spcAft>
                          <a:spcPts val="0"/>
                        </a:spcAft>
                        <a:buSzPct val="120000"/>
                      </a:pPr>
                      <a:r>
                        <a:rPr lang="fr-FR" sz="1600">
                          <a:solidFill>
                            <a:schemeClr val="bg1"/>
                          </a:solidFill>
                          <a:latin typeface="Avenir Next LT Pro" panose="020B0504020202020204" pitchFamily="34" charset="0"/>
                        </a:rPr>
                        <a:t>Rappel</a:t>
                      </a:r>
                      <a:r>
                        <a:rPr lang="fr-FR" sz="1600" baseline="0">
                          <a:solidFill>
                            <a:schemeClr val="bg1"/>
                          </a:solidFill>
                          <a:latin typeface="Avenir Next LT Pro" panose="020B0504020202020204" pitchFamily="34" charset="0"/>
                        </a:rPr>
                        <a:t> des </a:t>
                      </a:r>
                    </a:p>
                    <a:p>
                      <a:pPr marL="0" indent="-72000" algn="ctr">
                        <a:lnSpc>
                          <a:spcPct val="78000"/>
                        </a:lnSpc>
                        <a:spcBef>
                          <a:spcPts val="0"/>
                        </a:spcBef>
                        <a:spcAft>
                          <a:spcPts val="0"/>
                        </a:spcAft>
                        <a:buSzPct val="120000"/>
                      </a:pPr>
                      <a:r>
                        <a:rPr lang="fr-FR" sz="1600" baseline="0">
                          <a:solidFill>
                            <a:schemeClr val="bg1"/>
                          </a:solidFill>
                          <a:latin typeface="Avenir Next LT Pro" panose="020B0504020202020204" pitchFamily="34" charset="0"/>
                        </a:rPr>
                        <a:t>questions / </a:t>
                      </a:r>
                    </a:p>
                    <a:p>
                      <a:pPr marL="0" indent="-72000" algn="ctr">
                        <a:lnSpc>
                          <a:spcPct val="78000"/>
                        </a:lnSpc>
                        <a:spcBef>
                          <a:spcPts val="0"/>
                        </a:spcBef>
                        <a:spcAft>
                          <a:spcPts val="0"/>
                        </a:spcAft>
                        <a:buSzPct val="120000"/>
                      </a:pPr>
                      <a:r>
                        <a:rPr lang="fr-FR" sz="1600" baseline="0">
                          <a:solidFill>
                            <a:schemeClr val="bg1"/>
                          </a:solidFill>
                          <a:latin typeface="Avenir Next LT Pro" panose="020B0504020202020204" pitchFamily="34" charset="0"/>
                        </a:rPr>
                        <a:t>décisions à </a:t>
                      </a:r>
                    </a:p>
                    <a:p>
                      <a:pPr marL="0" indent="-72000" algn="ctr">
                        <a:lnSpc>
                          <a:spcPct val="78000"/>
                        </a:lnSpc>
                        <a:spcBef>
                          <a:spcPts val="0"/>
                        </a:spcBef>
                        <a:spcAft>
                          <a:spcPts val="0"/>
                        </a:spcAft>
                        <a:buSzPct val="120000"/>
                      </a:pPr>
                      <a:r>
                        <a:rPr lang="fr-FR" sz="1600" baseline="0">
                          <a:solidFill>
                            <a:schemeClr val="bg1"/>
                          </a:solidFill>
                          <a:latin typeface="Avenir Next LT Pro" panose="020B0504020202020204" pitchFamily="34" charset="0"/>
                        </a:rPr>
                        <a:t>prendre</a:t>
                      </a:r>
                      <a:endParaRPr lang="fr-FR" sz="1600">
                        <a:solidFill>
                          <a:schemeClr val="bg1"/>
                        </a:solidFill>
                        <a:latin typeface="Avenir Next LT Pro" panose="020B0504020202020204" pitchFamily="34" charset="0"/>
                      </a:endParaRPr>
                    </a:p>
                  </a:txBody>
                  <a:tcPr marL="91439" marR="91439" marT="45715" marB="45715" anchor="ctr" horzOverflow="overflow"/>
                </a:tc>
                <a:tc>
                  <a:txBody>
                    <a:bodyPr/>
                    <a:lstStyle/>
                    <a:p>
                      <a:pPr algn="l"/>
                      <a:endParaRPr lang="fr-FR" sz="1000" i="0"/>
                    </a:p>
                  </a:txBody>
                  <a:tcPr anchor="ctr"/>
                </a:tc>
                <a:extLst>
                  <a:ext uri="{0D108BD9-81ED-4DB2-BD59-A6C34878D82A}">
                    <a16:rowId xmlns:a16="http://schemas.microsoft.com/office/drawing/2014/main" val="1204684916"/>
                  </a:ext>
                </a:extLst>
              </a:tr>
              <a:tr h="1183626">
                <a:tc>
                  <a:txBody>
                    <a:bodyPr/>
                    <a:lstStyle/>
                    <a:p>
                      <a:pPr marL="0" indent="-72000" algn="ctr">
                        <a:lnSpc>
                          <a:spcPct val="78000"/>
                        </a:lnSpc>
                        <a:spcBef>
                          <a:spcPts val="0"/>
                        </a:spcBef>
                        <a:spcAft>
                          <a:spcPts val="0"/>
                        </a:spcAft>
                        <a:buSzPct val="120000"/>
                      </a:pPr>
                      <a:r>
                        <a:rPr lang="fr-FR" sz="1600">
                          <a:latin typeface="Avenir Next LT Pro" panose="020B0504020202020204" pitchFamily="34" charset="0"/>
                        </a:rPr>
                        <a:t>Enregistrement des déviations</a:t>
                      </a:r>
                      <a:r>
                        <a:rPr lang="fr-FR" sz="1600" baseline="0">
                          <a:latin typeface="Avenir Next LT Pro" panose="020B0504020202020204" pitchFamily="34" charset="0"/>
                        </a:rPr>
                        <a:t> ou demandes de dérogation</a:t>
                      </a:r>
                      <a:endParaRPr lang="fr-FR" sz="1600">
                        <a:solidFill>
                          <a:schemeClr val="bg1"/>
                        </a:solidFill>
                        <a:latin typeface="Avenir Next LT Pro" panose="020B0504020202020204" pitchFamily="34" charset="0"/>
                      </a:endParaRPr>
                    </a:p>
                  </a:txBody>
                  <a:tcPr marL="91439" marR="91439" marT="45715" marB="45715" anchor="ctr"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i="0"/>
                    </a:p>
                  </a:txBody>
                  <a:tcPr anchor="ctr"/>
                </a:tc>
                <a:extLst>
                  <a:ext uri="{0D108BD9-81ED-4DB2-BD59-A6C34878D82A}">
                    <a16:rowId xmlns:a16="http://schemas.microsoft.com/office/drawing/2014/main" val="3287069577"/>
                  </a:ext>
                </a:extLst>
              </a:tr>
              <a:tr h="1183626">
                <a:tc>
                  <a:txBody>
                    <a:bodyPr/>
                    <a:lstStyle/>
                    <a:p>
                      <a:pPr marL="0" indent="-72000" algn="ctr">
                        <a:lnSpc>
                          <a:spcPct val="78000"/>
                        </a:lnSpc>
                        <a:spcBef>
                          <a:spcPts val="0"/>
                        </a:spcBef>
                        <a:spcAft>
                          <a:spcPts val="0"/>
                        </a:spcAft>
                        <a:buSzPct val="120000"/>
                      </a:pPr>
                      <a:r>
                        <a:rPr lang="fr-FR" sz="1600">
                          <a:solidFill>
                            <a:schemeClr val="bg1"/>
                          </a:solidFill>
                          <a:latin typeface="Avenir Next LT Pro" panose="020B0504020202020204" pitchFamily="34" charset="0"/>
                        </a:rPr>
                        <a:t>Rappel de </a:t>
                      </a:r>
                    </a:p>
                    <a:p>
                      <a:pPr marL="0" indent="-72000" algn="ctr">
                        <a:lnSpc>
                          <a:spcPct val="78000"/>
                        </a:lnSpc>
                        <a:spcBef>
                          <a:spcPts val="0"/>
                        </a:spcBef>
                        <a:spcAft>
                          <a:spcPts val="0"/>
                        </a:spcAft>
                        <a:buSzPct val="120000"/>
                      </a:pPr>
                      <a:r>
                        <a:rPr lang="fr-FR" sz="1600">
                          <a:solidFill>
                            <a:schemeClr val="bg1"/>
                          </a:solidFill>
                          <a:latin typeface="Avenir Next LT Pro" panose="020B0504020202020204" pitchFamily="34" charset="0"/>
                        </a:rPr>
                        <a:t>décision </a:t>
                      </a:r>
                    </a:p>
                    <a:p>
                      <a:pPr marL="0" indent="-72000" algn="ctr">
                        <a:lnSpc>
                          <a:spcPct val="78000"/>
                        </a:lnSpc>
                        <a:spcBef>
                          <a:spcPts val="0"/>
                        </a:spcBef>
                        <a:spcAft>
                          <a:spcPts val="0"/>
                        </a:spcAft>
                        <a:buSzPct val="120000"/>
                      </a:pPr>
                      <a:r>
                        <a:rPr lang="fr-FR" sz="1600">
                          <a:solidFill>
                            <a:schemeClr val="bg1"/>
                          </a:solidFill>
                          <a:latin typeface="Avenir Next LT Pro" panose="020B0504020202020204" pitchFamily="34" charset="0"/>
                        </a:rPr>
                        <a:t>prise lors </a:t>
                      </a:r>
                    </a:p>
                    <a:p>
                      <a:pPr marL="0" indent="-72000" algn="ctr">
                        <a:lnSpc>
                          <a:spcPct val="78000"/>
                        </a:lnSpc>
                        <a:spcBef>
                          <a:spcPts val="0"/>
                        </a:spcBef>
                        <a:spcAft>
                          <a:spcPts val="0"/>
                        </a:spcAft>
                        <a:buSzPct val="120000"/>
                      </a:pPr>
                      <a:r>
                        <a:rPr lang="fr-FR" sz="1600">
                          <a:solidFill>
                            <a:schemeClr val="bg1"/>
                          </a:solidFill>
                          <a:latin typeface="Avenir Next LT Pro" panose="020B0504020202020204" pitchFamily="34" charset="0"/>
                        </a:rPr>
                        <a:t>de la revue</a:t>
                      </a:r>
                    </a:p>
                  </a:txBody>
                  <a:tcPr marL="91439" marR="91439" marT="45715" marB="45715" anchor="ctr"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i="0"/>
                    </a:p>
                  </a:txBody>
                  <a:tcPr anchor="ctr"/>
                </a:tc>
                <a:extLst>
                  <a:ext uri="{0D108BD9-81ED-4DB2-BD59-A6C34878D82A}">
                    <a16:rowId xmlns:a16="http://schemas.microsoft.com/office/drawing/2014/main" val="3309343726"/>
                  </a:ext>
                </a:extLst>
              </a:tr>
            </a:tbl>
          </a:graphicData>
        </a:graphic>
      </p:graphicFrame>
    </p:spTree>
    <p:extLst>
      <p:ext uri="{BB962C8B-B14F-4D97-AF65-F5344CB8AC3E}">
        <p14:creationId xmlns:p14="http://schemas.microsoft.com/office/powerpoint/2010/main" val="36841984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041759-7813-FB16-5B80-940A2FEF0518}"/>
              </a:ext>
            </a:extLst>
          </p:cNvPr>
          <p:cNvSpPr>
            <a:spLocks noGrp="1"/>
          </p:cNvSpPr>
          <p:nvPr>
            <p:ph type="title"/>
          </p:nvPr>
        </p:nvSpPr>
        <p:spPr/>
        <p:txBody>
          <a:bodyPr/>
          <a:lstStyle/>
          <a:p>
            <a:r>
              <a:rPr lang="fr-FR"/>
              <a:t>ANNEXES</a:t>
            </a:r>
          </a:p>
        </p:txBody>
      </p:sp>
      <p:sp>
        <p:nvSpPr>
          <p:cNvPr id="3" name="Espace réservé du texte 2">
            <a:extLst>
              <a:ext uri="{FF2B5EF4-FFF2-40B4-BE49-F238E27FC236}">
                <a16:creationId xmlns:a16="http://schemas.microsoft.com/office/drawing/2014/main" id="{2D3C34F2-73A7-63BF-7A6D-44B2E815C844}"/>
              </a:ext>
            </a:extLst>
          </p:cNvPr>
          <p:cNvSpPr>
            <a:spLocks noGrp="1"/>
          </p:cNvSpPr>
          <p:nvPr>
            <p:ph type="body" sz="quarter" idx="20"/>
          </p:nvPr>
        </p:nvSpPr>
        <p:spPr/>
        <p:txBody>
          <a:bodyPr/>
          <a:lstStyle/>
          <a:p>
            <a:endParaRPr lang="fr-FR"/>
          </a:p>
        </p:txBody>
      </p:sp>
      <p:sp>
        <p:nvSpPr>
          <p:cNvPr id="4" name="Espace réservé de la date 3">
            <a:extLst>
              <a:ext uri="{FF2B5EF4-FFF2-40B4-BE49-F238E27FC236}">
                <a16:creationId xmlns:a16="http://schemas.microsoft.com/office/drawing/2014/main" id="{75D6C3CF-15B1-62EF-0C8C-98E2F9405287}"/>
              </a:ext>
            </a:extLst>
          </p:cNvPr>
          <p:cNvSpPr>
            <a:spLocks noGrp="1"/>
          </p:cNvSpPr>
          <p:nvPr>
            <p:ph type="dt" sz="half" idx="10"/>
          </p:nvPr>
        </p:nvSpPr>
        <p:spPr/>
        <p:txBody>
          <a:bodyPr/>
          <a:lstStyle/>
          <a:p>
            <a:r>
              <a:rPr lang="fr-FR"/>
              <a:t>Juin 2024</a:t>
            </a:r>
          </a:p>
        </p:txBody>
      </p:sp>
      <p:sp>
        <p:nvSpPr>
          <p:cNvPr id="5" name="Espace réservé du pied de page 4">
            <a:extLst>
              <a:ext uri="{FF2B5EF4-FFF2-40B4-BE49-F238E27FC236}">
                <a16:creationId xmlns:a16="http://schemas.microsoft.com/office/drawing/2014/main" id="{B504D556-FF73-8E20-4F2C-8A26C5671857}"/>
              </a:ext>
            </a:extLst>
          </p:cNvPr>
          <p:cNvSpPr>
            <a:spLocks noGrp="1"/>
          </p:cNvSpPr>
          <p:nvPr>
            <p:ph type="ftr" sz="quarter" idx="11"/>
          </p:nvPr>
        </p:nvSpPr>
        <p:spPr/>
        <p:txBody>
          <a:bodyPr/>
          <a:lstStyle/>
          <a:p>
            <a:r>
              <a:rPr lang="fr-FR"/>
              <a:t>BOUYGUES CONSTRUCTION | </a:t>
            </a:r>
          </a:p>
        </p:txBody>
      </p:sp>
      <p:sp>
        <p:nvSpPr>
          <p:cNvPr id="6" name="Espace réservé du numéro de diapositive 5">
            <a:extLst>
              <a:ext uri="{FF2B5EF4-FFF2-40B4-BE49-F238E27FC236}">
                <a16:creationId xmlns:a16="http://schemas.microsoft.com/office/drawing/2014/main" id="{29A9D937-1C33-3540-7F02-4C31CFDB58FB}"/>
              </a:ext>
            </a:extLst>
          </p:cNvPr>
          <p:cNvSpPr>
            <a:spLocks noGrp="1"/>
          </p:cNvSpPr>
          <p:nvPr>
            <p:ph type="sldNum" sz="quarter" idx="12"/>
          </p:nvPr>
        </p:nvSpPr>
        <p:spPr/>
        <p:txBody>
          <a:bodyPr/>
          <a:lstStyle/>
          <a:p>
            <a:fld id="{CD166EB1-B284-8541-B839-321F682B6B05}" type="slidenum">
              <a:rPr lang="fr-FR" smtClean="0"/>
              <a:pPr/>
              <a:t>55</a:t>
            </a:fld>
            <a:endParaRPr lang="fr-FR"/>
          </a:p>
        </p:txBody>
      </p:sp>
    </p:spTree>
    <p:extLst>
      <p:ext uri="{BB962C8B-B14F-4D97-AF65-F5344CB8AC3E}">
        <p14:creationId xmlns:p14="http://schemas.microsoft.com/office/powerpoint/2010/main" val="9743483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3"/>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ags/tag3.xml><?xml version="1.0" encoding="utf-8"?>
<p:tagLst xmlns:a="http://schemas.openxmlformats.org/drawingml/2006/main" xmlns:r="http://schemas.openxmlformats.org/officeDocument/2006/relationships" xmlns:p="http://schemas.openxmlformats.org/presentationml/2006/main">
  <p:tag name="NUM" val="2"/>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7"/>
</p:tagLst>
</file>

<file path=ppt/tags/tag6.xml><?xml version="1.0" encoding="utf-8"?>
<p:tagLst xmlns:a="http://schemas.openxmlformats.org/drawingml/2006/main" xmlns:r="http://schemas.openxmlformats.org/officeDocument/2006/relationships" xmlns:p="http://schemas.openxmlformats.org/presentationml/2006/main">
  <p:tag name="NUM" val="8"/>
</p:tagLst>
</file>

<file path=ppt/tags/tag7.xml><?xml version="1.0" encoding="utf-8"?>
<p:tagLst xmlns:a="http://schemas.openxmlformats.org/drawingml/2006/main" xmlns:r="http://schemas.openxmlformats.org/officeDocument/2006/relationships" xmlns:p="http://schemas.openxmlformats.org/presentationml/2006/main">
  <p:tag name="NUM" val="13"/>
</p:tagLst>
</file>

<file path=ppt/tags/tag8.xml><?xml version="1.0" encoding="utf-8"?>
<p:tagLst xmlns:a="http://schemas.openxmlformats.org/drawingml/2006/main" xmlns:r="http://schemas.openxmlformats.org/officeDocument/2006/relationships" xmlns:p="http://schemas.openxmlformats.org/presentationml/2006/main">
  <p:tag name="NUM" val="14"/>
</p:tagLst>
</file>

<file path=ppt/tags/tag9.xml><?xml version="1.0" encoding="utf-8"?>
<p:tagLst xmlns:a="http://schemas.openxmlformats.org/drawingml/2006/main" xmlns:r="http://schemas.openxmlformats.org/officeDocument/2006/relationships" xmlns:p="http://schemas.openxmlformats.org/presentationml/2006/main">
  <p:tag name="NUM" val="16"/>
</p:tagLst>
</file>

<file path=ppt/tags/tag10.xml><?xml version="1.0" encoding="utf-8"?>
<p:tagLst xmlns:a="http://schemas.openxmlformats.org/drawingml/2006/main" xmlns:r="http://schemas.openxmlformats.org/officeDocument/2006/relationships" xmlns:p="http://schemas.openxmlformats.org/presentationml/2006/main">
  <p:tag name="NUM" val="17"/>
</p:tagLst>
</file>

<file path=ppt/tags/tag11.xml><?xml version="1.0" encoding="utf-8"?>
<p:tagLst xmlns:a="http://schemas.openxmlformats.org/drawingml/2006/main" xmlns:r="http://schemas.openxmlformats.org/officeDocument/2006/relationships" xmlns:p="http://schemas.openxmlformats.org/presentationml/2006/main">
  <p:tag name="NUM" val="19"/>
</p:tagLst>
</file>

<file path=ppt/tags/tag12.xml><?xml version="1.0" encoding="utf-8"?>
<p:tagLst xmlns:a="http://schemas.openxmlformats.org/drawingml/2006/main" xmlns:r="http://schemas.openxmlformats.org/officeDocument/2006/relationships" xmlns:p="http://schemas.openxmlformats.org/presentationml/2006/main">
  <p:tag name="NUM" val="20"/>
</p:tagLst>
</file>

<file path=ppt/tags/tag13.xml><?xml version="1.0" encoding="utf-8"?>
<p:tagLst xmlns:a="http://schemas.openxmlformats.org/drawingml/2006/main" xmlns:r="http://schemas.openxmlformats.org/officeDocument/2006/relationships" xmlns:p="http://schemas.openxmlformats.org/presentationml/2006/main">
  <p:tag name="NUM" val="22"/>
</p:tagLst>
</file>

<file path=ppt/tags/tag14.xml><?xml version="1.0" encoding="utf-8"?>
<p:tagLst xmlns:a="http://schemas.openxmlformats.org/drawingml/2006/main" xmlns:r="http://schemas.openxmlformats.org/officeDocument/2006/relationships" xmlns:p="http://schemas.openxmlformats.org/presentationml/2006/main">
  <p:tag name="NUM" val="25"/>
</p:tagLst>
</file>

<file path=ppt/tags/tag15.xml><?xml version="1.0" encoding="utf-8"?>
<p:tagLst xmlns:a="http://schemas.openxmlformats.org/drawingml/2006/main" xmlns:r="http://schemas.openxmlformats.org/officeDocument/2006/relationships" xmlns:p="http://schemas.openxmlformats.org/presentationml/2006/main">
  <p:tag name="NUM" val="28"/>
</p:tagLst>
</file>

<file path=ppt/tags/tag16.xml><?xml version="1.0" encoding="utf-8"?>
<p:tagLst xmlns:a="http://schemas.openxmlformats.org/drawingml/2006/main" xmlns:r="http://schemas.openxmlformats.org/officeDocument/2006/relationships" xmlns:p="http://schemas.openxmlformats.org/presentationml/2006/main">
  <p:tag name="NUM" val="11"/>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4"/>
</p:tagLst>
</file>

<file path=ppt/tags/tag21.xml><?xml version="1.0" encoding="utf-8"?>
<p:tagLst xmlns:a="http://schemas.openxmlformats.org/drawingml/2006/main" xmlns:r="http://schemas.openxmlformats.org/officeDocument/2006/relationships" xmlns:p="http://schemas.openxmlformats.org/presentationml/2006/main">
  <p:tag name="NUM" val="4"/>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7"/>
</p:tagLst>
</file>

<file path=ppt/tags/tag25.xml><?xml version="1.0" encoding="utf-8"?>
<p:tagLst xmlns:a="http://schemas.openxmlformats.org/drawingml/2006/main" xmlns:r="http://schemas.openxmlformats.org/officeDocument/2006/relationships" xmlns:p="http://schemas.openxmlformats.org/presentationml/2006/main">
  <p:tag name="NUM" val="8"/>
</p:tagLst>
</file>

<file path=ppt/tags/tag26.xml><?xml version="1.0" encoding="utf-8"?>
<p:tagLst xmlns:a="http://schemas.openxmlformats.org/drawingml/2006/main" xmlns:r="http://schemas.openxmlformats.org/officeDocument/2006/relationships" xmlns:p="http://schemas.openxmlformats.org/presentationml/2006/main">
  <p:tag name="NUM" val="10"/>
</p:tagLst>
</file>

<file path=ppt/tags/tag27.xml><?xml version="1.0" encoding="utf-8"?>
<p:tagLst xmlns:a="http://schemas.openxmlformats.org/drawingml/2006/main" xmlns:r="http://schemas.openxmlformats.org/officeDocument/2006/relationships" xmlns:p="http://schemas.openxmlformats.org/presentationml/2006/main">
  <p:tag name="NUM" val="4"/>
</p:tagLst>
</file>

<file path=ppt/tags/tag28.xml><?xml version="1.0" encoding="utf-8"?>
<p:tagLst xmlns:a="http://schemas.openxmlformats.org/drawingml/2006/main" xmlns:r="http://schemas.openxmlformats.org/officeDocument/2006/relationships" xmlns:p="http://schemas.openxmlformats.org/presentationml/2006/main">
  <p:tag name="NUM" val="5"/>
</p:tagLst>
</file>

<file path=ppt/tags/tag29.xml><?xml version="1.0" encoding="utf-8"?>
<p:tagLst xmlns:a="http://schemas.openxmlformats.org/drawingml/2006/main" xmlns:r="http://schemas.openxmlformats.org/officeDocument/2006/relationships" xmlns:p="http://schemas.openxmlformats.org/presentationml/2006/main">
  <p:tag name="NUM" val="4"/>
</p:tagLst>
</file>

<file path=ppt/tags/tag30.xml><?xml version="1.0" encoding="utf-8"?>
<p:tagLst xmlns:a="http://schemas.openxmlformats.org/drawingml/2006/main" xmlns:r="http://schemas.openxmlformats.org/officeDocument/2006/relationships" xmlns:p="http://schemas.openxmlformats.org/presentationml/2006/main">
  <p:tag name="NUM" val="4"/>
</p:tagLst>
</file>

<file path=ppt/tags/tag31.xml><?xml version="1.0" encoding="utf-8"?>
<p:tagLst xmlns:a="http://schemas.openxmlformats.org/drawingml/2006/main" xmlns:r="http://schemas.openxmlformats.org/officeDocument/2006/relationships" xmlns:p="http://schemas.openxmlformats.org/presentationml/2006/main">
  <p:tag name="NUM" val="5"/>
</p:tagLst>
</file>

<file path=ppt/tags/tag32.xml><?xml version="1.0" encoding="utf-8"?>
<p:tagLst xmlns:a="http://schemas.openxmlformats.org/drawingml/2006/main" xmlns:r="http://schemas.openxmlformats.org/officeDocument/2006/relationships" xmlns:p="http://schemas.openxmlformats.org/presentationml/2006/main">
  <p:tag name="NUM" val="6"/>
</p:tagLst>
</file>

<file path=ppt/tags/tag33.xml><?xml version="1.0" encoding="utf-8"?>
<p:tagLst xmlns:a="http://schemas.openxmlformats.org/drawingml/2006/main" xmlns:r="http://schemas.openxmlformats.org/officeDocument/2006/relationships" xmlns:p="http://schemas.openxmlformats.org/presentationml/2006/main">
  <p:tag name="NUM" val="7"/>
</p:tagLst>
</file>

<file path=ppt/tags/tag34.xml><?xml version="1.0" encoding="utf-8"?>
<p:tagLst xmlns:a="http://schemas.openxmlformats.org/drawingml/2006/main" xmlns:r="http://schemas.openxmlformats.org/officeDocument/2006/relationships" xmlns:p="http://schemas.openxmlformats.org/presentationml/2006/main">
  <p:tag name="NUM" val="8"/>
</p:tagLst>
</file>

<file path=ppt/tags/tag35.xml><?xml version="1.0" encoding="utf-8"?>
<p:tagLst xmlns:a="http://schemas.openxmlformats.org/drawingml/2006/main" xmlns:r="http://schemas.openxmlformats.org/officeDocument/2006/relationships" xmlns:p="http://schemas.openxmlformats.org/presentationml/2006/main">
  <p:tag name="NUM" val="9"/>
</p:tagLst>
</file>

<file path=ppt/tags/tag36.xml><?xml version="1.0" encoding="utf-8"?>
<p:tagLst xmlns:a="http://schemas.openxmlformats.org/drawingml/2006/main" xmlns:r="http://schemas.openxmlformats.org/officeDocument/2006/relationships" xmlns:p="http://schemas.openxmlformats.org/presentationml/2006/main">
  <p:tag name="NUM" val="10"/>
</p:tagLst>
</file>

<file path=ppt/tags/tag37.xml><?xml version="1.0" encoding="utf-8"?>
<p:tagLst xmlns:a="http://schemas.openxmlformats.org/drawingml/2006/main" xmlns:r="http://schemas.openxmlformats.org/officeDocument/2006/relationships" xmlns:p="http://schemas.openxmlformats.org/presentationml/2006/main">
  <p:tag name="NUM" val="11"/>
</p:tagLst>
</file>

<file path=ppt/tags/tag38.xml><?xml version="1.0" encoding="utf-8"?>
<p:tagLst xmlns:a="http://schemas.openxmlformats.org/drawingml/2006/main" xmlns:r="http://schemas.openxmlformats.org/officeDocument/2006/relationships" xmlns:p="http://schemas.openxmlformats.org/presentationml/2006/main">
  <p:tag name="NUM" val="12"/>
</p:tagLst>
</file>

<file path=ppt/tags/tag39.xml><?xml version="1.0" encoding="utf-8"?>
<p:tagLst xmlns:a="http://schemas.openxmlformats.org/drawingml/2006/main" xmlns:r="http://schemas.openxmlformats.org/officeDocument/2006/relationships" xmlns:p="http://schemas.openxmlformats.org/presentationml/2006/main">
  <p:tag name="NUM" val="13"/>
</p:tagLst>
</file>

<file path=ppt/tags/tag40.xml><?xml version="1.0" encoding="utf-8"?>
<p:tagLst xmlns:a="http://schemas.openxmlformats.org/drawingml/2006/main" xmlns:r="http://schemas.openxmlformats.org/officeDocument/2006/relationships" xmlns:p="http://schemas.openxmlformats.org/presentationml/2006/main">
  <p:tag name="NUM" val="14"/>
</p:tagLst>
</file>

<file path=ppt/tags/tag41.xml><?xml version="1.0" encoding="utf-8"?>
<p:tagLst xmlns:a="http://schemas.openxmlformats.org/drawingml/2006/main" xmlns:r="http://schemas.openxmlformats.org/officeDocument/2006/relationships" xmlns:p="http://schemas.openxmlformats.org/presentationml/2006/main">
  <p:tag name="NUM" val="15"/>
</p:tagLst>
</file>

<file path=ppt/tags/tag42.xml><?xml version="1.0" encoding="utf-8"?>
<p:tagLst xmlns:a="http://schemas.openxmlformats.org/drawingml/2006/main" xmlns:r="http://schemas.openxmlformats.org/officeDocument/2006/relationships" xmlns:p="http://schemas.openxmlformats.org/presentationml/2006/main">
  <p:tag name="NUM" val="16"/>
</p:tagLst>
</file>

<file path=ppt/tags/tag43.xml><?xml version="1.0" encoding="utf-8"?>
<p:tagLst xmlns:a="http://schemas.openxmlformats.org/drawingml/2006/main" xmlns:r="http://schemas.openxmlformats.org/officeDocument/2006/relationships" xmlns:p="http://schemas.openxmlformats.org/presentationml/2006/main">
  <p:tag name="NUM" val="17"/>
</p:tagLst>
</file>

<file path=ppt/tags/tag44.xml><?xml version="1.0" encoding="utf-8"?>
<p:tagLst xmlns:a="http://schemas.openxmlformats.org/drawingml/2006/main" xmlns:r="http://schemas.openxmlformats.org/officeDocument/2006/relationships" xmlns:p="http://schemas.openxmlformats.org/presentationml/2006/main">
  <p:tag name="NUM" val="18"/>
</p:tagLst>
</file>

<file path=ppt/tags/tag45.xml><?xml version="1.0" encoding="utf-8"?>
<p:tagLst xmlns:a="http://schemas.openxmlformats.org/drawingml/2006/main" xmlns:r="http://schemas.openxmlformats.org/officeDocument/2006/relationships" xmlns:p="http://schemas.openxmlformats.org/presentationml/2006/main">
  <p:tag name="NUM" val="19"/>
</p:tagLst>
</file>

<file path=ppt/tags/tag46.xml><?xml version="1.0" encoding="utf-8"?>
<p:tagLst xmlns:a="http://schemas.openxmlformats.org/drawingml/2006/main" xmlns:r="http://schemas.openxmlformats.org/officeDocument/2006/relationships" xmlns:p="http://schemas.openxmlformats.org/presentationml/2006/main">
  <p:tag name="NUM" val="20"/>
</p:tagLst>
</file>

<file path=ppt/tags/tag47.xml><?xml version="1.0" encoding="utf-8"?>
<p:tagLst xmlns:a="http://schemas.openxmlformats.org/drawingml/2006/main" xmlns:r="http://schemas.openxmlformats.org/officeDocument/2006/relationships" xmlns:p="http://schemas.openxmlformats.org/presentationml/2006/main">
  <p:tag name="NUM" val="21"/>
</p:tagLst>
</file>

<file path=ppt/tags/tag48.xml><?xml version="1.0" encoding="utf-8"?>
<p:tagLst xmlns:a="http://schemas.openxmlformats.org/drawingml/2006/main" xmlns:r="http://schemas.openxmlformats.org/officeDocument/2006/relationships" xmlns:p="http://schemas.openxmlformats.org/presentationml/2006/main">
  <p:tag name="NUM" val="22"/>
</p:tagLst>
</file>

<file path=ppt/tags/tag49.xml><?xml version="1.0" encoding="utf-8"?>
<p:tagLst xmlns:a="http://schemas.openxmlformats.org/drawingml/2006/main" xmlns:r="http://schemas.openxmlformats.org/officeDocument/2006/relationships" xmlns:p="http://schemas.openxmlformats.org/presentationml/2006/main">
  <p:tag name="NUM" val="23"/>
</p:tagLst>
</file>

<file path=ppt/tags/tag50.xml><?xml version="1.0" encoding="utf-8"?>
<p:tagLst xmlns:a="http://schemas.openxmlformats.org/drawingml/2006/main" xmlns:r="http://schemas.openxmlformats.org/officeDocument/2006/relationships" xmlns:p="http://schemas.openxmlformats.org/presentationml/2006/main">
  <p:tag name="NUM" val="24"/>
</p:tagLst>
</file>

<file path=ppt/tags/tag51.xml><?xml version="1.0" encoding="utf-8"?>
<p:tagLst xmlns:a="http://schemas.openxmlformats.org/drawingml/2006/main" xmlns:r="http://schemas.openxmlformats.org/officeDocument/2006/relationships" xmlns:p="http://schemas.openxmlformats.org/presentationml/2006/main">
  <p:tag name="NUM" val="25"/>
</p:tagLst>
</file>

<file path=ppt/tags/tag52.xml><?xml version="1.0" encoding="utf-8"?>
<p:tagLst xmlns:a="http://schemas.openxmlformats.org/drawingml/2006/main" xmlns:r="http://schemas.openxmlformats.org/officeDocument/2006/relationships" xmlns:p="http://schemas.openxmlformats.org/presentationml/2006/main">
  <p:tag name="NUM" val="26"/>
</p:tagLst>
</file>

<file path=ppt/tags/tag53.xml><?xml version="1.0" encoding="utf-8"?>
<p:tagLst xmlns:a="http://schemas.openxmlformats.org/drawingml/2006/main" xmlns:r="http://schemas.openxmlformats.org/officeDocument/2006/relationships" xmlns:p="http://schemas.openxmlformats.org/presentationml/2006/main">
  <p:tag name="NUM" val="27"/>
</p:tagLst>
</file>

<file path=ppt/tags/tag54.xml><?xml version="1.0" encoding="utf-8"?>
<p:tagLst xmlns:a="http://schemas.openxmlformats.org/drawingml/2006/main" xmlns:r="http://schemas.openxmlformats.org/officeDocument/2006/relationships" xmlns:p="http://schemas.openxmlformats.org/presentationml/2006/main">
  <p:tag name="NUM" val="28"/>
</p:tagLst>
</file>

<file path=ppt/tags/tag55.xml><?xml version="1.0" encoding="utf-8"?>
<p:tagLst xmlns:a="http://schemas.openxmlformats.org/drawingml/2006/main" xmlns:r="http://schemas.openxmlformats.org/officeDocument/2006/relationships" xmlns:p="http://schemas.openxmlformats.org/presentationml/2006/main">
  <p:tag name="NUM" val="29"/>
</p:tagLst>
</file>

<file path=ppt/tags/tag56.xml><?xml version="1.0" encoding="utf-8"?>
<p:tagLst xmlns:a="http://schemas.openxmlformats.org/drawingml/2006/main" xmlns:r="http://schemas.openxmlformats.org/officeDocument/2006/relationships" xmlns:p="http://schemas.openxmlformats.org/presentationml/2006/main">
  <p:tag name="NUM" val="30"/>
</p:tagLst>
</file>

<file path=ppt/tags/tag57.xml><?xml version="1.0" encoding="utf-8"?>
<p:tagLst xmlns:a="http://schemas.openxmlformats.org/drawingml/2006/main" xmlns:r="http://schemas.openxmlformats.org/officeDocument/2006/relationships" xmlns:p="http://schemas.openxmlformats.org/presentationml/2006/main">
  <p:tag name="NUM" val="32"/>
</p:tagLst>
</file>

<file path=ppt/tags/tag58.xml><?xml version="1.0" encoding="utf-8"?>
<p:tagLst xmlns:a="http://schemas.openxmlformats.org/drawingml/2006/main" xmlns:r="http://schemas.openxmlformats.org/officeDocument/2006/relationships" xmlns:p="http://schemas.openxmlformats.org/presentationml/2006/main">
  <p:tag name="NUM" val="33"/>
</p:tagLst>
</file>

<file path=ppt/tags/tag59.xml><?xml version="1.0" encoding="utf-8"?>
<p:tagLst xmlns:a="http://schemas.openxmlformats.org/drawingml/2006/main" xmlns:r="http://schemas.openxmlformats.org/officeDocument/2006/relationships" xmlns:p="http://schemas.openxmlformats.org/presentationml/2006/main">
  <p:tag name="NUM" val="34"/>
</p:tagLst>
</file>

<file path=ppt/tags/tag60.xml><?xml version="1.0" encoding="utf-8"?>
<p:tagLst xmlns:a="http://schemas.openxmlformats.org/drawingml/2006/main" xmlns:r="http://schemas.openxmlformats.org/officeDocument/2006/relationships" xmlns:p="http://schemas.openxmlformats.org/presentationml/2006/main">
  <p:tag name="NUM" val="35"/>
</p:tagLst>
</file>

<file path=ppt/tags/tag61.xml><?xml version="1.0" encoding="utf-8"?>
<p:tagLst xmlns:a="http://schemas.openxmlformats.org/drawingml/2006/main" xmlns:r="http://schemas.openxmlformats.org/officeDocument/2006/relationships" xmlns:p="http://schemas.openxmlformats.org/presentationml/2006/main">
  <p:tag name="NUM" val="36"/>
</p:tagLst>
</file>

<file path=ppt/tags/tag62.xml><?xml version="1.0" encoding="utf-8"?>
<p:tagLst xmlns:a="http://schemas.openxmlformats.org/drawingml/2006/main" xmlns:r="http://schemas.openxmlformats.org/officeDocument/2006/relationships" xmlns:p="http://schemas.openxmlformats.org/presentationml/2006/main">
  <p:tag name="NUM" val="37"/>
</p:tagLst>
</file>

<file path=ppt/tags/tag63.xml><?xml version="1.0" encoding="utf-8"?>
<p:tagLst xmlns:a="http://schemas.openxmlformats.org/drawingml/2006/main" xmlns:r="http://schemas.openxmlformats.org/officeDocument/2006/relationships" xmlns:p="http://schemas.openxmlformats.org/presentationml/2006/main">
  <p:tag name="NUM" val="4"/>
</p:tagLst>
</file>

<file path=ppt/tags/tag64.xml><?xml version="1.0" encoding="utf-8"?>
<p:tagLst xmlns:a="http://schemas.openxmlformats.org/drawingml/2006/main" xmlns:r="http://schemas.openxmlformats.org/officeDocument/2006/relationships" xmlns:p="http://schemas.openxmlformats.org/presentationml/2006/main">
  <p:tag name="NUM" val="5"/>
</p:tagLst>
</file>

<file path=ppt/tags/tag65.xml><?xml version="1.0" encoding="utf-8"?>
<p:tagLst xmlns:a="http://schemas.openxmlformats.org/drawingml/2006/main" xmlns:r="http://schemas.openxmlformats.org/officeDocument/2006/relationships" xmlns:p="http://schemas.openxmlformats.org/presentationml/2006/main">
  <p:tag name="NUM" val="35"/>
</p:tagLst>
</file>

<file path=ppt/tags/tag66.xml><?xml version="1.0" encoding="utf-8"?>
<p:tagLst xmlns:a="http://schemas.openxmlformats.org/drawingml/2006/main" xmlns:r="http://schemas.openxmlformats.org/officeDocument/2006/relationships" xmlns:p="http://schemas.openxmlformats.org/presentationml/2006/main">
  <p:tag name="NUM" val="37"/>
</p:tagLst>
</file>

<file path=ppt/tags/tag67.xml><?xml version="1.0" encoding="utf-8"?>
<p:tagLst xmlns:a="http://schemas.openxmlformats.org/drawingml/2006/main" xmlns:r="http://schemas.openxmlformats.org/officeDocument/2006/relationships" xmlns:p="http://schemas.openxmlformats.org/presentationml/2006/main">
  <p:tag name="NUM" val="35"/>
</p:tagLst>
</file>

<file path=ppt/tags/tag68.xml><?xml version="1.0" encoding="utf-8"?>
<p:tagLst xmlns:a="http://schemas.openxmlformats.org/drawingml/2006/main" xmlns:r="http://schemas.openxmlformats.org/officeDocument/2006/relationships" xmlns:p="http://schemas.openxmlformats.org/presentationml/2006/main">
  <p:tag name="NUM" val="35"/>
</p:tagLst>
</file>

<file path=ppt/tags/tag69.xml><?xml version="1.0" encoding="utf-8"?>
<p:tagLst xmlns:a="http://schemas.openxmlformats.org/drawingml/2006/main" xmlns:r="http://schemas.openxmlformats.org/officeDocument/2006/relationships" xmlns:p="http://schemas.openxmlformats.org/presentationml/2006/main">
  <p:tag name="NUM" val="35"/>
</p:tagLst>
</file>

<file path=ppt/tags/tag70.xml><?xml version="1.0" encoding="utf-8"?>
<p:tagLst xmlns:a="http://schemas.openxmlformats.org/drawingml/2006/main" xmlns:r="http://schemas.openxmlformats.org/officeDocument/2006/relationships" xmlns:p="http://schemas.openxmlformats.org/presentationml/2006/main">
  <p:tag name="NUM" val="35"/>
</p:tagLst>
</file>

<file path=ppt/tags/tag71.xml><?xml version="1.0" encoding="utf-8"?>
<p:tagLst xmlns:a="http://schemas.openxmlformats.org/drawingml/2006/main" xmlns:r="http://schemas.openxmlformats.org/officeDocument/2006/relationships" xmlns:p="http://schemas.openxmlformats.org/presentationml/2006/main">
  <p:tag name="NUM" val="24"/>
</p:tagLst>
</file>

<file path=ppt/tags/tag72.xml><?xml version="1.0" encoding="utf-8"?>
<p:tagLst xmlns:a="http://schemas.openxmlformats.org/drawingml/2006/main" xmlns:r="http://schemas.openxmlformats.org/officeDocument/2006/relationships" xmlns:p="http://schemas.openxmlformats.org/presentationml/2006/main">
  <p:tag name="NUM" val="5"/>
</p:tagLst>
</file>

<file path=ppt/tags/tag73.xml><?xml version="1.0" encoding="utf-8"?>
<p:tagLst xmlns:a="http://schemas.openxmlformats.org/drawingml/2006/main" xmlns:r="http://schemas.openxmlformats.org/officeDocument/2006/relationships" xmlns:p="http://schemas.openxmlformats.org/presentationml/2006/main">
  <p:tag name="NUM" val="6"/>
</p:tagLst>
</file>

<file path=ppt/tags/tag74.xml><?xml version="1.0" encoding="utf-8"?>
<p:tagLst xmlns:a="http://schemas.openxmlformats.org/drawingml/2006/main" xmlns:r="http://schemas.openxmlformats.org/officeDocument/2006/relationships" xmlns:p="http://schemas.openxmlformats.org/presentationml/2006/main">
  <p:tag name="NUM" val="7"/>
</p:tagLst>
</file>

<file path=ppt/tags/tag75.xml><?xml version="1.0" encoding="utf-8"?>
<p:tagLst xmlns:a="http://schemas.openxmlformats.org/drawingml/2006/main" xmlns:r="http://schemas.openxmlformats.org/officeDocument/2006/relationships" xmlns:p="http://schemas.openxmlformats.org/presentationml/2006/main">
  <p:tag name="NUM" val="8"/>
</p:tagLst>
</file>

<file path=ppt/tags/tag76.xml><?xml version="1.0" encoding="utf-8"?>
<p:tagLst xmlns:a="http://schemas.openxmlformats.org/drawingml/2006/main" xmlns:r="http://schemas.openxmlformats.org/officeDocument/2006/relationships" xmlns:p="http://schemas.openxmlformats.org/presentationml/2006/main">
  <p:tag name="NUM" val="9"/>
</p:tagLst>
</file>

<file path=ppt/tags/tag77.xml><?xml version="1.0" encoding="utf-8"?>
<p:tagLst xmlns:a="http://schemas.openxmlformats.org/drawingml/2006/main" xmlns:r="http://schemas.openxmlformats.org/officeDocument/2006/relationships" xmlns:p="http://schemas.openxmlformats.org/presentationml/2006/main">
  <p:tag name="NUM" val="5"/>
</p:tagLst>
</file>

<file path=ppt/tags/tag78.xml><?xml version="1.0" encoding="utf-8"?>
<p:tagLst xmlns:a="http://schemas.openxmlformats.org/drawingml/2006/main" xmlns:r="http://schemas.openxmlformats.org/officeDocument/2006/relationships" xmlns:p="http://schemas.openxmlformats.org/presentationml/2006/main">
  <p:tag name="NUM" val="6"/>
</p:tagLst>
</file>

<file path=ppt/tags/tag79.xml><?xml version="1.0" encoding="utf-8"?>
<p:tagLst xmlns:a="http://schemas.openxmlformats.org/drawingml/2006/main" xmlns:r="http://schemas.openxmlformats.org/officeDocument/2006/relationships" xmlns:p="http://schemas.openxmlformats.org/presentationml/2006/main">
  <p:tag name="NUM" val="7"/>
</p:tagLst>
</file>

<file path=ppt/tags/tag80.xml><?xml version="1.0" encoding="utf-8"?>
<p:tagLst xmlns:a="http://schemas.openxmlformats.org/drawingml/2006/main" xmlns:r="http://schemas.openxmlformats.org/officeDocument/2006/relationships" xmlns:p="http://schemas.openxmlformats.org/presentationml/2006/main">
  <p:tag name="NUM" val="8"/>
</p:tagLst>
</file>

<file path=ppt/tags/tag81.xml><?xml version="1.0" encoding="utf-8"?>
<p:tagLst xmlns:a="http://schemas.openxmlformats.org/drawingml/2006/main" xmlns:r="http://schemas.openxmlformats.org/officeDocument/2006/relationships" xmlns:p="http://schemas.openxmlformats.org/presentationml/2006/main">
  <p:tag name="NUM" val="1"/>
</p:tagLst>
</file>

<file path=ppt/tags/tag82.xml><?xml version="1.0" encoding="utf-8"?>
<p:tagLst xmlns:a="http://schemas.openxmlformats.org/drawingml/2006/main" xmlns:r="http://schemas.openxmlformats.org/officeDocument/2006/relationships" xmlns:p="http://schemas.openxmlformats.org/presentationml/2006/main">
  <p:tag name="NUM" val="2"/>
</p:tagLst>
</file>

<file path=ppt/tags/tag83.xml><?xml version="1.0" encoding="utf-8"?>
<p:tagLst xmlns:a="http://schemas.openxmlformats.org/drawingml/2006/main" xmlns:r="http://schemas.openxmlformats.org/officeDocument/2006/relationships" xmlns:p="http://schemas.openxmlformats.org/presentationml/2006/main">
  <p:tag name="NUM" val="3"/>
</p:tagLst>
</file>

<file path=ppt/tags/tag84.xml><?xml version="1.0" encoding="utf-8"?>
<p:tagLst xmlns:a="http://schemas.openxmlformats.org/drawingml/2006/main" xmlns:r="http://schemas.openxmlformats.org/officeDocument/2006/relationships" xmlns:p="http://schemas.openxmlformats.org/presentationml/2006/main">
  <p:tag name="NUM" val="5"/>
</p:tagLst>
</file>

<file path=ppt/tags/tag85.xml><?xml version="1.0" encoding="utf-8"?>
<p:tagLst xmlns:a="http://schemas.openxmlformats.org/drawingml/2006/main" xmlns:r="http://schemas.openxmlformats.org/officeDocument/2006/relationships" xmlns:p="http://schemas.openxmlformats.org/presentationml/2006/main">
  <p:tag name="NUM" val="6"/>
</p:tagLst>
</file>

<file path=ppt/tags/tag86.xml><?xml version="1.0" encoding="utf-8"?>
<p:tagLst xmlns:a="http://schemas.openxmlformats.org/drawingml/2006/main" xmlns:r="http://schemas.openxmlformats.org/officeDocument/2006/relationships" xmlns:p="http://schemas.openxmlformats.org/presentationml/2006/main">
  <p:tag name="NUM" val="7"/>
</p:tagLst>
</file>

<file path=ppt/tags/tag87.xml><?xml version="1.0" encoding="utf-8"?>
<p:tagLst xmlns:a="http://schemas.openxmlformats.org/drawingml/2006/main" xmlns:r="http://schemas.openxmlformats.org/officeDocument/2006/relationships" xmlns:p="http://schemas.openxmlformats.org/presentationml/2006/main">
  <p:tag name="NUM" val="8"/>
</p:tagLst>
</file>

<file path=ppt/tags/tag88.xml><?xml version="1.0" encoding="utf-8"?>
<p:tagLst xmlns:a="http://schemas.openxmlformats.org/drawingml/2006/main" xmlns:r="http://schemas.openxmlformats.org/officeDocument/2006/relationships" xmlns:p="http://schemas.openxmlformats.org/presentationml/2006/main">
  <p:tag name="NUM" val="9"/>
</p:tagLst>
</file>

<file path=ppt/tags/tag89.xml><?xml version="1.0" encoding="utf-8"?>
<p:tagLst xmlns:a="http://schemas.openxmlformats.org/drawingml/2006/main" xmlns:r="http://schemas.openxmlformats.org/officeDocument/2006/relationships" xmlns:p="http://schemas.openxmlformats.org/presentationml/2006/main">
  <p:tag name="NUM" val="10"/>
</p:tagLst>
</file>

<file path=ppt/tags/tag90.xml><?xml version="1.0" encoding="utf-8"?>
<p:tagLst xmlns:a="http://schemas.openxmlformats.org/drawingml/2006/main" xmlns:r="http://schemas.openxmlformats.org/officeDocument/2006/relationships" xmlns:p="http://schemas.openxmlformats.org/presentationml/2006/main">
  <p:tag name="NUM" val="11"/>
</p:tagLst>
</file>

<file path=ppt/tags/tag91.xml><?xml version="1.0" encoding="utf-8"?>
<p:tagLst xmlns:a="http://schemas.openxmlformats.org/drawingml/2006/main" xmlns:r="http://schemas.openxmlformats.org/officeDocument/2006/relationships" xmlns:p="http://schemas.openxmlformats.org/presentationml/2006/main">
  <p:tag name="NUM" val="12"/>
</p:tagLst>
</file>

<file path=ppt/tags/tag92.xml><?xml version="1.0" encoding="utf-8"?>
<p:tagLst xmlns:a="http://schemas.openxmlformats.org/drawingml/2006/main" xmlns:r="http://schemas.openxmlformats.org/officeDocument/2006/relationships" xmlns:p="http://schemas.openxmlformats.org/presentationml/2006/main">
  <p:tag name="NUM" val="13"/>
</p:tagLst>
</file>

<file path=ppt/tags/tag93.xml><?xml version="1.0" encoding="utf-8"?>
<p:tagLst xmlns:a="http://schemas.openxmlformats.org/drawingml/2006/main" xmlns:r="http://schemas.openxmlformats.org/officeDocument/2006/relationships" xmlns:p="http://schemas.openxmlformats.org/presentationml/2006/main">
  <p:tag name="NUM" val="14"/>
</p:tagLst>
</file>

<file path=ppt/tags/tag94.xml><?xml version="1.0" encoding="utf-8"?>
<p:tagLst xmlns:a="http://schemas.openxmlformats.org/drawingml/2006/main" xmlns:r="http://schemas.openxmlformats.org/officeDocument/2006/relationships" xmlns:p="http://schemas.openxmlformats.org/presentationml/2006/main">
  <p:tag name="NUM" val="15"/>
</p:tagLst>
</file>

<file path=ppt/tags/tag95.xml><?xml version="1.0" encoding="utf-8"?>
<p:tagLst xmlns:a="http://schemas.openxmlformats.org/drawingml/2006/main" xmlns:r="http://schemas.openxmlformats.org/officeDocument/2006/relationships" xmlns:p="http://schemas.openxmlformats.org/presentationml/2006/main">
  <p:tag name="NUM" val="16"/>
</p:tagLst>
</file>

<file path=ppt/tags/tag96.xml><?xml version="1.0" encoding="utf-8"?>
<p:tagLst xmlns:a="http://schemas.openxmlformats.org/drawingml/2006/main" xmlns:r="http://schemas.openxmlformats.org/officeDocument/2006/relationships" xmlns:p="http://schemas.openxmlformats.org/presentationml/2006/main">
  <p:tag name="NUM" val="17"/>
</p:tagLst>
</file>

<file path=ppt/tags/tag97.xml><?xml version="1.0" encoding="utf-8"?>
<p:tagLst xmlns:a="http://schemas.openxmlformats.org/drawingml/2006/main" xmlns:r="http://schemas.openxmlformats.org/officeDocument/2006/relationships" xmlns:p="http://schemas.openxmlformats.org/presentationml/2006/main">
  <p:tag name="NUM" val="18"/>
</p:tagLst>
</file>

<file path=ppt/tags/tag98.xml><?xml version="1.0" encoding="utf-8"?>
<p:tagLst xmlns:a="http://schemas.openxmlformats.org/drawingml/2006/main" xmlns:r="http://schemas.openxmlformats.org/officeDocument/2006/relationships" xmlns:p="http://schemas.openxmlformats.org/presentationml/2006/main">
  <p:tag name="NUM" val="19"/>
</p:tagLst>
</file>

<file path=ppt/tags/tag99.xml><?xml version="1.0" encoding="utf-8"?>
<p:tagLst xmlns:a="http://schemas.openxmlformats.org/drawingml/2006/main" xmlns:r="http://schemas.openxmlformats.org/officeDocument/2006/relationships" xmlns:p="http://schemas.openxmlformats.org/presentationml/2006/main">
  <p:tag name="NUM" val="20"/>
</p:tagLst>
</file>

<file path=ppt/tags/tag100.xml><?xml version="1.0" encoding="utf-8"?>
<p:tagLst xmlns:a="http://schemas.openxmlformats.org/drawingml/2006/main" xmlns:r="http://schemas.openxmlformats.org/officeDocument/2006/relationships" xmlns:p="http://schemas.openxmlformats.org/presentationml/2006/main">
  <p:tag name="NUM" val="21"/>
</p:tagLst>
</file>

<file path=ppt/tags/tag101.xml><?xml version="1.0" encoding="utf-8"?>
<p:tagLst xmlns:a="http://schemas.openxmlformats.org/drawingml/2006/main" xmlns:r="http://schemas.openxmlformats.org/officeDocument/2006/relationships" xmlns:p="http://schemas.openxmlformats.org/presentationml/2006/main">
  <p:tag name="NUM" val="22"/>
</p:tagLst>
</file>

<file path=ppt/tags/tag102.xml><?xml version="1.0" encoding="utf-8"?>
<p:tagLst xmlns:a="http://schemas.openxmlformats.org/drawingml/2006/main" xmlns:r="http://schemas.openxmlformats.org/officeDocument/2006/relationships" xmlns:p="http://schemas.openxmlformats.org/presentationml/2006/main">
  <p:tag name="NUM" val="23"/>
</p:tagLst>
</file>

<file path=ppt/tags/tag103.xml><?xml version="1.0" encoding="utf-8"?>
<p:tagLst xmlns:a="http://schemas.openxmlformats.org/drawingml/2006/main" xmlns:r="http://schemas.openxmlformats.org/officeDocument/2006/relationships" xmlns:p="http://schemas.openxmlformats.org/presentationml/2006/main">
  <p:tag name="NUM" val="24"/>
</p:tagLst>
</file>

<file path=ppt/tags/tag104.xml><?xml version="1.0" encoding="utf-8"?>
<p:tagLst xmlns:a="http://schemas.openxmlformats.org/drawingml/2006/main" xmlns:r="http://schemas.openxmlformats.org/officeDocument/2006/relationships" xmlns:p="http://schemas.openxmlformats.org/presentationml/2006/main">
  <p:tag name="NUM" val="25"/>
</p:tagLst>
</file>

<file path=ppt/tags/tag105.xml><?xml version="1.0" encoding="utf-8"?>
<p:tagLst xmlns:a="http://schemas.openxmlformats.org/drawingml/2006/main" xmlns:r="http://schemas.openxmlformats.org/officeDocument/2006/relationships" xmlns:p="http://schemas.openxmlformats.org/presentationml/2006/main">
  <p:tag name="NUM" val="26"/>
</p:tagLst>
</file>

<file path=ppt/tags/tag106.xml><?xml version="1.0" encoding="utf-8"?>
<p:tagLst xmlns:a="http://schemas.openxmlformats.org/drawingml/2006/main" xmlns:r="http://schemas.openxmlformats.org/officeDocument/2006/relationships" xmlns:p="http://schemas.openxmlformats.org/presentationml/2006/main">
  <p:tag name="NUM" val="27"/>
</p:tagLst>
</file>

<file path=ppt/tags/tag107.xml><?xml version="1.0" encoding="utf-8"?>
<p:tagLst xmlns:a="http://schemas.openxmlformats.org/drawingml/2006/main" xmlns:r="http://schemas.openxmlformats.org/officeDocument/2006/relationships" xmlns:p="http://schemas.openxmlformats.org/presentationml/2006/main">
  <p:tag name="NUM" val="28"/>
</p:tagLst>
</file>

<file path=ppt/tags/tag108.xml><?xml version="1.0" encoding="utf-8"?>
<p:tagLst xmlns:a="http://schemas.openxmlformats.org/drawingml/2006/main" xmlns:r="http://schemas.openxmlformats.org/officeDocument/2006/relationships" xmlns:p="http://schemas.openxmlformats.org/presentationml/2006/main">
  <p:tag name="NUM" val="29"/>
</p:tagLst>
</file>

<file path=ppt/tags/tag109.xml><?xml version="1.0" encoding="utf-8"?>
<p:tagLst xmlns:a="http://schemas.openxmlformats.org/drawingml/2006/main" xmlns:r="http://schemas.openxmlformats.org/officeDocument/2006/relationships" xmlns:p="http://schemas.openxmlformats.org/presentationml/2006/main">
  <p:tag name="NUM" val="30"/>
</p:tagLst>
</file>

<file path=ppt/tags/tag110.xml><?xml version="1.0" encoding="utf-8"?>
<p:tagLst xmlns:a="http://schemas.openxmlformats.org/drawingml/2006/main" xmlns:r="http://schemas.openxmlformats.org/officeDocument/2006/relationships" xmlns:p="http://schemas.openxmlformats.org/presentationml/2006/main">
  <p:tag name="NUM" val="31"/>
</p:tagLst>
</file>

<file path=ppt/tags/tag111.xml><?xml version="1.0" encoding="utf-8"?>
<p:tagLst xmlns:a="http://schemas.openxmlformats.org/drawingml/2006/main" xmlns:r="http://schemas.openxmlformats.org/officeDocument/2006/relationships" xmlns:p="http://schemas.openxmlformats.org/presentationml/2006/main">
  <p:tag name="NUM" val="32"/>
</p:tagLst>
</file>

<file path=ppt/tags/tag112.xml><?xml version="1.0" encoding="utf-8"?>
<p:tagLst xmlns:a="http://schemas.openxmlformats.org/drawingml/2006/main" xmlns:r="http://schemas.openxmlformats.org/officeDocument/2006/relationships" xmlns:p="http://schemas.openxmlformats.org/presentationml/2006/main">
  <p:tag name="NUM" val="33"/>
</p:tagLst>
</file>

<file path=ppt/tags/tag113.xml><?xml version="1.0" encoding="utf-8"?>
<p:tagLst xmlns:a="http://schemas.openxmlformats.org/drawingml/2006/main" xmlns:r="http://schemas.openxmlformats.org/officeDocument/2006/relationships" xmlns:p="http://schemas.openxmlformats.org/presentationml/2006/main">
  <p:tag name="NUM" val="34"/>
</p:tagLst>
</file>

<file path=ppt/tags/tag114.xml><?xml version="1.0" encoding="utf-8"?>
<p:tagLst xmlns:a="http://schemas.openxmlformats.org/drawingml/2006/main" xmlns:r="http://schemas.openxmlformats.org/officeDocument/2006/relationships" xmlns:p="http://schemas.openxmlformats.org/presentationml/2006/main">
  <p:tag name="NUM" val="35"/>
</p:tagLst>
</file>

<file path=ppt/tags/tag115.xml><?xml version="1.0" encoding="utf-8"?>
<p:tagLst xmlns:a="http://schemas.openxmlformats.org/drawingml/2006/main" xmlns:r="http://schemas.openxmlformats.org/officeDocument/2006/relationships" xmlns:p="http://schemas.openxmlformats.org/presentationml/2006/main">
  <p:tag name="NUM" val="36"/>
</p:tagLst>
</file>

<file path=ppt/tags/tag116.xml><?xml version="1.0" encoding="utf-8"?>
<p:tagLst xmlns:a="http://schemas.openxmlformats.org/drawingml/2006/main" xmlns:r="http://schemas.openxmlformats.org/officeDocument/2006/relationships" xmlns:p="http://schemas.openxmlformats.org/presentationml/2006/main">
  <p:tag name="NUM" val="37"/>
</p:tagLst>
</file>

<file path=ppt/tags/tag117.xml><?xml version="1.0" encoding="utf-8"?>
<p:tagLst xmlns:a="http://schemas.openxmlformats.org/drawingml/2006/main" xmlns:r="http://schemas.openxmlformats.org/officeDocument/2006/relationships" xmlns:p="http://schemas.openxmlformats.org/presentationml/2006/main">
  <p:tag name="NUM" val="38"/>
</p:tagLst>
</file>

<file path=ppt/tags/tag118.xml><?xml version="1.0" encoding="utf-8"?>
<p:tagLst xmlns:a="http://schemas.openxmlformats.org/drawingml/2006/main" xmlns:r="http://schemas.openxmlformats.org/officeDocument/2006/relationships" xmlns:p="http://schemas.openxmlformats.org/presentationml/2006/main">
  <p:tag name="NUM" val="39"/>
</p:tagLst>
</file>

<file path=ppt/tags/tag119.xml><?xml version="1.0" encoding="utf-8"?>
<p:tagLst xmlns:a="http://schemas.openxmlformats.org/drawingml/2006/main" xmlns:r="http://schemas.openxmlformats.org/officeDocument/2006/relationships" xmlns:p="http://schemas.openxmlformats.org/presentationml/2006/main">
  <p:tag name="NUM" val="40"/>
</p:tagLst>
</file>

<file path=ppt/tags/tag120.xml><?xml version="1.0" encoding="utf-8"?>
<p:tagLst xmlns:a="http://schemas.openxmlformats.org/drawingml/2006/main" xmlns:r="http://schemas.openxmlformats.org/officeDocument/2006/relationships" xmlns:p="http://schemas.openxmlformats.org/presentationml/2006/main">
  <p:tag name="NUM" val="41"/>
</p:tagLst>
</file>

<file path=ppt/tags/tag121.xml><?xml version="1.0" encoding="utf-8"?>
<p:tagLst xmlns:a="http://schemas.openxmlformats.org/drawingml/2006/main" xmlns:r="http://schemas.openxmlformats.org/officeDocument/2006/relationships" xmlns:p="http://schemas.openxmlformats.org/presentationml/2006/main">
  <p:tag name="NUM" val="42"/>
</p:tagLst>
</file>

<file path=ppt/tags/tag122.xml><?xml version="1.0" encoding="utf-8"?>
<p:tagLst xmlns:a="http://schemas.openxmlformats.org/drawingml/2006/main" xmlns:r="http://schemas.openxmlformats.org/officeDocument/2006/relationships" xmlns:p="http://schemas.openxmlformats.org/presentationml/2006/main">
  <p:tag name="NUM" val="43"/>
</p:tagLst>
</file>

<file path=ppt/tags/tag123.xml><?xml version="1.0" encoding="utf-8"?>
<p:tagLst xmlns:a="http://schemas.openxmlformats.org/drawingml/2006/main" xmlns:r="http://schemas.openxmlformats.org/officeDocument/2006/relationships" xmlns:p="http://schemas.openxmlformats.org/presentationml/2006/main">
  <p:tag name="NUM" val="44"/>
</p:tagLst>
</file>

<file path=ppt/tags/tag124.xml><?xml version="1.0" encoding="utf-8"?>
<p:tagLst xmlns:a="http://schemas.openxmlformats.org/drawingml/2006/main" xmlns:r="http://schemas.openxmlformats.org/officeDocument/2006/relationships" xmlns:p="http://schemas.openxmlformats.org/presentationml/2006/main">
  <p:tag name="NUM" val="45"/>
</p:tagLst>
</file>

<file path=ppt/tags/tag125.xml><?xml version="1.0" encoding="utf-8"?>
<p:tagLst xmlns:a="http://schemas.openxmlformats.org/drawingml/2006/main" xmlns:r="http://schemas.openxmlformats.org/officeDocument/2006/relationships" xmlns:p="http://schemas.openxmlformats.org/presentationml/2006/main">
  <p:tag name="NUM" val="46"/>
</p:tagLst>
</file>

<file path=ppt/tags/tag126.xml><?xml version="1.0" encoding="utf-8"?>
<p:tagLst xmlns:a="http://schemas.openxmlformats.org/drawingml/2006/main" xmlns:r="http://schemas.openxmlformats.org/officeDocument/2006/relationships" xmlns:p="http://schemas.openxmlformats.org/presentationml/2006/main">
  <p:tag name="NUM" val="47"/>
</p:tagLst>
</file>

<file path=ppt/tags/tag127.xml><?xml version="1.0" encoding="utf-8"?>
<p:tagLst xmlns:a="http://schemas.openxmlformats.org/drawingml/2006/main" xmlns:r="http://schemas.openxmlformats.org/officeDocument/2006/relationships" xmlns:p="http://schemas.openxmlformats.org/presentationml/2006/main">
  <p:tag name="NUM" val="48"/>
</p:tagLst>
</file>

<file path=ppt/tags/tag128.xml><?xml version="1.0" encoding="utf-8"?>
<p:tagLst xmlns:a="http://schemas.openxmlformats.org/drawingml/2006/main" xmlns:r="http://schemas.openxmlformats.org/officeDocument/2006/relationships" xmlns:p="http://schemas.openxmlformats.org/presentationml/2006/main">
  <p:tag name="NUM" val="49"/>
</p:tagLst>
</file>

<file path=ppt/tags/tag129.xml><?xml version="1.0" encoding="utf-8"?>
<p:tagLst xmlns:a="http://schemas.openxmlformats.org/drawingml/2006/main" xmlns:r="http://schemas.openxmlformats.org/officeDocument/2006/relationships" xmlns:p="http://schemas.openxmlformats.org/presentationml/2006/main">
  <p:tag name="NUM" val="50"/>
</p:tagLst>
</file>

<file path=ppt/tags/tag130.xml><?xml version="1.0" encoding="utf-8"?>
<p:tagLst xmlns:a="http://schemas.openxmlformats.org/drawingml/2006/main" xmlns:r="http://schemas.openxmlformats.org/officeDocument/2006/relationships" xmlns:p="http://schemas.openxmlformats.org/presentationml/2006/main">
  <p:tag name="NUM" val="51"/>
</p:tagLst>
</file>

<file path=ppt/tags/tag131.xml><?xml version="1.0" encoding="utf-8"?>
<p:tagLst xmlns:a="http://schemas.openxmlformats.org/drawingml/2006/main" xmlns:r="http://schemas.openxmlformats.org/officeDocument/2006/relationships" xmlns:p="http://schemas.openxmlformats.org/presentationml/2006/main">
  <p:tag name="NUM" val="52"/>
</p:tagLst>
</file>

<file path=ppt/tags/tag132.xml><?xml version="1.0" encoding="utf-8"?>
<p:tagLst xmlns:a="http://schemas.openxmlformats.org/drawingml/2006/main" xmlns:r="http://schemas.openxmlformats.org/officeDocument/2006/relationships" xmlns:p="http://schemas.openxmlformats.org/presentationml/2006/main">
  <p:tag name="NUM" val="53"/>
</p:tagLst>
</file>

<file path=ppt/tags/tag133.xml><?xml version="1.0" encoding="utf-8"?>
<p:tagLst xmlns:a="http://schemas.openxmlformats.org/drawingml/2006/main" xmlns:r="http://schemas.openxmlformats.org/officeDocument/2006/relationships" xmlns:p="http://schemas.openxmlformats.org/presentationml/2006/main">
  <p:tag name="NUM" val="54"/>
</p:tagLst>
</file>

<file path=ppt/tags/tag134.xml><?xml version="1.0" encoding="utf-8"?>
<p:tagLst xmlns:a="http://schemas.openxmlformats.org/drawingml/2006/main" xmlns:r="http://schemas.openxmlformats.org/officeDocument/2006/relationships" xmlns:p="http://schemas.openxmlformats.org/presentationml/2006/main">
  <p:tag name="NUM" val="55"/>
</p:tagLst>
</file>

<file path=ppt/tags/tag135.xml><?xml version="1.0" encoding="utf-8"?>
<p:tagLst xmlns:a="http://schemas.openxmlformats.org/drawingml/2006/main" xmlns:r="http://schemas.openxmlformats.org/officeDocument/2006/relationships" xmlns:p="http://schemas.openxmlformats.org/presentationml/2006/main">
  <p:tag name="NUM" val="56"/>
</p:tagLst>
</file>

<file path=ppt/tags/tag136.xml><?xml version="1.0" encoding="utf-8"?>
<p:tagLst xmlns:a="http://schemas.openxmlformats.org/drawingml/2006/main" xmlns:r="http://schemas.openxmlformats.org/officeDocument/2006/relationships" xmlns:p="http://schemas.openxmlformats.org/presentationml/2006/main">
  <p:tag name="NUM" val="57"/>
</p:tagLst>
</file>

<file path=ppt/tags/tag137.xml><?xml version="1.0" encoding="utf-8"?>
<p:tagLst xmlns:a="http://schemas.openxmlformats.org/drawingml/2006/main" xmlns:r="http://schemas.openxmlformats.org/officeDocument/2006/relationships" xmlns:p="http://schemas.openxmlformats.org/presentationml/2006/main">
  <p:tag name="NUM" val="58"/>
</p:tagLst>
</file>

<file path=ppt/tags/tag138.xml><?xml version="1.0" encoding="utf-8"?>
<p:tagLst xmlns:a="http://schemas.openxmlformats.org/drawingml/2006/main" xmlns:r="http://schemas.openxmlformats.org/officeDocument/2006/relationships" xmlns:p="http://schemas.openxmlformats.org/presentationml/2006/main">
  <p:tag name="NUM" val="59"/>
</p:tagLst>
</file>

<file path=ppt/tags/tag139.xml><?xml version="1.0" encoding="utf-8"?>
<p:tagLst xmlns:a="http://schemas.openxmlformats.org/drawingml/2006/main" xmlns:r="http://schemas.openxmlformats.org/officeDocument/2006/relationships" xmlns:p="http://schemas.openxmlformats.org/presentationml/2006/main">
  <p:tag name="NUM" val="60"/>
</p:tagLst>
</file>

<file path=ppt/tags/tag140.xml><?xml version="1.0" encoding="utf-8"?>
<p:tagLst xmlns:a="http://schemas.openxmlformats.org/drawingml/2006/main" xmlns:r="http://schemas.openxmlformats.org/officeDocument/2006/relationships" xmlns:p="http://schemas.openxmlformats.org/presentationml/2006/main">
  <p:tag name="NUM" val="62"/>
</p:tagLst>
</file>

<file path=ppt/tags/tag141.xml><?xml version="1.0" encoding="utf-8"?>
<p:tagLst xmlns:a="http://schemas.openxmlformats.org/drawingml/2006/main" xmlns:r="http://schemas.openxmlformats.org/officeDocument/2006/relationships" xmlns:p="http://schemas.openxmlformats.org/presentationml/2006/main">
  <p:tag name="NUM" val="63"/>
</p:tagLst>
</file>

<file path=ppt/tags/tag142.xml><?xml version="1.0" encoding="utf-8"?>
<p:tagLst xmlns:a="http://schemas.openxmlformats.org/drawingml/2006/main" xmlns:r="http://schemas.openxmlformats.org/officeDocument/2006/relationships" xmlns:p="http://schemas.openxmlformats.org/presentationml/2006/main">
  <p:tag name="NUM" val="64"/>
</p:tagLst>
</file>

<file path=ppt/tags/tag143.xml><?xml version="1.0" encoding="utf-8"?>
<p:tagLst xmlns:a="http://schemas.openxmlformats.org/drawingml/2006/main" xmlns:r="http://schemas.openxmlformats.org/officeDocument/2006/relationships" xmlns:p="http://schemas.openxmlformats.org/presentationml/2006/main">
  <p:tag name="NUM" val="65"/>
</p:tagLst>
</file>

<file path=ppt/tags/tag144.xml><?xml version="1.0" encoding="utf-8"?>
<p:tagLst xmlns:a="http://schemas.openxmlformats.org/drawingml/2006/main" xmlns:r="http://schemas.openxmlformats.org/officeDocument/2006/relationships" xmlns:p="http://schemas.openxmlformats.org/presentationml/2006/main">
  <p:tag name="NUM" val="66"/>
</p:tagLst>
</file>

<file path=ppt/tags/tag145.xml><?xml version="1.0" encoding="utf-8"?>
<p:tagLst xmlns:a="http://schemas.openxmlformats.org/drawingml/2006/main" xmlns:r="http://schemas.openxmlformats.org/officeDocument/2006/relationships" xmlns:p="http://schemas.openxmlformats.org/presentationml/2006/main">
  <p:tag name="NUM" val="67"/>
</p:tagLst>
</file>

<file path=ppt/tags/tag146.xml><?xml version="1.0" encoding="utf-8"?>
<p:tagLst xmlns:a="http://schemas.openxmlformats.org/drawingml/2006/main" xmlns:r="http://schemas.openxmlformats.org/officeDocument/2006/relationships" xmlns:p="http://schemas.openxmlformats.org/presentationml/2006/main">
  <p:tag name="NUM" val="68"/>
</p:tagLst>
</file>

<file path=ppt/tags/tag147.xml><?xml version="1.0" encoding="utf-8"?>
<p:tagLst xmlns:a="http://schemas.openxmlformats.org/drawingml/2006/main" xmlns:r="http://schemas.openxmlformats.org/officeDocument/2006/relationships" xmlns:p="http://schemas.openxmlformats.org/presentationml/2006/main">
  <p:tag name="NUM" val="69"/>
</p:tagLst>
</file>

<file path=ppt/tags/tag148.xml><?xml version="1.0" encoding="utf-8"?>
<p:tagLst xmlns:a="http://schemas.openxmlformats.org/drawingml/2006/main" xmlns:r="http://schemas.openxmlformats.org/officeDocument/2006/relationships" xmlns:p="http://schemas.openxmlformats.org/presentationml/2006/main">
  <p:tag name="NUM" val="70"/>
</p:tagLst>
</file>

<file path=ppt/tags/tag149.xml><?xml version="1.0" encoding="utf-8"?>
<p:tagLst xmlns:a="http://schemas.openxmlformats.org/drawingml/2006/main" xmlns:r="http://schemas.openxmlformats.org/officeDocument/2006/relationships" xmlns:p="http://schemas.openxmlformats.org/presentationml/2006/main">
  <p:tag name="NUM" val="71"/>
</p:tagLst>
</file>

<file path=ppt/tags/tag150.xml><?xml version="1.0" encoding="utf-8"?>
<p:tagLst xmlns:a="http://schemas.openxmlformats.org/drawingml/2006/main" xmlns:r="http://schemas.openxmlformats.org/officeDocument/2006/relationships" xmlns:p="http://schemas.openxmlformats.org/presentationml/2006/main">
  <p:tag name="NUM" val="72"/>
</p:tagLst>
</file>

<file path=ppt/tags/tag151.xml><?xml version="1.0" encoding="utf-8"?>
<p:tagLst xmlns:a="http://schemas.openxmlformats.org/drawingml/2006/main" xmlns:r="http://schemas.openxmlformats.org/officeDocument/2006/relationships" xmlns:p="http://schemas.openxmlformats.org/presentationml/2006/main">
  <p:tag name="NUM" val="73"/>
</p:tagLst>
</file>

<file path=ppt/tags/tag152.xml><?xml version="1.0" encoding="utf-8"?>
<p:tagLst xmlns:a="http://schemas.openxmlformats.org/drawingml/2006/main" xmlns:r="http://schemas.openxmlformats.org/officeDocument/2006/relationships" xmlns:p="http://schemas.openxmlformats.org/presentationml/2006/main">
  <p:tag name="NUM" val="4"/>
</p:tagLst>
</file>

<file path=ppt/tags/tag153.xml><?xml version="1.0" encoding="utf-8"?>
<p:tagLst xmlns:a="http://schemas.openxmlformats.org/drawingml/2006/main" xmlns:r="http://schemas.openxmlformats.org/officeDocument/2006/relationships" xmlns:p="http://schemas.openxmlformats.org/presentationml/2006/main">
  <p:tag name="NUM" val="5"/>
</p:tagLst>
</file>

<file path=ppt/tags/tag154.xml><?xml version="1.0" encoding="utf-8"?>
<p:tagLst xmlns:a="http://schemas.openxmlformats.org/drawingml/2006/main" xmlns:r="http://schemas.openxmlformats.org/officeDocument/2006/relationships" xmlns:p="http://schemas.openxmlformats.org/presentationml/2006/main">
  <p:tag name="NUM" val="6"/>
</p:tagLst>
</file>

<file path=ppt/tags/tag155.xml><?xml version="1.0" encoding="utf-8"?>
<p:tagLst xmlns:a="http://schemas.openxmlformats.org/drawingml/2006/main" xmlns:r="http://schemas.openxmlformats.org/officeDocument/2006/relationships" xmlns:p="http://schemas.openxmlformats.org/presentationml/2006/main">
  <p:tag name="NUM" val="7"/>
</p:tagLst>
</file>

<file path=ppt/tags/tag156.xml><?xml version="1.0" encoding="utf-8"?>
<p:tagLst xmlns:a="http://schemas.openxmlformats.org/drawingml/2006/main" xmlns:r="http://schemas.openxmlformats.org/officeDocument/2006/relationships" xmlns:p="http://schemas.openxmlformats.org/presentationml/2006/main">
  <p:tag name="NUM" val="8"/>
</p:tagLst>
</file>

<file path=ppt/tags/tag157.xml><?xml version="1.0" encoding="utf-8"?>
<p:tagLst xmlns:a="http://schemas.openxmlformats.org/drawingml/2006/main" xmlns:r="http://schemas.openxmlformats.org/officeDocument/2006/relationships" xmlns:p="http://schemas.openxmlformats.org/presentationml/2006/main">
  <p:tag name="NUM" val="9"/>
</p:tagLst>
</file>

<file path=ppt/tags/tag158.xml><?xml version="1.0" encoding="utf-8"?>
<p:tagLst xmlns:a="http://schemas.openxmlformats.org/drawingml/2006/main" xmlns:r="http://schemas.openxmlformats.org/officeDocument/2006/relationships" xmlns:p="http://schemas.openxmlformats.org/presentationml/2006/main">
  <p:tag name="NUM" val="10"/>
</p:tagLst>
</file>

<file path=ppt/tags/tag159.xml><?xml version="1.0" encoding="utf-8"?>
<p:tagLst xmlns:a="http://schemas.openxmlformats.org/drawingml/2006/main" xmlns:r="http://schemas.openxmlformats.org/officeDocument/2006/relationships" xmlns:p="http://schemas.openxmlformats.org/presentationml/2006/main">
  <p:tag name="NUM" val="11"/>
</p:tagLst>
</file>

<file path=ppt/tags/tag160.xml><?xml version="1.0" encoding="utf-8"?>
<p:tagLst xmlns:a="http://schemas.openxmlformats.org/drawingml/2006/main" xmlns:r="http://schemas.openxmlformats.org/officeDocument/2006/relationships" xmlns:p="http://schemas.openxmlformats.org/presentationml/2006/main">
  <p:tag name="NUM" val="12"/>
</p:tagLst>
</file>

<file path=ppt/tags/tag161.xml><?xml version="1.0" encoding="utf-8"?>
<p:tagLst xmlns:a="http://schemas.openxmlformats.org/drawingml/2006/main" xmlns:r="http://schemas.openxmlformats.org/officeDocument/2006/relationships" xmlns:p="http://schemas.openxmlformats.org/presentationml/2006/main">
  <p:tag name="NUM" val="13"/>
</p:tagLst>
</file>

<file path=ppt/tags/tag162.xml><?xml version="1.0" encoding="utf-8"?>
<p:tagLst xmlns:a="http://schemas.openxmlformats.org/drawingml/2006/main" xmlns:r="http://schemas.openxmlformats.org/officeDocument/2006/relationships" xmlns:p="http://schemas.openxmlformats.org/presentationml/2006/main">
  <p:tag name="NUM" val="14"/>
</p:tagLst>
</file>

<file path=ppt/tags/tag163.xml><?xml version="1.0" encoding="utf-8"?>
<p:tagLst xmlns:a="http://schemas.openxmlformats.org/drawingml/2006/main" xmlns:r="http://schemas.openxmlformats.org/officeDocument/2006/relationships" xmlns:p="http://schemas.openxmlformats.org/presentationml/2006/main">
  <p:tag name="NUM" val="10"/>
</p:tagLst>
</file>

<file path=ppt/tags/tag164.xml><?xml version="1.0" encoding="utf-8"?>
<p:tagLst xmlns:a="http://schemas.openxmlformats.org/drawingml/2006/main" xmlns:r="http://schemas.openxmlformats.org/officeDocument/2006/relationships" xmlns:p="http://schemas.openxmlformats.org/presentationml/2006/main">
  <p:tag name="NUM" val="9"/>
</p:tagLst>
</file>

<file path=ppt/tags/tag165.xml><?xml version="1.0" encoding="utf-8"?>
<p:tagLst xmlns:a="http://schemas.openxmlformats.org/drawingml/2006/main" xmlns:r="http://schemas.openxmlformats.org/officeDocument/2006/relationships" xmlns:p="http://schemas.openxmlformats.org/presentationml/2006/main">
  <p:tag name="NUM" val="2"/>
</p:tagLst>
</file>

<file path=ppt/tags/tag166.xml><?xml version="1.0" encoding="utf-8"?>
<p:tagLst xmlns:a="http://schemas.openxmlformats.org/drawingml/2006/main" xmlns:r="http://schemas.openxmlformats.org/officeDocument/2006/relationships" xmlns:p="http://schemas.openxmlformats.org/presentationml/2006/main">
  <p:tag name="NUM" val="5"/>
</p:tagLst>
</file>

<file path=ppt/tags/tag167.xml><?xml version="1.0" encoding="utf-8"?>
<p:tagLst xmlns:a="http://schemas.openxmlformats.org/drawingml/2006/main" xmlns:r="http://schemas.openxmlformats.org/officeDocument/2006/relationships" xmlns:p="http://schemas.openxmlformats.org/presentationml/2006/main">
  <p:tag name="NUM" val="6"/>
</p:tagLst>
</file>

<file path=ppt/tags/tag168.xml><?xml version="1.0" encoding="utf-8"?>
<p:tagLst xmlns:a="http://schemas.openxmlformats.org/drawingml/2006/main" xmlns:r="http://schemas.openxmlformats.org/officeDocument/2006/relationships" xmlns:p="http://schemas.openxmlformats.org/presentationml/2006/main">
  <p:tag name="NUM" val="11"/>
</p:tagLst>
</file>

<file path=ppt/tags/tag169.xml><?xml version="1.0" encoding="utf-8"?>
<p:tagLst xmlns:a="http://schemas.openxmlformats.org/drawingml/2006/main" xmlns:r="http://schemas.openxmlformats.org/officeDocument/2006/relationships" xmlns:p="http://schemas.openxmlformats.org/presentationml/2006/main">
  <p:tag name="NUM" val="12"/>
</p:tagLst>
</file>

<file path=ppt/tags/tag170.xml><?xml version="1.0" encoding="utf-8"?>
<p:tagLst xmlns:a="http://schemas.openxmlformats.org/drawingml/2006/main" xmlns:r="http://schemas.openxmlformats.org/officeDocument/2006/relationships" xmlns:p="http://schemas.openxmlformats.org/presentationml/2006/main">
  <p:tag name="NUM" val="13"/>
</p:tagLst>
</file>

<file path=ppt/tags/tag171.xml><?xml version="1.0" encoding="utf-8"?>
<p:tagLst xmlns:a="http://schemas.openxmlformats.org/drawingml/2006/main" xmlns:r="http://schemas.openxmlformats.org/officeDocument/2006/relationships" xmlns:p="http://schemas.openxmlformats.org/presentationml/2006/main">
  <p:tag name="NUM" val="10"/>
</p:tagLst>
</file>

<file path=ppt/tags/tag172.xml><?xml version="1.0" encoding="utf-8"?>
<p:tagLst xmlns:a="http://schemas.openxmlformats.org/drawingml/2006/main" xmlns:r="http://schemas.openxmlformats.org/officeDocument/2006/relationships" xmlns:p="http://schemas.openxmlformats.org/presentationml/2006/main">
  <p:tag name="NUM" val="9"/>
</p:tagLst>
</file>

<file path=ppt/tags/tag173.xml><?xml version="1.0" encoding="utf-8"?>
<p:tagLst xmlns:a="http://schemas.openxmlformats.org/drawingml/2006/main" xmlns:r="http://schemas.openxmlformats.org/officeDocument/2006/relationships" xmlns:p="http://schemas.openxmlformats.org/presentationml/2006/main">
  <p:tag name="NUM" val="6"/>
</p:tagLst>
</file>

<file path=ppt/tags/tag174.xml><?xml version="1.0" encoding="utf-8"?>
<p:tagLst xmlns:a="http://schemas.openxmlformats.org/drawingml/2006/main" xmlns:r="http://schemas.openxmlformats.org/officeDocument/2006/relationships" xmlns:p="http://schemas.openxmlformats.org/presentationml/2006/main">
  <p:tag name="NUM" val="10"/>
</p:tagLst>
</file>

<file path=ppt/tags/tag175.xml><?xml version="1.0" encoding="utf-8"?>
<p:tagLst xmlns:a="http://schemas.openxmlformats.org/drawingml/2006/main" xmlns:r="http://schemas.openxmlformats.org/officeDocument/2006/relationships" xmlns:p="http://schemas.openxmlformats.org/presentationml/2006/main">
  <p:tag name="NUM" val="9"/>
</p:tagLst>
</file>

<file path=ppt/tags/tag176.xml><?xml version="1.0" encoding="utf-8"?>
<p:tagLst xmlns:a="http://schemas.openxmlformats.org/drawingml/2006/main" xmlns:r="http://schemas.openxmlformats.org/officeDocument/2006/relationships" xmlns:p="http://schemas.openxmlformats.org/presentationml/2006/main">
  <p:tag name="NUM" val="3"/>
</p:tagLst>
</file>

<file path=ppt/tags/tag177.xml><?xml version="1.0" encoding="utf-8"?>
<p:tagLst xmlns:a="http://schemas.openxmlformats.org/drawingml/2006/main" xmlns:r="http://schemas.openxmlformats.org/officeDocument/2006/relationships" xmlns:p="http://schemas.openxmlformats.org/presentationml/2006/main">
  <p:tag name="NUM" val="4"/>
</p:tagLst>
</file>

<file path=ppt/tags/tag178.xml><?xml version="1.0" encoding="utf-8"?>
<p:tagLst xmlns:a="http://schemas.openxmlformats.org/drawingml/2006/main" xmlns:r="http://schemas.openxmlformats.org/officeDocument/2006/relationships" xmlns:p="http://schemas.openxmlformats.org/presentationml/2006/main">
  <p:tag name="NUM" val="1"/>
</p:tagLst>
</file>

<file path=ppt/tags/tag179.xml><?xml version="1.0" encoding="utf-8"?>
<p:tagLst xmlns:a="http://schemas.openxmlformats.org/drawingml/2006/main" xmlns:r="http://schemas.openxmlformats.org/officeDocument/2006/relationships" xmlns:p="http://schemas.openxmlformats.org/presentationml/2006/main">
  <p:tag name="NUM" val="2"/>
</p:tagLst>
</file>

<file path=ppt/tags/tag180.xml><?xml version="1.0" encoding="utf-8"?>
<p:tagLst xmlns:a="http://schemas.openxmlformats.org/drawingml/2006/main" xmlns:r="http://schemas.openxmlformats.org/officeDocument/2006/relationships" xmlns:p="http://schemas.openxmlformats.org/presentationml/2006/main">
  <p:tag name="NUM" val="5"/>
</p:tagLst>
</file>

<file path=ppt/tags/tag181.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Présentation bureautique">
  <a:themeElements>
    <a:clrScheme name="Bouygues_colors">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Calibri">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C2959"/>
        </a:solidFill>
        <a:ln w="12660"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Présentation1" id="{0A38A2D6-6E90-4A21-8F80-28C6C580E71B}" vid="{D4FBEBBA-6767-4A20-BFF9-9EB14473DDF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5</Value>
      <Value>4</Value>
      <Value>3</Value>
      <Value>2</Value>
      <Value>1</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Projects</TermName>
          <TermId xmlns="http://schemas.microsoft.com/office/infopath/2007/PartnerControls">b7cc1373-d160-4aa3-bf26-3372b93dfcbf</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BYCNIT</TermName>
          <TermId xmlns="http://schemas.microsoft.com/office/infopath/2007/PartnerControls">5d3357b4-3368-461d-bd54-7eef5bc1db4c</TermId>
        </TermInfo>
      </Terms>
    </bc25f8494e694b549ba275b5de656855>
    <_dlc_DocId xmlns="55b30ecb-2f58-4ebc-8d15-16073e63dc56">CWKSP-501984039-25562</_dlc_DocId>
    <_dlc_DocIdUrl xmlns="55b30ecb-2f58-4ebc-8d15-16073e63dc56">
      <Url>https://bouyguesconstruction.sharepoint.com/sites/bycnitarchitecture/_layouts/15/DocIdRedir.aspx?ID=CWKSP-501984039-25562</Url>
      <Description>CWKSP-501984039-25562</Description>
    </_dlc_DocIdUrl>
  </documentManagement>
</p:properties>
</file>

<file path=customXml/item3.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5.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ée un document." ma:contentTypeScope="" ma:versionID="dcd6ae5f00cfc055ea1172f3ab733503">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a63ef5e4753df0331b18eabd6c4d2202"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Dossi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Valeur d’ID de document" ma:description="Valeur de l’ID de document affecté à cet élément." ma:indexed="true" ma:internalName="_dlc_DocId" ma:readOnly="true">
      <xsd:simpleType>
        <xsd:restriction base="dms:Text"/>
      </xsd:simpleType>
    </xsd:element>
    <xsd:element name="_dlc_DocIdUrl" ma:index="22"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B94D24F-5CAD-425E-BED8-874C8780952A}">
  <ds:schemaRefs>
    <ds:schemaRef ds:uri="http://schemas.microsoft.com/sharepoint/v3/contenttype/forms"/>
  </ds:schemaRefs>
</ds:datastoreItem>
</file>

<file path=customXml/itemProps2.xml><?xml version="1.0" encoding="utf-8"?>
<ds:datastoreItem xmlns:ds="http://schemas.openxmlformats.org/officeDocument/2006/customXml" ds:itemID="{5A26F58D-9022-4CC1-86B8-F3575418F088}">
  <ds:schemaRefs>
    <ds:schemaRef ds:uri="95235cfd-2d18-42eb-8ffc-01f090d3b392"/>
    <ds:schemaRef ds:uri="f6329d8e-d2fd-45b3-959d-40cdcd9012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55b30ecb-2f58-4ebc-8d15-16073e63dc56"/>
  </ds:schemaRefs>
</ds:datastoreItem>
</file>

<file path=customXml/itemProps3.xml><?xml version="1.0" encoding="utf-8"?>
<ds:datastoreItem xmlns:ds="http://schemas.openxmlformats.org/officeDocument/2006/customXml" ds:itemID="{17BDD28C-3A21-4A7D-B072-65CD38F963F0}">
  <ds:schemaRefs>
    <ds:schemaRef ds:uri="Microsoft.SharePoint.Taxonomy.ContentTypeSync"/>
  </ds:schemaRefs>
</ds:datastoreItem>
</file>

<file path=customXml/itemProps4.xml><?xml version="1.0" encoding="utf-8"?>
<ds:datastoreItem xmlns:ds="http://schemas.openxmlformats.org/officeDocument/2006/customXml" ds:itemID="{D9A1E658-FC55-42DD-9DF3-67A61F0FFA8B}">
  <ds:schemaRefs>
    <ds:schemaRef ds:uri="http://schemas.microsoft.com/sharepoint/events"/>
  </ds:schemaRefs>
</ds:datastoreItem>
</file>

<file path=customXml/itemProps5.xml><?xml version="1.0" encoding="utf-8"?>
<ds:datastoreItem xmlns:ds="http://schemas.openxmlformats.org/officeDocument/2006/customXml" ds:itemID="{66391188-1FB7-413D-9B72-E4F29B0178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235cfd-2d18-42eb-8ffc-01f090d3b392"/>
    <ds:schemaRef ds:uri="55b30ecb-2f58-4ebc-8d15-16073e63dc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0bf8dd8-0e1a-4c8f-b6c1-bc28bc4c2a10}" enabled="0" method="" siteId="{30bf8dd8-0e1a-4c8f-b6c1-bc28bc4c2a10}" removed="1"/>
  <clbl:label id="{af3cd2ba-39fc-428b-a333-80f7eb18b18d}" enabled="1" method="Standard" siteId="{e8b88f3d-222b-4ce5-b9d1-46b0ff9466a0}" removed="0"/>
  <clbl:label id="{dfdd9a14-7b84-416b-97e8-b834b0f98713}" enabled="1" method="Standard" siteId="{4a3d9983-e936-4837-9552-9d9126a92eb0}"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Grand écran</PresentationFormat>
  <Slides>55</Slides>
  <Notes>37</Notes>
  <HiddenSlides>12</HiddenSlides>
  <ScaleCrop>false</ScaleCrop>
  <HeadingPairs>
    <vt:vector size="4" baseType="variant">
      <vt:variant>
        <vt:lpstr>Thème</vt:lpstr>
      </vt:variant>
      <vt:variant>
        <vt:i4>1</vt:i4>
      </vt:variant>
      <vt:variant>
        <vt:lpstr>Titres des diapositives</vt:lpstr>
      </vt:variant>
      <vt:variant>
        <vt:i4>55</vt:i4>
      </vt:variant>
    </vt:vector>
  </HeadingPairs>
  <TitlesOfParts>
    <vt:vector size="56" baseType="lpstr">
      <vt:lpstr>Présentation bureautique</vt:lpstr>
      <vt:lpstr>Etude Architecture &amp;  Revue entre pairs</vt:lpstr>
      <vt:lpstr>I Activités de la communauté des architectes</vt:lpstr>
      <vt:lpstr>I PROPOSITION : La cinématique cible d’un projet</vt:lpstr>
      <vt:lpstr>L’architecture et les instructions projets</vt:lpstr>
      <vt:lpstr>Synthèse de l’étude d’architecture</vt:lpstr>
      <vt:lpstr>Introduction &amp; objectifs</vt:lpstr>
      <vt:lpstr>Présentation PowerPoint</vt:lpstr>
      <vt:lpstr>Détail du positionnement fonctionnel</vt:lpstr>
      <vt:lpstr>Analyse des impacts applicatifs</vt:lpstr>
      <vt:lpstr>Analyse des impacts applicatifs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Description des scénarios</vt:lpstr>
      <vt:lpstr>Description des Scenarios proposés et soumis à validation (1/2)</vt:lpstr>
      <vt:lpstr>Description des Scenarios proposés et soumis à validation (2/2)</vt:lpstr>
      <vt:lpstr>Diagramme de séquence</vt:lpstr>
      <vt:lpstr>Architecture logique urbanisée</vt:lpstr>
      <vt:lpstr>Architectural Scenario summary</vt:lpstr>
      <vt:lpstr>Architectural Scenario summary</vt:lpstr>
      <vt:lpstr>Scenario overview</vt:lpstr>
      <vt:lpstr>Pattern d’architecture</vt:lpstr>
      <vt:lpstr>Synthèse de la présentation </vt:lpstr>
      <vt:lpstr>ANNEXES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thibaut willemant</dc:creator>
  <cp:revision>2</cp:revision>
  <dcterms:created xsi:type="dcterms:W3CDTF">2023-02-07T08:31:07Z</dcterms:created>
  <dcterms:modified xsi:type="dcterms:W3CDTF">2025-10-01T10:03:01Z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0x01010004BBCBFDEBB3864BA0EFED7044CA4B2801004C8FE6902124594285FC1C1285DCF30B</vt:lpwstr>
  </property>
  <property fmtid="{D5CDD505-2E9C-101B-9397-08002B2CF9AE}" pid="4" name="ClassificationLevel">
    <vt:lpwstr>5;#Internal|86d58d27-cc8e-4bfd-a785-ea3ef4347509</vt:lpwstr>
  </property>
  <property fmtid="{D5CDD505-2E9C-101B-9397-08002B2CF9AE}" pid="5" name="SupportServices">
    <vt:lpwstr>4;#Information system|8b8e0a5c-68c6-49a0-9a87-082189b363f2</vt:lpwstr>
  </property>
  <property fmtid="{D5CDD505-2E9C-101B-9397-08002B2CF9AE}" pid="6" name="Organisation">
    <vt:lpwstr>3;#BYCNIT|5d3357b4-3368-461d-bd54-7eef5bc1db4c</vt:lpwstr>
  </property>
  <property fmtid="{D5CDD505-2E9C-101B-9397-08002B2CF9AE}" pid="7" name="WorkspaceClassification">
    <vt:lpwstr>2;#Projects|b7cc1373-d160-4aa3-bf26-3372b93dfcbf</vt:lpwstr>
  </property>
  <property fmtid="{D5CDD505-2E9C-101B-9397-08002B2CF9AE}" pid="8" name="ArchiveClassificationPlan">
    <vt:lpwstr>1;#00 00 A classer|06ef1ee2-e7bf-4474-9d1e-c5fbf4f3b42b</vt:lpwstr>
  </property>
  <property fmtid="{D5CDD505-2E9C-101B-9397-08002B2CF9AE}" pid="9" name="lcf76f155ced4ddcb4097134ff3c332f">
    <vt:lpwstr/>
  </property>
  <property fmtid="{D5CDD505-2E9C-101B-9397-08002B2CF9AE}" pid="10" name="_dlc_DocIdItemGuid">
    <vt:lpwstr>3865f0f4-1021-4dfd-83b8-2ddda4abc9e8</vt:lpwstr>
  </property>
  <property fmtid="{D5CDD505-2E9C-101B-9397-08002B2CF9AE}" pid="11" name="xd_ProgID">
    <vt:lpwstr/>
  </property>
  <property fmtid="{D5CDD505-2E9C-101B-9397-08002B2CF9AE}" pid="12" name="_dlc_DocId">
    <vt:lpwstr>CWKSP-1572697757-1335</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y fmtid="{D5CDD505-2E9C-101B-9397-08002B2CF9AE}" pid="19" name="_dlc_DocIdUrl">
    <vt:lpwstr>https://bouyguesconstruction.sharepoint.com/sites/bycnitbycnitdacdsarchitecture/_layouts/15/DocIdRedir.aspx?ID=CWKSP-1572697757-1335, CWKSP-1572697757-1335</vt:lpwstr>
  </property>
  <property fmtid="{D5CDD505-2E9C-101B-9397-08002B2CF9AE}" pid="20" name="ComUnityFolder">
    <vt:lpwstr>, </vt:lpwstr>
  </property>
  <property fmtid="{D5CDD505-2E9C-101B-9397-08002B2CF9AE}" pid="21" name="xd_Signature">
    <vt:lpwstr/>
  </property>
  <property fmtid="{D5CDD505-2E9C-101B-9397-08002B2CF9AE}" pid="22" name="b7665f99c0fe44919cb3218cc8e5302c">
    <vt:lpwstr>00 00 A classer|06ef1ee2-e7bf-4474-9d1e-c5fbf4f3b42b</vt:lpwstr>
  </property>
</Properties>
</file>