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2.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16.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6.xml" ContentType="application/vnd.openxmlformats-officedocument.customXmlProperties+xml"/>
  <Override PartName="/customXml/itemProps7.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6"/>
  </p:sldMasterIdLst>
  <p:notesMasterIdLst>
    <p:notesMasterId r:id="rId36"/>
  </p:notesMasterIdLst>
  <p:sldIdLst>
    <p:sldId id="2147470406" r:id="rId7"/>
    <p:sldId id="312" r:id="rId8"/>
    <p:sldId id="2009" r:id="rId9"/>
    <p:sldId id="2036" r:id="rId10"/>
    <p:sldId id="2147470419" r:id="rId11"/>
    <p:sldId id="2037" r:id="rId12"/>
    <p:sldId id="1991" r:id="rId13"/>
    <p:sldId id="2018" r:id="rId14"/>
    <p:sldId id="2038" r:id="rId15"/>
    <p:sldId id="2147470402" r:id="rId16"/>
    <p:sldId id="2147470403" r:id="rId17"/>
    <p:sldId id="2147470395" r:id="rId18"/>
    <p:sldId id="1947" r:id="rId19"/>
    <p:sldId id="2147470394" r:id="rId20"/>
    <p:sldId id="2147470360" r:id="rId21"/>
    <p:sldId id="2147470389" r:id="rId22"/>
    <p:sldId id="2147470409" r:id="rId23"/>
    <p:sldId id="2147470408" r:id="rId24"/>
    <p:sldId id="2147470378" r:id="rId25"/>
    <p:sldId id="2147470401" r:id="rId26"/>
    <p:sldId id="2147470407" r:id="rId27"/>
    <p:sldId id="2147470418" r:id="rId28"/>
    <p:sldId id="2147470400" r:id="rId29"/>
    <p:sldId id="2147470368" r:id="rId30"/>
    <p:sldId id="2147470369" r:id="rId31"/>
    <p:sldId id="2147470370" r:id="rId32"/>
    <p:sldId id="1974" r:id="rId33"/>
    <p:sldId id="1973" r:id="rId34"/>
    <p:sldId id="1960" r:id="rId3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6C1D0BD7-85B9-4D78-BC14-82986515FE53}">
          <p14:sldIdLst>
            <p14:sldId id="2147470406"/>
            <p14:sldId id="312"/>
          </p14:sldIdLst>
        </p14:section>
        <p14:section name="Final" id="{0F893BED-FC2C-450B-B9F6-95E32E2879E5}">
          <p14:sldIdLst>
            <p14:sldId id="2009"/>
            <p14:sldId id="2036"/>
            <p14:sldId id="2147470419"/>
            <p14:sldId id="2037"/>
            <p14:sldId id="1991"/>
            <p14:sldId id="2018"/>
            <p14:sldId id="2038"/>
            <p14:sldId id="2147470402"/>
            <p14:sldId id="2147470403"/>
            <p14:sldId id="2147470395"/>
            <p14:sldId id="1947"/>
            <p14:sldId id="2147470394"/>
            <p14:sldId id="2147470360"/>
            <p14:sldId id="2147470389"/>
            <p14:sldId id="2147470409"/>
            <p14:sldId id="2147470408"/>
            <p14:sldId id="2147470378"/>
            <p14:sldId id="2147470401"/>
            <p14:sldId id="2147470407"/>
            <p14:sldId id="2147470418"/>
          </p14:sldIdLst>
        </p14:section>
        <p14:section name="Appendice" id="{ADD53C42-EEEF-47FB-87F9-150401518393}">
          <p14:sldIdLst>
            <p14:sldId id="2147470400"/>
            <p14:sldId id="2147470368"/>
            <p14:sldId id="2147470369"/>
            <p14:sldId id="2147470370"/>
            <p14:sldId id="1974"/>
            <p14:sldId id="1973"/>
            <p14:sldId id="196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1B3F037-19C3-E0B2-B201-0B45D3913C27}" name="ORIOT, Charles" initials="OC" userId="S::C.ORIOT@bouygues-construction.com::9229ecd9-fc4a-45f9-89f9-b0c625efed60" providerId="AD"/>
  <p188:author id="{164214D8-8EDB-A7F3-D061-4C947382EC81}" name="Cédric BALESTRA" initials="CB" userId="S::cedric.balestra@magellan-consulting.eu::55fc4200-82ae-41a4-83f7-87cf6e7a6483" providerId="AD"/>
  <p188:author id="{10F778F2-9FDA-0747-468A-EF3E86E66984}" name="Cédric BALESTRA" initials="CB" userId="S::cedric.balestra@magellan-securite.eu::55fc4200-82ae-41a4-83f7-87cf6e7a648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ERCIER, Valerie" initials="MV" lastIdx="2" clrIdx="0">
    <p:extLst>
      <p:ext uri="{19B8F6BF-5375-455C-9EA6-DF929625EA0E}">
        <p15:presenceInfo xmlns:p15="http://schemas.microsoft.com/office/powerpoint/2012/main" userId="S::v.mercier@bouygues-construction.com::d5d65ee6-536f-47d5-b6ec-58138a4939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B32A"/>
    <a:srgbClr val="006B8D"/>
    <a:srgbClr val="FF5A28"/>
    <a:srgbClr val="F2F2F2"/>
    <a:srgbClr val="FFFFFF"/>
    <a:srgbClr val="427296"/>
    <a:srgbClr val="7595AD"/>
    <a:srgbClr val="FF7A51"/>
    <a:srgbClr val="6496BB"/>
    <a:srgbClr val="401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AF41CA-8BFF-40D1-A21C-C81DA0B7DC5B}" v="2" dt="2023-09-11T10:37:25.380"/>
    <p1510:client id="{D04C4A4B-0BE5-40E8-BFF1-563999A005A0}" v="7" dt="2023-05-12T09:08:30.67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0834" autoAdjust="0"/>
  </p:normalViewPr>
  <p:slideViewPr>
    <p:cSldViewPr snapToGrid="0">
      <p:cViewPr varScale="1">
        <p:scale>
          <a:sx n="115" d="100"/>
          <a:sy n="115" d="100"/>
        </p:scale>
        <p:origin x="16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viewProps" Target="viewProps.xml"/><Relationship Id="rId21" Type="http://schemas.openxmlformats.org/officeDocument/2006/relationships/slide" Target="slides/slide15.xml"/><Relationship Id="rId34" Type="http://schemas.openxmlformats.org/officeDocument/2006/relationships/slide" Target="slides/slide28.xml"/><Relationship Id="rId42"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commentAuthors" Target="commentAuthors.xml"/><Relationship Id="rId40" Type="http://schemas.openxmlformats.org/officeDocument/2006/relationships/theme" Target="theme/theme1.xml"/><Relationship Id="rId45" Type="http://schemas.openxmlformats.org/officeDocument/2006/relationships/customXml" Target="../customXml/item6.xml"/><Relationship Id="rId36" Type="http://schemas.openxmlformats.org/officeDocument/2006/relationships/notesMaster" Target="notesMasters/notes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microsoft.com/office/2018/10/relationships/authors" Target="authors.xml"/><Relationship Id="rId43" Type="http://schemas.microsoft.com/office/2015/10/relationships/revisionInfo" Target="revisionInfo.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presProps" Target="presProps.xml"/><Relationship Id="rId46" Type="http://schemas.openxmlformats.org/officeDocument/2006/relationships/customXml" Target="../customXml/item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IOT, Charles" userId="9229ecd9-fc4a-45f9-89f9-b0c625efed60" providerId="ADAL" clId="{D04C4A4B-0BE5-40E8-BFF1-563999A005A0}"/>
    <pc:docChg chg="custSel addSld modSld">
      <pc:chgData name="ORIOT, Charles" userId="9229ecd9-fc4a-45f9-89f9-b0c625efed60" providerId="ADAL" clId="{D04C4A4B-0BE5-40E8-BFF1-563999A005A0}" dt="2023-05-12T09:11:01.119" v="912" actId="20577"/>
      <pc:docMkLst>
        <pc:docMk/>
      </pc:docMkLst>
      <pc:sldChg chg="addSp delSp modSp add mod modAnim">
        <pc:chgData name="ORIOT, Charles" userId="9229ecd9-fc4a-45f9-89f9-b0c625efed60" providerId="ADAL" clId="{D04C4A4B-0BE5-40E8-BFF1-563999A005A0}" dt="2023-05-12T09:11:01.119" v="912" actId="20577"/>
        <pc:sldMkLst>
          <pc:docMk/>
          <pc:sldMk cId="1865673536" sldId="2147470419"/>
        </pc:sldMkLst>
        <pc:spChg chg="mod">
          <ac:chgData name="ORIOT, Charles" userId="9229ecd9-fc4a-45f9-89f9-b0c625efed60" providerId="ADAL" clId="{D04C4A4B-0BE5-40E8-BFF1-563999A005A0}" dt="2023-05-12T09:00:19.410" v="663" actId="20577"/>
          <ac:spMkLst>
            <pc:docMk/>
            <pc:sldMk cId="1865673536" sldId="2147470419"/>
            <ac:spMk id="2" creationId="{F14C27C4-0C86-4152-BC42-937F027626EB}"/>
          </ac:spMkLst>
        </pc:spChg>
        <pc:spChg chg="add mod">
          <ac:chgData name="ORIOT, Charles" userId="9229ecd9-fc4a-45f9-89f9-b0c625efed60" providerId="ADAL" clId="{D04C4A4B-0BE5-40E8-BFF1-563999A005A0}" dt="2023-05-12T09:05:28.978" v="726" actId="1035"/>
          <ac:spMkLst>
            <pc:docMk/>
            <pc:sldMk cId="1865673536" sldId="2147470419"/>
            <ac:spMk id="3" creationId="{867A25AF-F90F-5EC9-6639-B11EC1BFEE87}"/>
          </ac:spMkLst>
        </pc:spChg>
        <pc:spChg chg="del">
          <ac:chgData name="ORIOT, Charles" userId="9229ecd9-fc4a-45f9-89f9-b0c625efed60" providerId="ADAL" clId="{D04C4A4B-0BE5-40E8-BFF1-563999A005A0}" dt="2023-05-12T08:44:59.131" v="53" actId="478"/>
          <ac:spMkLst>
            <pc:docMk/>
            <pc:sldMk cId="1865673536" sldId="2147470419"/>
            <ac:spMk id="5" creationId="{C534682A-16E4-4B67-8447-E9530AE82107}"/>
          </ac:spMkLst>
        </pc:spChg>
        <pc:spChg chg="mod">
          <ac:chgData name="ORIOT, Charles" userId="9229ecd9-fc4a-45f9-89f9-b0c625efed60" providerId="ADAL" clId="{D04C4A4B-0BE5-40E8-BFF1-563999A005A0}" dt="2023-05-12T08:46:24.717" v="58"/>
          <ac:spMkLst>
            <pc:docMk/>
            <pc:sldMk cId="1865673536" sldId="2147470419"/>
            <ac:spMk id="7" creationId="{DC5DD278-A864-8A5F-3671-DF6EAB1C17CD}"/>
          </ac:spMkLst>
        </pc:spChg>
        <pc:spChg chg="mod">
          <ac:chgData name="ORIOT, Charles" userId="9229ecd9-fc4a-45f9-89f9-b0c625efed60" providerId="ADAL" clId="{D04C4A4B-0BE5-40E8-BFF1-563999A005A0}" dt="2023-05-12T08:46:24.717" v="58"/>
          <ac:spMkLst>
            <pc:docMk/>
            <pc:sldMk cId="1865673536" sldId="2147470419"/>
            <ac:spMk id="8" creationId="{62A40238-20B5-A6DB-2192-1F6CDE8481D9}"/>
          </ac:spMkLst>
        </pc:spChg>
        <pc:spChg chg="mod">
          <ac:chgData name="ORIOT, Charles" userId="9229ecd9-fc4a-45f9-89f9-b0c625efed60" providerId="ADAL" clId="{D04C4A4B-0BE5-40E8-BFF1-563999A005A0}" dt="2023-05-12T08:46:24.717" v="58"/>
          <ac:spMkLst>
            <pc:docMk/>
            <pc:sldMk cId="1865673536" sldId="2147470419"/>
            <ac:spMk id="9" creationId="{5CB62C9D-D4EC-E3B1-AF02-FAA4B1825904}"/>
          </ac:spMkLst>
        </pc:spChg>
        <pc:spChg chg="mod">
          <ac:chgData name="ORIOT, Charles" userId="9229ecd9-fc4a-45f9-89f9-b0c625efed60" providerId="ADAL" clId="{D04C4A4B-0BE5-40E8-BFF1-563999A005A0}" dt="2023-05-12T08:46:24.717" v="58"/>
          <ac:spMkLst>
            <pc:docMk/>
            <pc:sldMk cId="1865673536" sldId="2147470419"/>
            <ac:spMk id="10" creationId="{4B693DDF-AACF-D911-8800-0ED4910E0AD8}"/>
          </ac:spMkLst>
        </pc:spChg>
        <pc:spChg chg="mod">
          <ac:chgData name="ORIOT, Charles" userId="9229ecd9-fc4a-45f9-89f9-b0c625efed60" providerId="ADAL" clId="{D04C4A4B-0BE5-40E8-BFF1-563999A005A0}" dt="2023-05-12T08:46:24.717" v="58"/>
          <ac:spMkLst>
            <pc:docMk/>
            <pc:sldMk cId="1865673536" sldId="2147470419"/>
            <ac:spMk id="12" creationId="{30766771-A796-AD37-385B-0F7082EC0C73}"/>
          </ac:spMkLst>
        </pc:spChg>
        <pc:spChg chg="mod">
          <ac:chgData name="ORIOT, Charles" userId="9229ecd9-fc4a-45f9-89f9-b0c625efed60" providerId="ADAL" clId="{D04C4A4B-0BE5-40E8-BFF1-563999A005A0}" dt="2023-05-12T08:46:24.717" v="58"/>
          <ac:spMkLst>
            <pc:docMk/>
            <pc:sldMk cId="1865673536" sldId="2147470419"/>
            <ac:spMk id="13" creationId="{624B4A39-ABBE-014D-27C3-3D25C299F799}"/>
          </ac:spMkLst>
        </pc:spChg>
        <pc:spChg chg="mod">
          <ac:chgData name="ORIOT, Charles" userId="9229ecd9-fc4a-45f9-89f9-b0c625efed60" providerId="ADAL" clId="{D04C4A4B-0BE5-40E8-BFF1-563999A005A0}" dt="2023-05-12T08:46:24.717" v="58"/>
          <ac:spMkLst>
            <pc:docMk/>
            <pc:sldMk cId="1865673536" sldId="2147470419"/>
            <ac:spMk id="14" creationId="{18504B10-AE8C-463C-6A64-634AB3CF8824}"/>
          </ac:spMkLst>
        </pc:spChg>
        <pc:spChg chg="mod">
          <ac:chgData name="ORIOT, Charles" userId="9229ecd9-fc4a-45f9-89f9-b0c625efed60" providerId="ADAL" clId="{D04C4A4B-0BE5-40E8-BFF1-563999A005A0}" dt="2023-05-12T08:46:24.717" v="58"/>
          <ac:spMkLst>
            <pc:docMk/>
            <pc:sldMk cId="1865673536" sldId="2147470419"/>
            <ac:spMk id="15" creationId="{A0EA1EE6-4AC4-5A80-EFAA-AE91D16B2972}"/>
          </ac:spMkLst>
        </pc:spChg>
        <pc:spChg chg="mod">
          <ac:chgData name="ORIOT, Charles" userId="9229ecd9-fc4a-45f9-89f9-b0c625efed60" providerId="ADAL" clId="{D04C4A4B-0BE5-40E8-BFF1-563999A005A0}" dt="2023-05-12T08:46:24.717" v="58"/>
          <ac:spMkLst>
            <pc:docMk/>
            <pc:sldMk cId="1865673536" sldId="2147470419"/>
            <ac:spMk id="16" creationId="{B004D277-7F34-7F0B-42DE-0FF7DD6F5015}"/>
          </ac:spMkLst>
        </pc:spChg>
        <pc:spChg chg="mod">
          <ac:chgData name="ORIOT, Charles" userId="9229ecd9-fc4a-45f9-89f9-b0c625efed60" providerId="ADAL" clId="{D04C4A4B-0BE5-40E8-BFF1-563999A005A0}" dt="2023-05-12T08:46:24.717" v="58"/>
          <ac:spMkLst>
            <pc:docMk/>
            <pc:sldMk cId="1865673536" sldId="2147470419"/>
            <ac:spMk id="17" creationId="{51ED07DC-5096-7598-5DA8-BB7155F1D8F7}"/>
          </ac:spMkLst>
        </pc:spChg>
        <pc:spChg chg="add mod">
          <ac:chgData name="ORIOT, Charles" userId="9229ecd9-fc4a-45f9-89f9-b0c625efed60" providerId="ADAL" clId="{D04C4A4B-0BE5-40E8-BFF1-563999A005A0}" dt="2023-05-12T09:05:28.978" v="726" actId="1035"/>
          <ac:spMkLst>
            <pc:docMk/>
            <pc:sldMk cId="1865673536" sldId="2147470419"/>
            <ac:spMk id="18" creationId="{28DAF8C7-4365-9FCF-77D2-F8084670BB69}"/>
          </ac:spMkLst>
        </pc:spChg>
        <pc:spChg chg="del">
          <ac:chgData name="ORIOT, Charles" userId="9229ecd9-fc4a-45f9-89f9-b0c625efed60" providerId="ADAL" clId="{D04C4A4B-0BE5-40E8-BFF1-563999A005A0}" dt="2023-05-12T08:44:59.131" v="53" actId="478"/>
          <ac:spMkLst>
            <pc:docMk/>
            <pc:sldMk cId="1865673536" sldId="2147470419"/>
            <ac:spMk id="21" creationId="{D954699A-C97C-0CDB-83E9-C74A7AAF5577}"/>
          </ac:spMkLst>
        </pc:spChg>
        <pc:spChg chg="del">
          <ac:chgData name="ORIOT, Charles" userId="9229ecd9-fc4a-45f9-89f9-b0c625efed60" providerId="ADAL" clId="{D04C4A4B-0BE5-40E8-BFF1-563999A005A0}" dt="2023-05-12T08:44:59.131" v="53" actId="478"/>
          <ac:spMkLst>
            <pc:docMk/>
            <pc:sldMk cId="1865673536" sldId="2147470419"/>
            <ac:spMk id="22" creationId="{5B7FEE6F-08EF-4903-A847-18E0AF6DE248}"/>
          </ac:spMkLst>
        </pc:spChg>
        <pc:spChg chg="mod">
          <ac:chgData name="ORIOT, Charles" userId="9229ecd9-fc4a-45f9-89f9-b0c625efed60" providerId="ADAL" clId="{D04C4A4B-0BE5-40E8-BFF1-563999A005A0}" dt="2023-05-12T08:47:27.640" v="64"/>
          <ac:spMkLst>
            <pc:docMk/>
            <pc:sldMk cId="1865673536" sldId="2147470419"/>
            <ac:spMk id="24" creationId="{4BD8CDC8-EB14-630B-2316-5EDABE6CC1F6}"/>
          </ac:spMkLst>
        </pc:spChg>
        <pc:spChg chg="mod">
          <ac:chgData name="ORIOT, Charles" userId="9229ecd9-fc4a-45f9-89f9-b0c625efed60" providerId="ADAL" clId="{D04C4A4B-0BE5-40E8-BFF1-563999A005A0}" dt="2023-05-12T08:47:27.640" v="64"/>
          <ac:spMkLst>
            <pc:docMk/>
            <pc:sldMk cId="1865673536" sldId="2147470419"/>
            <ac:spMk id="25" creationId="{F7D22750-6FF7-E26F-F2CF-EE2604D7ADD6}"/>
          </ac:spMkLst>
        </pc:spChg>
        <pc:spChg chg="mod">
          <ac:chgData name="ORIOT, Charles" userId="9229ecd9-fc4a-45f9-89f9-b0c625efed60" providerId="ADAL" clId="{D04C4A4B-0BE5-40E8-BFF1-563999A005A0}" dt="2023-05-12T08:47:27.640" v="64"/>
          <ac:spMkLst>
            <pc:docMk/>
            <pc:sldMk cId="1865673536" sldId="2147470419"/>
            <ac:spMk id="26" creationId="{5765A047-4B64-AAC2-298A-970ACDD4038C}"/>
          </ac:spMkLst>
        </pc:spChg>
        <pc:spChg chg="mod">
          <ac:chgData name="ORIOT, Charles" userId="9229ecd9-fc4a-45f9-89f9-b0c625efed60" providerId="ADAL" clId="{D04C4A4B-0BE5-40E8-BFF1-563999A005A0}" dt="2023-05-12T08:47:27.640" v="64"/>
          <ac:spMkLst>
            <pc:docMk/>
            <pc:sldMk cId="1865673536" sldId="2147470419"/>
            <ac:spMk id="27" creationId="{D2BC3DF2-E7BA-0F36-5CC2-D69C2CD9AC32}"/>
          </ac:spMkLst>
        </pc:spChg>
        <pc:spChg chg="del">
          <ac:chgData name="ORIOT, Charles" userId="9229ecd9-fc4a-45f9-89f9-b0c625efed60" providerId="ADAL" clId="{D04C4A4B-0BE5-40E8-BFF1-563999A005A0}" dt="2023-05-12T08:44:45.795" v="52" actId="478"/>
          <ac:spMkLst>
            <pc:docMk/>
            <pc:sldMk cId="1865673536" sldId="2147470419"/>
            <ac:spMk id="29" creationId="{B30C81EC-325F-11FA-C9F4-BC79F76B3E16}"/>
          </ac:spMkLst>
        </pc:spChg>
        <pc:spChg chg="mod">
          <ac:chgData name="ORIOT, Charles" userId="9229ecd9-fc4a-45f9-89f9-b0c625efed60" providerId="ADAL" clId="{D04C4A4B-0BE5-40E8-BFF1-563999A005A0}" dt="2023-05-12T08:47:27.640" v="64"/>
          <ac:spMkLst>
            <pc:docMk/>
            <pc:sldMk cId="1865673536" sldId="2147470419"/>
            <ac:spMk id="30" creationId="{2D8C862E-3304-1FF9-726C-914033730015}"/>
          </ac:spMkLst>
        </pc:spChg>
        <pc:spChg chg="mod">
          <ac:chgData name="ORIOT, Charles" userId="9229ecd9-fc4a-45f9-89f9-b0c625efed60" providerId="ADAL" clId="{D04C4A4B-0BE5-40E8-BFF1-563999A005A0}" dt="2023-05-12T08:47:27.640" v="64"/>
          <ac:spMkLst>
            <pc:docMk/>
            <pc:sldMk cId="1865673536" sldId="2147470419"/>
            <ac:spMk id="31" creationId="{4EB8C391-9782-92FA-0B37-791E90C07E75}"/>
          </ac:spMkLst>
        </pc:spChg>
        <pc:spChg chg="mod">
          <ac:chgData name="ORIOT, Charles" userId="9229ecd9-fc4a-45f9-89f9-b0c625efed60" providerId="ADAL" clId="{D04C4A4B-0BE5-40E8-BFF1-563999A005A0}" dt="2023-05-12T08:47:27.640" v="64"/>
          <ac:spMkLst>
            <pc:docMk/>
            <pc:sldMk cId="1865673536" sldId="2147470419"/>
            <ac:spMk id="32" creationId="{0A586681-68CE-1434-4AD8-46E4F904A4A4}"/>
          </ac:spMkLst>
        </pc:spChg>
        <pc:spChg chg="mod">
          <ac:chgData name="ORIOT, Charles" userId="9229ecd9-fc4a-45f9-89f9-b0c625efed60" providerId="ADAL" clId="{D04C4A4B-0BE5-40E8-BFF1-563999A005A0}" dt="2023-05-12T08:47:27.640" v="64"/>
          <ac:spMkLst>
            <pc:docMk/>
            <pc:sldMk cId="1865673536" sldId="2147470419"/>
            <ac:spMk id="33" creationId="{B04D2F10-C47C-997E-08BB-BAEA341782CF}"/>
          </ac:spMkLst>
        </pc:spChg>
        <pc:spChg chg="mod">
          <ac:chgData name="ORIOT, Charles" userId="9229ecd9-fc4a-45f9-89f9-b0c625efed60" providerId="ADAL" clId="{D04C4A4B-0BE5-40E8-BFF1-563999A005A0}" dt="2023-05-12T08:47:27.640" v="64"/>
          <ac:spMkLst>
            <pc:docMk/>
            <pc:sldMk cId="1865673536" sldId="2147470419"/>
            <ac:spMk id="34" creationId="{98D9E9B6-F8E5-2EEE-80B4-AEB31C5DB289}"/>
          </ac:spMkLst>
        </pc:spChg>
        <pc:spChg chg="mod">
          <ac:chgData name="ORIOT, Charles" userId="9229ecd9-fc4a-45f9-89f9-b0c625efed60" providerId="ADAL" clId="{D04C4A4B-0BE5-40E8-BFF1-563999A005A0}" dt="2023-05-12T08:47:27.640" v="64"/>
          <ac:spMkLst>
            <pc:docMk/>
            <pc:sldMk cId="1865673536" sldId="2147470419"/>
            <ac:spMk id="35" creationId="{4D5CB822-E022-23F5-BC5E-8139782DD9DC}"/>
          </ac:spMkLst>
        </pc:spChg>
        <pc:spChg chg="mod">
          <ac:chgData name="ORIOT, Charles" userId="9229ecd9-fc4a-45f9-89f9-b0c625efed60" providerId="ADAL" clId="{D04C4A4B-0BE5-40E8-BFF1-563999A005A0}" dt="2023-05-12T08:47:27.640" v="64"/>
          <ac:spMkLst>
            <pc:docMk/>
            <pc:sldMk cId="1865673536" sldId="2147470419"/>
            <ac:spMk id="36" creationId="{907344E5-56EF-7C51-E0CF-C5B4553DBAD9}"/>
          </ac:spMkLst>
        </pc:spChg>
        <pc:spChg chg="add mod">
          <ac:chgData name="ORIOT, Charles" userId="9229ecd9-fc4a-45f9-89f9-b0c625efed60" providerId="ADAL" clId="{D04C4A4B-0BE5-40E8-BFF1-563999A005A0}" dt="2023-05-12T09:05:28.978" v="726" actId="1035"/>
          <ac:spMkLst>
            <pc:docMk/>
            <pc:sldMk cId="1865673536" sldId="2147470419"/>
            <ac:spMk id="37" creationId="{29A64C25-69B4-169E-CD80-F45AE99A9645}"/>
          </ac:spMkLst>
        </pc:spChg>
        <pc:spChg chg="add mod">
          <ac:chgData name="ORIOT, Charles" userId="9229ecd9-fc4a-45f9-89f9-b0c625efed60" providerId="ADAL" clId="{D04C4A4B-0BE5-40E8-BFF1-563999A005A0}" dt="2023-05-12T09:05:28.978" v="726" actId="1035"/>
          <ac:spMkLst>
            <pc:docMk/>
            <pc:sldMk cId="1865673536" sldId="2147470419"/>
            <ac:spMk id="39" creationId="{7A3DB887-B3C2-AD69-16DA-9B0165B56538}"/>
          </ac:spMkLst>
        </pc:spChg>
        <pc:spChg chg="add mod">
          <ac:chgData name="ORIOT, Charles" userId="9229ecd9-fc4a-45f9-89f9-b0c625efed60" providerId="ADAL" clId="{D04C4A4B-0BE5-40E8-BFF1-563999A005A0}" dt="2023-05-12T09:05:28.978" v="726" actId="1035"/>
          <ac:spMkLst>
            <pc:docMk/>
            <pc:sldMk cId="1865673536" sldId="2147470419"/>
            <ac:spMk id="40" creationId="{59F133BD-8EC8-C02D-AA05-5404EFD85B54}"/>
          </ac:spMkLst>
        </pc:spChg>
        <pc:spChg chg="add del mod ord">
          <ac:chgData name="ORIOT, Charles" userId="9229ecd9-fc4a-45f9-89f9-b0c625efed60" providerId="ADAL" clId="{D04C4A4B-0BE5-40E8-BFF1-563999A005A0}" dt="2023-05-12T09:01:59.083" v="674" actId="478"/>
          <ac:spMkLst>
            <pc:docMk/>
            <pc:sldMk cId="1865673536" sldId="2147470419"/>
            <ac:spMk id="41" creationId="{27C16BBC-9AEF-A1D3-1817-69776D2A6B8E}"/>
          </ac:spMkLst>
        </pc:spChg>
        <pc:spChg chg="add mod ord">
          <ac:chgData name="ORIOT, Charles" userId="9229ecd9-fc4a-45f9-89f9-b0c625efed60" providerId="ADAL" clId="{D04C4A4B-0BE5-40E8-BFF1-563999A005A0}" dt="2023-05-12T09:05:28.978" v="726" actId="1035"/>
          <ac:spMkLst>
            <pc:docMk/>
            <pc:sldMk cId="1865673536" sldId="2147470419"/>
            <ac:spMk id="42" creationId="{117DC2C4-CB5A-A34B-C397-F8B38ABD7A7D}"/>
          </ac:spMkLst>
        </pc:spChg>
        <pc:spChg chg="add mod ord">
          <ac:chgData name="ORIOT, Charles" userId="9229ecd9-fc4a-45f9-89f9-b0c625efed60" providerId="ADAL" clId="{D04C4A4B-0BE5-40E8-BFF1-563999A005A0}" dt="2023-05-12T09:05:28.978" v="726" actId="1035"/>
          <ac:spMkLst>
            <pc:docMk/>
            <pc:sldMk cId="1865673536" sldId="2147470419"/>
            <ac:spMk id="43" creationId="{7E097F27-5C44-0155-4BCD-4C43EA3E3234}"/>
          </ac:spMkLst>
        </pc:spChg>
        <pc:spChg chg="add mod">
          <ac:chgData name="ORIOT, Charles" userId="9229ecd9-fc4a-45f9-89f9-b0c625efed60" providerId="ADAL" clId="{D04C4A4B-0BE5-40E8-BFF1-563999A005A0}" dt="2023-05-12T09:05:28.978" v="726" actId="1035"/>
          <ac:spMkLst>
            <pc:docMk/>
            <pc:sldMk cId="1865673536" sldId="2147470419"/>
            <ac:spMk id="44" creationId="{9F7AE900-BA97-C010-248E-1502170DD6AC}"/>
          </ac:spMkLst>
        </pc:spChg>
        <pc:spChg chg="add mod">
          <ac:chgData name="ORIOT, Charles" userId="9229ecd9-fc4a-45f9-89f9-b0c625efed60" providerId="ADAL" clId="{D04C4A4B-0BE5-40E8-BFF1-563999A005A0}" dt="2023-05-12T09:05:28.978" v="726" actId="1035"/>
          <ac:spMkLst>
            <pc:docMk/>
            <pc:sldMk cId="1865673536" sldId="2147470419"/>
            <ac:spMk id="45" creationId="{FEAD184B-7AFB-DE12-991D-743131762A22}"/>
          </ac:spMkLst>
        </pc:spChg>
        <pc:spChg chg="add mod">
          <ac:chgData name="ORIOT, Charles" userId="9229ecd9-fc4a-45f9-89f9-b0c625efed60" providerId="ADAL" clId="{D04C4A4B-0BE5-40E8-BFF1-563999A005A0}" dt="2023-05-12T09:08:40.950" v="832" actId="1076"/>
          <ac:spMkLst>
            <pc:docMk/>
            <pc:sldMk cId="1865673536" sldId="2147470419"/>
            <ac:spMk id="46" creationId="{848933F5-A5F4-7F77-FE25-06E2F8BE3177}"/>
          </ac:spMkLst>
        </pc:spChg>
        <pc:spChg chg="add mod">
          <ac:chgData name="ORIOT, Charles" userId="9229ecd9-fc4a-45f9-89f9-b0c625efed60" providerId="ADAL" clId="{D04C4A4B-0BE5-40E8-BFF1-563999A005A0}" dt="2023-05-12T09:08:48.662" v="833" actId="1076"/>
          <ac:spMkLst>
            <pc:docMk/>
            <pc:sldMk cId="1865673536" sldId="2147470419"/>
            <ac:spMk id="47" creationId="{1699D80C-34D3-D891-5F58-28D1E2A872C1}"/>
          </ac:spMkLst>
        </pc:spChg>
        <pc:spChg chg="add mod">
          <ac:chgData name="ORIOT, Charles" userId="9229ecd9-fc4a-45f9-89f9-b0c625efed60" providerId="ADAL" clId="{D04C4A4B-0BE5-40E8-BFF1-563999A005A0}" dt="2023-05-12T09:11:01.119" v="912" actId="20577"/>
          <ac:spMkLst>
            <pc:docMk/>
            <pc:sldMk cId="1865673536" sldId="2147470419"/>
            <ac:spMk id="48" creationId="{56F2CBB8-9670-63EC-153E-EFFD47AF8EAA}"/>
          </ac:spMkLst>
        </pc:spChg>
        <pc:spChg chg="del">
          <ac:chgData name="ORIOT, Charles" userId="9229ecd9-fc4a-45f9-89f9-b0c625efed60" providerId="ADAL" clId="{D04C4A4B-0BE5-40E8-BFF1-563999A005A0}" dt="2023-05-12T08:45:07.803" v="54" actId="478"/>
          <ac:spMkLst>
            <pc:docMk/>
            <pc:sldMk cId="1865673536" sldId="2147470419"/>
            <ac:spMk id="60" creationId="{A7F0DB29-18AD-E3AC-71E6-C6E1CBE336C0}"/>
          </ac:spMkLst>
        </pc:spChg>
        <pc:spChg chg="del">
          <ac:chgData name="ORIOT, Charles" userId="9229ecd9-fc4a-45f9-89f9-b0c625efed60" providerId="ADAL" clId="{D04C4A4B-0BE5-40E8-BFF1-563999A005A0}" dt="2023-05-12T08:45:07.803" v="54" actId="478"/>
          <ac:spMkLst>
            <pc:docMk/>
            <pc:sldMk cId="1865673536" sldId="2147470419"/>
            <ac:spMk id="66" creationId="{79167934-080F-7CD7-48C9-8462D75BC301}"/>
          </ac:spMkLst>
        </pc:spChg>
        <pc:spChg chg="del">
          <ac:chgData name="ORIOT, Charles" userId="9229ecd9-fc4a-45f9-89f9-b0c625efed60" providerId="ADAL" clId="{D04C4A4B-0BE5-40E8-BFF1-563999A005A0}" dt="2023-05-12T08:45:07.803" v="54" actId="478"/>
          <ac:spMkLst>
            <pc:docMk/>
            <pc:sldMk cId="1865673536" sldId="2147470419"/>
            <ac:spMk id="67" creationId="{B9A8FF2B-0023-2A3C-D9A7-2B2B3DC87CE2}"/>
          </ac:spMkLst>
        </pc:spChg>
        <pc:spChg chg="del">
          <ac:chgData name="ORIOT, Charles" userId="9229ecd9-fc4a-45f9-89f9-b0c625efed60" providerId="ADAL" clId="{D04C4A4B-0BE5-40E8-BFF1-563999A005A0}" dt="2023-05-12T08:45:07.803" v="54" actId="478"/>
          <ac:spMkLst>
            <pc:docMk/>
            <pc:sldMk cId="1865673536" sldId="2147470419"/>
            <ac:spMk id="72" creationId="{565D7401-FA8E-3D2D-7D64-C898DA2A727D}"/>
          </ac:spMkLst>
        </pc:spChg>
        <pc:spChg chg="del">
          <ac:chgData name="ORIOT, Charles" userId="9229ecd9-fc4a-45f9-89f9-b0c625efed60" providerId="ADAL" clId="{D04C4A4B-0BE5-40E8-BFF1-563999A005A0}" dt="2023-05-12T08:45:07.803" v="54" actId="478"/>
          <ac:spMkLst>
            <pc:docMk/>
            <pc:sldMk cId="1865673536" sldId="2147470419"/>
            <ac:spMk id="73" creationId="{65071505-767A-C69E-4FAA-BB5BA5FF97F9}"/>
          </ac:spMkLst>
        </pc:spChg>
        <pc:spChg chg="del">
          <ac:chgData name="ORIOT, Charles" userId="9229ecd9-fc4a-45f9-89f9-b0c625efed60" providerId="ADAL" clId="{D04C4A4B-0BE5-40E8-BFF1-563999A005A0}" dt="2023-05-12T08:45:07.803" v="54" actId="478"/>
          <ac:spMkLst>
            <pc:docMk/>
            <pc:sldMk cId="1865673536" sldId="2147470419"/>
            <ac:spMk id="74" creationId="{50580FC1-748F-AA76-828F-8124503BAD1E}"/>
          </ac:spMkLst>
        </pc:spChg>
        <pc:spChg chg="del">
          <ac:chgData name="ORIOT, Charles" userId="9229ecd9-fc4a-45f9-89f9-b0c625efed60" providerId="ADAL" clId="{D04C4A4B-0BE5-40E8-BFF1-563999A005A0}" dt="2023-05-12T08:44:59.131" v="53" actId="478"/>
          <ac:spMkLst>
            <pc:docMk/>
            <pc:sldMk cId="1865673536" sldId="2147470419"/>
            <ac:spMk id="82" creationId="{991746BE-AF56-1F0C-B2C9-3285941938D1}"/>
          </ac:spMkLst>
        </pc:spChg>
        <pc:grpChg chg="add mod">
          <ac:chgData name="ORIOT, Charles" userId="9229ecd9-fc4a-45f9-89f9-b0c625efed60" providerId="ADAL" clId="{D04C4A4B-0BE5-40E8-BFF1-563999A005A0}" dt="2023-05-12T09:05:28.978" v="726" actId="1035"/>
          <ac:grpSpMkLst>
            <pc:docMk/>
            <pc:sldMk cId="1865673536" sldId="2147470419"/>
            <ac:grpSpMk id="6" creationId="{79930A53-DC94-6AF3-2B46-7290281EDA81}"/>
          </ac:grpSpMkLst>
        </pc:grpChg>
        <pc:grpChg chg="add mod">
          <ac:chgData name="ORIOT, Charles" userId="9229ecd9-fc4a-45f9-89f9-b0c625efed60" providerId="ADAL" clId="{D04C4A4B-0BE5-40E8-BFF1-563999A005A0}" dt="2023-05-12T09:05:28.978" v="726" actId="1035"/>
          <ac:grpSpMkLst>
            <pc:docMk/>
            <pc:sldMk cId="1865673536" sldId="2147470419"/>
            <ac:grpSpMk id="11" creationId="{485B6EBC-C4FE-DFC9-1BD5-6FDE6DB02F5B}"/>
          </ac:grpSpMkLst>
        </pc:grpChg>
        <pc:grpChg chg="add mod">
          <ac:chgData name="ORIOT, Charles" userId="9229ecd9-fc4a-45f9-89f9-b0c625efed60" providerId="ADAL" clId="{D04C4A4B-0BE5-40E8-BFF1-563999A005A0}" dt="2023-05-12T09:05:28.978" v="726" actId="1035"/>
          <ac:grpSpMkLst>
            <pc:docMk/>
            <pc:sldMk cId="1865673536" sldId="2147470419"/>
            <ac:grpSpMk id="19" creationId="{321EA9BE-8F18-B26B-77F6-8A814ED565A2}"/>
          </ac:grpSpMkLst>
        </pc:grpChg>
        <pc:grpChg chg="add mod">
          <ac:chgData name="ORIOT, Charles" userId="9229ecd9-fc4a-45f9-89f9-b0c625efed60" providerId="ADAL" clId="{D04C4A4B-0BE5-40E8-BFF1-563999A005A0}" dt="2023-05-12T09:05:28.978" v="726" actId="1035"/>
          <ac:grpSpMkLst>
            <pc:docMk/>
            <pc:sldMk cId="1865673536" sldId="2147470419"/>
            <ac:grpSpMk id="28" creationId="{37E1E91E-26D4-5234-9BF8-B87834A30350}"/>
          </ac:grpSpMkLst>
        </pc:grpChg>
        <pc:grpChg chg="del">
          <ac:chgData name="ORIOT, Charles" userId="9229ecd9-fc4a-45f9-89f9-b0c625efed60" providerId="ADAL" clId="{D04C4A4B-0BE5-40E8-BFF1-563999A005A0}" dt="2023-05-12T08:45:07.803" v="54" actId="478"/>
          <ac:grpSpMkLst>
            <pc:docMk/>
            <pc:sldMk cId="1865673536" sldId="2147470419"/>
            <ac:grpSpMk id="49" creationId="{A497587A-A9A0-056C-292E-A6554CFDE232}"/>
          </ac:grpSpMkLst>
        </pc:grpChg>
        <pc:grpChg chg="del">
          <ac:chgData name="ORIOT, Charles" userId="9229ecd9-fc4a-45f9-89f9-b0c625efed60" providerId="ADAL" clId="{D04C4A4B-0BE5-40E8-BFF1-563999A005A0}" dt="2023-05-12T08:45:07.803" v="54" actId="478"/>
          <ac:grpSpMkLst>
            <pc:docMk/>
            <pc:sldMk cId="1865673536" sldId="2147470419"/>
            <ac:grpSpMk id="68" creationId="{2CFA3D42-9A57-F73A-AA6E-AAA4BEF34C7F}"/>
          </ac:grpSpMkLst>
        </pc:grpChg>
        <pc:grpChg chg="del">
          <ac:chgData name="ORIOT, Charles" userId="9229ecd9-fc4a-45f9-89f9-b0c625efed60" providerId="ADAL" clId="{D04C4A4B-0BE5-40E8-BFF1-563999A005A0}" dt="2023-05-12T08:45:07.803" v="54" actId="478"/>
          <ac:grpSpMkLst>
            <pc:docMk/>
            <pc:sldMk cId="1865673536" sldId="2147470419"/>
            <ac:grpSpMk id="75" creationId="{D3778A4A-524D-FD0D-3E64-C7BE6EB46600}"/>
          </ac:grpSpMkLst>
        </pc:grpChg>
        <pc:picChg chg="del">
          <ac:chgData name="ORIOT, Charles" userId="9229ecd9-fc4a-45f9-89f9-b0c625efed60" providerId="ADAL" clId="{D04C4A4B-0BE5-40E8-BFF1-563999A005A0}" dt="2023-05-12T08:44:59.131" v="53" actId="478"/>
          <ac:picMkLst>
            <pc:docMk/>
            <pc:sldMk cId="1865673536" sldId="2147470419"/>
            <ac:picMk id="20" creationId="{C3223DF3-06EB-A470-C7EB-060DBE3AD7BA}"/>
          </ac:picMkLst>
        </pc:picChg>
        <pc:picChg chg="del">
          <ac:chgData name="ORIOT, Charles" userId="9229ecd9-fc4a-45f9-89f9-b0c625efed60" providerId="ADAL" clId="{D04C4A4B-0BE5-40E8-BFF1-563999A005A0}" dt="2023-05-12T08:45:07.803" v="54" actId="478"/>
          <ac:picMkLst>
            <pc:docMk/>
            <pc:sldMk cId="1865673536" sldId="2147470419"/>
            <ac:picMk id="23" creationId="{7F81D030-19BF-D551-CCB8-3836322252D0}"/>
          </ac:picMkLst>
        </pc:picChg>
        <pc:picChg chg="add del mod">
          <ac:chgData name="ORIOT, Charles" userId="9229ecd9-fc4a-45f9-89f9-b0c625efed60" providerId="ADAL" clId="{D04C4A4B-0BE5-40E8-BFF1-563999A005A0}" dt="2023-05-12T08:47:31.243" v="65" actId="478"/>
          <ac:picMkLst>
            <pc:docMk/>
            <pc:sldMk cId="1865673536" sldId="2147470419"/>
            <ac:picMk id="38" creationId="{D8E224C4-AA33-F303-1F95-FEE674C71B3F}"/>
          </ac:picMkLst>
        </pc:picChg>
      </pc:sldChg>
    </pc:docChg>
  </pc:docChgLst>
  <pc:docChgLst>
    <pc:chgData name="GUILLON, Vincent" userId="S::vi.guillon@bouygues-construction.com::9d8db2f5-3c27-45ef-b5de-1b3d164972c7" providerId="AD" clId="Web-{60AF41CA-8BFF-40D1-A21C-C81DA0B7DC5B}"/>
    <pc:docChg chg="sldOrd">
      <pc:chgData name="GUILLON, Vincent" userId="S::vi.guillon@bouygues-construction.com::9d8db2f5-3c27-45ef-b5de-1b3d164972c7" providerId="AD" clId="Web-{60AF41CA-8BFF-40D1-A21C-C81DA0B7DC5B}" dt="2023-09-11T10:37:25.380" v="1"/>
      <pc:docMkLst>
        <pc:docMk/>
      </pc:docMkLst>
      <pc:sldChg chg="ord">
        <pc:chgData name="GUILLON, Vincent" userId="S::vi.guillon@bouygues-construction.com::9d8db2f5-3c27-45ef-b5de-1b3d164972c7" providerId="AD" clId="Web-{60AF41CA-8BFF-40D1-A21C-C81DA0B7DC5B}" dt="2023-09-11T10:37:25.380" v="1"/>
        <pc:sldMkLst>
          <pc:docMk/>
          <pc:sldMk cId="1851426169" sldId="21474704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9AE04F-5DA1-4F7D-996D-0182576F8E3C}" type="datetimeFigureOut">
              <a:rPr lang="fr-FR" smtClean="0"/>
              <a:t>11/09/2023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BF0D08-4C13-4403-8D1D-D22C53EDB4EE}" type="slidenum">
              <a:rPr lang="fr-FR" smtClean="0"/>
              <a:t>‹N°›</a:t>
            </a:fld>
            <a:endParaRPr lang="fr-FR"/>
          </a:p>
        </p:txBody>
      </p:sp>
    </p:spTree>
    <p:extLst>
      <p:ext uri="{BB962C8B-B14F-4D97-AF65-F5344CB8AC3E}">
        <p14:creationId xmlns:p14="http://schemas.microsoft.com/office/powerpoint/2010/main" val="343019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cs typeface="Calibri"/>
              </a:rPr>
              <a:t>3 </a:t>
            </a:r>
            <a:r>
              <a:rPr lang="fr-FR" dirty="0" err="1">
                <a:cs typeface="Calibri"/>
              </a:rPr>
              <a:t>pilliers</a:t>
            </a:r>
            <a:r>
              <a:rPr lang="fr-FR" dirty="0">
                <a:cs typeface="Calibri"/>
              </a:rPr>
              <a:t> de l'IAM : </a:t>
            </a:r>
          </a:p>
          <a:p>
            <a:r>
              <a:rPr lang="fr-FR" dirty="0">
                <a:cs typeface="Calibri"/>
              </a:rPr>
              <a:t>Manage </a:t>
            </a:r>
            <a:r>
              <a:rPr lang="fr-FR" dirty="0" err="1">
                <a:cs typeface="Calibri"/>
              </a:rPr>
              <a:t>identities</a:t>
            </a:r>
            <a:r>
              <a:rPr lang="fr-FR" dirty="0">
                <a:cs typeface="Calibri"/>
              </a:rPr>
              <a:t> </a:t>
            </a:r>
          </a:p>
          <a:p>
            <a:r>
              <a:rPr lang="fr-FR" dirty="0">
                <a:cs typeface="Calibri"/>
              </a:rPr>
              <a:t>Manage </a:t>
            </a:r>
            <a:r>
              <a:rPr lang="fr-FR" dirty="0" err="1">
                <a:cs typeface="Calibri"/>
              </a:rPr>
              <a:t>authentication</a:t>
            </a:r>
            <a:r>
              <a:rPr lang="fr-FR" dirty="0">
                <a:cs typeface="Calibri"/>
              </a:rPr>
              <a:t> : gestion de l'authentification des utilisation</a:t>
            </a:r>
          </a:p>
          <a:p>
            <a:r>
              <a:rPr lang="fr-FR" dirty="0">
                <a:cs typeface="Calibri"/>
              </a:rPr>
              <a:t>Manage </a:t>
            </a:r>
            <a:r>
              <a:rPr lang="fr-FR" dirty="0" err="1">
                <a:cs typeface="Calibri"/>
              </a:rPr>
              <a:t>authorization</a:t>
            </a:r>
            <a:r>
              <a:rPr lang="fr-FR" dirty="0">
                <a:cs typeface="Calibri"/>
              </a:rPr>
              <a:t> : gestion des droits des utilisateurs</a:t>
            </a:r>
          </a:p>
          <a:p>
            <a:endParaRPr lang="fr-FR" dirty="0">
              <a:cs typeface="Calibri"/>
            </a:endParaRPr>
          </a:p>
          <a:p>
            <a:r>
              <a:rPr lang="fr-FR" dirty="0">
                <a:cs typeface="Calibri"/>
              </a:rPr>
              <a:t>L'IAM pour qui : </a:t>
            </a:r>
          </a:p>
          <a:p>
            <a:r>
              <a:rPr lang="fr-FR" dirty="0">
                <a:cs typeface="Calibri"/>
              </a:rPr>
              <a:t>Les employées  et prestataires</a:t>
            </a:r>
          </a:p>
          <a:p>
            <a:r>
              <a:rPr lang="fr-FR" dirty="0">
                <a:cs typeface="Calibri"/>
              </a:rPr>
              <a:t>Les co-contractants</a:t>
            </a:r>
          </a:p>
          <a:p>
            <a:endParaRPr lang="fr-FR" dirty="0">
              <a:cs typeface="Calibri"/>
            </a:endParaRPr>
          </a:p>
          <a:p>
            <a:r>
              <a:rPr lang="fr-FR" dirty="0">
                <a:cs typeface="Calibri"/>
              </a:rPr>
              <a:t>Les sous-traitants et partenaires </a:t>
            </a:r>
          </a:p>
          <a:p>
            <a:endParaRPr lang="fr-FR" dirty="0">
              <a:cs typeface="Calibri"/>
            </a:endParaRPr>
          </a:p>
          <a:p>
            <a:r>
              <a:rPr lang="fr-FR" dirty="0">
                <a:cs typeface="Calibri"/>
              </a:rPr>
              <a:t>Les administrateurs</a:t>
            </a:r>
          </a:p>
          <a:p>
            <a:endParaRPr lang="fr-FR" dirty="0">
              <a:cs typeface="Calibri"/>
            </a:endParaRPr>
          </a:p>
          <a:p>
            <a:r>
              <a:rPr lang="fr-FR" dirty="0">
                <a:cs typeface="Calibri"/>
              </a:rPr>
              <a:t>Les clients</a:t>
            </a: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3</a:t>
            </a:fld>
            <a:endParaRPr lang="fr-FR"/>
          </a:p>
        </p:txBody>
      </p:sp>
    </p:spTree>
    <p:extLst>
      <p:ext uri="{BB962C8B-B14F-4D97-AF65-F5344CB8AC3E}">
        <p14:creationId xmlns:p14="http://schemas.microsoft.com/office/powerpoint/2010/main" val="1152132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cs typeface="Calibri"/>
              </a:rPr>
              <a:t>Pour certaines populations et ou blocs de l'IAM des initiatives en cours chez BYCN </a:t>
            </a:r>
          </a:p>
          <a:p>
            <a:endParaRPr lang="fr-FR" dirty="0">
              <a:cs typeface="Calibri"/>
            </a:endParaRPr>
          </a:p>
          <a:p>
            <a:r>
              <a:rPr lang="fr-FR" dirty="0" err="1">
                <a:cs typeface="Calibri"/>
              </a:rPr>
              <a:t>Partners</a:t>
            </a:r>
            <a:r>
              <a:rPr lang="fr-FR" dirty="0">
                <a:cs typeface="Calibri"/>
              </a:rPr>
              <a:t> &amp; Guest : migration depuis le portail BCC vers Azure B2B</a:t>
            </a:r>
          </a:p>
          <a:p>
            <a:endParaRPr lang="fr-FR" dirty="0">
              <a:cs typeface="Calibri"/>
            </a:endParaRPr>
          </a:p>
          <a:p>
            <a:r>
              <a:rPr lang="fr-FR" dirty="0">
                <a:cs typeface="Calibri"/>
              </a:rPr>
              <a:t>Pour les administrateurs : la solution </a:t>
            </a:r>
            <a:r>
              <a:rPr lang="fr-FR" dirty="0" err="1">
                <a:cs typeface="Calibri"/>
              </a:rPr>
              <a:t>CyberArk</a:t>
            </a:r>
            <a:r>
              <a:rPr lang="fr-FR" dirty="0">
                <a:cs typeface="Calibri"/>
              </a:rPr>
              <a:t> et des évolutions prévues de démarrer au 1er trimestre 2023 </a:t>
            </a:r>
          </a:p>
          <a:p>
            <a:endParaRPr lang="fr-FR" dirty="0">
              <a:cs typeface="Calibri"/>
            </a:endParaRPr>
          </a:p>
          <a:p>
            <a:r>
              <a:rPr lang="fr-FR" dirty="0">
                <a:cs typeface="Calibri"/>
              </a:rPr>
              <a:t>Pour la populations des clients : cette population n'est pas présente dans l'environnement BYCN</a:t>
            </a:r>
          </a:p>
          <a:p>
            <a:endParaRPr lang="fr-FR" dirty="0">
              <a:cs typeface="Calibri"/>
            </a:endParaRPr>
          </a:p>
          <a:p>
            <a:r>
              <a:rPr lang="fr-FR" dirty="0">
                <a:cs typeface="Calibri"/>
              </a:rPr>
              <a:t>Enfin, pour le sujet spécifique de l'authentification le sujet est porté par l'AD &amp; Azure AD </a:t>
            </a:r>
            <a:endParaRPr lang="fr-FR" dirty="0"/>
          </a:p>
          <a:p>
            <a:endParaRPr lang="fr-FR" dirty="0">
              <a:cs typeface="Calibri"/>
            </a:endParaRPr>
          </a:p>
          <a:p>
            <a:endParaRPr lang="fr-FR" dirty="0">
              <a:cs typeface="Calibri"/>
            </a:endParaRP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4</a:t>
            </a:fld>
            <a:endParaRPr lang="fr-FR"/>
          </a:p>
        </p:txBody>
      </p:sp>
    </p:spTree>
    <p:extLst>
      <p:ext uri="{BB962C8B-B14F-4D97-AF65-F5344CB8AC3E}">
        <p14:creationId xmlns:p14="http://schemas.microsoft.com/office/powerpoint/2010/main" val="3511410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cs typeface="Calibri" panose="020F0502020204030204"/>
              </a:rPr>
              <a:t>Nombre d’identité = nombre de licence office 365 payées- </a:t>
            </a:r>
            <a:r>
              <a:rPr lang="fr-FR" dirty="0" err="1">
                <a:cs typeface="Calibri" panose="020F0502020204030204"/>
              </a:rPr>
              <a:t>BYes</a:t>
            </a:r>
            <a:endParaRPr lang="fr-FR" dirty="0"/>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5</a:t>
            </a:fld>
            <a:endParaRPr lang="fr-FR"/>
          </a:p>
        </p:txBody>
      </p:sp>
    </p:spTree>
    <p:extLst>
      <p:ext uri="{BB962C8B-B14F-4D97-AF65-F5344CB8AC3E}">
        <p14:creationId xmlns:p14="http://schemas.microsoft.com/office/powerpoint/2010/main" val="31996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cs typeface="Calibri"/>
              </a:rPr>
              <a:t>La mission s'est concentré la gestion des identités et des accès pour les employées &amp; presta ainsi que les </a:t>
            </a:r>
            <a:r>
              <a:rPr lang="fr-FR" dirty="0" err="1">
                <a:cs typeface="Calibri"/>
              </a:rPr>
              <a:t>co</a:t>
            </a:r>
            <a:r>
              <a:rPr lang="fr-FR" dirty="0">
                <a:cs typeface="Calibri"/>
              </a:rPr>
              <a:t>-tractant</a:t>
            </a:r>
          </a:p>
          <a:p>
            <a:endParaRPr lang="fr-FR" dirty="0">
              <a:cs typeface="Calibri"/>
            </a:endParaRPr>
          </a:p>
          <a:p>
            <a:r>
              <a:rPr lang="fr-FR" dirty="0">
                <a:cs typeface="Calibri"/>
              </a:rPr>
              <a:t>Ce sous-domaine de l'IAM s'appelle IGA </a:t>
            </a: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6</a:t>
            </a:fld>
            <a:endParaRPr lang="fr-FR"/>
          </a:p>
        </p:txBody>
      </p:sp>
    </p:spTree>
    <p:extLst>
      <p:ext uri="{BB962C8B-B14F-4D97-AF65-F5344CB8AC3E}">
        <p14:creationId xmlns:p14="http://schemas.microsoft.com/office/powerpoint/2010/main" val="2764750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cs typeface="Calibri"/>
              </a:rPr>
              <a:t>Qu'est-ce</a:t>
            </a:r>
            <a:r>
              <a:rPr lang="en-US" dirty="0">
                <a:cs typeface="Calibri"/>
              </a:rPr>
              <a:t> que </a:t>
            </a:r>
            <a:r>
              <a:rPr lang="en-US" dirty="0" err="1">
                <a:cs typeface="Calibri"/>
              </a:rPr>
              <a:t>l'IGA</a:t>
            </a:r>
            <a:r>
              <a:rPr lang="en-US" dirty="0">
                <a:cs typeface="Calibri"/>
              </a:rPr>
              <a:t> : </a:t>
            </a:r>
            <a:br>
              <a:rPr lang="en-US" dirty="0">
                <a:cs typeface="+mn-lt"/>
              </a:rPr>
            </a:br>
            <a:r>
              <a:rPr lang="en-US" dirty="0">
                <a:cs typeface="Calibri"/>
              </a:rPr>
              <a:t>L'IGA </a:t>
            </a:r>
            <a:r>
              <a:rPr lang="en-US" dirty="0" err="1">
                <a:cs typeface="Calibri"/>
              </a:rPr>
              <a:t>est</a:t>
            </a:r>
            <a:r>
              <a:rPr lang="en-US" dirty="0">
                <a:cs typeface="Calibri"/>
              </a:rPr>
              <a:t> à </a:t>
            </a:r>
            <a:r>
              <a:rPr lang="en-US" dirty="0" err="1">
                <a:cs typeface="Calibri"/>
              </a:rPr>
              <a:t>l'intersection</a:t>
            </a:r>
            <a:r>
              <a:rPr lang="en-US" dirty="0">
                <a:cs typeface="Calibri"/>
              </a:rPr>
              <a:t> </a:t>
            </a:r>
            <a:r>
              <a:rPr lang="en-US" dirty="0" err="1">
                <a:cs typeface="Calibri"/>
              </a:rPr>
              <a:t>est</a:t>
            </a:r>
            <a:r>
              <a:rPr lang="en-US" dirty="0">
                <a:cs typeface="Calibri"/>
              </a:rPr>
              <a:t> à la </a:t>
            </a:r>
            <a:r>
              <a:rPr lang="en-US" dirty="0" err="1">
                <a:cs typeface="Calibri"/>
              </a:rPr>
              <a:t>jonction</a:t>
            </a:r>
            <a:r>
              <a:rPr lang="en-US" dirty="0">
                <a:cs typeface="Calibri"/>
              </a:rPr>
              <a:t> entre les métiers et le monde IT  </a:t>
            </a:r>
          </a:p>
          <a:p>
            <a:endParaRPr lang="en-US" dirty="0">
              <a:cs typeface="Calibri"/>
            </a:endParaRPr>
          </a:p>
          <a:p>
            <a:r>
              <a:rPr lang="en-US" dirty="0">
                <a:cs typeface="Calibri"/>
              </a:rPr>
              <a:t>L'IGA </a:t>
            </a:r>
            <a:r>
              <a:rPr lang="en-US" dirty="0" err="1">
                <a:cs typeface="Calibri"/>
              </a:rPr>
              <a:t>va</a:t>
            </a:r>
            <a:r>
              <a:rPr lang="en-US" dirty="0">
                <a:cs typeface="Calibri"/>
              </a:rPr>
              <a:t> </a:t>
            </a:r>
            <a:r>
              <a:rPr lang="en-US" dirty="0" err="1">
                <a:cs typeface="Calibri"/>
              </a:rPr>
              <a:t>regrouper</a:t>
            </a:r>
            <a:r>
              <a:rPr lang="en-US" dirty="0">
                <a:cs typeface="Calibri"/>
              </a:rPr>
              <a:t> un ensemble de </a:t>
            </a:r>
            <a:r>
              <a:rPr lang="en-US" dirty="0" err="1">
                <a:cs typeface="Calibri"/>
              </a:rPr>
              <a:t>référentiels</a:t>
            </a:r>
            <a:r>
              <a:rPr lang="en-US" dirty="0">
                <a:cs typeface="Calibri"/>
              </a:rPr>
              <a:t> (</a:t>
            </a:r>
            <a:r>
              <a:rPr lang="en-US" dirty="0" err="1">
                <a:cs typeface="Calibri"/>
              </a:rPr>
              <a:t>référentiel</a:t>
            </a:r>
            <a:r>
              <a:rPr lang="en-US" dirty="0">
                <a:cs typeface="Calibri"/>
              </a:rPr>
              <a:t> de </a:t>
            </a:r>
            <a:r>
              <a:rPr lang="en-US" dirty="0" err="1">
                <a:cs typeface="Calibri"/>
              </a:rPr>
              <a:t>personnes</a:t>
            </a:r>
            <a:r>
              <a:rPr lang="en-US" dirty="0">
                <a:cs typeface="Calibri"/>
              </a:rPr>
              <a:t>, etc.) , </a:t>
            </a:r>
            <a:r>
              <a:rPr lang="en-US" dirty="0" err="1">
                <a:cs typeface="Calibri"/>
              </a:rPr>
              <a:t>processus</a:t>
            </a:r>
            <a:r>
              <a:rPr lang="en-US" dirty="0">
                <a:cs typeface="Calibri"/>
              </a:rPr>
              <a:t> (entrées, </a:t>
            </a:r>
            <a:r>
              <a:rPr lang="en-US" dirty="0" err="1">
                <a:cs typeface="Calibri"/>
              </a:rPr>
              <a:t>mouvements</a:t>
            </a:r>
            <a:r>
              <a:rPr lang="en-US" dirty="0">
                <a:cs typeface="Calibri"/>
              </a:rPr>
              <a:t>, sorties) et </a:t>
            </a:r>
            <a:r>
              <a:rPr lang="en-US" dirty="0" err="1">
                <a:cs typeface="Calibri"/>
              </a:rPr>
              <a:t>outils</a:t>
            </a:r>
            <a:r>
              <a:rPr lang="en-US" dirty="0">
                <a:cs typeface="Calibri"/>
              </a:rPr>
              <a:t> pour </a:t>
            </a:r>
            <a:r>
              <a:rPr lang="en-US" dirty="0" err="1">
                <a:cs typeface="Calibri"/>
              </a:rPr>
              <a:t>accomplir</a:t>
            </a:r>
            <a:r>
              <a:rPr lang="en-US" dirty="0">
                <a:cs typeface="Calibri"/>
              </a:rPr>
              <a:t> </a:t>
            </a:r>
            <a:r>
              <a:rPr lang="en-US" dirty="0" err="1">
                <a:cs typeface="Calibri"/>
              </a:rPr>
              <a:t>ses</a:t>
            </a:r>
            <a:r>
              <a:rPr lang="en-US" dirty="0">
                <a:cs typeface="Calibri"/>
              </a:rPr>
              <a:t> </a:t>
            </a:r>
            <a:r>
              <a:rPr lang="en-US" dirty="0" err="1">
                <a:cs typeface="Calibri"/>
              </a:rPr>
              <a:t>fonctions</a:t>
            </a:r>
            <a:endParaRPr lang="en-US" dirty="0">
              <a:cs typeface="Calibri"/>
            </a:endParaRPr>
          </a:p>
        </p:txBody>
      </p:sp>
      <p:sp>
        <p:nvSpPr>
          <p:cNvPr id="4" name="Slide Number Placeholder 3"/>
          <p:cNvSpPr>
            <a:spLocks noGrp="1"/>
          </p:cNvSpPr>
          <p:nvPr>
            <p:ph type="sldNum" sz="quarter" idx="5"/>
          </p:nvPr>
        </p:nvSpPr>
        <p:spPr/>
        <p:txBody>
          <a:bodyPr/>
          <a:lstStyle/>
          <a:p>
            <a:fld id="{10BF0D08-4C13-4403-8D1D-D22C53EDB4EE}" type="slidenum">
              <a:rPr lang="fr-FR" smtClean="0"/>
              <a:t>7</a:t>
            </a:fld>
            <a:endParaRPr lang="fr-FR"/>
          </a:p>
        </p:txBody>
      </p:sp>
    </p:spTree>
    <p:extLst>
      <p:ext uri="{BB962C8B-B14F-4D97-AF65-F5344CB8AC3E}">
        <p14:creationId xmlns:p14="http://schemas.microsoft.com/office/powerpoint/2010/main" val="1212137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cs typeface="Calibri" panose="020F0502020204030204"/>
              </a:rPr>
              <a:t>Nombre d’identité = nombre de licence office 365 payées- </a:t>
            </a:r>
            <a:r>
              <a:rPr lang="fr-FR" dirty="0" err="1">
                <a:cs typeface="Calibri" panose="020F0502020204030204"/>
              </a:rPr>
              <a:t>BYes</a:t>
            </a:r>
            <a:endParaRPr lang="fr-FR" dirty="0"/>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8</a:t>
            </a:fld>
            <a:endParaRPr lang="fr-FR"/>
          </a:p>
        </p:txBody>
      </p:sp>
    </p:spTree>
    <p:extLst>
      <p:ext uri="{BB962C8B-B14F-4D97-AF65-F5344CB8AC3E}">
        <p14:creationId xmlns:p14="http://schemas.microsoft.com/office/powerpoint/2010/main" val="41974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9</a:t>
            </a:fld>
            <a:endParaRPr lang="fr-FR"/>
          </a:p>
        </p:txBody>
      </p:sp>
    </p:spTree>
    <p:extLst>
      <p:ext uri="{BB962C8B-B14F-4D97-AF65-F5344CB8AC3E}">
        <p14:creationId xmlns:p14="http://schemas.microsoft.com/office/powerpoint/2010/main" val="3456373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Parler des exceptions qui pose problème aujourd'hui : </a:t>
            </a:r>
            <a:endParaRPr lang="en-US"/>
          </a:p>
          <a:p>
            <a:r>
              <a:rPr lang="fr-FR" dirty="0"/>
              <a:t>Exception positionné mais jamais retirer, manque de gouvernance </a:t>
            </a: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10</a:t>
            </a:fld>
            <a:endParaRPr lang="fr-FR"/>
          </a:p>
        </p:txBody>
      </p:sp>
    </p:spTree>
    <p:extLst>
      <p:ext uri="{BB962C8B-B14F-4D97-AF65-F5344CB8AC3E}">
        <p14:creationId xmlns:p14="http://schemas.microsoft.com/office/powerpoint/2010/main" val="279916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Parler des exceptions qui pose problème aujourd'hui : </a:t>
            </a:r>
            <a:endParaRPr lang="en-US"/>
          </a:p>
          <a:p>
            <a:r>
              <a:rPr lang="fr-FR" dirty="0"/>
              <a:t>Exception positionné mais jamais retirer, manque de gouvernance </a:t>
            </a: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11</a:t>
            </a:fld>
            <a:endParaRPr lang="fr-FR"/>
          </a:p>
        </p:txBody>
      </p:sp>
    </p:spTree>
    <p:extLst>
      <p:ext uri="{BB962C8B-B14F-4D97-AF65-F5344CB8AC3E}">
        <p14:creationId xmlns:p14="http://schemas.microsoft.com/office/powerpoint/2010/main" val="1648582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Parler des exceptions qui pose problème aujourd'hui : </a:t>
            </a:r>
            <a:endParaRPr lang="en-US"/>
          </a:p>
          <a:p>
            <a:r>
              <a:rPr lang="fr-FR" dirty="0"/>
              <a:t>Exception positionné mais jamais retirer, manque de gouvernance </a:t>
            </a: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12</a:t>
            </a:fld>
            <a:endParaRPr lang="fr-FR"/>
          </a:p>
        </p:txBody>
      </p:sp>
    </p:spTree>
    <p:extLst>
      <p:ext uri="{BB962C8B-B14F-4D97-AF65-F5344CB8AC3E}">
        <p14:creationId xmlns:p14="http://schemas.microsoft.com/office/powerpoint/2010/main" val="1333730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13</a:t>
            </a:fld>
            <a:endParaRPr lang="fr-FR"/>
          </a:p>
        </p:txBody>
      </p:sp>
    </p:spTree>
    <p:extLst>
      <p:ext uri="{BB962C8B-B14F-4D97-AF65-F5344CB8AC3E}">
        <p14:creationId xmlns:p14="http://schemas.microsoft.com/office/powerpoint/2010/main" val="4036967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Evolution des processus 50 J.H à 800</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Dossier architecture, réseau, machine, etc. : 17 J.H à 800</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Recette de l’intégration des identités (UK, FR et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exeternes</a:t>
            </a:r>
            <a:r>
              <a:rPr lang="fr-FR" sz="1800" dirty="0">
                <a:effectLst/>
                <a:latin typeface="Calibri" panose="020F0502020204030204" pitchFamily="34" charset="0"/>
                <a:ea typeface="Calibri" panose="020F0502020204030204" pitchFamily="34" charset="0"/>
                <a:cs typeface="Times New Roman" panose="02020603050405020304" pitchFamily="18" charset="0"/>
              </a:rPr>
              <a:t>) : 30 J.H à 800  </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Accompagnement au changement : 40 J.H à 800</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RFP</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Pilotage : 20% pour J.H ci-dessus (137 J.H) + 15 J.H de RFP  à 800</a:t>
            </a:r>
          </a:p>
          <a:p>
            <a:pPr>
              <a:defRPr/>
            </a:pPr>
            <a:endParaRPr lang="fr-FR" dirty="0"/>
          </a:p>
          <a:p>
            <a:pPr>
              <a:defRPr/>
            </a:pPr>
            <a:r>
              <a:rPr lang="fr-FR" dirty="0"/>
              <a:t>Estimation </a:t>
            </a:r>
            <a:r>
              <a:rPr lang="fr-FR" dirty="0" err="1"/>
              <a:t>price</a:t>
            </a:r>
            <a:r>
              <a:rPr lang="fr-FR" dirty="0"/>
              <a:t> per </a:t>
            </a:r>
            <a:r>
              <a:rPr lang="fr-FR" dirty="0" err="1"/>
              <a:t>year</a:t>
            </a:r>
            <a:r>
              <a:rPr lang="fr-FR" dirty="0"/>
              <a:t> for 10 000 </a:t>
            </a:r>
            <a:r>
              <a:rPr lang="fr-FR" dirty="0" err="1"/>
              <a:t>identities</a:t>
            </a:r>
            <a:r>
              <a:rPr lang="fr-FR" dirty="0"/>
              <a:t> 25€/</a:t>
            </a:r>
            <a:r>
              <a:rPr lang="fr-FR" dirty="0" err="1"/>
              <a:t>identity</a:t>
            </a:r>
            <a:r>
              <a:rPr lang="fr-FR" dirty="0"/>
              <a:t> : 250K€</a:t>
            </a:r>
          </a:p>
          <a:p>
            <a:pPr>
              <a:defRPr/>
            </a:pPr>
            <a:r>
              <a:rPr lang="fr-FR" dirty="0"/>
              <a:t>Estimation </a:t>
            </a:r>
            <a:r>
              <a:rPr lang="fr-FR" dirty="0" err="1"/>
              <a:t>price</a:t>
            </a:r>
            <a:r>
              <a:rPr lang="fr-FR" dirty="0"/>
              <a:t> per </a:t>
            </a:r>
            <a:r>
              <a:rPr lang="fr-FR" dirty="0" err="1"/>
              <a:t>year</a:t>
            </a:r>
            <a:r>
              <a:rPr lang="fr-FR" dirty="0"/>
              <a:t> for 20 000 </a:t>
            </a:r>
            <a:r>
              <a:rPr lang="fr-FR" dirty="0" err="1"/>
              <a:t>identities</a:t>
            </a:r>
            <a:r>
              <a:rPr lang="fr-FR" dirty="0"/>
              <a:t> 15€/</a:t>
            </a:r>
            <a:r>
              <a:rPr lang="fr-FR" dirty="0" err="1"/>
              <a:t>identity</a:t>
            </a:r>
            <a:r>
              <a:rPr lang="fr-FR" dirty="0"/>
              <a:t> : 300 K€</a:t>
            </a: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17</a:t>
            </a:fld>
            <a:endParaRPr lang="fr-FR"/>
          </a:p>
        </p:txBody>
      </p:sp>
    </p:spTree>
    <p:extLst>
      <p:ext uri="{BB962C8B-B14F-4D97-AF65-F5344CB8AC3E}">
        <p14:creationId xmlns:p14="http://schemas.microsoft.com/office/powerpoint/2010/main" val="3465917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defRPr/>
            </a:pPr>
            <a:r>
              <a:rPr lang="fr-FR" dirty="0"/>
              <a:t>Change &amp; </a:t>
            </a:r>
            <a:r>
              <a:rPr lang="fr-FR" dirty="0" err="1"/>
              <a:t>project</a:t>
            </a:r>
            <a:r>
              <a:rPr lang="fr-FR" dirty="0"/>
              <a:t> management : </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Evolution des processus 50 J.H à 800</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Dossier architecture, réseau, machine, etc. : 17 J.H à 800</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Recette de l’intégration des identités (UK, FR et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exeternes</a:t>
            </a:r>
            <a:r>
              <a:rPr lang="fr-FR" sz="1800" dirty="0">
                <a:effectLst/>
                <a:latin typeface="Calibri" panose="020F0502020204030204" pitchFamily="34" charset="0"/>
                <a:ea typeface="Calibri" panose="020F0502020204030204" pitchFamily="34" charset="0"/>
                <a:cs typeface="Times New Roman" panose="02020603050405020304" pitchFamily="18" charset="0"/>
              </a:rPr>
              <a:t>) : 30 J.H à 800  </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Accompagnement au changement : 40 J.H à 800</a:t>
            </a:r>
          </a:p>
          <a:p>
            <a:pPr marL="342900" lvl="0" indent="-342900">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Pilotage : Scénario 2.B Développement : 20% pour J.H ci-dessus (137 J.H) + 20% pour 625 J.H de développement</a:t>
            </a:r>
          </a:p>
          <a:p>
            <a:pPr>
              <a:defRPr/>
            </a:pPr>
            <a:endParaRPr lang="fr-FR" dirty="0">
              <a:cs typeface="Calibri"/>
            </a:endParaRPr>
          </a:p>
          <a:p>
            <a:pPr>
              <a:defRPr/>
            </a:pPr>
            <a:endParaRPr lang="fr-FR" dirty="0">
              <a:cs typeface="Calibri"/>
            </a:endParaRPr>
          </a:p>
          <a:p>
            <a:pPr>
              <a:defRPr/>
            </a:pPr>
            <a:endParaRPr lang="fr-FR" dirty="0">
              <a:cs typeface="Calibri"/>
            </a:endParaRPr>
          </a:p>
          <a:p>
            <a:pPr>
              <a:defRPr/>
            </a:pPr>
            <a:r>
              <a:rPr lang="fr-FR" dirty="0">
                <a:cs typeface="Calibri"/>
              </a:rPr>
              <a:t>Modification des montants de run technique et fonctionnel suite aux retours de Carine</a:t>
            </a:r>
            <a:endParaRPr lang="fr-FR" dirty="0"/>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18</a:t>
            </a:fld>
            <a:endParaRPr lang="fr-FR"/>
          </a:p>
        </p:txBody>
      </p:sp>
    </p:spTree>
    <p:extLst>
      <p:ext uri="{BB962C8B-B14F-4D97-AF65-F5344CB8AC3E}">
        <p14:creationId xmlns:p14="http://schemas.microsoft.com/office/powerpoint/2010/main" val="289034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19</a:t>
            </a:fld>
            <a:endParaRPr lang="fr-FR"/>
          </a:p>
        </p:txBody>
      </p:sp>
    </p:spTree>
    <p:extLst>
      <p:ext uri="{BB962C8B-B14F-4D97-AF65-F5344CB8AC3E}">
        <p14:creationId xmlns:p14="http://schemas.microsoft.com/office/powerpoint/2010/main" val="1197343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cs typeface="Calibri"/>
              </a:rPr>
              <a:t>Quelques centaines de licences à 20 euros/mois </a:t>
            </a:r>
            <a:endParaRPr lang="en-US" dirty="0"/>
          </a:p>
          <a:p>
            <a:r>
              <a:rPr lang="fr-FR" dirty="0">
                <a:cs typeface="Calibri"/>
              </a:rPr>
              <a:t>200*20*12 = 48 000</a:t>
            </a:r>
          </a:p>
          <a:p>
            <a:endParaRPr lang="fr-FR" dirty="0">
              <a:cs typeface="Calibri"/>
            </a:endParaRPr>
          </a:p>
          <a:p>
            <a:r>
              <a:rPr lang="fr-FR" dirty="0">
                <a:cs typeface="Calibri"/>
              </a:rPr>
              <a:t>Réduction support IT </a:t>
            </a:r>
          </a:p>
          <a:p>
            <a:r>
              <a:rPr lang="fr-FR" dirty="0">
                <a:cs typeface="Calibri"/>
              </a:rPr>
              <a:t>Amélioration parcours utilisateurs</a:t>
            </a:r>
          </a:p>
          <a:p>
            <a:r>
              <a:rPr lang="fr-FR" dirty="0">
                <a:cs typeface="Calibri"/>
              </a:rPr>
              <a:t>A voir pour retirer les prix et mettre des gains </a:t>
            </a:r>
            <a:r>
              <a:rPr lang="fr-FR" dirty="0" err="1">
                <a:cs typeface="Calibri"/>
              </a:rPr>
              <a:t>Zero</a:t>
            </a:r>
            <a:r>
              <a:rPr lang="fr-FR" dirty="0">
                <a:cs typeface="Calibri"/>
              </a:rPr>
              <a:t>-trust, sécurité, licence </a:t>
            </a:r>
          </a:p>
          <a:p>
            <a:endParaRPr lang="fr-FR" dirty="0">
              <a:cs typeface="Calibri"/>
            </a:endParaRPr>
          </a:p>
          <a:p>
            <a:r>
              <a:rPr lang="fr-FR" dirty="0">
                <a:cs typeface="Calibri"/>
              </a:rPr>
              <a:t>Rajouter Roadmap scénario IGA</a:t>
            </a:r>
          </a:p>
          <a:p>
            <a:endParaRPr lang="fr-FR" dirty="0">
              <a:cs typeface="Calibri"/>
            </a:endParaRPr>
          </a:p>
          <a:p>
            <a:endParaRPr lang="fr-FR" dirty="0">
              <a:cs typeface="Calibri"/>
            </a:endParaRP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20</a:t>
            </a:fld>
            <a:endParaRPr lang="fr-FR"/>
          </a:p>
        </p:txBody>
      </p:sp>
    </p:spTree>
    <p:extLst>
      <p:ext uri="{BB962C8B-B14F-4D97-AF65-F5344CB8AC3E}">
        <p14:creationId xmlns:p14="http://schemas.microsoft.com/office/powerpoint/2010/main" val="17214024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sz="1200" b="0" i="0" u="none" strike="noStrike" kern="0" cap="none" spc="0" normalizeH="0" baseline="0" noProof="0" dirty="0">
              <a:ln>
                <a:noFill/>
              </a:ln>
              <a:solidFill>
                <a:srgbClr val="003C5A"/>
              </a:solidFill>
              <a:effectLst/>
              <a:uLnTx/>
              <a:uFillTx/>
              <a:latin typeface="Montserrat"/>
            </a:endParaRPr>
          </a:p>
          <a:p>
            <a:endParaRPr lang="fr-FR" dirty="0">
              <a:cs typeface="Calibri"/>
            </a:endParaRPr>
          </a:p>
          <a:p>
            <a:endParaRPr lang="fr-FR" dirty="0">
              <a:cs typeface="Calibri"/>
            </a:endParaRPr>
          </a:p>
        </p:txBody>
      </p:sp>
      <p:sp>
        <p:nvSpPr>
          <p:cNvPr id="4" name="Espace réservé du numéro de diapositive 3"/>
          <p:cNvSpPr>
            <a:spLocks noGrp="1"/>
          </p:cNvSpPr>
          <p:nvPr>
            <p:ph type="sldNum" sz="quarter" idx="5"/>
          </p:nvPr>
        </p:nvSpPr>
        <p:spPr/>
        <p:txBody>
          <a:bodyPr/>
          <a:lstStyle/>
          <a:p>
            <a:fld id="{10BF0D08-4C13-4403-8D1D-D22C53EDB4EE}" type="slidenum">
              <a:rPr lang="fr-FR" smtClean="0"/>
              <a:t>22</a:t>
            </a:fld>
            <a:endParaRPr lang="fr-FR"/>
          </a:p>
        </p:txBody>
      </p:sp>
    </p:spTree>
    <p:extLst>
      <p:ext uri="{BB962C8B-B14F-4D97-AF65-F5344CB8AC3E}">
        <p14:creationId xmlns:p14="http://schemas.microsoft.com/office/powerpoint/2010/main" val="6114218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www.instagram.com/bouygues_construction/" TargetMode="External"/><Relationship Id="rId7" Type="http://schemas.openxmlformats.org/officeDocument/2006/relationships/hyperlink" Target="https://twitter.com/Bouygues_C"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hyperlink" Target="http://www.bouygues-construction.com/" TargetMode="External"/><Relationship Id="rId5" Type="http://schemas.openxmlformats.org/officeDocument/2006/relationships/hyperlink" Target="https://www.linkedin.com/company/bouygues-construction/" TargetMode="Externa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hyperlink" Target="https://www.facebook.com/Bouygues.Construction/"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www.instagram.com/bouygues_construction/" TargetMode="External"/><Relationship Id="rId7" Type="http://schemas.openxmlformats.org/officeDocument/2006/relationships/hyperlink" Target="https://twitter.com/Bouygues_C"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hyperlink" Target="http://www.bouygues-construction.com/" TargetMode="External"/><Relationship Id="rId5" Type="http://schemas.openxmlformats.org/officeDocument/2006/relationships/hyperlink" Target="https://www.linkedin.com/company/bouygues-construction/" TargetMode="Externa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hyperlink" Target="https://www.facebook.com/Bouygues.Construction/"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uverture">
    <p:spTree>
      <p:nvGrpSpPr>
        <p:cNvPr id="1" name=""/>
        <p:cNvGrpSpPr/>
        <p:nvPr/>
      </p:nvGrpSpPr>
      <p:grpSpPr>
        <a:xfrm>
          <a:off x="0" y="0"/>
          <a:ext cx="0" cy="0"/>
          <a:chOff x="0" y="0"/>
          <a:chExt cx="0" cy="0"/>
        </a:xfrm>
      </p:grpSpPr>
      <p:sp>
        <p:nvSpPr>
          <p:cNvPr id="8" name="Espace réservé pour une image  4"/>
          <p:cNvSpPr>
            <a:spLocks noGrp="1"/>
          </p:cNvSpPr>
          <p:nvPr>
            <p:ph type="pic" sz="quarter" idx="15" hasCustomPrompt="1"/>
          </p:nvPr>
        </p:nvSpPr>
        <p:spPr>
          <a:xfrm>
            <a:off x="0" y="0"/>
            <a:ext cx="12192000" cy="5760000"/>
          </a:xfrm>
          <a:blipFill>
            <a:blip r:embed="rId2"/>
            <a:stretch>
              <a:fillRect/>
            </a:stretch>
          </a:blipFill>
        </p:spPr>
        <p:txBody>
          <a:bodyPr/>
          <a:lstStyle>
            <a:lvl1pPr algn="l">
              <a:defRPr sz="1400" baseline="0">
                <a:solidFill>
                  <a:schemeClr val="bg1"/>
                </a:solidFill>
              </a:defRPr>
            </a:lvl1pPr>
          </a:lstStyle>
          <a:p>
            <a:r>
              <a:rPr lang="fr-FR"/>
              <a:t>Cliquez sur l'icône pour remplacer l'image.</a:t>
            </a:r>
          </a:p>
        </p:txBody>
      </p:sp>
      <p:pic>
        <p:nvPicPr>
          <p:cNvPr id="6" name="Imag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27948" y="6068778"/>
            <a:ext cx="2354974" cy="504000"/>
          </a:xfrm>
          <a:prstGeom prst="rect">
            <a:avLst/>
          </a:prstGeom>
        </p:spPr>
      </p:pic>
      <p:sp>
        <p:nvSpPr>
          <p:cNvPr id="11" name="Espace réservé du texte 10"/>
          <p:cNvSpPr>
            <a:spLocks noGrp="1"/>
          </p:cNvSpPr>
          <p:nvPr>
            <p:ph type="body" sz="quarter" idx="14" hasCustomPrompt="1"/>
          </p:nvPr>
        </p:nvSpPr>
        <p:spPr>
          <a:xfrm>
            <a:off x="0" y="2808000"/>
            <a:ext cx="5820748" cy="1692000"/>
          </a:xfrm>
          <a:custGeom>
            <a:avLst/>
            <a:gdLst>
              <a:gd name="connsiteX0" fmla="*/ 0 w 5940000"/>
              <a:gd name="connsiteY0" fmla="*/ 119252 h 1692000"/>
              <a:gd name="connsiteX1" fmla="*/ 119252 w 5940000"/>
              <a:gd name="connsiteY1" fmla="*/ 0 h 1692000"/>
              <a:gd name="connsiteX2" fmla="*/ 5820748 w 5940000"/>
              <a:gd name="connsiteY2" fmla="*/ 0 h 1692000"/>
              <a:gd name="connsiteX3" fmla="*/ 5940000 w 5940000"/>
              <a:gd name="connsiteY3" fmla="*/ 119252 h 1692000"/>
              <a:gd name="connsiteX4" fmla="*/ 5940000 w 5940000"/>
              <a:gd name="connsiteY4" fmla="*/ 1572748 h 1692000"/>
              <a:gd name="connsiteX5" fmla="*/ 5820748 w 5940000"/>
              <a:gd name="connsiteY5" fmla="*/ 1692000 h 1692000"/>
              <a:gd name="connsiteX6" fmla="*/ 119252 w 5940000"/>
              <a:gd name="connsiteY6" fmla="*/ 1692000 h 1692000"/>
              <a:gd name="connsiteX7" fmla="*/ 0 w 5940000"/>
              <a:gd name="connsiteY7" fmla="*/ 1572748 h 1692000"/>
              <a:gd name="connsiteX8" fmla="*/ 0 w 5940000"/>
              <a:gd name="connsiteY8" fmla="*/ 119252 h 1692000"/>
              <a:gd name="connsiteX0" fmla="*/ 0 w 5940000"/>
              <a:gd name="connsiteY0" fmla="*/ 119252 h 1692000"/>
              <a:gd name="connsiteX1" fmla="*/ 119252 w 5940000"/>
              <a:gd name="connsiteY1" fmla="*/ 0 h 1692000"/>
              <a:gd name="connsiteX2" fmla="*/ 5820748 w 5940000"/>
              <a:gd name="connsiteY2" fmla="*/ 0 h 1692000"/>
              <a:gd name="connsiteX3" fmla="*/ 5940000 w 5940000"/>
              <a:gd name="connsiteY3" fmla="*/ 119252 h 1692000"/>
              <a:gd name="connsiteX4" fmla="*/ 5940000 w 5940000"/>
              <a:gd name="connsiteY4" fmla="*/ 1572748 h 1692000"/>
              <a:gd name="connsiteX5" fmla="*/ 5820748 w 5940000"/>
              <a:gd name="connsiteY5" fmla="*/ 1692000 h 1692000"/>
              <a:gd name="connsiteX6" fmla="*/ 119252 w 5940000"/>
              <a:gd name="connsiteY6" fmla="*/ 1692000 h 1692000"/>
              <a:gd name="connsiteX7" fmla="*/ 0 w 5940000"/>
              <a:gd name="connsiteY7" fmla="*/ 1572748 h 1692000"/>
              <a:gd name="connsiteX8" fmla="*/ 91440 w 5940000"/>
              <a:gd name="connsiteY8" fmla="*/ 210692 h 1692000"/>
              <a:gd name="connsiteX0" fmla="*/ 119252 w 5940000"/>
              <a:gd name="connsiteY0" fmla="*/ 0 h 1692000"/>
              <a:gd name="connsiteX1" fmla="*/ 5820748 w 5940000"/>
              <a:gd name="connsiteY1" fmla="*/ 0 h 1692000"/>
              <a:gd name="connsiteX2" fmla="*/ 5940000 w 5940000"/>
              <a:gd name="connsiteY2" fmla="*/ 119252 h 1692000"/>
              <a:gd name="connsiteX3" fmla="*/ 5940000 w 5940000"/>
              <a:gd name="connsiteY3" fmla="*/ 1572748 h 1692000"/>
              <a:gd name="connsiteX4" fmla="*/ 5820748 w 5940000"/>
              <a:gd name="connsiteY4" fmla="*/ 1692000 h 1692000"/>
              <a:gd name="connsiteX5" fmla="*/ 119252 w 5940000"/>
              <a:gd name="connsiteY5" fmla="*/ 1692000 h 1692000"/>
              <a:gd name="connsiteX6" fmla="*/ 0 w 5940000"/>
              <a:gd name="connsiteY6" fmla="*/ 1572748 h 1692000"/>
              <a:gd name="connsiteX7" fmla="*/ 91440 w 5940000"/>
              <a:gd name="connsiteY7" fmla="*/ 210692 h 1692000"/>
              <a:gd name="connsiteX0" fmla="*/ 430403 w 6251151"/>
              <a:gd name="connsiteY0" fmla="*/ 0 h 1692000"/>
              <a:gd name="connsiteX1" fmla="*/ 6131899 w 6251151"/>
              <a:gd name="connsiteY1" fmla="*/ 0 h 1692000"/>
              <a:gd name="connsiteX2" fmla="*/ 6251151 w 6251151"/>
              <a:gd name="connsiteY2" fmla="*/ 119252 h 1692000"/>
              <a:gd name="connsiteX3" fmla="*/ 6251151 w 6251151"/>
              <a:gd name="connsiteY3" fmla="*/ 1572748 h 1692000"/>
              <a:gd name="connsiteX4" fmla="*/ 6131899 w 6251151"/>
              <a:gd name="connsiteY4" fmla="*/ 1692000 h 1692000"/>
              <a:gd name="connsiteX5" fmla="*/ 430403 w 6251151"/>
              <a:gd name="connsiteY5" fmla="*/ 1692000 h 1692000"/>
              <a:gd name="connsiteX6" fmla="*/ 402591 w 6251151"/>
              <a:gd name="connsiteY6" fmla="*/ 210692 h 1692000"/>
              <a:gd name="connsiteX0" fmla="*/ 0 w 5820748"/>
              <a:gd name="connsiteY0" fmla="*/ 0 h 1692000"/>
              <a:gd name="connsiteX1" fmla="*/ 5701496 w 5820748"/>
              <a:gd name="connsiteY1" fmla="*/ 0 h 1692000"/>
              <a:gd name="connsiteX2" fmla="*/ 5820748 w 5820748"/>
              <a:gd name="connsiteY2" fmla="*/ 119252 h 1692000"/>
              <a:gd name="connsiteX3" fmla="*/ 5820748 w 5820748"/>
              <a:gd name="connsiteY3" fmla="*/ 1572748 h 1692000"/>
              <a:gd name="connsiteX4" fmla="*/ 5701496 w 5820748"/>
              <a:gd name="connsiteY4" fmla="*/ 1692000 h 1692000"/>
              <a:gd name="connsiteX5" fmla="*/ 0 w 5820748"/>
              <a:gd name="connsiteY5" fmla="*/ 1692000 h 16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20748" h="1692000">
                <a:moveTo>
                  <a:pt x="0" y="0"/>
                </a:moveTo>
                <a:lnTo>
                  <a:pt x="5701496" y="0"/>
                </a:lnTo>
                <a:cubicBezTo>
                  <a:pt x="5767357" y="0"/>
                  <a:pt x="5820748" y="53391"/>
                  <a:pt x="5820748" y="119252"/>
                </a:cubicBezTo>
                <a:lnTo>
                  <a:pt x="5820748" y="1572748"/>
                </a:lnTo>
                <a:cubicBezTo>
                  <a:pt x="5820748" y="1638609"/>
                  <a:pt x="5767357" y="1692000"/>
                  <a:pt x="5701496" y="1692000"/>
                </a:cubicBezTo>
                <a:lnTo>
                  <a:pt x="0" y="1692000"/>
                </a:lnTo>
              </a:path>
            </a:pathLst>
          </a:custGeom>
          <a:solidFill>
            <a:schemeClr val="tx2"/>
          </a:solidFill>
        </p:spPr>
        <p:txBody>
          <a:bodyPr lIns="432000" tIns="72000" rIns="108000" bIns="72000" anchor="ctr"/>
          <a:lstStyle>
            <a:lvl1pPr>
              <a:lnSpc>
                <a:spcPct val="90000"/>
              </a:lnSpc>
              <a:defRPr sz="3700" b="1" cap="all" baseline="0">
                <a:solidFill>
                  <a:schemeClr val="bg1"/>
                </a:solidFill>
                <a:latin typeface="+mj-lt"/>
              </a:defRPr>
            </a:lvl1pPr>
            <a:lvl2pPr>
              <a:spcBef>
                <a:spcPts val="0"/>
              </a:spcBef>
              <a:defRPr sz="1500">
                <a:solidFill>
                  <a:schemeClr val="bg1"/>
                </a:solidFill>
              </a:defRPr>
            </a:lvl2pPr>
          </a:lstStyle>
          <a:p>
            <a:pPr lvl="0"/>
            <a:r>
              <a:rPr lang="fr-FR"/>
              <a:t>TITRE</a:t>
            </a:r>
          </a:p>
          <a:p>
            <a:pPr lvl="1"/>
            <a:r>
              <a:rPr lang="fr-FR"/>
              <a:t>Deuxième niveau</a:t>
            </a:r>
          </a:p>
        </p:txBody>
      </p:sp>
    </p:spTree>
    <p:extLst>
      <p:ext uri="{BB962C8B-B14F-4D97-AF65-F5344CB8AC3E}">
        <p14:creationId xmlns:p14="http://schemas.microsoft.com/office/powerpoint/2010/main" val="1717106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maire">
    <p:bg>
      <p:bgPr>
        <a:solidFill>
          <a:schemeClr val="bg1"/>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86255" y="0"/>
            <a:ext cx="10905745" cy="6858000"/>
          </a:xfrm>
          <a:prstGeom prst="rect">
            <a:avLst/>
          </a:prstGeom>
        </p:spPr>
      </p:pic>
      <p:sp>
        <p:nvSpPr>
          <p:cNvPr id="4" name="Espace réservé du texte 3"/>
          <p:cNvSpPr>
            <a:spLocks noGrp="1"/>
          </p:cNvSpPr>
          <p:nvPr>
            <p:ph type="body" sz="quarter" idx="11"/>
          </p:nvPr>
        </p:nvSpPr>
        <p:spPr>
          <a:xfrm>
            <a:off x="4656658" y="980728"/>
            <a:ext cx="5111750" cy="5148610"/>
          </a:xfrm>
        </p:spPr>
        <p:txBody>
          <a:bodyPr/>
          <a:lstStyle>
            <a:lvl1pPr marL="288000" indent="-288000" defTabSz="914400">
              <a:lnSpc>
                <a:spcPct val="100000"/>
              </a:lnSpc>
              <a:spcBef>
                <a:spcPts val="1000"/>
              </a:spcBef>
              <a:spcAft>
                <a:spcPts val="300"/>
              </a:spcAft>
              <a:buFont typeface="+mj-lt"/>
              <a:buAutoNum type="romanUcPeriod"/>
              <a:tabLst>
                <a:tab pos="4660900" algn="r"/>
              </a:tabLst>
              <a:defRPr sz="2000" b="1" cap="all" baseline="0">
                <a:solidFill>
                  <a:schemeClr val="tx2"/>
                </a:solidFill>
                <a:latin typeface="+mj-lt"/>
              </a:defRPr>
            </a:lvl1pPr>
            <a:lvl2pPr marL="288000" indent="0">
              <a:lnSpc>
                <a:spcPct val="120000"/>
              </a:lnSpc>
              <a:spcBef>
                <a:spcPts val="0"/>
              </a:spcBef>
              <a:tabLst>
                <a:tab pos="4660900" algn="r"/>
              </a:tabLst>
              <a:defRPr sz="1250"/>
            </a:lvl2pPr>
            <a:lvl3pPr marL="360000">
              <a:defRPr sz="1250"/>
            </a:lvl3pPr>
            <a:lvl4pPr marL="360000">
              <a:defRPr sz="1250"/>
            </a:lvl4pPr>
            <a:lvl5pPr marL="360000">
              <a:defRPr sz="1250"/>
            </a:lvl5pPr>
          </a:lstStyle>
          <a:p>
            <a:pPr lvl="0"/>
            <a:r>
              <a:rPr lang="fr-FR"/>
              <a:t>Modifiez les styles du texte du masque</a:t>
            </a:r>
          </a:p>
          <a:p>
            <a:pPr lvl="1"/>
            <a:r>
              <a:rPr lang="fr-FR"/>
              <a:t>Deuxième niveau</a:t>
            </a:r>
          </a:p>
        </p:txBody>
      </p:sp>
      <p:sp>
        <p:nvSpPr>
          <p:cNvPr id="5" name="Espace réservé du pied de page 4"/>
          <p:cNvSpPr>
            <a:spLocks noGrp="1"/>
          </p:cNvSpPr>
          <p:nvPr>
            <p:ph type="ftr" sz="quarter" idx="12"/>
          </p:nvPr>
        </p:nvSpPr>
        <p:spPr/>
        <p:txBody>
          <a:bodyPr/>
          <a:lstStyle/>
          <a:p>
            <a:r>
              <a:rPr lang="fr-FR"/>
              <a:t>Bouygues Construction  |  Mois Année</a:t>
            </a:r>
          </a:p>
        </p:txBody>
      </p:sp>
      <p:sp>
        <p:nvSpPr>
          <p:cNvPr id="6" name="Espace réservé du numéro de diapositive 5"/>
          <p:cNvSpPr>
            <a:spLocks noGrp="1"/>
          </p:cNvSpPr>
          <p:nvPr>
            <p:ph type="sldNum" sz="quarter" idx="13"/>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1498974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itre couleur">
    <p:bg>
      <p:bgPr>
        <a:solidFill>
          <a:schemeClr val="tx2"/>
        </a:solidFill>
        <a:effectLst/>
      </p:bgPr>
    </p:bg>
    <p:spTree>
      <p:nvGrpSpPr>
        <p:cNvPr id="1" name=""/>
        <p:cNvGrpSpPr/>
        <p:nvPr/>
      </p:nvGrpSpPr>
      <p:grpSpPr>
        <a:xfrm>
          <a:off x="0" y="0"/>
          <a:ext cx="0" cy="0"/>
          <a:chOff x="0" y="0"/>
          <a:chExt cx="0" cy="0"/>
        </a:xfrm>
      </p:grpSpPr>
      <p:sp>
        <p:nvSpPr>
          <p:cNvPr id="6" name="Espace réservé du texte 12"/>
          <p:cNvSpPr>
            <a:spLocks noGrp="1"/>
          </p:cNvSpPr>
          <p:nvPr>
            <p:ph type="body" sz="quarter" idx="14" hasCustomPrompt="1"/>
          </p:nvPr>
        </p:nvSpPr>
        <p:spPr>
          <a:xfrm>
            <a:off x="3801345" y="116632"/>
            <a:ext cx="1539451" cy="3096344"/>
          </a:xfrm>
        </p:spPr>
        <p:txBody>
          <a:bodyPr wrap="none">
            <a:noAutofit/>
          </a:bodyPr>
          <a:lstStyle>
            <a:lvl1pPr>
              <a:lnSpc>
                <a:spcPct val="90000"/>
              </a:lnSpc>
              <a:defRPr sz="26000" b="1">
                <a:ln w="19050">
                  <a:solidFill>
                    <a:schemeClr val="bg1"/>
                  </a:solidFill>
                </a:ln>
                <a:noFill/>
                <a:latin typeface="+mj-lt"/>
              </a:defRPr>
            </a:lvl1pPr>
            <a:lvl2pPr>
              <a:lnSpc>
                <a:spcPct val="90000"/>
              </a:lnSpc>
              <a:spcBef>
                <a:spcPts val="0"/>
              </a:spcBef>
              <a:defRPr sz="1700" b="1" cap="all" baseline="0">
                <a:ln>
                  <a:solidFill>
                    <a:schemeClr val="bg1"/>
                  </a:solidFill>
                </a:ln>
                <a:solidFill>
                  <a:schemeClr val="tx2"/>
                </a:solidFill>
                <a:latin typeface="+mn-lt"/>
              </a:defRPr>
            </a:lvl2pPr>
            <a:lvl3pPr marL="0" indent="0">
              <a:lnSpc>
                <a:spcPct val="100000"/>
              </a:lnSpc>
              <a:spcBef>
                <a:spcPts val="0"/>
              </a:spcBef>
              <a:buFontTx/>
              <a:buNone/>
              <a:defRPr sz="1400">
                <a:ln>
                  <a:solidFill>
                    <a:schemeClr val="bg1"/>
                  </a:solidFill>
                </a:ln>
                <a:solidFill>
                  <a:schemeClr val="tx2"/>
                </a:solidFill>
                <a:latin typeface="+mn-lt"/>
              </a:defRPr>
            </a:lvl3pPr>
          </a:lstStyle>
          <a:p>
            <a:pPr lvl="0"/>
            <a:r>
              <a:rPr lang="fr-FR"/>
              <a:t>0</a:t>
            </a:r>
          </a:p>
        </p:txBody>
      </p:sp>
      <p:sp>
        <p:nvSpPr>
          <p:cNvPr id="9" name="Espace réservé du texte 8"/>
          <p:cNvSpPr>
            <a:spLocks noGrp="1"/>
          </p:cNvSpPr>
          <p:nvPr>
            <p:ph type="body" sz="quarter" idx="24"/>
          </p:nvPr>
        </p:nvSpPr>
        <p:spPr>
          <a:xfrm>
            <a:off x="3828628" y="3501317"/>
            <a:ext cx="7920000" cy="2339951"/>
          </a:xfrm>
        </p:spPr>
        <p:txBody>
          <a:bodyPr/>
          <a:lstStyle>
            <a:lvl1pPr marL="0">
              <a:lnSpc>
                <a:spcPct val="90000"/>
              </a:lnSpc>
              <a:spcBef>
                <a:spcPts val="0"/>
              </a:spcBef>
              <a:spcAft>
                <a:spcPts val="600"/>
              </a:spcAft>
              <a:buFontTx/>
              <a:buNone/>
              <a:defRPr sz="5000" cap="all" baseline="0">
                <a:solidFill>
                  <a:schemeClr val="bg1"/>
                </a:solidFill>
                <a:latin typeface="+mj-lt"/>
              </a:defRPr>
            </a:lvl1pPr>
            <a:lvl2pPr marL="0">
              <a:lnSpc>
                <a:spcPct val="120000"/>
              </a:lnSpc>
              <a:spcBef>
                <a:spcPts val="0"/>
              </a:spcBef>
              <a:buFontTx/>
              <a:buNone/>
              <a:defRPr sz="2100" b="0">
                <a:solidFill>
                  <a:schemeClr val="bg1"/>
                </a:solidFill>
                <a:latin typeface="Barlow Condensed Medium" panose="00000606000000000000" pitchFamily="2" charset="0"/>
              </a:defRPr>
            </a:lvl2pPr>
            <a:lvl3pPr marL="0" indent="0">
              <a:spcBef>
                <a:spcPts val="0"/>
              </a:spcBef>
              <a:buFontTx/>
              <a:buNone/>
              <a:defRPr>
                <a:solidFill>
                  <a:schemeClr val="bg1"/>
                </a:solidFill>
              </a:defRPr>
            </a:lvl3pPr>
            <a:lvl4pPr marL="0" indent="0">
              <a:spcBef>
                <a:spcPts val="0"/>
              </a:spcBef>
              <a:buFontTx/>
              <a:buNone/>
              <a:defRPr>
                <a:solidFill>
                  <a:schemeClr val="bg1"/>
                </a:solidFill>
              </a:defRPr>
            </a:lvl4pPr>
            <a:lvl5pPr marL="0">
              <a:spcBef>
                <a:spcPts val="0"/>
              </a:spcBef>
              <a:buFontTx/>
              <a:buNone/>
              <a:defRPr>
                <a:solidFill>
                  <a:schemeClr val="bg1"/>
                </a:solidFill>
              </a:defRPr>
            </a:lvl5pPr>
          </a:lstStyle>
          <a:p>
            <a:pPr lvl="0"/>
            <a:r>
              <a:rPr lang="fr-FR"/>
              <a:t>Modifiez les styles du texte du masque</a:t>
            </a:r>
          </a:p>
          <a:p>
            <a:pPr lvl="1"/>
            <a:r>
              <a:rPr lang="fr-FR"/>
              <a:t>Deuxième niveau</a:t>
            </a:r>
          </a:p>
        </p:txBody>
      </p:sp>
      <p:sp>
        <p:nvSpPr>
          <p:cNvPr id="4" name="Espace réservé pour une image  3"/>
          <p:cNvSpPr>
            <a:spLocks noGrp="1"/>
          </p:cNvSpPr>
          <p:nvPr>
            <p:ph type="pic" sz="quarter" idx="25"/>
          </p:nvPr>
        </p:nvSpPr>
        <p:spPr>
          <a:xfrm>
            <a:off x="0" y="0"/>
            <a:ext cx="3151188" cy="6858000"/>
          </a:xfrm>
          <a:blipFill>
            <a:blip r:embed="rId2"/>
            <a:stretch>
              <a:fillRect/>
            </a:stretch>
          </a:blipFill>
        </p:spPr>
        <p:txBody>
          <a:bodyPr anchor="t"/>
          <a:lstStyle>
            <a:lvl1pPr algn="ctr">
              <a:defRPr sz="1400" b="1">
                <a:solidFill>
                  <a:schemeClr val="bg1"/>
                </a:solidFill>
              </a:defRPr>
            </a:lvl1pPr>
          </a:lstStyle>
          <a:p>
            <a:endParaRPr lang="fr-FR"/>
          </a:p>
        </p:txBody>
      </p:sp>
    </p:spTree>
    <p:extLst>
      <p:ext uri="{BB962C8B-B14F-4D97-AF65-F5344CB8AC3E}">
        <p14:creationId xmlns:p14="http://schemas.microsoft.com/office/powerpoint/2010/main" val="272230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itre blanc">
    <p:bg>
      <p:bgPr>
        <a:solidFill>
          <a:schemeClr val="bg1"/>
        </a:solidFill>
        <a:effectLst/>
      </p:bgPr>
    </p:bg>
    <p:spTree>
      <p:nvGrpSpPr>
        <p:cNvPr id="1" name=""/>
        <p:cNvGrpSpPr/>
        <p:nvPr/>
      </p:nvGrpSpPr>
      <p:grpSpPr>
        <a:xfrm>
          <a:off x="0" y="0"/>
          <a:ext cx="0" cy="0"/>
          <a:chOff x="0" y="0"/>
          <a:chExt cx="0" cy="0"/>
        </a:xfrm>
      </p:grpSpPr>
      <p:sp>
        <p:nvSpPr>
          <p:cNvPr id="8" name="Espace réservé pour une image  3"/>
          <p:cNvSpPr>
            <a:spLocks noGrp="1"/>
          </p:cNvSpPr>
          <p:nvPr>
            <p:ph type="pic" sz="quarter" idx="25"/>
          </p:nvPr>
        </p:nvSpPr>
        <p:spPr>
          <a:xfrm>
            <a:off x="0" y="0"/>
            <a:ext cx="3151188" cy="6858000"/>
          </a:xfrm>
          <a:blipFill>
            <a:blip r:embed="rId2"/>
            <a:stretch>
              <a:fillRect/>
            </a:stretch>
          </a:blipFill>
        </p:spPr>
        <p:txBody>
          <a:bodyPr anchor="t"/>
          <a:lstStyle>
            <a:lvl1pPr algn="ctr">
              <a:defRPr sz="1400" b="1">
                <a:solidFill>
                  <a:schemeClr val="bg1"/>
                </a:solidFill>
              </a:defRPr>
            </a:lvl1pPr>
          </a:lstStyle>
          <a:p>
            <a:endParaRPr lang="fr-FR"/>
          </a:p>
        </p:txBody>
      </p:sp>
      <p:sp>
        <p:nvSpPr>
          <p:cNvPr id="3" name="Rectangle 2"/>
          <p:cNvSpPr/>
          <p:nvPr userDrawn="1"/>
        </p:nvSpPr>
        <p:spPr>
          <a:xfrm>
            <a:off x="3148776" y="0"/>
            <a:ext cx="21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texte 12"/>
          <p:cNvSpPr>
            <a:spLocks noGrp="1"/>
          </p:cNvSpPr>
          <p:nvPr>
            <p:ph type="body" sz="quarter" idx="14" hasCustomPrompt="1"/>
          </p:nvPr>
        </p:nvSpPr>
        <p:spPr>
          <a:xfrm>
            <a:off x="3801345" y="116632"/>
            <a:ext cx="1539451" cy="3096344"/>
          </a:xfrm>
        </p:spPr>
        <p:txBody>
          <a:bodyPr wrap="none">
            <a:noAutofit/>
          </a:bodyPr>
          <a:lstStyle>
            <a:lvl1pPr>
              <a:lnSpc>
                <a:spcPct val="90000"/>
              </a:lnSpc>
              <a:defRPr sz="26000" b="1">
                <a:ln w="19050">
                  <a:solidFill>
                    <a:schemeClr val="tx2"/>
                  </a:solidFill>
                </a:ln>
                <a:noFill/>
                <a:latin typeface="+mj-lt"/>
              </a:defRPr>
            </a:lvl1pPr>
            <a:lvl2pPr>
              <a:lnSpc>
                <a:spcPct val="90000"/>
              </a:lnSpc>
              <a:spcBef>
                <a:spcPts val="0"/>
              </a:spcBef>
              <a:defRPr sz="1700" b="1" cap="all" baseline="0">
                <a:ln>
                  <a:solidFill>
                    <a:schemeClr val="bg1"/>
                  </a:solidFill>
                </a:ln>
                <a:solidFill>
                  <a:schemeClr val="tx2"/>
                </a:solidFill>
                <a:latin typeface="+mn-lt"/>
              </a:defRPr>
            </a:lvl2pPr>
            <a:lvl3pPr marL="0" indent="0">
              <a:lnSpc>
                <a:spcPct val="100000"/>
              </a:lnSpc>
              <a:spcBef>
                <a:spcPts val="0"/>
              </a:spcBef>
              <a:buFontTx/>
              <a:buNone/>
              <a:defRPr sz="1400">
                <a:ln>
                  <a:solidFill>
                    <a:schemeClr val="bg1"/>
                  </a:solidFill>
                </a:ln>
                <a:solidFill>
                  <a:schemeClr val="tx2"/>
                </a:solidFill>
                <a:latin typeface="+mn-lt"/>
              </a:defRPr>
            </a:lvl3pPr>
          </a:lstStyle>
          <a:p>
            <a:pPr lvl="0"/>
            <a:r>
              <a:rPr lang="fr-FR"/>
              <a:t>0</a:t>
            </a:r>
          </a:p>
        </p:txBody>
      </p:sp>
      <p:sp>
        <p:nvSpPr>
          <p:cNvPr id="9" name="Espace réservé du texte 8"/>
          <p:cNvSpPr>
            <a:spLocks noGrp="1"/>
          </p:cNvSpPr>
          <p:nvPr>
            <p:ph type="body" sz="quarter" idx="24"/>
          </p:nvPr>
        </p:nvSpPr>
        <p:spPr>
          <a:xfrm>
            <a:off x="3828628" y="3501317"/>
            <a:ext cx="7920000" cy="2339951"/>
          </a:xfrm>
        </p:spPr>
        <p:txBody>
          <a:bodyPr/>
          <a:lstStyle>
            <a:lvl1pPr marL="0">
              <a:lnSpc>
                <a:spcPct val="90000"/>
              </a:lnSpc>
              <a:spcBef>
                <a:spcPts val="0"/>
              </a:spcBef>
              <a:spcAft>
                <a:spcPts val="600"/>
              </a:spcAft>
              <a:buFontTx/>
              <a:buNone/>
              <a:defRPr sz="5000" cap="all" baseline="0">
                <a:solidFill>
                  <a:schemeClr val="tx2"/>
                </a:solidFill>
                <a:latin typeface="+mj-lt"/>
              </a:defRPr>
            </a:lvl1pPr>
            <a:lvl2pPr marL="0">
              <a:lnSpc>
                <a:spcPct val="120000"/>
              </a:lnSpc>
              <a:spcBef>
                <a:spcPts val="0"/>
              </a:spcBef>
              <a:buFontTx/>
              <a:buNone/>
              <a:defRPr sz="2100" b="0">
                <a:solidFill>
                  <a:schemeClr val="tx2"/>
                </a:solidFill>
                <a:latin typeface="Barlow Condensed Medium" panose="00000606000000000000" pitchFamily="2" charset="0"/>
              </a:defRPr>
            </a:lvl2pPr>
            <a:lvl3pPr marL="0" indent="0">
              <a:spcBef>
                <a:spcPts val="0"/>
              </a:spcBef>
              <a:buFontTx/>
              <a:buNone/>
              <a:defRPr>
                <a:solidFill>
                  <a:schemeClr val="bg1"/>
                </a:solidFill>
              </a:defRPr>
            </a:lvl3pPr>
            <a:lvl4pPr marL="0" indent="0">
              <a:spcBef>
                <a:spcPts val="0"/>
              </a:spcBef>
              <a:buFontTx/>
              <a:buNone/>
              <a:defRPr>
                <a:solidFill>
                  <a:schemeClr val="bg1"/>
                </a:solidFill>
              </a:defRPr>
            </a:lvl4pPr>
            <a:lvl5pPr marL="0">
              <a:spcBef>
                <a:spcPts val="0"/>
              </a:spcBef>
              <a:buFontTx/>
              <a:buNone/>
              <a:defRPr>
                <a:solidFill>
                  <a:schemeClr val="bg1"/>
                </a:solidFill>
              </a:defRPr>
            </a:lvl5pPr>
          </a:lstStyle>
          <a:p>
            <a:pPr lvl="0"/>
            <a:r>
              <a:rPr lang="fr-FR"/>
              <a:t>Modifiez les styles du texte du masque</a:t>
            </a:r>
          </a:p>
          <a:p>
            <a:pPr lvl="1"/>
            <a:r>
              <a:rPr lang="fr-FR"/>
              <a:t>Deuxième niveau</a:t>
            </a:r>
          </a:p>
        </p:txBody>
      </p:sp>
    </p:spTree>
    <p:extLst>
      <p:ext uri="{BB962C8B-B14F-4D97-AF65-F5344CB8AC3E}">
        <p14:creationId xmlns:p14="http://schemas.microsoft.com/office/powerpoint/2010/main" val="1709899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e 1 colonn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6" name="Espace réservé du texte 5"/>
          <p:cNvSpPr>
            <a:spLocks noGrp="1"/>
          </p:cNvSpPr>
          <p:nvPr>
            <p:ph type="body" sz="quarter" idx="12"/>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6"/>
          <p:cNvSpPr/>
          <p:nvPr userDrawn="1"/>
        </p:nvSpPr>
        <p:spPr>
          <a:xfrm>
            <a:off x="0" y="728752"/>
            <a:ext cx="720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p:cNvSpPr>
            <a:spLocks noGrp="1"/>
          </p:cNvSpPr>
          <p:nvPr>
            <p:ph type="ftr" sz="quarter" idx="13"/>
          </p:nvPr>
        </p:nvSpPr>
        <p:spPr/>
        <p:txBody>
          <a:bodyPr/>
          <a:lstStyle/>
          <a:p>
            <a:r>
              <a:rPr lang="fr-FR"/>
              <a:t>Bouygues Construction  |  Mois Année</a:t>
            </a:r>
          </a:p>
        </p:txBody>
      </p:sp>
      <p:sp>
        <p:nvSpPr>
          <p:cNvPr id="8" name="Espace réservé du numéro de diapositive 7"/>
          <p:cNvSpPr>
            <a:spLocks noGrp="1"/>
          </p:cNvSpPr>
          <p:nvPr>
            <p:ph type="sldNum" sz="quarter" idx="14"/>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60889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e + Visuel vertical">
    <p:spTree>
      <p:nvGrpSpPr>
        <p:cNvPr id="1" name=""/>
        <p:cNvGrpSpPr/>
        <p:nvPr/>
      </p:nvGrpSpPr>
      <p:grpSpPr>
        <a:xfrm>
          <a:off x="0" y="0"/>
          <a:ext cx="0" cy="0"/>
          <a:chOff x="0" y="0"/>
          <a:chExt cx="0" cy="0"/>
        </a:xfrm>
      </p:grpSpPr>
      <p:sp>
        <p:nvSpPr>
          <p:cNvPr id="10" name="Espace réservé pour une image  9"/>
          <p:cNvSpPr>
            <a:spLocks noGrp="1"/>
          </p:cNvSpPr>
          <p:nvPr>
            <p:ph type="pic" sz="quarter" idx="23"/>
          </p:nvPr>
        </p:nvSpPr>
        <p:spPr>
          <a:xfrm>
            <a:off x="6540000" y="0"/>
            <a:ext cx="5652000" cy="6858000"/>
          </a:xfrm>
          <a:pattFill prst="openDmnd">
            <a:fgClr>
              <a:schemeClr val="bg1">
                <a:lumMod val="85000"/>
              </a:schemeClr>
            </a:fgClr>
            <a:bgClr>
              <a:schemeClr val="bg1"/>
            </a:bgClr>
          </a:pattFill>
        </p:spPr>
        <p:txBody>
          <a:bodyPr anchor="ctr"/>
          <a:lstStyle>
            <a:lvl1pPr algn="ctr">
              <a:defRPr sz="1200" b="0" baseline="0"/>
            </a:lvl1pPr>
          </a:lstStyle>
          <a:p>
            <a:r>
              <a:rPr lang="fr-FR"/>
              <a:t>Cliquez sur l'icône pour ajouter une image</a:t>
            </a:r>
          </a:p>
        </p:txBody>
      </p:sp>
      <p:sp>
        <p:nvSpPr>
          <p:cNvPr id="2" name="Titre 1"/>
          <p:cNvSpPr>
            <a:spLocks noGrp="1"/>
          </p:cNvSpPr>
          <p:nvPr>
            <p:ph type="title"/>
          </p:nvPr>
        </p:nvSpPr>
        <p:spPr>
          <a:xfrm>
            <a:off x="982663" y="692696"/>
            <a:ext cx="4968714" cy="1296144"/>
          </a:xfrm>
        </p:spPr>
        <p:txBody>
          <a:bodyPr anchor="t"/>
          <a:lstStyle/>
          <a:p>
            <a:r>
              <a:rPr lang="fr-FR"/>
              <a:t>Modifiez le style du titre</a:t>
            </a:r>
          </a:p>
        </p:txBody>
      </p:sp>
      <p:sp>
        <p:nvSpPr>
          <p:cNvPr id="6" name="Rectangle 5"/>
          <p:cNvSpPr/>
          <p:nvPr userDrawn="1"/>
        </p:nvSpPr>
        <p:spPr>
          <a:xfrm>
            <a:off x="0" y="728752"/>
            <a:ext cx="720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p:cNvSpPr>
            <a:spLocks noGrp="1"/>
          </p:cNvSpPr>
          <p:nvPr>
            <p:ph type="body" sz="quarter" idx="12"/>
          </p:nvPr>
        </p:nvSpPr>
        <p:spPr>
          <a:xfrm>
            <a:off x="982663" y="2240868"/>
            <a:ext cx="4969321" cy="3384376"/>
          </a:xfrm>
        </p:spPr>
        <p:txBody>
          <a:bodyPr/>
          <a:lstStyle>
            <a:lvl1pPr>
              <a:defRPr sz="1800" b="1"/>
            </a:lvl1pPr>
            <a:lvl2pPr>
              <a:spcBef>
                <a:spcPts val="1000"/>
              </a:spcBef>
              <a:defRPr/>
            </a:lvl2pPr>
            <a:lvl3pPr marL="180000">
              <a:defRPr/>
            </a:lvl3pPr>
            <a:lvl4pPr marL="32400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p:cNvSpPr>
            <a:spLocks noGrp="1"/>
          </p:cNvSpPr>
          <p:nvPr>
            <p:ph type="body" sz="quarter" idx="26" hasCustomPrompt="1"/>
          </p:nvPr>
        </p:nvSpPr>
        <p:spPr>
          <a:xfrm>
            <a:off x="986061" y="5820639"/>
            <a:ext cx="1404000" cy="396000"/>
          </a:xfrm>
          <a:prstGeom prst="roundRect">
            <a:avLst>
              <a:gd name="adj" fmla="val 50000"/>
            </a:avLst>
          </a:prstGeom>
          <a:solidFill>
            <a:schemeClr val="accent2"/>
          </a:solidFill>
          <a:ln>
            <a:noFill/>
          </a:ln>
        </p:spPr>
        <p:txBody>
          <a:bodyPr wrap="none" anchor="ctr"/>
          <a:lstStyle>
            <a:lvl1pPr algn="ctr">
              <a:lnSpc>
                <a:spcPct val="100000"/>
              </a:lnSpc>
              <a:defRPr sz="1700" b="1" cap="none" baseline="0">
                <a:solidFill>
                  <a:schemeClr val="bg1"/>
                </a:solidFill>
                <a:latin typeface="+mn-lt"/>
              </a:defRPr>
            </a:lvl1pPr>
          </a:lstStyle>
          <a:p>
            <a:pPr lvl="0"/>
            <a:r>
              <a:rPr lang="fr-FR"/>
              <a:t>Rubrique</a:t>
            </a:r>
          </a:p>
        </p:txBody>
      </p:sp>
      <p:sp>
        <p:nvSpPr>
          <p:cNvPr id="14" name="Espace réservé du texte 11"/>
          <p:cNvSpPr>
            <a:spLocks noGrp="1"/>
          </p:cNvSpPr>
          <p:nvPr>
            <p:ph type="body" sz="quarter" idx="27" hasCustomPrompt="1"/>
          </p:nvPr>
        </p:nvSpPr>
        <p:spPr>
          <a:xfrm>
            <a:off x="2489878" y="5820639"/>
            <a:ext cx="2057950" cy="396000"/>
          </a:xfrm>
          <a:prstGeom prst="roundRect">
            <a:avLst>
              <a:gd name="adj" fmla="val 50000"/>
            </a:avLst>
          </a:prstGeom>
          <a:solidFill>
            <a:schemeClr val="accent5"/>
          </a:solidFill>
          <a:ln>
            <a:noFill/>
          </a:ln>
        </p:spPr>
        <p:txBody>
          <a:bodyPr wrap="none" anchor="ctr"/>
          <a:lstStyle>
            <a:lvl1pPr algn="ctr">
              <a:lnSpc>
                <a:spcPct val="100000"/>
              </a:lnSpc>
              <a:defRPr sz="1700" b="1" cap="none" baseline="0">
                <a:solidFill>
                  <a:schemeClr val="bg1"/>
                </a:solidFill>
                <a:latin typeface="+mn-lt"/>
              </a:defRPr>
            </a:lvl1pPr>
          </a:lstStyle>
          <a:p>
            <a:pPr lvl="0"/>
            <a:r>
              <a:rPr lang="fr-FR"/>
              <a:t>Rubrique</a:t>
            </a:r>
          </a:p>
        </p:txBody>
      </p:sp>
      <p:sp>
        <p:nvSpPr>
          <p:cNvPr id="5" name="Espace réservé du pied de page 4"/>
          <p:cNvSpPr>
            <a:spLocks noGrp="1"/>
          </p:cNvSpPr>
          <p:nvPr>
            <p:ph type="ftr" sz="quarter" idx="28"/>
          </p:nvPr>
        </p:nvSpPr>
        <p:spPr/>
        <p:txBody>
          <a:bodyPr/>
          <a:lstStyle>
            <a:lvl1pPr>
              <a:defRPr>
                <a:solidFill>
                  <a:schemeClr val="bg1"/>
                </a:solidFill>
              </a:defRPr>
            </a:lvl1pPr>
          </a:lstStyle>
          <a:p>
            <a:r>
              <a:rPr lang="fr-FR"/>
              <a:t>Bouygues Construction  |  Mois Année</a:t>
            </a:r>
          </a:p>
        </p:txBody>
      </p:sp>
      <p:sp>
        <p:nvSpPr>
          <p:cNvPr id="7" name="Espace réservé du numéro de diapositive 6"/>
          <p:cNvSpPr>
            <a:spLocks noGrp="1"/>
          </p:cNvSpPr>
          <p:nvPr>
            <p:ph type="sldNum" sz="quarter" idx="29"/>
          </p:nvPr>
        </p:nvSpPr>
        <p:spPr/>
        <p:txBody>
          <a:bodyPr/>
          <a:lstStyle>
            <a:lvl1pPr>
              <a:defRPr>
                <a:solidFill>
                  <a:schemeClr val="bg1"/>
                </a:solidFill>
              </a:defRPr>
            </a:lvl1p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2989589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e + Visuel horizontal">
    <p:spTree>
      <p:nvGrpSpPr>
        <p:cNvPr id="1" name=""/>
        <p:cNvGrpSpPr/>
        <p:nvPr/>
      </p:nvGrpSpPr>
      <p:grpSpPr>
        <a:xfrm>
          <a:off x="0" y="0"/>
          <a:ext cx="0" cy="0"/>
          <a:chOff x="0" y="0"/>
          <a:chExt cx="0" cy="0"/>
        </a:xfrm>
      </p:grpSpPr>
      <p:sp>
        <p:nvSpPr>
          <p:cNvPr id="11" name="Espace réservé pour une image  10"/>
          <p:cNvSpPr>
            <a:spLocks noGrp="1"/>
          </p:cNvSpPr>
          <p:nvPr>
            <p:ph type="pic" sz="quarter" idx="15" hasCustomPrompt="1"/>
          </p:nvPr>
        </p:nvSpPr>
        <p:spPr>
          <a:xfrm>
            <a:off x="0" y="0"/>
            <a:ext cx="12192000" cy="1865313"/>
          </a:xfrm>
          <a:blipFill>
            <a:blip r:embed="rId2"/>
            <a:stretch>
              <a:fillRect/>
            </a:stretch>
          </a:blipFill>
        </p:spPr>
        <p:txBody>
          <a:bodyPr/>
          <a:lstStyle>
            <a:lvl1pPr>
              <a:defRPr sz="1400" b="0" baseline="0">
                <a:solidFill>
                  <a:schemeClr val="tx1"/>
                </a:solidFill>
              </a:defRPr>
            </a:lvl1pPr>
          </a:lstStyle>
          <a:p>
            <a:r>
              <a:rPr lang="fr-FR"/>
              <a:t>Cliquez sur l'icône pour remplacer l'image.</a:t>
            </a:r>
          </a:p>
        </p:txBody>
      </p:sp>
      <p:sp>
        <p:nvSpPr>
          <p:cNvPr id="2" name="Titre 1"/>
          <p:cNvSpPr>
            <a:spLocks noGrp="1"/>
          </p:cNvSpPr>
          <p:nvPr>
            <p:ph type="title"/>
          </p:nvPr>
        </p:nvSpPr>
        <p:spPr>
          <a:xfrm>
            <a:off x="982663" y="2384884"/>
            <a:ext cx="9145588" cy="609398"/>
          </a:xfrm>
        </p:spPr>
        <p:txBody>
          <a:bodyPr anchor="t">
            <a:noAutofit/>
          </a:bodyPr>
          <a:lstStyle/>
          <a:p>
            <a:r>
              <a:rPr lang="fr-FR"/>
              <a:t>Modifiez le style du titre</a:t>
            </a:r>
          </a:p>
        </p:txBody>
      </p:sp>
      <p:sp>
        <p:nvSpPr>
          <p:cNvPr id="6" name="Rectangle 5"/>
          <p:cNvSpPr/>
          <p:nvPr userDrawn="1"/>
        </p:nvSpPr>
        <p:spPr>
          <a:xfrm>
            <a:off x="0" y="2420940"/>
            <a:ext cx="720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p:cNvSpPr>
            <a:spLocks noGrp="1"/>
          </p:cNvSpPr>
          <p:nvPr>
            <p:ph type="body" sz="quarter" idx="12"/>
          </p:nvPr>
        </p:nvSpPr>
        <p:spPr>
          <a:xfrm>
            <a:off x="982663" y="3212976"/>
            <a:ext cx="9145588" cy="2916362"/>
          </a:xfrm>
        </p:spPr>
        <p:txBody>
          <a:bodyPr/>
          <a:lstStyle>
            <a:lvl1pPr>
              <a:defRPr sz="1800" b="1"/>
            </a:lvl1pPr>
            <a:lvl2pPr>
              <a:spcBef>
                <a:spcPts val="1000"/>
              </a:spcBef>
              <a:defRPr/>
            </a:lvl2pPr>
            <a:lvl3pPr marL="180000">
              <a:defRPr b="0"/>
            </a:lvl3pPr>
            <a:lvl4pPr marL="32400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3"/>
          <p:cNvSpPr>
            <a:spLocks noGrp="1"/>
          </p:cNvSpPr>
          <p:nvPr>
            <p:ph type="ftr" sz="quarter" idx="13"/>
          </p:nvPr>
        </p:nvSpPr>
        <p:spPr/>
        <p:txBody>
          <a:bodyPr/>
          <a:lstStyle/>
          <a:p>
            <a:r>
              <a:rPr lang="fr-FR"/>
              <a:t>Bouygues Construction  |  Mois Année</a:t>
            </a:r>
          </a:p>
        </p:txBody>
      </p:sp>
      <p:sp>
        <p:nvSpPr>
          <p:cNvPr id="8" name="Espace réservé du numéro de diapositive 7"/>
          <p:cNvSpPr>
            <a:spLocks noGrp="1"/>
          </p:cNvSpPr>
          <p:nvPr>
            <p:ph type="sldNum" sz="quarter" idx="14"/>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2687548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e + Tableau">
    <p:spTree>
      <p:nvGrpSpPr>
        <p:cNvPr id="1" name=""/>
        <p:cNvGrpSpPr/>
        <p:nvPr/>
      </p:nvGrpSpPr>
      <p:grpSpPr>
        <a:xfrm>
          <a:off x="0" y="0"/>
          <a:ext cx="0" cy="0"/>
          <a:chOff x="0" y="0"/>
          <a:chExt cx="0" cy="0"/>
        </a:xfrm>
      </p:grpSpPr>
      <p:sp>
        <p:nvSpPr>
          <p:cNvPr id="5" name="Rectangle 4"/>
          <p:cNvSpPr/>
          <p:nvPr userDrawn="1"/>
        </p:nvSpPr>
        <p:spPr>
          <a:xfrm>
            <a:off x="-1" y="0"/>
            <a:ext cx="4680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982663" y="692696"/>
            <a:ext cx="3457153" cy="1296144"/>
          </a:xfrm>
        </p:spPr>
        <p:txBody>
          <a:bodyPr anchor="t"/>
          <a:lstStyle/>
          <a:p>
            <a:r>
              <a:rPr lang="fr-FR"/>
              <a:t>Modifiez le style du titre</a:t>
            </a:r>
          </a:p>
        </p:txBody>
      </p:sp>
      <p:sp>
        <p:nvSpPr>
          <p:cNvPr id="6" name="Rectangle 5"/>
          <p:cNvSpPr/>
          <p:nvPr userDrawn="1"/>
        </p:nvSpPr>
        <p:spPr>
          <a:xfrm>
            <a:off x="0" y="728752"/>
            <a:ext cx="720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p:cNvSpPr>
            <a:spLocks noGrp="1"/>
          </p:cNvSpPr>
          <p:nvPr>
            <p:ph type="body" sz="quarter" idx="12"/>
          </p:nvPr>
        </p:nvSpPr>
        <p:spPr>
          <a:xfrm>
            <a:off x="982663" y="2240868"/>
            <a:ext cx="3457575" cy="3888470"/>
          </a:xfrm>
        </p:spPr>
        <p:txBody>
          <a:bodyPr/>
          <a:lstStyle>
            <a:lvl1pPr>
              <a:lnSpc>
                <a:spcPct val="100000"/>
              </a:lnSpc>
              <a:defRPr sz="1800" b="1"/>
            </a:lvl1pPr>
            <a:lvl3pPr marL="180000">
              <a:defRPr/>
            </a:lvl3pPr>
            <a:lvl4pPr marL="32400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Espace réservé du tableau 10"/>
          <p:cNvSpPr>
            <a:spLocks noGrp="1"/>
          </p:cNvSpPr>
          <p:nvPr>
            <p:ph type="tbl" sz="quarter" idx="13"/>
          </p:nvPr>
        </p:nvSpPr>
        <p:spPr>
          <a:xfrm>
            <a:off x="5159375" y="1736725"/>
            <a:ext cx="6553200" cy="3492500"/>
          </a:xfrm>
        </p:spPr>
        <p:txBody>
          <a:bodyPr anchor="ctr"/>
          <a:lstStyle>
            <a:lvl1pPr algn="ctr">
              <a:defRPr sz="1200" b="0"/>
            </a:lvl1pPr>
          </a:lstStyle>
          <a:p>
            <a:endParaRPr lang="fr-FR"/>
          </a:p>
        </p:txBody>
      </p:sp>
      <p:sp>
        <p:nvSpPr>
          <p:cNvPr id="12" name="Espace réservé du texte 5"/>
          <p:cNvSpPr>
            <a:spLocks noGrp="1"/>
          </p:cNvSpPr>
          <p:nvPr>
            <p:ph type="body" sz="quarter" idx="14"/>
          </p:nvPr>
        </p:nvSpPr>
        <p:spPr>
          <a:xfrm>
            <a:off x="5159375" y="5481228"/>
            <a:ext cx="6553200" cy="400110"/>
          </a:xfrm>
        </p:spPr>
        <p:txBody>
          <a:bodyPr wrap="square">
            <a:spAutoFit/>
          </a:bodyPr>
          <a:lstStyle>
            <a:lvl1pPr algn="ctr">
              <a:lnSpc>
                <a:spcPct val="100000"/>
              </a:lnSpc>
              <a:spcBef>
                <a:spcPts val="0"/>
              </a:spcBef>
              <a:defRPr sz="1600" b="1" cap="all" baseline="0">
                <a:solidFill>
                  <a:schemeClr val="tx2"/>
                </a:solidFill>
                <a:latin typeface="+mn-lt"/>
              </a:defRPr>
            </a:lvl1pPr>
            <a:lvl2pPr algn="ctr">
              <a:lnSpc>
                <a:spcPct val="100000"/>
              </a:lnSpc>
              <a:spcBef>
                <a:spcPts val="0"/>
              </a:spcBef>
              <a:defRPr sz="1000">
                <a:solidFill>
                  <a:schemeClr val="tx1"/>
                </a:solidFill>
                <a:latin typeface="+mn-lt"/>
              </a:defRPr>
            </a:lvl2pPr>
            <a:lvl3pPr algn="ctr">
              <a:defRPr/>
            </a:lvl3pPr>
            <a:lvl4pPr algn="ctr">
              <a:defRPr/>
            </a:lvl4pPr>
            <a:lvl5pPr algn="ctr">
              <a:defRPr/>
            </a:lvl5pPr>
          </a:lstStyle>
          <a:p>
            <a:pPr lvl="0"/>
            <a:r>
              <a:rPr lang="fr-FR"/>
              <a:t>Modifiez les styles du texte du masque</a:t>
            </a:r>
          </a:p>
          <a:p>
            <a:pPr lvl="1"/>
            <a:r>
              <a:rPr lang="fr-FR"/>
              <a:t>Deuxième niveau</a:t>
            </a:r>
          </a:p>
        </p:txBody>
      </p:sp>
      <p:sp>
        <p:nvSpPr>
          <p:cNvPr id="7" name="Espace réservé du pied de page 6"/>
          <p:cNvSpPr>
            <a:spLocks noGrp="1"/>
          </p:cNvSpPr>
          <p:nvPr>
            <p:ph type="ftr" sz="quarter" idx="15"/>
          </p:nvPr>
        </p:nvSpPr>
        <p:spPr/>
        <p:txBody>
          <a:bodyPr/>
          <a:lstStyle/>
          <a:p>
            <a:r>
              <a:rPr lang="fr-FR"/>
              <a:t>Bouygues Construction  |  Mois Année</a:t>
            </a:r>
          </a:p>
        </p:txBody>
      </p:sp>
      <p:sp>
        <p:nvSpPr>
          <p:cNvPr id="8" name="Espace réservé du numéro de diapositive 7"/>
          <p:cNvSpPr>
            <a:spLocks noGrp="1"/>
          </p:cNvSpPr>
          <p:nvPr>
            <p:ph type="sldNum" sz="quarter" idx="16"/>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1339454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e + Graphique">
    <p:spTree>
      <p:nvGrpSpPr>
        <p:cNvPr id="1" name=""/>
        <p:cNvGrpSpPr/>
        <p:nvPr/>
      </p:nvGrpSpPr>
      <p:grpSpPr>
        <a:xfrm>
          <a:off x="0" y="0"/>
          <a:ext cx="0" cy="0"/>
          <a:chOff x="0" y="0"/>
          <a:chExt cx="0" cy="0"/>
        </a:xfrm>
      </p:grpSpPr>
      <p:sp>
        <p:nvSpPr>
          <p:cNvPr id="5" name="Rectangle 4"/>
          <p:cNvSpPr/>
          <p:nvPr userDrawn="1"/>
        </p:nvSpPr>
        <p:spPr>
          <a:xfrm>
            <a:off x="-1" y="0"/>
            <a:ext cx="4680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982663" y="692696"/>
            <a:ext cx="3457153" cy="1296144"/>
          </a:xfrm>
        </p:spPr>
        <p:txBody>
          <a:bodyPr anchor="t"/>
          <a:lstStyle/>
          <a:p>
            <a:r>
              <a:rPr lang="fr-FR"/>
              <a:t>Modifiez le style du titre</a:t>
            </a:r>
          </a:p>
        </p:txBody>
      </p:sp>
      <p:sp>
        <p:nvSpPr>
          <p:cNvPr id="6" name="Rectangle 5"/>
          <p:cNvSpPr/>
          <p:nvPr userDrawn="1"/>
        </p:nvSpPr>
        <p:spPr>
          <a:xfrm>
            <a:off x="0" y="728752"/>
            <a:ext cx="720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p:cNvSpPr>
            <a:spLocks noGrp="1"/>
          </p:cNvSpPr>
          <p:nvPr>
            <p:ph type="body" sz="quarter" idx="12"/>
          </p:nvPr>
        </p:nvSpPr>
        <p:spPr>
          <a:xfrm>
            <a:off x="982663" y="2240868"/>
            <a:ext cx="3457575" cy="3888470"/>
          </a:xfrm>
        </p:spPr>
        <p:txBody>
          <a:bodyPr/>
          <a:lstStyle>
            <a:lvl1pPr>
              <a:defRPr sz="1800" b="1"/>
            </a:lvl1pPr>
            <a:lvl3pPr marL="180000">
              <a:defRPr/>
            </a:lvl3pPr>
            <a:lvl4pPr marL="32400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2" name="Espace réservé du texte 5"/>
          <p:cNvSpPr>
            <a:spLocks noGrp="1"/>
          </p:cNvSpPr>
          <p:nvPr>
            <p:ph type="body" sz="quarter" idx="14"/>
          </p:nvPr>
        </p:nvSpPr>
        <p:spPr>
          <a:xfrm>
            <a:off x="5159375" y="5481228"/>
            <a:ext cx="6553200" cy="400110"/>
          </a:xfrm>
        </p:spPr>
        <p:txBody>
          <a:bodyPr wrap="square">
            <a:spAutoFit/>
          </a:bodyPr>
          <a:lstStyle>
            <a:lvl1pPr algn="ctr">
              <a:lnSpc>
                <a:spcPct val="100000"/>
              </a:lnSpc>
              <a:spcBef>
                <a:spcPts val="0"/>
              </a:spcBef>
              <a:defRPr sz="1600" b="1" cap="all" baseline="0">
                <a:solidFill>
                  <a:schemeClr val="tx2"/>
                </a:solidFill>
                <a:latin typeface="+mn-lt"/>
              </a:defRPr>
            </a:lvl1pPr>
            <a:lvl2pPr algn="ctr">
              <a:lnSpc>
                <a:spcPct val="100000"/>
              </a:lnSpc>
              <a:spcBef>
                <a:spcPts val="0"/>
              </a:spcBef>
              <a:defRPr sz="1000">
                <a:solidFill>
                  <a:schemeClr val="tx1"/>
                </a:solidFill>
                <a:latin typeface="+mn-lt"/>
              </a:defRPr>
            </a:lvl2pPr>
            <a:lvl3pPr algn="ctr">
              <a:defRPr/>
            </a:lvl3pPr>
            <a:lvl4pPr algn="ctr">
              <a:defRPr/>
            </a:lvl4pPr>
            <a:lvl5pPr algn="ctr">
              <a:defRPr/>
            </a:lvl5pPr>
          </a:lstStyle>
          <a:p>
            <a:pPr lvl="0"/>
            <a:r>
              <a:rPr lang="fr-FR"/>
              <a:t>Modifiez les styles du texte du masque</a:t>
            </a:r>
          </a:p>
          <a:p>
            <a:pPr lvl="1"/>
            <a:r>
              <a:rPr lang="fr-FR"/>
              <a:t>Deuxième niveau</a:t>
            </a:r>
          </a:p>
        </p:txBody>
      </p:sp>
      <p:sp>
        <p:nvSpPr>
          <p:cNvPr id="8" name="Espace réservé du graphique 7"/>
          <p:cNvSpPr>
            <a:spLocks noGrp="1"/>
          </p:cNvSpPr>
          <p:nvPr>
            <p:ph type="chart" sz="quarter" idx="15"/>
          </p:nvPr>
        </p:nvSpPr>
        <p:spPr>
          <a:xfrm>
            <a:off x="5154324" y="1736700"/>
            <a:ext cx="6553200" cy="3492500"/>
          </a:xfrm>
        </p:spPr>
        <p:txBody>
          <a:bodyPr anchor="ctr"/>
          <a:lstStyle>
            <a:lvl1pPr algn="ctr">
              <a:defRPr sz="1200" b="0"/>
            </a:lvl1pPr>
          </a:lstStyle>
          <a:p>
            <a:endParaRPr lang="fr-FR"/>
          </a:p>
        </p:txBody>
      </p:sp>
      <p:sp>
        <p:nvSpPr>
          <p:cNvPr id="7" name="Espace réservé du pied de page 6"/>
          <p:cNvSpPr>
            <a:spLocks noGrp="1"/>
          </p:cNvSpPr>
          <p:nvPr>
            <p:ph type="ftr" sz="quarter" idx="16"/>
          </p:nvPr>
        </p:nvSpPr>
        <p:spPr/>
        <p:txBody>
          <a:bodyPr/>
          <a:lstStyle/>
          <a:p>
            <a:r>
              <a:rPr lang="fr-FR"/>
              <a:t>Bouygues Construction  |  Mois Année</a:t>
            </a:r>
          </a:p>
        </p:txBody>
      </p:sp>
      <p:sp>
        <p:nvSpPr>
          <p:cNvPr id="10" name="Espace réservé du numéro de diapositive 9"/>
          <p:cNvSpPr>
            <a:spLocks noGrp="1"/>
          </p:cNvSpPr>
          <p:nvPr>
            <p:ph type="sldNum" sz="quarter" idx="17"/>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911741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aphique + Texte">
    <p:spTree>
      <p:nvGrpSpPr>
        <p:cNvPr id="1" name=""/>
        <p:cNvGrpSpPr/>
        <p:nvPr/>
      </p:nvGrpSpPr>
      <p:grpSpPr>
        <a:xfrm>
          <a:off x="0" y="0"/>
          <a:ext cx="0" cy="0"/>
          <a:chOff x="0" y="0"/>
          <a:chExt cx="0" cy="0"/>
        </a:xfrm>
      </p:grpSpPr>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Espace réservé du texte 8"/>
          <p:cNvSpPr>
            <a:spLocks noGrp="1"/>
          </p:cNvSpPr>
          <p:nvPr>
            <p:ph type="body" sz="quarter" idx="12"/>
          </p:nvPr>
        </p:nvSpPr>
        <p:spPr>
          <a:xfrm>
            <a:off x="7644172" y="2096852"/>
            <a:ext cx="3744416" cy="2436599"/>
          </a:xfrm>
        </p:spPr>
        <p:txBody>
          <a:bodyPr/>
          <a:lstStyle>
            <a:lvl1pPr>
              <a:defRPr sz="1800" b="1"/>
            </a:lvl1pPr>
            <a:lvl3pPr marL="180000">
              <a:defRPr/>
            </a:lvl3pPr>
            <a:lvl4pPr marL="32400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2" name="Espace réservé du texte 5"/>
          <p:cNvSpPr>
            <a:spLocks noGrp="1"/>
          </p:cNvSpPr>
          <p:nvPr>
            <p:ph type="body" sz="quarter" idx="14"/>
          </p:nvPr>
        </p:nvSpPr>
        <p:spPr>
          <a:xfrm>
            <a:off x="982663" y="5301208"/>
            <a:ext cx="5905425" cy="400110"/>
          </a:xfrm>
        </p:spPr>
        <p:txBody>
          <a:bodyPr wrap="square">
            <a:spAutoFit/>
          </a:bodyPr>
          <a:lstStyle>
            <a:lvl1pPr algn="ctr">
              <a:lnSpc>
                <a:spcPct val="100000"/>
              </a:lnSpc>
              <a:spcBef>
                <a:spcPts val="0"/>
              </a:spcBef>
              <a:defRPr sz="1600" b="1" cap="all" baseline="0">
                <a:solidFill>
                  <a:schemeClr val="tx2"/>
                </a:solidFill>
                <a:latin typeface="+mn-lt"/>
              </a:defRPr>
            </a:lvl1pPr>
            <a:lvl2pPr algn="ctr">
              <a:lnSpc>
                <a:spcPct val="100000"/>
              </a:lnSpc>
              <a:spcBef>
                <a:spcPts val="0"/>
              </a:spcBef>
              <a:defRPr sz="1000">
                <a:solidFill>
                  <a:schemeClr val="tx1"/>
                </a:solidFill>
                <a:latin typeface="+mn-lt"/>
              </a:defRPr>
            </a:lvl2pPr>
            <a:lvl3pPr algn="ctr">
              <a:defRPr/>
            </a:lvl3pPr>
            <a:lvl4pPr algn="ctr">
              <a:defRPr/>
            </a:lvl4pPr>
            <a:lvl5pPr algn="ctr">
              <a:defRPr/>
            </a:lvl5pPr>
          </a:lstStyle>
          <a:p>
            <a:pPr lvl="0"/>
            <a:r>
              <a:rPr lang="fr-FR"/>
              <a:t>Modifiez les styles du texte du masque</a:t>
            </a:r>
          </a:p>
          <a:p>
            <a:pPr lvl="1"/>
            <a:r>
              <a:rPr lang="fr-FR"/>
              <a:t>Deuxième niveau</a:t>
            </a:r>
          </a:p>
        </p:txBody>
      </p:sp>
      <p:sp>
        <p:nvSpPr>
          <p:cNvPr id="8" name="Espace réservé du graphique 7"/>
          <p:cNvSpPr>
            <a:spLocks noGrp="1"/>
          </p:cNvSpPr>
          <p:nvPr>
            <p:ph type="chart" sz="quarter" idx="15"/>
          </p:nvPr>
        </p:nvSpPr>
        <p:spPr>
          <a:xfrm>
            <a:off x="982663" y="1747495"/>
            <a:ext cx="5905425" cy="3492500"/>
          </a:xfrm>
        </p:spPr>
        <p:txBody>
          <a:bodyPr anchor="ctr"/>
          <a:lstStyle>
            <a:lvl1pPr algn="ctr">
              <a:defRPr sz="1200" b="0"/>
            </a:lvl1pPr>
          </a:lstStyle>
          <a:p>
            <a:endParaRPr lang="fr-FR"/>
          </a:p>
        </p:txBody>
      </p:sp>
      <p:sp>
        <p:nvSpPr>
          <p:cNvPr id="13" name="Titre 1"/>
          <p:cNvSpPr>
            <a:spLocks noGrp="1"/>
          </p:cNvSpPr>
          <p:nvPr>
            <p:ph type="title" hasCustomPrompt="1"/>
          </p:nvPr>
        </p:nvSpPr>
        <p:spPr>
          <a:xfrm>
            <a:off x="3485710" y="686690"/>
            <a:ext cx="5220580" cy="612000"/>
          </a:xfrm>
          <a:prstGeom prst="roundRect">
            <a:avLst>
              <a:gd name="adj" fmla="val 50000"/>
            </a:avLst>
          </a:prstGeom>
          <a:solidFill>
            <a:schemeClr val="tx2"/>
          </a:solidFill>
          <a:ln>
            <a:noFill/>
          </a:ln>
        </p:spPr>
        <p:txBody>
          <a:bodyPr wrap="square">
            <a:spAutoFit/>
          </a:bodyPr>
          <a:lstStyle>
            <a:lvl1pPr algn="ctr">
              <a:defRPr sz="3300">
                <a:solidFill>
                  <a:schemeClr val="bg1"/>
                </a:solidFill>
              </a:defRPr>
            </a:lvl1pPr>
          </a:lstStyle>
          <a:p>
            <a:r>
              <a:rPr lang="fr-FR"/>
              <a:t>TITRE</a:t>
            </a:r>
          </a:p>
        </p:txBody>
      </p:sp>
      <p:sp>
        <p:nvSpPr>
          <p:cNvPr id="14" name="Espace réservé du texte 12"/>
          <p:cNvSpPr>
            <a:spLocks noGrp="1"/>
          </p:cNvSpPr>
          <p:nvPr>
            <p:ph type="body" sz="quarter" idx="16" hasCustomPrompt="1"/>
          </p:nvPr>
        </p:nvSpPr>
        <p:spPr>
          <a:xfrm>
            <a:off x="7626170" y="4689140"/>
            <a:ext cx="3762418" cy="1224136"/>
          </a:xfrm>
        </p:spPr>
        <p:txBody>
          <a:bodyPr/>
          <a:lstStyle>
            <a:lvl1pPr>
              <a:lnSpc>
                <a:spcPct val="90000"/>
              </a:lnSpc>
              <a:defRPr sz="5000" b="1">
                <a:ln w="12700">
                  <a:solidFill>
                    <a:schemeClr val="tx2"/>
                  </a:solidFill>
                </a:ln>
                <a:noFill/>
                <a:latin typeface="+mn-lt"/>
              </a:defRPr>
            </a:lvl1pPr>
            <a:lvl2pPr>
              <a:lnSpc>
                <a:spcPct val="100000"/>
              </a:lnSpc>
              <a:spcBef>
                <a:spcPts val="0"/>
              </a:spcBef>
              <a:defRPr sz="2000" b="1" cap="all" baseline="0">
                <a:solidFill>
                  <a:schemeClr val="tx2"/>
                </a:solidFill>
                <a:latin typeface="+mn-lt"/>
              </a:defRPr>
            </a:lvl2pPr>
            <a:lvl3pPr marL="0" indent="0">
              <a:lnSpc>
                <a:spcPct val="100000"/>
              </a:lnSpc>
              <a:spcBef>
                <a:spcPts val="0"/>
              </a:spcBef>
              <a:buFontTx/>
              <a:buNone/>
              <a:defRPr sz="1600">
                <a:solidFill>
                  <a:schemeClr val="tx2"/>
                </a:solidFill>
                <a:latin typeface="+mn-lt"/>
              </a:defRPr>
            </a:lvl3pPr>
          </a:lstStyle>
          <a:p>
            <a:pPr lvl="0"/>
            <a:r>
              <a:rPr lang="fr-FR"/>
              <a:t>000</a:t>
            </a:r>
          </a:p>
          <a:p>
            <a:pPr lvl="1"/>
            <a:r>
              <a:rPr lang="fr-FR"/>
              <a:t>Deuxième niveau</a:t>
            </a:r>
          </a:p>
          <a:p>
            <a:pPr lvl="2"/>
            <a:r>
              <a:rPr lang="fr-FR"/>
              <a:t>Troisième niveau</a:t>
            </a:r>
          </a:p>
        </p:txBody>
      </p:sp>
      <p:sp>
        <p:nvSpPr>
          <p:cNvPr id="2" name="Espace réservé du pied de page 1"/>
          <p:cNvSpPr>
            <a:spLocks noGrp="1"/>
          </p:cNvSpPr>
          <p:nvPr>
            <p:ph type="ftr" sz="quarter" idx="17"/>
          </p:nvPr>
        </p:nvSpPr>
        <p:spPr/>
        <p:txBody>
          <a:bodyPr/>
          <a:lstStyle/>
          <a:p>
            <a:r>
              <a:rPr lang="fr-FR"/>
              <a:t>Bouygues Construction  |  Mois Année</a:t>
            </a:r>
          </a:p>
        </p:txBody>
      </p:sp>
      <p:sp>
        <p:nvSpPr>
          <p:cNvPr id="5" name="Espace réservé du numéro de diapositive 4"/>
          <p:cNvSpPr>
            <a:spLocks noGrp="1"/>
          </p:cNvSpPr>
          <p:nvPr>
            <p:ph type="sldNum" sz="quarter" idx="18"/>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2427053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iffres clés">
    <p:spTree>
      <p:nvGrpSpPr>
        <p:cNvPr id="1" name=""/>
        <p:cNvGrpSpPr/>
        <p:nvPr/>
      </p:nvGrpSpPr>
      <p:grpSpPr>
        <a:xfrm>
          <a:off x="0" y="0"/>
          <a:ext cx="0" cy="0"/>
          <a:chOff x="0" y="0"/>
          <a:chExt cx="0" cy="0"/>
        </a:xfrm>
      </p:grpSpPr>
      <p:sp>
        <p:nvSpPr>
          <p:cNvPr id="10" name="Espace réservé pour une image  4"/>
          <p:cNvSpPr>
            <a:spLocks noGrp="1"/>
          </p:cNvSpPr>
          <p:nvPr>
            <p:ph type="pic" sz="quarter" idx="15" hasCustomPrompt="1"/>
          </p:nvPr>
        </p:nvSpPr>
        <p:spPr>
          <a:xfrm>
            <a:off x="0" y="0"/>
            <a:ext cx="12192000" cy="6858000"/>
          </a:xfrm>
          <a:blipFill>
            <a:blip r:embed="rId2"/>
            <a:stretch>
              <a:fillRect/>
            </a:stretch>
          </a:blipFill>
        </p:spPr>
        <p:txBody>
          <a:bodyPr/>
          <a:lstStyle>
            <a:lvl1pPr algn="l">
              <a:defRPr sz="1400" baseline="0">
                <a:solidFill>
                  <a:schemeClr val="bg1"/>
                </a:solidFill>
              </a:defRPr>
            </a:lvl1pPr>
          </a:lstStyle>
          <a:p>
            <a:r>
              <a:rPr lang="fr-FR"/>
              <a:t>Pour remplacer l'image, placez-la au premier plan (clic droit | "Mettre au premier plan") afin d'accéder à l'icône d'insertion d'image.</a:t>
            </a:r>
            <a:br>
              <a:rPr lang="fr-FR"/>
            </a:br>
            <a:r>
              <a:rPr lang="fr-FR"/>
              <a:t>Remettez-la ensuite en arrière-plan pour faire réapparaître le titre.</a:t>
            </a:r>
          </a:p>
        </p:txBody>
      </p:sp>
      <p:sp>
        <p:nvSpPr>
          <p:cNvPr id="11" name="Espace réservé du texte 10"/>
          <p:cNvSpPr>
            <a:spLocks noGrp="1"/>
          </p:cNvSpPr>
          <p:nvPr>
            <p:ph type="body" sz="quarter" idx="18" hasCustomPrompt="1"/>
          </p:nvPr>
        </p:nvSpPr>
        <p:spPr>
          <a:xfrm>
            <a:off x="0" y="800708"/>
            <a:ext cx="10488488" cy="5256024"/>
          </a:xfrm>
          <a:custGeom>
            <a:avLst/>
            <a:gdLst>
              <a:gd name="connsiteX0" fmla="*/ 0 w 10585176"/>
              <a:gd name="connsiteY0" fmla="*/ 2520000 h 5040000"/>
              <a:gd name="connsiteX1" fmla="*/ 2520000 w 10585176"/>
              <a:gd name="connsiteY1" fmla="*/ 0 h 5040000"/>
              <a:gd name="connsiteX2" fmla="*/ 8065176 w 10585176"/>
              <a:gd name="connsiteY2" fmla="*/ 0 h 5040000"/>
              <a:gd name="connsiteX3" fmla="*/ 10585176 w 10585176"/>
              <a:gd name="connsiteY3" fmla="*/ 2520000 h 5040000"/>
              <a:gd name="connsiteX4" fmla="*/ 10585176 w 10585176"/>
              <a:gd name="connsiteY4" fmla="*/ 2520000 h 5040000"/>
              <a:gd name="connsiteX5" fmla="*/ 8065176 w 10585176"/>
              <a:gd name="connsiteY5" fmla="*/ 5040000 h 5040000"/>
              <a:gd name="connsiteX6" fmla="*/ 2520000 w 10585176"/>
              <a:gd name="connsiteY6" fmla="*/ 5040000 h 5040000"/>
              <a:gd name="connsiteX7" fmla="*/ 0 w 10585176"/>
              <a:gd name="connsiteY7" fmla="*/ 2520000 h 5040000"/>
              <a:gd name="connsiteX0" fmla="*/ 0 w 10585176"/>
              <a:gd name="connsiteY0" fmla="*/ 2520000 h 5040000"/>
              <a:gd name="connsiteX1" fmla="*/ 2520000 w 10585176"/>
              <a:gd name="connsiteY1" fmla="*/ 0 h 5040000"/>
              <a:gd name="connsiteX2" fmla="*/ 8065176 w 10585176"/>
              <a:gd name="connsiteY2" fmla="*/ 0 h 5040000"/>
              <a:gd name="connsiteX3" fmla="*/ 10585176 w 10585176"/>
              <a:gd name="connsiteY3" fmla="*/ 2520000 h 5040000"/>
              <a:gd name="connsiteX4" fmla="*/ 10585176 w 10585176"/>
              <a:gd name="connsiteY4" fmla="*/ 2520000 h 5040000"/>
              <a:gd name="connsiteX5" fmla="*/ 8065176 w 10585176"/>
              <a:gd name="connsiteY5" fmla="*/ 5040000 h 5040000"/>
              <a:gd name="connsiteX6" fmla="*/ 2520000 w 10585176"/>
              <a:gd name="connsiteY6" fmla="*/ 5040000 h 5040000"/>
              <a:gd name="connsiteX7" fmla="*/ 0 w 10585176"/>
              <a:gd name="connsiteY7" fmla="*/ 2520000 h 5040000"/>
              <a:gd name="connsiteX0" fmla="*/ 2520000 w 10585176"/>
              <a:gd name="connsiteY0" fmla="*/ 0 h 5040000"/>
              <a:gd name="connsiteX1" fmla="*/ 8065176 w 10585176"/>
              <a:gd name="connsiteY1" fmla="*/ 0 h 5040000"/>
              <a:gd name="connsiteX2" fmla="*/ 10585176 w 10585176"/>
              <a:gd name="connsiteY2" fmla="*/ 2520000 h 5040000"/>
              <a:gd name="connsiteX3" fmla="*/ 10585176 w 10585176"/>
              <a:gd name="connsiteY3" fmla="*/ 2520000 h 5040000"/>
              <a:gd name="connsiteX4" fmla="*/ 8065176 w 10585176"/>
              <a:gd name="connsiteY4" fmla="*/ 5040000 h 5040000"/>
              <a:gd name="connsiteX5" fmla="*/ 2520000 w 10585176"/>
              <a:gd name="connsiteY5" fmla="*/ 5040000 h 5040000"/>
              <a:gd name="connsiteX6" fmla="*/ 0 w 10585176"/>
              <a:gd name="connsiteY6" fmla="*/ 2520000 h 5040000"/>
              <a:gd name="connsiteX7" fmla="*/ 2611440 w 10585176"/>
              <a:gd name="connsiteY7" fmla="*/ 91440 h 5040000"/>
              <a:gd name="connsiteX0" fmla="*/ 2520000 w 10585176"/>
              <a:gd name="connsiteY0" fmla="*/ 0 h 5040000"/>
              <a:gd name="connsiteX1" fmla="*/ 8065176 w 10585176"/>
              <a:gd name="connsiteY1" fmla="*/ 0 h 5040000"/>
              <a:gd name="connsiteX2" fmla="*/ 10585176 w 10585176"/>
              <a:gd name="connsiteY2" fmla="*/ 2520000 h 5040000"/>
              <a:gd name="connsiteX3" fmla="*/ 10585176 w 10585176"/>
              <a:gd name="connsiteY3" fmla="*/ 2520000 h 5040000"/>
              <a:gd name="connsiteX4" fmla="*/ 8065176 w 10585176"/>
              <a:gd name="connsiteY4" fmla="*/ 5040000 h 5040000"/>
              <a:gd name="connsiteX5" fmla="*/ 2520000 w 10585176"/>
              <a:gd name="connsiteY5" fmla="*/ 5040000 h 5040000"/>
              <a:gd name="connsiteX6" fmla="*/ 0 w 10585176"/>
              <a:gd name="connsiteY6" fmla="*/ 2520000 h 5040000"/>
              <a:gd name="connsiteX0" fmla="*/ 0 w 8065176"/>
              <a:gd name="connsiteY0" fmla="*/ 0 h 5040000"/>
              <a:gd name="connsiteX1" fmla="*/ 5545176 w 8065176"/>
              <a:gd name="connsiteY1" fmla="*/ 0 h 5040000"/>
              <a:gd name="connsiteX2" fmla="*/ 8065176 w 8065176"/>
              <a:gd name="connsiteY2" fmla="*/ 2520000 h 5040000"/>
              <a:gd name="connsiteX3" fmla="*/ 8065176 w 8065176"/>
              <a:gd name="connsiteY3" fmla="*/ 2520000 h 5040000"/>
              <a:gd name="connsiteX4" fmla="*/ 5545176 w 8065176"/>
              <a:gd name="connsiteY4" fmla="*/ 5040000 h 5040000"/>
              <a:gd name="connsiteX5" fmla="*/ 0 w 8065176"/>
              <a:gd name="connsiteY5" fmla="*/ 5040000 h 5040000"/>
              <a:gd name="connsiteX0" fmla="*/ 0 w 8065176"/>
              <a:gd name="connsiteY0" fmla="*/ 0 h 5040000"/>
              <a:gd name="connsiteX1" fmla="*/ 5545176 w 8065176"/>
              <a:gd name="connsiteY1" fmla="*/ 0 h 5040000"/>
              <a:gd name="connsiteX2" fmla="*/ 8065176 w 8065176"/>
              <a:gd name="connsiteY2" fmla="*/ 2520000 h 5040000"/>
              <a:gd name="connsiteX3" fmla="*/ 8065176 w 8065176"/>
              <a:gd name="connsiteY3" fmla="*/ 2520000 h 5040000"/>
              <a:gd name="connsiteX4" fmla="*/ 5545176 w 8065176"/>
              <a:gd name="connsiteY4" fmla="*/ 5040000 h 5040000"/>
              <a:gd name="connsiteX5" fmla="*/ 0 w 8065176"/>
              <a:gd name="connsiteY5" fmla="*/ 5040000 h 5040000"/>
              <a:gd name="connsiteX6" fmla="*/ 0 w 8065176"/>
              <a:gd name="connsiteY6" fmla="*/ 0 h 5040000"/>
              <a:gd name="connsiteX0" fmla="*/ 0 w 8065176"/>
              <a:gd name="connsiteY0" fmla="*/ 0 h 5040000"/>
              <a:gd name="connsiteX1" fmla="*/ 5875564 w 8065176"/>
              <a:gd name="connsiteY1" fmla="*/ 10564 h 5040000"/>
              <a:gd name="connsiteX2" fmla="*/ 8065176 w 8065176"/>
              <a:gd name="connsiteY2" fmla="*/ 2520000 h 5040000"/>
              <a:gd name="connsiteX3" fmla="*/ 8065176 w 8065176"/>
              <a:gd name="connsiteY3" fmla="*/ 2520000 h 5040000"/>
              <a:gd name="connsiteX4" fmla="*/ 5545176 w 8065176"/>
              <a:gd name="connsiteY4" fmla="*/ 5040000 h 5040000"/>
              <a:gd name="connsiteX5" fmla="*/ 0 w 8065176"/>
              <a:gd name="connsiteY5" fmla="*/ 5040000 h 5040000"/>
              <a:gd name="connsiteX6" fmla="*/ 0 w 8065176"/>
              <a:gd name="connsiteY6" fmla="*/ 0 h 5040000"/>
              <a:gd name="connsiteX0" fmla="*/ 0 w 8065176"/>
              <a:gd name="connsiteY0" fmla="*/ 0 h 5040000"/>
              <a:gd name="connsiteX1" fmla="*/ 5875564 w 8065176"/>
              <a:gd name="connsiteY1" fmla="*/ 10564 h 5040000"/>
              <a:gd name="connsiteX2" fmla="*/ 8065176 w 8065176"/>
              <a:gd name="connsiteY2" fmla="*/ 2520000 h 5040000"/>
              <a:gd name="connsiteX3" fmla="*/ 8065176 w 8065176"/>
              <a:gd name="connsiteY3" fmla="*/ 2520000 h 5040000"/>
              <a:gd name="connsiteX4" fmla="*/ 5867093 w 8065176"/>
              <a:gd name="connsiteY4" fmla="*/ 5040000 h 5040000"/>
              <a:gd name="connsiteX5" fmla="*/ 0 w 8065176"/>
              <a:gd name="connsiteY5" fmla="*/ 5040000 h 5040000"/>
              <a:gd name="connsiteX6" fmla="*/ 0 w 8065176"/>
              <a:gd name="connsiteY6" fmla="*/ 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5176" h="5040000">
                <a:moveTo>
                  <a:pt x="0" y="0"/>
                </a:moveTo>
                <a:lnTo>
                  <a:pt x="5875564" y="10564"/>
                </a:lnTo>
                <a:cubicBezTo>
                  <a:pt x="7267322" y="10564"/>
                  <a:pt x="8065176" y="1128242"/>
                  <a:pt x="8065176" y="2520000"/>
                </a:cubicBezTo>
                <a:lnTo>
                  <a:pt x="8065176" y="2520000"/>
                </a:lnTo>
                <a:cubicBezTo>
                  <a:pt x="8065176" y="3911758"/>
                  <a:pt x="7258851" y="5040000"/>
                  <a:pt x="5867093" y="5040000"/>
                </a:cubicBezTo>
                <a:lnTo>
                  <a:pt x="0" y="5040000"/>
                </a:lnTo>
                <a:lnTo>
                  <a:pt x="0" y="0"/>
                </a:lnTo>
                <a:close/>
              </a:path>
            </a:pathLst>
          </a:custGeom>
          <a:solidFill>
            <a:schemeClr val="bg1"/>
          </a:solidFill>
          <a:ln>
            <a:noFill/>
          </a:ln>
        </p:spPr>
        <p:txBody>
          <a:bodyPr lIns="864000" tIns="684000" rIns="540000" bIns="72000" anchor="t"/>
          <a:lstStyle>
            <a:lvl1pPr>
              <a:lnSpc>
                <a:spcPct val="90000"/>
              </a:lnSpc>
              <a:defRPr sz="4400" b="1" cap="all" baseline="0">
                <a:solidFill>
                  <a:schemeClr val="tx2"/>
                </a:solidFill>
                <a:latin typeface="+mj-lt"/>
              </a:defRPr>
            </a:lvl1pPr>
            <a:lvl2pPr>
              <a:lnSpc>
                <a:spcPct val="120000"/>
              </a:lnSpc>
              <a:spcBef>
                <a:spcPts val="1800"/>
              </a:spcBef>
              <a:defRPr sz="1800">
                <a:solidFill>
                  <a:schemeClr val="tx1"/>
                </a:solidFill>
              </a:defRPr>
            </a:lvl2pPr>
          </a:lstStyle>
          <a:p>
            <a:pPr lvl="0"/>
            <a:r>
              <a:rPr lang="fr-FR"/>
              <a:t>TITRE</a:t>
            </a:r>
          </a:p>
          <a:p>
            <a:pPr lvl="1"/>
            <a:r>
              <a:rPr lang="fr-FR"/>
              <a:t>Deuxième niveau</a:t>
            </a:r>
          </a:p>
        </p:txBody>
      </p:sp>
      <p:sp>
        <p:nvSpPr>
          <p:cNvPr id="13" name="Espace réservé du texte 12"/>
          <p:cNvSpPr>
            <a:spLocks noGrp="1"/>
          </p:cNvSpPr>
          <p:nvPr>
            <p:ph type="body" sz="quarter" idx="14" hasCustomPrompt="1"/>
          </p:nvPr>
        </p:nvSpPr>
        <p:spPr>
          <a:xfrm>
            <a:off x="911424" y="4421573"/>
            <a:ext cx="2160240" cy="1224136"/>
          </a:xfrm>
        </p:spPr>
        <p:txBody>
          <a:bodyPr/>
          <a:lstStyle>
            <a:lvl1pPr>
              <a:lnSpc>
                <a:spcPct val="90000"/>
              </a:lnSpc>
              <a:defRPr sz="5000" b="1">
                <a:ln w="12700">
                  <a:solidFill>
                    <a:schemeClr val="tx2"/>
                  </a:solidFill>
                </a:ln>
                <a:noFill/>
                <a:latin typeface="+mn-lt"/>
              </a:defRPr>
            </a:lvl1pPr>
            <a:lvl2pPr>
              <a:lnSpc>
                <a:spcPct val="90000"/>
              </a:lnSpc>
              <a:spcBef>
                <a:spcPts val="0"/>
              </a:spcBef>
              <a:defRPr sz="1700" b="1" cap="all" baseline="0">
                <a:solidFill>
                  <a:schemeClr val="tx2"/>
                </a:solidFill>
                <a:latin typeface="+mn-lt"/>
              </a:defRPr>
            </a:lvl2pPr>
            <a:lvl3pPr marL="0" indent="0">
              <a:lnSpc>
                <a:spcPct val="100000"/>
              </a:lnSpc>
              <a:spcBef>
                <a:spcPts val="0"/>
              </a:spcBef>
              <a:buFontTx/>
              <a:buNone/>
              <a:defRPr sz="1400">
                <a:solidFill>
                  <a:schemeClr val="tx2"/>
                </a:solidFill>
                <a:latin typeface="+mn-lt"/>
              </a:defRPr>
            </a:lvl3pPr>
          </a:lstStyle>
          <a:p>
            <a:pPr lvl="0"/>
            <a:r>
              <a:rPr lang="fr-FR"/>
              <a:t>000</a:t>
            </a:r>
          </a:p>
          <a:p>
            <a:pPr lvl="1"/>
            <a:r>
              <a:rPr lang="fr-FR"/>
              <a:t>Deuxième niveau</a:t>
            </a:r>
          </a:p>
          <a:p>
            <a:pPr lvl="2"/>
            <a:r>
              <a:rPr lang="fr-FR"/>
              <a:t>Troisième niveau</a:t>
            </a:r>
          </a:p>
        </p:txBody>
      </p:sp>
      <p:sp>
        <p:nvSpPr>
          <p:cNvPr id="12" name="Espace réservé du texte 12"/>
          <p:cNvSpPr>
            <a:spLocks noGrp="1"/>
          </p:cNvSpPr>
          <p:nvPr>
            <p:ph type="body" sz="quarter" idx="20" hasCustomPrompt="1"/>
          </p:nvPr>
        </p:nvSpPr>
        <p:spPr>
          <a:xfrm>
            <a:off x="3413702" y="4421573"/>
            <a:ext cx="2160240" cy="1224136"/>
          </a:xfrm>
        </p:spPr>
        <p:txBody>
          <a:bodyPr/>
          <a:lstStyle>
            <a:lvl1pPr>
              <a:lnSpc>
                <a:spcPct val="90000"/>
              </a:lnSpc>
              <a:defRPr sz="5000" b="1">
                <a:ln w="12700">
                  <a:solidFill>
                    <a:schemeClr val="tx2"/>
                  </a:solidFill>
                </a:ln>
                <a:noFill/>
                <a:latin typeface="+mn-lt"/>
              </a:defRPr>
            </a:lvl1pPr>
            <a:lvl2pPr>
              <a:lnSpc>
                <a:spcPct val="90000"/>
              </a:lnSpc>
              <a:spcBef>
                <a:spcPts val="0"/>
              </a:spcBef>
              <a:defRPr sz="1700" b="1" cap="all" baseline="0">
                <a:solidFill>
                  <a:schemeClr val="tx2"/>
                </a:solidFill>
                <a:latin typeface="+mn-lt"/>
              </a:defRPr>
            </a:lvl2pPr>
            <a:lvl3pPr marL="0" indent="0">
              <a:lnSpc>
                <a:spcPct val="100000"/>
              </a:lnSpc>
              <a:spcBef>
                <a:spcPts val="0"/>
              </a:spcBef>
              <a:buFontTx/>
              <a:buNone/>
              <a:defRPr sz="1400">
                <a:solidFill>
                  <a:schemeClr val="tx2"/>
                </a:solidFill>
                <a:latin typeface="+mn-lt"/>
              </a:defRPr>
            </a:lvl3pPr>
          </a:lstStyle>
          <a:p>
            <a:pPr lvl="0"/>
            <a:r>
              <a:rPr lang="fr-FR"/>
              <a:t>000</a:t>
            </a:r>
          </a:p>
          <a:p>
            <a:pPr lvl="1"/>
            <a:r>
              <a:rPr lang="fr-FR"/>
              <a:t>Deuxième niveau</a:t>
            </a:r>
          </a:p>
          <a:p>
            <a:pPr lvl="2"/>
            <a:r>
              <a:rPr lang="fr-FR"/>
              <a:t>Troisième niveau</a:t>
            </a:r>
          </a:p>
        </p:txBody>
      </p:sp>
      <p:sp>
        <p:nvSpPr>
          <p:cNvPr id="17" name="Espace réservé du texte 12"/>
          <p:cNvSpPr>
            <a:spLocks noGrp="1"/>
          </p:cNvSpPr>
          <p:nvPr>
            <p:ph type="body" sz="quarter" idx="21" hasCustomPrompt="1"/>
          </p:nvPr>
        </p:nvSpPr>
        <p:spPr>
          <a:xfrm>
            <a:off x="5915980" y="4421573"/>
            <a:ext cx="2160240" cy="1224136"/>
          </a:xfrm>
        </p:spPr>
        <p:txBody>
          <a:bodyPr/>
          <a:lstStyle>
            <a:lvl1pPr>
              <a:lnSpc>
                <a:spcPct val="90000"/>
              </a:lnSpc>
              <a:defRPr sz="5000" b="1">
                <a:ln w="12700">
                  <a:solidFill>
                    <a:schemeClr val="tx2"/>
                  </a:solidFill>
                </a:ln>
                <a:noFill/>
                <a:latin typeface="+mn-lt"/>
              </a:defRPr>
            </a:lvl1pPr>
            <a:lvl2pPr>
              <a:lnSpc>
                <a:spcPct val="90000"/>
              </a:lnSpc>
              <a:spcBef>
                <a:spcPts val="0"/>
              </a:spcBef>
              <a:defRPr sz="1700" b="1" cap="all" baseline="0">
                <a:solidFill>
                  <a:schemeClr val="tx2"/>
                </a:solidFill>
                <a:latin typeface="+mn-lt"/>
              </a:defRPr>
            </a:lvl2pPr>
            <a:lvl3pPr marL="0" indent="0">
              <a:lnSpc>
                <a:spcPct val="100000"/>
              </a:lnSpc>
              <a:spcBef>
                <a:spcPts val="0"/>
              </a:spcBef>
              <a:buFontTx/>
              <a:buNone/>
              <a:defRPr sz="1400">
                <a:solidFill>
                  <a:schemeClr val="tx2"/>
                </a:solidFill>
                <a:latin typeface="+mn-lt"/>
              </a:defRPr>
            </a:lvl3pPr>
          </a:lstStyle>
          <a:p>
            <a:pPr lvl="0"/>
            <a:r>
              <a:rPr lang="fr-FR"/>
              <a:t>000</a:t>
            </a:r>
          </a:p>
          <a:p>
            <a:pPr lvl="1"/>
            <a:r>
              <a:rPr lang="fr-FR"/>
              <a:t>Deuxième niveau</a:t>
            </a:r>
          </a:p>
          <a:p>
            <a:pPr lvl="2"/>
            <a:r>
              <a:rPr lang="fr-FR"/>
              <a:t>Troisième niveau</a:t>
            </a:r>
          </a:p>
        </p:txBody>
      </p:sp>
      <p:sp>
        <p:nvSpPr>
          <p:cNvPr id="3" name="Espace réservé du pied de page 2"/>
          <p:cNvSpPr>
            <a:spLocks noGrp="1"/>
          </p:cNvSpPr>
          <p:nvPr>
            <p:ph type="ftr" sz="quarter" idx="22"/>
          </p:nvPr>
        </p:nvSpPr>
        <p:spPr/>
        <p:txBody>
          <a:bodyPr/>
          <a:lstStyle>
            <a:lvl1pPr>
              <a:defRPr>
                <a:solidFill>
                  <a:schemeClr val="bg1"/>
                </a:solidFill>
              </a:defRPr>
            </a:lvl1pPr>
          </a:lstStyle>
          <a:p>
            <a:r>
              <a:rPr lang="fr-FR"/>
              <a:t>Bouygues Construction  |  Mois Année</a:t>
            </a:r>
          </a:p>
        </p:txBody>
      </p:sp>
      <p:sp>
        <p:nvSpPr>
          <p:cNvPr id="4" name="Espace réservé du numéro de diapositive 3"/>
          <p:cNvSpPr>
            <a:spLocks noGrp="1"/>
          </p:cNvSpPr>
          <p:nvPr>
            <p:ph type="sldNum" sz="quarter" idx="23"/>
          </p:nvPr>
        </p:nvSpPr>
        <p:spPr/>
        <p:txBody>
          <a:bodyPr/>
          <a:lstStyle>
            <a:lvl1pPr>
              <a:defRPr>
                <a:solidFill>
                  <a:schemeClr val="bg1"/>
                </a:solidFill>
              </a:defRPr>
            </a:lvl1p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11119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rbatim">
    <p:spTree>
      <p:nvGrpSpPr>
        <p:cNvPr id="1" name=""/>
        <p:cNvGrpSpPr/>
        <p:nvPr/>
      </p:nvGrpSpPr>
      <p:grpSpPr>
        <a:xfrm>
          <a:off x="0" y="0"/>
          <a:ext cx="0" cy="0"/>
          <a:chOff x="0" y="0"/>
          <a:chExt cx="0" cy="0"/>
        </a:xfrm>
      </p:grpSpPr>
      <p:sp>
        <p:nvSpPr>
          <p:cNvPr id="5" name="Espace réservé pour une image  4"/>
          <p:cNvSpPr>
            <a:spLocks noGrp="1"/>
          </p:cNvSpPr>
          <p:nvPr>
            <p:ph type="pic" sz="quarter" idx="15" hasCustomPrompt="1"/>
          </p:nvPr>
        </p:nvSpPr>
        <p:spPr>
          <a:xfrm>
            <a:off x="0" y="0"/>
            <a:ext cx="12192000" cy="6858000"/>
          </a:xfrm>
          <a:blipFill>
            <a:blip r:embed="rId2"/>
            <a:stretch>
              <a:fillRect/>
            </a:stretch>
          </a:blipFill>
        </p:spPr>
        <p:txBody>
          <a:bodyPr/>
          <a:lstStyle>
            <a:lvl1pPr algn="l">
              <a:defRPr sz="1400" baseline="0">
                <a:solidFill>
                  <a:schemeClr val="bg1"/>
                </a:solidFill>
              </a:defRPr>
            </a:lvl1pPr>
          </a:lstStyle>
          <a:p>
            <a:r>
              <a:rPr lang="fr-FR"/>
              <a:t>Pour remplacer l'image, placez-la au premier plan (clic droit | "Mettre au premier plan") </a:t>
            </a:r>
            <a:br>
              <a:rPr lang="fr-FR"/>
            </a:br>
            <a:r>
              <a:rPr lang="fr-FR"/>
              <a:t>afin d'accéder à l'icône d'insertion d'image.</a:t>
            </a:r>
            <a:br>
              <a:rPr lang="fr-FR"/>
            </a:br>
            <a:r>
              <a:rPr lang="fr-FR"/>
              <a:t>Remettez-la ensuite en arrière-plan pour faire réapparaître le titre.</a:t>
            </a:r>
          </a:p>
        </p:txBody>
      </p:sp>
      <p:sp>
        <p:nvSpPr>
          <p:cNvPr id="12" name="Espace réservé du texte 6"/>
          <p:cNvSpPr>
            <a:spLocks noGrp="1"/>
          </p:cNvSpPr>
          <p:nvPr>
            <p:ph type="body" sz="quarter" idx="14"/>
          </p:nvPr>
        </p:nvSpPr>
        <p:spPr>
          <a:xfrm>
            <a:off x="1236000" y="908720"/>
            <a:ext cx="9720000" cy="5040560"/>
          </a:xfrm>
          <a:prstGeom prst="roundRect">
            <a:avLst>
              <a:gd name="adj" fmla="val 50000"/>
            </a:avLst>
          </a:prstGeom>
          <a:solidFill>
            <a:srgbClr val="FFDB97">
              <a:alpha val="89804"/>
            </a:srgbClr>
          </a:solidFill>
          <a:ln>
            <a:noFill/>
          </a:ln>
        </p:spPr>
        <p:txBody>
          <a:bodyPr anchor="ctr"/>
          <a:lstStyle>
            <a:lvl1pPr marL="0" algn="ctr">
              <a:lnSpc>
                <a:spcPct val="120000"/>
              </a:lnSpc>
              <a:spcBef>
                <a:spcPts val="0"/>
              </a:spcBef>
              <a:buFontTx/>
              <a:buNone/>
              <a:tabLst>
                <a:tab pos="1255713" algn="l"/>
              </a:tabLst>
              <a:defRPr sz="2500" b="0" i="1">
                <a:solidFill>
                  <a:schemeClr val="tx1"/>
                </a:solidFill>
              </a:defRPr>
            </a:lvl1pPr>
            <a:lvl2pPr marL="0" algn="ctr">
              <a:lnSpc>
                <a:spcPct val="120000"/>
              </a:lnSpc>
              <a:spcBef>
                <a:spcPts val="0"/>
              </a:spcBef>
              <a:buFontTx/>
              <a:buNone/>
              <a:defRPr sz="2000" b="1">
                <a:solidFill>
                  <a:schemeClr val="tx1"/>
                </a:solidFill>
              </a:defRPr>
            </a:lvl2pPr>
            <a:lvl3pPr marL="0" indent="0">
              <a:spcBef>
                <a:spcPts val="0"/>
              </a:spcBef>
              <a:buFontTx/>
              <a:buNone/>
              <a:defRPr b="0"/>
            </a:lvl3pPr>
            <a:lvl4pPr marL="0" indent="0">
              <a:spcBef>
                <a:spcPts val="0"/>
              </a:spcBef>
              <a:buFontTx/>
              <a:buNone/>
              <a:defRPr b="0"/>
            </a:lvl4pPr>
            <a:lvl5pPr marL="0">
              <a:spcBef>
                <a:spcPts val="0"/>
              </a:spcBef>
              <a:buFontTx/>
              <a:buNone/>
              <a:defRPr b="0"/>
            </a:lvl5pPr>
          </a:lstStyle>
          <a:p>
            <a:pPr lvl="0"/>
            <a:r>
              <a:rPr lang="fr-FR"/>
              <a:t>Modifiez les styles du texte du masque</a:t>
            </a:r>
          </a:p>
          <a:p>
            <a:pPr lvl="1"/>
            <a:r>
              <a:rPr lang="fr-FR"/>
              <a:t>Auteur</a:t>
            </a:r>
          </a:p>
        </p:txBody>
      </p:sp>
      <p:sp>
        <p:nvSpPr>
          <p:cNvPr id="17" name="Espace réservé pour une image  15"/>
          <p:cNvSpPr>
            <a:spLocks noGrp="1"/>
          </p:cNvSpPr>
          <p:nvPr>
            <p:ph type="pic" sz="quarter" idx="19" hasCustomPrompt="1"/>
          </p:nvPr>
        </p:nvSpPr>
        <p:spPr>
          <a:xfrm>
            <a:off x="5790000" y="4941145"/>
            <a:ext cx="612000" cy="417600"/>
          </a:xfrm>
          <a:blipFill>
            <a:blip r:embed="rId3"/>
            <a:stretch>
              <a:fillRect/>
            </a:stretch>
          </a:blipFill>
        </p:spPr>
        <p:txBody>
          <a:bodyPr/>
          <a:lstStyle>
            <a:lvl1pPr>
              <a:defRPr sz="900" b="0"/>
            </a:lvl1pPr>
          </a:lstStyle>
          <a:p>
            <a:r>
              <a:rPr lang="fr-FR"/>
              <a:t> </a:t>
            </a:r>
          </a:p>
        </p:txBody>
      </p:sp>
      <p:sp>
        <p:nvSpPr>
          <p:cNvPr id="16" name="Espace réservé pour une image  15"/>
          <p:cNvSpPr>
            <a:spLocks noGrp="1"/>
          </p:cNvSpPr>
          <p:nvPr>
            <p:ph type="pic" sz="quarter" idx="18" hasCustomPrompt="1"/>
          </p:nvPr>
        </p:nvSpPr>
        <p:spPr>
          <a:xfrm>
            <a:off x="5796093" y="1453078"/>
            <a:ext cx="612000" cy="417600"/>
          </a:xfrm>
          <a:blipFill>
            <a:blip r:embed="rId4"/>
            <a:stretch>
              <a:fillRect/>
            </a:stretch>
          </a:blipFill>
        </p:spPr>
        <p:txBody>
          <a:bodyPr/>
          <a:lstStyle>
            <a:lvl1pPr>
              <a:defRPr sz="900" b="0"/>
            </a:lvl1pPr>
          </a:lstStyle>
          <a:p>
            <a:r>
              <a:rPr lang="fr-FR"/>
              <a:t> </a:t>
            </a:r>
          </a:p>
        </p:txBody>
      </p:sp>
      <p:sp>
        <p:nvSpPr>
          <p:cNvPr id="6" name="Espace réservé du pied de page 5"/>
          <p:cNvSpPr>
            <a:spLocks noGrp="1"/>
          </p:cNvSpPr>
          <p:nvPr>
            <p:ph type="ftr" sz="quarter" idx="16"/>
          </p:nvPr>
        </p:nvSpPr>
        <p:spPr/>
        <p:txBody>
          <a:bodyPr/>
          <a:lstStyle>
            <a:lvl1pPr>
              <a:defRPr>
                <a:solidFill>
                  <a:schemeClr val="bg1"/>
                </a:solidFill>
              </a:defRPr>
            </a:lvl1pPr>
          </a:lstStyle>
          <a:p>
            <a:r>
              <a:rPr lang="fr-FR"/>
              <a:t>Bouygues Construction  |  Mois Année</a:t>
            </a:r>
          </a:p>
        </p:txBody>
      </p:sp>
      <p:sp>
        <p:nvSpPr>
          <p:cNvPr id="8" name="Espace réservé du numéro de diapositive 7"/>
          <p:cNvSpPr>
            <a:spLocks noGrp="1"/>
          </p:cNvSpPr>
          <p:nvPr>
            <p:ph type="sldNum" sz="quarter" idx="17"/>
          </p:nvPr>
        </p:nvSpPr>
        <p:spPr/>
        <p:txBody>
          <a:bodyPr/>
          <a:lstStyle>
            <a:lvl1pPr>
              <a:defRPr>
                <a:solidFill>
                  <a:schemeClr val="bg1"/>
                </a:solidFill>
              </a:defRPr>
            </a:lvl1p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476053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rojets">
    <p:spTree>
      <p:nvGrpSpPr>
        <p:cNvPr id="1" name=""/>
        <p:cNvGrpSpPr/>
        <p:nvPr/>
      </p:nvGrpSpPr>
      <p:grpSpPr>
        <a:xfrm>
          <a:off x="0" y="0"/>
          <a:ext cx="0" cy="0"/>
          <a:chOff x="0" y="0"/>
          <a:chExt cx="0" cy="0"/>
        </a:xfrm>
      </p:grpSpPr>
      <p:sp>
        <p:nvSpPr>
          <p:cNvPr id="16" name="Espace réservé pour une image  9"/>
          <p:cNvSpPr>
            <a:spLocks noGrp="1"/>
          </p:cNvSpPr>
          <p:nvPr>
            <p:ph type="pic" sz="quarter" idx="34"/>
          </p:nvPr>
        </p:nvSpPr>
        <p:spPr>
          <a:xfrm>
            <a:off x="580132" y="3798000"/>
            <a:ext cx="3492388" cy="3060000"/>
          </a:xfrm>
          <a:pattFill prst="openDmnd">
            <a:fgClr>
              <a:schemeClr val="bg1">
                <a:lumMod val="85000"/>
              </a:schemeClr>
            </a:fgClr>
            <a:bgClr>
              <a:schemeClr val="bg1"/>
            </a:bgClr>
          </a:pattFill>
        </p:spPr>
        <p:txBody>
          <a:bodyPr anchor="t"/>
          <a:lstStyle>
            <a:lvl1pPr algn="ctr">
              <a:defRPr sz="1200" b="0" baseline="0"/>
            </a:lvl1pPr>
          </a:lstStyle>
          <a:p>
            <a:r>
              <a:rPr lang="fr-FR"/>
              <a:t>Cliquez sur l'icône pour ajouter une image</a:t>
            </a:r>
          </a:p>
        </p:txBody>
      </p:sp>
      <p:sp>
        <p:nvSpPr>
          <p:cNvPr id="14" name="Espace réservé pour une image  9"/>
          <p:cNvSpPr>
            <a:spLocks noGrp="1"/>
          </p:cNvSpPr>
          <p:nvPr>
            <p:ph type="pic" sz="quarter" idx="32"/>
          </p:nvPr>
        </p:nvSpPr>
        <p:spPr>
          <a:xfrm>
            <a:off x="4405091" y="4086000"/>
            <a:ext cx="3492388" cy="2772000"/>
          </a:xfrm>
          <a:pattFill prst="openDmnd">
            <a:fgClr>
              <a:schemeClr val="bg1">
                <a:lumMod val="85000"/>
              </a:schemeClr>
            </a:fgClr>
            <a:bgClr>
              <a:schemeClr val="bg1"/>
            </a:bgClr>
          </a:pattFill>
        </p:spPr>
        <p:txBody>
          <a:bodyPr anchor="t"/>
          <a:lstStyle>
            <a:lvl1pPr algn="ctr">
              <a:defRPr sz="1200" b="0" baseline="0"/>
            </a:lvl1pPr>
          </a:lstStyle>
          <a:p>
            <a:r>
              <a:rPr lang="fr-FR"/>
              <a:t>Cliquez sur l'icône pour ajouter une image</a:t>
            </a:r>
          </a:p>
        </p:txBody>
      </p:sp>
      <p:sp>
        <p:nvSpPr>
          <p:cNvPr id="12" name="Espace réservé pour une image  9"/>
          <p:cNvSpPr>
            <a:spLocks noGrp="1"/>
          </p:cNvSpPr>
          <p:nvPr>
            <p:ph type="pic" sz="quarter" idx="30"/>
          </p:nvPr>
        </p:nvSpPr>
        <p:spPr>
          <a:xfrm>
            <a:off x="8220236" y="2546596"/>
            <a:ext cx="3492388" cy="3582742"/>
          </a:xfrm>
          <a:pattFill prst="openDmnd">
            <a:fgClr>
              <a:schemeClr val="bg1">
                <a:lumMod val="85000"/>
              </a:schemeClr>
            </a:fgClr>
            <a:bgClr>
              <a:schemeClr val="bg1"/>
            </a:bgClr>
          </a:pattFill>
        </p:spPr>
        <p:txBody>
          <a:bodyPr anchor="t"/>
          <a:lstStyle>
            <a:lvl1pPr algn="ctr">
              <a:defRPr sz="1200" b="0" baseline="0"/>
            </a:lvl1pPr>
          </a:lstStyle>
          <a:p>
            <a:r>
              <a:rPr lang="fr-FR"/>
              <a:t>Cliquez sur l'icône pour ajouter une image</a:t>
            </a:r>
          </a:p>
        </p:txBody>
      </p:sp>
      <p:sp>
        <p:nvSpPr>
          <p:cNvPr id="10" name="Espace réservé pour une image  9"/>
          <p:cNvSpPr>
            <a:spLocks noGrp="1"/>
          </p:cNvSpPr>
          <p:nvPr>
            <p:ph type="pic" sz="quarter" idx="28"/>
          </p:nvPr>
        </p:nvSpPr>
        <p:spPr>
          <a:xfrm>
            <a:off x="8222794" y="0"/>
            <a:ext cx="3492388" cy="2376000"/>
          </a:xfrm>
          <a:pattFill prst="openDmnd">
            <a:fgClr>
              <a:schemeClr val="bg1">
                <a:lumMod val="85000"/>
              </a:schemeClr>
            </a:fgClr>
            <a:bgClr>
              <a:schemeClr val="bg1"/>
            </a:bgClr>
          </a:pattFill>
        </p:spPr>
        <p:txBody>
          <a:bodyPr anchor="t"/>
          <a:lstStyle>
            <a:lvl1pPr algn="ctr">
              <a:defRPr sz="1200" b="0" baseline="0"/>
            </a:lvl1pPr>
          </a:lstStyle>
          <a:p>
            <a:r>
              <a:rPr lang="fr-FR"/>
              <a:t>Cliquez sur l'icône pour ajouter une image</a:t>
            </a:r>
          </a:p>
        </p:txBody>
      </p:sp>
      <p:sp>
        <p:nvSpPr>
          <p:cNvPr id="8" name="Espace réservé pour une image  9"/>
          <p:cNvSpPr>
            <a:spLocks noGrp="1"/>
          </p:cNvSpPr>
          <p:nvPr>
            <p:ph type="pic" sz="quarter" idx="26"/>
          </p:nvPr>
        </p:nvSpPr>
        <p:spPr>
          <a:xfrm>
            <a:off x="4405091" y="0"/>
            <a:ext cx="3492388" cy="2880000"/>
          </a:xfrm>
          <a:pattFill prst="openDmnd">
            <a:fgClr>
              <a:schemeClr val="bg1">
                <a:lumMod val="85000"/>
              </a:schemeClr>
            </a:fgClr>
            <a:bgClr>
              <a:schemeClr val="bg1"/>
            </a:bgClr>
          </a:pattFill>
        </p:spPr>
        <p:txBody>
          <a:bodyPr anchor="t"/>
          <a:lstStyle>
            <a:lvl1pPr algn="ctr">
              <a:defRPr sz="1200" b="0" baseline="0"/>
            </a:lvl1pPr>
          </a:lstStyle>
          <a:p>
            <a:r>
              <a:rPr lang="fr-FR"/>
              <a:t>Cliquez sur l'icône pour ajouter une image</a:t>
            </a:r>
          </a:p>
        </p:txBody>
      </p:sp>
      <p:sp>
        <p:nvSpPr>
          <p:cNvPr id="6" name="Espace réservé pour une image  9"/>
          <p:cNvSpPr>
            <a:spLocks noGrp="1"/>
          </p:cNvSpPr>
          <p:nvPr>
            <p:ph type="pic" sz="quarter" idx="25"/>
          </p:nvPr>
        </p:nvSpPr>
        <p:spPr>
          <a:xfrm>
            <a:off x="587388" y="836712"/>
            <a:ext cx="3492388" cy="2700300"/>
          </a:xfrm>
          <a:pattFill prst="openDmnd">
            <a:fgClr>
              <a:schemeClr val="bg1">
                <a:lumMod val="85000"/>
              </a:schemeClr>
            </a:fgClr>
            <a:bgClr>
              <a:schemeClr val="bg1"/>
            </a:bgClr>
          </a:pattFill>
        </p:spPr>
        <p:txBody>
          <a:bodyPr anchor="t"/>
          <a:lstStyle>
            <a:lvl1pPr algn="ctr">
              <a:defRPr sz="1200" b="0" baseline="0"/>
            </a:lvl1pPr>
          </a:lstStyle>
          <a:p>
            <a:r>
              <a:rPr lang="fr-FR"/>
              <a:t>Cliquez sur l'icône pour ajouter une image</a:t>
            </a:r>
          </a:p>
        </p:txBody>
      </p:sp>
      <p:sp>
        <p:nvSpPr>
          <p:cNvPr id="2" name="Titre 1"/>
          <p:cNvSpPr>
            <a:spLocks noGrp="1"/>
          </p:cNvSpPr>
          <p:nvPr>
            <p:ph type="title" hasCustomPrompt="1"/>
          </p:nvPr>
        </p:nvSpPr>
        <p:spPr>
          <a:xfrm>
            <a:off x="4223792" y="3159026"/>
            <a:ext cx="3744416" cy="609398"/>
          </a:xfrm>
        </p:spPr>
        <p:txBody>
          <a:bodyPr/>
          <a:lstStyle>
            <a:lvl1pPr algn="ctr">
              <a:defRPr sz="4600"/>
            </a:lvl1pPr>
          </a:lstStyle>
          <a:p>
            <a:r>
              <a:rPr lang="fr-FR"/>
              <a:t>TITRE</a:t>
            </a:r>
          </a:p>
        </p:txBody>
      </p:sp>
      <p:sp>
        <p:nvSpPr>
          <p:cNvPr id="7" name="Espace réservé du texte 10"/>
          <p:cNvSpPr>
            <a:spLocks noGrp="1"/>
          </p:cNvSpPr>
          <p:nvPr>
            <p:ph type="body" sz="quarter" idx="14" hasCustomPrompt="1"/>
          </p:nvPr>
        </p:nvSpPr>
        <p:spPr>
          <a:xfrm>
            <a:off x="587388" y="2799026"/>
            <a:ext cx="1796999" cy="665978"/>
          </a:xfrm>
          <a:custGeom>
            <a:avLst/>
            <a:gdLst>
              <a:gd name="connsiteX0" fmla="*/ 0 w 1872208"/>
              <a:gd name="connsiteY0" fmla="*/ 75209 h 665978"/>
              <a:gd name="connsiteX1" fmla="*/ 75209 w 1872208"/>
              <a:gd name="connsiteY1" fmla="*/ 0 h 665978"/>
              <a:gd name="connsiteX2" fmla="*/ 1796999 w 1872208"/>
              <a:gd name="connsiteY2" fmla="*/ 0 h 665978"/>
              <a:gd name="connsiteX3" fmla="*/ 1872208 w 1872208"/>
              <a:gd name="connsiteY3" fmla="*/ 75209 h 665978"/>
              <a:gd name="connsiteX4" fmla="*/ 1872208 w 1872208"/>
              <a:gd name="connsiteY4" fmla="*/ 590769 h 665978"/>
              <a:gd name="connsiteX5" fmla="*/ 1796999 w 1872208"/>
              <a:gd name="connsiteY5" fmla="*/ 665978 h 665978"/>
              <a:gd name="connsiteX6" fmla="*/ 75209 w 1872208"/>
              <a:gd name="connsiteY6" fmla="*/ 665978 h 665978"/>
              <a:gd name="connsiteX7" fmla="*/ 0 w 1872208"/>
              <a:gd name="connsiteY7" fmla="*/ 590769 h 665978"/>
              <a:gd name="connsiteX8" fmla="*/ 0 w 1872208"/>
              <a:gd name="connsiteY8" fmla="*/ 75209 h 665978"/>
              <a:gd name="connsiteX0" fmla="*/ 0 w 1872208"/>
              <a:gd name="connsiteY0" fmla="*/ 75209 h 665978"/>
              <a:gd name="connsiteX1" fmla="*/ 75209 w 1872208"/>
              <a:gd name="connsiteY1" fmla="*/ 0 h 665978"/>
              <a:gd name="connsiteX2" fmla="*/ 1796999 w 1872208"/>
              <a:gd name="connsiteY2" fmla="*/ 0 h 665978"/>
              <a:gd name="connsiteX3" fmla="*/ 1872208 w 1872208"/>
              <a:gd name="connsiteY3" fmla="*/ 75209 h 665978"/>
              <a:gd name="connsiteX4" fmla="*/ 1872208 w 1872208"/>
              <a:gd name="connsiteY4" fmla="*/ 590769 h 665978"/>
              <a:gd name="connsiteX5" fmla="*/ 1796999 w 1872208"/>
              <a:gd name="connsiteY5" fmla="*/ 665978 h 665978"/>
              <a:gd name="connsiteX6" fmla="*/ 75209 w 1872208"/>
              <a:gd name="connsiteY6" fmla="*/ 665978 h 665978"/>
              <a:gd name="connsiteX7" fmla="*/ 0 w 1872208"/>
              <a:gd name="connsiteY7" fmla="*/ 590769 h 665978"/>
              <a:gd name="connsiteX8" fmla="*/ 91440 w 1872208"/>
              <a:gd name="connsiteY8" fmla="*/ 166649 h 665978"/>
              <a:gd name="connsiteX0" fmla="*/ 0 w 1872208"/>
              <a:gd name="connsiteY0" fmla="*/ 75209 h 665978"/>
              <a:gd name="connsiteX1" fmla="*/ 75209 w 1872208"/>
              <a:gd name="connsiteY1" fmla="*/ 0 h 665978"/>
              <a:gd name="connsiteX2" fmla="*/ 1796999 w 1872208"/>
              <a:gd name="connsiteY2" fmla="*/ 0 h 665978"/>
              <a:gd name="connsiteX3" fmla="*/ 1872208 w 1872208"/>
              <a:gd name="connsiteY3" fmla="*/ 75209 h 665978"/>
              <a:gd name="connsiteX4" fmla="*/ 1872208 w 1872208"/>
              <a:gd name="connsiteY4" fmla="*/ 590769 h 665978"/>
              <a:gd name="connsiteX5" fmla="*/ 1796999 w 1872208"/>
              <a:gd name="connsiteY5" fmla="*/ 665978 h 665978"/>
              <a:gd name="connsiteX6" fmla="*/ 75209 w 1872208"/>
              <a:gd name="connsiteY6" fmla="*/ 665978 h 665978"/>
              <a:gd name="connsiteX7" fmla="*/ 0 w 1872208"/>
              <a:gd name="connsiteY7" fmla="*/ 590769 h 665978"/>
              <a:gd name="connsiteX0" fmla="*/ 75209 w 1872208"/>
              <a:gd name="connsiteY0" fmla="*/ 0 h 665978"/>
              <a:gd name="connsiteX1" fmla="*/ 1796999 w 1872208"/>
              <a:gd name="connsiteY1" fmla="*/ 0 h 665978"/>
              <a:gd name="connsiteX2" fmla="*/ 1872208 w 1872208"/>
              <a:gd name="connsiteY2" fmla="*/ 75209 h 665978"/>
              <a:gd name="connsiteX3" fmla="*/ 1872208 w 1872208"/>
              <a:gd name="connsiteY3" fmla="*/ 590769 h 665978"/>
              <a:gd name="connsiteX4" fmla="*/ 1796999 w 1872208"/>
              <a:gd name="connsiteY4" fmla="*/ 665978 h 665978"/>
              <a:gd name="connsiteX5" fmla="*/ 75209 w 1872208"/>
              <a:gd name="connsiteY5" fmla="*/ 665978 h 665978"/>
              <a:gd name="connsiteX6" fmla="*/ 0 w 1872208"/>
              <a:gd name="connsiteY6" fmla="*/ 590769 h 665978"/>
              <a:gd name="connsiteX0" fmla="*/ 0 w 1796999"/>
              <a:gd name="connsiteY0" fmla="*/ 0 h 665978"/>
              <a:gd name="connsiteX1" fmla="*/ 1721790 w 1796999"/>
              <a:gd name="connsiteY1" fmla="*/ 0 h 665978"/>
              <a:gd name="connsiteX2" fmla="*/ 1796999 w 1796999"/>
              <a:gd name="connsiteY2" fmla="*/ 75209 h 665978"/>
              <a:gd name="connsiteX3" fmla="*/ 1796999 w 1796999"/>
              <a:gd name="connsiteY3" fmla="*/ 590769 h 665978"/>
              <a:gd name="connsiteX4" fmla="*/ 1721790 w 1796999"/>
              <a:gd name="connsiteY4" fmla="*/ 665978 h 665978"/>
              <a:gd name="connsiteX5" fmla="*/ 0 w 1796999"/>
              <a:gd name="connsiteY5" fmla="*/ 665978 h 665978"/>
              <a:gd name="connsiteX0" fmla="*/ 0 w 1796999"/>
              <a:gd name="connsiteY0" fmla="*/ 0 h 665978"/>
              <a:gd name="connsiteX1" fmla="*/ 1721790 w 1796999"/>
              <a:gd name="connsiteY1" fmla="*/ 0 h 665978"/>
              <a:gd name="connsiteX2" fmla="*/ 1796999 w 1796999"/>
              <a:gd name="connsiteY2" fmla="*/ 75209 h 665978"/>
              <a:gd name="connsiteX3" fmla="*/ 1796999 w 1796999"/>
              <a:gd name="connsiteY3" fmla="*/ 590769 h 665978"/>
              <a:gd name="connsiteX4" fmla="*/ 1721790 w 1796999"/>
              <a:gd name="connsiteY4" fmla="*/ 665978 h 665978"/>
              <a:gd name="connsiteX5" fmla="*/ 0 w 1796999"/>
              <a:gd name="connsiteY5" fmla="*/ 665978 h 665978"/>
              <a:gd name="connsiteX6" fmla="*/ 0 w 1796999"/>
              <a:gd name="connsiteY6" fmla="*/ 0 h 66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6999" h="665978">
                <a:moveTo>
                  <a:pt x="0" y="0"/>
                </a:moveTo>
                <a:lnTo>
                  <a:pt x="1721790" y="0"/>
                </a:lnTo>
                <a:cubicBezTo>
                  <a:pt x="1763327" y="0"/>
                  <a:pt x="1796999" y="33672"/>
                  <a:pt x="1796999" y="75209"/>
                </a:cubicBezTo>
                <a:lnTo>
                  <a:pt x="1796999" y="590769"/>
                </a:lnTo>
                <a:cubicBezTo>
                  <a:pt x="1796999" y="632306"/>
                  <a:pt x="1763327" y="665978"/>
                  <a:pt x="1721790" y="665978"/>
                </a:cubicBezTo>
                <a:lnTo>
                  <a:pt x="0" y="665978"/>
                </a:lnTo>
                <a:lnTo>
                  <a:pt x="0" y="0"/>
                </a:lnTo>
                <a:close/>
              </a:path>
            </a:pathLst>
          </a:custGeom>
          <a:solidFill>
            <a:schemeClr val="tx2"/>
          </a:solidFill>
        </p:spPr>
        <p:txBody>
          <a:bodyPr lIns="108000" tIns="0" rIns="36000" bIns="0" anchor="ctr">
            <a:noAutofit/>
          </a:bodyPr>
          <a:lstStyle>
            <a:lvl1pPr>
              <a:lnSpc>
                <a:spcPct val="90000"/>
              </a:lnSpc>
              <a:defRPr sz="1600" b="1" cap="all" baseline="0">
                <a:solidFill>
                  <a:schemeClr val="bg1"/>
                </a:solidFill>
                <a:latin typeface="+mj-lt"/>
              </a:defRPr>
            </a:lvl1pPr>
            <a:lvl2pPr>
              <a:lnSpc>
                <a:spcPct val="90000"/>
              </a:lnSpc>
              <a:spcBef>
                <a:spcPts val="0"/>
              </a:spcBef>
              <a:defRPr sz="850">
                <a:solidFill>
                  <a:schemeClr val="bg1"/>
                </a:solidFill>
              </a:defRPr>
            </a:lvl2pPr>
          </a:lstStyle>
          <a:p>
            <a:pPr lvl="0"/>
            <a:r>
              <a:rPr lang="fr-FR"/>
              <a:t>TITRE</a:t>
            </a:r>
          </a:p>
          <a:p>
            <a:pPr lvl="1"/>
            <a:r>
              <a:rPr lang="fr-FR"/>
              <a:t>Deuxième niveau</a:t>
            </a:r>
          </a:p>
        </p:txBody>
      </p:sp>
      <p:sp>
        <p:nvSpPr>
          <p:cNvPr id="9" name="Espace réservé du texte 10"/>
          <p:cNvSpPr>
            <a:spLocks noGrp="1"/>
          </p:cNvSpPr>
          <p:nvPr>
            <p:ph type="body" sz="quarter" idx="27" hasCustomPrompt="1"/>
          </p:nvPr>
        </p:nvSpPr>
        <p:spPr>
          <a:xfrm>
            <a:off x="4405091" y="657971"/>
            <a:ext cx="1919375" cy="538781"/>
          </a:xfrm>
          <a:custGeom>
            <a:avLst/>
            <a:gdLst>
              <a:gd name="connsiteX0" fmla="*/ 0 w 1980220"/>
              <a:gd name="connsiteY0" fmla="*/ 60845 h 538781"/>
              <a:gd name="connsiteX1" fmla="*/ 60845 w 1980220"/>
              <a:gd name="connsiteY1" fmla="*/ 0 h 538781"/>
              <a:gd name="connsiteX2" fmla="*/ 1919375 w 1980220"/>
              <a:gd name="connsiteY2" fmla="*/ 0 h 538781"/>
              <a:gd name="connsiteX3" fmla="*/ 1980220 w 1980220"/>
              <a:gd name="connsiteY3" fmla="*/ 60845 h 538781"/>
              <a:gd name="connsiteX4" fmla="*/ 1980220 w 1980220"/>
              <a:gd name="connsiteY4" fmla="*/ 477936 h 538781"/>
              <a:gd name="connsiteX5" fmla="*/ 1919375 w 1980220"/>
              <a:gd name="connsiteY5" fmla="*/ 538781 h 538781"/>
              <a:gd name="connsiteX6" fmla="*/ 60845 w 1980220"/>
              <a:gd name="connsiteY6" fmla="*/ 538781 h 538781"/>
              <a:gd name="connsiteX7" fmla="*/ 0 w 1980220"/>
              <a:gd name="connsiteY7" fmla="*/ 477936 h 538781"/>
              <a:gd name="connsiteX8" fmla="*/ 0 w 1980220"/>
              <a:gd name="connsiteY8" fmla="*/ 60845 h 538781"/>
              <a:gd name="connsiteX0" fmla="*/ 0 w 1980220"/>
              <a:gd name="connsiteY0" fmla="*/ 60845 h 538781"/>
              <a:gd name="connsiteX1" fmla="*/ 60845 w 1980220"/>
              <a:gd name="connsiteY1" fmla="*/ 0 h 538781"/>
              <a:gd name="connsiteX2" fmla="*/ 1919375 w 1980220"/>
              <a:gd name="connsiteY2" fmla="*/ 0 h 538781"/>
              <a:gd name="connsiteX3" fmla="*/ 1980220 w 1980220"/>
              <a:gd name="connsiteY3" fmla="*/ 60845 h 538781"/>
              <a:gd name="connsiteX4" fmla="*/ 1980220 w 1980220"/>
              <a:gd name="connsiteY4" fmla="*/ 477936 h 538781"/>
              <a:gd name="connsiteX5" fmla="*/ 1919375 w 1980220"/>
              <a:gd name="connsiteY5" fmla="*/ 538781 h 538781"/>
              <a:gd name="connsiteX6" fmla="*/ 60845 w 1980220"/>
              <a:gd name="connsiteY6" fmla="*/ 538781 h 538781"/>
              <a:gd name="connsiteX7" fmla="*/ 0 w 1980220"/>
              <a:gd name="connsiteY7" fmla="*/ 477936 h 538781"/>
              <a:gd name="connsiteX8" fmla="*/ 91440 w 1980220"/>
              <a:gd name="connsiteY8" fmla="*/ 152285 h 538781"/>
              <a:gd name="connsiteX0" fmla="*/ 60845 w 1980220"/>
              <a:gd name="connsiteY0" fmla="*/ 0 h 538781"/>
              <a:gd name="connsiteX1" fmla="*/ 1919375 w 1980220"/>
              <a:gd name="connsiteY1" fmla="*/ 0 h 538781"/>
              <a:gd name="connsiteX2" fmla="*/ 1980220 w 1980220"/>
              <a:gd name="connsiteY2" fmla="*/ 60845 h 538781"/>
              <a:gd name="connsiteX3" fmla="*/ 1980220 w 1980220"/>
              <a:gd name="connsiteY3" fmla="*/ 477936 h 538781"/>
              <a:gd name="connsiteX4" fmla="*/ 1919375 w 1980220"/>
              <a:gd name="connsiteY4" fmla="*/ 538781 h 538781"/>
              <a:gd name="connsiteX5" fmla="*/ 60845 w 1980220"/>
              <a:gd name="connsiteY5" fmla="*/ 538781 h 538781"/>
              <a:gd name="connsiteX6" fmla="*/ 0 w 1980220"/>
              <a:gd name="connsiteY6" fmla="*/ 477936 h 538781"/>
              <a:gd name="connsiteX7" fmla="*/ 91440 w 1980220"/>
              <a:gd name="connsiteY7" fmla="*/ 152285 h 538781"/>
              <a:gd name="connsiteX0" fmla="*/ 60845 w 1980220"/>
              <a:gd name="connsiteY0" fmla="*/ 0 h 538781"/>
              <a:gd name="connsiteX1" fmla="*/ 1919375 w 1980220"/>
              <a:gd name="connsiteY1" fmla="*/ 0 h 538781"/>
              <a:gd name="connsiteX2" fmla="*/ 1980220 w 1980220"/>
              <a:gd name="connsiteY2" fmla="*/ 60845 h 538781"/>
              <a:gd name="connsiteX3" fmla="*/ 1980220 w 1980220"/>
              <a:gd name="connsiteY3" fmla="*/ 477936 h 538781"/>
              <a:gd name="connsiteX4" fmla="*/ 1919375 w 1980220"/>
              <a:gd name="connsiteY4" fmla="*/ 538781 h 538781"/>
              <a:gd name="connsiteX5" fmla="*/ 60845 w 1980220"/>
              <a:gd name="connsiteY5" fmla="*/ 538781 h 538781"/>
              <a:gd name="connsiteX6" fmla="*/ 0 w 1980220"/>
              <a:gd name="connsiteY6" fmla="*/ 477936 h 538781"/>
              <a:gd name="connsiteX0" fmla="*/ 0 w 1919375"/>
              <a:gd name="connsiteY0" fmla="*/ 0 h 538781"/>
              <a:gd name="connsiteX1" fmla="*/ 1858530 w 1919375"/>
              <a:gd name="connsiteY1" fmla="*/ 0 h 538781"/>
              <a:gd name="connsiteX2" fmla="*/ 1919375 w 1919375"/>
              <a:gd name="connsiteY2" fmla="*/ 60845 h 538781"/>
              <a:gd name="connsiteX3" fmla="*/ 1919375 w 1919375"/>
              <a:gd name="connsiteY3" fmla="*/ 477936 h 538781"/>
              <a:gd name="connsiteX4" fmla="*/ 1858530 w 1919375"/>
              <a:gd name="connsiteY4" fmla="*/ 538781 h 538781"/>
              <a:gd name="connsiteX5" fmla="*/ 0 w 1919375"/>
              <a:gd name="connsiteY5" fmla="*/ 538781 h 538781"/>
              <a:gd name="connsiteX0" fmla="*/ 0 w 1919375"/>
              <a:gd name="connsiteY0" fmla="*/ 0 h 538781"/>
              <a:gd name="connsiteX1" fmla="*/ 1858530 w 1919375"/>
              <a:gd name="connsiteY1" fmla="*/ 0 h 538781"/>
              <a:gd name="connsiteX2" fmla="*/ 1919375 w 1919375"/>
              <a:gd name="connsiteY2" fmla="*/ 60845 h 538781"/>
              <a:gd name="connsiteX3" fmla="*/ 1919375 w 1919375"/>
              <a:gd name="connsiteY3" fmla="*/ 477936 h 538781"/>
              <a:gd name="connsiteX4" fmla="*/ 1858530 w 1919375"/>
              <a:gd name="connsiteY4" fmla="*/ 538781 h 538781"/>
              <a:gd name="connsiteX5" fmla="*/ 0 w 1919375"/>
              <a:gd name="connsiteY5" fmla="*/ 538781 h 538781"/>
              <a:gd name="connsiteX6" fmla="*/ 0 w 1919375"/>
              <a:gd name="connsiteY6" fmla="*/ 0 h 53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9375" h="538781">
                <a:moveTo>
                  <a:pt x="0" y="0"/>
                </a:moveTo>
                <a:lnTo>
                  <a:pt x="1858530" y="0"/>
                </a:lnTo>
                <a:cubicBezTo>
                  <a:pt x="1892134" y="0"/>
                  <a:pt x="1919375" y="27241"/>
                  <a:pt x="1919375" y="60845"/>
                </a:cubicBezTo>
                <a:lnTo>
                  <a:pt x="1919375" y="477936"/>
                </a:lnTo>
                <a:cubicBezTo>
                  <a:pt x="1919375" y="511540"/>
                  <a:pt x="1892134" y="538781"/>
                  <a:pt x="1858530" y="538781"/>
                </a:cubicBezTo>
                <a:lnTo>
                  <a:pt x="0" y="538781"/>
                </a:lnTo>
                <a:lnTo>
                  <a:pt x="0" y="0"/>
                </a:lnTo>
                <a:close/>
              </a:path>
            </a:pathLst>
          </a:custGeom>
          <a:solidFill>
            <a:schemeClr val="tx2"/>
          </a:solidFill>
        </p:spPr>
        <p:txBody>
          <a:bodyPr lIns="108000" tIns="0" rIns="36000" bIns="0" anchor="ctr">
            <a:noAutofit/>
          </a:bodyPr>
          <a:lstStyle>
            <a:lvl1pPr>
              <a:lnSpc>
                <a:spcPct val="90000"/>
              </a:lnSpc>
              <a:defRPr sz="1600" b="1" cap="all" baseline="0">
                <a:solidFill>
                  <a:schemeClr val="bg1"/>
                </a:solidFill>
                <a:latin typeface="+mj-lt"/>
              </a:defRPr>
            </a:lvl1pPr>
            <a:lvl2pPr>
              <a:lnSpc>
                <a:spcPct val="90000"/>
              </a:lnSpc>
              <a:spcBef>
                <a:spcPts val="0"/>
              </a:spcBef>
              <a:defRPr sz="850">
                <a:solidFill>
                  <a:schemeClr val="bg1"/>
                </a:solidFill>
              </a:defRPr>
            </a:lvl2pPr>
          </a:lstStyle>
          <a:p>
            <a:pPr lvl="0"/>
            <a:r>
              <a:rPr lang="fr-FR"/>
              <a:t>TITRE</a:t>
            </a:r>
          </a:p>
          <a:p>
            <a:pPr lvl="1"/>
            <a:r>
              <a:rPr lang="fr-FR"/>
              <a:t>Deuxième niveau</a:t>
            </a:r>
          </a:p>
        </p:txBody>
      </p:sp>
      <p:sp>
        <p:nvSpPr>
          <p:cNvPr id="11" name="Espace réservé du texte 10"/>
          <p:cNvSpPr>
            <a:spLocks noGrp="1"/>
          </p:cNvSpPr>
          <p:nvPr>
            <p:ph type="body" sz="quarter" idx="29" hasCustomPrompt="1"/>
          </p:nvPr>
        </p:nvSpPr>
        <p:spPr>
          <a:xfrm>
            <a:off x="9054087" y="170734"/>
            <a:ext cx="2661095" cy="665978"/>
          </a:xfrm>
          <a:custGeom>
            <a:avLst/>
            <a:gdLst>
              <a:gd name="connsiteX0" fmla="*/ 0 w 2736304"/>
              <a:gd name="connsiteY0" fmla="*/ 75209 h 665978"/>
              <a:gd name="connsiteX1" fmla="*/ 75209 w 2736304"/>
              <a:gd name="connsiteY1" fmla="*/ 0 h 665978"/>
              <a:gd name="connsiteX2" fmla="*/ 2661095 w 2736304"/>
              <a:gd name="connsiteY2" fmla="*/ 0 h 665978"/>
              <a:gd name="connsiteX3" fmla="*/ 2736304 w 2736304"/>
              <a:gd name="connsiteY3" fmla="*/ 75209 h 665978"/>
              <a:gd name="connsiteX4" fmla="*/ 2736304 w 2736304"/>
              <a:gd name="connsiteY4" fmla="*/ 590769 h 665978"/>
              <a:gd name="connsiteX5" fmla="*/ 2661095 w 2736304"/>
              <a:gd name="connsiteY5" fmla="*/ 665978 h 665978"/>
              <a:gd name="connsiteX6" fmla="*/ 75209 w 2736304"/>
              <a:gd name="connsiteY6" fmla="*/ 665978 h 665978"/>
              <a:gd name="connsiteX7" fmla="*/ 0 w 2736304"/>
              <a:gd name="connsiteY7" fmla="*/ 590769 h 665978"/>
              <a:gd name="connsiteX8" fmla="*/ 0 w 2736304"/>
              <a:gd name="connsiteY8" fmla="*/ 75209 h 665978"/>
              <a:gd name="connsiteX0" fmla="*/ 2736304 w 2827744"/>
              <a:gd name="connsiteY0" fmla="*/ 75209 h 665978"/>
              <a:gd name="connsiteX1" fmla="*/ 2736304 w 2827744"/>
              <a:gd name="connsiteY1" fmla="*/ 590769 h 665978"/>
              <a:gd name="connsiteX2" fmla="*/ 2661095 w 2827744"/>
              <a:gd name="connsiteY2" fmla="*/ 665978 h 665978"/>
              <a:gd name="connsiteX3" fmla="*/ 75209 w 2827744"/>
              <a:gd name="connsiteY3" fmla="*/ 665978 h 665978"/>
              <a:gd name="connsiteX4" fmla="*/ 0 w 2827744"/>
              <a:gd name="connsiteY4" fmla="*/ 590769 h 665978"/>
              <a:gd name="connsiteX5" fmla="*/ 0 w 2827744"/>
              <a:gd name="connsiteY5" fmla="*/ 75209 h 665978"/>
              <a:gd name="connsiteX6" fmla="*/ 75209 w 2827744"/>
              <a:gd name="connsiteY6" fmla="*/ 0 h 665978"/>
              <a:gd name="connsiteX7" fmla="*/ 2661095 w 2827744"/>
              <a:gd name="connsiteY7" fmla="*/ 0 h 665978"/>
              <a:gd name="connsiteX8" fmla="*/ 2827744 w 2827744"/>
              <a:gd name="connsiteY8" fmla="*/ 166649 h 665978"/>
              <a:gd name="connsiteX0" fmla="*/ 2736304 w 2736304"/>
              <a:gd name="connsiteY0" fmla="*/ 75209 h 665978"/>
              <a:gd name="connsiteX1" fmla="*/ 2736304 w 2736304"/>
              <a:gd name="connsiteY1" fmla="*/ 590769 h 665978"/>
              <a:gd name="connsiteX2" fmla="*/ 2661095 w 2736304"/>
              <a:gd name="connsiteY2" fmla="*/ 665978 h 665978"/>
              <a:gd name="connsiteX3" fmla="*/ 75209 w 2736304"/>
              <a:gd name="connsiteY3" fmla="*/ 665978 h 665978"/>
              <a:gd name="connsiteX4" fmla="*/ 0 w 2736304"/>
              <a:gd name="connsiteY4" fmla="*/ 590769 h 665978"/>
              <a:gd name="connsiteX5" fmla="*/ 0 w 2736304"/>
              <a:gd name="connsiteY5" fmla="*/ 75209 h 665978"/>
              <a:gd name="connsiteX6" fmla="*/ 75209 w 2736304"/>
              <a:gd name="connsiteY6" fmla="*/ 0 h 665978"/>
              <a:gd name="connsiteX7" fmla="*/ 2661095 w 2736304"/>
              <a:gd name="connsiteY7" fmla="*/ 0 h 665978"/>
              <a:gd name="connsiteX0" fmla="*/ 2736304 w 2736304"/>
              <a:gd name="connsiteY0" fmla="*/ 590769 h 665978"/>
              <a:gd name="connsiteX1" fmla="*/ 2661095 w 2736304"/>
              <a:gd name="connsiteY1" fmla="*/ 665978 h 665978"/>
              <a:gd name="connsiteX2" fmla="*/ 75209 w 2736304"/>
              <a:gd name="connsiteY2" fmla="*/ 665978 h 665978"/>
              <a:gd name="connsiteX3" fmla="*/ 0 w 2736304"/>
              <a:gd name="connsiteY3" fmla="*/ 590769 h 665978"/>
              <a:gd name="connsiteX4" fmla="*/ 0 w 2736304"/>
              <a:gd name="connsiteY4" fmla="*/ 75209 h 665978"/>
              <a:gd name="connsiteX5" fmla="*/ 75209 w 2736304"/>
              <a:gd name="connsiteY5" fmla="*/ 0 h 665978"/>
              <a:gd name="connsiteX6" fmla="*/ 2661095 w 2736304"/>
              <a:gd name="connsiteY6" fmla="*/ 0 h 665978"/>
              <a:gd name="connsiteX0" fmla="*/ 2661095 w 2661095"/>
              <a:gd name="connsiteY0" fmla="*/ 665978 h 665978"/>
              <a:gd name="connsiteX1" fmla="*/ 75209 w 2661095"/>
              <a:gd name="connsiteY1" fmla="*/ 665978 h 665978"/>
              <a:gd name="connsiteX2" fmla="*/ 0 w 2661095"/>
              <a:gd name="connsiteY2" fmla="*/ 590769 h 665978"/>
              <a:gd name="connsiteX3" fmla="*/ 0 w 2661095"/>
              <a:gd name="connsiteY3" fmla="*/ 75209 h 665978"/>
              <a:gd name="connsiteX4" fmla="*/ 75209 w 2661095"/>
              <a:gd name="connsiteY4" fmla="*/ 0 h 665978"/>
              <a:gd name="connsiteX5" fmla="*/ 2661095 w 2661095"/>
              <a:gd name="connsiteY5" fmla="*/ 0 h 665978"/>
              <a:gd name="connsiteX0" fmla="*/ 2661095 w 2661095"/>
              <a:gd name="connsiteY0" fmla="*/ 665978 h 665978"/>
              <a:gd name="connsiteX1" fmla="*/ 75209 w 2661095"/>
              <a:gd name="connsiteY1" fmla="*/ 665978 h 665978"/>
              <a:gd name="connsiteX2" fmla="*/ 0 w 2661095"/>
              <a:gd name="connsiteY2" fmla="*/ 590769 h 665978"/>
              <a:gd name="connsiteX3" fmla="*/ 0 w 2661095"/>
              <a:gd name="connsiteY3" fmla="*/ 75209 h 665978"/>
              <a:gd name="connsiteX4" fmla="*/ 75209 w 2661095"/>
              <a:gd name="connsiteY4" fmla="*/ 0 h 665978"/>
              <a:gd name="connsiteX5" fmla="*/ 2661095 w 2661095"/>
              <a:gd name="connsiteY5" fmla="*/ 0 h 665978"/>
              <a:gd name="connsiteX6" fmla="*/ 2661095 w 2661095"/>
              <a:gd name="connsiteY6" fmla="*/ 665978 h 66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1095" h="665978">
                <a:moveTo>
                  <a:pt x="2661095" y="665978"/>
                </a:moveTo>
                <a:lnTo>
                  <a:pt x="75209" y="665978"/>
                </a:lnTo>
                <a:cubicBezTo>
                  <a:pt x="33672" y="665978"/>
                  <a:pt x="0" y="632306"/>
                  <a:pt x="0" y="590769"/>
                </a:cubicBezTo>
                <a:lnTo>
                  <a:pt x="0" y="75209"/>
                </a:lnTo>
                <a:cubicBezTo>
                  <a:pt x="0" y="33672"/>
                  <a:pt x="33672" y="0"/>
                  <a:pt x="75209" y="0"/>
                </a:cubicBezTo>
                <a:lnTo>
                  <a:pt x="2661095" y="0"/>
                </a:lnTo>
                <a:lnTo>
                  <a:pt x="2661095" y="665978"/>
                </a:lnTo>
                <a:close/>
              </a:path>
            </a:pathLst>
          </a:custGeom>
          <a:solidFill>
            <a:schemeClr val="tx2"/>
          </a:solidFill>
        </p:spPr>
        <p:txBody>
          <a:bodyPr lIns="108000" tIns="0" rIns="144000" bIns="0" anchor="ctr">
            <a:noAutofit/>
          </a:bodyPr>
          <a:lstStyle>
            <a:lvl1pPr algn="r">
              <a:lnSpc>
                <a:spcPct val="90000"/>
              </a:lnSpc>
              <a:defRPr sz="1600" b="1" cap="all" baseline="0">
                <a:solidFill>
                  <a:schemeClr val="bg1"/>
                </a:solidFill>
                <a:latin typeface="+mj-lt"/>
              </a:defRPr>
            </a:lvl1pPr>
            <a:lvl2pPr algn="r">
              <a:lnSpc>
                <a:spcPct val="90000"/>
              </a:lnSpc>
              <a:spcBef>
                <a:spcPts val="0"/>
              </a:spcBef>
              <a:defRPr sz="850">
                <a:solidFill>
                  <a:schemeClr val="bg1"/>
                </a:solidFill>
              </a:defRPr>
            </a:lvl2pPr>
          </a:lstStyle>
          <a:p>
            <a:pPr lvl="0"/>
            <a:r>
              <a:rPr lang="fr-FR"/>
              <a:t>TITRE</a:t>
            </a:r>
          </a:p>
          <a:p>
            <a:pPr lvl="1"/>
            <a:r>
              <a:rPr lang="fr-FR"/>
              <a:t>Deuxième niveau</a:t>
            </a:r>
          </a:p>
        </p:txBody>
      </p:sp>
      <p:sp>
        <p:nvSpPr>
          <p:cNvPr id="13" name="Espace réservé du texte 10"/>
          <p:cNvSpPr>
            <a:spLocks noGrp="1"/>
          </p:cNvSpPr>
          <p:nvPr>
            <p:ph type="body" sz="quarter" idx="31" hasCustomPrompt="1"/>
          </p:nvPr>
        </p:nvSpPr>
        <p:spPr>
          <a:xfrm>
            <a:off x="9051529" y="4974021"/>
            <a:ext cx="2661095" cy="665978"/>
          </a:xfrm>
          <a:custGeom>
            <a:avLst/>
            <a:gdLst>
              <a:gd name="connsiteX0" fmla="*/ 0 w 2736304"/>
              <a:gd name="connsiteY0" fmla="*/ 75209 h 665978"/>
              <a:gd name="connsiteX1" fmla="*/ 75209 w 2736304"/>
              <a:gd name="connsiteY1" fmla="*/ 0 h 665978"/>
              <a:gd name="connsiteX2" fmla="*/ 2661095 w 2736304"/>
              <a:gd name="connsiteY2" fmla="*/ 0 h 665978"/>
              <a:gd name="connsiteX3" fmla="*/ 2736304 w 2736304"/>
              <a:gd name="connsiteY3" fmla="*/ 75209 h 665978"/>
              <a:gd name="connsiteX4" fmla="*/ 2736304 w 2736304"/>
              <a:gd name="connsiteY4" fmla="*/ 590769 h 665978"/>
              <a:gd name="connsiteX5" fmla="*/ 2661095 w 2736304"/>
              <a:gd name="connsiteY5" fmla="*/ 665978 h 665978"/>
              <a:gd name="connsiteX6" fmla="*/ 75209 w 2736304"/>
              <a:gd name="connsiteY6" fmla="*/ 665978 h 665978"/>
              <a:gd name="connsiteX7" fmla="*/ 0 w 2736304"/>
              <a:gd name="connsiteY7" fmla="*/ 590769 h 665978"/>
              <a:gd name="connsiteX8" fmla="*/ 0 w 2736304"/>
              <a:gd name="connsiteY8" fmla="*/ 75209 h 665978"/>
              <a:gd name="connsiteX0" fmla="*/ 2736304 w 2827744"/>
              <a:gd name="connsiteY0" fmla="*/ 75209 h 665978"/>
              <a:gd name="connsiteX1" fmla="*/ 2736304 w 2827744"/>
              <a:gd name="connsiteY1" fmla="*/ 590769 h 665978"/>
              <a:gd name="connsiteX2" fmla="*/ 2661095 w 2827744"/>
              <a:gd name="connsiteY2" fmla="*/ 665978 h 665978"/>
              <a:gd name="connsiteX3" fmla="*/ 75209 w 2827744"/>
              <a:gd name="connsiteY3" fmla="*/ 665978 h 665978"/>
              <a:gd name="connsiteX4" fmla="*/ 0 w 2827744"/>
              <a:gd name="connsiteY4" fmla="*/ 590769 h 665978"/>
              <a:gd name="connsiteX5" fmla="*/ 0 w 2827744"/>
              <a:gd name="connsiteY5" fmla="*/ 75209 h 665978"/>
              <a:gd name="connsiteX6" fmla="*/ 75209 w 2827744"/>
              <a:gd name="connsiteY6" fmla="*/ 0 h 665978"/>
              <a:gd name="connsiteX7" fmla="*/ 2661095 w 2827744"/>
              <a:gd name="connsiteY7" fmla="*/ 0 h 665978"/>
              <a:gd name="connsiteX8" fmla="*/ 2827744 w 2827744"/>
              <a:gd name="connsiteY8" fmla="*/ 166649 h 665978"/>
              <a:gd name="connsiteX0" fmla="*/ 2736304 w 2736304"/>
              <a:gd name="connsiteY0" fmla="*/ 75209 h 665978"/>
              <a:gd name="connsiteX1" fmla="*/ 2736304 w 2736304"/>
              <a:gd name="connsiteY1" fmla="*/ 590769 h 665978"/>
              <a:gd name="connsiteX2" fmla="*/ 2661095 w 2736304"/>
              <a:gd name="connsiteY2" fmla="*/ 665978 h 665978"/>
              <a:gd name="connsiteX3" fmla="*/ 75209 w 2736304"/>
              <a:gd name="connsiteY3" fmla="*/ 665978 h 665978"/>
              <a:gd name="connsiteX4" fmla="*/ 0 w 2736304"/>
              <a:gd name="connsiteY4" fmla="*/ 590769 h 665978"/>
              <a:gd name="connsiteX5" fmla="*/ 0 w 2736304"/>
              <a:gd name="connsiteY5" fmla="*/ 75209 h 665978"/>
              <a:gd name="connsiteX6" fmla="*/ 75209 w 2736304"/>
              <a:gd name="connsiteY6" fmla="*/ 0 h 665978"/>
              <a:gd name="connsiteX7" fmla="*/ 2661095 w 2736304"/>
              <a:gd name="connsiteY7" fmla="*/ 0 h 665978"/>
              <a:gd name="connsiteX0" fmla="*/ 2736304 w 2736304"/>
              <a:gd name="connsiteY0" fmla="*/ 590769 h 665978"/>
              <a:gd name="connsiteX1" fmla="*/ 2661095 w 2736304"/>
              <a:gd name="connsiteY1" fmla="*/ 665978 h 665978"/>
              <a:gd name="connsiteX2" fmla="*/ 75209 w 2736304"/>
              <a:gd name="connsiteY2" fmla="*/ 665978 h 665978"/>
              <a:gd name="connsiteX3" fmla="*/ 0 w 2736304"/>
              <a:gd name="connsiteY3" fmla="*/ 590769 h 665978"/>
              <a:gd name="connsiteX4" fmla="*/ 0 w 2736304"/>
              <a:gd name="connsiteY4" fmla="*/ 75209 h 665978"/>
              <a:gd name="connsiteX5" fmla="*/ 75209 w 2736304"/>
              <a:gd name="connsiteY5" fmla="*/ 0 h 665978"/>
              <a:gd name="connsiteX6" fmla="*/ 2661095 w 2736304"/>
              <a:gd name="connsiteY6" fmla="*/ 0 h 665978"/>
              <a:gd name="connsiteX0" fmla="*/ 2661095 w 2661095"/>
              <a:gd name="connsiteY0" fmla="*/ 665978 h 665978"/>
              <a:gd name="connsiteX1" fmla="*/ 75209 w 2661095"/>
              <a:gd name="connsiteY1" fmla="*/ 665978 h 665978"/>
              <a:gd name="connsiteX2" fmla="*/ 0 w 2661095"/>
              <a:gd name="connsiteY2" fmla="*/ 590769 h 665978"/>
              <a:gd name="connsiteX3" fmla="*/ 0 w 2661095"/>
              <a:gd name="connsiteY3" fmla="*/ 75209 h 665978"/>
              <a:gd name="connsiteX4" fmla="*/ 75209 w 2661095"/>
              <a:gd name="connsiteY4" fmla="*/ 0 h 665978"/>
              <a:gd name="connsiteX5" fmla="*/ 2661095 w 2661095"/>
              <a:gd name="connsiteY5" fmla="*/ 0 h 665978"/>
              <a:gd name="connsiteX0" fmla="*/ 2661095 w 2661095"/>
              <a:gd name="connsiteY0" fmla="*/ 665978 h 665978"/>
              <a:gd name="connsiteX1" fmla="*/ 75209 w 2661095"/>
              <a:gd name="connsiteY1" fmla="*/ 665978 h 665978"/>
              <a:gd name="connsiteX2" fmla="*/ 0 w 2661095"/>
              <a:gd name="connsiteY2" fmla="*/ 590769 h 665978"/>
              <a:gd name="connsiteX3" fmla="*/ 0 w 2661095"/>
              <a:gd name="connsiteY3" fmla="*/ 75209 h 665978"/>
              <a:gd name="connsiteX4" fmla="*/ 75209 w 2661095"/>
              <a:gd name="connsiteY4" fmla="*/ 0 h 665978"/>
              <a:gd name="connsiteX5" fmla="*/ 2661095 w 2661095"/>
              <a:gd name="connsiteY5" fmla="*/ 0 h 665978"/>
              <a:gd name="connsiteX6" fmla="*/ 2661095 w 2661095"/>
              <a:gd name="connsiteY6" fmla="*/ 665978 h 66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1095" h="665978">
                <a:moveTo>
                  <a:pt x="2661095" y="665978"/>
                </a:moveTo>
                <a:lnTo>
                  <a:pt x="75209" y="665978"/>
                </a:lnTo>
                <a:cubicBezTo>
                  <a:pt x="33672" y="665978"/>
                  <a:pt x="0" y="632306"/>
                  <a:pt x="0" y="590769"/>
                </a:cubicBezTo>
                <a:lnTo>
                  <a:pt x="0" y="75209"/>
                </a:lnTo>
                <a:cubicBezTo>
                  <a:pt x="0" y="33672"/>
                  <a:pt x="33672" y="0"/>
                  <a:pt x="75209" y="0"/>
                </a:cubicBezTo>
                <a:lnTo>
                  <a:pt x="2661095" y="0"/>
                </a:lnTo>
                <a:lnTo>
                  <a:pt x="2661095" y="665978"/>
                </a:lnTo>
                <a:close/>
              </a:path>
            </a:pathLst>
          </a:custGeom>
          <a:solidFill>
            <a:schemeClr val="tx2"/>
          </a:solidFill>
        </p:spPr>
        <p:txBody>
          <a:bodyPr lIns="108000" tIns="0" rIns="144000" bIns="0" anchor="ctr">
            <a:noAutofit/>
          </a:bodyPr>
          <a:lstStyle>
            <a:lvl1pPr algn="r">
              <a:lnSpc>
                <a:spcPct val="90000"/>
              </a:lnSpc>
              <a:defRPr sz="1600" b="1" cap="all" baseline="0">
                <a:solidFill>
                  <a:schemeClr val="bg1"/>
                </a:solidFill>
                <a:latin typeface="+mj-lt"/>
              </a:defRPr>
            </a:lvl1pPr>
            <a:lvl2pPr algn="r">
              <a:lnSpc>
                <a:spcPct val="90000"/>
              </a:lnSpc>
              <a:spcBef>
                <a:spcPts val="0"/>
              </a:spcBef>
              <a:defRPr sz="850">
                <a:solidFill>
                  <a:schemeClr val="bg1"/>
                </a:solidFill>
              </a:defRPr>
            </a:lvl2pPr>
          </a:lstStyle>
          <a:p>
            <a:pPr lvl="0"/>
            <a:r>
              <a:rPr lang="fr-FR"/>
              <a:t>TITRE</a:t>
            </a:r>
          </a:p>
          <a:p>
            <a:pPr lvl="1"/>
            <a:r>
              <a:rPr lang="fr-FR"/>
              <a:t>Deuxième niveau</a:t>
            </a:r>
          </a:p>
        </p:txBody>
      </p:sp>
      <p:sp>
        <p:nvSpPr>
          <p:cNvPr id="15" name="Espace réservé du texte 10"/>
          <p:cNvSpPr>
            <a:spLocks noGrp="1"/>
          </p:cNvSpPr>
          <p:nvPr>
            <p:ph type="body" sz="quarter" idx="33" hasCustomPrompt="1"/>
          </p:nvPr>
        </p:nvSpPr>
        <p:spPr>
          <a:xfrm>
            <a:off x="4405091" y="5363086"/>
            <a:ext cx="1570930" cy="766252"/>
          </a:xfrm>
          <a:custGeom>
            <a:avLst/>
            <a:gdLst>
              <a:gd name="connsiteX0" fmla="*/ 0 w 1657463"/>
              <a:gd name="connsiteY0" fmla="*/ 86533 h 766252"/>
              <a:gd name="connsiteX1" fmla="*/ 86533 w 1657463"/>
              <a:gd name="connsiteY1" fmla="*/ 0 h 766252"/>
              <a:gd name="connsiteX2" fmla="*/ 1570930 w 1657463"/>
              <a:gd name="connsiteY2" fmla="*/ 0 h 766252"/>
              <a:gd name="connsiteX3" fmla="*/ 1657463 w 1657463"/>
              <a:gd name="connsiteY3" fmla="*/ 86533 h 766252"/>
              <a:gd name="connsiteX4" fmla="*/ 1657463 w 1657463"/>
              <a:gd name="connsiteY4" fmla="*/ 679719 h 766252"/>
              <a:gd name="connsiteX5" fmla="*/ 1570930 w 1657463"/>
              <a:gd name="connsiteY5" fmla="*/ 766252 h 766252"/>
              <a:gd name="connsiteX6" fmla="*/ 86533 w 1657463"/>
              <a:gd name="connsiteY6" fmla="*/ 766252 h 766252"/>
              <a:gd name="connsiteX7" fmla="*/ 0 w 1657463"/>
              <a:gd name="connsiteY7" fmla="*/ 679719 h 766252"/>
              <a:gd name="connsiteX8" fmla="*/ 0 w 1657463"/>
              <a:gd name="connsiteY8" fmla="*/ 86533 h 766252"/>
              <a:gd name="connsiteX0" fmla="*/ 0 w 1657463"/>
              <a:gd name="connsiteY0" fmla="*/ 86533 h 766252"/>
              <a:gd name="connsiteX1" fmla="*/ 86533 w 1657463"/>
              <a:gd name="connsiteY1" fmla="*/ 0 h 766252"/>
              <a:gd name="connsiteX2" fmla="*/ 1570930 w 1657463"/>
              <a:gd name="connsiteY2" fmla="*/ 0 h 766252"/>
              <a:gd name="connsiteX3" fmla="*/ 1657463 w 1657463"/>
              <a:gd name="connsiteY3" fmla="*/ 86533 h 766252"/>
              <a:gd name="connsiteX4" fmla="*/ 1657463 w 1657463"/>
              <a:gd name="connsiteY4" fmla="*/ 679719 h 766252"/>
              <a:gd name="connsiteX5" fmla="*/ 1570930 w 1657463"/>
              <a:gd name="connsiteY5" fmla="*/ 766252 h 766252"/>
              <a:gd name="connsiteX6" fmla="*/ 86533 w 1657463"/>
              <a:gd name="connsiteY6" fmla="*/ 766252 h 766252"/>
              <a:gd name="connsiteX7" fmla="*/ 0 w 1657463"/>
              <a:gd name="connsiteY7" fmla="*/ 679719 h 766252"/>
              <a:gd name="connsiteX8" fmla="*/ 91440 w 1657463"/>
              <a:gd name="connsiteY8" fmla="*/ 177973 h 766252"/>
              <a:gd name="connsiteX0" fmla="*/ 86533 w 1657463"/>
              <a:gd name="connsiteY0" fmla="*/ 0 h 766252"/>
              <a:gd name="connsiteX1" fmla="*/ 1570930 w 1657463"/>
              <a:gd name="connsiteY1" fmla="*/ 0 h 766252"/>
              <a:gd name="connsiteX2" fmla="*/ 1657463 w 1657463"/>
              <a:gd name="connsiteY2" fmla="*/ 86533 h 766252"/>
              <a:gd name="connsiteX3" fmla="*/ 1657463 w 1657463"/>
              <a:gd name="connsiteY3" fmla="*/ 679719 h 766252"/>
              <a:gd name="connsiteX4" fmla="*/ 1570930 w 1657463"/>
              <a:gd name="connsiteY4" fmla="*/ 766252 h 766252"/>
              <a:gd name="connsiteX5" fmla="*/ 86533 w 1657463"/>
              <a:gd name="connsiteY5" fmla="*/ 766252 h 766252"/>
              <a:gd name="connsiteX6" fmla="*/ 0 w 1657463"/>
              <a:gd name="connsiteY6" fmla="*/ 679719 h 766252"/>
              <a:gd name="connsiteX7" fmla="*/ 91440 w 1657463"/>
              <a:gd name="connsiteY7" fmla="*/ 177973 h 766252"/>
              <a:gd name="connsiteX0" fmla="*/ 86533 w 1657463"/>
              <a:gd name="connsiteY0" fmla="*/ 0 h 766252"/>
              <a:gd name="connsiteX1" fmla="*/ 1570930 w 1657463"/>
              <a:gd name="connsiteY1" fmla="*/ 0 h 766252"/>
              <a:gd name="connsiteX2" fmla="*/ 1657463 w 1657463"/>
              <a:gd name="connsiteY2" fmla="*/ 86533 h 766252"/>
              <a:gd name="connsiteX3" fmla="*/ 1657463 w 1657463"/>
              <a:gd name="connsiteY3" fmla="*/ 679719 h 766252"/>
              <a:gd name="connsiteX4" fmla="*/ 1570930 w 1657463"/>
              <a:gd name="connsiteY4" fmla="*/ 766252 h 766252"/>
              <a:gd name="connsiteX5" fmla="*/ 86533 w 1657463"/>
              <a:gd name="connsiteY5" fmla="*/ 766252 h 766252"/>
              <a:gd name="connsiteX6" fmla="*/ 0 w 1657463"/>
              <a:gd name="connsiteY6" fmla="*/ 679719 h 766252"/>
              <a:gd name="connsiteX0" fmla="*/ 0 w 1570930"/>
              <a:gd name="connsiteY0" fmla="*/ 0 h 766252"/>
              <a:gd name="connsiteX1" fmla="*/ 1484397 w 1570930"/>
              <a:gd name="connsiteY1" fmla="*/ 0 h 766252"/>
              <a:gd name="connsiteX2" fmla="*/ 1570930 w 1570930"/>
              <a:gd name="connsiteY2" fmla="*/ 86533 h 766252"/>
              <a:gd name="connsiteX3" fmla="*/ 1570930 w 1570930"/>
              <a:gd name="connsiteY3" fmla="*/ 679719 h 766252"/>
              <a:gd name="connsiteX4" fmla="*/ 1484397 w 1570930"/>
              <a:gd name="connsiteY4" fmla="*/ 766252 h 766252"/>
              <a:gd name="connsiteX5" fmla="*/ 0 w 1570930"/>
              <a:gd name="connsiteY5" fmla="*/ 766252 h 766252"/>
              <a:gd name="connsiteX0" fmla="*/ 0 w 1570930"/>
              <a:gd name="connsiteY0" fmla="*/ 0 h 766252"/>
              <a:gd name="connsiteX1" fmla="*/ 1484397 w 1570930"/>
              <a:gd name="connsiteY1" fmla="*/ 0 h 766252"/>
              <a:gd name="connsiteX2" fmla="*/ 1570930 w 1570930"/>
              <a:gd name="connsiteY2" fmla="*/ 86533 h 766252"/>
              <a:gd name="connsiteX3" fmla="*/ 1570930 w 1570930"/>
              <a:gd name="connsiteY3" fmla="*/ 679719 h 766252"/>
              <a:gd name="connsiteX4" fmla="*/ 1484397 w 1570930"/>
              <a:gd name="connsiteY4" fmla="*/ 766252 h 766252"/>
              <a:gd name="connsiteX5" fmla="*/ 0 w 1570930"/>
              <a:gd name="connsiteY5" fmla="*/ 766252 h 766252"/>
              <a:gd name="connsiteX6" fmla="*/ 0 w 1570930"/>
              <a:gd name="connsiteY6" fmla="*/ 0 h 766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0930" h="766252">
                <a:moveTo>
                  <a:pt x="0" y="0"/>
                </a:moveTo>
                <a:lnTo>
                  <a:pt x="1484397" y="0"/>
                </a:lnTo>
                <a:cubicBezTo>
                  <a:pt x="1532188" y="0"/>
                  <a:pt x="1570930" y="38742"/>
                  <a:pt x="1570930" y="86533"/>
                </a:cubicBezTo>
                <a:lnTo>
                  <a:pt x="1570930" y="679719"/>
                </a:lnTo>
                <a:cubicBezTo>
                  <a:pt x="1570930" y="727510"/>
                  <a:pt x="1532188" y="766252"/>
                  <a:pt x="1484397" y="766252"/>
                </a:cubicBezTo>
                <a:lnTo>
                  <a:pt x="0" y="766252"/>
                </a:lnTo>
                <a:lnTo>
                  <a:pt x="0" y="0"/>
                </a:lnTo>
                <a:close/>
              </a:path>
            </a:pathLst>
          </a:custGeom>
          <a:solidFill>
            <a:schemeClr val="tx2"/>
          </a:solidFill>
        </p:spPr>
        <p:txBody>
          <a:bodyPr lIns="108000" tIns="0" rIns="36000" bIns="0" anchor="ctr">
            <a:noAutofit/>
          </a:bodyPr>
          <a:lstStyle>
            <a:lvl1pPr>
              <a:lnSpc>
                <a:spcPct val="90000"/>
              </a:lnSpc>
              <a:defRPr sz="1600" b="1" cap="all" baseline="0">
                <a:solidFill>
                  <a:schemeClr val="bg1"/>
                </a:solidFill>
                <a:latin typeface="+mj-lt"/>
              </a:defRPr>
            </a:lvl1pPr>
            <a:lvl2pPr>
              <a:lnSpc>
                <a:spcPct val="90000"/>
              </a:lnSpc>
              <a:spcBef>
                <a:spcPts val="0"/>
              </a:spcBef>
              <a:defRPr sz="850">
                <a:solidFill>
                  <a:schemeClr val="bg1"/>
                </a:solidFill>
              </a:defRPr>
            </a:lvl2pPr>
          </a:lstStyle>
          <a:p>
            <a:pPr lvl="0"/>
            <a:r>
              <a:rPr lang="fr-FR"/>
              <a:t>TITRE</a:t>
            </a:r>
          </a:p>
          <a:p>
            <a:pPr lvl="1"/>
            <a:r>
              <a:rPr lang="fr-FR"/>
              <a:t>Deuxième niveau</a:t>
            </a:r>
          </a:p>
        </p:txBody>
      </p:sp>
      <p:sp>
        <p:nvSpPr>
          <p:cNvPr id="17" name="Espace réservé du texte 10"/>
          <p:cNvSpPr>
            <a:spLocks noGrp="1"/>
          </p:cNvSpPr>
          <p:nvPr>
            <p:ph type="body" sz="quarter" idx="35" hasCustomPrompt="1"/>
          </p:nvPr>
        </p:nvSpPr>
        <p:spPr>
          <a:xfrm>
            <a:off x="580132" y="5859366"/>
            <a:ext cx="2812367" cy="665978"/>
          </a:xfrm>
          <a:custGeom>
            <a:avLst/>
            <a:gdLst>
              <a:gd name="connsiteX0" fmla="*/ 0 w 2887576"/>
              <a:gd name="connsiteY0" fmla="*/ 75209 h 665978"/>
              <a:gd name="connsiteX1" fmla="*/ 75209 w 2887576"/>
              <a:gd name="connsiteY1" fmla="*/ 0 h 665978"/>
              <a:gd name="connsiteX2" fmla="*/ 2812367 w 2887576"/>
              <a:gd name="connsiteY2" fmla="*/ 0 h 665978"/>
              <a:gd name="connsiteX3" fmla="*/ 2887576 w 2887576"/>
              <a:gd name="connsiteY3" fmla="*/ 75209 h 665978"/>
              <a:gd name="connsiteX4" fmla="*/ 2887576 w 2887576"/>
              <a:gd name="connsiteY4" fmla="*/ 590769 h 665978"/>
              <a:gd name="connsiteX5" fmla="*/ 2812367 w 2887576"/>
              <a:gd name="connsiteY5" fmla="*/ 665978 h 665978"/>
              <a:gd name="connsiteX6" fmla="*/ 75209 w 2887576"/>
              <a:gd name="connsiteY6" fmla="*/ 665978 h 665978"/>
              <a:gd name="connsiteX7" fmla="*/ 0 w 2887576"/>
              <a:gd name="connsiteY7" fmla="*/ 590769 h 665978"/>
              <a:gd name="connsiteX8" fmla="*/ 0 w 2887576"/>
              <a:gd name="connsiteY8" fmla="*/ 75209 h 665978"/>
              <a:gd name="connsiteX0" fmla="*/ 0 w 2887576"/>
              <a:gd name="connsiteY0" fmla="*/ 75209 h 665978"/>
              <a:gd name="connsiteX1" fmla="*/ 75209 w 2887576"/>
              <a:gd name="connsiteY1" fmla="*/ 0 h 665978"/>
              <a:gd name="connsiteX2" fmla="*/ 2812367 w 2887576"/>
              <a:gd name="connsiteY2" fmla="*/ 0 h 665978"/>
              <a:gd name="connsiteX3" fmla="*/ 2887576 w 2887576"/>
              <a:gd name="connsiteY3" fmla="*/ 75209 h 665978"/>
              <a:gd name="connsiteX4" fmla="*/ 2887576 w 2887576"/>
              <a:gd name="connsiteY4" fmla="*/ 590769 h 665978"/>
              <a:gd name="connsiteX5" fmla="*/ 2812367 w 2887576"/>
              <a:gd name="connsiteY5" fmla="*/ 665978 h 665978"/>
              <a:gd name="connsiteX6" fmla="*/ 75209 w 2887576"/>
              <a:gd name="connsiteY6" fmla="*/ 665978 h 665978"/>
              <a:gd name="connsiteX7" fmla="*/ 0 w 2887576"/>
              <a:gd name="connsiteY7" fmla="*/ 590769 h 665978"/>
              <a:gd name="connsiteX8" fmla="*/ 91440 w 2887576"/>
              <a:gd name="connsiteY8" fmla="*/ 166649 h 665978"/>
              <a:gd name="connsiteX0" fmla="*/ 75209 w 2887576"/>
              <a:gd name="connsiteY0" fmla="*/ 0 h 665978"/>
              <a:gd name="connsiteX1" fmla="*/ 2812367 w 2887576"/>
              <a:gd name="connsiteY1" fmla="*/ 0 h 665978"/>
              <a:gd name="connsiteX2" fmla="*/ 2887576 w 2887576"/>
              <a:gd name="connsiteY2" fmla="*/ 75209 h 665978"/>
              <a:gd name="connsiteX3" fmla="*/ 2887576 w 2887576"/>
              <a:gd name="connsiteY3" fmla="*/ 590769 h 665978"/>
              <a:gd name="connsiteX4" fmla="*/ 2812367 w 2887576"/>
              <a:gd name="connsiteY4" fmla="*/ 665978 h 665978"/>
              <a:gd name="connsiteX5" fmla="*/ 75209 w 2887576"/>
              <a:gd name="connsiteY5" fmla="*/ 665978 h 665978"/>
              <a:gd name="connsiteX6" fmla="*/ 0 w 2887576"/>
              <a:gd name="connsiteY6" fmla="*/ 590769 h 665978"/>
              <a:gd name="connsiteX7" fmla="*/ 91440 w 2887576"/>
              <a:gd name="connsiteY7" fmla="*/ 166649 h 665978"/>
              <a:gd name="connsiteX0" fmla="*/ 75209 w 2887576"/>
              <a:gd name="connsiteY0" fmla="*/ 0 h 665978"/>
              <a:gd name="connsiteX1" fmla="*/ 2812367 w 2887576"/>
              <a:gd name="connsiteY1" fmla="*/ 0 h 665978"/>
              <a:gd name="connsiteX2" fmla="*/ 2887576 w 2887576"/>
              <a:gd name="connsiteY2" fmla="*/ 75209 h 665978"/>
              <a:gd name="connsiteX3" fmla="*/ 2887576 w 2887576"/>
              <a:gd name="connsiteY3" fmla="*/ 590769 h 665978"/>
              <a:gd name="connsiteX4" fmla="*/ 2812367 w 2887576"/>
              <a:gd name="connsiteY4" fmla="*/ 665978 h 665978"/>
              <a:gd name="connsiteX5" fmla="*/ 75209 w 2887576"/>
              <a:gd name="connsiteY5" fmla="*/ 665978 h 665978"/>
              <a:gd name="connsiteX6" fmla="*/ 0 w 2887576"/>
              <a:gd name="connsiteY6" fmla="*/ 590769 h 665978"/>
              <a:gd name="connsiteX0" fmla="*/ 0 w 2812367"/>
              <a:gd name="connsiteY0" fmla="*/ 0 h 665978"/>
              <a:gd name="connsiteX1" fmla="*/ 2737158 w 2812367"/>
              <a:gd name="connsiteY1" fmla="*/ 0 h 665978"/>
              <a:gd name="connsiteX2" fmla="*/ 2812367 w 2812367"/>
              <a:gd name="connsiteY2" fmla="*/ 75209 h 665978"/>
              <a:gd name="connsiteX3" fmla="*/ 2812367 w 2812367"/>
              <a:gd name="connsiteY3" fmla="*/ 590769 h 665978"/>
              <a:gd name="connsiteX4" fmla="*/ 2737158 w 2812367"/>
              <a:gd name="connsiteY4" fmla="*/ 665978 h 665978"/>
              <a:gd name="connsiteX5" fmla="*/ 0 w 2812367"/>
              <a:gd name="connsiteY5" fmla="*/ 665978 h 665978"/>
              <a:gd name="connsiteX0" fmla="*/ 0 w 2812367"/>
              <a:gd name="connsiteY0" fmla="*/ 0 h 665978"/>
              <a:gd name="connsiteX1" fmla="*/ 2737158 w 2812367"/>
              <a:gd name="connsiteY1" fmla="*/ 0 h 665978"/>
              <a:gd name="connsiteX2" fmla="*/ 2812367 w 2812367"/>
              <a:gd name="connsiteY2" fmla="*/ 75209 h 665978"/>
              <a:gd name="connsiteX3" fmla="*/ 2812367 w 2812367"/>
              <a:gd name="connsiteY3" fmla="*/ 590769 h 665978"/>
              <a:gd name="connsiteX4" fmla="*/ 2737158 w 2812367"/>
              <a:gd name="connsiteY4" fmla="*/ 665978 h 665978"/>
              <a:gd name="connsiteX5" fmla="*/ 0 w 2812367"/>
              <a:gd name="connsiteY5" fmla="*/ 665978 h 665978"/>
              <a:gd name="connsiteX6" fmla="*/ 0 w 2812367"/>
              <a:gd name="connsiteY6" fmla="*/ 0 h 66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367" h="665978">
                <a:moveTo>
                  <a:pt x="0" y="0"/>
                </a:moveTo>
                <a:lnTo>
                  <a:pt x="2737158" y="0"/>
                </a:lnTo>
                <a:cubicBezTo>
                  <a:pt x="2778695" y="0"/>
                  <a:pt x="2812367" y="33672"/>
                  <a:pt x="2812367" y="75209"/>
                </a:cubicBezTo>
                <a:lnTo>
                  <a:pt x="2812367" y="590769"/>
                </a:lnTo>
                <a:cubicBezTo>
                  <a:pt x="2812367" y="632306"/>
                  <a:pt x="2778695" y="665978"/>
                  <a:pt x="2737158" y="665978"/>
                </a:cubicBezTo>
                <a:lnTo>
                  <a:pt x="0" y="665978"/>
                </a:lnTo>
                <a:lnTo>
                  <a:pt x="0" y="0"/>
                </a:lnTo>
                <a:close/>
              </a:path>
            </a:pathLst>
          </a:custGeom>
          <a:solidFill>
            <a:schemeClr val="tx2"/>
          </a:solidFill>
        </p:spPr>
        <p:txBody>
          <a:bodyPr lIns="108000" tIns="0" rIns="36000" bIns="0" anchor="ctr">
            <a:noAutofit/>
          </a:bodyPr>
          <a:lstStyle>
            <a:lvl1pPr>
              <a:lnSpc>
                <a:spcPct val="90000"/>
              </a:lnSpc>
              <a:defRPr sz="1600" b="1" cap="all" baseline="0">
                <a:solidFill>
                  <a:schemeClr val="bg1"/>
                </a:solidFill>
                <a:latin typeface="+mj-lt"/>
              </a:defRPr>
            </a:lvl1pPr>
            <a:lvl2pPr>
              <a:lnSpc>
                <a:spcPct val="90000"/>
              </a:lnSpc>
              <a:spcBef>
                <a:spcPts val="0"/>
              </a:spcBef>
              <a:defRPr sz="850">
                <a:solidFill>
                  <a:schemeClr val="bg1"/>
                </a:solidFill>
              </a:defRPr>
            </a:lvl2pPr>
          </a:lstStyle>
          <a:p>
            <a:pPr lvl="0"/>
            <a:r>
              <a:rPr lang="fr-FR"/>
              <a:t>TITRE</a:t>
            </a:r>
          </a:p>
          <a:p>
            <a:pPr lvl="1"/>
            <a:r>
              <a:rPr lang="fr-FR"/>
              <a:t>Deuxième niveau</a:t>
            </a:r>
          </a:p>
        </p:txBody>
      </p:sp>
      <p:sp>
        <p:nvSpPr>
          <p:cNvPr id="5" name="Espace réservé du pied de page 4"/>
          <p:cNvSpPr>
            <a:spLocks noGrp="1"/>
          </p:cNvSpPr>
          <p:nvPr>
            <p:ph type="ftr" sz="quarter" idx="36"/>
          </p:nvPr>
        </p:nvSpPr>
        <p:spPr/>
        <p:txBody>
          <a:bodyPr/>
          <a:lstStyle/>
          <a:p>
            <a:r>
              <a:rPr lang="fr-FR"/>
              <a:t>Bouygues Construction  |  Mois Année</a:t>
            </a:r>
          </a:p>
        </p:txBody>
      </p:sp>
      <p:sp>
        <p:nvSpPr>
          <p:cNvPr id="18" name="Espace réservé du numéro de diapositive 17"/>
          <p:cNvSpPr>
            <a:spLocks noGrp="1"/>
          </p:cNvSpPr>
          <p:nvPr>
            <p:ph type="sldNum" sz="quarter" idx="37"/>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3642670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7" name="Rectangle 6"/>
          <p:cNvSpPr/>
          <p:nvPr userDrawn="1"/>
        </p:nvSpPr>
        <p:spPr>
          <a:xfrm>
            <a:off x="0" y="728752"/>
            <a:ext cx="720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p:cNvSpPr>
            <a:spLocks noGrp="1"/>
          </p:cNvSpPr>
          <p:nvPr>
            <p:ph type="ftr" sz="quarter" idx="10"/>
          </p:nvPr>
        </p:nvSpPr>
        <p:spPr/>
        <p:txBody>
          <a:bodyPr/>
          <a:lstStyle/>
          <a:p>
            <a:r>
              <a:rPr lang="fr-FR"/>
              <a:t>Bouygues Construction  |  Mois Année</a:t>
            </a:r>
          </a:p>
        </p:txBody>
      </p:sp>
      <p:sp>
        <p:nvSpPr>
          <p:cNvPr id="6" name="Espace réservé du numéro de diapositive 5"/>
          <p:cNvSpPr>
            <a:spLocks noGrp="1"/>
          </p:cNvSpPr>
          <p:nvPr>
            <p:ph type="sldNum" sz="quarter" idx="11"/>
          </p:nvPr>
        </p:nvSpPr>
        <p:spPr/>
        <p:txBody>
          <a:body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3831058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ôture">
    <p:spTree>
      <p:nvGrpSpPr>
        <p:cNvPr id="1" name=""/>
        <p:cNvGrpSpPr/>
        <p:nvPr/>
      </p:nvGrpSpPr>
      <p:grpSpPr>
        <a:xfrm>
          <a:off x="0" y="0"/>
          <a:ext cx="0" cy="0"/>
          <a:chOff x="0" y="0"/>
          <a:chExt cx="0" cy="0"/>
        </a:xfrm>
      </p:grpSpPr>
      <p:sp>
        <p:nvSpPr>
          <p:cNvPr id="2" name="Rectangle 1"/>
          <p:cNvSpPr/>
          <p:nvPr/>
        </p:nvSpPr>
        <p:spPr>
          <a:xfrm>
            <a:off x="0" y="0"/>
            <a:ext cx="12192000" cy="57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27948" y="6068778"/>
            <a:ext cx="2354974" cy="504000"/>
          </a:xfrm>
          <a:prstGeom prst="rect">
            <a:avLst/>
          </a:prstGeom>
        </p:spPr>
      </p:pic>
      <p:sp>
        <p:nvSpPr>
          <p:cNvPr id="5" name="Espace réservé du texte 4"/>
          <p:cNvSpPr>
            <a:spLocks noGrp="1"/>
          </p:cNvSpPr>
          <p:nvPr>
            <p:ph type="body" sz="quarter" idx="10"/>
          </p:nvPr>
        </p:nvSpPr>
        <p:spPr>
          <a:xfrm>
            <a:off x="587388" y="1952837"/>
            <a:ext cx="4032448" cy="1307573"/>
          </a:xfrm>
        </p:spPr>
        <p:txBody>
          <a:bodyPr/>
          <a:lstStyle>
            <a:lvl1pPr>
              <a:lnSpc>
                <a:spcPct val="90000"/>
              </a:lnSpc>
              <a:spcBef>
                <a:spcPts val="2000"/>
              </a:spcBef>
              <a:defRPr sz="2000" b="1" cap="all" baseline="0">
                <a:solidFill>
                  <a:schemeClr val="bg1"/>
                </a:solidFill>
                <a:latin typeface="+mj-lt"/>
              </a:defRPr>
            </a:lvl1pPr>
            <a:lvl2pPr>
              <a:lnSpc>
                <a:spcPct val="120000"/>
              </a:lnSpc>
              <a:spcBef>
                <a:spcPts val="1600"/>
              </a:spcBef>
              <a:defRPr sz="1100" b="1">
                <a:solidFill>
                  <a:schemeClr val="bg1"/>
                </a:solidFill>
              </a:defRPr>
            </a:lvl2pPr>
            <a:lvl3pPr marL="0" indent="0">
              <a:lnSpc>
                <a:spcPct val="120000"/>
              </a:lnSpc>
              <a:spcBef>
                <a:spcPts val="0"/>
              </a:spcBef>
              <a:buFontTx/>
              <a:buNone/>
              <a:defRPr sz="900" b="0">
                <a:solidFill>
                  <a:schemeClr val="bg1"/>
                </a:solidFill>
              </a:defRPr>
            </a:lvl3pPr>
          </a:lstStyle>
          <a:p>
            <a:pPr lvl="0"/>
            <a:r>
              <a:rPr lang="fr-FR"/>
              <a:t>Modifiez les styles du texte du masque</a:t>
            </a:r>
          </a:p>
          <a:p>
            <a:pPr lvl="1"/>
            <a:r>
              <a:rPr lang="fr-FR"/>
              <a:t>Deuxième niveau</a:t>
            </a:r>
          </a:p>
          <a:p>
            <a:pPr lvl="2"/>
            <a:r>
              <a:rPr lang="fr-FR"/>
              <a:t>Troisième niveau</a:t>
            </a:r>
          </a:p>
        </p:txBody>
      </p:sp>
      <p:sp>
        <p:nvSpPr>
          <p:cNvPr id="9" name="Espace réservé du texte 12"/>
          <p:cNvSpPr>
            <a:spLocks noGrp="1"/>
          </p:cNvSpPr>
          <p:nvPr>
            <p:ph type="body" sz="quarter" idx="14" hasCustomPrompt="1"/>
          </p:nvPr>
        </p:nvSpPr>
        <p:spPr>
          <a:xfrm>
            <a:off x="551384" y="368660"/>
            <a:ext cx="4068452" cy="1384995"/>
          </a:xfrm>
        </p:spPr>
        <p:txBody>
          <a:bodyPr wrap="square" anchor="b">
            <a:spAutoFit/>
          </a:bodyPr>
          <a:lstStyle>
            <a:lvl1pPr>
              <a:lnSpc>
                <a:spcPct val="90000"/>
              </a:lnSpc>
              <a:defRPr sz="10000" b="1">
                <a:ln w="19050">
                  <a:solidFill>
                    <a:schemeClr val="bg1"/>
                  </a:solidFill>
                </a:ln>
                <a:noFill/>
                <a:latin typeface="+mj-lt"/>
              </a:defRPr>
            </a:lvl1pPr>
            <a:lvl2pPr>
              <a:lnSpc>
                <a:spcPct val="90000"/>
              </a:lnSpc>
              <a:defRPr sz="1400" b="0" cap="all" baseline="0">
                <a:solidFill>
                  <a:schemeClr val="bg1"/>
                </a:solidFill>
                <a:latin typeface="Barlow Condensed SemiBold" panose="00000706000000000000" pitchFamily="2" charset="0"/>
              </a:defRPr>
            </a:lvl2pPr>
            <a:lvl3pPr>
              <a:lnSpc>
                <a:spcPct val="90000"/>
              </a:lnSpc>
              <a:defRPr sz="1200">
                <a:solidFill>
                  <a:schemeClr val="bg1"/>
                </a:solidFill>
                <a:latin typeface="+mj-lt"/>
              </a:defRPr>
            </a:lvl3pPr>
          </a:lstStyle>
          <a:p>
            <a:pPr lvl="0"/>
            <a:r>
              <a:rPr lang="fr-FR"/>
              <a:t>FIN</a:t>
            </a:r>
          </a:p>
        </p:txBody>
      </p:sp>
      <p:sp>
        <p:nvSpPr>
          <p:cNvPr id="7" name="Espace réservé du texte 4"/>
          <p:cNvSpPr>
            <a:spLocks noGrp="1"/>
          </p:cNvSpPr>
          <p:nvPr>
            <p:ph type="body" sz="quarter" idx="15"/>
          </p:nvPr>
        </p:nvSpPr>
        <p:spPr>
          <a:xfrm>
            <a:off x="609454" y="5008547"/>
            <a:ext cx="4032448" cy="432048"/>
          </a:xfrm>
        </p:spPr>
        <p:txBody>
          <a:bodyPr/>
          <a:lstStyle>
            <a:lvl1pPr>
              <a:lnSpc>
                <a:spcPct val="120000"/>
              </a:lnSpc>
              <a:spcBef>
                <a:spcPts val="0"/>
              </a:spcBef>
              <a:defRPr sz="1100" b="1" cap="none" baseline="0">
                <a:solidFill>
                  <a:schemeClr val="bg1"/>
                </a:solidFill>
                <a:latin typeface="+mn-lt"/>
              </a:defRPr>
            </a:lvl1pPr>
            <a:lvl2pPr>
              <a:lnSpc>
                <a:spcPct val="120000"/>
              </a:lnSpc>
              <a:spcBef>
                <a:spcPts val="0"/>
              </a:spcBef>
              <a:defRPr sz="900" b="0">
                <a:solidFill>
                  <a:schemeClr val="bg1"/>
                </a:solidFill>
              </a:defRPr>
            </a:lvl2pPr>
            <a:lvl3pPr marL="0" indent="0">
              <a:lnSpc>
                <a:spcPct val="120000"/>
              </a:lnSpc>
              <a:spcBef>
                <a:spcPts val="0"/>
              </a:spcBef>
              <a:buFontTx/>
              <a:buNone/>
              <a:defRPr sz="900" b="0">
                <a:solidFill>
                  <a:schemeClr val="bg1"/>
                </a:solidFill>
              </a:defRPr>
            </a:lvl3pPr>
          </a:lstStyle>
          <a:p>
            <a:pPr lvl="0"/>
            <a:r>
              <a:rPr lang="fr-FR"/>
              <a:t>Modifiez les styles du texte du masque</a:t>
            </a:r>
          </a:p>
          <a:p>
            <a:pPr lvl="1"/>
            <a:r>
              <a:rPr lang="fr-FR"/>
              <a:t>Deuxième niveau</a:t>
            </a:r>
          </a:p>
        </p:txBody>
      </p:sp>
      <p:sp>
        <p:nvSpPr>
          <p:cNvPr id="8" name="Espace réservé du texte 1"/>
          <p:cNvSpPr>
            <a:spLocks noGrp="1"/>
          </p:cNvSpPr>
          <p:nvPr userDrawn="1"/>
        </p:nvSpPr>
        <p:spPr>
          <a:xfrm>
            <a:off x="598818" y="3368423"/>
            <a:ext cx="2580858" cy="1644754"/>
          </a:xfrm>
          <a:prstGeom prst="rect">
            <a:avLst/>
          </a:prstGeom>
        </p:spPr>
        <p:txBody>
          <a:bodyPr vert="horz" lIns="36000" tIns="0" rIns="36000" bIns="0" rtlCol="0">
            <a:noAutofit/>
          </a:bodyPr>
          <a:lstStyle>
            <a:lvl1pPr marL="0" indent="0" algn="l" defTabSz="914400" rtl="0" eaLnBrk="1" latinLnBrk="0" hangingPunct="1">
              <a:lnSpc>
                <a:spcPct val="90000"/>
              </a:lnSpc>
              <a:spcBef>
                <a:spcPts val="2000"/>
              </a:spcBef>
              <a:buFontTx/>
              <a:buNone/>
              <a:defRPr sz="2000" b="1" kern="1200" cap="all" baseline="0">
                <a:solidFill>
                  <a:schemeClr val="bg1"/>
                </a:solidFill>
                <a:latin typeface="+mj-lt"/>
                <a:ea typeface="+mn-ea"/>
                <a:cs typeface="+mn-cs"/>
              </a:defRPr>
            </a:lvl1pPr>
            <a:lvl2pPr marL="0" indent="0" algn="l" defTabSz="914400" rtl="0" eaLnBrk="1" latinLnBrk="0" hangingPunct="1">
              <a:lnSpc>
                <a:spcPct val="120000"/>
              </a:lnSpc>
              <a:spcBef>
                <a:spcPts val="1600"/>
              </a:spcBef>
              <a:buFontTx/>
              <a:buNone/>
              <a:defRPr sz="1100" b="1" kern="1200">
                <a:solidFill>
                  <a:schemeClr val="bg1"/>
                </a:solidFill>
                <a:latin typeface="+mn-lt"/>
                <a:ea typeface="+mn-ea"/>
                <a:cs typeface="+mn-cs"/>
              </a:defRPr>
            </a:lvl2pPr>
            <a:lvl3pPr marL="0" indent="0" algn="l" defTabSz="914400" rtl="0" eaLnBrk="1" latinLnBrk="0" hangingPunct="1">
              <a:lnSpc>
                <a:spcPct val="120000"/>
              </a:lnSpc>
              <a:spcBef>
                <a:spcPts val="0"/>
              </a:spcBef>
              <a:buClr>
                <a:schemeClr val="tx2"/>
              </a:buClr>
              <a:buFontTx/>
              <a:buNone/>
              <a:defRPr sz="900" b="0" kern="1200">
                <a:solidFill>
                  <a:schemeClr val="bg1"/>
                </a:solidFill>
                <a:latin typeface="+mn-lt"/>
                <a:ea typeface="+mn-ea"/>
                <a:cs typeface="+mn-cs"/>
              </a:defRPr>
            </a:lvl3pPr>
            <a:lvl4pPr marL="324000" indent="-142875" algn="l" defTabSz="914400" rtl="0" eaLnBrk="1" latinLnBrk="0" hangingPunct="1">
              <a:lnSpc>
                <a:spcPct val="100000"/>
              </a:lnSpc>
              <a:spcBef>
                <a:spcPts val="300"/>
              </a:spcBef>
              <a:buFont typeface="Calibri" panose="020F050202020403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RESTONS CONNECTÉS</a:t>
            </a:r>
          </a:p>
          <a:p>
            <a:pPr lvl="1"/>
            <a:r>
              <a:rPr lang="fr-FR"/>
              <a:t>Retrouvez-nous sur les réseaux sociaux</a:t>
            </a:r>
          </a:p>
          <a:p>
            <a:pPr lvl="2"/>
            <a:endParaRPr lang="fr-FR"/>
          </a:p>
          <a:p>
            <a:pPr lvl="2"/>
            <a:endParaRPr lang="fr-FR"/>
          </a:p>
          <a:p>
            <a:pPr lvl="1">
              <a:spcBef>
                <a:spcPts val="1200"/>
              </a:spcBef>
            </a:pPr>
            <a:r>
              <a:rPr lang="fr-FR"/>
              <a:t>Visitez notre site Internet</a:t>
            </a:r>
          </a:p>
          <a:p>
            <a:pPr lvl="2"/>
            <a:r>
              <a:rPr lang="fr-FR"/>
              <a:t>bouygues-construction.com</a:t>
            </a:r>
          </a:p>
        </p:txBody>
      </p:sp>
      <p:pic>
        <p:nvPicPr>
          <p:cNvPr id="10" name="Image 9">
            <a:hlinkClick r:id="rId3"/>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276742" y="4077546"/>
            <a:ext cx="438750" cy="324000"/>
          </a:xfrm>
          <a:prstGeom prst="rect">
            <a:avLst/>
          </a:prstGeom>
        </p:spPr>
      </p:pic>
      <p:pic>
        <p:nvPicPr>
          <p:cNvPr id="11" name="Image 10">
            <a:hlinkClick r:id="rId5"/>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631504" y="4077546"/>
            <a:ext cx="438750" cy="324000"/>
          </a:xfrm>
          <a:prstGeom prst="rect">
            <a:avLst/>
          </a:prstGeom>
        </p:spPr>
      </p:pic>
      <p:pic>
        <p:nvPicPr>
          <p:cNvPr id="12" name="Image 11">
            <a:hlinkClick r:id="rId7"/>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921980" y="4077546"/>
            <a:ext cx="438750" cy="324000"/>
          </a:xfrm>
          <a:prstGeom prst="rect">
            <a:avLst/>
          </a:prstGeom>
        </p:spPr>
      </p:pic>
      <p:pic>
        <p:nvPicPr>
          <p:cNvPr id="13" name="Image 12">
            <a:hlinkClick r:id="rId9"/>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567218" y="4077546"/>
            <a:ext cx="438750" cy="324000"/>
          </a:xfrm>
          <a:prstGeom prst="rect">
            <a:avLst/>
          </a:prstGeom>
        </p:spPr>
      </p:pic>
      <p:cxnSp>
        <p:nvCxnSpPr>
          <p:cNvPr id="14" name="Connecteur droit 13"/>
          <p:cNvCxnSpPr/>
          <p:nvPr userDrawn="1"/>
        </p:nvCxnSpPr>
        <p:spPr>
          <a:xfrm>
            <a:off x="623392" y="3728907"/>
            <a:ext cx="216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14">
            <a:hlinkClick r:id="rId11"/>
          </p:cNvPr>
          <p:cNvSpPr/>
          <p:nvPr userDrawn="1"/>
        </p:nvSpPr>
        <p:spPr>
          <a:xfrm>
            <a:off x="567218" y="4761148"/>
            <a:ext cx="1503036"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64295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lôture sans contact">
    <p:spTree>
      <p:nvGrpSpPr>
        <p:cNvPr id="1" name=""/>
        <p:cNvGrpSpPr/>
        <p:nvPr/>
      </p:nvGrpSpPr>
      <p:grpSpPr>
        <a:xfrm>
          <a:off x="0" y="0"/>
          <a:ext cx="0" cy="0"/>
          <a:chOff x="0" y="0"/>
          <a:chExt cx="0" cy="0"/>
        </a:xfrm>
      </p:grpSpPr>
      <p:sp>
        <p:nvSpPr>
          <p:cNvPr id="2" name="Rectangle 1"/>
          <p:cNvSpPr/>
          <p:nvPr/>
        </p:nvSpPr>
        <p:spPr>
          <a:xfrm>
            <a:off x="0" y="0"/>
            <a:ext cx="12192000" cy="57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27948" y="6068778"/>
            <a:ext cx="2354974" cy="504000"/>
          </a:xfrm>
          <a:prstGeom prst="rect">
            <a:avLst/>
          </a:prstGeom>
        </p:spPr>
      </p:pic>
      <p:sp>
        <p:nvSpPr>
          <p:cNvPr id="5" name="Espace réservé du texte 4"/>
          <p:cNvSpPr>
            <a:spLocks noGrp="1"/>
          </p:cNvSpPr>
          <p:nvPr>
            <p:ph type="body" sz="quarter" idx="10"/>
          </p:nvPr>
        </p:nvSpPr>
        <p:spPr>
          <a:xfrm>
            <a:off x="609454" y="5008547"/>
            <a:ext cx="4032448" cy="432048"/>
          </a:xfrm>
        </p:spPr>
        <p:txBody>
          <a:bodyPr/>
          <a:lstStyle>
            <a:lvl1pPr>
              <a:lnSpc>
                <a:spcPct val="120000"/>
              </a:lnSpc>
              <a:spcBef>
                <a:spcPts val="0"/>
              </a:spcBef>
              <a:defRPr sz="1100" b="1" cap="none" baseline="0">
                <a:solidFill>
                  <a:schemeClr val="bg1"/>
                </a:solidFill>
                <a:latin typeface="+mn-lt"/>
              </a:defRPr>
            </a:lvl1pPr>
            <a:lvl2pPr>
              <a:lnSpc>
                <a:spcPct val="120000"/>
              </a:lnSpc>
              <a:spcBef>
                <a:spcPts val="0"/>
              </a:spcBef>
              <a:defRPr sz="900" b="0">
                <a:solidFill>
                  <a:schemeClr val="bg1"/>
                </a:solidFill>
              </a:defRPr>
            </a:lvl2pPr>
            <a:lvl3pPr marL="0" indent="0">
              <a:lnSpc>
                <a:spcPct val="120000"/>
              </a:lnSpc>
              <a:spcBef>
                <a:spcPts val="0"/>
              </a:spcBef>
              <a:buFontTx/>
              <a:buNone/>
              <a:defRPr sz="900" b="0">
                <a:solidFill>
                  <a:schemeClr val="bg1"/>
                </a:solidFill>
              </a:defRPr>
            </a:lvl3pPr>
          </a:lstStyle>
          <a:p>
            <a:pPr lvl="0"/>
            <a:r>
              <a:rPr lang="fr-FR"/>
              <a:t>Modifiez les styles du texte du masque</a:t>
            </a:r>
          </a:p>
          <a:p>
            <a:pPr lvl="1"/>
            <a:r>
              <a:rPr lang="fr-FR"/>
              <a:t>Deuxième niveau</a:t>
            </a:r>
          </a:p>
        </p:txBody>
      </p:sp>
      <p:sp>
        <p:nvSpPr>
          <p:cNvPr id="9" name="Espace réservé du texte 12"/>
          <p:cNvSpPr>
            <a:spLocks noGrp="1"/>
          </p:cNvSpPr>
          <p:nvPr>
            <p:ph type="body" sz="quarter" idx="14" hasCustomPrompt="1"/>
          </p:nvPr>
        </p:nvSpPr>
        <p:spPr>
          <a:xfrm>
            <a:off x="551384" y="368660"/>
            <a:ext cx="4068452" cy="1384995"/>
          </a:xfrm>
        </p:spPr>
        <p:txBody>
          <a:bodyPr wrap="square" anchor="b">
            <a:spAutoFit/>
          </a:bodyPr>
          <a:lstStyle>
            <a:lvl1pPr>
              <a:lnSpc>
                <a:spcPct val="90000"/>
              </a:lnSpc>
              <a:defRPr sz="10000" b="1">
                <a:ln w="19050">
                  <a:solidFill>
                    <a:schemeClr val="bg1"/>
                  </a:solidFill>
                </a:ln>
                <a:noFill/>
                <a:latin typeface="+mj-lt"/>
              </a:defRPr>
            </a:lvl1pPr>
            <a:lvl2pPr>
              <a:lnSpc>
                <a:spcPct val="90000"/>
              </a:lnSpc>
              <a:defRPr sz="1400" b="0" cap="all" baseline="0">
                <a:solidFill>
                  <a:schemeClr val="bg1"/>
                </a:solidFill>
                <a:latin typeface="Barlow Condensed SemiBold" panose="00000706000000000000" pitchFamily="2" charset="0"/>
              </a:defRPr>
            </a:lvl2pPr>
            <a:lvl3pPr>
              <a:lnSpc>
                <a:spcPct val="90000"/>
              </a:lnSpc>
              <a:defRPr sz="1200">
                <a:solidFill>
                  <a:schemeClr val="bg1"/>
                </a:solidFill>
                <a:latin typeface="+mj-lt"/>
              </a:defRPr>
            </a:lvl3pPr>
          </a:lstStyle>
          <a:p>
            <a:pPr lvl="0"/>
            <a:r>
              <a:rPr lang="fr-FR"/>
              <a:t>FIN</a:t>
            </a:r>
          </a:p>
        </p:txBody>
      </p:sp>
      <p:sp>
        <p:nvSpPr>
          <p:cNvPr id="8" name="Espace réservé du texte 1"/>
          <p:cNvSpPr>
            <a:spLocks noGrp="1"/>
          </p:cNvSpPr>
          <p:nvPr userDrawn="1"/>
        </p:nvSpPr>
        <p:spPr>
          <a:xfrm>
            <a:off x="598818" y="3368423"/>
            <a:ext cx="2580858" cy="1644754"/>
          </a:xfrm>
          <a:prstGeom prst="rect">
            <a:avLst/>
          </a:prstGeom>
        </p:spPr>
        <p:txBody>
          <a:bodyPr vert="horz" lIns="36000" tIns="0" rIns="36000" bIns="0" rtlCol="0">
            <a:noAutofit/>
          </a:bodyPr>
          <a:lstStyle>
            <a:lvl1pPr marL="0" indent="0" algn="l" defTabSz="914400" rtl="0" eaLnBrk="1" latinLnBrk="0" hangingPunct="1">
              <a:lnSpc>
                <a:spcPct val="90000"/>
              </a:lnSpc>
              <a:spcBef>
                <a:spcPts val="2000"/>
              </a:spcBef>
              <a:buFontTx/>
              <a:buNone/>
              <a:defRPr sz="2000" b="1" kern="1200" cap="all" baseline="0">
                <a:solidFill>
                  <a:schemeClr val="bg1"/>
                </a:solidFill>
                <a:latin typeface="+mj-lt"/>
                <a:ea typeface="+mn-ea"/>
                <a:cs typeface="+mn-cs"/>
              </a:defRPr>
            </a:lvl1pPr>
            <a:lvl2pPr marL="0" indent="0" algn="l" defTabSz="914400" rtl="0" eaLnBrk="1" latinLnBrk="0" hangingPunct="1">
              <a:lnSpc>
                <a:spcPct val="120000"/>
              </a:lnSpc>
              <a:spcBef>
                <a:spcPts val="1600"/>
              </a:spcBef>
              <a:buFontTx/>
              <a:buNone/>
              <a:defRPr sz="1100" b="1" kern="1200">
                <a:solidFill>
                  <a:schemeClr val="bg1"/>
                </a:solidFill>
                <a:latin typeface="+mn-lt"/>
                <a:ea typeface="+mn-ea"/>
                <a:cs typeface="+mn-cs"/>
              </a:defRPr>
            </a:lvl2pPr>
            <a:lvl3pPr marL="0" indent="0" algn="l" defTabSz="914400" rtl="0" eaLnBrk="1" latinLnBrk="0" hangingPunct="1">
              <a:lnSpc>
                <a:spcPct val="120000"/>
              </a:lnSpc>
              <a:spcBef>
                <a:spcPts val="0"/>
              </a:spcBef>
              <a:buClr>
                <a:schemeClr val="tx2"/>
              </a:buClr>
              <a:buFontTx/>
              <a:buNone/>
              <a:defRPr sz="900" b="0" kern="1200">
                <a:solidFill>
                  <a:schemeClr val="bg1"/>
                </a:solidFill>
                <a:latin typeface="+mn-lt"/>
                <a:ea typeface="+mn-ea"/>
                <a:cs typeface="+mn-cs"/>
              </a:defRPr>
            </a:lvl3pPr>
            <a:lvl4pPr marL="324000" indent="-142875" algn="l" defTabSz="914400" rtl="0" eaLnBrk="1" latinLnBrk="0" hangingPunct="1">
              <a:lnSpc>
                <a:spcPct val="100000"/>
              </a:lnSpc>
              <a:spcBef>
                <a:spcPts val="300"/>
              </a:spcBef>
              <a:buFont typeface="Calibri" panose="020F050202020403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RESTONS CONNECTÉS</a:t>
            </a:r>
          </a:p>
          <a:p>
            <a:pPr lvl="1"/>
            <a:r>
              <a:rPr lang="fr-FR"/>
              <a:t>Retrouvez-nous sur les réseaux sociaux</a:t>
            </a:r>
          </a:p>
          <a:p>
            <a:pPr lvl="2"/>
            <a:endParaRPr lang="fr-FR"/>
          </a:p>
          <a:p>
            <a:pPr lvl="2"/>
            <a:endParaRPr lang="fr-FR"/>
          </a:p>
          <a:p>
            <a:pPr lvl="1">
              <a:spcBef>
                <a:spcPts val="1200"/>
              </a:spcBef>
            </a:pPr>
            <a:r>
              <a:rPr lang="fr-FR"/>
              <a:t>Visitez notre site Internet</a:t>
            </a:r>
          </a:p>
          <a:p>
            <a:pPr lvl="2"/>
            <a:r>
              <a:rPr lang="fr-FR"/>
              <a:t>bouygues-construction.com</a:t>
            </a:r>
          </a:p>
        </p:txBody>
      </p:sp>
      <p:pic>
        <p:nvPicPr>
          <p:cNvPr id="11" name="Image 10">
            <a:hlinkClick r:id="rId3"/>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276742" y="4077546"/>
            <a:ext cx="438750" cy="324000"/>
          </a:xfrm>
          <a:prstGeom prst="rect">
            <a:avLst/>
          </a:prstGeom>
        </p:spPr>
      </p:pic>
      <p:pic>
        <p:nvPicPr>
          <p:cNvPr id="12" name="Image 11">
            <a:hlinkClick r:id="rId5"/>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631504" y="4077546"/>
            <a:ext cx="438750" cy="324000"/>
          </a:xfrm>
          <a:prstGeom prst="rect">
            <a:avLst/>
          </a:prstGeom>
        </p:spPr>
      </p:pic>
      <p:pic>
        <p:nvPicPr>
          <p:cNvPr id="13" name="Image 12">
            <a:hlinkClick r:id="rId7"/>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921980" y="4077546"/>
            <a:ext cx="438750" cy="324000"/>
          </a:xfrm>
          <a:prstGeom prst="rect">
            <a:avLst/>
          </a:prstGeom>
        </p:spPr>
      </p:pic>
      <p:pic>
        <p:nvPicPr>
          <p:cNvPr id="14" name="Image 13">
            <a:hlinkClick r:id="rId9"/>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567218" y="4077546"/>
            <a:ext cx="438750" cy="324000"/>
          </a:xfrm>
          <a:prstGeom prst="rect">
            <a:avLst/>
          </a:prstGeom>
        </p:spPr>
      </p:pic>
      <p:cxnSp>
        <p:nvCxnSpPr>
          <p:cNvPr id="15" name="Connecteur droit 14"/>
          <p:cNvCxnSpPr/>
          <p:nvPr userDrawn="1"/>
        </p:nvCxnSpPr>
        <p:spPr>
          <a:xfrm>
            <a:off x="623392" y="3728907"/>
            <a:ext cx="216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Rectangle 2">
            <a:hlinkClick r:id="rId11"/>
          </p:cNvPr>
          <p:cNvSpPr/>
          <p:nvPr userDrawn="1"/>
        </p:nvSpPr>
        <p:spPr>
          <a:xfrm>
            <a:off x="567218" y="4761148"/>
            <a:ext cx="1503036"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93023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982663" y="692696"/>
            <a:ext cx="9145587" cy="609398"/>
          </a:xfrm>
          <a:prstGeom prst="rect">
            <a:avLst/>
          </a:prstGeom>
        </p:spPr>
        <p:txBody>
          <a:bodyPr vert="horz" lIns="36000" tIns="0" rIns="36000" bIns="0" rtlCol="0" anchor="ctr">
            <a:noAutofit/>
          </a:bodyPr>
          <a:lstStyle/>
          <a:p>
            <a:r>
              <a:rPr lang="fr-FR"/>
              <a:t>Modifiez le style du titre</a:t>
            </a:r>
          </a:p>
        </p:txBody>
      </p:sp>
      <p:sp>
        <p:nvSpPr>
          <p:cNvPr id="3" name="Espace réservé du texte 2"/>
          <p:cNvSpPr>
            <a:spLocks noGrp="1"/>
          </p:cNvSpPr>
          <p:nvPr>
            <p:ph type="body" idx="1"/>
          </p:nvPr>
        </p:nvSpPr>
        <p:spPr>
          <a:xfrm>
            <a:off x="982663" y="1736812"/>
            <a:ext cx="9145587" cy="4392526"/>
          </a:xfrm>
          <a:prstGeom prst="rect">
            <a:avLst/>
          </a:prstGeom>
        </p:spPr>
        <p:txBody>
          <a:bodyPr vert="horz" lIns="36000" tIns="0" rIns="36000" bIns="0" rtlCol="0">
            <a:no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p:cNvSpPr>
            <a:spLocks noGrp="1"/>
          </p:cNvSpPr>
          <p:nvPr>
            <p:ph type="ftr" sz="quarter" idx="3"/>
          </p:nvPr>
        </p:nvSpPr>
        <p:spPr>
          <a:xfrm>
            <a:off x="9460280" y="6594433"/>
            <a:ext cx="2340000" cy="123111"/>
          </a:xfrm>
          <a:prstGeom prst="rect">
            <a:avLst/>
          </a:prstGeom>
        </p:spPr>
        <p:txBody>
          <a:bodyPr vert="horz" wrap="square" lIns="36000" tIns="0" rIns="36000" bIns="0" rtlCol="0" anchor="ctr">
            <a:spAutoFit/>
          </a:bodyPr>
          <a:lstStyle>
            <a:lvl1pPr algn="r">
              <a:defRPr sz="800">
                <a:solidFill>
                  <a:schemeClr val="bg1">
                    <a:lumMod val="50000"/>
                  </a:schemeClr>
                </a:solidFill>
              </a:defRPr>
            </a:lvl1pPr>
          </a:lstStyle>
          <a:p>
            <a:r>
              <a:rPr lang="fr-FR"/>
              <a:t>Bouygues Construction  |  Mois Année</a:t>
            </a:r>
          </a:p>
        </p:txBody>
      </p:sp>
      <p:sp>
        <p:nvSpPr>
          <p:cNvPr id="4" name="Espace réservé du numéro de diapositive 3"/>
          <p:cNvSpPr>
            <a:spLocks noGrp="1"/>
          </p:cNvSpPr>
          <p:nvPr>
            <p:ph type="sldNum" sz="quarter" idx="4"/>
          </p:nvPr>
        </p:nvSpPr>
        <p:spPr>
          <a:xfrm>
            <a:off x="11805565" y="6594433"/>
            <a:ext cx="240450" cy="123111"/>
          </a:xfrm>
          <a:prstGeom prst="rect">
            <a:avLst/>
          </a:prstGeom>
          <a:noFill/>
        </p:spPr>
        <p:txBody>
          <a:bodyPr wrap="none" lIns="0" tIns="0" rIns="0" bIns="0" rtlCol="0" anchor="ctr">
            <a:spAutoFit/>
          </a:bodyPr>
          <a:lstStyle>
            <a:lvl1pPr>
              <a:defRPr lang="fr-FR" sz="800" smtClean="0">
                <a:solidFill>
                  <a:schemeClr val="bg1">
                    <a:lumMod val="50000"/>
                  </a:schemeClr>
                </a:solidFill>
              </a:defRPr>
            </a:lvl1pPr>
          </a:lstStyle>
          <a:p>
            <a:r>
              <a:rPr lang="fr-FR"/>
              <a:t>| </a:t>
            </a:r>
            <a:fld id="{C2EBF694-A8F9-4F06-8F8E-D09447FAA2D5}" type="slidenum">
              <a:rPr smtClean="0"/>
              <a:pPr/>
              <a:t>‹N°›</a:t>
            </a:fld>
            <a:endParaRPr/>
          </a:p>
        </p:txBody>
      </p:sp>
    </p:spTree>
    <p:extLst>
      <p:ext uri="{BB962C8B-B14F-4D97-AF65-F5344CB8AC3E}">
        <p14:creationId xmlns:p14="http://schemas.microsoft.com/office/powerpoint/2010/main" val="398166579"/>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Lst>
  <p:hf hdr="0" dt="0"/>
  <p:txStyles>
    <p:titleStyle>
      <a:lvl1pPr algn="l" defTabSz="914400" rtl="0" eaLnBrk="1" latinLnBrk="0" hangingPunct="1">
        <a:lnSpc>
          <a:spcPct val="90000"/>
        </a:lnSpc>
        <a:spcBef>
          <a:spcPct val="0"/>
        </a:spcBef>
        <a:buNone/>
        <a:defRPr sz="4400" b="1" kern="1200" cap="all"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buFontTx/>
        <a:buNone/>
        <a:defRPr sz="19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800" b="0" kern="1200">
          <a:solidFill>
            <a:schemeClr val="tx1"/>
          </a:solidFill>
          <a:latin typeface="+mn-lt"/>
          <a:ea typeface="+mn-ea"/>
          <a:cs typeface="+mn-cs"/>
        </a:defRPr>
      </a:lvl2pPr>
      <a:lvl3pPr marL="180000" indent="-179388" algn="l" defTabSz="914400" rtl="0" eaLnBrk="1" latinLnBrk="0" hangingPunct="1">
        <a:lnSpc>
          <a:spcPct val="100000"/>
        </a:lnSpc>
        <a:spcBef>
          <a:spcPts val="600"/>
        </a:spcBef>
        <a:buClr>
          <a:schemeClr val="tx2"/>
        </a:buClr>
        <a:buFont typeface="Symbol" panose="05050102010706020507" pitchFamily="18" charset="2"/>
        <a:buChar char="·"/>
        <a:defRPr sz="1800" b="0" kern="1200">
          <a:solidFill>
            <a:schemeClr val="tx1"/>
          </a:solidFill>
          <a:latin typeface="+mn-lt"/>
          <a:ea typeface="+mn-ea"/>
          <a:cs typeface="+mn-cs"/>
        </a:defRPr>
      </a:lvl3pPr>
      <a:lvl4pPr marL="324000" indent="-142875" algn="l" defTabSz="914400" rtl="0" eaLnBrk="1" latinLnBrk="0" hangingPunct="1">
        <a:lnSpc>
          <a:spcPct val="100000"/>
        </a:lnSpc>
        <a:spcBef>
          <a:spcPts val="300"/>
        </a:spcBef>
        <a:buFont typeface="Calibri" panose="020F050202020403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6380">
          <p15:clr>
            <a:srgbClr val="F26B43"/>
          </p15:clr>
        </p15:guide>
        <p15:guide id="1" pos="619">
          <p15:clr>
            <a:srgbClr val="F26B43"/>
          </p15:clr>
        </p15:guide>
        <p15:guide id="2" orient="horz" pos="3861">
          <p15:clr>
            <a:srgbClr val="F26B43"/>
          </p15:clr>
        </p15:guide>
        <p15:guide id="3" orient="horz" pos="109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5.xml"/><Relationship Id="rId5" Type="http://schemas.openxmlformats.org/officeDocument/2006/relationships/tags" Target="../tags/tag5.xml"/><Relationship Id="rId4" Type="http://schemas.openxmlformats.org/officeDocument/2006/relationships/tags" Target="../tags/tag4.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8.xml"/><Relationship Id="rId7" Type="http://schemas.openxmlformats.org/officeDocument/2006/relationships/notesSlide" Target="../notesSlides/notesSlide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5.xml"/><Relationship Id="rId5" Type="http://schemas.openxmlformats.org/officeDocument/2006/relationships/tags" Target="../tags/tag10.xml"/><Relationship Id="rId4"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5.xml"/><Relationship Id="rId7" Type="http://schemas.openxmlformats.org/officeDocument/2006/relationships/notesSlide" Target="../notesSlides/notesSlide4.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Layout" Target="../slideLayouts/slideLayout5.xml"/><Relationship Id="rId5" Type="http://schemas.openxmlformats.org/officeDocument/2006/relationships/tags" Target="../tags/tag17.xml"/><Relationship Id="rId4" Type="http://schemas.openxmlformats.org/officeDocument/2006/relationships/tags" Target="../tags/tag1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notesSlide" Target="../notesSlides/notesSlide9.xml"/><Relationship Id="rId26" Type="http://schemas.openxmlformats.org/officeDocument/2006/relationships/image" Target="../media/image26.png"/><Relationship Id="rId3" Type="http://schemas.openxmlformats.org/officeDocument/2006/relationships/tags" Target="../tags/tag20.xml"/><Relationship Id="rId21" Type="http://schemas.openxmlformats.org/officeDocument/2006/relationships/image" Target="../media/image21.png"/><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slideLayout" Target="../slideLayouts/slideLayout5.xml"/><Relationship Id="rId25" Type="http://schemas.openxmlformats.org/officeDocument/2006/relationships/image" Target="../media/image25.png"/><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20.sv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image" Target="../media/image24.png"/><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image" Target="../media/image23.png"/><Relationship Id="rId10" Type="http://schemas.openxmlformats.org/officeDocument/2006/relationships/tags" Target="../tags/tag27.xml"/><Relationship Id="rId19" Type="http://schemas.openxmlformats.org/officeDocument/2006/relationships/image" Target="../media/image19.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notesSlide" Target="../notesSlides/notesSlide10.xml"/><Relationship Id="rId26" Type="http://schemas.openxmlformats.org/officeDocument/2006/relationships/image" Target="../media/image26.png"/><Relationship Id="rId3" Type="http://schemas.openxmlformats.org/officeDocument/2006/relationships/tags" Target="../tags/tag36.xml"/><Relationship Id="rId21" Type="http://schemas.openxmlformats.org/officeDocument/2006/relationships/image" Target="../media/image21.pn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slideLayout" Target="../slideLayouts/slideLayout5.xml"/><Relationship Id="rId25" Type="http://schemas.openxmlformats.org/officeDocument/2006/relationships/image" Target="../media/image25.png"/><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image" Target="../media/image20.svg"/><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image" Target="../media/image24.png"/><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image" Target="../media/image23.png"/><Relationship Id="rId10" Type="http://schemas.openxmlformats.org/officeDocument/2006/relationships/tags" Target="../tags/tag43.xml"/><Relationship Id="rId19" Type="http://schemas.openxmlformats.org/officeDocument/2006/relationships/image" Target="../media/image19.png"/><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1.xml"/><Relationship Id="rId1" Type="http://schemas.openxmlformats.org/officeDocument/2006/relationships/tags" Target="../tags/tag5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5.xml"/><Relationship Id="rId7" Type="http://schemas.openxmlformats.org/officeDocument/2006/relationships/image" Target="../media/image30.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notesSlide" Target="../notesSlides/notesSlide12.xml"/><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5.xml"/><Relationship Id="rId7" Type="http://schemas.openxmlformats.org/officeDocument/2006/relationships/image" Target="../media/image30.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29.png"/><Relationship Id="rId11" Type="http://schemas.openxmlformats.org/officeDocument/2006/relationships/image" Target="../media/image33.sv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notesSlide" Target="../notesSlides/notesSlide13.xml"/><Relationship Id="rId9"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slideLayout" Target="../slideLayouts/slideLayout5.xml"/><Relationship Id="rId7" Type="http://schemas.openxmlformats.org/officeDocument/2006/relationships/image" Target="../media/image39.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42.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18" Type="http://schemas.openxmlformats.org/officeDocument/2006/relationships/slideLayout" Target="../slideLayouts/slideLayout5.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tags" Target="../tags/tag74.xml"/><Relationship Id="rId2" Type="http://schemas.openxmlformats.org/officeDocument/2006/relationships/tags" Target="../tags/tag59.xml"/><Relationship Id="rId16" Type="http://schemas.openxmlformats.org/officeDocument/2006/relationships/tags" Target="../tags/tag73.xml"/><Relationship Id="rId20" Type="http://schemas.openxmlformats.org/officeDocument/2006/relationships/image" Target="../media/image44.svg"/><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tags" Target="../tags/tag72.xml"/><Relationship Id="rId10" Type="http://schemas.openxmlformats.org/officeDocument/2006/relationships/tags" Target="../tags/tag67.xml"/><Relationship Id="rId19" Type="http://schemas.openxmlformats.org/officeDocument/2006/relationships/image" Target="../media/image43.png"/><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25.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18" Type="http://schemas.openxmlformats.org/officeDocument/2006/relationships/slideLayout" Target="../slideLayouts/slideLayout5.xml"/><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tags" Target="../tags/tag91.xml"/><Relationship Id="rId2" Type="http://schemas.openxmlformats.org/officeDocument/2006/relationships/tags" Target="../tags/tag76.xml"/><Relationship Id="rId16" Type="http://schemas.openxmlformats.org/officeDocument/2006/relationships/tags" Target="../tags/tag90.xml"/><Relationship Id="rId20" Type="http://schemas.openxmlformats.org/officeDocument/2006/relationships/image" Target="../media/image44.svg"/><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5" Type="http://schemas.openxmlformats.org/officeDocument/2006/relationships/tags" Target="../tags/tag79.xml"/><Relationship Id="rId15" Type="http://schemas.openxmlformats.org/officeDocument/2006/relationships/tags" Target="../tags/tag89.xml"/><Relationship Id="rId10" Type="http://schemas.openxmlformats.org/officeDocument/2006/relationships/tags" Target="../tags/tag84.xml"/><Relationship Id="rId19" Type="http://schemas.openxmlformats.org/officeDocument/2006/relationships/image" Target="../media/image43.png"/><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s>
</file>

<file path=ppt/slides/_rels/slide26.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tags" Target="../tags/tag104.xml"/><Relationship Id="rId18" Type="http://schemas.openxmlformats.org/officeDocument/2006/relationships/slideLayout" Target="../slideLayouts/slideLayout5.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17" Type="http://schemas.openxmlformats.org/officeDocument/2006/relationships/tags" Target="../tags/tag108.xml"/><Relationship Id="rId2" Type="http://schemas.openxmlformats.org/officeDocument/2006/relationships/tags" Target="../tags/tag93.xml"/><Relationship Id="rId16" Type="http://schemas.openxmlformats.org/officeDocument/2006/relationships/tags" Target="../tags/tag107.xml"/><Relationship Id="rId20" Type="http://schemas.openxmlformats.org/officeDocument/2006/relationships/image" Target="../media/image44.svg"/><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5" Type="http://schemas.openxmlformats.org/officeDocument/2006/relationships/tags" Target="../tags/tag106.xml"/><Relationship Id="rId10" Type="http://schemas.openxmlformats.org/officeDocument/2006/relationships/tags" Target="../tags/tag101.xml"/><Relationship Id="rId19" Type="http://schemas.openxmlformats.org/officeDocument/2006/relationships/image" Target="../media/image43.png"/><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tags" Target="../tags/tag10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18" Type="http://schemas.openxmlformats.org/officeDocument/2006/relationships/tags" Target="../tags/tag126.xml"/><Relationship Id="rId26" Type="http://schemas.openxmlformats.org/officeDocument/2006/relationships/tags" Target="../tags/tag134.xml"/><Relationship Id="rId3" Type="http://schemas.openxmlformats.org/officeDocument/2006/relationships/tags" Target="../tags/tag111.xml"/><Relationship Id="rId21" Type="http://schemas.openxmlformats.org/officeDocument/2006/relationships/tags" Target="../tags/tag129.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tags" Target="../tags/tag125.xml"/><Relationship Id="rId25" Type="http://schemas.openxmlformats.org/officeDocument/2006/relationships/tags" Target="../tags/tag133.xml"/><Relationship Id="rId2" Type="http://schemas.openxmlformats.org/officeDocument/2006/relationships/tags" Target="../tags/tag110.xml"/><Relationship Id="rId16" Type="http://schemas.openxmlformats.org/officeDocument/2006/relationships/tags" Target="../tags/tag124.xml"/><Relationship Id="rId20" Type="http://schemas.openxmlformats.org/officeDocument/2006/relationships/tags" Target="../tags/tag128.xml"/><Relationship Id="rId29" Type="http://schemas.openxmlformats.org/officeDocument/2006/relationships/slideLayout" Target="../slideLayouts/slideLayout5.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24" Type="http://schemas.openxmlformats.org/officeDocument/2006/relationships/tags" Target="../tags/tag132.xml"/><Relationship Id="rId5" Type="http://schemas.openxmlformats.org/officeDocument/2006/relationships/tags" Target="../tags/tag113.xml"/><Relationship Id="rId15" Type="http://schemas.openxmlformats.org/officeDocument/2006/relationships/tags" Target="../tags/tag123.xml"/><Relationship Id="rId23" Type="http://schemas.openxmlformats.org/officeDocument/2006/relationships/tags" Target="../tags/tag131.xml"/><Relationship Id="rId28" Type="http://schemas.openxmlformats.org/officeDocument/2006/relationships/tags" Target="../tags/tag136.xml"/><Relationship Id="rId10" Type="http://schemas.openxmlformats.org/officeDocument/2006/relationships/tags" Target="../tags/tag118.xml"/><Relationship Id="rId19" Type="http://schemas.openxmlformats.org/officeDocument/2006/relationships/tags" Target="../tags/tag127.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 Id="rId22" Type="http://schemas.openxmlformats.org/officeDocument/2006/relationships/tags" Target="../tags/tag130.xml"/><Relationship Id="rId27" Type="http://schemas.openxmlformats.org/officeDocument/2006/relationships/tags" Target="../tags/tag1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pour une image  11">
            <a:extLst>
              <a:ext uri="{FF2B5EF4-FFF2-40B4-BE49-F238E27FC236}">
                <a16:creationId xmlns:a16="http://schemas.microsoft.com/office/drawing/2014/main" id="{72E1CA48-9F7F-4AF0-9C99-8DA76A18150B}"/>
              </a:ext>
            </a:extLst>
          </p:cNvPr>
          <p:cNvSpPr>
            <a:spLocks noGrp="1"/>
          </p:cNvSpPr>
          <p:nvPr>
            <p:ph type="pic" sz="quarter" idx="15"/>
          </p:nvPr>
        </p:nvSpPr>
        <p:spPr/>
      </p:sp>
      <p:sp>
        <p:nvSpPr>
          <p:cNvPr id="3" name="Espace réservé du texte 2">
            <a:extLst>
              <a:ext uri="{FF2B5EF4-FFF2-40B4-BE49-F238E27FC236}">
                <a16:creationId xmlns:a16="http://schemas.microsoft.com/office/drawing/2014/main" id="{BD2ACC23-F703-40B2-86FC-3DFB97A75A92}"/>
              </a:ext>
            </a:extLst>
          </p:cNvPr>
          <p:cNvSpPr>
            <a:spLocks noGrp="1"/>
          </p:cNvSpPr>
          <p:nvPr>
            <p:ph type="body" sz="quarter" idx="14"/>
          </p:nvPr>
        </p:nvSpPr>
        <p:spPr/>
        <p:txBody>
          <a:bodyPr/>
          <a:lstStyle/>
          <a:p>
            <a:r>
              <a:rPr lang="fr-FR" dirty="0"/>
              <a:t>IAM</a:t>
            </a:r>
          </a:p>
          <a:p>
            <a:r>
              <a:rPr lang="fr-FR" sz="2000" b="0" dirty="0" err="1"/>
              <a:t>Scoping</a:t>
            </a:r>
          </a:p>
        </p:txBody>
      </p:sp>
    </p:spTree>
    <p:extLst>
      <p:ext uri="{BB962C8B-B14F-4D97-AF65-F5344CB8AC3E}">
        <p14:creationId xmlns:p14="http://schemas.microsoft.com/office/powerpoint/2010/main" val="1312667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51A9DFD-7319-41CB-AD39-CB9743470E99}"/>
              </a:ext>
            </a:extLst>
          </p:cNvPr>
          <p:cNvSpPr>
            <a:spLocks noGrp="1"/>
          </p:cNvSpPr>
          <p:nvPr>
            <p:ph type="body" sz="quarter" idx="11"/>
          </p:nvPr>
        </p:nvSpPr>
        <p:spPr/>
        <p:txBody>
          <a:bodyPr/>
          <a:lstStyle/>
          <a:p>
            <a:r>
              <a:rPr lang="fr-FR" err="1"/>
              <a:t>Context</a:t>
            </a:r>
            <a:r>
              <a:rPr lang="fr-FR"/>
              <a:t> and Pain points</a:t>
            </a:r>
            <a:br>
              <a:rPr lang="fr-FR"/>
            </a:br>
            <a:endParaRPr lang="fr-FR"/>
          </a:p>
          <a:p>
            <a:r>
              <a:rPr lang="fr-FR"/>
              <a:t>IGA ambitions</a:t>
            </a:r>
            <a:br>
              <a:rPr lang="fr-FR"/>
            </a:br>
            <a:endParaRPr lang="fr-FR"/>
          </a:p>
          <a:p>
            <a:r>
              <a:rPr lang="fr-FR"/>
              <a:t>Scenarios</a:t>
            </a:r>
          </a:p>
        </p:txBody>
      </p:sp>
      <p:sp>
        <p:nvSpPr>
          <p:cNvPr id="3" name="Espace réservé du pied de page 2">
            <a:extLst>
              <a:ext uri="{FF2B5EF4-FFF2-40B4-BE49-F238E27FC236}">
                <a16:creationId xmlns:a16="http://schemas.microsoft.com/office/drawing/2014/main" id="{7A097B47-5C98-4D2E-8CDB-AE74717AF169}"/>
              </a:ext>
            </a:extLst>
          </p:cNvPr>
          <p:cNvSpPr>
            <a:spLocks noGrp="1"/>
          </p:cNvSpPr>
          <p:nvPr>
            <p:ph type="ftr" sz="quarter" idx="12"/>
          </p:nvPr>
        </p:nvSpPr>
        <p:spPr/>
        <p:txBody>
          <a:bodyPr/>
          <a:lstStyle/>
          <a:p>
            <a:r>
              <a:rPr lang="fr-FR"/>
              <a:t>Bouygues Construction  |  02 2023</a:t>
            </a:r>
          </a:p>
        </p:txBody>
      </p:sp>
      <p:sp>
        <p:nvSpPr>
          <p:cNvPr id="4" name="Espace réservé du numéro de diapositive 3">
            <a:extLst>
              <a:ext uri="{FF2B5EF4-FFF2-40B4-BE49-F238E27FC236}">
                <a16:creationId xmlns:a16="http://schemas.microsoft.com/office/drawing/2014/main" id="{EB5E5DAB-0A9C-4B12-9FAA-16639E2705B0}"/>
              </a:ext>
            </a:extLst>
          </p:cNvPr>
          <p:cNvSpPr>
            <a:spLocks noGrp="1"/>
          </p:cNvSpPr>
          <p:nvPr>
            <p:ph type="sldNum" sz="quarter" idx="13"/>
          </p:nvPr>
        </p:nvSpPr>
        <p:spPr/>
        <p:txBody>
          <a:bodyPr/>
          <a:lstStyle/>
          <a:p>
            <a:r>
              <a:rPr lang="fr-FR"/>
              <a:t>| </a:t>
            </a:r>
            <a:fld id="{C2EBF694-A8F9-4F06-8F8E-D09447FAA2D5}" type="slidenum">
              <a:rPr smtClean="0"/>
              <a:pPr/>
              <a:t>2</a:t>
            </a:fld>
            <a:endParaRPr/>
          </a:p>
        </p:txBody>
      </p:sp>
    </p:spTree>
    <p:extLst>
      <p:ext uri="{BB962C8B-B14F-4D97-AF65-F5344CB8AC3E}">
        <p14:creationId xmlns:p14="http://schemas.microsoft.com/office/powerpoint/2010/main" val="3761818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ctangle 117">
            <a:extLst>
              <a:ext uri="{FF2B5EF4-FFF2-40B4-BE49-F238E27FC236}">
                <a16:creationId xmlns:a16="http://schemas.microsoft.com/office/drawing/2014/main" id="{20745843-C7C7-2AD1-7DB9-15E3719721DD}"/>
              </a:ext>
            </a:extLst>
          </p:cNvPr>
          <p:cNvSpPr/>
          <p:nvPr/>
        </p:nvSpPr>
        <p:spPr>
          <a:xfrm>
            <a:off x="71021" y="1424308"/>
            <a:ext cx="12055876" cy="5433691"/>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F241B97D-C18F-63B7-E6D3-2CD1806DAF3D}"/>
              </a:ext>
            </a:extLst>
          </p:cNvPr>
          <p:cNvSpPr>
            <a:spLocks noGrp="1"/>
          </p:cNvSpPr>
          <p:nvPr>
            <p:ph type="title"/>
          </p:nvPr>
        </p:nvSpPr>
        <p:spPr/>
        <p:txBody>
          <a:bodyPr/>
          <a:lstStyle/>
          <a:p>
            <a:r>
              <a:rPr lang="en-US" sz="3600"/>
              <a:t>IAM : Global overview</a:t>
            </a:r>
            <a:endParaRPr lang="fr-FR" sz="3600"/>
          </a:p>
        </p:txBody>
      </p:sp>
      <p:sp>
        <p:nvSpPr>
          <p:cNvPr id="4" name="Espace réservé du pied de page 3">
            <a:extLst>
              <a:ext uri="{FF2B5EF4-FFF2-40B4-BE49-F238E27FC236}">
                <a16:creationId xmlns:a16="http://schemas.microsoft.com/office/drawing/2014/main" id="{65F98A51-77B8-4C4F-B0C6-5A74353321B2}"/>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808CCAD2-0755-A68D-9BA5-8129641A2A36}"/>
              </a:ext>
            </a:extLst>
          </p:cNvPr>
          <p:cNvSpPr>
            <a:spLocks noGrp="1"/>
          </p:cNvSpPr>
          <p:nvPr>
            <p:ph type="sldNum" sz="quarter" idx="14"/>
          </p:nvPr>
        </p:nvSpPr>
        <p:spPr/>
        <p:txBody>
          <a:bodyPr/>
          <a:lstStyle/>
          <a:p>
            <a:r>
              <a:rPr lang="fr-FR"/>
              <a:t>| </a:t>
            </a:r>
            <a:fld id="{C2EBF694-A8F9-4F06-8F8E-D09447FAA2D5}" type="slidenum">
              <a:rPr smtClean="0"/>
              <a:pPr/>
              <a:t>3</a:t>
            </a:fld>
            <a:endParaRPr/>
          </a:p>
        </p:txBody>
      </p:sp>
      <p:grpSp>
        <p:nvGrpSpPr>
          <p:cNvPr id="6" name="Groupe 5">
            <a:extLst>
              <a:ext uri="{FF2B5EF4-FFF2-40B4-BE49-F238E27FC236}">
                <a16:creationId xmlns:a16="http://schemas.microsoft.com/office/drawing/2014/main" id="{C9C2E473-4ABA-5089-5B8A-921359F5C981}"/>
              </a:ext>
            </a:extLst>
          </p:cNvPr>
          <p:cNvGrpSpPr/>
          <p:nvPr/>
        </p:nvGrpSpPr>
        <p:grpSpPr>
          <a:xfrm>
            <a:off x="4117085" y="1935280"/>
            <a:ext cx="4146106" cy="4249080"/>
            <a:chOff x="487288" y="1843640"/>
            <a:chExt cx="4722022" cy="4750792"/>
          </a:xfrm>
        </p:grpSpPr>
        <p:sp>
          <p:nvSpPr>
            <p:cNvPr id="7" name="Rectangle 9">
              <a:extLst>
                <a:ext uri="{FF2B5EF4-FFF2-40B4-BE49-F238E27FC236}">
                  <a16:creationId xmlns:a16="http://schemas.microsoft.com/office/drawing/2014/main" id="{18CE01C1-C9DC-A59D-5781-040DEFEC4878}"/>
                </a:ext>
              </a:extLst>
            </p:cNvPr>
            <p:cNvSpPr>
              <a:spLocks noChangeArrowheads="1"/>
            </p:cNvSpPr>
            <p:nvPr/>
          </p:nvSpPr>
          <p:spPr bwMode="auto">
            <a:xfrm>
              <a:off x="2051090" y="3910261"/>
              <a:ext cx="1637854" cy="1420919"/>
            </a:xfrm>
            <a:prstGeom prst="rect">
              <a:avLst/>
            </a:prstGeom>
            <a:noFill/>
            <a:ln w="28575">
              <a:no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IAM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grpSp>
          <p:nvGrpSpPr>
            <p:cNvPr id="8" name="Groupe 7">
              <a:extLst>
                <a:ext uri="{FF2B5EF4-FFF2-40B4-BE49-F238E27FC236}">
                  <a16:creationId xmlns:a16="http://schemas.microsoft.com/office/drawing/2014/main" id="{B0492EBB-293F-849E-CB80-1DEA5416C547}"/>
                </a:ext>
              </a:extLst>
            </p:cNvPr>
            <p:cNvGrpSpPr/>
            <p:nvPr/>
          </p:nvGrpSpPr>
          <p:grpSpPr>
            <a:xfrm>
              <a:off x="487288" y="1843640"/>
              <a:ext cx="4722022" cy="4750792"/>
              <a:chOff x="2017840" y="1232784"/>
              <a:chExt cx="4878808" cy="4896544"/>
            </a:xfrm>
          </p:grpSpPr>
          <p:sp>
            <p:nvSpPr>
              <p:cNvPr id="13" name="Ellipse 12">
                <a:extLst>
                  <a:ext uri="{FF2B5EF4-FFF2-40B4-BE49-F238E27FC236}">
                    <a16:creationId xmlns:a16="http://schemas.microsoft.com/office/drawing/2014/main" id="{F66BBD90-60DE-8BB3-EAEC-D03834DB5EFA}"/>
                  </a:ext>
                </a:extLst>
              </p:cNvPr>
              <p:cNvSpPr/>
              <p:nvPr/>
            </p:nvSpPr>
            <p:spPr>
              <a:xfrm>
                <a:off x="2017840" y="1232784"/>
                <a:ext cx="4878808" cy="4896544"/>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chemeClr val="bg1"/>
                  </a:solidFill>
                  <a:effectLst/>
                  <a:uLnTx/>
                  <a:uFillTx/>
                  <a:latin typeface="Calibri" panose="020F0502020204030204"/>
                  <a:ea typeface="Tahoma" panose="020B0604030504040204" pitchFamily="34" charset="0"/>
                  <a:cs typeface="Tahoma" panose="020B0604030504040204" pitchFamily="34" charset="0"/>
                </a:endParaRPr>
              </a:p>
            </p:txBody>
          </p:sp>
          <p:sp>
            <p:nvSpPr>
              <p:cNvPr id="14" name="Ellipse 13">
                <a:extLst>
                  <a:ext uri="{FF2B5EF4-FFF2-40B4-BE49-F238E27FC236}">
                    <a16:creationId xmlns:a16="http://schemas.microsoft.com/office/drawing/2014/main" id="{F6512A9F-06F6-EECF-B03A-527C0C3DFFAE}"/>
                  </a:ext>
                </a:extLst>
              </p:cNvPr>
              <p:cNvSpPr/>
              <p:nvPr/>
            </p:nvSpPr>
            <p:spPr>
              <a:xfrm>
                <a:off x="2332596" y="1548690"/>
                <a:ext cx="4249284" cy="4264732"/>
              </a:xfrm>
              <a:prstGeom prst="ellipse">
                <a:avLst/>
              </a:prstGeom>
              <a:solidFill>
                <a:srgbClr val="ECECE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5" name="ZoneTexte 14">
                <a:extLst>
                  <a:ext uri="{FF2B5EF4-FFF2-40B4-BE49-F238E27FC236}">
                    <a16:creationId xmlns:a16="http://schemas.microsoft.com/office/drawing/2014/main" id="{41265667-7A1B-4C70-B5DD-E7D6A53BC140}"/>
                  </a:ext>
                </a:extLst>
              </p:cNvPr>
              <p:cNvSpPr txBox="1"/>
              <p:nvPr/>
            </p:nvSpPr>
            <p:spPr>
              <a:xfrm>
                <a:off x="3664345" y="1237007"/>
                <a:ext cx="1573597" cy="4401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a:ln>
                      <a:noFill/>
                    </a:ln>
                    <a:solidFill>
                      <a:schemeClr val="bg1"/>
                    </a:solidFill>
                    <a:effectLst/>
                    <a:uLnTx/>
                    <a:uFillTx/>
                    <a:latin typeface="Calibri" panose="020F0502020204030204"/>
                    <a:ea typeface="Tahoma" panose="020B0604030504040204" pitchFamily="34" charset="0"/>
                    <a:cs typeface="Tahoma" panose="020B0604030504040204" pitchFamily="34" charset="0"/>
                  </a:rPr>
                  <a:t>Governance</a:t>
                </a:r>
              </a:p>
            </p:txBody>
          </p:sp>
        </p:grpSp>
        <p:sp>
          <p:nvSpPr>
            <p:cNvPr id="9" name="AutoShape 4">
              <a:extLst>
                <a:ext uri="{FF2B5EF4-FFF2-40B4-BE49-F238E27FC236}">
                  <a16:creationId xmlns:a16="http://schemas.microsoft.com/office/drawing/2014/main" id="{B3AAA97A-798A-6BED-8619-BD8F7C0F26EA}"/>
                </a:ext>
              </a:extLst>
            </p:cNvPr>
            <p:cNvSpPr>
              <a:spLocks noChangeArrowheads="1"/>
            </p:cNvSpPr>
            <p:nvPr/>
          </p:nvSpPr>
          <p:spPr bwMode="auto">
            <a:xfrm>
              <a:off x="2023468" y="2306144"/>
              <a:ext cx="1637854" cy="1420919"/>
            </a:xfrm>
            <a:prstGeom prst="triangle">
              <a:avLst>
                <a:gd name="adj" fmla="val 50000"/>
              </a:avLst>
            </a:prstGeom>
            <a:solidFill>
              <a:srgbClr val="2B0A3D"/>
            </a:solidFill>
            <a:ln w="28575">
              <a:noFill/>
              <a:miter lim="800000"/>
              <a:headEnd/>
              <a:tailEnd/>
            </a:ln>
            <a:effectLst/>
          </p:spPr>
          <p:txBody>
            <a:bodyPr wrap="none"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Identities</a:t>
              </a:r>
              <a:endParaRPr lang="en-US" sz="1000" b="1" kern="0">
                <a:solidFill>
                  <a:srgbClr val="FFFFFF"/>
                </a:solidFill>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0" name="AutoShape 10">
              <a:extLst>
                <a:ext uri="{FF2B5EF4-FFF2-40B4-BE49-F238E27FC236}">
                  <a16:creationId xmlns:a16="http://schemas.microsoft.com/office/drawing/2014/main" id="{D0E4C654-99E5-F05F-4308-B7F379BFE90C}"/>
                </a:ext>
              </a:extLst>
            </p:cNvPr>
            <p:cNvSpPr>
              <a:spLocks noChangeArrowheads="1"/>
            </p:cNvSpPr>
            <p:nvPr/>
          </p:nvSpPr>
          <p:spPr bwMode="auto">
            <a:xfrm>
              <a:off x="2904856" y="3934627"/>
              <a:ext cx="1637854" cy="1420919"/>
            </a:xfrm>
            <a:prstGeom prst="triangle">
              <a:avLst>
                <a:gd name="adj" fmla="val 50000"/>
              </a:avLst>
            </a:prstGeom>
            <a:solidFill>
              <a:srgbClr val="7030A0"/>
            </a:solidFill>
            <a:ln w="28575">
              <a:no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Authentication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1" name="AutoShape 11">
              <a:extLst>
                <a:ext uri="{FF2B5EF4-FFF2-40B4-BE49-F238E27FC236}">
                  <a16:creationId xmlns:a16="http://schemas.microsoft.com/office/drawing/2014/main" id="{30BCB6DD-5616-C610-D275-41647CE50C77}"/>
                </a:ext>
              </a:extLst>
            </p:cNvPr>
            <p:cNvSpPr>
              <a:spLocks noChangeArrowheads="1"/>
            </p:cNvSpPr>
            <p:nvPr/>
          </p:nvSpPr>
          <p:spPr bwMode="auto">
            <a:xfrm>
              <a:off x="1142081" y="3934627"/>
              <a:ext cx="1637854" cy="1420919"/>
            </a:xfrm>
            <a:prstGeom prst="triangle">
              <a:avLst>
                <a:gd name="adj" fmla="val 50000"/>
              </a:avLst>
            </a:prstGeom>
            <a:solidFill>
              <a:schemeClr val="accent1"/>
            </a:solidFill>
            <a:ln w="28575">
              <a:noFill/>
              <a:miter lim="800000"/>
              <a:headEnd/>
              <a:tailEnd/>
            </a:ln>
            <a:effectLst/>
          </p:spPr>
          <p:txBody>
            <a:bodyPr wrap="none"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Authorization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2" name="AutoShape 8">
              <a:extLst>
                <a:ext uri="{FF2B5EF4-FFF2-40B4-BE49-F238E27FC236}">
                  <a16:creationId xmlns:a16="http://schemas.microsoft.com/office/drawing/2014/main" id="{DECFA2C6-2237-B901-D707-140605ED675C}"/>
                </a:ext>
              </a:extLst>
            </p:cNvPr>
            <p:cNvSpPr>
              <a:spLocks noChangeArrowheads="1"/>
            </p:cNvSpPr>
            <p:nvPr/>
          </p:nvSpPr>
          <p:spPr bwMode="auto">
            <a:xfrm flipV="1">
              <a:off x="2023468" y="3823182"/>
              <a:ext cx="1637854" cy="1420919"/>
            </a:xfrm>
            <a:prstGeom prst="triangle">
              <a:avLst>
                <a:gd name="adj" fmla="val 50000"/>
              </a:avLst>
            </a:prstGeom>
            <a:solidFill>
              <a:srgbClr val="FFFFFF"/>
            </a:solidFill>
            <a:ln w="38100">
              <a:noFill/>
              <a:miter lim="800000"/>
              <a:headEnd/>
              <a:tailEnd/>
            </a:ln>
            <a:effectLst/>
          </p:spPr>
          <p:txBody>
            <a:bodyPr rot="10800000"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rgbClr val="5F5F5F"/>
                </a:solidFill>
                <a:effectLst/>
                <a:uLnTx/>
                <a:uFillTx/>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a:ln>
                    <a:noFill/>
                  </a:ln>
                  <a:solidFill>
                    <a:srgbClr val="5F5F5F"/>
                  </a:solidFill>
                  <a:effectLst/>
                  <a:uLnTx/>
                  <a:uFillTx/>
                  <a:latin typeface="Calibri" panose="020F0502020204030204"/>
                  <a:ea typeface="Tahoma" panose="020B0604030504040204" pitchFamily="34" charset="0"/>
                  <a:cs typeface="Tahoma" panose="020B0604030504040204" pitchFamily="34" charset="0"/>
                </a:rPr>
                <a:t>IAM</a:t>
              </a:r>
            </a:p>
          </p:txBody>
        </p:sp>
      </p:grpSp>
      <p:grpSp>
        <p:nvGrpSpPr>
          <p:cNvPr id="16" name="Graphique 193">
            <a:extLst>
              <a:ext uri="{FF2B5EF4-FFF2-40B4-BE49-F238E27FC236}">
                <a16:creationId xmlns:a16="http://schemas.microsoft.com/office/drawing/2014/main" id="{CF1627E9-DEAC-504E-5BAC-33232E97131B}"/>
              </a:ext>
            </a:extLst>
          </p:cNvPr>
          <p:cNvGrpSpPr/>
          <p:nvPr/>
        </p:nvGrpSpPr>
        <p:grpSpPr>
          <a:xfrm>
            <a:off x="2001261" y="1482760"/>
            <a:ext cx="324000" cy="360000"/>
            <a:chOff x="2175353" y="2723890"/>
            <a:chExt cx="266700" cy="285750"/>
          </a:xfrm>
        </p:grpSpPr>
        <p:sp>
          <p:nvSpPr>
            <p:cNvPr id="17" name="Forme libre : forme 16">
              <a:extLst>
                <a:ext uri="{FF2B5EF4-FFF2-40B4-BE49-F238E27FC236}">
                  <a16:creationId xmlns:a16="http://schemas.microsoft.com/office/drawing/2014/main" id="{4CDEA530-389F-A2BF-6520-98456E126C95}"/>
                </a:ext>
              </a:extLst>
            </p:cNvPr>
            <p:cNvSpPr/>
            <p:nvPr/>
          </p:nvSpPr>
          <p:spPr>
            <a:xfrm>
              <a:off x="2308703"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C3585021-54F6-043D-2226-678493D7602C}"/>
                </a:ext>
              </a:extLst>
            </p:cNvPr>
            <p:cNvSpPr/>
            <p:nvPr/>
          </p:nvSpPr>
          <p:spPr>
            <a:xfrm>
              <a:off x="2175353" y="2896131"/>
              <a:ext cx="266700" cy="104775"/>
            </a:xfrm>
            <a:custGeom>
              <a:avLst/>
              <a:gdLst>
                <a:gd name="connsiteX0" fmla="*/ 103051 w 266700"/>
                <a:gd name="connsiteY0" fmla="*/ 0 h 104775"/>
                <a:gd name="connsiteX1" fmla="*/ 19860 w 266700"/>
                <a:gd name="connsiteY1" fmla="*/ 45530 h 104775"/>
                <a:gd name="connsiteX2" fmla="*/ 0 w 266700"/>
                <a:gd name="connsiteY2" fmla="*/ 78981 h 104775"/>
                <a:gd name="connsiteX3" fmla="*/ 0 w 266700"/>
                <a:gd name="connsiteY3" fmla="*/ 113509 h 104775"/>
                <a:gd name="connsiteX4" fmla="*/ 266700 w 266700"/>
                <a:gd name="connsiteY4" fmla="*/ 113509 h 104775"/>
                <a:gd name="connsiteX5" fmla="*/ 266700 w 266700"/>
                <a:gd name="connsiteY5" fmla="*/ 78981 h 104775"/>
                <a:gd name="connsiteX6" fmla="*/ 246840 w 266700"/>
                <a:gd name="connsiteY6" fmla="*/ 45530 h 104775"/>
                <a:gd name="connsiteX7" fmla="*/ 163649 w 26670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700" h="104775">
                  <a:moveTo>
                    <a:pt x="103051" y="0"/>
                  </a:moveTo>
                  <a:lnTo>
                    <a:pt x="19860" y="45530"/>
                  </a:lnTo>
                  <a:cubicBezTo>
                    <a:pt x="7620" y="52207"/>
                    <a:pt x="0" y="65037"/>
                    <a:pt x="0" y="78981"/>
                  </a:cubicBezTo>
                  <a:lnTo>
                    <a:pt x="0" y="113509"/>
                  </a:lnTo>
                  <a:lnTo>
                    <a:pt x="266700" y="113509"/>
                  </a:lnTo>
                  <a:lnTo>
                    <a:pt x="266700" y="78981"/>
                  </a:lnTo>
                  <a:cubicBezTo>
                    <a:pt x="266700" y="65037"/>
                    <a:pt x="259080" y="52207"/>
                    <a:pt x="246840" y="45530"/>
                  </a:cubicBezTo>
                  <a:lnTo>
                    <a:pt x="163649" y="0"/>
                  </a:lnTo>
                </a:path>
              </a:pathLst>
            </a:custGeom>
            <a:noFill/>
            <a:ln w="19050" cap="flat">
              <a:solidFill>
                <a:schemeClr val="accent4"/>
              </a:solidFill>
              <a:prstDash val="solid"/>
              <a:miter/>
            </a:ln>
          </p:spPr>
          <p:txBody>
            <a:bodyPr rtlCol="0" anchor="ctr"/>
            <a:lstStyle/>
            <a:p>
              <a:endParaRPr lang="en-US"/>
            </a:p>
          </p:txBody>
        </p:sp>
        <p:sp>
          <p:nvSpPr>
            <p:cNvPr id="19" name="Forme libre : forme 18">
              <a:extLst>
                <a:ext uri="{FF2B5EF4-FFF2-40B4-BE49-F238E27FC236}">
                  <a16:creationId xmlns:a16="http://schemas.microsoft.com/office/drawing/2014/main" id="{DE01A3D7-482E-084D-B8F8-E784B3B04E08}"/>
                </a:ext>
              </a:extLst>
            </p:cNvPr>
            <p:cNvSpPr/>
            <p:nvPr/>
          </p:nvSpPr>
          <p:spPr>
            <a:xfrm>
              <a:off x="2232503"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20" name="Forme libre : forme 19">
              <a:extLst>
                <a:ext uri="{FF2B5EF4-FFF2-40B4-BE49-F238E27FC236}">
                  <a16:creationId xmlns:a16="http://schemas.microsoft.com/office/drawing/2014/main" id="{A1E23C3D-0DF3-AC9C-A997-0637C2A4B1D1}"/>
                </a:ext>
              </a:extLst>
            </p:cNvPr>
            <p:cNvSpPr/>
            <p:nvPr/>
          </p:nvSpPr>
          <p:spPr>
            <a:xfrm>
              <a:off x="2232865"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grpSp>
      <p:grpSp>
        <p:nvGrpSpPr>
          <p:cNvPr id="21" name="Graphique 195">
            <a:extLst>
              <a:ext uri="{FF2B5EF4-FFF2-40B4-BE49-F238E27FC236}">
                <a16:creationId xmlns:a16="http://schemas.microsoft.com/office/drawing/2014/main" id="{A3439119-E8B0-BD81-1AF0-14A6B5DFFF29}"/>
              </a:ext>
            </a:extLst>
          </p:cNvPr>
          <p:cNvGrpSpPr/>
          <p:nvPr/>
        </p:nvGrpSpPr>
        <p:grpSpPr>
          <a:xfrm>
            <a:off x="1601139" y="1482255"/>
            <a:ext cx="324000" cy="360000"/>
            <a:chOff x="3264660" y="2723890"/>
            <a:chExt cx="247650" cy="285750"/>
          </a:xfrm>
        </p:grpSpPr>
        <p:sp>
          <p:nvSpPr>
            <p:cNvPr id="22" name="Forme libre : forme 21">
              <a:extLst>
                <a:ext uri="{FF2B5EF4-FFF2-40B4-BE49-F238E27FC236}">
                  <a16:creationId xmlns:a16="http://schemas.microsoft.com/office/drawing/2014/main" id="{8DCCA371-F2AF-E679-4CBF-8BEE08ACB188}"/>
                </a:ext>
              </a:extLst>
            </p:cNvPr>
            <p:cNvSpPr/>
            <p:nvPr/>
          </p:nvSpPr>
          <p:spPr>
            <a:xfrm>
              <a:off x="3388485"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23" name="Forme libre : forme 22">
              <a:extLst>
                <a:ext uri="{FF2B5EF4-FFF2-40B4-BE49-F238E27FC236}">
                  <a16:creationId xmlns:a16="http://schemas.microsoft.com/office/drawing/2014/main" id="{C01DA547-B3C1-9E9F-177C-D31794C662FC}"/>
                </a:ext>
              </a:extLst>
            </p:cNvPr>
            <p:cNvSpPr/>
            <p:nvPr/>
          </p:nvSpPr>
          <p:spPr>
            <a:xfrm>
              <a:off x="3264660" y="2896131"/>
              <a:ext cx="247650" cy="104775"/>
            </a:xfrm>
            <a:custGeom>
              <a:avLst/>
              <a:gdLst>
                <a:gd name="connsiteX0" fmla="*/ 93526 w 247650"/>
                <a:gd name="connsiteY0" fmla="*/ 0 h 104775"/>
                <a:gd name="connsiteX1" fmla="*/ 13830 w 247650"/>
                <a:gd name="connsiteY1" fmla="*/ 48025 h 104775"/>
                <a:gd name="connsiteX2" fmla="*/ 0 w 247650"/>
                <a:gd name="connsiteY2" fmla="*/ 72504 h 104775"/>
                <a:gd name="connsiteX3" fmla="*/ 0 w 247650"/>
                <a:gd name="connsiteY3" fmla="*/ 113509 h 104775"/>
                <a:gd name="connsiteX4" fmla="*/ 247650 w 247650"/>
                <a:gd name="connsiteY4" fmla="*/ 113509 h 104775"/>
                <a:gd name="connsiteX5" fmla="*/ 247650 w 247650"/>
                <a:gd name="connsiteY5" fmla="*/ 72504 h 104775"/>
                <a:gd name="connsiteX6" fmla="*/ 233820 w 247650"/>
                <a:gd name="connsiteY6" fmla="*/ 48025 h 104775"/>
                <a:gd name="connsiteX7" fmla="*/ 154124 w 24765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04775">
                  <a:moveTo>
                    <a:pt x="93526" y="0"/>
                  </a:moveTo>
                  <a:lnTo>
                    <a:pt x="13830" y="48025"/>
                  </a:lnTo>
                  <a:cubicBezTo>
                    <a:pt x="5248" y="53197"/>
                    <a:pt x="0" y="62484"/>
                    <a:pt x="0" y="72504"/>
                  </a:cubicBezTo>
                  <a:lnTo>
                    <a:pt x="0" y="113509"/>
                  </a:lnTo>
                  <a:lnTo>
                    <a:pt x="247650" y="113509"/>
                  </a:lnTo>
                  <a:lnTo>
                    <a:pt x="247650" y="72504"/>
                  </a:lnTo>
                  <a:cubicBezTo>
                    <a:pt x="247650" y="62484"/>
                    <a:pt x="242402" y="53197"/>
                    <a:pt x="233820" y="48025"/>
                  </a:cubicBezTo>
                  <a:lnTo>
                    <a:pt x="154124" y="0"/>
                  </a:lnTo>
                </a:path>
              </a:pathLst>
            </a:custGeom>
            <a:noFill/>
            <a:ln w="19050" cap="flat">
              <a:solidFill>
                <a:schemeClr val="accent4"/>
              </a:solidFill>
              <a:prstDash val="solid"/>
              <a:miter/>
            </a:ln>
          </p:spPr>
          <p:txBody>
            <a:bodyPr rtlCol="0" anchor="ctr"/>
            <a:lstStyle/>
            <a:p>
              <a:endParaRPr lang="en-US"/>
            </a:p>
          </p:txBody>
        </p:sp>
        <p:sp>
          <p:nvSpPr>
            <p:cNvPr id="24" name="Forme libre : forme 23">
              <a:extLst>
                <a:ext uri="{FF2B5EF4-FFF2-40B4-BE49-F238E27FC236}">
                  <a16:creationId xmlns:a16="http://schemas.microsoft.com/office/drawing/2014/main" id="{87C6B8D5-4B3F-ACAC-A190-91FB3745EB3D}"/>
                </a:ext>
              </a:extLst>
            </p:cNvPr>
            <p:cNvSpPr/>
            <p:nvPr/>
          </p:nvSpPr>
          <p:spPr>
            <a:xfrm>
              <a:off x="3312285"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25" name="Forme libre : forme 24">
              <a:extLst>
                <a:ext uri="{FF2B5EF4-FFF2-40B4-BE49-F238E27FC236}">
                  <a16:creationId xmlns:a16="http://schemas.microsoft.com/office/drawing/2014/main" id="{53281803-9767-4E0A-F284-2ECBB6E774DA}"/>
                </a:ext>
              </a:extLst>
            </p:cNvPr>
            <p:cNvSpPr/>
            <p:nvPr/>
          </p:nvSpPr>
          <p:spPr>
            <a:xfrm>
              <a:off x="3312647"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A0BF2956-F237-861F-B283-96E20A0CCB20}"/>
                </a:ext>
              </a:extLst>
            </p:cNvPr>
            <p:cNvSpPr/>
            <p:nvPr/>
          </p:nvSpPr>
          <p:spPr>
            <a:xfrm>
              <a:off x="3274185" y="2800090"/>
              <a:ext cx="38100" cy="114300"/>
            </a:xfrm>
            <a:custGeom>
              <a:avLst/>
              <a:gdLst>
                <a:gd name="connsiteX0" fmla="*/ 38100 w 38100"/>
                <a:gd name="connsiteY0" fmla="*/ 0 h 114300"/>
                <a:gd name="connsiteX1" fmla="*/ 0 w 38100"/>
                <a:gd name="connsiteY1" fmla="*/ 95250 h 114300"/>
                <a:gd name="connsiteX2" fmla="*/ 38100 w 38100"/>
                <a:gd name="connsiteY2" fmla="*/ 123701 h 114300"/>
              </a:gdLst>
              <a:ahLst/>
              <a:cxnLst>
                <a:cxn ang="0">
                  <a:pos x="connsiteX0" y="connsiteY0"/>
                </a:cxn>
                <a:cxn ang="0">
                  <a:pos x="connsiteX1" y="connsiteY1"/>
                </a:cxn>
                <a:cxn ang="0">
                  <a:pos x="connsiteX2" y="connsiteY2"/>
                </a:cxn>
              </a:cxnLst>
              <a:rect l="l" t="t" r="r" b="b"/>
              <a:pathLst>
                <a:path w="38100" h="114300">
                  <a:moveTo>
                    <a:pt x="38100" y="0"/>
                  </a:moveTo>
                  <a:cubicBezTo>
                    <a:pt x="38100" y="0"/>
                    <a:pt x="38100" y="66675"/>
                    <a:pt x="0" y="95250"/>
                  </a:cubicBezTo>
                  <a:cubicBezTo>
                    <a:pt x="9525" y="114300"/>
                    <a:pt x="38100" y="123701"/>
                    <a:pt x="38100" y="123701"/>
                  </a:cubicBezTo>
                </a:path>
              </a:pathLst>
            </a:custGeom>
            <a:noFill/>
            <a:ln w="19050" cap="flat">
              <a:solidFill>
                <a:schemeClr val="accent4"/>
              </a:solid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9F1814E4-350B-DC67-1710-E143BFC4F15E}"/>
                </a:ext>
              </a:extLst>
            </p:cNvPr>
            <p:cNvSpPr/>
            <p:nvPr/>
          </p:nvSpPr>
          <p:spPr>
            <a:xfrm>
              <a:off x="3464685" y="2800090"/>
              <a:ext cx="38100" cy="114300"/>
            </a:xfrm>
            <a:custGeom>
              <a:avLst/>
              <a:gdLst>
                <a:gd name="connsiteX0" fmla="*/ 0 w 38100"/>
                <a:gd name="connsiteY0" fmla="*/ 0 h 114300"/>
                <a:gd name="connsiteX1" fmla="*/ 38100 w 38100"/>
                <a:gd name="connsiteY1" fmla="*/ 95250 h 114300"/>
                <a:gd name="connsiteX2" fmla="*/ 0 w 38100"/>
                <a:gd name="connsiteY2" fmla="*/ 123701 h 114300"/>
              </a:gdLst>
              <a:ahLst/>
              <a:cxnLst>
                <a:cxn ang="0">
                  <a:pos x="connsiteX0" y="connsiteY0"/>
                </a:cxn>
                <a:cxn ang="0">
                  <a:pos x="connsiteX1" y="connsiteY1"/>
                </a:cxn>
                <a:cxn ang="0">
                  <a:pos x="connsiteX2" y="connsiteY2"/>
                </a:cxn>
              </a:cxnLst>
              <a:rect l="l" t="t" r="r" b="b"/>
              <a:pathLst>
                <a:path w="38100" h="114300">
                  <a:moveTo>
                    <a:pt x="0" y="0"/>
                  </a:moveTo>
                  <a:cubicBezTo>
                    <a:pt x="0" y="0"/>
                    <a:pt x="0" y="66675"/>
                    <a:pt x="38100" y="95250"/>
                  </a:cubicBezTo>
                  <a:cubicBezTo>
                    <a:pt x="28575" y="114300"/>
                    <a:pt x="0" y="123701"/>
                    <a:pt x="0" y="123701"/>
                  </a:cubicBezTo>
                </a:path>
              </a:pathLst>
            </a:custGeom>
            <a:noFill/>
            <a:ln w="19050" cap="flat">
              <a:solidFill>
                <a:schemeClr val="accent4"/>
              </a:solidFill>
              <a:prstDash val="solid"/>
              <a:miter/>
            </a:ln>
          </p:spPr>
          <p:txBody>
            <a:bodyPr rtlCol="0" anchor="ctr"/>
            <a:lstStyle/>
            <a:p>
              <a:endParaRPr lang="en-US"/>
            </a:p>
          </p:txBody>
        </p:sp>
      </p:grpSp>
      <p:sp>
        <p:nvSpPr>
          <p:cNvPr id="29" name="Rectangle : coins arrondis 28">
            <a:extLst>
              <a:ext uri="{FF2B5EF4-FFF2-40B4-BE49-F238E27FC236}">
                <a16:creationId xmlns:a16="http://schemas.microsoft.com/office/drawing/2014/main" id="{E16E7A62-D817-FA90-5C94-426240BA6651}"/>
              </a:ext>
            </a:extLst>
          </p:cNvPr>
          <p:cNvSpPr/>
          <p:nvPr>
            <p:custDataLst>
              <p:tags r:id="rId1"/>
            </p:custDataLst>
          </p:nvPr>
        </p:nvSpPr>
        <p:spPr>
          <a:xfrm>
            <a:off x="584550" y="2162348"/>
            <a:ext cx="3172608" cy="721624"/>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E74C786-0D43-F9AA-B500-FFEBD365C9D8}"/>
              </a:ext>
            </a:extLst>
          </p:cNvPr>
          <p:cNvSpPr/>
          <p:nvPr/>
        </p:nvSpPr>
        <p:spPr>
          <a:xfrm>
            <a:off x="717168" y="2230340"/>
            <a:ext cx="2944791" cy="5293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Employees are managed by HR services. </a:t>
            </a:r>
          </a:p>
          <a:p>
            <a:pPr marL="0" algn="just" defTabSz="914400" rtl="0" eaLnBrk="1" latinLnBrk="0" hangingPunct="1"/>
            <a:r>
              <a:rPr lang="en-US" sz="1050">
                <a:solidFill>
                  <a:schemeClr val="dk1"/>
                </a:solidFill>
              </a:rPr>
              <a:t>Service providers are managed by managers</a:t>
            </a:r>
          </a:p>
        </p:txBody>
      </p:sp>
      <p:sp>
        <p:nvSpPr>
          <p:cNvPr id="31" name="Rectangle : coins arrondis 3">
            <a:extLst>
              <a:ext uri="{FF2B5EF4-FFF2-40B4-BE49-F238E27FC236}">
                <a16:creationId xmlns:a16="http://schemas.microsoft.com/office/drawing/2014/main" id="{581DA06C-BF3E-BD62-DE41-EB7618A1223D}"/>
              </a:ext>
            </a:extLst>
          </p:cNvPr>
          <p:cNvSpPr/>
          <p:nvPr/>
        </p:nvSpPr>
        <p:spPr>
          <a:xfrm>
            <a:off x="8971162" y="1824069"/>
            <a:ext cx="2184983" cy="276825"/>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Administrators (PAM)</a:t>
            </a:r>
          </a:p>
        </p:txBody>
      </p:sp>
      <p:grpSp>
        <p:nvGrpSpPr>
          <p:cNvPr id="32" name="Graphique 569">
            <a:extLst>
              <a:ext uri="{FF2B5EF4-FFF2-40B4-BE49-F238E27FC236}">
                <a16:creationId xmlns:a16="http://schemas.microsoft.com/office/drawing/2014/main" id="{47765BF4-860C-141D-F541-A207978FEA4E}"/>
              </a:ext>
            </a:extLst>
          </p:cNvPr>
          <p:cNvGrpSpPr/>
          <p:nvPr/>
        </p:nvGrpSpPr>
        <p:grpSpPr>
          <a:xfrm>
            <a:off x="9429831" y="1424395"/>
            <a:ext cx="360000" cy="360000"/>
            <a:chOff x="1084578" y="2731816"/>
            <a:chExt cx="276226" cy="257182"/>
          </a:xfrm>
        </p:grpSpPr>
        <p:sp>
          <p:nvSpPr>
            <p:cNvPr id="33" name="Forme libre : forme 32">
              <a:extLst>
                <a:ext uri="{FF2B5EF4-FFF2-40B4-BE49-F238E27FC236}">
                  <a16:creationId xmlns:a16="http://schemas.microsoft.com/office/drawing/2014/main" id="{02B8F911-CB19-EC11-0B1F-5EC2FD03727D}"/>
                </a:ext>
              </a:extLst>
            </p:cNvPr>
            <p:cNvSpPr/>
            <p:nvPr/>
          </p:nvSpPr>
          <p:spPr>
            <a:xfrm>
              <a:off x="1122679" y="2865174"/>
              <a:ext cx="142875" cy="66675"/>
            </a:xfrm>
            <a:custGeom>
              <a:avLst/>
              <a:gdLst>
                <a:gd name="connsiteX0" fmla="*/ 0 w 142875"/>
                <a:gd name="connsiteY0" fmla="*/ 0 h 66675"/>
                <a:gd name="connsiteX1" fmla="*/ 9525 w 142875"/>
                <a:gd name="connsiteY1" fmla="*/ 0 h 66675"/>
                <a:gd name="connsiteX2" fmla="*/ 66675 w 142875"/>
                <a:gd name="connsiteY2" fmla="*/ 28575 h 66675"/>
                <a:gd name="connsiteX3" fmla="*/ 104775 w 142875"/>
                <a:gd name="connsiteY3" fmla="*/ 28575 h 66675"/>
                <a:gd name="connsiteX4" fmla="*/ 142875 w 142875"/>
                <a:gd name="connsiteY4" fmla="*/ 66675 h 66675"/>
                <a:gd name="connsiteX5" fmla="*/ 57150 w 142875"/>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66675">
                  <a:moveTo>
                    <a:pt x="0" y="0"/>
                  </a:moveTo>
                  <a:lnTo>
                    <a:pt x="9525" y="0"/>
                  </a:lnTo>
                  <a:cubicBezTo>
                    <a:pt x="32001" y="42"/>
                    <a:pt x="53156" y="10620"/>
                    <a:pt x="66675" y="28575"/>
                  </a:cubicBezTo>
                  <a:lnTo>
                    <a:pt x="104775" y="28575"/>
                  </a:lnTo>
                  <a:cubicBezTo>
                    <a:pt x="125217" y="29958"/>
                    <a:pt x="141492" y="46233"/>
                    <a:pt x="142875" y="66675"/>
                  </a:cubicBezTo>
                  <a:lnTo>
                    <a:pt x="57150" y="66675"/>
                  </a:lnTo>
                </a:path>
              </a:pathLst>
            </a:custGeom>
            <a:noFill/>
            <a:ln w="19050" cap="flat">
              <a:solidFill>
                <a:srgbClr val="6496BB"/>
              </a:solid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C08FFD74-4DE9-62A8-D96F-A20BC955DEB4}"/>
                </a:ext>
              </a:extLst>
            </p:cNvPr>
            <p:cNvSpPr/>
            <p:nvPr/>
          </p:nvSpPr>
          <p:spPr>
            <a:xfrm>
              <a:off x="1122679" y="2912798"/>
              <a:ext cx="238125" cy="76200"/>
            </a:xfrm>
            <a:custGeom>
              <a:avLst/>
              <a:gdLst>
                <a:gd name="connsiteX0" fmla="*/ 137160 w 238125"/>
                <a:gd name="connsiteY0" fmla="*/ 0 h 76200"/>
                <a:gd name="connsiteX1" fmla="*/ 200025 w 238125"/>
                <a:gd name="connsiteY1" fmla="*/ 0 h 76200"/>
                <a:gd name="connsiteX2" fmla="*/ 238125 w 238125"/>
                <a:gd name="connsiteY2" fmla="*/ 19050 h 76200"/>
                <a:gd name="connsiteX3" fmla="*/ 101918 w 238125"/>
                <a:gd name="connsiteY3" fmla="*/ 74295 h 76200"/>
                <a:gd name="connsiteX4" fmla="*/ 68580 w 238125"/>
                <a:gd name="connsiteY4" fmla="*/ 73342 h 76200"/>
                <a:gd name="connsiteX5" fmla="*/ 0 w 238125"/>
                <a:gd name="connsiteY5" fmla="*/ 3810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5" h="76200">
                  <a:moveTo>
                    <a:pt x="137160" y="0"/>
                  </a:moveTo>
                  <a:lnTo>
                    <a:pt x="200025" y="0"/>
                  </a:lnTo>
                  <a:cubicBezTo>
                    <a:pt x="234315" y="0"/>
                    <a:pt x="238125" y="19050"/>
                    <a:pt x="238125" y="19050"/>
                  </a:cubicBezTo>
                  <a:lnTo>
                    <a:pt x="101918" y="74295"/>
                  </a:lnTo>
                  <a:cubicBezTo>
                    <a:pt x="91178" y="78750"/>
                    <a:pt x="79047" y="78404"/>
                    <a:pt x="68580" y="73342"/>
                  </a:cubicBezTo>
                  <a:lnTo>
                    <a:pt x="0" y="38100"/>
                  </a:lnTo>
                </a:path>
              </a:pathLst>
            </a:custGeom>
            <a:noFill/>
            <a:ln w="19050" cap="flat">
              <a:solidFill>
                <a:srgbClr val="6496BB"/>
              </a:solid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98115440-B9FD-C4FE-F935-2B56F4E3F198}"/>
                </a:ext>
              </a:extLst>
            </p:cNvPr>
            <p:cNvSpPr/>
            <p:nvPr/>
          </p:nvSpPr>
          <p:spPr>
            <a:xfrm>
              <a:off x="1084578" y="2846122"/>
              <a:ext cx="38100" cy="123825"/>
            </a:xfrm>
            <a:custGeom>
              <a:avLst/>
              <a:gdLst>
                <a:gd name="connsiteX0" fmla="*/ 0 w 38100"/>
                <a:gd name="connsiteY0" fmla="*/ 0 h 123825"/>
                <a:gd name="connsiteX1" fmla="*/ 38100 w 38100"/>
                <a:gd name="connsiteY1" fmla="*/ 0 h 123825"/>
                <a:gd name="connsiteX2" fmla="*/ 38100 w 38100"/>
                <a:gd name="connsiteY2" fmla="*/ 123825 h 123825"/>
                <a:gd name="connsiteX3" fmla="*/ 0 w 38100"/>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38100" h="123825">
                  <a:moveTo>
                    <a:pt x="0" y="0"/>
                  </a:moveTo>
                  <a:lnTo>
                    <a:pt x="38100" y="0"/>
                  </a:lnTo>
                  <a:lnTo>
                    <a:pt x="38100" y="123825"/>
                  </a:lnTo>
                  <a:lnTo>
                    <a:pt x="0" y="123825"/>
                  </a:lnTo>
                  <a:close/>
                </a:path>
              </a:pathLst>
            </a:custGeom>
            <a:noFill/>
            <a:ln w="19050" cap="flat">
              <a:solidFill>
                <a:srgbClr val="6496BB"/>
              </a:solid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188F8F91-3274-DA56-674E-32C79D743949}"/>
                </a:ext>
              </a:extLst>
            </p:cNvPr>
            <p:cNvSpPr/>
            <p:nvPr/>
          </p:nvSpPr>
          <p:spPr>
            <a:xfrm>
              <a:off x="1170303" y="2769922"/>
              <a:ext cx="19050" cy="19050"/>
            </a:xfrm>
            <a:custGeom>
              <a:avLst/>
              <a:gdLst>
                <a:gd name="connsiteX0" fmla="*/ 19050 w 19050"/>
                <a:gd name="connsiteY0" fmla="*/ 9525 h 19050"/>
                <a:gd name="connsiteX1" fmla="*/ 9525 w 19050"/>
                <a:gd name="connsiteY1" fmla="*/ 19050 h 19050"/>
                <a:gd name="connsiteX2" fmla="*/ 0 w 19050"/>
                <a:gd name="connsiteY2" fmla="*/ 9525 h 19050"/>
                <a:gd name="connsiteX3" fmla="*/ 9525 w 19050"/>
                <a:gd name="connsiteY3" fmla="*/ 0 h 19050"/>
                <a:gd name="connsiteX4" fmla="*/ 19050 w 19050"/>
                <a:gd name="connsiteY4" fmla="*/ 9525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9050" y="9525"/>
                  </a:moveTo>
                  <a:cubicBezTo>
                    <a:pt x="19050" y="14786"/>
                    <a:pt x="14786" y="19050"/>
                    <a:pt x="9525" y="19050"/>
                  </a:cubicBezTo>
                  <a:cubicBezTo>
                    <a:pt x="4264" y="19050"/>
                    <a:pt x="0" y="14786"/>
                    <a:pt x="0" y="9525"/>
                  </a:cubicBezTo>
                  <a:cubicBezTo>
                    <a:pt x="0" y="4264"/>
                    <a:pt x="4264" y="0"/>
                    <a:pt x="9525" y="0"/>
                  </a:cubicBezTo>
                  <a:cubicBezTo>
                    <a:pt x="14786" y="0"/>
                    <a:pt x="19050" y="4264"/>
                    <a:pt x="19050" y="9525"/>
                  </a:cubicBezTo>
                  <a:close/>
                </a:path>
              </a:pathLst>
            </a:custGeom>
            <a:solidFill>
              <a:schemeClr val="accent1"/>
            </a:solidFill>
            <a:ln w="19050" cap="flat">
              <a:solidFill>
                <a:srgbClr val="6496BB"/>
              </a:solid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08DC61FC-06E3-575D-5ABF-CA6FD9AC9913}"/>
                </a:ext>
              </a:extLst>
            </p:cNvPr>
            <p:cNvSpPr/>
            <p:nvPr/>
          </p:nvSpPr>
          <p:spPr>
            <a:xfrm>
              <a:off x="1141672" y="2731816"/>
              <a:ext cx="190500" cy="95250"/>
            </a:xfrm>
            <a:custGeom>
              <a:avLst/>
              <a:gdLst>
                <a:gd name="connsiteX0" fmla="*/ 91286 w 190500"/>
                <a:gd name="connsiteY0" fmla="*/ 28587 h 95250"/>
                <a:gd name="connsiteX1" fmla="*/ 28587 w 190500"/>
                <a:gd name="connsiteY1" fmla="*/ 3988 h 95250"/>
                <a:gd name="connsiteX2" fmla="*/ 3988 w 190500"/>
                <a:gd name="connsiteY2" fmla="*/ 66687 h 95250"/>
                <a:gd name="connsiteX3" fmla="*/ 66687 w 190500"/>
                <a:gd name="connsiteY3" fmla="*/ 91286 h 95250"/>
                <a:gd name="connsiteX4" fmla="*/ 91286 w 190500"/>
                <a:gd name="connsiteY4" fmla="*/ 66687 h 95250"/>
                <a:gd name="connsiteX5" fmla="*/ 123881 w 190500"/>
                <a:gd name="connsiteY5" fmla="*/ 66687 h 95250"/>
                <a:gd name="connsiteX6" fmla="*/ 138168 w 190500"/>
                <a:gd name="connsiteY6" fmla="*/ 76212 h 95250"/>
                <a:gd name="connsiteX7" fmla="*/ 152456 w 190500"/>
                <a:gd name="connsiteY7" fmla="*/ 66687 h 95250"/>
                <a:gd name="connsiteX8" fmla="*/ 181031 w 190500"/>
                <a:gd name="connsiteY8" fmla="*/ 66687 h 95250"/>
                <a:gd name="connsiteX9" fmla="*/ 190556 w 190500"/>
                <a:gd name="connsiteY9" fmla="*/ 28587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0500" h="95250">
                  <a:moveTo>
                    <a:pt x="91286" y="28587"/>
                  </a:moveTo>
                  <a:cubicBezTo>
                    <a:pt x="80765" y="4480"/>
                    <a:pt x="52694" y="-6533"/>
                    <a:pt x="28587" y="3988"/>
                  </a:cubicBezTo>
                  <a:cubicBezTo>
                    <a:pt x="4480" y="14509"/>
                    <a:pt x="-6533" y="42580"/>
                    <a:pt x="3988" y="66687"/>
                  </a:cubicBezTo>
                  <a:cubicBezTo>
                    <a:pt x="14509" y="90794"/>
                    <a:pt x="42580" y="101807"/>
                    <a:pt x="66687" y="91286"/>
                  </a:cubicBezTo>
                  <a:cubicBezTo>
                    <a:pt x="77695" y="86482"/>
                    <a:pt x="86482" y="77695"/>
                    <a:pt x="91286" y="66687"/>
                  </a:cubicBezTo>
                  <a:lnTo>
                    <a:pt x="123881" y="66687"/>
                  </a:lnTo>
                  <a:lnTo>
                    <a:pt x="138168" y="76212"/>
                  </a:lnTo>
                  <a:lnTo>
                    <a:pt x="152456" y="66687"/>
                  </a:lnTo>
                  <a:lnTo>
                    <a:pt x="181031" y="66687"/>
                  </a:lnTo>
                  <a:lnTo>
                    <a:pt x="190556" y="28587"/>
                  </a:lnTo>
                  <a:close/>
                </a:path>
              </a:pathLst>
            </a:custGeom>
            <a:noFill/>
            <a:ln w="19050" cap="sq">
              <a:solidFill>
                <a:srgbClr val="6496BB"/>
              </a:solidFill>
              <a:prstDash val="solid"/>
              <a:miter/>
            </a:ln>
          </p:spPr>
          <p:txBody>
            <a:bodyPr rtlCol="0" anchor="ctr"/>
            <a:lstStyle/>
            <a:p>
              <a:endParaRPr lang="en-US"/>
            </a:p>
          </p:txBody>
        </p:sp>
      </p:grpSp>
      <p:sp>
        <p:nvSpPr>
          <p:cNvPr id="38" name="Rectangle : coins arrondis 37">
            <a:extLst>
              <a:ext uri="{FF2B5EF4-FFF2-40B4-BE49-F238E27FC236}">
                <a16:creationId xmlns:a16="http://schemas.microsoft.com/office/drawing/2014/main" id="{CBF099EA-C5DC-84FF-0213-A2F702B89840}"/>
              </a:ext>
            </a:extLst>
          </p:cNvPr>
          <p:cNvSpPr/>
          <p:nvPr>
            <p:custDataLst>
              <p:tags r:id="rId2"/>
            </p:custDataLst>
          </p:nvPr>
        </p:nvSpPr>
        <p:spPr>
          <a:xfrm>
            <a:off x="8221454" y="2091248"/>
            <a:ext cx="3171600" cy="723600"/>
          </a:xfrm>
          <a:prstGeom prst="roundRect">
            <a:avLst>
              <a:gd name="adj" fmla="val 9166"/>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1B446A-1F3E-CA23-6FFB-FF52CA3E9574}"/>
              </a:ext>
            </a:extLst>
          </p:cNvPr>
          <p:cNvSpPr/>
          <p:nvPr/>
        </p:nvSpPr>
        <p:spPr>
          <a:xfrm>
            <a:off x="8291843" y="2159240"/>
            <a:ext cx="2831963" cy="555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Users who by their privileges possess extensive accesses in the IS and require  additional protections.</a:t>
            </a:r>
          </a:p>
        </p:txBody>
      </p:sp>
      <p:sp>
        <p:nvSpPr>
          <p:cNvPr id="40" name="Rectangle : coins arrondis 39">
            <a:extLst>
              <a:ext uri="{FF2B5EF4-FFF2-40B4-BE49-F238E27FC236}">
                <a16:creationId xmlns:a16="http://schemas.microsoft.com/office/drawing/2014/main" id="{DF2EA53D-ABD3-0213-8681-9F12099D641D}"/>
              </a:ext>
            </a:extLst>
          </p:cNvPr>
          <p:cNvSpPr/>
          <p:nvPr>
            <p:custDataLst>
              <p:tags r:id="rId3"/>
            </p:custDataLst>
          </p:nvPr>
        </p:nvSpPr>
        <p:spPr>
          <a:xfrm>
            <a:off x="1601139" y="5954534"/>
            <a:ext cx="3171600" cy="75600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aphique 175">
            <a:extLst>
              <a:ext uri="{FF2B5EF4-FFF2-40B4-BE49-F238E27FC236}">
                <a16:creationId xmlns:a16="http://schemas.microsoft.com/office/drawing/2014/main" id="{3A1A6AEE-EBA1-6CFE-2C15-00C69BA492BF}"/>
              </a:ext>
            </a:extLst>
          </p:cNvPr>
          <p:cNvGrpSpPr/>
          <p:nvPr/>
        </p:nvGrpSpPr>
        <p:grpSpPr>
          <a:xfrm>
            <a:off x="2910966" y="5269282"/>
            <a:ext cx="360000" cy="288000"/>
            <a:chOff x="3245610" y="1820342"/>
            <a:chExt cx="285750" cy="247650"/>
          </a:xfrm>
        </p:grpSpPr>
        <p:sp>
          <p:nvSpPr>
            <p:cNvPr id="42" name="Forme libre : forme 41">
              <a:extLst>
                <a:ext uri="{FF2B5EF4-FFF2-40B4-BE49-F238E27FC236}">
                  <a16:creationId xmlns:a16="http://schemas.microsoft.com/office/drawing/2014/main" id="{07094FB9-BEC8-02EB-4F67-D635F7596E02}"/>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sp>
          <p:nvSpPr>
            <p:cNvPr id="43" name="Forme libre : forme 42">
              <a:extLst>
                <a:ext uri="{FF2B5EF4-FFF2-40B4-BE49-F238E27FC236}">
                  <a16:creationId xmlns:a16="http://schemas.microsoft.com/office/drawing/2014/main" id="{5AC74460-8920-F0EC-02DC-52BE54488C5B}"/>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19050" cap="sq">
              <a:solidFill>
                <a:srgbClr val="6496BB"/>
              </a:solidFill>
              <a:prstDash val="solid"/>
              <a:miter/>
            </a:ln>
          </p:spPr>
          <p:txBody>
            <a:bodyPr rtlCol="0" anchor="ctr"/>
            <a:lstStyle/>
            <a:p>
              <a:endParaRPr lang="en-US"/>
            </a:p>
          </p:txBody>
        </p:sp>
        <p:sp>
          <p:nvSpPr>
            <p:cNvPr id="44" name="Forme libre : forme 43">
              <a:extLst>
                <a:ext uri="{FF2B5EF4-FFF2-40B4-BE49-F238E27FC236}">
                  <a16:creationId xmlns:a16="http://schemas.microsoft.com/office/drawing/2014/main" id="{AAF4C886-CAAE-C2A1-05BA-8C8B7F05FBB1}"/>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19050" cap="sq">
              <a:solidFill>
                <a:srgbClr val="6496BB"/>
              </a:solidFill>
              <a:prstDash val="solid"/>
              <a:miter/>
            </a:ln>
          </p:spPr>
          <p:txBody>
            <a:bodyPr rtlCol="0" anchor="ctr"/>
            <a:lstStyle/>
            <a:p>
              <a:endParaRPr lang="en-US"/>
            </a:p>
          </p:txBody>
        </p:sp>
        <p:sp>
          <p:nvSpPr>
            <p:cNvPr id="45" name="Forme libre : forme 44">
              <a:extLst>
                <a:ext uri="{FF2B5EF4-FFF2-40B4-BE49-F238E27FC236}">
                  <a16:creationId xmlns:a16="http://schemas.microsoft.com/office/drawing/2014/main" id="{8D2CC81A-07BF-E07F-4C24-55E908EBD0FC}"/>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grpSp>
      <p:grpSp>
        <p:nvGrpSpPr>
          <p:cNvPr id="46" name="Graphique 116">
            <a:extLst>
              <a:ext uri="{FF2B5EF4-FFF2-40B4-BE49-F238E27FC236}">
                <a16:creationId xmlns:a16="http://schemas.microsoft.com/office/drawing/2014/main" id="{FEB22147-1D2F-8528-1AD1-45587CCE9A39}"/>
              </a:ext>
            </a:extLst>
          </p:cNvPr>
          <p:cNvGrpSpPr/>
          <p:nvPr/>
        </p:nvGrpSpPr>
        <p:grpSpPr>
          <a:xfrm>
            <a:off x="2395411" y="5220359"/>
            <a:ext cx="360000" cy="360000"/>
            <a:chOff x="7575918" y="3665538"/>
            <a:chExt cx="285750" cy="257175"/>
          </a:xfrm>
        </p:grpSpPr>
        <p:sp>
          <p:nvSpPr>
            <p:cNvPr id="47" name="Forme libre : forme 46">
              <a:extLst>
                <a:ext uri="{FF2B5EF4-FFF2-40B4-BE49-F238E27FC236}">
                  <a16:creationId xmlns:a16="http://schemas.microsoft.com/office/drawing/2014/main" id="{F27C7368-1388-8C91-790A-C4F8C5ADE826}"/>
                </a:ext>
              </a:extLst>
            </p:cNvPr>
            <p:cNvSpPr/>
            <p:nvPr/>
          </p:nvSpPr>
          <p:spPr>
            <a:xfrm>
              <a:off x="7709268" y="3713163"/>
              <a:ext cx="152400" cy="171450"/>
            </a:xfrm>
            <a:custGeom>
              <a:avLst/>
              <a:gdLst>
                <a:gd name="connsiteX0" fmla="*/ 104775 w 152400"/>
                <a:gd name="connsiteY0" fmla="*/ 171450 h 171450"/>
                <a:gd name="connsiteX1" fmla="*/ 152400 w 152400"/>
                <a:gd name="connsiteY1" fmla="*/ 171450 h 171450"/>
                <a:gd name="connsiteX2" fmla="*/ 152400 w 152400"/>
                <a:gd name="connsiteY2" fmla="*/ 95250 h 171450"/>
                <a:gd name="connsiteX3" fmla="*/ 114300 w 152400"/>
                <a:gd name="connsiteY3" fmla="*/ 76200 h 171450"/>
                <a:gd name="connsiteX4" fmla="*/ 85725 w 152400"/>
                <a:gd name="connsiteY4" fmla="*/ 0 h 171450"/>
                <a:gd name="connsiteX5" fmla="*/ 0 w 152400"/>
                <a:gd name="connsiteY5" fmla="*/ 0 h 171450"/>
                <a:gd name="connsiteX6" fmla="*/ 0 w 152400"/>
                <a:gd name="connsiteY6" fmla="*/ 171450 h 171450"/>
                <a:gd name="connsiteX7" fmla="*/ 28575 w 152400"/>
                <a:gd name="connsiteY7" fmla="*/ 1714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400" h="171450">
                  <a:moveTo>
                    <a:pt x="104775" y="171450"/>
                  </a:moveTo>
                  <a:lnTo>
                    <a:pt x="152400" y="171450"/>
                  </a:lnTo>
                  <a:lnTo>
                    <a:pt x="152400" y="95250"/>
                  </a:lnTo>
                  <a:lnTo>
                    <a:pt x="114300" y="76200"/>
                  </a:lnTo>
                  <a:lnTo>
                    <a:pt x="85725" y="0"/>
                  </a:lnTo>
                  <a:lnTo>
                    <a:pt x="0" y="0"/>
                  </a:lnTo>
                  <a:lnTo>
                    <a:pt x="0" y="171450"/>
                  </a:lnTo>
                  <a:lnTo>
                    <a:pt x="28575" y="171450"/>
                  </a:lnTo>
                </a:path>
              </a:pathLst>
            </a:custGeom>
            <a:noFill/>
            <a:ln w="19050" cap="flat">
              <a:solidFill>
                <a:srgbClr val="6496BB"/>
              </a:solidFill>
              <a:prstDash val="solid"/>
              <a:miter/>
            </a:ln>
          </p:spPr>
          <p:txBody>
            <a:bodyPr rtlCol="0" anchor="ctr"/>
            <a:lstStyle/>
            <a:p>
              <a:endParaRPr lang="en-US"/>
            </a:p>
          </p:txBody>
        </p:sp>
        <p:sp>
          <p:nvSpPr>
            <p:cNvPr id="48" name="Forme libre : forme 47">
              <a:extLst>
                <a:ext uri="{FF2B5EF4-FFF2-40B4-BE49-F238E27FC236}">
                  <a16:creationId xmlns:a16="http://schemas.microsoft.com/office/drawing/2014/main" id="{7E7417FB-2365-3C7E-55AC-8BEBE7DAC9E2}"/>
                </a:ext>
              </a:extLst>
            </p:cNvPr>
            <p:cNvSpPr/>
            <p:nvPr/>
          </p:nvSpPr>
          <p:spPr>
            <a:xfrm>
              <a:off x="7737843" y="384651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6496BB"/>
              </a:solidFill>
              <a:prstDash val="solid"/>
              <a:miter/>
            </a:ln>
          </p:spPr>
          <p:txBody>
            <a:bodyPr rtlCol="0" anchor="ctr"/>
            <a:lstStyle/>
            <a:p>
              <a:endParaRPr lang="en-US"/>
            </a:p>
          </p:txBody>
        </p:sp>
        <p:sp>
          <p:nvSpPr>
            <p:cNvPr id="49" name="Forme libre : forme 48">
              <a:extLst>
                <a:ext uri="{FF2B5EF4-FFF2-40B4-BE49-F238E27FC236}">
                  <a16:creationId xmlns:a16="http://schemas.microsoft.com/office/drawing/2014/main" id="{10566D6C-9D75-9A62-CF6B-6900C8B4B11B}"/>
                </a:ext>
              </a:extLst>
            </p:cNvPr>
            <p:cNvSpPr/>
            <p:nvPr/>
          </p:nvSpPr>
          <p:spPr>
            <a:xfrm>
              <a:off x="7747368" y="3751263"/>
              <a:ext cx="38100" cy="38100"/>
            </a:xfrm>
            <a:custGeom>
              <a:avLst/>
              <a:gdLst>
                <a:gd name="connsiteX0" fmla="*/ 0 w 38100"/>
                <a:gd name="connsiteY0" fmla="*/ 0 h 38100"/>
                <a:gd name="connsiteX1" fmla="*/ 0 w 38100"/>
                <a:gd name="connsiteY1" fmla="*/ 38100 h 38100"/>
                <a:gd name="connsiteX2" fmla="*/ 38100 w 38100"/>
                <a:gd name="connsiteY2" fmla="*/ 38100 h 38100"/>
              </a:gdLst>
              <a:ahLst/>
              <a:cxnLst>
                <a:cxn ang="0">
                  <a:pos x="connsiteX0" y="connsiteY0"/>
                </a:cxn>
                <a:cxn ang="0">
                  <a:pos x="connsiteX1" y="connsiteY1"/>
                </a:cxn>
                <a:cxn ang="0">
                  <a:pos x="connsiteX2" y="connsiteY2"/>
                </a:cxn>
              </a:cxnLst>
              <a:rect l="l" t="t" r="r" b="b"/>
              <a:pathLst>
                <a:path w="38100" h="38100">
                  <a:moveTo>
                    <a:pt x="0" y="0"/>
                  </a:moveTo>
                  <a:lnTo>
                    <a:pt x="0" y="38100"/>
                  </a:lnTo>
                  <a:lnTo>
                    <a:pt x="38100" y="38100"/>
                  </a:lnTo>
                </a:path>
              </a:pathLst>
            </a:custGeom>
            <a:noFill/>
            <a:ln w="19050" cap="sq">
              <a:solidFill>
                <a:srgbClr val="6496BB"/>
              </a:solidFill>
              <a:prstDash val="solid"/>
              <a:miter/>
            </a:ln>
          </p:spPr>
          <p:txBody>
            <a:bodyPr rtlCol="0" anchor="ctr"/>
            <a:lstStyle/>
            <a:p>
              <a:endParaRPr lang="en-US"/>
            </a:p>
          </p:txBody>
        </p:sp>
        <p:sp>
          <p:nvSpPr>
            <p:cNvPr id="50" name="Forme libre : forme 49">
              <a:extLst>
                <a:ext uri="{FF2B5EF4-FFF2-40B4-BE49-F238E27FC236}">
                  <a16:creationId xmlns:a16="http://schemas.microsoft.com/office/drawing/2014/main" id="{B30B9CA4-B912-19FD-72C6-6F4BDF7C4374}"/>
                </a:ext>
              </a:extLst>
            </p:cNvPr>
            <p:cNvSpPr/>
            <p:nvPr/>
          </p:nvSpPr>
          <p:spPr>
            <a:xfrm>
              <a:off x="7594968" y="3713163"/>
              <a:ext cx="76200" cy="9525"/>
            </a:xfrm>
            <a:custGeom>
              <a:avLst/>
              <a:gdLst>
                <a:gd name="connsiteX0" fmla="*/ 76200 w 76200"/>
                <a:gd name="connsiteY0" fmla="*/ 0 h 0"/>
                <a:gd name="connsiteX1" fmla="*/ 0 w 76200"/>
                <a:gd name="connsiteY1" fmla="*/ 0 h 0"/>
              </a:gdLst>
              <a:ahLst/>
              <a:cxnLst>
                <a:cxn ang="0">
                  <a:pos x="connsiteX0" y="connsiteY0"/>
                </a:cxn>
                <a:cxn ang="0">
                  <a:pos x="connsiteX1" y="connsiteY1"/>
                </a:cxn>
              </a:cxnLst>
              <a:rect l="l" t="t" r="r" b="b"/>
              <a:pathLst>
                <a:path w="76200">
                  <a:moveTo>
                    <a:pt x="76200" y="0"/>
                  </a:moveTo>
                  <a:lnTo>
                    <a:pt x="0" y="0"/>
                  </a:lnTo>
                </a:path>
              </a:pathLst>
            </a:custGeom>
            <a:ln w="19050" cap="sq">
              <a:solidFill>
                <a:srgbClr val="6496BB"/>
              </a:solidFill>
              <a:prstDash val="solid"/>
              <a:miter/>
            </a:ln>
          </p:spPr>
          <p:txBody>
            <a:bodyPr rtlCol="0" anchor="ctr"/>
            <a:lstStyle/>
            <a:p>
              <a:endParaRPr lang="en-US"/>
            </a:p>
          </p:txBody>
        </p:sp>
        <p:sp>
          <p:nvSpPr>
            <p:cNvPr id="51" name="Forme libre : forme 50">
              <a:extLst>
                <a:ext uri="{FF2B5EF4-FFF2-40B4-BE49-F238E27FC236}">
                  <a16:creationId xmlns:a16="http://schemas.microsoft.com/office/drawing/2014/main" id="{7918F008-2344-9C26-4E72-D0FC88EED544}"/>
                </a:ext>
              </a:extLst>
            </p:cNvPr>
            <p:cNvSpPr/>
            <p:nvPr/>
          </p:nvSpPr>
          <p:spPr>
            <a:xfrm>
              <a:off x="7575918" y="3665538"/>
              <a:ext cx="133350" cy="47625"/>
            </a:xfrm>
            <a:custGeom>
              <a:avLst/>
              <a:gdLst>
                <a:gd name="connsiteX0" fmla="*/ 0 w 133350"/>
                <a:gd name="connsiteY0" fmla="*/ 0 h 47625"/>
                <a:gd name="connsiteX1" fmla="*/ 133350 w 133350"/>
                <a:gd name="connsiteY1" fmla="*/ 0 h 47625"/>
                <a:gd name="connsiteX2" fmla="*/ 133350 w 133350"/>
                <a:gd name="connsiteY2" fmla="*/ 47625 h 47625"/>
              </a:gdLst>
              <a:ahLst/>
              <a:cxnLst>
                <a:cxn ang="0">
                  <a:pos x="connsiteX0" y="connsiteY0"/>
                </a:cxn>
                <a:cxn ang="0">
                  <a:pos x="connsiteX1" y="connsiteY1"/>
                </a:cxn>
                <a:cxn ang="0">
                  <a:pos x="connsiteX2" y="connsiteY2"/>
                </a:cxn>
              </a:cxnLst>
              <a:rect l="l" t="t" r="r" b="b"/>
              <a:pathLst>
                <a:path w="133350" h="47625">
                  <a:moveTo>
                    <a:pt x="0" y="0"/>
                  </a:moveTo>
                  <a:lnTo>
                    <a:pt x="133350" y="0"/>
                  </a:lnTo>
                  <a:lnTo>
                    <a:pt x="133350" y="47625"/>
                  </a:lnTo>
                </a:path>
              </a:pathLst>
            </a:custGeom>
            <a:noFill/>
            <a:ln w="19050" cap="sq">
              <a:solidFill>
                <a:srgbClr val="6496BB"/>
              </a:solidFill>
              <a:prstDash val="solid"/>
              <a:miter/>
            </a:ln>
          </p:spPr>
          <p:txBody>
            <a:bodyPr rtlCol="0" anchor="ctr"/>
            <a:lstStyle/>
            <a:p>
              <a:endParaRPr lang="en-US"/>
            </a:p>
          </p:txBody>
        </p:sp>
        <p:sp>
          <p:nvSpPr>
            <p:cNvPr id="52" name="Forme libre : forme 51">
              <a:extLst>
                <a:ext uri="{FF2B5EF4-FFF2-40B4-BE49-F238E27FC236}">
                  <a16:creationId xmlns:a16="http://schemas.microsoft.com/office/drawing/2014/main" id="{0806744E-E84A-722A-59B0-22115E87A236}"/>
                </a:ext>
              </a:extLst>
            </p:cNvPr>
            <p:cNvSpPr/>
            <p:nvPr/>
          </p:nvSpPr>
          <p:spPr>
            <a:xfrm>
              <a:off x="7614018" y="3760788"/>
              <a:ext cx="57150" cy="9525"/>
            </a:xfrm>
            <a:custGeom>
              <a:avLst/>
              <a:gdLst>
                <a:gd name="connsiteX0" fmla="*/ 57150 w 57150"/>
                <a:gd name="connsiteY0" fmla="*/ 0 h 0"/>
                <a:gd name="connsiteX1" fmla="*/ 0 w 57150"/>
                <a:gd name="connsiteY1" fmla="*/ 0 h 0"/>
              </a:gdLst>
              <a:ahLst/>
              <a:cxnLst>
                <a:cxn ang="0">
                  <a:pos x="connsiteX0" y="connsiteY0"/>
                </a:cxn>
                <a:cxn ang="0">
                  <a:pos x="connsiteX1" y="connsiteY1"/>
                </a:cxn>
              </a:cxnLst>
              <a:rect l="l" t="t" r="r" b="b"/>
              <a:pathLst>
                <a:path w="57150">
                  <a:moveTo>
                    <a:pt x="57150" y="0"/>
                  </a:moveTo>
                  <a:lnTo>
                    <a:pt x="0" y="0"/>
                  </a:lnTo>
                </a:path>
              </a:pathLst>
            </a:custGeom>
            <a:ln w="19050" cap="sq">
              <a:solidFill>
                <a:srgbClr val="6496BB"/>
              </a:solidFill>
              <a:prstDash val="solid"/>
              <a:miter/>
            </a:ln>
          </p:spPr>
          <p:txBody>
            <a:bodyPr rtlCol="0" anchor="ctr"/>
            <a:lstStyle/>
            <a:p>
              <a:endParaRPr lang="en-US"/>
            </a:p>
          </p:txBody>
        </p:sp>
        <p:sp>
          <p:nvSpPr>
            <p:cNvPr id="53" name="Forme libre : forme 52">
              <a:extLst>
                <a:ext uri="{FF2B5EF4-FFF2-40B4-BE49-F238E27FC236}">
                  <a16:creationId xmlns:a16="http://schemas.microsoft.com/office/drawing/2014/main" id="{689625D8-00C3-7450-34DF-8A1B26A347EF}"/>
                </a:ext>
              </a:extLst>
            </p:cNvPr>
            <p:cNvSpPr/>
            <p:nvPr/>
          </p:nvSpPr>
          <p:spPr>
            <a:xfrm>
              <a:off x="7633068" y="3808413"/>
              <a:ext cx="38100" cy="9525"/>
            </a:xfrm>
            <a:custGeom>
              <a:avLst/>
              <a:gdLst>
                <a:gd name="connsiteX0" fmla="*/ 38100 w 38100"/>
                <a:gd name="connsiteY0" fmla="*/ 0 h 0"/>
                <a:gd name="connsiteX1" fmla="*/ 0 w 38100"/>
                <a:gd name="connsiteY1" fmla="*/ 0 h 0"/>
              </a:gdLst>
              <a:ahLst/>
              <a:cxnLst>
                <a:cxn ang="0">
                  <a:pos x="connsiteX0" y="connsiteY0"/>
                </a:cxn>
                <a:cxn ang="0">
                  <a:pos x="connsiteX1" y="connsiteY1"/>
                </a:cxn>
              </a:cxnLst>
              <a:rect l="l" t="t" r="r" b="b"/>
              <a:pathLst>
                <a:path w="38100">
                  <a:moveTo>
                    <a:pt x="38100" y="0"/>
                  </a:moveTo>
                  <a:lnTo>
                    <a:pt x="0" y="0"/>
                  </a:lnTo>
                </a:path>
              </a:pathLst>
            </a:custGeom>
            <a:ln w="19050" cap="sq">
              <a:solidFill>
                <a:srgbClr val="6496BB"/>
              </a:solidFill>
              <a:prstDash val="solid"/>
              <a:miter/>
            </a:ln>
          </p:spPr>
          <p:txBody>
            <a:bodyPr rtlCol="0" anchor="ctr"/>
            <a:lstStyle/>
            <a:p>
              <a:endParaRPr lang="en-US"/>
            </a:p>
          </p:txBody>
        </p:sp>
      </p:grpSp>
      <p:sp>
        <p:nvSpPr>
          <p:cNvPr id="54" name="Rectangle : coins arrondis 3">
            <a:extLst>
              <a:ext uri="{FF2B5EF4-FFF2-40B4-BE49-F238E27FC236}">
                <a16:creationId xmlns:a16="http://schemas.microsoft.com/office/drawing/2014/main" id="{083CDB2B-250B-5DF7-D947-23968590F149}"/>
              </a:ext>
            </a:extLst>
          </p:cNvPr>
          <p:cNvSpPr/>
          <p:nvPr/>
        </p:nvSpPr>
        <p:spPr>
          <a:xfrm>
            <a:off x="1970822" y="5671999"/>
            <a:ext cx="24788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Suppliers &amp; partners (Guest/B2B) </a:t>
            </a:r>
          </a:p>
        </p:txBody>
      </p:sp>
      <p:sp>
        <p:nvSpPr>
          <p:cNvPr id="55" name="Rectangle 54">
            <a:extLst>
              <a:ext uri="{FF2B5EF4-FFF2-40B4-BE49-F238E27FC236}">
                <a16:creationId xmlns:a16="http://schemas.microsoft.com/office/drawing/2014/main" id="{A96D4AF1-35CD-6E39-E2A2-74C5A1C5EF57}"/>
              </a:ext>
            </a:extLst>
          </p:cNvPr>
          <p:cNvSpPr/>
          <p:nvPr/>
        </p:nvSpPr>
        <p:spPr>
          <a:xfrm>
            <a:off x="1705326" y="6002965"/>
            <a:ext cx="2944791" cy="6079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Partners identities are managed by their own compagnies</a:t>
            </a:r>
          </a:p>
        </p:txBody>
      </p:sp>
      <p:grpSp>
        <p:nvGrpSpPr>
          <p:cNvPr id="56" name="Graphique 745">
            <a:extLst>
              <a:ext uri="{FF2B5EF4-FFF2-40B4-BE49-F238E27FC236}">
                <a16:creationId xmlns:a16="http://schemas.microsoft.com/office/drawing/2014/main" id="{53921817-F533-8C98-1612-AD6F969AD77D}"/>
              </a:ext>
            </a:extLst>
          </p:cNvPr>
          <p:cNvGrpSpPr/>
          <p:nvPr/>
        </p:nvGrpSpPr>
        <p:grpSpPr>
          <a:xfrm>
            <a:off x="9804853" y="4460746"/>
            <a:ext cx="360000" cy="324000"/>
            <a:chOff x="8670333" y="5487063"/>
            <a:chExt cx="278959" cy="285750"/>
          </a:xfrm>
        </p:grpSpPr>
        <p:sp>
          <p:nvSpPr>
            <p:cNvPr id="57" name="Forme libre : forme 56">
              <a:extLst>
                <a:ext uri="{FF2B5EF4-FFF2-40B4-BE49-F238E27FC236}">
                  <a16:creationId xmlns:a16="http://schemas.microsoft.com/office/drawing/2014/main" id="{F3CB1BC4-10AA-7B78-19CC-9CB9069F313F}"/>
                </a:ext>
              </a:extLst>
            </p:cNvPr>
            <p:cNvSpPr/>
            <p:nvPr/>
          </p:nvSpPr>
          <p:spPr>
            <a:xfrm>
              <a:off x="8670333" y="5591838"/>
              <a:ext cx="85725" cy="142875"/>
            </a:xfrm>
            <a:custGeom>
              <a:avLst/>
              <a:gdLst>
                <a:gd name="connsiteX0" fmla="*/ 92516 w 85725"/>
                <a:gd name="connsiteY0" fmla="*/ 16373 h 142875"/>
                <a:gd name="connsiteX1" fmla="*/ 66675 w 85725"/>
                <a:gd name="connsiteY1" fmla="*/ 0 h 142875"/>
                <a:gd name="connsiteX2" fmla="*/ 28575 w 85725"/>
                <a:gd name="connsiteY2" fmla="*/ 0 h 142875"/>
                <a:gd name="connsiteX3" fmla="*/ 0 w 85725"/>
                <a:gd name="connsiteY3" fmla="*/ 28575 h 142875"/>
                <a:gd name="connsiteX4" fmla="*/ 0 w 85725"/>
                <a:gd name="connsiteY4" fmla="*/ 76200 h 142875"/>
                <a:gd name="connsiteX5" fmla="*/ 19050 w 85725"/>
                <a:gd name="connsiteY5" fmla="*/ 76200 h 142875"/>
                <a:gd name="connsiteX6" fmla="*/ 19050 w 85725"/>
                <a:gd name="connsiteY6" fmla="*/ 142875 h 142875"/>
                <a:gd name="connsiteX7" fmla="*/ 76200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92516" y="16373"/>
                  </a:moveTo>
                  <a:cubicBezTo>
                    <a:pt x="87935" y="6715"/>
                    <a:pt x="78076" y="0"/>
                    <a:pt x="66675" y="0"/>
                  </a:cubicBezTo>
                  <a:lnTo>
                    <a:pt x="28575" y="0"/>
                  </a:lnTo>
                  <a:cubicBezTo>
                    <a:pt x="12792" y="0"/>
                    <a:pt x="0" y="12792"/>
                    <a:pt x="0" y="28575"/>
                  </a:cubicBezTo>
                  <a:lnTo>
                    <a:pt x="0" y="76200"/>
                  </a:lnTo>
                  <a:lnTo>
                    <a:pt x="19050" y="76200"/>
                  </a:lnTo>
                  <a:lnTo>
                    <a:pt x="19050" y="142875"/>
                  </a:lnTo>
                  <a:lnTo>
                    <a:pt x="76200" y="142875"/>
                  </a:lnTo>
                </a:path>
              </a:pathLst>
            </a:custGeom>
            <a:noFill/>
            <a:ln w="19050" cap="flat">
              <a:solidFill>
                <a:srgbClr val="6496BB"/>
              </a:solidFill>
              <a:prstDash val="solid"/>
              <a:miter/>
            </a:ln>
          </p:spPr>
          <p:txBody>
            <a:bodyPr rtlCol="0" anchor="ctr"/>
            <a:lstStyle/>
            <a:p>
              <a:endParaRPr lang="en-US"/>
            </a:p>
          </p:txBody>
        </p:sp>
        <p:sp>
          <p:nvSpPr>
            <p:cNvPr id="58" name="Forme libre : forme 57">
              <a:extLst>
                <a:ext uri="{FF2B5EF4-FFF2-40B4-BE49-F238E27FC236}">
                  <a16:creationId xmlns:a16="http://schemas.microsoft.com/office/drawing/2014/main" id="{2D33BCD5-93CD-390D-B572-08193F2671E4}"/>
                </a:ext>
              </a:extLst>
            </p:cNvPr>
            <p:cNvSpPr/>
            <p:nvPr/>
          </p:nvSpPr>
          <p:spPr>
            <a:xfrm>
              <a:off x="86893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59" name="Forme libre : forme 58">
              <a:extLst>
                <a:ext uri="{FF2B5EF4-FFF2-40B4-BE49-F238E27FC236}">
                  <a16:creationId xmlns:a16="http://schemas.microsoft.com/office/drawing/2014/main" id="{08632345-74EE-E9A3-E332-25DEA6333C9B}"/>
                </a:ext>
              </a:extLst>
            </p:cNvPr>
            <p:cNvSpPr/>
            <p:nvPr/>
          </p:nvSpPr>
          <p:spPr>
            <a:xfrm>
              <a:off x="8863567" y="5591838"/>
              <a:ext cx="85725" cy="142875"/>
            </a:xfrm>
            <a:custGeom>
              <a:avLst/>
              <a:gdLst>
                <a:gd name="connsiteX0" fmla="*/ 0 w 85725"/>
                <a:gd name="connsiteY0" fmla="*/ 16373 h 142875"/>
                <a:gd name="connsiteX1" fmla="*/ 25841 w 85725"/>
                <a:gd name="connsiteY1" fmla="*/ 0 h 142875"/>
                <a:gd name="connsiteX2" fmla="*/ 63941 w 85725"/>
                <a:gd name="connsiteY2" fmla="*/ 0 h 142875"/>
                <a:gd name="connsiteX3" fmla="*/ 92516 w 85725"/>
                <a:gd name="connsiteY3" fmla="*/ 28575 h 142875"/>
                <a:gd name="connsiteX4" fmla="*/ 92516 w 85725"/>
                <a:gd name="connsiteY4" fmla="*/ 76200 h 142875"/>
                <a:gd name="connsiteX5" fmla="*/ 73466 w 85725"/>
                <a:gd name="connsiteY5" fmla="*/ 76200 h 142875"/>
                <a:gd name="connsiteX6" fmla="*/ 73466 w 85725"/>
                <a:gd name="connsiteY6" fmla="*/ 142875 h 142875"/>
                <a:gd name="connsiteX7" fmla="*/ 16316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0" y="16373"/>
                  </a:moveTo>
                  <a:cubicBezTo>
                    <a:pt x="4582" y="6715"/>
                    <a:pt x="14440" y="0"/>
                    <a:pt x="25841" y="0"/>
                  </a:cubicBezTo>
                  <a:lnTo>
                    <a:pt x="63941" y="0"/>
                  </a:lnTo>
                  <a:cubicBezTo>
                    <a:pt x="79724" y="0"/>
                    <a:pt x="92516" y="12792"/>
                    <a:pt x="92516" y="28575"/>
                  </a:cubicBezTo>
                  <a:lnTo>
                    <a:pt x="92516" y="76200"/>
                  </a:lnTo>
                  <a:lnTo>
                    <a:pt x="73466" y="76200"/>
                  </a:lnTo>
                  <a:lnTo>
                    <a:pt x="73466" y="142875"/>
                  </a:lnTo>
                  <a:lnTo>
                    <a:pt x="16316" y="142875"/>
                  </a:lnTo>
                </a:path>
              </a:pathLst>
            </a:custGeom>
            <a:noFill/>
            <a:ln w="19050" cap="flat">
              <a:solidFill>
                <a:srgbClr val="6496BB"/>
              </a:solidFill>
              <a:prstDash val="solid"/>
              <a:miter/>
            </a:ln>
          </p:spPr>
          <p:txBody>
            <a:bodyPr rtlCol="0" anchor="ctr"/>
            <a:lstStyle/>
            <a:p>
              <a:endParaRPr lang="en-US"/>
            </a:p>
          </p:txBody>
        </p:sp>
        <p:sp>
          <p:nvSpPr>
            <p:cNvPr id="60" name="Forme libre : forme 59">
              <a:extLst>
                <a:ext uri="{FF2B5EF4-FFF2-40B4-BE49-F238E27FC236}">
                  <a16:creationId xmlns:a16="http://schemas.microsoft.com/office/drawing/2014/main" id="{59253114-7274-EED7-6E90-E29598A7FF06}"/>
                </a:ext>
              </a:extLst>
            </p:cNvPr>
            <p:cNvSpPr/>
            <p:nvPr/>
          </p:nvSpPr>
          <p:spPr>
            <a:xfrm>
              <a:off x="88798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1" name="Forme libre : forme 60">
              <a:extLst>
                <a:ext uri="{FF2B5EF4-FFF2-40B4-BE49-F238E27FC236}">
                  <a16:creationId xmlns:a16="http://schemas.microsoft.com/office/drawing/2014/main" id="{F3F1AC79-3E57-D8DC-BAD7-EB3DACB9C9ED}"/>
                </a:ext>
              </a:extLst>
            </p:cNvPr>
            <p:cNvSpPr/>
            <p:nvPr/>
          </p:nvSpPr>
          <p:spPr>
            <a:xfrm>
              <a:off x="8756058" y="5591838"/>
              <a:ext cx="114300" cy="180975"/>
            </a:xfrm>
            <a:custGeom>
              <a:avLst/>
              <a:gdLst>
                <a:gd name="connsiteX0" fmla="*/ 85725 w 114300"/>
                <a:gd name="connsiteY0" fmla="*/ 180975 h 180975"/>
                <a:gd name="connsiteX1" fmla="*/ 28575 w 114300"/>
                <a:gd name="connsiteY1" fmla="*/ 180975 h 180975"/>
                <a:gd name="connsiteX2" fmla="*/ 28575 w 114300"/>
                <a:gd name="connsiteY2" fmla="*/ 104775 h 180975"/>
                <a:gd name="connsiteX3" fmla="*/ 0 w 114300"/>
                <a:gd name="connsiteY3" fmla="*/ 104775 h 180975"/>
                <a:gd name="connsiteX4" fmla="*/ 0 w 114300"/>
                <a:gd name="connsiteY4" fmla="*/ 38100 h 180975"/>
                <a:gd name="connsiteX5" fmla="*/ 38100 w 114300"/>
                <a:gd name="connsiteY5" fmla="*/ 0 h 180975"/>
                <a:gd name="connsiteX6" fmla="*/ 76200 w 114300"/>
                <a:gd name="connsiteY6" fmla="*/ 0 h 180975"/>
                <a:gd name="connsiteX7" fmla="*/ 114300 w 114300"/>
                <a:gd name="connsiteY7" fmla="*/ 38100 h 180975"/>
                <a:gd name="connsiteX8" fmla="*/ 114300 w 114300"/>
                <a:gd name="connsiteY8" fmla="*/ 104775 h 180975"/>
                <a:gd name="connsiteX9" fmla="*/ 85725 w 114300"/>
                <a:gd name="connsiteY9" fmla="*/ 104775 h 180975"/>
                <a:gd name="connsiteX10" fmla="*/ 85725 w 114300"/>
                <a:gd name="connsiteY10"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300" h="180975">
                  <a:moveTo>
                    <a:pt x="85725" y="180975"/>
                  </a:moveTo>
                  <a:lnTo>
                    <a:pt x="28575" y="180975"/>
                  </a:lnTo>
                  <a:lnTo>
                    <a:pt x="28575" y="104775"/>
                  </a:lnTo>
                  <a:lnTo>
                    <a:pt x="0" y="104775"/>
                  </a:lnTo>
                  <a:lnTo>
                    <a:pt x="0" y="38100"/>
                  </a:lnTo>
                  <a:cubicBezTo>
                    <a:pt x="0" y="17059"/>
                    <a:pt x="17059" y="0"/>
                    <a:pt x="38100" y="0"/>
                  </a:cubicBezTo>
                  <a:lnTo>
                    <a:pt x="76200" y="0"/>
                  </a:lnTo>
                  <a:cubicBezTo>
                    <a:pt x="97241" y="0"/>
                    <a:pt x="114300" y="17059"/>
                    <a:pt x="114300" y="38100"/>
                  </a:cubicBezTo>
                  <a:lnTo>
                    <a:pt x="114300" y="104775"/>
                  </a:lnTo>
                  <a:lnTo>
                    <a:pt x="85725" y="104775"/>
                  </a:lnTo>
                  <a:lnTo>
                    <a:pt x="85725" y="180975"/>
                  </a:lnTo>
                  <a:close/>
                </a:path>
              </a:pathLst>
            </a:custGeom>
            <a:noFill/>
            <a:ln w="19050" cap="sq">
              <a:solidFill>
                <a:srgbClr val="6496BB"/>
              </a:solidFill>
              <a:prstDash val="solid"/>
              <a:miter/>
            </a:ln>
          </p:spPr>
          <p:txBody>
            <a:bodyPr rtlCol="0" anchor="ctr"/>
            <a:lstStyle/>
            <a:p>
              <a:endParaRPr lang="en-US"/>
            </a:p>
          </p:txBody>
        </p:sp>
        <p:sp>
          <p:nvSpPr>
            <p:cNvPr id="62" name="Forme libre : forme 61">
              <a:extLst>
                <a:ext uri="{FF2B5EF4-FFF2-40B4-BE49-F238E27FC236}">
                  <a16:creationId xmlns:a16="http://schemas.microsoft.com/office/drawing/2014/main" id="{90C162A2-ABEE-562F-3D71-20D0C5348DD4}"/>
                </a:ext>
              </a:extLst>
            </p:cNvPr>
            <p:cNvSpPr/>
            <p:nvPr/>
          </p:nvSpPr>
          <p:spPr>
            <a:xfrm>
              <a:off x="8775108" y="548706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6496BB"/>
              </a:solidFill>
              <a:prstDash val="solid"/>
              <a:miter/>
            </a:ln>
          </p:spPr>
          <p:txBody>
            <a:bodyPr rtlCol="0" anchor="ctr"/>
            <a:lstStyle/>
            <a:p>
              <a:endParaRPr lang="en-US"/>
            </a:p>
          </p:txBody>
        </p:sp>
      </p:grpSp>
      <p:grpSp>
        <p:nvGrpSpPr>
          <p:cNvPr id="63" name="Graphique 128">
            <a:extLst>
              <a:ext uri="{FF2B5EF4-FFF2-40B4-BE49-F238E27FC236}">
                <a16:creationId xmlns:a16="http://schemas.microsoft.com/office/drawing/2014/main" id="{7DC03CBF-53F3-8365-9415-2B4E2FF068AF}"/>
              </a:ext>
            </a:extLst>
          </p:cNvPr>
          <p:cNvGrpSpPr/>
          <p:nvPr/>
        </p:nvGrpSpPr>
        <p:grpSpPr>
          <a:xfrm>
            <a:off x="9277384" y="4472227"/>
            <a:ext cx="360000" cy="360000"/>
            <a:chOff x="8658341" y="2723890"/>
            <a:chExt cx="276225" cy="285750"/>
          </a:xfrm>
        </p:grpSpPr>
        <p:sp>
          <p:nvSpPr>
            <p:cNvPr id="64" name="Forme libre : forme 63">
              <a:extLst>
                <a:ext uri="{FF2B5EF4-FFF2-40B4-BE49-F238E27FC236}">
                  <a16:creationId xmlns:a16="http://schemas.microsoft.com/office/drawing/2014/main" id="{583A997E-C879-C75C-B33C-FD06203F6B10}"/>
                </a:ext>
              </a:extLst>
            </p:cNvPr>
            <p:cNvSpPr/>
            <p:nvPr/>
          </p:nvSpPr>
          <p:spPr>
            <a:xfrm>
              <a:off x="8696441" y="2952490"/>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5" name="Forme libre : forme 64">
              <a:extLst>
                <a:ext uri="{FF2B5EF4-FFF2-40B4-BE49-F238E27FC236}">
                  <a16:creationId xmlns:a16="http://schemas.microsoft.com/office/drawing/2014/main" id="{4EF5A0F7-D486-D9C8-9F67-5693BDB32A7B}"/>
                </a:ext>
              </a:extLst>
            </p:cNvPr>
            <p:cNvSpPr/>
            <p:nvPr/>
          </p:nvSpPr>
          <p:spPr>
            <a:xfrm>
              <a:off x="8877416" y="2952490"/>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6" name="Forme libre : forme 65">
              <a:extLst>
                <a:ext uri="{FF2B5EF4-FFF2-40B4-BE49-F238E27FC236}">
                  <a16:creationId xmlns:a16="http://schemas.microsoft.com/office/drawing/2014/main" id="{02273509-EF5B-9738-C36F-6775F721E17A}"/>
                </a:ext>
              </a:extLst>
            </p:cNvPr>
            <p:cNvSpPr/>
            <p:nvPr/>
          </p:nvSpPr>
          <p:spPr>
            <a:xfrm>
              <a:off x="8658341" y="2723890"/>
              <a:ext cx="276225" cy="190500"/>
            </a:xfrm>
            <a:custGeom>
              <a:avLst/>
              <a:gdLst>
                <a:gd name="connsiteX0" fmla="*/ 200025 w 276225"/>
                <a:gd name="connsiteY0" fmla="*/ 57150 h 190500"/>
                <a:gd name="connsiteX1" fmla="*/ 276225 w 276225"/>
                <a:gd name="connsiteY1" fmla="*/ 57150 h 190500"/>
                <a:gd name="connsiteX2" fmla="*/ 247650 w 276225"/>
                <a:gd name="connsiteY2" fmla="*/ 190500 h 190500"/>
                <a:gd name="connsiteX3" fmla="*/ 57150 w 276225"/>
                <a:gd name="connsiteY3" fmla="*/ 190500 h 190500"/>
                <a:gd name="connsiteX4" fmla="*/ 38100 w 276225"/>
                <a:gd name="connsiteY4" fmla="*/ 0 h 190500"/>
                <a:gd name="connsiteX5" fmla="*/ 0 w 276225"/>
                <a:gd name="connsiteY5"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225" h="190500">
                  <a:moveTo>
                    <a:pt x="200025" y="57150"/>
                  </a:moveTo>
                  <a:lnTo>
                    <a:pt x="276225" y="57150"/>
                  </a:lnTo>
                  <a:lnTo>
                    <a:pt x="247650" y="190500"/>
                  </a:lnTo>
                  <a:lnTo>
                    <a:pt x="57150" y="190500"/>
                  </a:lnTo>
                  <a:lnTo>
                    <a:pt x="38100" y="0"/>
                  </a:lnTo>
                  <a:lnTo>
                    <a:pt x="0" y="0"/>
                  </a:lnTo>
                </a:path>
              </a:pathLst>
            </a:custGeom>
            <a:noFill/>
            <a:ln w="19050" cap="sq">
              <a:solidFill>
                <a:srgbClr val="6496BB"/>
              </a:solidFill>
              <a:prstDash val="solid"/>
              <a:miter/>
            </a:ln>
          </p:spPr>
          <p:txBody>
            <a:bodyPr rtlCol="0" anchor="ctr"/>
            <a:lstStyle/>
            <a:p>
              <a:endParaRPr lang="en-US"/>
            </a:p>
          </p:txBody>
        </p:sp>
        <p:sp>
          <p:nvSpPr>
            <p:cNvPr id="67" name="Forme libre : forme 66">
              <a:extLst>
                <a:ext uri="{FF2B5EF4-FFF2-40B4-BE49-F238E27FC236}">
                  <a16:creationId xmlns:a16="http://schemas.microsoft.com/office/drawing/2014/main" id="{81C34C04-41BF-D01A-EAD4-442D57D628C0}"/>
                </a:ext>
              </a:extLst>
            </p:cNvPr>
            <p:cNvSpPr/>
            <p:nvPr/>
          </p:nvSpPr>
          <p:spPr>
            <a:xfrm>
              <a:off x="8703166" y="2781040"/>
              <a:ext cx="57150" cy="9525"/>
            </a:xfrm>
            <a:custGeom>
              <a:avLst/>
              <a:gdLst>
                <a:gd name="connsiteX0" fmla="*/ 0 w 57150"/>
                <a:gd name="connsiteY0" fmla="*/ 0 h 0"/>
                <a:gd name="connsiteX1" fmla="*/ 59950 w 57150"/>
                <a:gd name="connsiteY1" fmla="*/ 0 h 0"/>
              </a:gdLst>
              <a:ahLst/>
              <a:cxnLst>
                <a:cxn ang="0">
                  <a:pos x="connsiteX0" y="connsiteY0"/>
                </a:cxn>
                <a:cxn ang="0">
                  <a:pos x="connsiteX1" y="connsiteY1"/>
                </a:cxn>
              </a:cxnLst>
              <a:rect l="l" t="t" r="r" b="b"/>
              <a:pathLst>
                <a:path w="57150">
                  <a:moveTo>
                    <a:pt x="0" y="0"/>
                  </a:moveTo>
                  <a:lnTo>
                    <a:pt x="59950" y="0"/>
                  </a:lnTo>
                </a:path>
              </a:pathLst>
            </a:custGeom>
            <a:ln w="19050" cap="sq">
              <a:solidFill>
                <a:srgbClr val="6496BB"/>
              </a:solidFill>
              <a:prstDash val="solid"/>
              <a:miter/>
            </a:ln>
          </p:spPr>
          <p:txBody>
            <a:bodyPr rtlCol="0" anchor="ctr"/>
            <a:lstStyle/>
            <a:p>
              <a:endParaRPr lang="en-US"/>
            </a:p>
          </p:txBody>
        </p:sp>
        <p:sp>
          <p:nvSpPr>
            <p:cNvPr id="68" name="Forme libre : forme 67">
              <a:extLst>
                <a:ext uri="{FF2B5EF4-FFF2-40B4-BE49-F238E27FC236}">
                  <a16:creationId xmlns:a16="http://schemas.microsoft.com/office/drawing/2014/main" id="{69B5EDB3-8CCF-29F8-A300-60434316326B}"/>
                </a:ext>
              </a:extLst>
            </p:cNvPr>
            <p:cNvSpPr/>
            <p:nvPr/>
          </p:nvSpPr>
          <p:spPr>
            <a:xfrm>
              <a:off x="8810741" y="2733415"/>
              <a:ext cx="9525" cy="133350"/>
            </a:xfrm>
            <a:custGeom>
              <a:avLst/>
              <a:gdLst>
                <a:gd name="connsiteX0" fmla="*/ 0 w 0"/>
                <a:gd name="connsiteY0" fmla="*/ 0 h 133350"/>
                <a:gd name="connsiteX1" fmla="*/ 0 w 0"/>
                <a:gd name="connsiteY1" fmla="*/ 133350 h 133350"/>
              </a:gdLst>
              <a:ahLst/>
              <a:cxnLst>
                <a:cxn ang="0">
                  <a:pos x="connsiteX0" y="connsiteY0"/>
                </a:cxn>
                <a:cxn ang="0">
                  <a:pos x="connsiteX1" y="connsiteY1"/>
                </a:cxn>
              </a:cxnLst>
              <a:rect l="l" t="t" r="r" b="b"/>
              <a:pathLst>
                <a:path h="133350">
                  <a:moveTo>
                    <a:pt x="0" y="0"/>
                  </a:moveTo>
                  <a:lnTo>
                    <a:pt x="0" y="133350"/>
                  </a:lnTo>
                </a:path>
              </a:pathLst>
            </a:custGeom>
            <a:ln w="19050" cap="flat">
              <a:solidFill>
                <a:srgbClr val="6496BB"/>
              </a:solidFill>
              <a:prstDash val="solid"/>
              <a:miter/>
            </a:ln>
          </p:spPr>
          <p:txBody>
            <a:bodyPr rtlCol="0" anchor="ctr"/>
            <a:lstStyle/>
            <a:p>
              <a:endParaRPr lang="en-US"/>
            </a:p>
          </p:txBody>
        </p:sp>
        <p:sp>
          <p:nvSpPr>
            <p:cNvPr id="69" name="Forme libre : forme 68">
              <a:extLst>
                <a:ext uri="{FF2B5EF4-FFF2-40B4-BE49-F238E27FC236}">
                  <a16:creationId xmlns:a16="http://schemas.microsoft.com/office/drawing/2014/main" id="{5A00771C-EA18-970D-22A0-1113420F070F}"/>
                </a:ext>
              </a:extLst>
            </p:cNvPr>
            <p:cNvSpPr/>
            <p:nvPr/>
          </p:nvSpPr>
          <p:spPr>
            <a:xfrm>
              <a:off x="8772641" y="2828665"/>
              <a:ext cx="76200" cy="38100"/>
            </a:xfrm>
            <a:custGeom>
              <a:avLst/>
              <a:gdLst>
                <a:gd name="connsiteX0" fmla="*/ 76200 w 76200"/>
                <a:gd name="connsiteY0" fmla="*/ 0 h 38100"/>
                <a:gd name="connsiteX1" fmla="*/ 38100 w 76200"/>
                <a:gd name="connsiteY1" fmla="*/ 38100 h 38100"/>
                <a:gd name="connsiteX2" fmla="*/ 0 w 76200"/>
                <a:gd name="connsiteY2" fmla="*/ 0 h 38100"/>
              </a:gdLst>
              <a:ahLst/>
              <a:cxnLst>
                <a:cxn ang="0">
                  <a:pos x="connsiteX0" y="connsiteY0"/>
                </a:cxn>
                <a:cxn ang="0">
                  <a:pos x="connsiteX1" y="connsiteY1"/>
                </a:cxn>
                <a:cxn ang="0">
                  <a:pos x="connsiteX2" y="connsiteY2"/>
                </a:cxn>
              </a:cxnLst>
              <a:rect l="l" t="t" r="r" b="b"/>
              <a:pathLst>
                <a:path w="76200" h="38100">
                  <a:moveTo>
                    <a:pt x="76200" y="0"/>
                  </a:moveTo>
                  <a:lnTo>
                    <a:pt x="38100" y="38100"/>
                  </a:lnTo>
                  <a:lnTo>
                    <a:pt x="0" y="0"/>
                  </a:lnTo>
                </a:path>
              </a:pathLst>
            </a:custGeom>
            <a:noFill/>
            <a:ln w="19050" cap="sq">
              <a:solidFill>
                <a:srgbClr val="6496BB"/>
              </a:solidFill>
              <a:prstDash val="solid"/>
              <a:miter/>
            </a:ln>
          </p:spPr>
          <p:txBody>
            <a:bodyPr rtlCol="0" anchor="ctr"/>
            <a:lstStyle/>
            <a:p>
              <a:endParaRPr lang="en-US"/>
            </a:p>
          </p:txBody>
        </p:sp>
      </p:grpSp>
      <p:sp>
        <p:nvSpPr>
          <p:cNvPr id="70" name="Rectangle : coins arrondis 3">
            <a:extLst>
              <a:ext uri="{FF2B5EF4-FFF2-40B4-BE49-F238E27FC236}">
                <a16:creationId xmlns:a16="http://schemas.microsoft.com/office/drawing/2014/main" id="{6B55CB57-24DD-94B7-0FB8-9A17A1A7C494}"/>
              </a:ext>
            </a:extLst>
          </p:cNvPr>
          <p:cNvSpPr/>
          <p:nvPr/>
        </p:nvSpPr>
        <p:spPr>
          <a:xfrm>
            <a:off x="9003275" y="4841944"/>
            <a:ext cx="1610290"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Customers (CIAM)</a:t>
            </a:r>
          </a:p>
        </p:txBody>
      </p:sp>
      <p:sp>
        <p:nvSpPr>
          <p:cNvPr id="71" name="Rectangle : coins arrondis 70">
            <a:extLst>
              <a:ext uri="{FF2B5EF4-FFF2-40B4-BE49-F238E27FC236}">
                <a16:creationId xmlns:a16="http://schemas.microsoft.com/office/drawing/2014/main" id="{8645CE2B-B617-6EB3-99E6-5A50773C2491}"/>
              </a:ext>
            </a:extLst>
          </p:cNvPr>
          <p:cNvSpPr/>
          <p:nvPr>
            <p:custDataLst>
              <p:tags r:id="rId4"/>
            </p:custDataLst>
          </p:nvPr>
        </p:nvSpPr>
        <p:spPr>
          <a:xfrm>
            <a:off x="8303141" y="5124479"/>
            <a:ext cx="3171600" cy="75600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3FD84B0A-74FE-7F80-C251-B05E1374BE89}"/>
              </a:ext>
            </a:extLst>
          </p:cNvPr>
          <p:cNvSpPr/>
          <p:nvPr/>
        </p:nvSpPr>
        <p:spPr>
          <a:xfrm>
            <a:off x="8373637" y="5172910"/>
            <a:ext cx="2831963" cy="41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algn="l" defTabSz="914400" rtl="0" eaLnBrk="1" fontAlgn="auto" latinLnBrk="0" hangingPunct="1">
              <a:lnSpc>
                <a:spcPct val="100000"/>
              </a:lnSpc>
              <a:spcBef>
                <a:spcPts val="0"/>
              </a:spcBef>
              <a:spcAft>
                <a:spcPts val="0"/>
              </a:spcAft>
              <a:buClrTx/>
              <a:buSzTx/>
              <a:tabLst/>
              <a:defRPr/>
            </a:pPr>
            <a:r>
              <a:rPr lang="en-US" sz="1000">
                <a:solidFill>
                  <a:schemeClr val="tx1"/>
                </a:solidFill>
              </a:rPr>
              <a:t>Manage authentication and access for unmanaged identities</a:t>
            </a:r>
          </a:p>
        </p:txBody>
      </p:sp>
      <p:sp>
        <p:nvSpPr>
          <p:cNvPr id="79" name="Rectangle : coins arrondis 3">
            <a:extLst>
              <a:ext uri="{FF2B5EF4-FFF2-40B4-BE49-F238E27FC236}">
                <a16:creationId xmlns:a16="http://schemas.microsoft.com/office/drawing/2014/main" id="{C2BD700C-50E7-3DCB-9827-E926C9C9B065}"/>
              </a:ext>
            </a:extLst>
          </p:cNvPr>
          <p:cNvSpPr/>
          <p:nvPr/>
        </p:nvSpPr>
        <p:spPr>
          <a:xfrm>
            <a:off x="767279" y="1934753"/>
            <a:ext cx="37612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r>
              <a:rPr lang="en-US" sz="1300" b="1">
                <a:solidFill>
                  <a:schemeClr val="accent4"/>
                </a:solidFill>
              </a:rPr>
              <a:t>Employees &amp; on-site Externals (B2E) </a:t>
            </a:r>
          </a:p>
        </p:txBody>
      </p:sp>
      <p:grpSp>
        <p:nvGrpSpPr>
          <p:cNvPr id="82" name="Graphique 80" descr="Travail à distance contour">
            <a:extLst>
              <a:ext uri="{FF2B5EF4-FFF2-40B4-BE49-F238E27FC236}">
                <a16:creationId xmlns:a16="http://schemas.microsoft.com/office/drawing/2014/main" id="{8CD79184-0BF7-958C-A376-1B4879E9DF11}"/>
              </a:ext>
            </a:extLst>
          </p:cNvPr>
          <p:cNvGrpSpPr/>
          <p:nvPr/>
        </p:nvGrpSpPr>
        <p:grpSpPr>
          <a:xfrm>
            <a:off x="1046062" y="3129062"/>
            <a:ext cx="468000" cy="468000"/>
            <a:chOff x="907550" y="3848515"/>
            <a:chExt cx="838191" cy="733425"/>
          </a:xfrm>
          <a:solidFill>
            <a:srgbClr val="000000"/>
          </a:solidFill>
        </p:grpSpPr>
        <p:sp>
          <p:nvSpPr>
            <p:cNvPr id="83" name="Forme libre : forme 82">
              <a:extLst>
                <a:ext uri="{FF2B5EF4-FFF2-40B4-BE49-F238E27FC236}">
                  <a16:creationId xmlns:a16="http://schemas.microsoft.com/office/drawing/2014/main" id="{B6B593E4-7B9C-2EF2-0E98-F97812A7EF04}"/>
                </a:ext>
              </a:extLst>
            </p:cNvPr>
            <p:cNvSpPr/>
            <p:nvPr/>
          </p:nvSpPr>
          <p:spPr>
            <a:xfrm rot="-2437536">
              <a:off x="1280072" y="4089322"/>
              <a:ext cx="38099" cy="19057"/>
            </a:xfrm>
            <a:custGeom>
              <a:avLst/>
              <a:gdLst>
                <a:gd name="connsiteX0" fmla="*/ 0 w 38099"/>
                <a:gd name="connsiteY0" fmla="*/ 0 h 19057"/>
                <a:gd name="connsiteX1" fmla="*/ 38099 w 38099"/>
                <a:gd name="connsiteY1" fmla="*/ 0 h 19057"/>
                <a:gd name="connsiteX2" fmla="*/ 38099 w 38099"/>
                <a:gd name="connsiteY2" fmla="*/ 19058 h 19057"/>
                <a:gd name="connsiteX3" fmla="*/ 0 w 38099"/>
                <a:gd name="connsiteY3" fmla="*/ 19058 h 19057"/>
              </a:gdLst>
              <a:ahLst/>
              <a:cxnLst>
                <a:cxn ang="0">
                  <a:pos x="connsiteX0" y="connsiteY0"/>
                </a:cxn>
                <a:cxn ang="0">
                  <a:pos x="connsiteX1" y="connsiteY1"/>
                </a:cxn>
                <a:cxn ang="0">
                  <a:pos x="connsiteX2" y="connsiteY2"/>
                </a:cxn>
                <a:cxn ang="0">
                  <a:pos x="connsiteX3" y="connsiteY3"/>
                </a:cxn>
              </a:cxnLst>
              <a:rect l="l" t="t" r="r" b="b"/>
              <a:pathLst>
                <a:path w="38099" h="19057">
                  <a:moveTo>
                    <a:pt x="0" y="0"/>
                  </a:moveTo>
                  <a:lnTo>
                    <a:pt x="38099" y="0"/>
                  </a:lnTo>
                  <a:lnTo>
                    <a:pt x="38099" y="19058"/>
                  </a:lnTo>
                  <a:lnTo>
                    <a:pt x="0" y="1905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4" name="Forme libre : forme 83">
              <a:extLst>
                <a:ext uri="{FF2B5EF4-FFF2-40B4-BE49-F238E27FC236}">
                  <a16:creationId xmlns:a16="http://schemas.microsoft.com/office/drawing/2014/main" id="{9740743C-79C2-5D26-31C2-00C020ADD2BC}"/>
                </a:ext>
              </a:extLst>
            </p:cNvPr>
            <p:cNvSpPr/>
            <p:nvPr/>
          </p:nvSpPr>
          <p:spPr>
            <a:xfrm rot="-2962878">
              <a:off x="1289593" y="4312555"/>
              <a:ext cx="19057" cy="38099"/>
            </a:xfrm>
            <a:custGeom>
              <a:avLst/>
              <a:gdLst>
                <a:gd name="connsiteX0" fmla="*/ 0 w 19057"/>
                <a:gd name="connsiteY0" fmla="*/ 0 h 38099"/>
                <a:gd name="connsiteX1" fmla="*/ 19058 w 19057"/>
                <a:gd name="connsiteY1" fmla="*/ 0 h 38099"/>
                <a:gd name="connsiteX2" fmla="*/ 19058 w 19057"/>
                <a:gd name="connsiteY2" fmla="*/ 38099 h 38099"/>
                <a:gd name="connsiteX3" fmla="*/ 0 w 19057"/>
                <a:gd name="connsiteY3" fmla="*/ 38099 h 38099"/>
              </a:gdLst>
              <a:ahLst/>
              <a:cxnLst>
                <a:cxn ang="0">
                  <a:pos x="connsiteX0" y="connsiteY0"/>
                </a:cxn>
                <a:cxn ang="0">
                  <a:pos x="connsiteX1" y="connsiteY1"/>
                </a:cxn>
                <a:cxn ang="0">
                  <a:pos x="connsiteX2" y="connsiteY2"/>
                </a:cxn>
                <a:cxn ang="0">
                  <a:pos x="connsiteX3" y="connsiteY3"/>
                </a:cxn>
              </a:cxnLst>
              <a:rect l="l" t="t" r="r" b="b"/>
              <a:pathLst>
                <a:path w="19057" h="38099">
                  <a:moveTo>
                    <a:pt x="0" y="0"/>
                  </a:moveTo>
                  <a:lnTo>
                    <a:pt x="19058" y="0"/>
                  </a:lnTo>
                  <a:lnTo>
                    <a:pt x="19058" y="38099"/>
                  </a:lnTo>
                  <a:lnTo>
                    <a:pt x="0" y="38099"/>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5" name="Forme libre : forme 84">
              <a:extLst>
                <a:ext uri="{FF2B5EF4-FFF2-40B4-BE49-F238E27FC236}">
                  <a16:creationId xmlns:a16="http://schemas.microsoft.com/office/drawing/2014/main" id="{34E7A5A5-1FF5-522E-7881-FA9DB9B952BC}"/>
                </a:ext>
              </a:extLst>
            </p:cNvPr>
            <p:cNvSpPr/>
            <p:nvPr/>
          </p:nvSpPr>
          <p:spPr>
            <a:xfrm rot="-2962464">
              <a:off x="1347431" y="4362161"/>
              <a:ext cx="19057" cy="38099"/>
            </a:xfrm>
            <a:custGeom>
              <a:avLst/>
              <a:gdLst>
                <a:gd name="connsiteX0" fmla="*/ 0 w 19057"/>
                <a:gd name="connsiteY0" fmla="*/ 0 h 38099"/>
                <a:gd name="connsiteX1" fmla="*/ 19058 w 19057"/>
                <a:gd name="connsiteY1" fmla="*/ 0 h 38099"/>
                <a:gd name="connsiteX2" fmla="*/ 19058 w 19057"/>
                <a:gd name="connsiteY2" fmla="*/ 38099 h 38099"/>
                <a:gd name="connsiteX3" fmla="*/ 0 w 19057"/>
                <a:gd name="connsiteY3" fmla="*/ 38099 h 38099"/>
              </a:gdLst>
              <a:ahLst/>
              <a:cxnLst>
                <a:cxn ang="0">
                  <a:pos x="connsiteX0" y="connsiteY0"/>
                </a:cxn>
                <a:cxn ang="0">
                  <a:pos x="connsiteX1" y="connsiteY1"/>
                </a:cxn>
                <a:cxn ang="0">
                  <a:pos x="connsiteX2" y="connsiteY2"/>
                </a:cxn>
                <a:cxn ang="0">
                  <a:pos x="connsiteX3" y="connsiteY3"/>
                </a:cxn>
              </a:cxnLst>
              <a:rect l="l" t="t" r="r" b="b"/>
              <a:pathLst>
                <a:path w="19057" h="38099">
                  <a:moveTo>
                    <a:pt x="0" y="0"/>
                  </a:moveTo>
                  <a:lnTo>
                    <a:pt x="19058" y="0"/>
                  </a:lnTo>
                  <a:lnTo>
                    <a:pt x="19058" y="38099"/>
                  </a:lnTo>
                  <a:lnTo>
                    <a:pt x="0" y="38099"/>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6" name="Forme libre : forme 85">
              <a:extLst>
                <a:ext uri="{FF2B5EF4-FFF2-40B4-BE49-F238E27FC236}">
                  <a16:creationId xmlns:a16="http://schemas.microsoft.com/office/drawing/2014/main" id="{DE9B73E2-241C-DA4E-03A3-4CDDB9C2B74F}"/>
                </a:ext>
              </a:extLst>
            </p:cNvPr>
            <p:cNvSpPr/>
            <p:nvPr/>
          </p:nvSpPr>
          <p:spPr>
            <a:xfrm>
              <a:off x="13075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7" name="Forme libre : forme 86">
              <a:extLst>
                <a:ext uri="{FF2B5EF4-FFF2-40B4-BE49-F238E27FC236}">
                  <a16:creationId xmlns:a16="http://schemas.microsoft.com/office/drawing/2014/main" id="{7671C28A-8968-39AB-0068-87CF71161F72}"/>
                </a:ext>
              </a:extLst>
            </p:cNvPr>
            <p:cNvSpPr/>
            <p:nvPr/>
          </p:nvSpPr>
          <p:spPr>
            <a:xfrm>
              <a:off x="14599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8" name="Forme libre : forme 87">
              <a:extLst>
                <a:ext uri="{FF2B5EF4-FFF2-40B4-BE49-F238E27FC236}">
                  <a16:creationId xmlns:a16="http://schemas.microsoft.com/office/drawing/2014/main" id="{19154B51-0A67-E17F-8C98-7F6065370AFA}"/>
                </a:ext>
              </a:extLst>
            </p:cNvPr>
            <p:cNvSpPr/>
            <p:nvPr/>
          </p:nvSpPr>
          <p:spPr>
            <a:xfrm>
              <a:off x="13837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9" name="Forme libre : forme 88">
              <a:extLst>
                <a:ext uri="{FF2B5EF4-FFF2-40B4-BE49-F238E27FC236}">
                  <a16:creationId xmlns:a16="http://schemas.microsoft.com/office/drawing/2014/main" id="{FCBBC5F1-DE92-BDB8-F0A3-39A593C1A173}"/>
                </a:ext>
              </a:extLst>
            </p:cNvPr>
            <p:cNvSpPr/>
            <p:nvPr/>
          </p:nvSpPr>
          <p:spPr>
            <a:xfrm rot="-2437536">
              <a:off x="1337910" y="4039716"/>
              <a:ext cx="38099" cy="19057"/>
            </a:xfrm>
            <a:custGeom>
              <a:avLst/>
              <a:gdLst>
                <a:gd name="connsiteX0" fmla="*/ 0 w 38099"/>
                <a:gd name="connsiteY0" fmla="*/ 0 h 19057"/>
                <a:gd name="connsiteX1" fmla="*/ 38099 w 38099"/>
                <a:gd name="connsiteY1" fmla="*/ 0 h 19057"/>
                <a:gd name="connsiteX2" fmla="*/ 38099 w 38099"/>
                <a:gd name="connsiteY2" fmla="*/ 19058 h 19057"/>
                <a:gd name="connsiteX3" fmla="*/ 0 w 38099"/>
                <a:gd name="connsiteY3" fmla="*/ 19058 h 19057"/>
              </a:gdLst>
              <a:ahLst/>
              <a:cxnLst>
                <a:cxn ang="0">
                  <a:pos x="connsiteX0" y="connsiteY0"/>
                </a:cxn>
                <a:cxn ang="0">
                  <a:pos x="connsiteX1" y="connsiteY1"/>
                </a:cxn>
                <a:cxn ang="0">
                  <a:pos x="connsiteX2" y="connsiteY2"/>
                </a:cxn>
                <a:cxn ang="0">
                  <a:pos x="connsiteX3" y="connsiteY3"/>
                </a:cxn>
              </a:cxnLst>
              <a:rect l="l" t="t" r="r" b="b"/>
              <a:pathLst>
                <a:path w="38099" h="19057">
                  <a:moveTo>
                    <a:pt x="0" y="0"/>
                  </a:moveTo>
                  <a:lnTo>
                    <a:pt x="38099" y="0"/>
                  </a:lnTo>
                  <a:lnTo>
                    <a:pt x="38099" y="19058"/>
                  </a:lnTo>
                  <a:lnTo>
                    <a:pt x="0" y="1905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0" name="Forme libre : forme 89">
              <a:extLst>
                <a:ext uri="{FF2B5EF4-FFF2-40B4-BE49-F238E27FC236}">
                  <a16:creationId xmlns:a16="http://schemas.microsoft.com/office/drawing/2014/main" id="{01DD4D8D-2820-16FE-6A22-5179072B09E8}"/>
                </a:ext>
              </a:extLst>
            </p:cNvPr>
            <p:cNvSpPr/>
            <p:nvPr/>
          </p:nvSpPr>
          <p:spPr>
            <a:xfrm>
              <a:off x="907550" y="3953235"/>
              <a:ext cx="361941" cy="514168"/>
            </a:xfrm>
            <a:custGeom>
              <a:avLst/>
              <a:gdLst>
                <a:gd name="connsiteX0" fmla="*/ 323879 w 361941"/>
                <a:gd name="connsiteY0" fmla="*/ 216219 h 514168"/>
                <a:gd name="connsiteX1" fmla="*/ 354398 w 361941"/>
                <a:gd name="connsiteY1" fmla="*/ 190053 h 514168"/>
                <a:gd name="connsiteX2" fmla="*/ 341988 w 361941"/>
                <a:gd name="connsiteY2" fmla="*/ 175589 h 514168"/>
                <a:gd name="connsiteX3" fmla="*/ 323879 w 361941"/>
                <a:gd name="connsiteY3" fmla="*/ 191114 h 514168"/>
                <a:gd name="connsiteX4" fmla="*/ 323879 w 361941"/>
                <a:gd name="connsiteY4" fmla="*/ 47668 h 514168"/>
                <a:gd name="connsiteX5" fmla="*/ 285750 w 361941"/>
                <a:gd name="connsiteY5" fmla="*/ 47668 h 514168"/>
                <a:gd name="connsiteX6" fmla="*/ 285750 w 361941"/>
                <a:gd name="connsiteY6" fmla="*/ 0 h 514168"/>
                <a:gd name="connsiteX7" fmla="*/ 57150 w 361941"/>
                <a:gd name="connsiteY7" fmla="*/ 0 h 514168"/>
                <a:gd name="connsiteX8" fmla="*/ 57150 w 361941"/>
                <a:gd name="connsiteY8" fmla="*/ 47667 h 514168"/>
                <a:gd name="connsiteX9" fmla="*/ 19050 w 361941"/>
                <a:gd name="connsiteY9" fmla="*/ 47667 h 514168"/>
                <a:gd name="connsiteX10" fmla="*/ 19050 w 361941"/>
                <a:gd name="connsiteY10" fmla="*/ 495118 h 514168"/>
                <a:gd name="connsiteX11" fmla="*/ 0 w 361941"/>
                <a:gd name="connsiteY11" fmla="*/ 495118 h 514168"/>
                <a:gd name="connsiteX12" fmla="*/ 0 w 361941"/>
                <a:gd name="connsiteY12" fmla="*/ 514168 h 514168"/>
                <a:gd name="connsiteX13" fmla="*/ 342900 w 361941"/>
                <a:gd name="connsiteY13" fmla="*/ 514168 h 514168"/>
                <a:gd name="connsiteX14" fmla="*/ 342900 w 361941"/>
                <a:gd name="connsiteY14" fmla="*/ 495118 h 514168"/>
                <a:gd name="connsiteX15" fmla="*/ 323879 w 361941"/>
                <a:gd name="connsiteY15" fmla="*/ 495118 h 514168"/>
                <a:gd name="connsiteX16" fmla="*/ 323879 w 361941"/>
                <a:gd name="connsiteY16" fmla="*/ 332868 h 514168"/>
                <a:gd name="connsiteX17" fmla="*/ 341988 w 361941"/>
                <a:gd name="connsiteY17" fmla="*/ 348394 h 514168"/>
                <a:gd name="connsiteX18" fmla="*/ 354398 w 361941"/>
                <a:gd name="connsiteY18" fmla="*/ 333930 h 514168"/>
                <a:gd name="connsiteX19" fmla="*/ 323879 w 361941"/>
                <a:gd name="connsiteY19" fmla="*/ 307763 h 514168"/>
                <a:gd name="connsiteX20" fmla="*/ 323879 w 361941"/>
                <a:gd name="connsiteY20" fmla="*/ 271518 h 514168"/>
                <a:gd name="connsiteX21" fmla="*/ 361941 w 361941"/>
                <a:gd name="connsiteY21" fmla="*/ 271518 h 514168"/>
                <a:gd name="connsiteX22" fmla="*/ 361941 w 361941"/>
                <a:gd name="connsiteY22" fmla="*/ 252468 h 514168"/>
                <a:gd name="connsiteX23" fmla="*/ 323879 w 361941"/>
                <a:gd name="connsiteY23" fmla="*/ 252468 h 514168"/>
                <a:gd name="connsiteX24" fmla="*/ 76200 w 361941"/>
                <a:gd name="connsiteY24" fmla="*/ 19052 h 514168"/>
                <a:gd name="connsiteX25" fmla="*/ 266700 w 361941"/>
                <a:gd name="connsiteY25" fmla="*/ 19052 h 514168"/>
                <a:gd name="connsiteX26" fmla="*/ 266700 w 361941"/>
                <a:gd name="connsiteY26" fmla="*/ 47669 h 514168"/>
                <a:gd name="connsiteX27" fmla="*/ 76200 w 361941"/>
                <a:gd name="connsiteY27" fmla="*/ 47669 h 514168"/>
                <a:gd name="connsiteX28" fmla="*/ 190500 w 361941"/>
                <a:gd name="connsiteY28" fmla="*/ 495120 h 514168"/>
                <a:gd name="connsiteX29" fmla="*/ 190500 w 361941"/>
                <a:gd name="connsiteY29" fmla="*/ 409616 h 514168"/>
                <a:gd name="connsiteX30" fmla="*/ 152400 w 361941"/>
                <a:gd name="connsiteY30" fmla="*/ 409616 h 514168"/>
                <a:gd name="connsiteX31" fmla="*/ 152400 w 361941"/>
                <a:gd name="connsiteY31" fmla="*/ 495118 h 514168"/>
                <a:gd name="connsiteX32" fmla="*/ 38100 w 361941"/>
                <a:gd name="connsiteY32" fmla="*/ 495118 h 514168"/>
                <a:gd name="connsiteX33" fmla="*/ 38100 w 361941"/>
                <a:gd name="connsiteY33" fmla="*/ 66717 h 514168"/>
                <a:gd name="connsiteX34" fmla="*/ 304829 w 361941"/>
                <a:gd name="connsiteY34" fmla="*/ 66717 h 514168"/>
                <a:gd name="connsiteX35" fmla="*/ 304829 w 361941"/>
                <a:gd name="connsiteY35" fmla="*/ 495118 h 51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1941" h="514168">
                  <a:moveTo>
                    <a:pt x="323879" y="216219"/>
                  </a:moveTo>
                  <a:lnTo>
                    <a:pt x="354398" y="190053"/>
                  </a:lnTo>
                  <a:lnTo>
                    <a:pt x="341988" y="175589"/>
                  </a:lnTo>
                  <a:lnTo>
                    <a:pt x="323879" y="191114"/>
                  </a:lnTo>
                  <a:lnTo>
                    <a:pt x="323879" y="47668"/>
                  </a:lnTo>
                  <a:lnTo>
                    <a:pt x="285750" y="47668"/>
                  </a:lnTo>
                  <a:lnTo>
                    <a:pt x="285750" y="0"/>
                  </a:lnTo>
                  <a:lnTo>
                    <a:pt x="57150" y="0"/>
                  </a:lnTo>
                  <a:lnTo>
                    <a:pt x="57150" y="47667"/>
                  </a:lnTo>
                  <a:lnTo>
                    <a:pt x="19050" y="47667"/>
                  </a:lnTo>
                  <a:lnTo>
                    <a:pt x="19050" y="495118"/>
                  </a:lnTo>
                  <a:lnTo>
                    <a:pt x="0" y="495118"/>
                  </a:lnTo>
                  <a:lnTo>
                    <a:pt x="0" y="514168"/>
                  </a:lnTo>
                  <a:lnTo>
                    <a:pt x="342900" y="514168"/>
                  </a:lnTo>
                  <a:lnTo>
                    <a:pt x="342900" y="495118"/>
                  </a:lnTo>
                  <a:lnTo>
                    <a:pt x="323879" y="495118"/>
                  </a:lnTo>
                  <a:lnTo>
                    <a:pt x="323879" y="332868"/>
                  </a:lnTo>
                  <a:lnTo>
                    <a:pt x="341988" y="348394"/>
                  </a:lnTo>
                  <a:lnTo>
                    <a:pt x="354398" y="333930"/>
                  </a:lnTo>
                  <a:lnTo>
                    <a:pt x="323879" y="307763"/>
                  </a:lnTo>
                  <a:lnTo>
                    <a:pt x="323879" y="271518"/>
                  </a:lnTo>
                  <a:lnTo>
                    <a:pt x="361941" y="271518"/>
                  </a:lnTo>
                  <a:lnTo>
                    <a:pt x="361941" y="252468"/>
                  </a:lnTo>
                  <a:lnTo>
                    <a:pt x="323879" y="252468"/>
                  </a:lnTo>
                  <a:close/>
                  <a:moveTo>
                    <a:pt x="76200" y="19052"/>
                  </a:moveTo>
                  <a:lnTo>
                    <a:pt x="266700" y="19052"/>
                  </a:lnTo>
                  <a:lnTo>
                    <a:pt x="266700" y="47669"/>
                  </a:lnTo>
                  <a:lnTo>
                    <a:pt x="76200" y="47669"/>
                  </a:lnTo>
                  <a:close/>
                  <a:moveTo>
                    <a:pt x="190500" y="495120"/>
                  </a:moveTo>
                  <a:lnTo>
                    <a:pt x="190500" y="409616"/>
                  </a:lnTo>
                  <a:lnTo>
                    <a:pt x="152400" y="409616"/>
                  </a:lnTo>
                  <a:lnTo>
                    <a:pt x="152400" y="495118"/>
                  </a:lnTo>
                  <a:lnTo>
                    <a:pt x="38100" y="495118"/>
                  </a:lnTo>
                  <a:lnTo>
                    <a:pt x="38100" y="66717"/>
                  </a:lnTo>
                  <a:lnTo>
                    <a:pt x="304829" y="66717"/>
                  </a:lnTo>
                  <a:lnTo>
                    <a:pt x="304829" y="49511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1" name="Forme libre : forme 90">
              <a:extLst>
                <a:ext uri="{FF2B5EF4-FFF2-40B4-BE49-F238E27FC236}">
                  <a16:creationId xmlns:a16="http://schemas.microsoft.com/office/drawing/2014/main" id="{7CAB42C1-C701-7AFE-F744-548B85483DE1}"/>
                </a:ext>
              </a:extLst>
            </p:cNvPr>
            <p:cNvSpPr/>
            <p:nvPr/>
          </p:nvSpPr>
          <p:spPr>
            <a:xfrm>
              <a:off x="11361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2" name="Forme libre : forme 91">
              <a:extLst>
                <a:ext uri="{FF2B5EF4-FFF2-40B4-BE49-F238E27FC236}">
                  <a16:creationId xmlns:a16="http://schemas.microsoft.com/office/drawing/2014/main" id="{7026C4CE-9D9A-A2D6-C478-E768903C6818}"/>
                </a:ext>
              </a:extLst>
            </p:cNvPr>
            <p:cNvSpPr/>
            <p:nvPr/>
          </p:nvSpPr>
          <p:spPr>
            <a:xfrm>
              <a:off x="9837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3" name="Forme libre : forme 92">
              <a:extLst>
                <a:ext uri="{FF2B5EF4-FFF2-40B4-BE49-F238E27FC236}">
                  <a16:creationId xmlns:a16="http://schemas.microsoft.com/office/drawing/2014/main" id="{F41DBF1D-5548-0486-079E-2C923132CB25}"/>
                </a:ext>
              </a:extLst>
            </p:cNvPr>
            <p:cNvSpPr/>
            <p:nvPr/>
          </p:nvSpPr>
          <p:spPr>
            <a:xfrm>
              <a:off x="10599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4" name="Forme libre : forme 93">
              <a:extLst>
                <a:ext uri="{FF2B5EF4-FFF2-40B4-BE49-F238E27FC236}">
                  <a16:creationId xmlns:a16="http://schemas.microsoft.com/office/drawing/2014/main" id="{52AA5509-2150-489E-4832-442417047C33}"/>
                </a:ext>
              </a:extLst>
            </p:cNvPr>
            <p:cNvSpPr/>
            <p:nvPr/>
          </p:nvSpPr>
          <p:spPr>
            <a:xfrm>
              <a:off x="9837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5" name="Forme libre : forme 94">
              <a:extLst>
                <a:ext uri="{FF2B5EF4-FFF2-40B4-BE49-F238E27FC236}">
                  <a16:creationId xmlns:a16="http://schemas.microsoft.com/office/drawing/2014/main" id="{B674E839-6F70-6714-FC5D-5F81D4438A65}"/>
                </a:ext>
              </a:extLst>
            </p:cNvPr>
            <p:cNvSpPr/>
            <p:nvPr/>
          </p:nvSpPr>
          <p:spPr>
            <a:xfrm>
              <a:off x="10599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6" name="Forme libre : forme 95">
              <a:extLst>
                <a:ext uri="{FF2B5EF4-FFF2-40B4-BE49-F238E27FC236}">
                  <a16:creationId xmlns:a16="http://schemas.microsoft.com/office/drawing/2014/main" id="{BC6A3829-1ECC-57DE-6801-4CA424257B6C}"/>
                </a:ext>
              </a:extLst>
            </p:cNvPr>
            <p:cNvSpPr/>
            <p:nvPr/>
          </p:nvSpPr>
          <p:spPr>
            <a:xfrm>
              <a:off x="10599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7" name="Forme libre : forme 96">
              <a:extLst>
                <a:ext uri="{FF2B5EF4-FFF2-40B4-BE49-F238E27FC236}">
                  <a16:creationId xmlns:a16="http://schemas.microsoft.com/office/drawing/2014/main" id="{0D267C2F-78C0-0DF8-3EF1-0580F7AD1482}"/>
                </a:ext>
              </a:extLst>
            </p:cNvPr>
            <p:cNvSpPr/>
            <p:nvPr/>
          </p:nvSpPr>
          <p:spPr>
            <a:xfrm>
              <a:off x="9837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8" name="Forme libre : forme 97">
              <a:extLst>
                <a:ext uri="{FF2B5EF4-FFF2-40B4-BE49-F238E27FC236}">
                  <a16:creationId xmlns:a16="http://schemas.microsoft.com/office/drawing/2014/main" id="{74AE73BA-65C2-9831-EC05-5FD6B5D59ED8}"/>
                </a:ext>
              </a:extLst>
            </p:cNvPr>
            <p:cNvSpPr/>
            <p:nvPr/>
          </p:nvSpPr>
          <p:spPr>
            <a:xfrm>
              <a:off x="11361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9" name="Forme libre : forme 98">
              <a:extLst>
                <a:ext uri="{FF2B5EF4-FFF2-40B4-BE49-F238E27FC236}">
                  <a16:creationId xmlns:a16="http://schemas.microsoft.com/office/drawing/2014/main" id="{4E322477-69B6-BC47-E2FC-6D258DE6E8E5}"/>
                </a:ext>
              </a:extLst>
            </p:cNvPr>
            <p:cNvSpPr/>
            <p:nvPr/>
          </p:nvSpPr>
          <p:spPr>
            <a:xfrm>
              <a:off x="983750" y="4362851"/>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0" name="Forme libre : forme 99">
              <a:extLst>
                <a:ext uri="{FF2B5EF4-FFF2-40B4-BE49-F238E27FC236}">
                  <a16:creationId xmlns:a16="http://schemas.microsoft.com/office/drawing/2014/main" id="{80E071CB-23FB-294A-98DF-608FBA25AEE6}"/>
                </a:ext>
              </a:extLst>
            </p:cNvPr>
            <p:cNvSpPr/>
            <p:nvPr/>
          </p:nvSpPr>
          <p:spPr>
            <a:xfrm>
              <a:off x="1136150" y="4362851"/>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1" name="Forme libre : forme 100">
              <a:extLst>
                <a:ext uri="{FF2B5EF4-FFF2-40B4-BE49-F238E27FC236}">
                  <a16:creationId xmlns:a16="http://schemas.microsoft.com/office/drawing/2014/main" id="{0F47A5CB-0554-C1CE-C1BC-DEC3DCB6134B}"/>
                </a:ext>
              </a:extLst>
            </p:cNvPr>
            <p:cNvSpPr/>
            <p:nvPr/>
          </p:nvSpPr>
          <p:spPr>
            <a:xfrm>
              <a:off x="9837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2" name="Forme libre : forme 101">
              <a:extLst>
                <a:ext uri="{FF2B5EF4-FFF2-40B4-BE49-F238E27FC236}">
                  <a16:creationId xmlns:a16="http://schemas.microsoft.com/office/drawing/2014/main" id="{88FB2AD5-09C7-FCEF-1FD9-798BF0AC44C4}"/>
                </a:ext>
              </a:extLst>
            </p:cNvPr>
            <p:cNvSpPr/>
            <p:nvPr/>
          </p:nvSpPr>
          <p:spPr>
            <a:xfrm>
              <a:off x="11361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3" name="Forme libre : forme 102">
              <a:extLst>
                <a:ext uri="{FF2B5EF4-FFF2-40B4-BE49-F238E27FC236}">
                  <a16:creationId xmlns:a16="http://schemas.microsoft.com/office/drawing/2014/main" id="{1F2A4512-E40B-95A0-FC90-A50B220EDA4C}"/>
                </a:ext>
              </a:extLst>
            </p:cNvPr>
            <p:cNvSpPr/>
            <p:nvPr/>
          </p:nvSpPr>
          <p:spPr>
            <a:xfrm>
              <a:off x="10599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4" name="Forme libre : forme 103">
              <a:extLst>
                <a:ext uri="{FF2B5EF4-FFF2-40B4-BE49-F238E27FC236}">
                  <a16:creationId xmlns:a16="http://schemas.microsoft.com/office/drawing/2014/main" id="{0787996C-3EBE-14AC-2886-D9A6F247BE4B}"/>
                </a:ext>
              </a:extLst>
            </p:cNvPr>
            <p:cNvSpPr/>
            <p:nvPr/>
          </p:nvSpPr>
          <p:spPr>
            <a:xfrm>
              <a:off x="11361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5" name="Forme libre : forme 104">
              <a:extLst>
                <a:ext uri="{FF2B5EF4-FFF2-40B4-BE49-F238E27FC236}">
                  <a16:creationId xmlns:a16="http://schemas.microsoft.com/office/drawing/2014/main" id="{7D7F689B-A522-5E56-AE63-36AE81C5A96D}"/>
                </a:ext>
              </a:extLst>
            </p:cNvPr>
            <p:cNvSpPr/>
            <p:nvPr/>
          </p:nvSpPr>
          <p:spPr>
            <a:xfrm>
              <a:off x="1526666" y="4105690"/>
              <a:ext cx="219075" cy="219075"/>
            </a:xfrm>
            <a:custGeom>
              <a:avLst/>
              <a:gdLst>
                <a:gd name="connsiteX0" fmla="*/ 109538 w 219075"/>
                <a:gd name="connsiteY0" fmla="*/ 0 h 219075"/>
                <a:gd name="connsiteX1" fmla="*/ 0 w 219075"/>
                <a:gd name="connsiteY1" fmla="*/ 109538 h 219075"/>
                <a:gd name="connsiteX2" fmla="*/ 109538 w 219075"/>
                <a:gd name="connsiteY2" fmla="*/ 219075 h 219075"/>
                <a:gd name="connsiteX3" fmla="*/ 219075 w 219075"/>
                <a:gd name="connsiteY3" fmla="*/ 109538 h 219075"/>
                <a:gd name="connsiteX4" fmla="*/ 109538 w 219075"/>
                <a:gd name="connsiteY4" fmla="*/ 0 h 219075"/>
                <a:gd name="connsiteX5" fmla="*/ 57804 w 219075"/>
                <a:gd name="connsiteY5" fmla="*/ 183671 h 219075"/>
                <a:gd name="connsiteX6" fmla="*/ 114882 w 219075"/>
                <a:gd name="connsiteY6" fmla="*/ 137274 h 219075"/>
                <a:gd name="connsiteX7" fmla="*/ 161278 w 219075"/>
                <a:gd name="connsiteY7" fmla="*/ 183664 h 219075"/>
                <a:gd name="connsiteX8" fmla="*/ 57804 w 219075"/>
                <a:gd name="connsiteY8" fmla="*/ 183671 h 219075"/>
                <a:gd name="connsiteX9" fmla="*/ 86180 w 219075"/>
                <a:gd name="connsiteY9" fmla="*/ 94593 h 219075"/>
                <a:gd name="connsiteX10" fmla="*/ 109537 w 219075"/>
                <a:gd name="connsiteY10" fmla="*/ 71225 h 219075"/>
                <a:gd name="connsiteX11" fmla="*/ 132904 w 219075"/>
                <a:gd name="connsiteY11" fmla="*/ 94581 h 219075"/>
                <a:gd name="connsiteX12" fmla="*/ 109548 w 219075"/>
                <a:gd name="connsiteY12" fmla="*/ 117949 h 219075"/>
                <a:gd name="connsiteX13" fmla="*/ 109538 w 219075"/>
                <a:gd name="connsiteY13" fmla="*/ 117949 h 219075"/>
                <a:gd name="connsiteX14" fmla="*/ 86180 w 219075"/>
                <a:gd name="connsiteY14" fmla="*/ 94593 h 219075"/>
                <a:gd name="connsiteX15" fmla="*/ 177661 w 219075"/>
                <a:gd name="connsiteY15" fmla="*/ 168908 h 219075"/>
                <a:gd name="connsiteX16" fmla="*/ 139433 w 219075"/>
                <a:gd name="connsiteY16" fmla="*/ 124632 h 219075"/>
                <a:gd name="connsiteX17" fmla="*/ 139621 w 219075"/>
                <a:gd name="connsiteY17" fmla="*/ 64657 h 219075"/>
                <a:gd name="connsiteX18" fmla="*/ 79646 w 219075"/>
                <a:gd name="connsiteY18" fmla="*/ 64468 h 219075"/>
                <a:gd name="connsiteX19" fmla="*/ 79458 w 219075"/>
                <a:gd name="connsiteY19" fmla="*/ 124443 h 219075"/>
                <a:gd name="connsiteX20" fmla="*/ 79646 w 219075"/>
                <a:gd name="connsiteY20" fmla="*/ 124632 h 219075"/>
                <a:gd name="connsiteX21" fmla="*/ 41420 w 219075"/>
                <a:gd name="connsiteY21" fmla="*/ 168913 h 219075"/>
                <a:gd name="connsiteX22" fmla="*/ 49973 w 219075"/>
                <a:gd name="connsiteY22" fmla="*/ 41231 h 219075"/>
                <a:gd name="connsiteX23" fmla="*/ 177656 w 219075"/>
                <a:gd name="connsiteY23" fmla="*/ 49783 h 219075"/>
                <a:gd name="connsiteX24" fmla="*/ 177661 w 219075"/>
                <a:gd name="connsiteY24" fmla="*/ 168907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075" h="219075">
                  <a:moveTo>
                    <a:pt x="109538" y="0"/>
                  </a:moveTo>
                  <a:cubicBezTo>
                    <a:pt x="49041" y="0"/>
                    <a:pt x="0" y="49041"/>
                    <a:pt x="0" y="109538"/>
                  </a:cubicBezTo>
                  <a:cubicBezTo>
                    <a:pt x="0" y="170034"/>
                    <a:pt x="49041" y="219075"/>
                    <a:pt x="109538" y="219075"/>
                  </a:cubicBezTo>
                  <a:cubicBezTo>
                    <a:pt x="170034" y="219075"/>
                    <a:pt x="219075" y="170034"/>
                    <a:pt x="219075" y="109538"/>
                  </a:cubicBezTo>
                  <a:cubicBezTo>
                    <a:pt x="219006" y="49070"/>
                    <a:pt x="170005" y="69"/>
                    <a:pt x="109538" y="0"/>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8" y="117949"/>
                  </a:cubicBezTo>
                  <a:cubicBezTo>
                    <a:pt x="96644" y="117936"/>
                    <a:pt x="86194" y="107487"/>
                    <a:pt x="86180" y="94593"/>
                  </a:cubicBezTo>
                  <a:close/>
                  <a:moveTo>
                    <a:pt x="177661" y="168908"/>
                  </a:move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3"/>
                  </a:cubicBezTo>
                  <a:cubicBezTo>
                    <a:pt x="8524" y="131294"/>
                    <a:pt x="12353" y="74127"/>
                    <a:pt x="49973" y="41231"/>
                  </a:cubicBezTo>
                  <a:cubicBezTo>
                    <a:pt x="87593" y="8334"/>
                    <a:pt x="144759" y="12163"/>
                    <a:pt x="177656" y="49783"/>
                  </a:cubicBezTo>
                  <a:cubicBezTo>
                    <a:pt x="207480" y="83890"/>
                    <a:pt x="207482" y="134797"/>
                    <a:pt x="177661" y="168907"/>
                  </a:cubicBezTo>
                  <a:close/>
                </a:path>
              </a:pathLst>
            </a:custGeom>
            <a:solidFill>
              <a:srgbClr val="000000"/>
            </a:solidFill>
            <a:ln w="9525" cap="flat">
              <a:solidFill>
                <a:srgbClr val="7DA7C6"/>
              </a:solidFill>
              <a:prstDash val="solid"/>
              <a:miter/>
            </a:ln>
          </p:spPr>
          <p:txBody>
            <a:bodyPr rtlCol="0" anchor="ctr"/>
            <a:lstStyle/>
            <a:p>
              <a:endParaRPr lang="fr-FR"/>
            </a:p>
          </p:txBody>
        </p:sp>
        <p:sp>
          <p:nvSpPr>
            <p:cNvPr id="106" name="Forme libre : forme 105">
              <a:extLst>
                <a:ext uri="{FF2B5EF4-FFF2-40B4-BE49-F238E27FC236}">
                  <a16:creationId xmlns:a16="http://schemas.microsoft.com/office/drawing/2014/main" id="{33AF8A13-137A-8268-FF64-F255CC81B6EB}"/>
                </a:ext>
              </a:extLst>
            </p:cNvPr>
            <p:cNvSpPr/>
            <p:nvPr/>
          </p:nvSpPr>
          <p:spPr>
            <a:xfrm>
              <a:off x="1374266" y="3848515"/>
              <a:ext cx="219074" cy="219075"/>
            </a:xfrm>
            <a:custGeom>
              <a:avLst/>
              <a:gdLst>
                <a:gd name="connsiteX0" fmla="*/ 109537 w 219074"/>
                <a:gd name="connsiteY0" fmla="*/ 219075 h 219075"/>
                <a:gd name="connsiteX1" fmla="*/ 219075 w 219074"/>
                <a:gd name="connsiteY1" fmla="*/ 109538 h 219075"/>
                <a:gd name="connsiteX2" fmla="*/ 109537 w 219074"/>
                <a:gd name="connsiteY2" fmla="*/ 0 h 219075"/>
                <a:gd name="connsiteX3" fmla="*/ 0 w 219074"/>
                <a:gd name="connsiteY3" fmla="*/ 109538 h 219075"/>
                <a:gd name="connsiteX4" fmla="*/ 109537 w 219074"/>
                <a:gd name="connsiteY4" fmla="*/ 219075 h 219075"/>
                <a:gd name="connsiteX5" fmla="*/ 57804 w 219074"/>
                <a:gd name="connsiteY5" fmla="*/ 183671 h 219075"/>
                <a:gd name="connsiteX6" fmla="*/ 114882 w 219074"/>
                <a:gd name="connsiteY6" fmla="*/ 137274 h 219075"/>
                <a:gd name="connsiteX7" fmla="*/ 161278 w 219074"/>
                <a:gd name="connsiteY7" fmla="*/ 183664 h 219075"/>
                <a:gd name="connsiteX8" fmla="*/ 57804 w 219074"/>
                <a:gd name="connsiteY8" fmla="*/ 183671 h 219075"/>
                <a:gd name="connsiteX9" fmla="*/ 86180 w 219074"/>
                <a:gd name="connsiteY9" fmla="*/ 94593 h 219075"/>
                <a:gd name="connsiteX10" fmla="*/ 109537 w 219074"/>
                <a:gd name="connsiteY10" fmla="*/ 71225 h 219075"/>
                <a:gd name="connsiteX11" fmla="*/ 132904 w 219074"/>
                <a:gd name="connsiteY11" fmla="*/ 94581 h 219075"/>
                <a:gd name="connsiteX12" fmla="*/ 109548 w 219074"/>
                <a:gd name="connsiteY12" fmla="*/ 117949 h 219075"/>
                <a:gd name="connsiteX13" fmla="*/ 109537 w 219074"/>
                <a:gd name="connsiteY13" fmla="*/ 117949 h 219075"/>
                <a:gd name="connsiteX14" fmla="*/ 86180 w 219074"/>
                <a:gd name="connsiteY14" fmla="*/ 94593 h 219075"/>
                <a:gd name="connsiteX15" fmla="*/ 109537 w 219074"/>
                <a:gd name="connsiteY15" fmla="*/ 19053 h 219075"/>
                <a:gd name="connsiteX16" fmla="*/ 200025 w 219074"/>
                <a:gd name="connsiteY16" fmla="*/ 109264 h 219075"/>
                <a:gd name="connsiteX17" fmla="*/ 177661 w 219074"/>
                <a:gd name="connsiteY17" fmla="*/ 168908 h 219075"/>
                <a:gd name="connsiteX18" fmla="*/ 139433 w 219074"/>
                <a:gd name="connsiteY18" fmla="*/ 124632 h 219075"/>
                <a:gd name="connsiteX19" fmla="*/ 139621 w 219074"/>
                <a:gd name="connsiteY19" fmla="*/ 64657 h 219075"/>
                <a:gd name="connsiteX20" fmla="*/ 79646 w 219074"/>
                <a:gd name="connsiteY20" fmla="*/ 64468 h 219075"/>
                <a:gd name="connsiteX21" fmla="*/ 79458 w 219074"/>
                <a:gd name="connsiteY21" fmla="*/ 124443 h 219075"/>
                <a:gd name="connsiteX22" fmla="*/ 79646 w 219074"/>
                <a:gd name="connsiteY22" fmla="*/ 124632 h 219075"/>
                <a:gd name="connsiteX23" fmla="*/ 41420 w 219074"/>
                <a:gd name="connsiteY23" fmla="*/ 168914 h 219075"/>
                <a:gd name="connsiteX24" fmla="*/ 49881 w 219074"/>
                <a:gd name="connsiteY24" fmla="*/ 41422 h 219075"/>
                <a:gd name="connsiteX25" fmla="*/ 109537 w 219074"/>
                <a:gd name="connsiteY25" fmla="*/ 1905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9074" h="219075">
                  <a:moveTo>
                    <a:pt x="109537" y="219075"/>
                  </a:moveTo>
                  <a:cubicBezTo>
                    <a:pt x="170034" y="219075"/>
                    <a:pt x="219075" y="170034"/>
                    <a:pt x="219075" y="109538"/>
                  </a:cubicBezTo>
                  <a:cubicBezTo>
                    <a:pt x="219075" y="49041"/>
                    <a:pt x="170034" y="0"/>
                    <a:pt x="109537" y="0"/>
                  </a:cubicBezTo>
                  <a:cubicBezTo>
                    <a:pt x="49041" y="0"/>
                    <a:pt x="0" y="49041"/>
                    <a:pt x="0" y="109538"/>
                  </a:cubicBezTo>
                  <a:cubicBezTo>
                    <a:pt x="69" y="170005"/>
                    <a:pt x="49070" y="219006"/>
                    <a:pt x="109537" y="219075"/>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7" y="117949"/>
                  </a:cubicBezTo>
                  <a:cubicBezTo>
                    <a:pt x="96644" y="117936"/>
                    <a:pt x="86194" y="107487"/>
                    <a:pt x="86180" y="94593"/>
                  </a:cubicBezTo>
                  <a:close/>
                  <a:moveTo>
                    <a:pt x="109537" y="19053"/>
                  </a:moveTo>
                  <a:cubicBezTo>
                    <a:pt x="159436" y="18977"/>
                    <a:pt x="199949" y="59366"/>
                    <a:pt x="200025" y="109264"/>
                  </a:cubicBezTo>
                  <a:cubicBezTo>
                    <a:pt x="200058" y="131201"/>
                    <a:pt x="192109" y="152401"/>
                    <a:pt x="177661" y="168908"/>
                  </a:cubicBez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4"/>
                  </a:cubicBezTo>
                  <a:cubicBezTo>
                    <a:pt x="8552" y="131372"/>
                    <a:pt x="12340" y="74291"/>
                    <a:pt x="49881" y="41422"/>
                  </a:cubicBezTo>
                  <a:cubicBezTo>
                    <a:pt x="66390" y="26968"/>
                    <a:pt x="87596" y="19016"/>
                    <a:pt x="109537" y="19050"/>
                  </a:cubicBezTo>
                  <a:close/>
                </a:path>
              </a:pathLst>
            </a:custGeom>
            <a:solidFill>
              <a:srgbClr val="000000"/>
            </a:solidFill>
            <a:ln w="9525" cap="flat">
              <a:solidFill>
                <a:srgbClr val="7DA7C6"/>
              </a:solidFill>
              <a:prstDash val="solid"/>
              <a:miter/>
            </a:ln>
          </p:spPr>
          <p:txBody>
            <a:bodyPr rtlCol="0" anchor="ctr"/>
            <a:lstStyle/>
            <a:p>
              <a:endParaRPr lang="fr-FR"/>
            </a:p>
          </p:txBody>
        </p:sp>
        <p:sp>
          <p:nvSpPr>
            <p:cNvPr id="107" name="Forme libre : forme 106">
              <a:extLst>
                <a:ext uri="{FF2B5EF4-FFF2-40B4-BE49-F238E27FC236}">
                  <a16:creationId xmlns:a16="http://schemas.microsoft.com/office/drawing/2014/main" id="{D17AC1B9-C1B6-4305-43A5-547CB19570D1}"/>
                </a:ext>
              </a:extLst>
            </p:cNvPr>
            <p:cNvSpPr/>
            <p:nvPr/>
          </p:nvSpPr>
          <p:spPr>
            <a:xfrm>
              <a:off x="1374266" y="4362865"/>
              <a:ext cx="219074" cy="219075"/>
            </a:xfrm>
            <a:custGeom>
              <a:avLst/>
              <a:gdLst>
                <a:gd name="connsiteX0" fmla="*/ 109537 w 219074"/>
                <a:gd name="connsiteY0" fmla="*/ 0 h 219075"/>
                <a:gd name="connsiteX1" fmla="*/ 0 w 219074"/>
                <a:gd name="connsiteY1" fmla="*/ 109538 h 219075"/>
                <a:gd name="connsiteX2" fmla="*/ 109537 w 219074"/>
                <a:gd name="connsiteY2" fmla="*/ 219075 h 219075"/>
                <a:gd name="connsiteX3" fmla="*/ 219075 w 219074"/>
                <a:gd name="connsiteY3" fmla="*/ 109538 h 219075"/>
                <a:gd name="connsiteX4" fmla="*/ 109537 w 219074"/>
                <a:gd name="connsiteY4" fmla="*/ 0 h 219075"/>
                <a:gd name="connsiteX5" fmla="*/ 57804 w 219074"/>
                <a:gd name="connsiteY5" fmla="*/ 183671 h 219075"/>
                <a:gd name="connsiteX6" fmla="*/ 114882 w 219074"/>
                <a:gd name="connsiteY6" fmla="*/ 137274 h 219075"/>
                <a:gd name="connsiteX7" fmla="*/ 161278 w 219074"/>
                <a:gd name="connsiteY7" fmla="*/ 183664 h 219075"/>
                <a:gd name="connsiteX8" fmla="*/ 57804 w 219074"/>
                <a:gd name="connsiteY8" fmla="*/ 183671 h 219075"/>
                <a:gd name="connsiteX9" fmla="*/ 86180 w 219074"/>
                <a:gd name="connsiteY9" fmla="*/ 94593 h 219075"/>
                <a:gd name="connsiteX10" fmla="*/ 109537 w 219074"/>
                <a:gd name="connsiteY10" fmla="*/ 71225 h 219075"/>
                <a:gd name="connsiteX11" fmla="*/ 132904 w 219074"/>
                <a:gd name="connsiteY11" fmla="*/ 94581 h 219075"/>
                <a:gd name="connsiteX12" fmla="*/ 109548 w 219074"/>
                <a:gd name="connsiteY12" fmla="*/ 117949 h 219075"/>
                <a:gd name="connsiteX13" fmla="*/ 109537 w 219074"/>
                <a:gd name="connsiteY13" fmla="*/ 117949 h 219075"/>
                <a:gd name="connsiteX14" fmla="*/ 86180 w 219074"/>
                <a:gd name="connsiteY14" fmla="*/ 94593 h 219075"/>
                <a:gd name="connsiteX15" fmla="*/ 177661 w 219074"/>
                <a:gd name="connsiteY15" fmla="*/ 168908 h 219075"/>
                <a:gd name="connsiteX16" fmla="*/ 139433 w 219074"/>
                <a:gd name="connsiteY16" fmla="*/ 124632 h 219075"/>
                <a:gd name="connsiteX17" fmla="*/ 139621 w 219074"/>
                <a:gd name="connsiteY17" fmla="*/ 64657 h 219075"/>
                <a:gd name="connsiteX18" fmla="*/ 79646 w 219074"/>
                <a:gd name="connsiteY18" fmla="*/ 64468 h 219075"/>
                <a:gd name="connsiteX19" fmla="*/ 79458 w 219074"/>
                <a:gd name="connsiteY19" fmla="*/ 124443 h 219075"/>
                <a:gd name="connsiteX20" fmla="*/ 79646 w 219074"/>
                <a:gd name="connsiteY20" fmla="*/ 124632 h 219075"/>
                <a:gd name="connsiteX21" fmla="*/ 41420 w 219074"/>
                <a:gd name="connsiteY21" fmla="*/ 168913 h 219075"/>
                <a:gd name="connsiteX22" fmla="*/ 49973 w 219074"/>
                <a:gd name="connsiteY22" fmla="*/ 41231 h 219075"/>
                <a:gd name="connsiteX23" fmla="*/ 177656 w 219074"/>
                <a:gd name="connsiteY23" fmla="*/ 49783 h 219075"/>
                <a:gd name="connsiteX24" fmla="*/ 177661 w 219074"/>
                <a:gd name="connsiteY24" fmla="*/ 168907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074" h="219075">
                  <a:moveTo>
                    <a:pt x="109537" y="0"/>
                  </a:moveTo>
                  <a:cubicBezTo>
                    <a:pt x="49041" y="0"/>
                    <a:pt x="0" y="49041"/>
                    <a:pt x="0" y="109538"/>
                  </a:cubicBezTo>
                  <a:cubicBezTo>
                    <a:pt x="0" y="170034"/>
                    <a:pt x="49041" y="219075"/>
                    <a:pt x="109537" y="219075"/>
                  </a:cubicBezTo>
                  <a:cubicBezTo>
                    <a:pt x="170034" y="219075"/>
                    <a:pt x="219075" y="170034"/>
                    <a:pt x="219075" y="109538"/>
                  </a:cubicBezTo>
                  <a:cubicBezTo>
                    <a:pt x="219006" y="49070"/>
                    <a:pt x="170005" y="69"/>
                    <a:pt x="109537" y="0"/>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7" y="117949"/>
                  </a:cubicBezTo>
                  <a:cubicBezTo>
                    <a:pt x="96644" y="117936"/>
                    <a:pt x="86194" y="107487"/>
                    <a:pt x="86180" y="94593"/>
                  </a:cubicBezTo>
                  <a:close/>
                  <a:moveTo>
                    <a:pt x="177661" y="168908"/>
                  </a:move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3"/>
                  </a:cubicBezTo>
                  <a:cubicBezTo>
                    <a:pt x="8524" y="131294"/>
                    <a:pt x="12353" y="74127"/>
                    <a:pt x="49973" y="41231"/>
                  </a:cubicBezTo>
                  <a:cubicBezTo>
                    <a:pt x="87593" y="8334"/>
                    <a:pt x="144759" y="12163"/>
                    <a:pt x="177656" y="49783"/>
                  </a:cubicBezTo>
                  <a:cubicBezTo>
                    <a:pt x="207480" y="83890"/>
                    <a:pt x="207482" y="134797"/>
                    <a:pt x="177661" y="168907"/>
                  </a:cubicBezTo>
                  <a:close/>
                </a:path>
              </a:pathLst>
            </a:custGeom>
            <a:solidFill>
              <a:srgbClr val="000000"/>
            </a:solidFill>
            <a:ln w="9525" cap="flat">
              <a:solidFill>
                <a:srgbClr val="7DA7C6"/>
              </a:solidFill>
              <a:prstDash val="solid"/>
              <a:miter/>
            </a:ln>
          </p:spPr>
          <p:txBody>
            <a:bodyPr rtlCol="0" anchor="ctr"/>
            <a:lstStyle/>
            <a:p>
              <a:endParaRPr lang="fr-FR"/>
            </a:p>
          </p:txBody>
        </p:sp>
      </p:grpSp>
      <p:grpSp>
        <p:nvGrpSpPr>
          <p:cNvPr id="108" name="Graphique 175">
            <a:extLst>
              <a:ext uri="{FF2B5EF4-FFF2-40B4-BE49-F238E27FC236}">
                <a16:creationId xmlns:a16="http://schemas.microsoft.com/office/drawing/2014/main" id="{33EE731C-EF3F-D4D4-5824-F6E5A80B0CF8}"/>
              </a:ext>
            </a:extLst>
          </p:cNvPr>
          <p:cNvGrpSpPr/>
          <p:nvPr/>
        </p:nvGrpSpPr>
        <p:grpSpPr>
          <a:xfrm>
            <a:off x="1704586" y="3209777"/>
            <a:ext cx="360000" cy="288000"/>
            <a:chOff x="3245610" y="1820342"/>
            <a:chExt cx="285750" cy="247650"/>
          </a:xfrm>
        </p:grpSpPr>
        <p:sp>
          <p:nvSpPr>
            <p:cNvPr id="109" name="Forme libre : forme 108">
              <a:extLst>
                <a:ext uri="{FF2B5EF4-FFF2-40B4-BE49-F238E27FC236}">
                  <a16:creationId xmlns:a16="http://schemas.microsoft.com/office/drawing/2014/main" id="{E65A38F6-6AAD-7EB0-29C9-A61C4CF66122}"/>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sp>
          <p:nvSpPr>
            <p:cNvPr id="110" name="Forme libre : forme 109">
              <a:extLst>
                <a:ext uri="{FF2B5EF4-FFF2-40B4-BE49-F238E27FC236}">
                  <a16:creationId xmlns:a16="http://schemas.microsoft.com/office/drawing/2014/main" id="{59AAB906-2696-A457-CDA7-60FC8F363A2D}"/>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19050" cap="sq">
              <a:solidFill>
                <a:srgbClr val="6496BB"/>
              </a:solidFill>
              <a:prstDash val="solid"/>
              <a:miter/>
            </a:ln>
          </p:spPr>
          <p:txBody>
            <a:bodyPr rtlCol="0" anchor="ctr"/>
            <a:lstStyle/>
            <a:p>
              <a:endParaRPr lang="en-US"/>
            </a:p>
          </p:txBody>
        </p:sp>
        <p:sp>
          <p:nvSpPr>
            <p:cNvPr id="111" name="Forme libre : forme 110">
              <a:extLst>
                <a:ext uri="{FF2B5EF4-FFF2-40B4-BE49-F238E27FC236}">
                  <a16:creationId xmlns:a16="http://schemas.microsoft.com/office/drawing/2014/main" id="{1104C8BB-6766-488D-6491-7EC2A99684A9}"/>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19050" cap="sq">
              <a:solidFill>
                <a:srgbClr val="6496BB"/>
              </a:solidFill>
              <a:prstDash val="solid"/>
              <a:miter/>
            </a:ln>
          </p:spPr>
          <p:txBody>
            <a:bodyPr rtlCol="0" anchor="ctr"/>
            <a:lstStyle/>
            <a:p>
              <a:endParaRPr lang="en-US"/>
            </a:p>
          </p:txBody>
        </p:sp>
        <p:sp>
          <p:nvSpPr>
            <p:cNvPr id="112" name="Forme libre : forme 111">
              <a:extLst>
                <a:ext uri="{FF2B5EF4-FFF2-40B4-BE49-F238E27FC236}">
                  <a16:creationId xmlns:a16="http://schemas.microsoft.com/office/drawing/2014/main" id="{A8B412D5-7C73-5F49-1564-23FEB73E793D}"/>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grpSp>
      <p:sp>
        <p:nvSpPr>
          <p:cNvPr id="113" name="Rectangle : coins arrondis 3">
            <a:extLst>
              <a:ext uri="{FF2B5EF4-FFF2-40B4-BE49-F238E27FC236}">
                <a16:creationId xmlns:a16="http://schemas.microsoft.com/office/drawing/2014/main" id="{054AA670-F0A3-8139-6799-A3D50B445F8B}"/>
              </a:ext>
            </a:extLst>
          </p:cNvPr>
          <p:cNvSpPr/>
          <p:nvPr/>
        </p:nvSpPr>
        <p:spPr>
          <a:xfrm>
            <a:off x="1285394" y="3602091"/>
            <a:ext cx="24788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Co-contractors</a:t>
            </a:r>
          </a:p>
        </p:txBody>
      </p:sp>
      <p:sp>
        <p:nvSpPr>
          <p:cNvPr id="116" name="Rectangle : coins arrondis 115">
            <a:extLst>
              <a:ext uri="{FF2B5EF4-FFF2-40B4-BE49-F238E27FC236}">
                <a16:creationId xmlns:a16="http://schemas.microsoft.com/office/drawing/2014/main" id="{1CC2162F-945D-4002-DEAC-65C72908C5DD}"/>
              </a:ext>
            </a:extLst>
          </p:cNvPr>
          <p:cNvSpPr/>
          <p:nvPr>
            <p:custDataLst>
              <p:tags r:id="rId5"/>
            </p:custDataLst>
          </p:nvPr>
        </p:nvSpPr>
        <p:spPr>
          <a:xfrm>
            <a:off x="499190" y="3795894"/>
            <a:ext cx="3172608" cy="721624"/>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4487AA7B-1BBC-0F5A-8545-41A8EF175092}"/>
              </a:ext>
            </a:extLst>
          </p:cNvPr>
          <p:cNvSpPr/>
          <p:nvPr/>
        </p:nvSpPr>
        <p:spPr>
          <a:xfrm>
            <a:off x="631808" y="3863886"/>
            <a:ext cx="2944791" cy="5293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Co-contractors are granted specific accesses on BYCN IS </a:t>
            </a:r>
          </a:p>
        </p:txBody>
      </p:sp>
    </p:spTree>
    <p:extLst>
      <p:ext uri="{BB962C8B-B14F-4D97-AF65-F5344CB8AC3E}">
        <p14:creationId xmlns:p14="http://schemas.microsoft.com/office/powerpoint/2010/main" val="45733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1" grpId="0"/>
      <p:bldP spid="38" grpId="0" animBg="1"/>
      <p:bldP spid="39" grpId="0"/>
      <p:bldP spid="40" grpId="0" animBg="1"/>
      <p:bldP spid="54" grpId="0"/>
      <p:bldP spid="55" grpId="0"/>
      <p:bldP spid="70" grpId="0"/>
      <p:bldP spid="71" grpId="0" animBg="1"/>
      <p:bldP spid="72" grpId="0"/>
      <p:bldP spid="79" grpId="0"/>
      <p:bldP spid="113" grpId="0"/>
      <p:bldP spid="116" grpId="0" animBg="1"/>
      <p:bldP spid="1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ctangle 117">
            <a:extLst>
              <a:ext uri="{FF2B5EF4-FFF2-40B4-BE49-F238E27FC236}">
                <a16:creationId xmlns:a16="http://schemas.microsoft.com/office/drawing/2014/main" id="{20745843-C7C7-2AD1-7DB9-15E3719721DD}"/>
              </a:ext>
            </a:extLst>
          </p:cNvPr>
          <p:cNvSpPr/>
          <p:nvPr/>
        </p:nvSpPr>
        <p:spPr>
          <a:xfrm>
            <a:off x="71021" y="1424308"/>
            <a:ext cx="12055876" cy="5433691"/>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F241B97D-C18F-63B7-E6D3-2CD1806DAF3D}"/>
              </a:ext>
            </a:extLst>
          </p:cNvPr>
          <p:cNvSpPr>
            <a:spLocks noGrp="1"/>
          </p:cNvSpPr>
          <p:nvPr>
            <p:ph type="title"/>
          </p:nvPr>
        </p:nvSpPr>
        <p:spPr/>
        <p:txBody>
          <a:bodyPr/>
          <a:lstStyle/>
          <a:p>
            <a:r>
              <a:rPr lang="en-US" sz="3600"/>
              <a:t>IAM : Global overview</a:t>
            </a:r>
            <a:endParaRPr lang="fr-FR" sz="3600"/>
          </a:p>
        </p:txBody>
      </p:sp>
      <p:sp>
        <p:nvSpPr>
          <p:cNvPr id="4" name="Espace réservé du pied de page 3">
            <a:extLst>
              <a:ext uri="{FF2B5EF4-FFF2-40B4-BE49-F238E27FC236}">
                <a16:creationId xmlns:a16="http://schemas.microsoft.com/office/drawing/2014/main" id="{65F98A51-77B8-4C4F-B0C6-5A74353321B2}"/>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808CCAD2-0755-A68D-9BA5-8129641A2A36}"/>
              </a:ext>
            </a:extLst>
          </p:cNvPr>
          <p:cNvSpPr>
            <a:spLocks noGrp="1"/>
          </p:cNvSpPr>
          <p:nvPr>
            <p:ph type="sldNum" sz="quarter" idx="14"/>
          </p:nvPr>
        </p:nvSpPr>
        <p:spPr/>
        <p:txBody>
          <a:bodyPr/>
          <a:lstStyle/>
          <a:p>
            <a:r>
              <a:rPr lang="fr-FR"/>
              <a:t>| </a:t>
            </a:r>
            <a:fld id="{C2EBF694-A8F9-4F06-8F8E-D09447FAA2D5}" type="slidenum">
              <a:rPr smtClean="0"/>
              <a:pPr/>
              <a:t>4</a:t>
            </a:fld>
            <a:endParaRPr/>
          </a:p>
        </p:txBody>
      </p:sp>
      <p:grpSp>
        <p:nvGrpSpPr>
          <p:cNvPr id="6" name="Groupe 5">
            <a:extLst>
              <a:ext uri="{FF2B5EF4-FFF2-40B4-BE49-F238E27FC236}">
                <a16:creationId xmlns:a16="http://schemas.microsoft.com/office/drawing/2014/main" id="{C9C2E473-4ABA-5089-5B8A-921359F5C981}"/>
              </a:ext>
            </a:extLst>
          </p:cNvPr>
          <p:cNvGrpSpPr/>
          <p:nvPr/>
        </p:nvGrpSpPr>
        <p:grpSpPr>
          <a:xfrm>
            <a:off x="4117085" y="1935280"/>
            <a:ext cx="4146106" cy="4249080"/>
            <a:chOff x="487288" y="1843640"/>
            <a:chExt cx="4722022" cy="4750792"/>
          </a:xfrm>
        </p:grpSpPr>
        <p:sp>
          <p:nvSpPr>
            <p:cNvPr id="7" name="Rectangle 9">
              <a:extLst>
                <a:ext uri="{FF2B5EF4-FFF2-40B4-BE49-F238E27FC236}">
                  <a16:creationId xmlns:a16="http://schemas.microsoft.com/office/drawing/2014/main" id="{18CE01C1-C9DC-A59D-5781-040DEFEC4878}"/>
                </a:ext>
              </a:extLst>
            </p:cNvPr>
            <p:cNvSpPr>
              <a:spLocks noChangeArrowheads="1"/>
            </p:cNvSpPr>
            <p:nvPr/>
          </p:nvSpPr>
          <p:spPr bwMode="auto">
            <a:xfrm>
              <a:off x="2051090" y="3910261"/>
              <a:ext cx="1637854" cy="1420919"/>
            </a:xfrm>
            <a:prstGeom prst="rect">
              <a:avLst/>
            </a:prstGeom>
            <a:noFill/>
            <a:ln w="28575">
              <a:no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IAM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grpSp>
          <p:nvGrpSpPr>
            <p:cNvPr id="8" name="Groupe 7">
              <a:extLst>
                <a:ext uri="{FF2B5EF4-FFF2-40B4-BE49-F238E27FC236}">
                  <a16:creationId xmlns:a16="http://schemas.microsoft.com/office/drawing/2014/main" id="{B0492EBB-293F-849E-CB80-1DEA5416C547}"/>
                </a:ext>
              </a:extLst>
            </p:cNvPr>
            <p:cNvGrpSpPr/>
            <p:nvPr/>
          </p:nvGrpSpPr>
          <p:grpSpPr>
            <a:xfrm>
              <a:off x="487288" y="1843640"/>
              <a:ext cx="4722022" cy="4750792"/>
              <a:chOff x="2017840" y="1232784"/>
              <a:chExt cx="4878808" cy="4896544"/>
            </a:xfrm>
          </p:grpSpPr>
          <p:sp>
            <p:nvSpPr>
              <p:cNvPr id="13" name="Ellipse 12">
                <a:extLst>
                  <a:ext uri="{FF2B5EF4-FFF2-40B4-BE49-F238E27FC236}">
                    <a16:creationId xmlns:a16="http://schemas.microsoft.com/office/drawing/2014/main" id="{F66BBD90-60DE-8BB3-EAEC-D03834DB5EFA}"/>
                  </a:ext>
                </a:extLst>
              </p:cNvPr>
              <p:cNvSpPr/>
              <p:nvPr/>
            </p:nvSpPr>
            <p:spPr>
              <a:xfrm>
                <a:off x="2017840" y="1232784"/>
                <a:ext cx="4878808" cy="4896544"/>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chemeClr val="bg1"/>
                  </a:solidFill>
                  <a:effectLst/>
                  <a:uLnTx/>
                  <a:uFillTx/>
                  <a:latin typeface="Calibri" panose="020F0502020204030204"/>
                  <a:ea typeface="Tahoma" panose="020B0604030504040204" pitchFamily="34" charset="0"/>
                  <a:cs typeface="Tahoma" panose="020B0604030504040204" pitchFamily="34" charset="0"/>
                </a:endParaRPr>
              </a:p>
            </p:txBody>
          </p:sp>
          <p:sp>
            <p:nvSpPr>
              <p:cNvPr id="14" name="Ellipse 13">
                <a:extLst>
                  <a:ext uri="{FF2B5EF4-FFF2-40B4-BE49-F238E27FC236}">
                    <a16:creationId xmlns:a16="http://schemas.microsoft.com/office/drawing/2014/main" id="{F6512A9F-06F6-EECF-B03A-527C0C3DFFAE}"/>
                  </a:ext>
                </a:extLst>
              </p:cNvPr>
              <p:cNvSpPr/>
              <p:nvPr/>
            </p:nvSpPr>
            <p:spPr>
              <a:xfrm>
                <a:off x="2332596" y="1548690"/>
                <a:ext cx="4249284" cy="4264732"/>
              </a:xfrm>
              <a:prstGeom prst="ellipse">
                <a:avLst/>
              </a:prstGeom>
              <a:solidFill>
                <a:srgbClr val="ECECE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5" name="ZoneTexte 14">
                <a:extLst>
                  <a:ext uri="{FF2B5EF4-FFF2-40B4-BE49-F238E27FC236}">
                    <a16:creationId xmlns:a16="http://schemas.microsoft.com/office/drawing/2014/main" id="{41265667-7A1B-4C70-B5DD-E7D6A53BC140}"/>
                  </a:ext>
                </a:extLst>
              </p:cNvPr>
              <p:cNvSpPr txBox="1"/>
              <p:nvPr/>
            </p:nvSpPr>
            <p:spPr>
              <a:xfrm>
                <a:off x="3664345" y="1237007"/>
                <a:ext cx="1573597" cy="4401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a:ln>
                      <a:noFill/>
                    </a:ln>
                    <a:solidFill>
                      <a:schemeClr val="bg1"/>
                    </a:solidFill>
                    <a:effectLst/>
                    <a:uLnTx/>
                    <a:uFillTx/>
                    <a:latin typeface="Calibri" panose="020F0502020204030204"/>
                    <a:ea typeface="Tahoma" panose="020B0604030504040204" pitchFamily="34" charset="0"/>
                    <a:cs typeface="Tahoma" panose="020B0604030504040204" pitchFamily="34" charset="0"/>
                  </a:rPr>
                  <a:t>Governance</a:t>
                </a:r>
              </a:p>
            </p:txBody>
          </p:sp>
        </p:grpSp>
        <p:sp>
          <p:nvSpPr>
            <p:cNvPr id="9" name="AutoShape 4">
              <a:extLst>
                <a:ext uri="{FF2B5EF4-FFF2-40B4-BE49-F238E27FC236}">
                  <a16:creationId xmlns:a16="http://schemas.microsoft.com/office/drawing/2014/main" id="{B3AAA97A-798A-6BED-8619-BD8F7C0F26EA}"/>
                </a:ext>
              </a:extLst>
            </p:cNvPr>
            <p:cNvSpPr>
              <a:spLocks noChangeArrowheads="1"/>
            </p:cNvSpPr>
            <p:nvPr/>
          </p:nvSpPr>
          <p:spPr bwMode="auto">
            <a:xfrm>
              <a:off x="2023468" y="2306144"/>
              <a:ext cx="1637854" cy="1420919"/>
            </a:xfrm>
            <a:prstGeom prst="triangle">
              <a:avLst>
                <a:gd name="adj" fmla="val 50000"/>
              </a:avLst>
            </a:prstGeom>
            <a:solidFill>
              <a:srgbClr val="2B0A3D"/>
            </a:solidFill>
            <a:ln w="28575">
              <a:noFill/>
              <a:miter lim="800000"/>
              <a:headEnd/>
              <a:tailEnd/>
            </a:ln>
            <a:effectLst/>
          </p:spPr>
          <p:txBody>
            <a:bodyPr wrap="none"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Identities</a:t>
              </a:r>
              <a:endParaRPr lang="en-US" sz="1000" b="1" kern="0">
                <a:solidFill>
                  <a:srgbClr val="FFFFFF"/>
                </a:solidFill>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0" name="AutoShape 10">
              <a:extLst>
                <a:ext uri="{FF2B5EF4-FFF2-40B4-BE49-F238E27FC236}">
                  <a16:creationId xmlns:a16="http://schemas.microsoft.com/office/drawing/2014/main" id="{D0E4C654-99E5-F05F-4308-B7F379BFE90C}"/>
                </a:ext>
              </a:extLst>
            </p:cNvPr>
            <p:cNvSpPr>
              <a:spLocks noChangeArrowheads="1"/>
            </p:cNvSpPr>
            <p:nvPr/>
          </p:nvSpPr>
          <p:spPr bwMode="auto">
            <a:xfrm>
              <a:off x="2904856" y="3934627"/>
              <a:ext cx="1637854" cy="1420919"/>
            </a:xfrm>
            <a:prstGeom prst="triangle">
              <a:avLst>
                <a:gd name="adj" fmla="val 50000"/>
              </a:avLst>
            </a:prstGeom>
            <a:solidFill>
              <a:srgbClr val="7030A0"/>
            </a:solidFill>
            <a:ln w="28575">
              <a:no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Authentication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1" name="AutoShape 11">
              <a:extLst>
                <a:ext uri="{FF2B5EF4-FFF2-40B4-BE49-F238E27FC236}">
                  <a16:creationId xmlns:a16="http://schemas.microsoft.com/office/drawing/2014/main" id="{30BCB6DD-5616-C610-D275-41647CE50C77}"/>
                </a:ext>
              </a:extLst>
            </p:cNvPr>
            <p:cNvSpPr>
              <a:spLocks noChangeArrowheads="1"/>
            </p:cNvSpPr>
            <p:nvPr/>
          </p:nvSpPr>
          <p:spPr bwMode="auto">
            <a:xfrm>
              <a:off x="1142081" y="3934627"/>
              <a:ext cx="1637854" cy="1420919"/>
            </a:xfrm>
            <a:prstGeom prst="triangle">
              <a:avLst>
                <a:gd name="adj" fmla="val 50000"/>
              </a:avLst>
            </a:prstGeom>
            <a:solidFill>
              <a:schemeClr val="accent1"/>
            </a:solidFill>
            <a:ln w="28575">
              <a:noFill/>
              <a:miter lim="800000"/>
              <a:headEnd/>
              <a:tailEnd/>
            </a:ln>
            <a:effectLst/>
          </p:spPr>
          <p:txBody>
            <a:bodyPr wrap="none"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Authorization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2" name="AutoShape 8">
              <a:extLst>
                <a:ext uri="{FF2B5EF4-FFF2-40B4-BE49-F238E27FC236}">
                  <a16:creationId xmlns:a16="http://schemas.microsoft.com/office/drawing/2014/main" id="{DECFA2C6-2237-B901-D707-140605ED675C}"/>
                </a:ext>
              </a:extLst>
            </p:cNvPr>
            <p:cNvSpPr>
              <a:spLocks noChangeArrowheads="1"/>
            </p:cNvSpPr>
            <p:nvPr/>
          </p:nvSpPr>
          <p:spPr bwMode="auto">
            <a:xfrm flipV="1">
              <a:off x="2023468" y="3823182"/>
              <a:ext cx="1637854" cy="1420919"/>
            </a:xfrm>
            <a:prstGeom prst="triangle">
              <a:avLst>
                <a:gd name="adj" fmla="val 50000"/>
              </a:avLst>
            </a:prstGeom>
            <a:solidFill>
              <a:srgbClr val="FFFFFF"/>
            </a:solidFill>
            <a:ln w="38100">
              <a:noFill/>
              <a:miter lim="800000"/>
              <a:headEnd/>
              <a:tailEnd/>
            </a:ln>
            <a:effectLst/>
          </p:spPr>
          <p:txBody>
            <a:bodyPr rot="10800000"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rgbClr val="5F5F5F"/>
                </a:solidFill>
                <a:effectLst/>
                <a:uLnTx/>
                <a:uFillTx/>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a:ln>
                    <a:noFill/>
                  </a:ln>
                  <a:solidFill>
                    <a:srgbClr val="5F5F5F"/>
                  </a:solidFill>
                  <a:effectLst/>
                  <a:uLnTx/>
                  <a:uFillTx/>
                  <a:latin typeface="Calibri" panose="020F0502020204030204"/>
                  <a:ea typeface="Tahoma" panose="020B0604030504040204" pitchFamily="34" charset="0"/>
                  <a:cs typeface="Tahoma" panose="020B0604030504040204" pitchFamily="34" charset="0"/>
                </a:rPr>
                <a:t>IAM</a:t>
              </a:r>
            </a:p>
          </p:txBody>
        </p:sp>
      </p:grpSp>
      <p:grpSp>
        <p:nvGrpSpPr>
          <p:cNvPr id="16" name="Graphique 193">
            <a:extLst>
              <a:ext uri="{FF2B5EF4-FFF2-40B4-BE49-F238E27FC236}">
                <a16:creationId xmlns:a16="http://schemas.microsoft.com/office/drawing/2014/main" id="{CF1627E9-DEAC-504E-5BAC-33232E97131B}"/>
              </a:ext>
            </a:extLst>
          </p:cNvPr>
          <p:cNvGrpSpPr/>
          <p:nvPr/>
        </p:nvGrpSpPr>
        <p:grpSpPr>
          <a:xfrm>
            <a:off x="2001261" y="1482760"/>
            <a:ext cx="324000" cy="360000"/>
            <a:chOff x="2175353" y="2723890"/>
            <a:chExt cx="266700" cy="285750"/>
          </a:xfrm>
        </p:grpSpPr>
        <p:sp>
          <p:nvSpPr>
            <p:cNvPr id="17" name="Forme libre : forme 16">
              <a:extLst>
                <a:ext uri="{FF2B5EF4-FFF2-40B4-BE49-F238E27FC236}">
                  <a16:creationId xmlns:a16="http://schemas.microsoft.com/office/drawing/2014/main" id="{4CDEA530-389F-A2BF-6520-98456E126C95}"/>
                </a:ext>
              </a:extLst>
            </p:cNvPr>
            <p:cNvSpPr/>
            <p:nvPr/>
          </p:nvSpPr>
          <p:spPr>
            <a:xfrm>
              <a:off x="2308703"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C3585021-54F6-043D-2226-678493D7602C}"/>
                </a:ext>
              </a:extLst>
            </p:cNvPr>
            <p:cNvSpPr/>
            <p:nvPr/>
          </p:nvSpPr>
          <p:spPr>
            <a:xfrm>
              <a:off x="2175353" y="2896131"/>
              <a:ext cx="266700" cy="104775"/>
            </a:xfrm>
            <a:custGeom>
              <a:avLst/>
              <a:gdLst>
                <a:gd name="connsiteX0" fmla="*/ 103051 w 266700"/>
                <a:gd name="connsiteY0" fmla="*/ 0 h 104775"/>
                <a:gd name="connsiteX1" fmla="*/ 19860 w 266700"/>
                <a:gd name="connsiteY1" fmla="*/ 45530 h 104775"/>
                <a:gd name="connsiteX2" fmla="*/ 0 w 266700"/>
                <a:gd name="connsiteY2" fmla="*/ 78981 h 104775"/>
                <a:gd name="connsiteX3" fmla="*/ 0 w 266700"/>
                <a:gd name="connsiteY3" fmla="*/ 113509 h 104775"/>
                <a:gd name="connsiteX4" fmla="*/ 266700 w 266700"/>
                <a:gd name="connsiteY4" fmla="*/ 113509 h 104775"/>
                <a:gd name="connsiteX5" fmla="*/ 266700 w 266700"/>
                <a:gd name="connsiteY5" fmla="*/ 78981 h 104775"/>
                <a:gd name="connsiteX6" fmla="*/ 246840 w 266700"/>
                <a:gd name="connsiteY6" fmla="*/ 45530 h 104775"/>
                <a:gd name="connsiteX7" fmla="*/ 163649 w 26670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700" h="104775">
                  <a:moveTo>
                    <a:pt x="103051" y="0"/>
                  </a:moveTo>
                  <a:lnTo>
                    <a:pt x="19860" y="45530"/>
                  </a:lnTo>
                  <a:cubicBezTo>
                    <a:pt x="7620" y="52207"/>
                    <a:pt x="0" y="65037"/>
                    <a:pt x="0" y="78981"/>
                  </a:cubicBezTo>
                  <a:lnTo>
                    <a:pt x="0" y="113509"/>
                  </a:lnTo>
                  <a:lnTo>
                    <a:pt x="266700" y="113509"/>
                  </a:lnTo>
                  <a:lnTo>
                    <a:pt x="266700" y="78981"/>
                  </a:lnTo>
                  <a:cubicBezTo>
                    <a:pt x="266700" y="65037"/>
                    <a:pt x="259080" y="52207"/>
                    <a:pt x="246840" y="45530"/>
                  </a:cubicBezTo>
                  <a:lnTo>
                    <a:pt x="163649" y="0"/>
                  </a:lnTo>
                </a:path>
              </a:pathLst>
            </a:custGeom>
            <a:noFill/>
            <a:ln w="19050" cap="flat">
              <a:solidFill>
                <a:schemeClr val="accent4"/>
              </a:solidFill>
              <a:prstDash val="solid"/>
              <a:miter/>
            </a:ln>
          </p:spPr>
          <p:txBody>
            <a:bodyPr rtlCol="0" anchor="ctr"/>
            <a:lstStyle/>
            <a:p>
              <a:endParaRPr lang="en-US"/>
            </a:p>
          </p:txBody>
        </p:sp>
        <p:sp>
          <p:nvSpPr>
            <p:cNvPr id="19" name="Forme libre : forme 18">
              <a:extLst>
                <a:ext uri="{FF2B5EF4-FFF2-40B4-BE49-F238E27FC236}">
                  <a16:creationId xmlns:a16="http://schemas.microsoft.com/office/drawing/2014/main" id="{DE01A3D7-482E-084D-B8F8-E784B3B04E08}"/>
                </a:ext>
              </a:extLst>
            </p:cNvPr>
            <p:cNvSpPr/>
            <p:nvPr/>
          </p:nvSpPr>
          <p:spPr>
            <a:xfrm>
              <a:off x="2232503"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20" name="Forme libre : forme 19">
              <a:extLst>
                <a:ext uri="{FF2B5EF4-FFF2-40B4-BE49-F238E27FC236}">
                  <a16:creationId xmlns:a16="http://schemas.microsoft.com/office/drawing/2014/main" id="{A1E23C3D-0DF3-AC9C-A997-0637C2A4B1D1}"/>
                </a:ext>
              </a:extLst>
            </p:cNvPr>
            <p:cNvSpPr/>
            <p:nvPr/>
          </p:nvSpPr>
          <p:spPr>
            <a:xfrm>
              <a:off x="2232865"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grpSp>
      <p:grpSp>
        <p:nvGrpSpPr>
          <p:cNvPr id="21" name="Graphique 195">
            <a:extLst>
              <a:ext uri="{FF2B5EF4-FFF2-40B4-BE49-F238E27FC236}">
                <a16:creationId xmlns:a16="http://schemas.microsoft.com/office/drawing/2014/main" id="{A3439119-E8B0-BD81-1AF0-14A6B5DFFF29}"/>
              </a:ext>
            </a:extLst>
          </p:cNvPr>
          <p:cNvGrpSpPr/>
          <p:nvPr/>
        </p:nvGrpSpPr>
        <p:grpSpPr>
          <a:xfrm>
            <a:off x="1601139" y="1482255"/>
            <a:ext cx="324000" cy="360000"/>
            <a:chOff x="3264660" y="2723890"/>
            <a:chExt cx="247650" cy="285750"/>
          </a:xfrm>
        </p:grpSpPr>
        <p:sp>
          <p:nvSpPr>
            <p:cNvPr id="22" name="Forme libre : forme 21">
              <a:extLst>
                <a:ext uri="{FF2B5EF4-FFF2-40B4-BE49-F238E27FC236}">
                  <a16:creationId xmlns:a16="http://schemas.microsoft.com/office/drawing/2014/main" id="{8DCCA371-F2AF-E679-4CBF-8BEE08ACB188}"/>
                </a:ext>
              </a:extLst>
            </p:cNvPr>
            <p:cNvSpPr/>
            <p:nvPr/>
          </p:nvSpPr>
          <p:spPr>
            <a:xfrm>
              <a:off x="3388485"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23" name="Forme libre : forme 22">
              <a:extLst>
                <a:ext uri="{FF2B5EF4-FFF2-40B4-BE49-F238E27FC236}">
                  <a16:creationId xmlns:a16="http://schemas.microsoft.com/office/drawing/2014/main" id="{C01DA547-B3C1-9E9F-177C-D31794C662FC}"/>
                </a:ext>
              </a:extLst>
            </p:cNvPr>
            <p:cNvSpPr/>
            <p:nvPr/>
          </p:nvSpPr>
          <p:spPr>
            <a:xfrm>
              <a:off x="3264660" y="2896131"/>
              <a:ext cx="247650" cy="104775"/>
            </a:xfrm>
            <a:custGeom>
              <a:avLst/>
              <a:gdLst>
                <a:gd name="connsiteX0" fmla="*/ 93526 w 247650"/>
                <a:gd name="connsiteY0" fmla="*/ 0 h 104775"/>
                <a:gd name="connsiteX1" fmla="*/ 13830 w 247650"/>
                <a:gd name="connsiteY1" fmla="*/ 48025 h 104775"/>
                <a:gd name="connsiteX2" fmla="*/ 0 w 247650"/>
                <a:gd name="connsiteY2" fmla="*/ 72504 h 104775"/>
                <a:gd name="connsiteX3" fmla="*/ 0 w 247650"/>
                <a:gd name="connsiteY3" fmla="*/ 113509 h 104775"/>
                <a:gd name="connsiteX4" fmla="*/ 247650 w 247650"/>
                <a:gd name="connsiteY4" fmla="*/ 113509 h 104775"/>
                <a:gd name="connsiteX5" fmla="*/ 247650 w 247650"/>
                <a:gd name="connsiteY5" fmla="*/ 72504 h 104775"/>
                <a:gd name="connsiteX6" fmla="*/ 233820 w 247650"/>
                <a:gd name="connsiteY6" fmla="*/ 48025 h 104775"/>
                <a:gd name="connsiteX7" fmla="*/ 154124 w 24765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04775">
                  <a:moveTo>
                    <a:pt x="93526" y="0"/>
                  </a:moveTo>
                  <a:lnTo>
                    <a:pt x="13830" y="48025"/>
                  </a:lnTo>
                  <a:cubicBezTo>
                    <a:pt x="5248" y="53197"/>
                    <a:pt x="0" y="62484"/>
                    <a:pt x="0" y="72504"/>
                  </a:cubicBezTo>
                  <a:lnTo>
                    <a:pt x="0" y="113509"/>
                  </a:lnTo>
                  <a:lnTo>
                    <a:pt x="247650" y="113509"/>
                  </a:lnTo>
                  <a:lnTo>
                    <a:pt x="247650" y="72504"/>
                  </a:lnTo>
                  <a:cubicBezTo>
                    <a:pt x="247650" y="62484"/>
                    <a:pt x="242402" y="53197"/>
                    <a:pt x="233820" y="48025"/>
                  </a:cubicBezTo>
                  <a:lnTo>
                    <a:pt x="154124" y="0"/>
                  </a:lnTo>
                </a:path>
              </a:pathLst>
            </a:custGeom>
            <a:noFill/>
            <a:ln w="19050" cap="flat">
              <a:solidFill>
                <a:schemeClr val="accent4"/>
              </a:solidFill>
              <a:prstDash val="solid"/>
              <a:miter/>
            </a:ln>
          </p:spPr>
          <p:txBody>
            <a:bodyPr rtlCol="0" anchor="ctr"/>
            <a:lstStyle/>
            <a:p>
              <a:endParaRPr lang="en-US"/>
            </a:p>
          </p:txBody>
        </p:sp>
        <p:sp>
          <p:nvSpPr>
            <p:cNvPr id="24" name="Forme libre : forme 23">
              <a:extLst>
                <a:ext uri="{FF2B5EF4-FFF2-40B4-BE49-F238E27FC236}">
                  <a16:creationId xmlns:a16="http://schemas.microsoft.com/office/drawing/2014/main" id="{87C6B8D5-4B3F-ACAC-A190-91FB3745EB3D}"/>
                </a:ext>
              </a:extLst>
            </p:cNvPr>
            <p:cNvSpPr/>
            <p:nvPr/>
          </p:nvSpPr>
          <p:spPr>
            <a:xfrm>
              <a:off x="3312285"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25" name="Forme libre : forme 24">
              <a:extLst>
                <a:ext uri="{FF2B5EF4-FFF2-40B4-BE49-F238E27FC236}">
                  <a16:creationId xmlns:a16="http://schemas.microsoft.com/office/drawing/2014/main" id="{53281803-9767-4E0A-F284-2ECBB6E774DA}"/>
                </a:ext>
              </a:extLst>
            </p:cNvPr>
            <p:cNvSpPr/>
            <p:nvPr/>
          </p:nvSpPr>
          <p:spPr>
            <a:xfrm>
              <a:off x="3312647"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A0BF2956-F237-861F-B283-96E20A0CCB20}"/>
                </a:ext>
              </a:extLst>
            </p:cNvPr>
            <p:cNvSpPr/>
            <p:nvPr/>
          </p:nvSpPr>
          <p:spPr>
            <a:xfrm>
              <a:off x="3274185" y="2800090"/>
              <a:ext cx="38100" cy="114300"/>
            </a:xfrm>
            <a:custGeom>
              <a:avLst/>
              <a:gdLst>
                <a:gd name="connsiteX0" fmla="*/ 38100 w 38100"/>
                <a:gd name="connsiteY0" fmla="*/ 0 h 114300"/>
                <a:gd name="connsiteX1" fmla="*/ 0 w 38100"/>
                <a:gd name="connsiteY1" fmla="*/ 95250 h 114300"/>
                <a:gd name="connsiteX2" fmla="*/ 38100 w 38100"/>
                <a:gd name="connsiteY2" fmla="*/ 123701 h 114300"/>
              </a:gdLst>
              <a:ahLst/>
              <a:cxnLst>
                <a:cxn ang="0">
                  <a:pos x="connsiteX0" y="connsiteY0"/>
                </a:cxn>
                <a:cxn ang="0">
                  <a:pos x="connsiteX1" y="connsiteY1"/>
                </a:cxn>
                <a:cxn ang="0">
                  <a:pos x="connsiteX2" y="connsiteY2"/>
                </a:cxn>
              </a:cxnLst>
              <a:rect l="l" t="t" r="r" b="b"/>
              <a:pathLst>
                <a:path w="38100" h="114300">
                  <a:moveTo>
                    <a:pt x="38100" y="0"/>
                  </a:moveTo>
                  <a:cubicBezTo>
                    <a:pt x="38100" y="0"/>
                    <a:pt x="38100" y="66675"/>
                    <a:pt x="0" y="95250"/>
                  </a:cubicBezTo>
                  <a:cubicBezTo>
                    <a:pt x="9525" y="114300"/>
                    <a:pt x="38100" y="123701"/>
                    <a:pt x="38100" y="123701"/>
                  </a:cubicBezTo>
                </a:path>
              </a:pathLst>
            </a:custGeom>
            <a:noFill/>
            <a:ln w="19050" cap="flat">
              <a:solidFill>
                <a:schemeClr val="accent4"/>
              </a:solid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9F1814E4-350B-DC67-1710-E143BFC4F15E}"/>
                </a:ext>
              </a:extLst>
            </p:cNvPr>
            <p:cNvSpPr/>
            <p:nvPr/>
          </p:nvSpPr>
          <p:spPr>
            <a:xfrm>
              <a:off x="3464685" y="2800090"/>
              <a:ext cx="38100" cy="114300"/>
            </a:xfrm>
            <a:custGeom>
              <a:avLst/>
              <a:gdLst>
                <a:gd name="connsiteX0" fmla="*/ 0 w 38100"/>
                <a:gd name="connsiteY0" fmla="*/ 0 h 114300"/>
                <a:gd name="connsiteX1" fmla="*/ 38100 w 38100"/>
                <a:gd name="connsiteY1" fmla="*/ 95250 h 114300"/>
                <a:gd name="connsiteX2" fmla="*/ 0 w 38100"/>
                <a:gd name="connsiteY2" fmla="*/ 123701 h 114300"/>
              </a:gdLst>
              <a:ahLst/>
              <a:cxnLst>
                <a:cxn ang="0">
                  <a:pos x="connsiteX0" y="connsiteY0"/>
                </a:cxn>
                <a:cxn ang="0">
                  <a:pos x="connsiteX1" y="connsiteY1"/>
                </a:cxn>
                <a:cxn ang="0">
                  <a:pos x="connsiteX2" y="connsiteY2"/>
                </a:cxn>
              </a:cxnLst>
              <a:rect l="l" t="t" r="r" b="b"/>
              <a:pathLst>
                <a:path w="38100" h="114300">
                  <a:moveTo>
                    <a:pt x="0" y="0"/>
                  </a:moveTo>
                  <a:cubicBezTo>
                    <a:pt x="0" y="0"/>
                    <a:pt x="0" y="66675"/>
                    <a:pt x="38100" y="95250"/>
                  </a:cubicBezTo>
                  <a:cubicBezTo>
                    <a:pt x="28575" y="114300"/>
                    <a:pt x="0" y="123701"/>
                    <a:pt x="0" y="123701"/>
                  </a:cubicBezTo>
                </a:path>
              </a:pathLst>
            </a:custGeom>
            <a:noFill/>
            <a:ln w="19050" cap="flat">
              <a:solidFill>
                <a:schemeClr val="accent4"/>
              </a:solidFill>
              <a:prstDash val="solid"/>
              <a:miter/>
            </a:ln>
          </p:spPr>
          <p:txBody>
            <a:bodyPr rtlCol="0" anchor="ctr"/>
            <a:lstStyle/>
            <a:p>
              <a:endParaRPr lang="en-US"/>
            </a:p>
          </p:txBody>
        </p:sp>
      </p:grpSp>
      <p:sp>
        <p:nvSpPr>
          <p:cNvPr id="29" name="Rectangle : coins arrondis 28">
            <a:extLst>
              <a:ext uri="{FF2B5EF4-FFF2-40B4-BE49-F238E27FC236}">
                <a16:creationId xmlns:a16="http://schemas.microsoft.com/office/drawing/2014/main" id="{E16E7A62-D817-FA90-5C94-426240BA6651}"/>
              </a:ext>
            </a:extLst>
          </p:cNvPr>
          <p:cNvSpPr/>
          <p:nvPr>
            <p:custDataLst>
              <p:tags r:id="rId1"/>
            </p:custDataLst>
          </p:nvPr>
        </p:nvSpPr>
        <p:spPr>
          <a:xfrm>
            <a:off x="584550" y="2162348"/>
            <a:ext cx="3172608" cy="721624"/>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E74C786-0D43-F9AA-B500-FFEBD365C9D8}"/>
              </a:ext>
            </a:extLst>
          </p:cNvPr>
          <p:cNvSpPr/>
          <p:nvPr/>
        </p:nvSpPr>
        <p:spPr>
          <a:xfrm>
            <a:off x="717168" y="2230340"/>
            <a:ext cx="2944791" cy="5293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Employees are managed by HR services. </a:t>
            </a:r>
          </a:p>
          <a:p>
            <a:pPr marL="0" algn="just" defTabSz="914400" rtl="0" eaLnBrk="1" latinLnBrk="0" hangingPunct="1"/>
            <a:r>
              <a:rPr lang="en-US" sz="1050">
                <a:solidFill>
                  <a:schemeClr val="dk1"/>
                </a:solidFill>
              </a:rPr>
              <a:t>Service providers are managed by managers</a:t>
            </a:r>
          </a:p>
        </p:txBody>
      </p:sp>
      <p:sp>
        <p:nvSpPr>
          <p:cNvPr id="31" name="Rectangle : coins arrondis 3">
            <a:extLst>
              <a:ext uri="{FF2B5EF4-FFF2-40B4-BE49-F238E27FC236}">
                <a16:creationId xmlns:a16="http://schemas.microsoft.com/office/drawing/2014/main" id="{581DA06C-BF3E-BD62-DE41-EB7618A1223D}"/>
              </a:ext>
            </a:extLst>
          </p:cNvPr>
          <p:cNvSpPr/>
          <p:nvPr/>
        </p:nvSpPr>
        <p:spPr>
          <a:xfrm>
            <a:off x="8971162" y="1824069"/>
            <a:ext cx="2184983" cy="276825"/>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Administrators (PAM)</a:t>
            </a:r>
          </a:p>
        </p:txBody>
      </p:sp>
      <p:grpSp>
        <p:nvGrpSpPr>
          <p:cNvPr id="32" name="Graphique 569">
            <a:extLst>
              <a:ext uri="{FF2B5EF4-FFF2-40B4-BE49-F238E27FC236}">
                <a16:creationId xmlns:a16="http://schemas.microsoft.com/office/drawing/2014/main" id="{47765BF4-860C-141D-F541-A207978FEA4E}"/>
              </a:ext>
            </a:extLst>
          </p:cNvPr>
          <p:cNvGrpSpPr/>
          <p:nvPr/>
        </p:nvGrpSpPr>
        <p:grpSpPr>
          <a:xfrm>
            <a:off x="9429831" y="1424395"/>
            <a:ext cx="360000" cy="360000"/>
            <a:chOff x="1084578" y="2731816"/>
            <a:chExt cx="276226" cy="257182"/>
          </a:xfrm>
        </p:grpSpPr>
        <p:sp>
          <p:nvSpPr>
            <p:cNvPr id="33" name="Forme libre : forme 32">
              <a:extLst>
                <a:ext uri="{FF2B5EF4-FFF2-40B4-BE49-F238E27FC236}">
                  <a16:creationId xmlns:a16="http://schemas.microsoft.com/office/drawing/2014/main" id="{02B8F911-CB19-EC11-0B1F-5EC2FD03727D}"/>
                </a:ext>
              </a:extLst>
            </p:cNvPr>
            <p:cNvSpPr/>
            <p:nvPr/>
          </p:nvSpPr>
          <p:spPr>
            <a:xfrm>
              <a:off x="1122679" y="2865174"/>
              <a:ext cx="142875" cy="66675"/>
            </a:xfrm>
            <a:custGeom>
              <a:avLst/>
              <a:gdLst>
                <a:gd name="connsiteX0" fmla="*/ 0 w 142875"/>
                <a:gd name="connsiteY0" fmla="*/ 0 h 66675"/>
                <a:gd name="connsiteX1" fmla="*/ 9525 w 142875"/>
                <a:gd name="connsiteY1" fmla="*/ 0 h 66675"/>
                <a:gd name="connsiteX2" fmla="*/ 66675 w 142875"/>
                <a:gd name="connsiteY2" fmla="*/ 28575 h 66675"/>
                <a:gd name="connsiteX3" fmla="*/ 104775 w 142875"/>
                <a:gd name="connsiteY3" fmla="*/ 28575 h 66675"/>
                <a:gd name="connsiteX4" fmla="*/ 142875 w 142875"/>
                <a:gd name="connsiteY4" fmla="*/ 66675 h 66675"/>
                <a:gd name="connsiteX5" fmla="*/ 57150 w 142875"/>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66675">
                  <a:moveTo>
                    <a:pt x="0" y="0"/>
                  </a:moveTo>
                  <a:lnTo>
                    <a:pt x="9525" y="0"/>
                  </a:lnTo>
                  <a:cubicBezTo>
                    <a:pt x="32001" y="42"/>
                    <a:pt x="53156" y="10620"/>
                    <a:pt x="66675" y="28575"/>
                  </a:cubicBezTo>
                  <a:lnTo>
                    <a:pt x="104775" y="28575"/>
                  </a:lnTo>
                  <a:cubicBezTo>
                    <a:pt x="125217" y="29958"/>
                    <a:pt x="141492" y="46233"/>
                    <a:pt x="142875" y="66675"/>
                  </a:cubicBezTo>
                  <a:lnTo>
                    <a:pt x="57150" y="66675"/>
                  </a:lnTo>
                </a:path>
              </a:pathLst>
            </a:custGeom>
            <a:noFill/>
            <a:ln w="19050" cap="flat">
              <a:solidFill>
                <a:srgbClr val="6496BB"/>
              </a:solid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C08FFD74-4DE9-62A8-D96F-A20BC955DEB4}"/>
                </a:ext>
              </a:extLst>
            </p:cNvPr>
            <p:cNvSpPr/>
            <p:nvPr/>
          </p:nvSpPr>
          <p:spPr>
            <a:xfrm>
              <a:off x="1122679" y="2912798"/>
              <a:ext cx="238125" cy="76200"/>
            </a:xfrm>
            <a:custGeom>
              <a:avLst/>
              <a:gdLst>
                <a:gd name="connsiteX0" fmla="*/ 137160 w 238125"/>
                <a:gd name="connsiteY0" fmla="*/ 0 h 76200"/>
                <a:gd name="connsiteX1" fmla="*/ 200025 w 238125"/>
                <a:gd name="connsiteY1" fmla="*/ 0 h 76200"/>
                <a:gd name="connsiteX2" fmla="*/ 238125 w 238125"/>
                <a:gd name="connsiteY2" fmla="*/ 19050 h 76200"/>
                <a:gd name="connsiteX3" fmla="*/ 101918 w 238125"/>
                <a:gd name="connsiteY3" fmla="*/ 74295 h 76200"/>
                <a:gd name="connsiteX4" fmla="*/ 68580 w 238125"/>
                <a:gd name="connsiteY4" fmla="*/ 73342 h 76200"/>
                <a:gd name="connsiteX5" fmla="*/ 0 w 238125"/>
                <a:gd name="connsiteY5" fmla="*/ 3810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5" h="76200">
                  <a:moveTo>
                    <a:pt x="137160" y="0"/>
                  </a:moveTo>
                  <a:lnTo>
                    <a:pt x="200025" y="0"/>
                  </a:lnTo>
                  <a:cubicBezTo>
                    <a:pt x="234315" y="0"/>
                    <a:pt x="238125" y="19050"/>
                    <a:pt x="238125" y="19050"/>
                  </a:cubicBezTo>
                  <a:lnTo>
                    <a:pt x="101918" y="74295"/>
                  </a:lnTo>
                  <a:cubicBezTo>
                    <a:pt x="91178" y="78750"/>
                    <a:pt x="79047" y="78404"/>
                    <a:pt x="68580" y="73342"/>
                  </a:cubicBezTo>
                  <a:lnTo>
                    <a:pt x="0" y="38100"/>
                  </a:lnTo>
                </a:path>
              </a:pathLst>
            </a:custGeom>
            <a:noFill/>
            <a:ln w="19050" cap="flat">
              <a:solidFill>
                <a:srgbClr val="6496BB"/>
              </a:solid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98115440-B9FD-C4FE-F935-2B56F4E3F198}"/>
                </a:ext>
              </a:extLst>
            </p:cNvPr>
            <p:cNvSpPr/>
            <p:nvPr/>
          </p:nvSpPr>
          <p:spPr>
            <a:xfrm>
              <a:off x="1084578" y="2846122"/>
              <a:ext cx="38100" cy="123825"/>
            </a:xfrm>
            <a:custGeom>
              <a:avLst/>
              <a:gdLst>
                <a:gd name="connsiteX0" fmla="*/ 0 w 38100"/>
                <a:gd name="connsiteY0" fmla="*/ 0 h 123825"/>
                <a:gd name="connsiteX1" fmla="*/ 38100 w 38100"/>
                <a:gd name="connsiteY1" fmla="*/ 0 h 123825"/>
                <a:gd name="connsiteX2" fmla="*/ 38100 w 38100"/>
                <a:gd name="connsiteY2" fmla="*/ 123825 h 123825"/>
                <a:gd name="connsiteX3" fmla="*/ 0 w 38100"/>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38100" h="123825">
                  <a:moveTo>
                    <a:pt x="0" y="0"/>
                  </a:moveTo>
                  <a:lnTo>
                    <a:pt x="38100" y="0"/>
                  </a:lnTo>
                  <a:lnTo>
                    <a:pt x="38100" y="123825"/>
                  </a:lnTo>
                  <a:lnTo>
                    <a:pt x="0" y="123825"/>
                  </a:lnTo>
                  <a:close/>
                </a:path>
              </a:pathLst>
            </a:custGeom>
            <a:noFill/>
            <a:ln w="19050" cap="flat">
              <a:solidFill>
                <a:srgbClr val="6496BB"/>
              </a:solid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188F8F91-3274-DA56-674E-32C79D743949}"/>
                </a:ext>
              </a:extLst>
            </p:cNvPr>
            <p:cNvSpPr/>
            <p:nvPr/>
          </p:nvSpPr>
          <p:spPr>
            <a:xfrm>
              <a:off x="1170303" y="2769922"/>
              <a:ext cx="19050" cy="19050"/>
            </a:xfrm>
            <a:custGeom>
              <a:avLst/>
              <a:gdLst>
                <a:gd name="connsiteX0" fmla="*/ 19050 w 19050"/>
                <a:gd name="connsiteY0" fmla="*/ 9525 h 19050"/>
                <a:gd name="connsiteX1" fmla="*/ 9525 w 19050"/>
                <a:gd name="connsiteY1" fmla="*/ 19050 h 19050"/>
                <a:gd name="connsiteX2" fmla="*/ 0 w 19050"/>
                <a:gd name="connsiteY2" fmla="*/ 9525 h 19050"/>
                <a:gd name="connsiteX3" fmla="*/ 9525 w 19050"/>
                <a:gd name="connsiteY3" fmla="*/ 0 h 19050"/>
                <a:gd name="connsiteX4" fmla="*/ 19050 w 19050"/>
                <a:gd name="connsiteY4" fmla="*/ 9525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9050" y="9525"/>
                  </a:moveTo>
                  <a:cubicBezTo>
                    <a:pt x="19050" y="14786"/>
                    <a:pt x="14786" y="19050"/>
                    <a:pt x="9525" y="19050"/>
                  </a:cubicBezTo>
                  <a:cubicBezTo>
                    <a:pt x="4264" y="19050"/>
                    <a:pt x="0" y="14786"/>
                    <a:pt x="0" y="9525"/>
                  </a:cubicBezTo>
                  <a:cubicBezTo>
                    <a:pt x="0" y="4264"/>
                    <a:pt x="4264" y="0"/>
                    <a:pt x="9525" y="0"/>
                  </a:cubicBezTo>
                  <a:cubicBezTo>
                    <a:pt x="14786" y="0"/>
                    <a:pt x="19050" y="4264"/>
                    <a:pt x="19050" y="9525"/>
                  </a:cubicBezTo>
                  <a:close/>
                </a:path>
              </a:pathLst>
            </a:custGeom>
            <a:solidFill>
              <a:schemeClr val="accent1"/>
            </a:solidFill>
            <a:ln w="19050" cap="flat">
              <a:solidFill>
                <a:srgbClr val="6496BB"/>
              </a:solid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08DC61FC-06E3-575D-5ABF-CA6FD9AC9913}"/>
                </a:ext>
              </a:extLst>
            </p:cNvPr>
            <p:cNvSpPr/>
            <p:nvPr/>
          </p:nvSpPr>
          <p:spPr>
            <a:xfrm>
              <a:off x="1141672" y="2731816"/>
              <a:ext cx="190500" cy="95250"/>
            </a:xfrm>
            <a:custGeom>
              <a:avLst/>
              <a:gdLst>
                <a:gd name="connsiteX0" fmla="*/ 91286 w 190500"/>
                <a:gd name="connsiteY0" fmla="*/ 28587 h 95250"/>
                <a:gd name="connsiteX1" fmla="*/ 28587 w 190500"/>
                <a:gd name="connsiteY1" fmla="*/ 3988 h 95250"/>
                <a:gd name="connsiteX2" fmla="*/ 3988 w 190500"/>
                <a:gd name="connsiteY2" fmla="*/ 66687 h 95250"/>
                <a:gd name="connsiteX3" fmla="*/ 66687 w 190500"/>
                <a:gd name="connsiteY3" fmla="*/ 91286 h 95250"/>
                <a:gd name="connsiteX4" fmla="*/ 91286 w 190500"/>
                <a:gd name="connsiteY4" fmla="*/ 66687 h 95250"/>
                <a:gd name="connsiteX5" fmla="*/ 123881 w 190500"/>
                <a:gd name="connsiteY5" fmla="*/ 66687 h 95250"/>
                <a:gd name="connsiteX6" fmla="*/ 138168 w 190500"/>
                <a:gd name="connsiteY6" fmla="*/ 76212 h 95250"/>
                <a:gd name="connsiteX7" fmla="*/ 152456 w 190500"/>
                <a:gd name="connsiteY7" fmla="*/ 66687 h 95250"/>
                <a:gd name="connsiteX8" fmla="*/ 181031 w 190500"/>
                <a:gd name="connsiteY8" fmla="*/ 66687 h 95250"/>
                <a:gd name="connsiteX9" fmla="*/ 190556 w 190500"/>
                <a:gd name="connsiteY9" fmla="*/ 28587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0500" h="95250">
                  <a:moveTo>
                    <a:pt x="91286" y="28587"/>
                  </a:moveTo>
                  <a:cubicBezTo>
                    <a:pt x="80765" y="4480"/>
                    <a:pt x="52694" y="-6533"/>
                    <a:pt x="28587" y="3988"/>
                  </a:cubicBezTo>
                  <a:cubicBezTo>
                    <a:pt x="4480" y="14509"/>
                    <a:pt x="-6533" y="42580"/>
                    <a:pt x="3988" y="66687"/>
                  </a:cubicBezTo>
                  <a:cubicBezTo>
                    <a:pt x="14509" y="90794"/>
                    <a:pt x="42580" y="101807"/>
                    <a:pt x="66687" y="91286"/>
                  </a:cubicBezTo>
                  <a:cubicBezTo>
                    <a:pt x="77695" y="86482"/>
                    <a:pt x="86482" y="77695"/>
                    <a:pt x="91286" y="66687"/>
                  </a:cubicBezTo>
                  <a:lnTo>
                    <a:pt x="123881" y="66687"/>
                  </a:lnTo>
                  <a:lnTo>
                    <a:pt x="138168" y="76212"/>
                  </a:lnTo>
                  <a:lnTo>
                    <a:pt x="152456" y="66687"/>
                  </a:lnTo>
                  <a:lnTo>
                    <a:pt x="181031" y="66687"/>
                  </a:lnTo>
                  <a:lnTo>
                    <a:pt x="190556" y="28587"/>
                  </a:lnTo>
                  <a:close/>
                </a:path>
              </a:pathLst>
            </a:custGeom>
            <a:noFill/>
            <a:ln w="19050" cap="sq">
              <a:solidFill>
                <a:srgbClr val="6496BB"/>
              </a:solidFill>
              <a:prstDash val="solid"/>
              <a:miter/>
            </a:ln>
          </p:spPr>
          <p:txBody>
            <a:bodyPr rtlCol="0" anchor="ctr"/>
            <a:lstStyle/>
            <a:p>
              <a:endParaRPr lang="en-US"/>
            </a:p>
          </p:txBody>
        </p:sp>
      </p:grpSp>
      <p:sp>
        <p:nvSpPr>
          <p:cNvPr id="38" name="Rectangle : coins arrondis 37">
            <a:extLst>
              <a:ext uri="{FF2B5EF4-FFF2-40B4-BE49-F238E27FC236}">
                <a16:creationId xmlns:a16="http://schemas.microsoft.com/office/drawing/2014/main" id="{CBF099EA-C5DC-84FF-0213-A2F702B89840}"/>
              </a:ext>
            </a:extLst>
          </p:cNvPr>
          <p:cNvSpPr/>
          <p:nvPr>
            <p:custDataLst>
              <p:tags r:id="rId2"/>
            </p:custDataLst>
          </p:nvPr>
        </p:nvSpPr>
        <p:spPr>
          <a:xfrm>
            <a:off x="8221454" y="2091248"/>
            <a:ext cx="3171600" cy="723600"/>
          </a:xfrm>
          <a:prstGeom prst="roundRect">
            <a:avLst>
              <a:gd name="adj" fmla="val 9166"/>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1B446A-1F3E-CA23-6FFB-FF52CA3E9574}"/>
              </a:ext>
            </a:extLst>
          </p:cNvPr>
          <p:cNvSpPr/>
          <p:nvPr/>
        </p:nvSpPr>
        <p:spPr>
          <a:xfrm>
            <a:off x="8291843" y="2159240"/>
            <a:ext cx="2831963" cy="555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Users who by their privileges possess extensive accesses in the IS and require  additional protections.</a:t>
            </a:r>
          </a:p>
        </p:txBody>
      </p:sp>
      <p:sp>
        <p:nvSpPr>
          <p:cNvPr id="40" name="Rectangle : coins arrondis 39">
            <a:extLst>
              <a:ext uri="{FF2B5EF4-FFF2-40B4-BE49-F238E27FC236}">
                <a16:creationId xmlns:a16="http://schemas.microsoft.com/office/drawing/2014/main" id="{DF2EA53D-ABD3-0213-8681-9F12099D641D}"/>
              </a:ext>
            </a:extLst>
          </p:cNvPr>
          <p:cNvSpPr/>
          <p:nvPr>
            <p:custDataLst>
              <p:tags r:id="rId3"/>
            </p:custDataLst>
          </p:nvPr>
        </p:nvSpPr>
        <p:spPr>
          <a:xfrm>
            <a:off x="1601139" y="5954534"/>
            <a:ext cx="3171600" cy="75600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aphique 175">
            <a:extLst>
              <a:ext uri="{FF2B5EF4-FFF2-40B4-BE49-F238E27FC236}">
                <a16:creationId xmlns:a16="http://schemas.microsoft.com/office/drawing/2014/main" id="{3A1A6AEE-EBA1-6CFE-2C15-00C69BA492BF}"/>
              </a:ext>
            </a:extLst>
          </p:cNvPr>
          <p:cNvGrpSpPr/>
          <p:nvPr/>
        </p:nvGrpSpPr>
        <p:grpSpPr>
          <a:xfrm>
            <a:off x="2910966" y="5269282"/>
            <a:ext cx="360000" cy="288000"/>
            <a:chOff x="3245610" y="1820342"/>
            <a:chExt cx="285750" cy="247650"/>
          </a:xfrm>
        </p:grpSpPr>
        <p:sp>
          <p:nvSpPr>
            <p:cNvPr id="42" name="Forme libre : forme 41">
              <a:extLst>
                <a:ext uri="{FF2B5EF4-FFF2-40B4-BE49-F238E27FC236}">
                  <a16:creationId xmlns:a16="http://schemas.microsoft.com/office/drawing/2014/main" id="{07094FB9-BEC8-02EB-4F67-D635F7596E02}"/>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sp>
          <p:nvSpPr>
            <p:cNvPr id="43" name="Forme libre : forme 42">
              <a:extLst>
                <a:ext uri="{FF2B5EF4-FFF2-40B4-BE49-F238E27FC236}">
                  <a16:creationId xmlns:a16="http://schemas.microsoft.com/office/drawing/2014/main" id="{5AC74460-8920-F0EC-02DC-52BE54488C5B}"/>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19050" cap="sq">
              <a:solidFill>
                <a:srgbClr val="6496BB"/>
              </a:solidFill>
              <a:prstDash val="solid"/>
              <a:miter/>
            </a:ln>
          </p:spPr>
          <p:txBody>
            <a:bodyPr rtlCol="0" anchor="ctr"/>
            <a:lstStyle/>
            <a:p>
              <a:endParaRPr lang="en-US"/>
            </a:p>
          </p:txBody>
        </p:sp>
        <p:sp>
          <p:nvSpPr>
            <p:cNvPr id="44" name="Forme libre : forme 43">
              <a:extLst>
                <a:ext uri="{FF2B5EF4-FFF2-40B4-BE49-F238E27FC236}">
                  <a16:creationId xmlns:a16="http://schemas.microsoft.com/office/drawing/2014/main" id="{AAF4C886-CAAE-C2A1-05BA-8C8B7F05FBB1}"/>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19050" cap="sq">
              <a:solidFill>
                <a:srgbClr val="6496BB"/>
              </a:solidFill>
              <a:prstDash val="solid"/>
              <a:miter/>
            </a:ln>
          </p:spPr>
          <p:txBody>
            <a:bodyPr rtlCol="0" anchor="ctr"/>
            <a:lstStyle/>
            <a:p>
              <a:endParaRPr lang="en-US"/>
            </a:p>
          </p:txBody>
        </p:sp>
        <p:sp>
          <p:nvSpPr>
            <p:cNvPr id="45" name="Forme libre : forme 44">
              <a:extLst>
                <a:ext uri="{FF2B5EF4-FFF2-40B4-BE49-F238E27FC236}">
                  <a16:creationId xmlns:a16="http://schemas.microsoft.com/office/drawing/2014/main" id="{8D2CC81A-07BF-E07F-4C24-55E908EBD0FC}"/>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grpSp>
      <p:grpSp>
        <p:nvGrpSpPr>
          <p:cNvPr id="46" name="Graphique 116">
            <a:extLst>
              <a:ext uri="{FF2B5EF4-FFF2-40B4-BE49-F238E27FC236}">
                <a16:creationId xmlns:a16="http://schemas.microsoft.com/office/drawing/2014/main" id="{FEB22147-1D2F-8528-1AD1-45587CCE9A39}"/>
              </a:ext>
            </a:extLst>
          </p:cNvPr>
          <p:cNvGrpSpPr/>
          <p:nvPr/>
        </p:nvGrpSpPr>
        <p:grpSpPr>
          <a:xfrm>
            <a:off x="2395411" y="5220359"/>
            <a:ext cx="360000" cy="360000"/>
            <a:chOff x="7575918" y="3665538"/>
            <a:chExt cx="285750" cy="257175"/>
          </a:xfrm>
        </p:grpSpPr>
        <p:sp>
          <p:nvSpPr>
            <p:cNvPr id="47" name="Forme libre : forme 46">
              <a:extLst>
                <a:ext uri="{FF2B5EF4-FFF2-40B4-BE49-F238E27FC236}">
                  <a16:creationId xmlns:a16="http://schemas.microsoft.com/office/drawing/2014/main" id="{F27C7368-1388-8C91-790A-C4F8C5ADE826}"/>
                </a:ext>
              </a:extLst>
            </p:cNvPr>
            <p:cNvSpPr/>
            <p:nvPr/>
          </p:nvSpPr>
          <p:spPr>
            <a:xfrm>
              <a:off x="7709268" y="3713163"/>
              <a:ext cx="152400" cy="171450"/>
            </a:xfrm>
            <a:custGeom>
              <a:avLst/>
              <a:gdLst>
                <a:gd name="connsiteX0" fmla="*/ 104775 w 152400"/>
                <a:gd name="connsiteY0" fmla="*/ 171450 h 171450"/>
                <a:gd name="connsiteX1" fmla="*/ 152400 w 152400"/>
                <a:gd name="connsiteY1" fmla="*/ 171450 h 171450"/>
                <a:gd name="connsiteX2" fmla="*/ 152400 w 152400"/>
                <a:gd name="connsiteY2" fmla="*/ 95250 h 171450"/>
                <a:gd name="connsiteX3" fmla="*/ 114300 w 152400"/>
                <a:gd name="connsiteY3" fmla="*/ 76200 h 171450"/>
                <a:gd name="connsiteX4" fmla="*/ 85725 w 152400"/>
                <a:gd name="connsiteY4" fmla="*/ 0 h 171450"/>
                <a:gd name="connsiteX5" fmla="*/ 0 w 152400"/>
                <a:gd name="connsiteY5" fmla="*/ 0 h 171450"/>
                <a:gd name="connsiteX6" fmla="*/ 0 w 152400"/>
                <a:gd name="connsiteY6" fmla="*/ 171450 h 171450"/>
                <a:gd name="connsiteX7" fmla="*/ 28575 w 152400"/>
                <a:gd name="connsiteY7" fmla="*/ 1714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400" h="171450">
                  <a:moveTo>
                    <a:pt x="104775" y="171450"/>
                  </a:moveTo>
                  <a:lnTo>
                    <a:pt x="152400" y="171450"/>
                  </a:lnTo>
                  <a:lnTo>
                    <a:pt x="152400" y="95250"/>
                  </a:lnTo>
                  <a:lnTo>
                    <a:pt x="114300" y="76200"/>
                  </a:lnTo>
                  <a:lnTo>
                    <a:pt x="85725" y="0"/>
                  </a:lnTo>
                  <a:lnTo>
                    <a:pt x="0" y="0"/>
                  </a:lnTo>
                  <a:lnTo>
                    <a:pt x="0" y="171450"/>
                  </a:lnTo>
                  <a:lnTo>
                    <a:pt x="28575" y="171450"/>
                  </a:lnTo>
                </a:path>
              </a:pathLst>
            </a:custGeom>
            <a:noFill/>
            <a:ln w="19050" cap="flat">
              <a:solidFill>
                <a:srgbClr val="6496BB"/>
              </a:solidFill>
              <a:prstDash val="solid"/>
              <a:miter/>
            </a:ln>
          </p:spPr>
          <p:txBody>
            <a:bodyPr rtlCol="0" anchor="ctr"/>
            <a:lstStyle/>
            <a:p>
              <a:endParaRPr lang="en-US"/>
            </a:p>
          </p:txBody>
        </p:sp>
        <p:sp>
          <p:nvSpPr>
            <p:cNvPr id="48" name="Forme libre : forme 47">
              <a:extLst>
                <a:ext uri="{FF2B5EF4-FFF2-40B4-BE49-F238E27FC236}">
                  <a16:creationId xmlns:a16="http://schemas.microsoft.com/office/drawing/2014/main" id="{7E7417FB-2365-3C7E-55AC-8BEBE7DAC9E2}"/>
                </a:ext>
              </a:extLst>
            </p:cNvPr>
            <p:cNvSpPr/>
            <p:nvPr/>
          </p:nvSpPr>
          <p:spPr>
            <a:xfrm>
              <a:off x="7737843" y="384651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6496BB"/>
              </a:solidFill>
              <a:prstDash val="solid"/>
              <a:miter/>
            </a:ln>
          </p:spPr>
          <p:txBody>
            <a:bodyPr rtlCol="0" anchor="ctr"/>
            <a:lstStyle/>
            <a:p>
              <a:endParaRPr lang="en-US"/>
            </a:p>
          </p:txBody>
        </p:sp>
        <p:sp>
          <p:nvSpPr>
            <p:cNvPr id="49" name="Forme libre : forme 48">
              <a:extLst>
                <a:ext uri="{FF2B5EF4-FFF2-40B4-BE49-F238E27FC236}">
                  <a16:creationId xmlns:a16="http://schemas.microsoft.com/office/drawing/2014/main" id="{10566D6C-9D75-9A62-CF6B-6900C8B4B11B}"/>
                </a:ext>
              </a:extLst>
            </p:cNvPr>
            <p:cNvSpPr/>
            <p:nvPr/>
          </p:nvSpPr>
          <p:spPr>
            <a:xfrm>
              <a:off x="7747368" y="3751263"/>
              <a:ext cx="38100" cy="38100"/>
            </a:xfrm>
            <a:custGeom>
              <a:avLst/>
              <a:gdLst>
                <a:gd name="connsiteX0" fmla="*/ 0 w 38100"/>
                <a:gd name="connsiteY0" fmla="*/ 0 h 38100"/>
                <a:gd name="connsiteX1" fmla="*/ 0 w 38100"/>
                <a:gd name="connsiteY1" fmla="*/ 38100 h 38100"/>
                <a:gd name="connsiteX2" fmla="*/ 38100 w 38100"/>
                <a:gd name="connsiteY2" fmla="*/ 38100 h 38100"/>
              </a:gdLst>
              <a:ahLst/>
              <a:cxnLst>
                <a:cxn ang="0">
                  <a:pos x="connsiteX0" y="connsiteY0"/>
                </a:cxn>
                <a:cxn ang="0">
                  <a:pos x="connsiteX1" y="connsiteY1"/>
                </a:cxn>
                <a:cxn ang="0">
                  <a:pos x="connsiteX2" y="connsiteY2"/>
                </a:cxn>
              </a:cxnLst>
              <a:rect l="l" t="t" r="r" b="b"/>
              <a:pathLst>
                <a:path w="38100" h="38100">
                  <a:moveTo>
                    <a:pt x="0" y="0"/>
                  </a:moveTo>
                  <a:lnTo>
                    <a:pt x="0" y="38100"/>
                  </a:lnTo>
                  <a:lnTo>
                    <a:pt x="38100" y="38100"/>
                  </a:lnTo>
                </a:path>
              </a:pathLst>
            </a:custGeom>
            <a:noFill/>
            <a:ln w="19050" cap="sq">
              <a:solidFill>
                <a:srgbClr val="6496BB"/>
              </a:solidFill>
              <a:prstDash val="solid"/>
              <a:miter/>
            </a:ln>
          </p:spPr>
          <p:txBody>
            <a:bodyPr rtlCol="0" anchor="ctr"/>
            <a:lstStyle/>
            <a:p>
              <a:endParaRPr lang="en-US"/>
            </a:p>
          </p:txBody>
        </p:sp>
        <p:sp>
          <p:nvSpPr>
            <p:cNvPr id="50" name="Forme libre : forme 49">
              <a:extLst>
                <a:ext uri="{FF2B5EF4-FFF2-40B4-BE49-F238E27FC236}">
                  <a16:creationId xmlns:a16="http://schemas.microsoft.com/office/drawing/2014/main" id="{B30B9CA4-B912-19FD-72C6-6F4BDF7C4374}"/>
                </a:ext>
              </a:extLst>
            </p:cNvPr>
            <p:cNvSpPr/>
            <p:nvPr/>
          </p:nvSpPr>
          <p:spPr>
            <a:xfrm>
              <a:off x="7594968" y="3713163"/>
              <a:ext cx="76200" cy="9525"/>
            </a:xfrm>
            <a:custGeom>
              <a:avLst/>
              <a:gdLst>
                <a:gd name="connsiteX0" fmla="*/ 76200 w 76200"/>
                <a:gd name="connsiteY0" fmla="*/ 0 h 0"/>
                <a:gd name="connsiteX1" fmla="*/ 0 w 76200"/>
                <a:gd name="connsiteY1" fmla="*/ 0 h 0"/>
              </a:gdLst>
              <a:ahLst/>
              <a:cxnLst>
                <a:cxn ang="0">
                  <a:pos x="connsiteX0" y="connsiteY0"/>
                </a:cxn>
                <a:cxn ang="0">
                  <a:pos x="connsiteX1" y="connsiteY1"/>
                </a:cxn>
              </a:cxnLst>
              <a:rect l="l" t="t" r="r" b="b"/>
              <a:pathLst>
                <a:path w="76200">
                  <a:moveTo>
                    <a:pt x="76200" y="0"/>
                  </a:moveTo>
                  <a:lnTo>
                    <a:pt x="0" y="0"/>
                  </a:lnTo>
                </a:path>
              </a:pathLst>
            </a:custGeom>
            <a:ln w="19050" cap="sq">
              <a:solidFill>
                <a:srgbClr val="6496BB"/>
              </a:solidFill>
              <a:prstDash val="solid"/>
              <a:miter/>
            </a:ln>
          </p:spPr>
          <p:txBody>
            <a:bodyPr rtlCol="0" anchor="ctr"/>
            <a:lstStyle/>
            <a:p>
              <a:endParaRPr lang="en-US"/>
            </a:p>
          </p:txBody>
        </p:sp>
        <p:sp>
          <p:nvSpPr>
            <p:cNvPr id="51" name="Forme libre : forme 50">
              <a:extLst>
                <a:ext uri="{FF2B5EF4-FFF2-40B4-BE49-F238E27FC236}">
                  <a16:creationId xmlns:a16="http://schemas.microsoft.com/office/drawing/2014/main" id="{7918F008-2344-9C26-4E72-D0FC88EED544}"/>
                </a:ext>
              </a:extLst>
            </p:cNvPr>
            <p:cNvSpPr/>
            <p:nvPr/>
          </p:nvSpPr>
          <p:spPr>
            <a:xfrm>
              <a:off x="7575918" y="3665538"/>
              <a:ext cx="133350" cy="47625"/>
            </a:xfrm>
            <a:custGeom>
              <a:avLst/>
              <a:gdLst>
                <a:gd name="connsiteX0" fmla="*/ 0 w 133350"/>
                <a:gd name="connsiteY0" fmla="*/ 0 h 47625"/>
                <a:gd name="connsiteX1" fmla="*/ 133350 w 133350"/>
                <a:gd name="connsiteY1" fmla="*/ 0 h 47625"/>
                <a:gd name="connsiteX2" fmla="*/ 133350 w 133350"/>
                <a:gd name="connsiteY2" fmla="*/ 47625 h 47625"/>
              </a:gdLst>
              <a:ahLst/>
              <a:cxnLst>
                <a:cxn ang="0">
                  <a:pos x="connsiteX0" y="connsiteY0"/>
                </a:cxn>
                <a:cxn ang="0">
                  <a:pos x="connsiteX1" y="connsiteY1"/>
                </a:cxn>
                <a:cxn ang="0">
                  <a:pos x="connsiteX2" y="connsiteY2"/>
                </a:cxn>
              </a:cxnLst>
              <a:rect l="l" t="t" r="r" b="b"/>
              <a:pathLst>
                <a:path w="133350" h="47625">
                  <a:moveTo>
                    <a:pt x="0" y="0"/>
                  </a:moveTo>
                  <a:lnTo>
                    <a:pt x="133350" y="0"/>
                  </a:lnTo>
                  <a:lnTo>
                    <a:pt x="133350" y="47625"/>
                  </a:lnTo>
                </a:path>
              </a:pathLst>
            </a:custGeom>
            <a:noFill/>
            <a:ln w="19050" cap="sq">
              <a:solidFill>
                <a:srgbClr val="6496BB"/>
              </a:solidFill>
              <a:prstDash val="solid"/>
              <a:miter/>
            </a:ln>
          </p:spPr>
          <p:txBody>
            <a:bodyPr rtlCol="0" anchor="ctr"/>
            <a:lstStyle/>
            <a:p>
              <a:endParaRPr lang="en-US"/>
            </a:p>
          </p:txBody>
        </p:sp>
        <p:sp>
          <p:nvSpPr>
            <p:cNvPr id="52" name="Forme libre : forme 51">
              <a:extLst>
                <a:ext uri="{FF2B5EF4-FFF2-40B4-BE49-F238E27FC236}">
                  <a16:creationId xmlns:a16="http://schemas.microsoft.com/office/drawing/2014/main" id="{0806744E-E84A-722A-59B0-22115E87A236}"/>
                </a:ext>
              </a:extLst>
            </p:cNvPr>
            <p:cNvSpPr/>
            <p:nvPr/>
          </p:nvSpPr>
          <p:spPr>
            <a:xfrm>
              <a:off x="7614018" y="3760788"/>
              <a:ext cx="57150" cy="9525"/>
            </a:xfrm>
            <a:custGeom>
              <a:avLst/>
              <a:gdLst>
                <a:gd name="connsiteX0" fmla="*/ 57150 w 57150"/>
                <a:gd name="connsiteY0" fmla="*/ 0 h 0"/>
                <a:gd name="connsiteX1" fmla="*/ 0 w 57150"/>
                <a:gd name="connsiteY1" fmla="*/ 0 h 0"/>
              </a:gdLst>
              <a:ahLst/>
              <a:cxnLst>
                <a:cxn ang="0">
                  <a:pos x="connsiteX0" y="connsiteY0"/>
                </a:cxn>
                <a:cxn ang="0">
                  <a:pos x="connsiteX1" y="connsiteY1"/>
                </a:cxn>
              </a:cxnLst>
              <a:rect l="l" t="t" r="r" b="b"/>
              <a:pathLst>
                <a:path w="57150">
                  <a:moveTo>
                    <a:pt x="57150" y="0"/>
                  </a:moveTo>
                  <a:lnTo>
                    <a:pt x="0" y="0"/>
                  </a:lnTo>
                </a:path>
              </a:pathLst>
            </a:custGeom>
            <a:ln w="19050" cap="sq">
              <a:solidFill>
                <a:srgbClr val="6496BB"/>
              </a:solidFill>
              <a:prstDash val="solid"/>
              <a:miter/>
            </a:ln>
          </p:spPr>
          <p:txBody>
            <a:bodyPr rtlCol="0" anchor="ctr"/>
            <a:lstStyle/>
            <a:p>
              <a:endParaRPr lang="en-US"/>
            </a:p>
          </p:txBody>
        </p:sp>
        <p:sp>
          <p:nvSpPr>
            <p:cNvPr id="53" name="Forme libre : forme 52">
              <a:extLst>
                <a:ext uri="{FF2B5EF4-FFF2-40B4-BE49-F238E27FC236}">
                  <a16:creationId xmlns:a16="http://schemas.microsoft.com/office/drawing/2014/main" id="{689625D8-00C3-7450-34DF-8A1B26A347EF}"/>
                </a:ext>
              </a:extLst>
            </p:cNvPr>
            <p:cNvSpPr/>
            <p:nvPr/>
          </p:nvSpPr>
          <p:spPr>
            <a:xfrm>
              <a:off x="7633068" y="3808413"/>
              <a:ext cx="38100" cy="9525"/>
            </a:xfrm>
            <a:custGeom>
              <a:avLst/>
              <a:gdLst>
                <a:gd name="connsiteX0" fmla="*/ 38100 w 38100"/>
                <a:gd name="connsiteY0" fmla="*/ 0 h 0"/>
                <a:gd name="connsiteX1" fmla="*/ 0 w 38100"/>
                <a:gd name="connsiteY1" fmla="*/ 0 h 0"/>
              </a:gdLst>
              <a:ahLst/>
              <a:cxnLst>
                <a:cxn ang="0">
                  <a:pos x="connsiteX0" y="connsiteY0"/>
                </a:cxn>
                <a:cxn ang="0">
                  <a:pos x="connsiteX1" y="connsiteY1"/>
                </a:cxn>
              </a:cxnLst>
              <a:rect l="l" t="t" r="r" b="b"/>
              <a:pathLst>
                <a:path w="38100">
                  <a:moveTo>
                    <a:pt x="38100" y="0"/>
                  </a:moveTo>
                  <a:lnTo>
                    <a:pt x="0" y="0"/>
                  </a:lnTo>
                </a:path>
              </a:pathLst>
            </a:custGeom>
            <a:ln w="19050" cap="sq">
              <a:solidFill>
                <a:srgbClr val="6496BB"/>
              </a:solidFill>
              <a:prstDash val="solid"/>
              <a:miter/>
            </a:ln>
          </p:spPr>
          <p:txBody>
            <a:bodyPr rtlCol="0" anchor="ctr"/>
            <a:lstStyle/>
            <a:p>
              <a:endParaRPr lang="en-US"/>
            </a:p>
          </p:txBody>
        </p:sp>
      </p:grpSp>
      <p:sp>
        <p:nvSpPr>
          <p:cNvPr id="54" name="Rectangle : coins arrondis 3">
            <a:extLst>
              <a:ext uri="{FF2B5EF4-FFF2-40B4-BE49-F238E27FC236}">
                <a16:creationId xmlns:a16="http://schemas.microsoft.com/office/drawing/2014/main" id="{083CDB2B-250B-5DF7-D947-23968590F149}"/>
              </a:ext>
            </a:extLst>
          </p:cNvPr>
          <p:cNvSpPr/>
          <p:nvPr/>
        </p:nvSpPr>
        <p:spPr>
          <a:xfrm>
            <a:off x="1970822" y="5671999"/>
            <a:ext cx="24788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Suppliers &amp; partners (Guest/B2B) </a:t>
            </a:r>
          </a:p>
        </p:txBody>
      </p:sp>
      <p:sp>
        <p:nvSpPr>
          <p:cNvPr id="55" name="Rectangle 54">
            <a:extLst>
              <a:ext uri="{FF2B5EF4-FFF2-40B4-BE49-F238E27FC236}">
                <a16:creationId xmlns:a16="http://schemas.microsoft.com/office/drawing/2014/main" id="{A96D4AF1-35CD-6E39-E2A2-74C5A1C5EF57}"/>
              </a:ext>
            </a:extLst>
          </p:cNvPr>
          <p:cNvSpPr/>
          <p:nvPr/>
        </p:nvSpPr>
        <p:spPr>
          <a:xfrm>
            <a:off x="1705326" y="6002965"/>
            <a:ext cx="2944791" cy="6079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Partners identities are managed by their own compagnies</a:t>
            </a:r>
          </a:p>
        </p:txBody>
      </p:sp>
      <p:grpSp>
        <p:nvGrpSpPr>
          <p:cNvPr id="56" name="Graphique 745">
            <a:extLst>
              <a:ext uri="{FF2B5EF4-FFF2-40B4-BE49-F238E27FC236}">
                <a16:creationId xmlns:a16="http://schemas.microsoft.com/office/drawing/2014/main" id="{53921817-F533-8C98-1612-AD6F969AD77D}"/>
              </a:ext>
            </a:extLst>
          </p:cNvPr>
          <p:cNvGrpSpPr/>
          <p:nvPr/>
        </p:nvGrpSpPr>
        <p:grpSpPr>
          <a:xfrm>
            <a:off x="9804853" y="4460746"/>
            <a:ext cx="360000" cy="324000"/>
            <a:chOff x="8670333" y="5487063"/>
            <a:chExt cx="278959" cy="285750"/>
          </a:xfrm>
        </p:grpSpPr>
        <p:sp>
          <p:nvSpPr>
            <p:cNvPr id="57" name="Forme libre : forme 56">
              <a:extLst>
                <a:ext uri="{FF2B5EF4-FFF2-40B4-BE49-F238E27FC236}">
                  <a16:creationId xmlns:a16="http://schemas.microsoft.com/office/drawing/2014/main" id="{F3CB1BC4-10AA-7B78-19CC-9CB9069F313F}"/>
                </a:ext>
              </a:extLst>
            </p:cNvPr>
            <p:cNvSpPr/>
            <p:nvPr/>
          </p:nvSpPr>
          <p:spPr>
            <a:xfrm>
              <a:off x="8670333" y="5591838"/>
              <a:ext cx="85725" cy="142875"/>
            </a:xfrm>
            <a:custGeom>
              <a:avLst/>
              <a:gdLst>
                <a:gd name="connsiteX0" fmla="*/ 92516 w 85725"/>
                <a:gd name="connsiteY0" fmla="*/ 16373 h 142875"/>
                <a:gd name="connsiteX1" fmla="*/ 66675 w 85725"/>
                <a:gd name="connsiteY1" fmla="*/ 0 h 142875"/>
                <a:gd name="connsiteX2" fmla="*/ 28575 w 85725"/>
                <a:gd name="connsiteY2" fmla="*/ 0 h 142875"/>
                <a:gd name="connsiteX3" fmla="*/ 0 w 85725"/>
                <a:gd name="connsiteY3" fmla="*/ 28575 h 142875"/>
                <a:gd name="connsiteX4" fmla="*/ 0 w 85725"/>
                <a:gd name="connsiteY4" fmla="*/ 76200 h 142875"/>
                <a:gd name="connsiteX5" fmla="*/ 19050 w 85725"/>
                <a:gd name="connsiteY5" fmla="*/ 76200 h 142875"/>
                <a:gd name="connsiteX6" fmla="*/ 19050 w 85725"/>
                <a:gd name="connsiteY6" fmla="*/ 142875 h 142875"/>
                <a:gd name="connsiteX7" fmla="*/ 76200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92516" y="16373"/>
                  </a:moveTo>
                  <a:cubicBezTo>
                    <a:pt x="87935" y="6715"/>
                    <a:pt x="78076" y="0"/>
                    <a:pt x="66675" y="0"/>
                  </a:cubicBezTo>
                  <a:lnTo>
                    <a:pt x="28575" y="0"/>
                  </a:lnTo>
                  <a:cubicBezTo>
                    <a:pt x="12792" y="0"/>
                    <a:pt x="0" y="12792"/>
                    <a:pt x="0" y="28575"/>
                  </a:cubicBezTo>
                  <a:lnTo>
                    <a:pt x="0" y="76200"/>
                  </a:lnTo>
                  <a:lnTo>
                    <a:pt x="19050" y="76200"/>
                  </a:lnTo>
                  <a:lnTo>
                    <a:pt x="19050" y="142875"/>
                  </a:lnTo>
                  <a:lnTo>
                    <a:pt x="76200" y="142875"/>
                  </a:lnTo>
                </a:path>
              </a:pathLst>
            </a:custGeom>
            <a:noFill/>
            <a:ln w="19050" cap="flat">
              <a:solidFill>
                <a:srgbClr val="6496BB"/>
              </a:solidFill>
              <a:prstDash val="solid"/>
              <a:miter/>
            </a:ln>
          </p:spPr>
          <p:txBody>
            <a:bodyPr rtlCol="0" anchor="ctr"/>
            <a:lstStyle/>
            <a:p>
              <a:endParaRPr lang="en-US"/>
            </a:p>
          </p:txBody>
        </p:sp>
        <p:sp>
          <p:nvSpPr>
            <p:cNvPr id="58" name="Forme libre : forme 57">
              <a:extLst>
                <a:ext uri="{FF2B5EF4-FFF2-40B4-BE49-F238E27FC236}">
                  <a16:creationId xmlns:a16="http://schemas.microsoft.com/office/drawing/2014/main" id="{2D33BCD5-93CD-390D-B572-08193F2671E4}"/>
                </a:ext>
              </a:extLst>
            </p:cNvPr>
            <p:cNvSpPr/>
            <p:nvPr/>
          </p:nvSpPr>
          <p:spPr>
            <a:xfrm>
              <a:off x="86893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59" name="Forme libre : forme 58">
              <a:extLst>
                <a:ext uri="{FF2B5EF4-FFF2-40B4-BE49-F238E27FC236}">
                  <a16:creationId xmlns:a16="http://schemas.microsoft.com/office/drawing/2014/main" id="{08632345-74EE-E9A3-E332-25DEA6333C9B}"/>
                </a:ext>
              </a:extLst>
            </p:cNvPr>
            <p:cNvSpPr/>
            <p:nvPr/>
          </p:nvSpPr>
          <p:spPr>
            <a:xfrm>
              <a:off x="8863567" y="5591838"/>
              <a:ext cx="85725" cy="142875"/>
            </a:xfrm>
            <a:custGeom>
              <a:avLst/>
              <a:gdLst>
                <a:gd name="connsiteX0" fmla="*/ 0 w 85725"/>
                <a:gd name="connsiteY0" fmla="*/ 16373 h 142875"/>
                <a:gd name="connsiteX1" fmla="*/ 25841 w 85725"/>
                <a:gd name="connsiteY1" fmla="*/ 0 h 142875"/>
                <a:gd name="connsiteX2" fmla="*/ 63941 w 85725"/>
                <a:gd name="connsiteY2" fmla="*/ 0 h 142875"/>
                <a:gd name="connsiteX3" fmla="*/ 92516 w 85725"/>
                <a:gd name="connsiteY3" fmla="*/ 28575 h 142875"/>
                <a:gd name="connsiteX4" fmla="*/ 92516 w 85725"/>
                <a:gd name="connsiteY4" fmla="*/ 76200 h 142875"/>
                <a:gd name="connsiteX5" fmla="*/ 73466 w 85725"/>
                <a:gd name="connsiteY5" fmla="*/ 76200 h 142875"/>
                <a:gd name="connsiteX6" fmla="*/ 73466 w 85725"/>
                <a:gd name="connsiteY6" fmla="*/ 142875 h 142875"/>
                <a:gd name="connsiteX7" fmla="*/ 16316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0" y="16373"/>
                  </a:moveTo>
                  <a:cubicBezTo>
                    <a:pt x="4582" y="6715"/>
                    <a:pt x="14440" y="0"/>
                    <a:pt x="25841" y="0"/>
                  </a:cubicBezTo>
                  <a:lnTo>
                    <a:pt x="63941" y="0"/>
                  </a:lnTo>
                  <a:cubicBezTo>
                    <a:pt x="79724" y="0"/>
                    <a:pt x="92516" y="12792"/>
                    <a:pt x="92516" y="28575"/>
                  </a:cubicBezTo>
                  <a:lnTo>
                    <a:pt x="92516" y="76200"/>
                  </a:lnTo>
                  <a:lnTo>
                    <a:pt x="73466" y="76200"/>
                  </a:lnTo>
                  <a:lnTo>
                    <a:pt x="73466" y="142875"/>
                  </a:lnTo>
                  <a:lnTo>
                    <a:pt x="16316" y="142875"/>
                  </a:lnTo>
                </a:path>
              </a:pathLst>
            </a:custGeom>
            <a:noFill/>
            <a:ln w="19050" cap="flat">
              <a:solidFill>
                <a:srgbClr val="6496BB"/>
              </a:solidFill>
              <a:prstDash val="solid"/>
              <a:miter/>
            </a:ln>
          </p:spPr>
          <p:txBody>
            <a:bodyPr rtlCol="0" anchor="ctr"/>
            <a:lstStyle/>
            <a:p>
              <a:endParaRPr lang="en-US"/>
            </a:p>
          </p:txBody>
        </p:sp>
        <p:sp>
          <p:nvSpPr>
            <p:cNvPr id="60" name="Forme libre : forme 59">
              <a:extLst>
                <a:ext uri="{FF2B5EF4-FFF2-40B4-BE49-F238E27FC236}">
                  <a16:creationId xmlns:a16="http://schemas.microsoft.com/office/drawing/2014/main" id="{59253114-7274-EED7-6E90-E29598A7FF06}"/>
                </a:ext>
              </a:extLst>
            </p:cNvPr>
            <p:cNvSpPr/>
            <p:nvPr/>
          </p:nvSpPr>
          <p:spPr>
            <a:xfrm>
              <a:off x="88798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1" name="Forme libre : forme 60">
              <a:extLst>
                <a:ext uri="{FF2B5EF4-FFF2-40B4-BE49-F238E27FC236}">
                  <a16:creationId xmlns:a16="http://schemas.microsoft.com/office/drawing/2014/main" id="{F3F1AC79-3E57-D8DC-BAD7-EB3DACB9C9ED}"/>
                </a:ext>
              </a:extLst>
            </p:cNvPr>
            <p:cNvSpPr/>
            <p:nvPr/>
          </p:nvSpPr>
          <p:spPr>
            <a:xfrm>
              <a:off x="8756058" y="5591838"/>
              <a:ext cx="114300" cy="180975"/>
            </a:xfrm>
            <a:custGeom>
              <a:avLst/>
              <a:gdLst>
                <a:gd name="connsiteX0" fmla="*/ 85725 w 114300"/>
                <a:gd name="connsiteY0" fmla="*/ 180975 h 180975"/>
                <a:gd name="connsiteX1" fmla="*/ 28575 w 114300"/>
                <a:gd name="connsiteY1" fmla="*/ 180975 h 180975"/>
                <a:gd name="connsiteX2" fmla="*/ 28575 w 114300"/>
                <a:gd name="connsiteY2" fmla="*/ 104775 h 180975"/>
                <a:gd name="connsiteX3" fmla="*/ 0 w 114300"/>
                <a:gd name="connsiteY3" fmla="*/ 104775 h 180975"/>
                <a:gd name="connsiteX4" fmla="*/ 0 w 114300"/>
                <a:gd name="connsiteY4" fmla="*/ 38100 h 180975"/>
                <a:gd name="connsiteX5" fmla="*/ 38100 w 114300"/>
                <a:gd name="connsiteY5" fmla="*/ 0 h 180975"/>
                <a:gd name="connsiteX6" fmla="*/ 76200 w 114300"/>
                <a:gd name="connsiteY6" fmla="*/ 0 h 180975"/>
                <a:gd name="connsiteX7" fmla="*/ 114300 w 114300"/>
                <a:gd name="connsiteY7" fmla="*/ 38100 h 180975"/>
                <a:gd name="connsiteX8" fmla="*/ 114300 w 114300"/>
                <a:gd name="connsiteY8" fmla="*/ 104775 h 180975"/>
                <a:gd name="connsiteX9" fmla="*/ 85725 w 114300"/>
                <a:gd name="connsiteY9" fmla="*/ 104775 h 180975"/>
                <a:gd name="connsiteX10" fmla="*/ 85725 w 114300"/>
                <a:gd name="connsiteY10"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300" h="180975">
                  <a:moveTo>
                    <a:pt x="85725" y="180975"/>
                  </a:moveTo>
                  <a:lnTo>
                    <a:pt x="28575" y="180975"/>
                  </a:lnTo>
                  <a:lnTo>
                    <a:pt x="28575" y="104775"/>
                  </a:lnTo>
                  <a:lnTo>
                    <a:pt x="0" y="104775"/>
                  </a:lnTo>
                  <a:lnTo>
                    <a:pt x="0" y="38100"/>
                  </a:lnTo>
                  <a:cubicBezTo>
                    <a:pt x="0" y="17059"/>
                    <a:pt x="17059" y="0"/>
                    <a:pt x="38100" y="0"/>
                  </a:cubicBezTo>
                  <a:lnTo>
                    <a:pt x="76200" y="0"/>
                  </a:lnTo>
                  <a:cubicBezTo>
                    <a:pt x="97241" y="0"/>
                    <a:pt x="114300" y="17059"/>
                    <a:pt x="114300" y="38100"/>
                  </a:cubicBezTo>
                  <a:lnTo>
                    <a:pt x="114300" y="104775"/>
                  </a:lnTo>
                  <a:lnTo>
                    <a:pt x="85725" y="104775"/>
                  </a:lnTo>
                  <a:lnTo>
                    <a:pt x="85725" y="180975"/>
                  </a:lnTo>
                  <a:close/>
                </a:path>
              </a:pathLst>
            </a:custGeom>
            <a:noFill/>
            <a:ln w="19050" cap="sq">
              <a:solidFill>
                <a:srgbClr val="6496BB"/>
              </a:solidFill>
              <a:prstDash val="solid"/>
              <a:miter/>
            </a:ln>
          </p:spPr>
          <p:txBody>
            <a:bodyPr rtlCol="0" anchor="ctr"/>
            <a:lstStyle/>
            <a:p>
              <a:endParaRPr lang="en-US"/>
            </a:p>
          </p:txBody>
        </p:sp>
        <p:sp>
          <p:nvSpPr>
            <p:cNvPr id="62" name="Forme libre : forme 61">
              <a:extLst>
                <a:ext uri="{FF2B5EF4-FFF2-40B4-BE49-F238E27FC236}">
                  <a16:creationId xmlns:a16="http://schemas.microsoft.com/office/drawing/2014/main" id="{90C162A2-ABEE-562F-3D71-20D0C5348DD4}"/>
                </a:ext>
              </a:extLst>
            </p:cNvPr>
            <p:cNvSpPr/>
            <p:nvPr/>
          </p:nvSpPr>
          <p:spPr>
            <a:xfrm>
              <a:off x="8775108" y="548706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6496BB"/>
              </a:solidFill>
              <a:prstDash val="solid"/>
              <a:miter/>
            </a:ln>
          </p:spPr>
          <p:txBody>
            <a:bodyPr rtlCol="0" anchor="ctr"/>
            <a:lstStyle/>
            <a:p>
              <a:endParaRPr lang="en-US"/>
            </a:p>
          </p:txBody>
        </p:sp>
      </p:grpSp>
      <p:grpSp>
        <p:nvGrpSpPr>
          <p:cNvPr id="63" name="Graphique 128">
            <a:extLst>
              <a:ext uri="{FF2B5EF4-FFF2-40B4-BE49-F238E27FC236}">
                <a16:creationId xmlns:a16="http://schemas.microsoft.com/office/drawing/2014/main" id="{7DC03CBF-53F3-8365-9415-2B4E2FF068AF}"/>
              </a:ext>
            </a:extLst>
          </p:cNvPr>
          <p:cNvGrpSpPr/>
          <p:nvPr/>
        </p:nvGrpSpPr>
        <p:grpSpPr>
          <a:xfrm>
            <a:off x="9277384" y="4472227"/>
            <a:ext cx="360000" cy="360000"/>
            <a:chOff x="8658341" y="2723890"/>
            <a:chExt cx="276225" cy="285750"/>
          </a:xfrm>
        </p:grpSpPr>
        <p:sp>
          <p:nvSpPr>
            <p:cNvPr id="64" name="Forme libre : forme 63">
              <a:extLst>
                <a:ext uri="{FF2B5EF4-FFF2-40B4-BE49-F238E27FC236}">
                  <a16:creationId xmlns:a16="http://schemas.microsoft.com/office/drawing/2014/main" id="{583A997E-C879-C75C-B33C-FD06203F6B10}"/>
                </a:ext>
              </a:extLst>
            </p:cNvPr>
            <p:cNvSpPr/>
            <p:nvPr/>
          </p:nvSpPr>
          <p:spPr>
            <a:xfrm>
              <a:off x="8696441" y="2952490"/>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5" name="Forme libre : forme 64">
              <a:extLst>
                <a:ext uri="{FF2B5EF4-FFF2-40B4-BE49-F238E27FC236}">
                  <a16:creationId xmlns:a16="http://schemas.microsoft.com/office/drawing/2014/main" id="{4EF5A0F7-D486-D9C8-9F67-5693BDB32A7B}"/>
                </a:ext>
              </a:extLst>
            </p:cNvPr>
            <p:cNvSpPr/>
            <p:nvPr/>
          </p:nvSpPr>
          <p:spPr>
            <a:xfrm>
              <a:off x="8877416" y="2952490"/>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6" name="Forme libre : forme 65">
              <a:extLst>
                <a:ext uri="{FF2B5EF4-FFF2-40B4-BE49-F238E27FC236}">
                  <a16:creationId xmlns:a16="http://schemas.microsoft.com/office/drawing/2014/main" id="{02273509-EF5B-9738-C36F-6775F721E17A}"/>
                </a:ext>
              </a:extLst>
            </p:cNvPr>
            <p:cNvSpPr/>
            <p:nvPr/>
          </p:nvSpPr>
          <p:spPr>
            <a:xfrm>
              <a:off x="8658341" y="2723890"/>
              <a:ext cx="276225" cy="190500"/>
            </a:xfrm>
            <a:custGeom>
              <a:avLst/>
              <a:gdLst>
                <a:gd name="connsiteX0" fmla="*/ 200025 w 276225"/>
                <a:gd name="connsiteY0" fmla="*/ 57150 h 190500"/>
                <a:gd name="connsiteX1" fmla="*/ 276225 w 276225"/>
                <a:gd name="connsiteY1" fmla="*/ 57150 h 190500"/>
                <a:gd name="connsiteX2" fmla="*/ 247650 w 276225"/>
                <a:gd name="connsiteY2" fmla="*/ 190500 h 190500"/>
                <a:gd name="connsiteX3" fmla="*/ 57150 w 276225"/>
                <a:gd name="connsiteY3" fmla="*/ 190500 h 190500"/>
                <a:gd name="connsiteX4" fmla="*/ 38100 w 276225"/>
                <a:gd name="connsiteY4" fmla="*/ 0 h 190500"/>
                <a:gd name="connsiteX5" fmla="*/ 0 w 276225"/>
                <a:gd name="connsiteY5"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225" h="190500">
                  <a:moveTo>
                    <a:pt x="200025" y="57150"/>
                  </a:moveTo>
                  <a:lnTo>
                    <a:pt x="276225" y="57150"/>
                  </a:lnTo>
                  <a:lnTo>
                    <a:pt x="247650" y="190500"/>
                  </a:lnTo>
                  <a:lnTo>
                    <a:pt x="57150" y="190500"/>
                  </a:lnTo>
                  <a:lnTo>
                    <a:pt x="38100" y="0"/>
                  </a:lnTo>
                  <a:lnTo>
                    <a:pt x="0" y="0"/>
                  </a:lnTo>
                </a:path>
              </a:pathLst>
            </a:custGeom>
            <a:noFill/>
            <a:ln w="19050" cap="sq">
              <a:solidFill>
                <a:srgbClr val="6496BB"/>
              </a:solidFill>
              <a:prstDash val="solid"/>
              <a:miter/>
            </a:ln>
          </p:spPr>
          <p:txBody>
            <a:bodyPr rtlCol="0" anchor="ctr"/>
            <a:lstStyle/>
            <a:p>
              <a:endParaRPr lang="en-US"/>
            </a:p>
          </p:txBody>
        </p:sp>
        <p:sp>
          <p:nvSpPr>
            <p:cNvPr id="67" name="Forme libre : forme 66">
              <a:extLst>
                <a:ext uri="{FF2B5EF4-FFF2-40B4-BE49-F238E27FC236}">
                  <a16:creationId xmlns:a16="http://schemas.microsoft.com/office/drawing/2014/main" id="{81C34C04-41BF-D01A-EAD4-442D57D628C0}"/>
                </a:ext>
              </a:extLst>
            </p:cNvPr>
            <p:cNvSpPr/>
            <p:nvPr/>
          </p:nvSpPr>
          <p:spPr>
            <a:xfrm>
              <a:off x="8703166" y="2781040"/>
              <a:ext cx="57150" cy="9525"/>
            </a:xfrm>
            <a:custGeom>
              <a:avLst/>
              <a:gdLst>
                <a:gd name="connsiteX0" fmla="*/ 0 w 57150"/>
                <a:gd name="connsiteY0" fmla="*/ 0 h 0"/>
                <a:gd name="connsiteX1" fmla="*/ 59950 w 57150"/>
                <a:gd name="connsiteY1" fmla="*/ 0 h 0"/>
              </a:gdLst>
              <a:ahLst/>
              <a:cxnLst>
                <a:cxn ang="0">
                  <a:pos x="connsiteX0" y="connsiteY0"/>
                </a:cxn>
                <a:cxn ang="0">
                  <a:pos x="connsiteX1" y="connsiteY1"/>
                </a:cxn>
              </a:cxnLst>
              <a:rect l="l" t="t" r="r" b="b"/>
              <a:pathLst>
                <a:path w="57150">
                  <a:moveTo>
                    <a:pt x="0" y="0"/>
                  </a:moveTo>
                  <a:lnTo>
                    <a:pt x="59950" y="0"/>
                  </a:lnTo>
                </a:path>
              </a:pathLst>
            </a:custGeom>
            <a:ln w="19050" cap="sq">
              <a:solidFill>
                <a:srgbClr val="6496BB"/>
              </a:solidFill>
              <a:prstDash val="solid"/>
              <a:miter/>
            </a:ln>
          </p:spPr>
          <p:txBody>
            <a:bodyPr rtlCol="0" anchor="ctr"/>
            <a:lstStyle/>
            <a:p>
              <a:endParaRPr lang="en-US"/>
            </a:p>
          </p:txBody>
        </p:sp>
        <p:sp>
          <p:nvSpPr>
            <p:cNvPr id="68" name="Forme libre : forme 67">
              <a:extLst>
                <a:ext uri="{FF2B5EF4-FFF2-40B4-BE49-F238E27FC236}">
                  <a16:creationId xmlns:a16="http://schemas.microsoft.com/office/drawing/2014/main" id="{69B5EDB3-8CCF-29F8-A300-60434316326B}"/>
                </a:ext>
              </a:extLst>
            </p:cNvPr>
            <p:cNvSpPr/>
            <p:nvPr/>
          </p:nvSpPr>
          <p:spPr>
            <a:xfrm>
              <a:off x="8810741" y="2733415"/>
              <a:ext cx="9525" cy="133350"/>
            </a:xfrm>
            <a:custGeom>
              <a:avLst/>
              <a:gdLst>
                <a:gd name="connsiteX0" fmla="*/ 0 w 0"/>
                <a:gd name="connsiteY0" fmla="*/ 0 h 133350"/>
                <a:gd name="connsiteX1" fmla="*/ 0 w 0"/>
                <a:gd name="connsiteY1" fmla="*/ 133350 h 133350"/>
              </a:gdLst>
              <a:ahLst/>
              <a:cxnLst>
                <a:cxn ang="0">
                  <a:pos x="connsiteX0" y="connsiteY0"/>
                </a:cxn>
                <a:cxn ang="0">
                  <a:pos x="connsiteX1" y="connsiteY1"/>
                </a:cxn>
              </a:cxnLst>
              <a:rect l="l" t="t" r="r" b="b"/>
              <a:pathLst>
                <a:path h="133350">
                  <a:moveTo>
                    <a:pt x="0" y="0"/>
                  </a:moveTo>
                  <a:lnTo>
                    <a:pt x="0" y="133350"/>
                  </a:lnTo>
                </a:path>
              </a:pathLst>
            </a:custGeom>
            <a:ln w="19050" cap="flat">
              <a:solidFill>
                <a:srgbClr val="6496BB"/>
              </a:solidFill>
              <a:prstDash val="solid"/>
              <a:miter/>
            </a:ln>
          </p:spPr>
          <p:txBody>
            <a:bodyPr rtlCol="0" anchor="ctr"/>
            <a:lstStyle/>
            <a:p>
              <a:endParaRPr lang="en-US"/>
            </a:p>
          </p:txBody>
        </p:sp>
        <p:sp>
          <p:nvSpPr>
            <p:cNvPr id="69" name="Forme libre : forme 68">
              <a:extLst>
                <a:ext uri="{FF2B5EF4-FFF2-40B4-BE49-F238E27FC236}">
                  <a16:creationId xmlns:a16="http://schemas.microsoft.com/office/drawing/2014/main" id="{5A00771C-EA18-970D-22A0-1113420F070F}"/>
                </a:ext>
              </a:extLst>
            </p:cNvPr>
            <p:cNvSpPr/>
            <p:nvPr/>
          </p:nvSpPr>
          <p:spPr>
            <a:xfrm>
              <a:off x="8772641" y="2828665"/>
              <a:ext cx="76200" cy="38100"/>
            </a:xfrm>
            <a:custGeom>
              <a:avLst/>
              <a:gdLst>
                <a:gd name="connsiteX0" fmla="*/ 76200 w 76200"/>
                <a:gd name="connsiteY0" fmla="*/ 0 h 38100"/>
                <a:gd name="connsiteX1" fmla="*/ 38100 w 76200"/>
                <a:gd name="connsiteY1" fmla="*/ 38100 h 38100"/>
                <a:gd name="connsiteX2" fmla="*/ 0 w 76200"/>
                <a:gd name="connsiteY2" fmla="*/ 0 h 38100"/>
              </a:gdLst>
              <a:ahLst/>
              <a:cxnLst>
                <a:cxn ang="0">
                  <a:pos x="connsiteX0" y="connsiteY0"/>
                </a:cxn>
                <a:cxn ang="0">
                  <a:pos x="connsiteX1" y="connsiteY1"/>
                </a:cxn>
                <a:cxn ang="0">
                  <a:pos x="connsiteX2" y="connsiteY2"/>
                </a:cxn>
              </a:cxnLst>
              <a:rect l="l" t="t" r="r" b="b"/>
              <a:pathLst>
                <a:path w="76200" h="38100">
                  <a:moveTo>
                    <a:pt x="76200" y="0"/>
                  </a:moveTo>
                  <a:lnTo>
                    <a:pt x="38100" y="38100"/>
                  </a:lnTo>
                  <a:lnTo>
                    <a:pt x="0" y="0"/>
                  </a:lnTo>
                </a:path>
              </a:pathLst>
            </a:custGeom>
            <a:noFill/>
            <a:ln w="19050" cap="sq">
              <a:solidFill>
                <a:srgbClr val="6496BB"/>
              </a:solidFill>
              <a:prstDash val="solid"/>
              <a:miter/>
            </a:ln>
          </p:spPr>
          <p:txBody>
            <a:bodyPr rtlCol="0" anchor="ctr"/>
            <a:lstStyle/>
            <a:p>
              <a:endParaRPr lang="en-US"/>
            </a:p>
          </p:txBody>
        </p:sp>
      </p:grpSp>
      <p:sp>
        <p:nvSpPr>
          <p:cNvPr id="70" name="Rectangle : coins arrondis 3">
            <a:extLst>
              <a:ext uri="{FF2B5EF4-FFF2-40B4-BE49-F238E27FC236}">
                <a16:creationId xmlns:a16="http://schemas.microsoft.com/office/drawing/2014/main" id="{6B55CB57-24DD-94B7-0FB8-9A17A1A7C494}"/>
              </a:ext>
            </a:extLst>
          </p:cNvPr>
          <p:cNvSpPr/>
          <p:nvPr/>
        </p:nvSpPr>
        <p:spPr>
          <a:xfrm>
            <a:off x="9003275" y="4841944"/>
            <a:ext cx="1610290"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Customers (CIAM)</a:t>
            </a:r>
          </a:p>
        </p:txBody>
      </p:sp>
      <p:sp>
        <p:nvSpPr>
          <p:cNvPr id="71" name="Rectangle : coins arrondis 70">
            <a:extLst>
              <a:ext uri="{FF2B5EF4-FFF2-40B4-BE49-F238E27FC236}">
                <a16:creationId xmlns:a16="http://schemas.microsoft.com/office/drawing/2014/main" id="{8645CE2B-B617-6EB3-99E6-5A50773C2491}"/>
              </a:ext>
            </a:extLst>
          </p:cNvPr>
          <p:cNvSpPr/>
          <p:nvPr>
            <p:custDataLst>
              <p:tags r:id="rId4"/>
            </p:custDataLst>
          </p:nvPr>
        </p:nvSpPr>
        <p:spPr>
          <a:xfrm>
            <a:off x="8303141" y="5124479"/>
            <a:ext cx="3171600" cy="75600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3FD84B0A-74FE-7F80-C251-B05E1374BE89}"/>
              </a:ext>
            </a:extLst>
          </p:cNvPr>
          <p:cNvSpPr/>
          <p:nvPr/>
        </p:nvSpPr>
        <p:spPr>
          <a:xfrm>
            <a:off x="8373637" y="5172910"/>
            <a:ext cx="2831963" cy="41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algn="l" defTabSz="914400" rtl="0" eaLnBrk="1" fontAlgn="auto" latinLnBrk="0" hangingPunct="1">
              <a:lnSpc>
                <a:spcPct val="100000"/>
              </a:lnSpc>
              <a:spcBef>
                <a:spcPts val="0"/>
              </a:spcBef>
              <a:spcAft>
                <a:spcPts val="0"/>
              </a:spcAft>
              <a:buClrTx/>
              <a:buSzTx/>
              <a:tabLst/>
              <a:defRPr/>
            </a:pPr>
            <a:r>
              <a:rPr lang="en-US" sz="1000">
                <a:solidFill>
                  <a:schemeClr val="tx1"/>
                </a:solidFill>
              </a:rPr>
              <a:t>Manage authentication and access for unmanaged identities</a:t>
            </a:r>
          </a:p>
        </p:txBody>
      </p:sp>
      <p:grpSp>
        <p:nvGrpSpPr>
          <p:cNvPr id="82" name="Graphique 80" descr="Travail à distance contour">
            <a:extLst>
              <a:ext uri="{FF2B5EF4-FFF2-40B4-BE49-F238E27FC236}">
                <a16:creationId xmlns:a16="http://schemas.microsoft.com/office/drawing/2014/main" id="{8CD79184-0BF7-958C-A376-1B4879E9DF11}"/>
              </a:ext>
            </a:extLst>
          </p:cNvPr>
          <p:cNvGrpSpPr/>
          <p:nvPr/>
        </p:nvGrpSpPr>
        <p:grpSpPr>
          <a:xfrm>
            <a:off x="1046062" y="3129062"/>
            <a:ext cx="468000" cy="468000"/>
            <a:chOff x="907550" y="3848515"/>
            <a:chExt cx="838191" cy="733425"/>
          </a:xfrm>
          <a:solidFill>
            <a:srgbClr val="000000"/>
          </a:solidFill>
        </p:grpSpPr>
        <p:sp>
          <p:nvSpPr>
            <p:cNvPr id="83" name="Forme libre : forme 82">
              <a:extLst>
                <a:ext uri="{FF2B5EF4-FFF2-40B4-BE49-F238E27FC236}">
                  <a16:creationId xmlns:a16="http://schemas.microsoft.com/office/drawing/2014/main" id="{B6B593E4-7B9C-2EF2-0E98-F97812A7EF04}"/>
                </a:ext>
              </a:extLst>
            </p:cNvPr>
            <p:cNvSpPr/>
            <p:nvPr/>
          </p:nvSpPr>
          <p:spPr>
            <a:xfrm rot="-2437536">
              <a:off x="1280072" y="4089322"/>
              <a:ext cx="38099" cy="19057"/>
            </a:xfrm>
            <a:custGeom>
              <a:avLst/>
              <a:gdLst>
                <a:gd name="connsiteX0" fmla="*/ 0 w 38099"/>
                <a:gd name="connsiteY0" fmla="*/ 0 h 19057"/>
                <a:gd name="connsiteX1" fmla="*/ 38099 w 38099"/>
                <a:gd name="connsiteY1" fmla="*/ 0 h 19057"/>
                <a:gd name="connsiteX2" fmla="*/ 38099 w 38099"/>
                <a:gd name="connsiteY2" fmla="*/ 19058 h 19057"/>
                <a:gd name="connsiteX3" fmla="*/ 0 w 38099"/>
                <a:gd name="connsiteY3" fmla="*/ 19058 h 19057"/>
              </a:gdLst>
              <a:ahLst/>
              <a:cxnLst>
                <a:cxn ang="0">
                  <a:pos x="connsiteX0" y="connsiteY0"/>
                </a:cxn>
                <a:cxn ang="0">
                  <a:pos x="connsiteX1" y="connsiteY1"/>
                </a:cxn>
                <a:cxn ang="0">
                  <a:pos x="connsiteX2" y="connsiteY2"/>
                </a:cxn>
                <a:cxn ang="0">
                  <a:pos x="connsiteX3" y="connsiteY3"/>
                </a:cxn>
              </a:cxnLst>
              <a:rect l="l" t="t" r="r" b="b"/>
              <a:pathLst>
                <a:path w="38099" h="19057">
                  <a:moveTo>
                    <a:pt x="0" y="0"/>
                  </a:moveTo>
                  <a:lnTo>
                    <a:pt x="38099" y="0"/>
                  </a:lnTo>
                  <a:lnTo>
                    <a:pt x="38099" y="19058"/>
                  </a:lnTo>
                  <a:lnTo>
                    <a:pt x="0" y="1905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4" name="Forme libre : forme 83">
              <a:extLst>
                <a:ext uri="{FF2B5EF4-FFF2-40B4-BE49-F238E27FC236}">
                  <a16:creationId xmlns:a16="http://schemas.microsoft.com/office/drawing/2014/main" id="{9740743C-79C2-5D26-31C2-00C020ADD2BC}"/>
                </a:ext>
              </a:extLst>
            </p:cNvPr>
            <p:cNvSpPr/>
            <p:nvPr/>
          </p:nvSpPr>
          <p:spPr>
            <a:xfrm rot="-2962878">
              <a:off x="1289593" y="4312555"/>
              <a:ext cx="19057" cy="38099"/>
            </a:xfrm>
            <a:custGeom>
              <a:avLst/>
              <a:gdLst>
                <a:gd name="connsiteX0" fmla="*/ 0 w 19057"/>
                <a:gd name="connsiteY0" fmla="*/ 0 h 38099"/>
                <a:gd name="connsiteX1" fmla="*/ 19058 w 19057"/>
                <a:gd name="connsiteY1" fmla="*/ 0 h 38099"/>
                <a:gd name="connsiteX2" fmla="*/ 19058 w 19057"/>
                <a:gd name="connsiteY2" fmla="*/ 38099 h 38099"/>
                <a:gd name="connsiteX3" fmla="*/ 0 w 19057"/>
                <a:gd name="connsiteY3" fmla="*/ 38099 h 38099"/>
              </a:gdLst>
              <a:ahLst/>
              <a:cxnLst>
                <a:cxn ang="0">
                  <a:pos x="connsiteX0" y="connsiteY0"/>
                </a:cxn>
                <a:cxn ang="0">
                  <a:pos x="connsiteX1" y="connsiteY1"/>
                </a:cxn>
                <a:cxn ang="0">
                  <a:pos x="connsiteX2" y="connsiteY2"/>
                </a:cxn>
                <a:cxn ang="0">
                  <a:pos x="connsiteX3" y="connsiteY3"/>
                </a:cxn>
              </a:cxnLst>
              <a:rect l="l" t="t" r="r" b="b"/>
              <a:pathLst>
                <a:path w="19057" h="38099">
                  <a:moveTo>
                    <a:pt x="0" y="0"/>
                  </a:moveTo>
                  <a:lnTo>
                    <a:pt x="19058" y="0"/>
                  </a:lnTo>
                  <a:lnTo>
                    <a:pt x="19058" y="38099"/>
                  </a:lnTo>
                  <a:lnTo>
                    <a:pt x="0" y="38099"/>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5" name="Forme libre : forme 84">
              <a:extLst>
                <a:ext uri="{FF2B5EF4-FFF2-40B4-BE49-F238E27FC236}">
                  <a16:creationId xmlns:a16="http://schemas.microsoft.com/office/drawing/2014/main" id="{34E7A5A5-1FF5-522E-7881-FA9DB9B952BC}"/>
                </a:ext>
              </a:extLst>
            </p:cNvPr>
            <p:cNvSpPr/>
            <p:nvPr/>
          </p:nvSpPr>
          <p:spPr>
            <a:xfrm rot="-2962464">
              <a:off x="1347431" y="4362161"/>
              <a:ext cx="19057" cy="38099"/>
            </a:xfrm>
            <a:custGeom>
              <a:avLst/>
              <a:gdLst>
                <a:gd name="connsiteX0" fmla="*/ 0 w 19057"/>
                <a:gd name="connsiteY0" fmla="*/ 0 h 38099"/>
                <a:gd name="connsiteX1" fmla="*/ 19058 w 19057"/>
                <a:gd name="connsiteY1" fmla="*/ 0 h 38099"/>
                <a:gd name="connsiteX2" fmla="*/ 19058 w 19057"/>
                <a:gd name="connsiteY2" fmla="*/ 38099 h 38099"/>
                <a:gd name="connsiteX3" fmla="*/ 0 w 19057"/>
                <a:gd name="connsiteY3" fmla="*/ 38099 h 38099"/>
              </a:gdLst>
              <a:ahLst/>
              <a:cxnLst>
                <a:cxn ang="0">
                  <a:pos x="connsiteX0" y="connsiteY0"/>
                </a:cxn>
                <a:cxn ang="0">
                  <a:pos x="connsiteX1" y="connsiteY1"/>
                </a:cxn>
                <a:cxn ang="0">
                  <a:pos x="connsiteX2" y="connsiteY2"/>
                </a:cxn>
                <a:cxn ang="0">
                  <a:pos x="connsiteX3" y="connsiteY3"/>
                </a:cxn>
              </a:cxnLst>
              <a:rect l="l" t="t" r="r" b="b"/>
              <a:pathLst>
                <a:path w="19057" h="38099">
                  <a:moveTo>
                    <a:pt x="0" y="0"/>
                  </a:moveTo>
                  <a:lnTo>
                    <a:pt x="19058" y="0"/>
                  </a:lnTo>
                  <a:lnTo>
                    <a:pt x="19058" y="38099"/>
                  </a:lnTo>
                  <a:lnTo>
                    <a:pt x="0" y="38099"/>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6" name="Forme libre : forme 85">
              <a:extLst>
                <a:ext uri="{FF2B5EF4-FFF2-40B4-BE49-F238E27FC236}">
                  <a16:creationId xmlns:a16="http://schemas.microsoft.com/office/drawing/2014/main" id="{DE9B73E2-241C-DA4E-03A3-4CDDB9C2B74F}"/>
                </a:ext>
              </a:extLst>
            </p:cNvPr>
            <p:cNvSpPr/>
            <p:nvPr/>
          </p:nvSpPr>
          <p:spPr>
            <a:xfrm>
              <a:off x="13075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7" name="Forme libre : forme 86">
              <a:extLst>
                <a:ext uri="{FF2B5EF4-FFF2-40B4-BE49-F238E27FC236}">
                  <a16:creationId xmlns:a16="http://schemas.microsoft.com/office/drawing/2014/main" id="{7671C28A-8968-39AB-0068-87CF71161F72}"/>
                </a:ext>
              </a:extLst>
            </p:cNvPr>
            <p:cNvSpPr/>
            <p:nvPr/>
          </p:nvSpPr>
          <p:spPr>
            <a:xfrm>
              <a:off x="14599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8" name="Forme libre : forme 87">
              <a:extLst>
                <a:ext uri="{FF2B5EF4-FFF2-40B4-BE49-F238E27FC236}">
                  <a16:creationId xmlns:a16="http://schemas.microsoft.com/office/drawing/2014/main" id="{19154B51-0A67-E17F-8C98-7F6065370AFA}"/>
                </a:ext>
              </a:extLst>
            </p:cNvPr>
            <p:cNvSpPr/>
            <p:nvPr/>
          </p:nvSpPr>
          <p:spPr>
            <a:xfrm>
              <a:off x="13837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9" name="Forme libre : forme 88">
              <a:extLst>
                <a:ext uri="{FF2B5EF4-FFF2-40B4-BE49-F238E27FC236}">
                  <a16:creationId xmlns:a16="http://schemas.microsoft.com/office/drawing/2014/main" id="{FCBBC5F1-DE92-BDB8-F0A3-39A593C1A173}"/>
                </a:ext>
              </a:extLst>
            </p:cNvPr>
            <p:cNvSpPr/>
            <p:nvPr/>
          </p:nvSpPr>
          <p:spPr>
            <a:xfrm rot="-2437536">
              <a:off x="1337910" y="4039716"/>
              <a:ext cx="38099" cy="19057"/>
            </a:xfrm>
            <a:custGeom>
              <a:avLst/>
              <a:gdLst>
                <a:gd name="connsiteX0" fmla="*/ 0 w 38099"/>
                <a:gd name="connsiteY0" fmla="*/ 0 h 19057"/>
                <a:gd name="connsiteX1" fmla="*/ 38099 w 38099"/>
                <a:gd name="connsiteY1" fmla="*/ 0 h 19057"/>
                <a:gd name="connsiteX2" fmla="*/ 38099 w 38099"/>
                <a:gd name="connsiteY2" fmla="*/ 19058 h 19057"/>
                <a:gd name="connsiteX3" fmla="*/ 0 w 38099"/>
                <a:gd name="connsiteY3" fmla="*/ 19058 h 19057"/>
              </a:gdLst>
              <a:ahLst/>
              <a:cxnLst>
                <a:cxn ang="0">
                  <a:pos x="connsiteX0" y="connsiteY0"/>
                </a:cxn>
                <a:cxn ang="0">
                  <a:pos x="connsiteX1" y="connsiteY1"/>
                </a:cxn>
                <a:cxn ang="0">
                  <a:pos x="connsiteX2" y="connsiteY2"/>
                </a:cxn>
                <a:cxn ang="0">
                  <a:pos x="connsiteX3" y="connsiteY3"/>
                </a:cxn>
              </a:cxnLst>
              <a:rect l="l" t="t" r="r" b="b"/>
              <a:pathLst>
                <a:path w="38099" h="19057">
                  <a:moveTo>
                    <a:pt x="0" y="0"/>
                  </a:moveTo>
                  <a:lnTo>
                    <a:pt x="38099" y="0"/>
                  </a:lnTo>
                  <a:lnTo>
                    <a:pt x="38099" y="19058"/>
                  </a:lnTo>
                  <a:lnTo>
                    <a:pt x="0" y="1905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0" name="Forme libre : forme 89">
              <a:extLst>
                <a:ext uri="{FF2B5EF4-FFF2-40B4-BE49-F238E27FC236}">
                  <a16:creationId xmlns:a16="http://schemas.microsoft.com/office/drawing/2014/main" id="{01DD4D8D-2820-16FE-6A22-5179072B09E8}"/>
                </a:ext>
              </a:extLst>
            </p:cNvPr>
            <p:cNvSpPr/>
            <p:nvPr/>
          </p:nvSpPr>
          <p:spPr>
            <a:xfrm>
              <a:off x="907550" y="3953235"/>
              <a:ext cx="361941" cy="514168"/>
            </a:xfrm>
            <a:custGeom>
              <a:avLst/>
              <a:gdLst>
                <a:gd name="connsiteX0" fmla="*/ 323879 w 361941"/>
                <a:gd name="connsiteY0" fmla="*/ 216219 h 514168"/>
                <a:gd name="connsiteX1" fmla="*/ 354398 w 361941"/>
                <a:gd name="connsiteY1" fmla="*/ 190053 h 514168"/>
                <a:gd name="connsiteX2" fmla="*/ 341988 w 361941"/>
                <a:gd name="connsiteY2" fmla="*/ 175589 h 514168"/>
                <a:gd name="connsiteX3" fmla="*/ 323879 w 361941"/>
                <a:gd name="connsiteY3" fmla="*/ 191114 h 514168"/>
                <a:gd name="connsiteX4" fmla="*/ 323879 w 361941"/>
                <a:gd name="connsiteY4" fmla="*/ 47668 h 514168"/>
                <a:gd name="connsiteX5" fmla="*/ 285750 w 361941"/>
                <a:gd name="connsiteY5" fmla="*/ 47668 h 514168"/>
                <a:gd name="connsiteX6" fmla="*/ 285750 w 361941"/>
                <a:gd name="connsiteY6" fmla="*/ 0 h 514168"/>
                <a:gd name="connsiteX7" fmla="*/ 57150 w 361941"/>
                <a:gd name="connsiteY7" fmla="*/ 0 h 514168"/>
                <a:gd name="connsiteX8" fmla="*/ 57150 w 361941"/>
                <a:gd name="connsiteY8" fmla="*/ 47667 h 514168"/>
                <a:gd name="connsiteX9" fmla="*/ 19050 w 361941"/>
                <a:gd name="connsiteY9" fmla="*/ 47667 h 514168"/>
                <a:gd name="connsiteX10" fmla="*/ 19050 w 361941"/>
                <a:gd name="connsiteY10" fmla="*/ 495118 h 514168"/>
                <a:gd name="connsiteX11" fmla="*/ 0 w 361941"/>
                <a:gd name="connsiteY11" fmla="*/ 495118 h 514168"/>
                <a:gd name="connsiteX12" fmla="*/ 0 w 361941"/>
                <a:gd name="connsiteY12" fmla="*/ 514168 h 514168"/>
                <a:gd name="connsiteX13" fmla="*/ 342900 w 361941"/>
                <a:gd name="connsiteY13" fmla="*/ 514168 h 514168"/>
                <a:gd name="connsiteX14" fmla="*/ 342900 w 361941"/>
                <a:gd name="connsiteY14" fmla="*/ 495118 h 514168"/>
                <a:gd name="connsiteX15" fmla="*/ 323879 w 361941"/>
                <a:gd name="connsiteY15" fmla="*/ 495118 h 514168"/>
                <a:gd name="connsiteX16" fmla="*/ 323879 w 361941"/>
                <a:gd name="connsiteY16" fmla="*/ 332868 h 514168"/>
                <a:gd name="connsiteX17" fmla="*/ 341988 w 361941"/>
                <a:gd name="connsiteY17" fmla="*/ 348394 h 514168"/>
                <a:gd name="connsiteX18" fmla="*/ 354398 w 361941"/>
                <a:gd name="connsiteY18" fmla="*/ 333930 h 514168"/>
                <a:gd name="connsiteX19" fmla="*/ 323879 w 361941"/>
                <a:gd name="connsiteY19" fmla="*/ 307763 h 514168"/>
                <a:gd name="connsiteX20" fmla="*/ 323879 w 361941"/>
                <a:gd name="connsiteY20" fmla="*/ 271518 h 514168"/>
                <a:gd name="connsiteX21" fmla="*/ 361941 w 361941"/>
                <a:gd name="connsiteY21" fmla="*/ 271518 h 514168"/>
                <a:gd name="connsiteX22" fmla="*/ 361941 w 361941"/>
                <a:gd name="connsiteY22" fmla="*/ 252468 h 514168"/>
                <a:gd name="connsiteX23" fmla="*/ 323879 w 361941"/>
                <a:gd name="connsiteY23" fmla="*/ 252468 h 514168"/>
                <a:gd name="connsiteX24" fmla="*/ 76200 w 361941"/>
                <a:gd name="connsiteY24" fmla="*/ 19052 h 514168"/>
                <a:gd name="connsiteX25" fmla="*/ 266700 w 361941"/>
                <a:gd name="connsiteY25" fmla="*/ 19052 h 514168"/>
                <a:gd name="connsiteX26" fmla="*/ 266700 w 361941"/>
                <a:gd name="connsiteY26" fmla="*/ 47669 h 514168"/>
                <a:gd name="connsiteX27" fmla="*/ 76200 w 361941"/>
                <a:gd name="connsiteY27" fmla="*/ 47669 h 514168"/>
                <a:gd name="connsiteX28" fmla="*/ 190500 w 361941"/>
                <a:gd name="connsiteY28" fmla="*/ 495120 h 514168"/>
                <a:gd name="connsiteX29" fmla="*/ 190500 w 361941"/>
                <a:gd name="connsiteY29" fmla="*/ 409616 h 514168"/>
                <a:gd name="connsiteX30" fmla="*/ 152400 w 361941"/>
                <a:gd name="connsiteY30" fmla="*/ 409616 h 514168"/>
                <a:gd name="connsiteX31" fmla="*/ 152400 w 361941"/>
                <a:gd name="connsiteY31" fmla="*/ 495118 h 514168"/>
                <a:gd name="connsiteX32" fmla="*/ 38100 w 361941"/>
                <a:gd name="connsiteY32" fmla="*/ 495118 h 514168"/>
                <a:gd name="connsiteX33" fmla="*/ 38100 w 361941"/>
                <a:gd name="connsiteY33" fmla="*/ 66717 h 514168"/>
                <a:gd name="connsiteX34" fmla="*/ 304829 w 361941"/>
                <a:gd name="connsiteY34" fmla="*/ 66717 h 514168"/>
                <a:gd name="connsiteX35" fmla="*/ 304829 w 361941"/>
                <a:gd name="connsiteY35" fmla="*/ 495118 h 51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1941" h="514168">
                  <a:moveTo>
                    <a:pt x="323879" y="216219"/>
                  </a:moveTo>
                  <a:lnTo>
                    <a:pt x="354398" y="190053"/>
                  </a:lnTo>
                  <a:lnTo>
                    <a:pt x="341988" y="175589"/>
                  </a:lnTo>
                  <a:lnTo>
                    <a:pt x="323879" y="191114"/>
                  </a:lnTo>
                  <a:lnTo>
                    <a:pt x="323879" y="47668"/>
                  </a:lnTo>
                  <a:lnTo>
                    <a:pt x="285750" y="47668"/>
                  </a:lnTo>
                  <a:lnTo>
                    <a:pt x="285750" y="0"/>
                  </a:lnTo>
                  <a:lnTo>
                    <a:pt x="57150" y="0"/>
                  </a:lnTo>
                  <a:lnTo>
                    <a:pt x="57150" y="47667"/>
                  </a:lnTo>
                  <a:lnTo>
                    <a:pt x="19050" y="47667"/>
                  </a:lnTo>
                  <a:lnTo>
                    <a:pt x="19050" y="495118"/>
                  </a:lnTo>
                  <a:lnTo>
                    <a:pt x="0" y="495118"/>
                  </a:lnTo>
                  <a:lnTo>
                    <a:pt x="0" y="514168"/>
                  </a:lnTo>
                  <a:lnTo>
                    <a:pt x="342900" y="514168"/>
                  </a:lnTo>
                  <a:lnTo>
                    <a:pt x="342900" y="495118"/>
                  </a:lnTo>
                  <a:lnTo>
                    <a:pt x="323879" y="495118"/>
                  </a:lnTo>
                  <a:lnTo>
                    <a:pt x="323879" y="332868"/>
                  </a:lnTo>
                  <a:lnTo>
                    <a:pt x="341988" y="348394"/>
                  </a:lnTo>
                  <a:lnTo>
                    <a:pt x="354398" y="333930"/>
                  </a:lnTo>
                  <a:lnTo>
                    <a:pt x="323879" y="307763"/>
                  </a:lnTo>
                  <a:lnTo>
                    <a:pt x="323879" y="271518"/>
                  </a:lnTo>
                  <a:lnTo>
                    <a:pt x="361941" y="271518"/>
                  </a:lnTo>
                  <a:lnTo>
                    <a:pt x="361941" y="252468"/>
                  </a:lnTo>
                  <a:lnTo>
                    <a:pt x="323879" y="252468"/>
                  </a:lnTo>
                  <a:close/>
                  <a:moveTo>
                    <a:pt x="76200" y="19052"/>
                  </a:moveTo>
                  <a:lnTo>
                    <a:pt x="266700" y="19052"/>
                  </a:lnTo>
                  <a:lnTo>
                    <a:pt x="266700" y="47669"/>
                  </a:lnTo>
                  <a:lnTo>
                    <a:pt x="76200" y="47669"/>
                  </a:lnTo>
                  <a:close/>
                  <a:moveTo>
                    <a:pt x="190500" y="495120"/>
                  </a:moveTo>
                  <a:lnTo>
                    <a:pt x="190500" y="409616"/>
                  </a:lnTo>
                  <a:lnTo>
                    <a:pt x="152400" y="409616"/>
                  </a:lnTo>
                  <a:lnTo>
                    <a:pt x="152400" y="495118"/>
                  </a:lnTo>
                  <a:lnTo>
                    <a:pt x="38100" y="495118"/>
                  </a:lnTo>
                  <a:lnTo>
                    <a:pt x="38100" y="66717"/>
                  </a:lnTo>
                  <a:lnTo>
                    <a:pt x="304829" y="66717"/>
                  </a:lnTo>
                  <a:lnTo>
                    <a:pt x="304829" y="49511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1" name="Forme libre : forme 90">
              <a:extLst>
                <a:ext uri="{FF2B5EF4-FFF2-40B4-BE49-F238E27FC236}">
                  <a16:creationId xmlns:a16="http://schemas.microsoft.com/office/drawing/2014/main" id="{7CAB42C1-C701-7AFE-F744-548B85483DE1}"/>
                </a:ext>
              </a:extLst>
            </p:cNvPr>
            <p:cNvSpPr/>
            <p:nvPr/>
          </p:nvSpPr>
          <p:spPr>
            <a:xfrm>
              <a:off x="11361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2" name="Forme libre : forme 91">
              <a:extLst>
                <a:ext uri="{FF2B5EF4-FFF2-40B4-BE49-F238E27FC236}">
                  <a16:creationId xmlns:a16="http://schemas.microsoft.com/office/drawing/2014/main" id="{7026C4CE-9D9A-A2D6-C478-E768903C6818}"/>
                </a:ext>
              </a:extLst>
            </p:cNvPr>
            <p:cNvSpPr/>
            <p:nvPr/>
          </p:nvSpPr>
          <p:spPr>
            <a:xfrm>
              <a:off x="9837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3" name="Forme libre : forme 92">
              <a:extLst>
                <a:ext uri="{FF2B5EF4-FFF2-40B4-BE49-F238E27FC236}">
                  <a16:creationId xmlns:a16="http://schemas.microsoft.com/office/drawing/2014/main" id="{F41DBF1D-5548-0486-079E-2C923132CB25}"/>
                </a:ext>
              </a:extLst>
            </p:cNvPr>
            <p:cNvSpPr/>
            <p:nvPr/>
          </p:nvSpPr>
          <p:spPr>
            <a:xfrm>
              <a:off x="10599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4" name="Forme libre : forme 93">
              <a:extLst>
                <a:ext uri="{FF2B5EF4-FFF2-40B4-BE49-F238E27FC236}">
                  <a16:creationId xmlns:a16="http://schemas.microsoft.com/office/drawing/2014/main" id="{52AA5509-2150-489E-4832-442417047C33}"/>
                </a:ext>
              </a:extLst>
            </p:cNvPr>
            <p:cNvSpPr/>
            <p:nvPr/>
          </p:nvSpPr>
          <p:spPr>
            <a:xfrm>
              <a:off x="9837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5" name="Forme libre : forme 94">
              <a:extLst>
                <a:ext uri="{FF2B5EF4-FFF2-40B4-BE49-F238E27FC236}">
                  <a16:creationId xmlns:a16="http://schemas.microsoft.com/office/drawing/2014/main" id="{B674E839-6F70-6714-FC5D-5F81D4438A65}"/>
                </a:ext>
              </a:extLst>
            </p:cNvPr>
            <p:cNvSpPr/>
            <p:nvPr/>
          </p:nvSpPr>
          <p:spPr>
            <a:xfrm>
              <a:off x="10599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6" name="Forme libre : forme 95">
              <a:extLst>
                <a:ext uri="{FF2B5EF4-FFF2-40B4-BE49-F238E27FC236}">
                  <a16:creationId xmlns:a16="http://schemas.microsoft.com/office/drawing/2014/main" id="{BC6A3829-1ECC-57DE-6801-4CA424257B6C}"/>
                </a:ext>
              </a:extLst>
            </p:cNvPr>
            <p:cNvSpPr/>
            <p:nvPr/>
          </p:nvSpPr>
          <p:spPr>
            <a:xfrm>
              <a:off x="10599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7" name="Forme libre : forme 96">
              <a:extLst>
                <a:ext uri="{FF2B5EF4-FFF2-40B4-BE49-F238E27FC236}">
                  <a16:creationId xmlns:a16="http://schemas.microsoft.com/office/drawing/2014/main" id="{0D267C2F-78C0-0DF8-3EF1-0580F7AD1482}"/>
                </a:ext>
              </a:extLst>
            </p:cNvPr>
            <p:cNvSpPr/>
            <p:nvPr/>
          </p:nvSpPr>
          <p:spPr>
            <a:xfrm>
              <a:off x="9837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8" name="Forme libre : forme 97">
              <a:extLst>
                <a:ext uri="{FF2B5EF4-FFF2-40B4-BE49-F238E27FC236}">
                  <a16:creationId xmlns:a16="http://schemas.microsoft.com/office/drawing/2014/main" id="{74AE73BA-65C2-9831-EC05-5FD6B5D59ED8}"/>
                </a:ext>
              </a:extLst>
            </p:cNvPr>
            <p:cNvSpPr/>
            <p:nvPr/>
          </p:nvSpPr>
          <p:spPr>
            <a:xfrm>
              <a:off x="11361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9" name="Forme libre : forme 98">
              <a:extLst>
                <a:ext uri="{FF2B5EF4-FFF2-40B4-BE49-F238E27FC236}">
                  <a16:creationId xmlns:a16="http://schemas.microsoft.com/office/drawing/2014/main" id="{4E322477-69B6-BC47-E2FC-6D258DE6E8E5}"/>
                </a:ext>
              </a:extLst>
            </p:cNvPr>
            <p:cNvSpPr/>
            <p:nvPr/>
          </p:nvSpPr>
          <p:spPr>
            <a:xfrm>
              <a:off x="983750" y="4362851"/>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0" name="Forme libre : forme 99">
              <a:extLst>
                <a:ext uri="{FF2B5EF4-FFF2-40B4-BE49-F238E27FC236}">
                  <a16:creationId xmlns:a16="http://schemas.microsoft.com/office/drawing/2014/main" id="{80E071CB-23FB-294A-98DF-608FBA25AEE6}"/>
                </a:ext>
              </a:extLst>
            </p:cNvPr>
            <p:cNvSpPr/>
            <p:nvPr/>
          </p:nvSpPr>
          <p:spPr>
            <a:xfrm>
              <a:off x="1136150" y="4362851"/>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1" name="Forme libre : forme 100">
              <a:extLst>
                <a:ext uri="{FF2B5EF4-FFF2-40B4-BE49-F238E27FC236}">
                  <a16:creationId xmlns:a16="http://schemas.microsoft.com/office/drawing/2014/main" id="{0F47A5CB-0554-C1CE-C1BC-DEC3DCB6134B}"/>
                </a:ext>
              </a:extLst>
            </p:cNvPr>
            <p:cNvSpPr/>
            <p:nvPr/>
          </p:nvSpPr>
          <p:spPr>
            <a:xfrm>
              <a:off x="9837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2" name="Forme libre : forme 101">
              <a:extLst>
                <a:ext uri="{FF2B5EF4-FFF2-40B4-BE49-F238E27FC236}">
                  <a16:creationId xmlns:a16="http://schemas.microsoft.com/office/drawing/2014/main" id="{88FB2AD5-09C7-FCEF-1FD9-798BF0AC44C4}"/>
                </a:ext>
              </a:extLst>
            </p:cNvPr>
            <p:cNvSpPr/>
            <p:nvPr/>
          </p:nvSpPr>
          <p:spPr>
            <a:xfrm>
              <a:off x="11361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3" name="Forme libre : forme 102">
              <a:extLst>
                <a:ext uri="{FF2B5EF4-FFF2-40B4-BE49-F238E27FC236}">
                  <a16:creationId xmlns:a16="http://schemas.microsoft.com/office/drawing/2014/main" id="{1F2A4512-E40B-95A0-FC90-A50B220EDA4C}"/>
                </a:ext>
              </a:extLst>
            </p:cNvPr>
            <p:cNvSpPr/>
            <p:nvPr/>
          </p:nvSpPr>
          <p:spPr>
            <a:xfrm>
              <a:off x="10599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4" name="Forme libre : forme 103">
              <a:extLst>
                <a:ext uri="{FF2B5EF4-FFF2-40B4-BE49-F238E27FC236}">
                  <a16:creationId xmlns:a16="http://schemas.microsoft.com/office/drawing/2014/main" id="{0787996C-3EBE-14AC-2886-D9A6F247BE4B}"/>
                </a:ext>
              </a:extLst>
            </p:cNvPr>
            <p:cNvSpPr/>
            <p:nvPr/>
          </p:nvSpPr>
          <p:spPr>
            <a:xfrm>
              <a:off x="11361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5" name="Forme libre : forme 104">
              <a:extLst>
                <a:ext uri="{FF2B5EF4-FFF2-40B4-BE49-F238E27FC236}">
                  <a16:creationId xmlns:a16="http://schemas.microsoft.com/office/drawing/2014/main" id="{7D7F689B-A522-5E56-AE63-36AE81C5A96D}"/>
                </a:ext>
              </a:extLst>
            </p:cNvPr>
            <p:cNvSpPr/>
            <p:nvPr/>
          </p:nvSpPr>
          <p:spPr>
            <a:xfrm>
              <a:off x="1526666" y="4105690"/>
              <a:ext cx="219075" cy="219075"/>
            </a:xfrm>
            <a:custGeom>
              <a:avLst/>
              <a:gdLst>
                <a:gd name="connsiteX0" fmla="*/ 109538 w 219075"/>
                <a:gd name="connsiteY0" fmla="*/ 0 h 219075"/>
                <a:gd name="connsiteX1" fmla="*/ 0 w 219075"/>
                <a:gd name="connsiteY1" fmla="*/ 109538 h 219075"/>
                <a:gd name="connsiteX2" fmla="*/ 109538 w 219075"/>
                <a:gd name="connsiteY2" fmla="*/ 219075 h 219075"/>
                <a:gd name="connsiteX3" fmla="*/ 219075 w 219075"/>
                <a:gd name="connsiteY3" fmla="*/ 109538 h 219075"/>
                <a:gd name="connsiteX4" fmla="*/ 109538 w 219075"/>
                <a:gd name="connsiteY4" fmla="*/ 0 h 219075"/>
                <a:gd name="connsiteX5" fmla="*/ 57804 w 219075"/>
                <a:gd name="connsiteY5" fmla="*/ 183671 h 219075"/>
                <a:gd name="connsiteX6" fmla="*/ 114882 w 219075"/>
                <a:gd name="connsiteY6" fmla="*/ 137274 h 219075"/>
                <a:gd name="connsiteX7" fmla="*/ 161278 w 219075"/>
                <a:gd name="connsiteY7" fmla="*/ 183664 h 219075"/>
                <a:gd name="connsiteX8" fmla="*/ 57804 w 219075"/>
                <a:gd name="connsiteY8" fmla="*/ 183671 h 219075"/>
                <a:gd name="connsiteX9" fmla="*/ 86180 w 219075"/>
                <a:gd name="connsiteY9" fmla="*/ 94593 h 219075"/>
                <a:gd name="connsiteX10" fmla="*/ 109537 w 219075"/>
                <a:gd name="connsiteY10" fmla="*/ 71225 h 219075"/>
                <a:gd name="connsiteX11" fmla="*/ 132904 w 219075"/>
                <a:gd name="connsiteY11" fmla="*/ 94581 h 219075"/>
                <a:gd name="connsiteX12" fmla="*/ 109548 w 219075"/>
                <a:gd name="connsiteY12" fmla="*/ 117949 h 219075"/>
                <a:gd name="connsiteX13" fmla="*/ 109538 w 219075"/>
                <a:gd name="connsiteY13" fmla="*/ 117949 h 219075"/>
                <a:gd name="connsiteX14" fmla="*/ 86180 w 219075"/>
                <a:gd name="connsiteY14" fmla="*/ 94593 h 219075"/>
                <a:gd name="connsiteX15" fmla="*/ 177661 w 219075"/>
                <a:gd name="connsiteY15" fmla="*/ 168908 h 219075"/>
                <a:gd name="connsiteX16" fmla="*/ 139433 w 219075"/>
                <a:gd name="connsiteY16" fmla="*/ 124632 h 219075"/>
                <a:gd name="connsiteX17" fmla="*/ 139621 w 219075"/>
                <a:gd name="connsiteY17" fmla="*/ 64657 h 219075"/>
                <a:gd name="connsiteX18" fmla="*/ 79646 w 219075"/>
                <a:gd name="connsiteY18" fmla="*/ 64468 h 219075"/>
                <a:gd name="connsiteX19" fmla="*/ 79458 w 219075"/>
                <a:gd name="connsiteY19" fmla="*/ 124443 h 219075"/>
                <a:gd name="connsiteX20" fmla="*/ 79646 w 219075"/>
                <a:gd name="connsiteY20" fmla="*/ 124632 h 219075"/>
                <a:gd name="connsiteX21" fmla="*/ 41420 w 219075"/>
                <a:gd name="connsiteY21" fmla="*/ 168913 h 219075"/>
                <a:gd name="connsiteX22" fmla="*/ 49973 w 219075"/>
                <a:gd name="connsiteY22" fmla="*/ 41231 h 219075"/>
                <a:gd name="connsiteX23" fmla="*/ 177656 w 219075"/>
                <a:gd name="connsiteY23" fmla="*/ 49783 h 219075"/>
                <a:gd name="connsiteX24" fmla="*/ 177661 w 219075"/>
                <a:gd name="connsiteY24" fmla="*/ 168907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075" h="219075">
                  <a:moveTo>
                    <a:pt x="109538" y="0"/>
                  </a:moveTo>
                  <a:cubicBezTo>
                    <a:pt x="49041" y="0"/>
                    <a:pt x="0" y="49041"/>
                    <a:pt x="0" y="109538"/>
                  </a:cubicBezTo>
                  <a:cubicBezTo>
                    <a:pt x="0" y="170034"/>
                    <a:pt x="49041" y="219075"/>
                    <a:pt x="109538" y="219075"/>
                  </a:cubicBezTo>
                  <a:cubicBezTo>
                    <a:pt x="170034" y="219075"/>
                    <a:pt x="219075" y="170034"/>
                    <a:pt x="219075" y="109538"/>
                  </a:cubicBezTo>
                  <a:cubicBezTo>
                    <a:pt x="219006" y="49070"/>
                    <a:pt x="170005" y="69"/>
                    <a:pt x="109538" y="0"/>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8" y="117949"/>
                  </a:cubicBezTo>
                  <a:cubicBezTo>
                    <a:pt x="96644" y="117936"/>
                    <a:pt x="86194" y="107487"/>
                    <a:pt x="86180" y="94593"/>
                  </a:cubicBezTo>
                  <a:close/>
                  <a:moveTo>
                    <a:pt x="177661" y="168908"/>
                  </a:move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3"/>
                  </a:cubicBezTo>
                  <a:cubicBezTo>
                    <a:pt x="8524" y="131294"/>
                    <a:pt x="12353" y="74127"/>
                    <a:pt x="49973" y="41231"/>
                  </a:cubicBezTo>
                  <a:cubicBezTo>
                    <a:pt x="87593" y="8334"/>
                    <a:pt x="144759" y="12163"/>
                    <a:pt x="177656" y="49783"/>
                  </a:cubicBezTo>
                  <a:cubicBezTo>
                    <a:pt x="207480" y="83890"/>
                    <a:pt x="207482" y="134797"/>
                    <a:pt x="177661" y="168907"/>
                  </a:cubicBezTo>
                  <a:close/>
                </a:path>
              </a:pathLst>
            </a:custGeom>
            <a:solidFill>
              <a:srgbClr val="000000"/>
            </a:solidFill>
            <a:ln w="9525" cap="flat">
              <a:solidFill>
                <a:srgbClr val="7DA7C6"/>
              </a:solidFill>
              <a:prstDash val="solid"/>
              <a:miter/>
            </a:ln>
          </p:spPr>
          <p:txBody>
            <a:bodyPr rtlCol="0" anchor="ctr"/>
            <a:lstStyle/>
            <a:p>
              <a:endParaRPr lang="fr-FR"/>
            </a:p>
          </p:txBody>
        </p:sp>
        <p:sp>
          <p:nvSpPr>
            <p:cNvPr id="106" name="Forme libre : forme 105">
              <a:extLst>
                <a:ext uri="{FF2B5EF4-FFF2-40B4-BE49-F238E27FC236}">
                  <a16:creationId xmlns:a16="http://schemas.microsoft.com/office/drawing/2014/main" id="{33AF8A13-137A-8268-FF64-F255CC81B6EB}"/>
                </a:ext>
              </a:extLst>
            </p:cNvPr>
            <p:cNvSpPr/>
            <p:nvPr/>
          </p:nvSpPr>
          <p:spPr>
            <a:xfrm>
              <a:off x="1374266" y="3848515"/>
              <a:ext cx="219074" cy="219075"/>
            </a:xfrm>
            <a:custGeom>
              <a:avLst/>
              <a:gdLst>
                <a:gd name="connsiteX0" fmla="*/ 109537 w 219074"/>
                <a:gd name="connsiteY0" fmla="*/ 219075 h 219075"/>
                <a:gd name="connsiteX1" fmla="*/ 219075 w 219074"/>
                <a:gd name="connsiteY1" fmla="*/ 109538 h 219075"/>
                <a:gd name="connsiteX2" fmla="*/ 109537 w 219074"/>
                <a:gd name="connsiteY2" fmla="*/ 0 h 219075"/>
                <a:gd name="connsiteX3" fmla="*/ 0 w 219074"/>
                <a:gd name="connsiteY3" fmla="*/ 109538 h 219075"/>
                <a:gd name="connsiteX4" fmla="*/ 109537 w 219074"/>
                <a:gd name="connsiteY4" fmla="*/ 219075 h 219075"/>
                <a:gd name="connsiteX5" fmla="*/ 57804 w 219074"/>
                <a:gd name="connsiteY5" fmla="*/ 183671 h 219075"/>
                <a:gd name="connsiteX6" fmla="*/ 114882 w 219074"/>
                <a:gd name="connsiteY6" fmla="*/ 137274 h 219075"/>
                <a:gd name="connsiteX7" fmla="*/ 161278 w 219074"/>
                <a:gd name="connsiteY7" fmla="*/ 183664 h 219075"/>
                <a:gd name="connsiteX8" fmla="*/ 57804 w 219074"/>
                <a:gd name="connsiteY8" fmla="*/ 183671 h 219075"/>
                <a:gd name="connsiteX9" fmla="*/ 86180 w 219074"/>
                <a:gd name="connsiteY9" fmla="*/ 94593 h 219075"/>
                <a:gd name="connsiteX10" fmla="*/ 109537 w 219074"/>
                <a:gd name="connsiteY10" fmla="*/ 71225 h 219075"/>
                <a:gd name="connsiteX11" fmla="*/ 132904 w 219074"/>
                <a:gd name="connsiteY11" fmla="*/ 94581 h 219075"/>
                <a:gd name="connsiteX12" fmla="*/ 109548 w 219074"/>
                <a:gd name="connsiteY12" fmla="*/ 117949 h 219075"/>
                <a:gd name="connsiteX13" fmla="*/ 109537 w 219074"/>
                <a:gd name="connsiteY13" fmla="*/ 117949 h 219075"/>
                <a:gd name="connsiteX14" fmla="*/ 86180 w 219074"/>
                <a:gd name="connsiteY14" fmla="*/ 94593 h 219075"/>
                <a:gd name="connsiteX15" fmla="*/ 109537 w 219074"/>
                <a:gd name="connsiteY15" fmla="*/ 19053 h 219075"/>
                <a:gd name="connsiteX16" fmla="*/ 200025 w 219074"/>
                <a:gd name="connsiteY16" fmla="*/ 109264 h 219075"/>
                <a:gd name="connsiteX17" fmla="*/ 177661 w 219074"/>
                <a:gd name="connsiteY17" fmla="*/ 168908 h 219075"/>
                <a:gd name="connsiteX18" fmla="*/ 139433 w 219074"/>
                <a:gd name="connsiteY18" fmla="*/ 124632 h 219075"/>
                <a:gd name="connsiteX19" fmla="*/ 139621 w 219074"/>
                <a:gd name="connsiteY19" fmla="*/ 64657 h 219075"/>
                <a:gd name="connsiteX20" fmla="*/ 79646 w 219074"/>
                <a:gd name="connsiteY20" fmla="*/ 64468 h 219075"/>
                <a:gd name="connsiteX21" fmla="*/ 79458 w 219074"/>
                <a:gd name="connsiteY21" fmla="*/ 124443 h 219075"/>
                <a:gd name="connsiteX22" fmla="*/ 79646 w 219074"/>
                <a:gd name="connsiteY22" fmla="*/ 124632 h 219075"/>
                <a:gd name="connsiteX23" fmla="*/ 41420 w 219074"/>
                <a:gd name="connsiteY23" fmla="*/ 168914 h 219075"/>
                <a:gd name="connsiteX24" fmla="*/ 49881 w 219074"/>
                <a:gd name="connsiteY24" fmla="*/ 41422 h 219075"/>
                <a:gd name="connsiteX25" fmla="*/ 109537 w 219074"/>
                <a:gd name="connsiteY25" fmla="*/ 1905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9074" h="219075">
                  <a:moveTo>
                    <a:pt x="109537" y="219075"/>
                  </a:moveTo>
                  <a:cubicBezTo>
                    <a:pt x="170034" y="219075"/>
                    <a:pt x="219075" y="170034"/>
                    <a:pt x="219075" y="109538"/>
                  </a:cubicBezTo>
                  <a:cubicBezTo>
                    <a:pt x="219075" y="49041"/>
                    <a:pt x="170034" y="0"/>
                    <a:pt x="109537" y="0"/>
                  </a:cubicBezTo>
                  <a:cubicBezTo>
                    <a:pt x="49041" y="0"/>
                    <a:pt x="0" y="49041"/>
                    <a:pt x="0" y="109538"/>
                  </a:cubicBezTo>
                  <a:cubicBezTo>
                    <a:pt x="69" y="170005"/>
                    <a:pt x="49070" y="219006"/>
                    <a:pt x="109537" y="219075"/>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7" y="117949"/>
                  </a:cubicBezTo>
                  <a:cubicBezTo>
                    <a:pt x="96644" y="117936"/>
                    <a:pt x="86194" y="107487"/>
                    <a:pt x="86180" y="94593"/>
                  </a:cubicBezTo>
                  <a:close/>
                  <a:moveTo>
                    <a:pt x="109537" y="19053"/>
                  </a:moveTo>
                  <a:cubicBezTo>
                    <a:pt x="159436" y="18977"/>
                    <a:pt x="199949" y="59366"/>
                    <a:pt x="200025" y="109264"/>
                  </a:cubicBezTo>
                  <a:cubicBezTo>
                    <a:pt x="200058" y="131201"/>
                    <a:pt x="192109" y="152401"/>
                    <a:pt x="177661" y="168908"/>
                  </a:cubicBez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4"/>
                  </a:cubicBezTo>
                  <a:cubicBezTo>
                    <a:pt x="8552" y="131372"/>
                    <a:pt x="12340" y="74291"/>
                    <a:pt x="49881" y="41422"/>
                  </a:cubicBezTo>
                  <a:cubicBezTo>
                    <a:pt x="66390" y="26968"/>
                    <a:pt x="87596" y="19016"/>
                    <a:pt x="109537" y="19050"/>
                  </a:cubicBezTo>
                  <a:close/>
                </a:path>
              </a:pathLst>
            </a:custGeom>
            <a:solidFill>
              <a:srgbClr val="000000"/>
            </a:solidFill>
            <a:ln w="9525" cap="flat">
              <a:solidFill>
                <a:srgbClr val="7DA7C6"/>
              </a:solidFill>
              <a:prstDash val="solid"/>
              <a:miter/>
            </a:ln>
          </p:spPr>
          <p:txBody>
            <a:bodyPr rtlCol="0" anchor="ctr"/>
            <a:lstStyle/>
            <a:p>
              <a:endParaRPr lang="fr-FR"/>
            </a:p>
          </p:txBody>
        </p:sp>
        <p:sp>
          <p:nvSpPr>
            <p:cNvPr id="107" name="Forme libre : forme 106">
              <a:extLst>
                <a:ext uri="{FF2B5EF4-FFF2-40B4-BE49-F238E27FC236}">
                  <a16:creationId xmlns:a16="http://schemas.microsoft.com/office/drawing/2014/main" id="{D17AC1B9-C1B6-4305-43A5-547CB19570D1}"/>
                </a:ext>
              </a:extLst>
            </p:cNvPr>
            <p:cNvSpPr/>
            <p:nvPr/>
          </p:nvSpPr>
          <p:spPr>
            <a:xfrm>
              <a:off x="1374266" y="4362865"/>
              <a:ext cx="219074" cy="219075"/>
            </a:xfrm>
            <a:custGeom>
              <a:avLst/>
              <a:gdLst>
                <a:gd name="connsiteX0" fmla="*/ 109537 w 219074"/>
                <a:gd name="connsiteY0" fmla="*/ 0 h 219075"/>
                <a:gd name="connsiteX1" fmla="*/ 0 w 219074"/>
                <a:gd name="connsiteY1" fmla="*/ 109538 h 219075"/>
                <a:gd name="connsiteX2" fmla="*/ 109537 w 219074"/>
                <a:gd name="connsiteY2" fmla="*/ 219075 h 219075"/>
                <a:gd name="connsiteX3" fmla="*/ 219075 w 219074"/>
                <a:gd name="connsiteY3" fmla="*/ 109538 h 219075"/>
                <a:gd name="connsiteX4" fmla="*/ 109537 w 219074"/>
                <a:gd name="connsiteY4" fmla="*/ 0 h 219075"/>
                <a:gd name="connsiteX5" fmla="*/ 57804 w 219074"/>
                <a:gd name="connsiteY5" fmla="*/ 183671 h 219075"/>
                <a:gd name="connsiteX6" fmla="*/ 114882 w 219074"/>
                <a:gd name="connsiteY6" fmla="*/ 137274 h 219075"/>
                <a:gd name="connsiteX7" fmla="*/ 161278 w 219074"/>
                <a:gd name="connsiteY7" fmla="*/ 183664 h 219075"/>
                <a:gd name="connsiteX8" fmla="*/ 57804 w 219074"/>
                <a:gd name="connsiteY8" fmla="*/ 183671 h 219075"/>
                <a:gd name="connsiteX9" fmla="*/ 86180 w 219074"/>
                <a:gd name="connsiteY9" fmla="*/ 94593 h 219075"/>
                <a:gd name="connsiteX10" fmla="*/ 109537 w 219074"/>
                <a:gd name="connsiteY10" fmla="*/ 71225 h 219075"/>
                <a:gd name="connsiteX11" fmla="*/ 132904 w 219074"/>
                <a:gd name="connsiteY11" fmla="*/ 94581 h 219075"/>
                <a:gd name="connsiteX12" fmla="*/ 109548 w 219074"/>
                <a:gd name="connsiteY12" fmla="*/ 117949 h 219075"/>
                <a:gd name="connsiteX13" fmla="*/ 109537 w 219074"/>
                <a:gd name="connsiteY13" fmla="*/ 117949 h 219075"/>
                <a:gd name="connsiteX14" fmla="*/ 86180 w 219074"/>
                <a:gd name="connsiteY14" fmla="*/ 94593 h 219075"/>
                <a:gd name="connsiteX15" fmla="*/ 177661 w 219074"/>
                <a:gd name="connsiteY15" fmla="*/ 168908 h 219075"/>
                <a:gd name="connsiteX16" fmla="*/ 139433 w 219074"/>
                <a:gd name="connsiteY16" fmla="*/ 124632 h 219075"/>
                <a:gd name="connsiteX17" fmla="*/ 139621 w 219074"/>
                <a:gd name="connsiteY17" fmla="*/ 64657 h 219075"/>
                <a:gd name="connsiteX18" fmla="*/ 79646 w 219074"/>
                <a:gd name="connsiteY18" fmla="*/ 64468 h 219075"/>
                <a:gd name="connsiteX19" fmla="*/ 79458 w 219074"/>
                <a:gd name="connsiteY19" fmla="*/ 124443 h 219075"/>
                <a:gd name="connsiteX20" fmla="*/ 79646 w 219074"/>
                <a:gd name="connsiteY20" fmla="*/ 124632 h 219075"/>
                <a:gd name="connsiteX21" fmla="*/ 41420 w 219074"/>
                <a:gd name="connsiteY21" fmla="*/ 168913 h 219075"/>
                <a:gd name="connsiteX22" fmla="*/ 49973 w 219074"/>
                <a:gd name="connsiteY22" fmla="*/ 41231 h 219075"/>
                <a:gd name="connsiteX23" fmla="*/ 177656 w 219074"/>
                <a:gd name="connsiteY23" fmla="*/ 49783 h 219075"/>
                <a:gd name="connsiteX24" fmla="*/ 177661 w 219074"/>
                <a:gd name="connsiteY24" fmla="*/ 168907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074" h="219075">
                  <a:moveTo>
                    <a:pt x="109537" y="0"/>
                  </a:moveTo>
                  <a:cubicBezTo>
                    <a:pt x="49041" y="0"/>
                    <a:pt x="0" y="49041"/>
                    <a:pt x="0" y="109538"/>
                  </a:cubicBezTo>
                  <a:cubicBezTo>
                    <a:pt x="0" y="170034"/>
                    <a:pt x="49041" y="219075"/>
                    <a:pt x="109537" y="219075"/>
                  </a:cubicBezTo>
                  <a:cubicBezTo>
                    <a:pt x="170034" y="219075"/>
                    <a:pt x="219075" y="170034"/>
                    <a:pt x="219075" y="109538"/>
                  </a:cubicBezTo>
                  <a:cubicBezTo>
                    <a:pt x="219006" y="49070"/>
                    <a:pt x="170005" y="69"/>
                    <a:pt x="109537" y="0"/>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7" y="117949"/>
                  </a:cubicBezTo>
                  <a:cubicBezTo>
                    <a:pt x="96644" y="117936"/>
                    <a:pt x="86194" y="107487"/>
                    <a:pt x="86180" y="94593"/>
                  </a:cubicBezTo>
                  <a:close/>
                  <a:moveTo>
                    <a:pt x="177661" y="168908"/>
                  </a:move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3"/>
                  </a:cubicBezTo>
                  <a:cubicBezTo>
                    <a:pt x="8524" y="131294"/>
                    <a:pt x="12353" y="74127"/>
                    <a:pt x="49973" y="41231"/>
                  </a:cubicBezTo>
                  <a:cubicBezTo>
                    <a:pt x="87593" y="8334"/>
                    <a:pt x="144759" y="12163"/>
                    <a:pt x="177656" y="49783"/>
                  </a:cubicBezTo>
                  <a:cubicBezTo>
                    <a:pt x="207480" y="83890"/>
                    <a:pt x="207482" y="134797"/>
                    <a:pt x="177661" y="168907"/>
                  </a:cubicBezTo>
                  <a:close/>
                </a:path>
              </a:pathLst>
            </a:custGeom>
            <a:solidFill>
              <a:srgbClr val="000000"/>
            </a:solidFill>
            <a:ln w="9525" cap="flat">
              <a:solidFill>
                <a:srgbClr val="7DA7C6"/>
              </a:solidFill>
              <a:prstDash val="solid"/>
              <a:miter/>
            </a:ln>
          </p:spPr>
          <p:txBody>
            <a:bodyPr rtlCol="0" anchor="ctr"/>
            <a:lstStyle/>
            <a:p>
              <a:endParaRPr lang="fr-FR"/>
            </a:p>
          </p:txBody>
        </p:sp>
      </p:grpSp>
      <p:grpSp>
        <p:nvGrpSpPr>
          <p:cNvPr id="108" name="Graphique 175">
            <a:extLst>
              <a:ext uri="{FF2B5EF4-FFF2-40B4-BE49-F238E27FC236}">
                <a16:creationId xmlns:a16="http://schemas.microsoft.com/office/drawing/2014/main" id="{33EE731C-EF3F-D4D4-5824-F6E5A80B0CF8}"/>
              </a:ext>
            </a:extLst>
          </p:cNvPr>
          <p:cNvGrpSpPr/>
          <p:nvPr/>
        </p:nvGrpSpPr>
        <p:grpSpPr>
          <a:xfrm>
            <a:off x="1704586" y="3209777"/>
            <a:ext cx="360000" cy="288000"/>
            <a:chOff x="3245610" y="1820342"/>
            <a:chExt cx="285750" cy="247650"/>
          </a:xfrm>
        </p:grpSpPr>
        <p:sp>
          <p:nvSpPr>
            <p:cNvPr id="109" name="Forme libre : forme 108">
              <a:extLst>
                <a:ext uri="{FF2B5EF4-FFF2-40B4-BE49-F238E27FC236}">
                  <a16:creationId xmlns:a16="http://schemas.microsoft.com/office/drawing/2014/main" id="{E65A38F6-6AAD-7EB0-29C9-A61C4CF66122}"/>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sp>
          <p:nvSpPr>
            <p:cNvPr id="110" name="Forme libre : forme 109">
              <a:extLst>
                <a:ext uri="{FF2B5EF4-FFF2-40B4-BE49-F238E27FC236}">
                  <a16:creationId xmlns:a16="http://schemas.microsoft.com/office/drawing/2014/main" id="{59AAB906-2696-A457-CDA7-60FC8F363A2D}"/>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19050" cap="sq">
              <a:solidFill>
                <a:srgbClr val="6496BB"/>
              </a:solidFill>
              <a:prstDash val="solid"/>
              <a:miter/>
            </a:ln>
          </p:spPr>
          <p:txBody>
            <a:bodyPr rtlCol="0" anchor="ctr"/>
            <a:lstStyle/>
            <a:p>
              <a:endParaRPr lang="en-US"/>
            </a:p>
          </p:txBody>
        </p:sp>
        <p:sp>
          <p:nvSpPr>
            <p:cNvPr id="111" name="Forme libre : forme 110">
              <a:extLst>
                <a:ext uri="{FF2B5EF4-FFF2-40B4-BE49-F238E27FC236}">
                  <a16:creationId xmlns:a16="http://schemas.microsoft.com/office/drawing/2014/main" id="{1104C8BB-6766-488D-6491-7EC2A99684A9}"/>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19050" cap="sq">
              <a:solidFill>
                <a:srgbClr val="6496BB"/>
              </a:solidFill>
              <a:prstDash val="solid"/>
              <a:miter/>
            </a:ln>
          </p:spPr>
          <p:txBody>
            <a:bodyPr rtlCol="0" anchor="ctr"/>
            <a:lstStyle/>
            <a:p>
              <a:endParaRPr lang="en-US"/>
            </a:p>
          </p:txBody>
        </p:sp>
        <p:sp>
          <p:nvSpPr>
            <p:cNvPr id="112" name="Forme libre : forme 111">
              <a:extLst>
                <a:ext uri="{FF2B5EF4-FFF2-40B4-BE49-F238E27FC236}">
                  <a16:creationId xmlns:a16="http://schemas.microsoft.com/office/drawing/2014/main" id="{A8B412D5-7C73-5F49-1564-23FEB73E793D}"/>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grpSp>
      <p:sp>
        <p:nvSpPr>
          <p:cNvPr id="113" name="Rectangle : coins arrondis 3">
            <a:extLst>
              <a:ext uri="{FF2B5EF4-FFF2-40B4-BE49-F238E27FC236}">
                <a16:creationId xmlns:a16="http://schemas.microsoft.com/office/drawing/2014/main" id="{054AA670-F0A3-8139-6799-A3D50B445F8B}"/>
              </a:ext>
            </a:extLst>
          </p:cNvPr>
          <p:cNvSpPr/>
          <p:nvPr/>
        </p:nvSpPr>
        <p:spPr>
          <a:xfrm>
            <a:off x="1285394" y="3602091"/>
            <a:ext cx="24788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Co-contractors</a:t>
            </a:r>
          </a:p>
        </p:txBody>
      </p:sp>
      <p:sp>
        <p:nvSpPr>
          <p:cNvPr id="116" name="Rectangle : coins arrondis 115">
            <a:extLst>
              <a:ext uri="{FF2B5EF4-FFF2-40B4-BE49-F238E27FC236}">
                <a16:creationId xmlns:a16="http://schemas.microsoft.com/office/drawing/2014/main" id="{1CC2162F-945D-4002-DEAC-65C72908C5DD}"/>
              </a:ext>
            </a:extLst>
          </p:cNvPr>
          <p:cNvSpPr/>
          <p:nvPr>
            <p:custDataLst>
              <p:tags r:id="rId5"/>
            </p:custDataLst>
          </p:nvPr>
        </p:nvSpPr>
        <p:spPr>
          <a:xfrm>
            <a:off x="499190" y="3795894"/>
            <a:ext cx="3172608" cy="721624"/>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4487AA7B-1BBC-0F5A-8545-41A8EF175092}"/>
              </a:ext>
            </a:extLst>
          </p:cNvPr>
          <p:cNvSpPr/>
          <p:nvPr/>
        </p:nvSpPr>
        <p:spPr>
          <a:xfrm>
            <a:off x="631808" y="3863886"/>
            <a:ext cx="2944791" cy="5293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Co-contractors are granted specific accesses on BYCN IS </a:t>
            </a:r>
          </a:p>
        </p:txBody>
      </p:sp>
      <p:sp>
        <p:nvSpPr>
          <p:cNvPr id="3" name="Rectangle 2">
            <a:extLst>
              <a:ext uri="{FF2B5EF4-FFF2-40B4-BE49-F238E27FC236}">
                <a16:creationId xmlns:a16="http://schemas.microsoft.com/office/drawing/2014/main" id="{E0E459D7-E431-340C-3AAB-AF57B6965141}"/>
              </a:ext>
            </a:extLst>
          </p:cNvPr>
          <p:cNvSpPr/>
          <p:nvPr/>
        </p:nvSpPr>
        <p:spPr>
          <a:xfrm>
            <a:off x="1088608" y="5158243"/>
            <a:ext cx="3796578" cy="1598927"/>
          </a:xfrm>
          <a:prstGeom prst="rect">
            <a:avLst/>
          </a:prstGeom>
          <a:solidFill>
            <a:schemeClr val="bg1">
              <a:lumMod val="6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Image 27">
            <a:extLst>
              <a:ext uri="{FF2B5EF4-FFF2-40B4-BE49-F238E27FC236}">
                <a16:creationId xmlns:a16="http://schemas.microsoft.com/office/drawing/2014/main" id="{CB08A456-A0AB-3C9B-7572-5839D2F238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10307" y="5166998"/>
            <a:ext cx="682982" cy="350597"/>
          </a:xfrm>
          <a:prstGeom prst="rect">
            <a:avLst/>
          </a:prstGeom>
        </p:spPr>
      </p:pic>
      <p:sp>
        <p:nvSpPr>
          <p:cNvPr id="73" name="Rectangle 72">
            <a:extLst>
              <a:ext uri="{FF2B5EF4-FFF2-40B4-BE49-F238E27FC236}">
                <a16:creationId xmlns:a16="http://schemas.microsoft.com/office/drawing/2014/main" id="{BC3F6546-0752-5F1C-CD48-B07160EC9639}"/>
              </a:ext>
            </a:extLst>
          </p:cNvPr>
          <p:cNvSpPr/>
          <p:nvPr/>
        </p:nvSpPr>
        <p:spPr>
          <a:xfrm>
            <a:off x="1136542" y="5898666"/>
            <a:ext cx="3656848" cy="668603"/>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Ongoing project of management of partners with the Migration from BCC to Azure B2B</a:t>
            </a:r>
          </a:p>
        </p:txBody>
      </p:sp>
      <p:sp>
        <p:nvSpPr>
          <p:cNvPr id="74" name="Rectangle 73">
            <a:extLst>
              <a:ext uri="{FF2B5EF4-FFF2-40B4-BE49-F238E27FC236}">
                <a16:creationId xmlns:a16="http://schemas.microsoft.com/office/drawing/2014/main" id="{681E02F3-1E8B-18F4-B196-5BDCA4648D48}"/>
              </a:ext>
            </a:extLst>
          </p:cNvPr>
          <p:cNvSpPr/>
          <p:nvPr/>
        </p:nvSpPr>
        <p:spPr>
          <a:xfrm>
            <a:off x="8181218" y="1431811"/>
            <a:ext cx="3796578" cy="1670887"/>
          </a:xfrm>
          <a:prstGeom prst="rect">
            <a:avLst/>
          </a:prstGeom>
          <a:solidFill>
            <a:schemeClr val="bg1">
              <a:lumMod val="6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05AEEF1C-B3E4-4229-1AB8-DA7AB111C0B7}"/>
              </a:ext>
            </a:extLst>
          </p:cNvPr>
          <p:cNvSpPr/>
          <p:nvPr/>
        </p:nvSpPr>
        <p:spPr>
          <a:xfrm>
            <a:off x="8255336" y="2084640"/>
            <a:ext cx="3656848" cy="682601"/>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mn-lt"/>
                <a:cs typeface="+mn-lt"/>
              </a:rPr>
              <a:t>Enhance high privileged account management and secure secrets through a bastion such as CyberArk. A PAM Program* will start on Q1 2023.</a:t>
            </a:r>
            <a:endParaRPr lang="fr-FR">
              <a:solidFill>
                <a:schemeClr val="tx1"/>
              </a:solidFill>
            </a:endParaRPr>
          </a:p>
        </p:txBody>
      </p:sp>
      <p:sp>
        <p:nvSpPr>
          <p:cNvPr id="77" name="Rectangle 76">
            <a:extLst>
              <a:ext uri="{FF2B5EF4-FFF2-40B4-BE49-F238E27FC236}">
                <a16:creationId xmlns:a16="http://schemas.microsoft.com/office/drawing/2014/main" id="{4AEF7D8B-8ED1-76DF-A325-D898CFB7CA52}"/>
              </a:ext>
            </a:extLst>
          </p:cNvPr>
          <p:cNvSpPr/>
          <p:nvPr/>
        </p:nvSpPr>
        <p:spPr>
          <a:xfrm>
            <a:off x="6060514" y="3633410"/>
            <a:ext cx="1973638" cy="1723123"/>
          </a:xfrm>
          <a:prstGeom prst="rect">
            <a:avLst/>
          </a:prstGeom>
          <a:solidFill>
            <a:schemeClr val="bg1">
              <a:lumMod val="6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Image 77">
            <a:extLst>
              <a:ext uri="{FF2B5EF4-FFF2-40B4-BE49-F238E27FC236}">
                <a16:creationId xmlns:a16="http://schemas.microsoft.com/office/drawing/2014/main" id="{5C56F77D-573B-DDC9-DE24-279C7D1F655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0092" y="3637942"/>
            <a:ext cx="682982" cy="350597"/>
          </a:xfrm>
          <a:prstGeom prst="rect">
            <a:avLst/>
          </a:prstGeom>
        </p:spPr>
      </p:pic>
      <p:sp>
        <p:nvSpPr>
          <p:cNvPr id="80" name="Rectangle 79">
            <a:extLst>
              <a:ext uri="{FF2B5EF4-FFF2-40B4-BE49-F238E27FC236}">
                <a16:creationId xmlns:a16="http://schemas.microsoft.com/office/drawing/2014/main" id="{73FA6C62-8EDC-417A-374B-278456E453CD}"/>
              </a:ext>
            </a:extLst>
          </p:cNvPr>
          <p:cNvSpPr/>
          <p:nvPr/>
        </p:nvSpPr>
        <p:spPr>
          <a:xfrm>
            <a:off x="6090092" y="4989342"/>
            <a:ext cx="1871491" cy="318168"/>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AD &amp; Azure AD</a:t>
            </a:r>
          </a:p>
        </p:txBody>
      </p:sp>
      <p:sp>
        <p:nvSpPr>
          <p:cNvPr id="81" name="Rectangle 80">
            <a:extLst>
              <a:ext uri="{FF2B5EF4-FFF2-40B4-BE49-F238E27FC236}">
                <a16:creationId xmlns:a16="http://schemas.microsoft.com/office/drawing/2014/main" id="{582461ED-D65D-69D5-2238-B4B9B30F9213}"/>
              </a:ext>
            </a:extLst>
          </p:cNvPr>
          <p:cNvSpPr/>
          <p:nvPr/>
        </p:nvSpPr>
        <p:spPr>
          <a:xfrm>
            <a:off x="8181217" y="4393271"/>
            <a:ext cx="3864797" cy="1800807"/>
          </a:xfrm>
          <a:prstGeom prst="rect">
            <a:avLst/>
          </a:prstGeom>
          <a:solidFill>
            <a:schemeClr val="bg1">
              <a:lumMod val="6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6E49DB58-D587-FAC2-57BA-BF189850C18A}"/>
              </a:ext>
            </a:extLst>
          </p:cNvPr>
          <p:cNvSpPr/>
          <p:nvPr/>
        </p:nvSpPr>
        <p:spPr>
          <a:xfrm>
            <a:off x="8268943" y="5765750"/>
            <a:ext cx="3656848" cy="318168"/>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At this time, no customers in BYCN IAM environment</a:t>
            </a:r>
          </a:p>
        </p:txBody>
      </p:sp>
      <p:pic>
        <p:nvPicPr>
          <p:cNvPr id="75" name="Image 74">
            <a:extLst>
              <a:ext uri="{FF2B5EF4-FFF2-40B4-BE49-F238E27FC236}">
                <a16:creationId xmlns:a16="http://schemas.microsoft.com/office/drawing/2014/main" id="{450C7D3D-E018-7950-8DE7-8C4B5D5E8E0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52803" y="1467891"/>
            <a:ext cx="682982" cy="350597"/>
          </a:xfrm>
          <a:prstGeom prst="rect">
            <a:avLst/>
          </a:prstGeom>
        </p:spPr>
      </p:pic>
      <p:pic>
        <p:nvPicPr>
          <p:cNvPr id="115" name="Image 114">
            <a:extLst>
              <a:ext uri="{FF2B5EF4-FFF2-40B4-BE49-F238E27FC236}">
                <a16:creationId xmlns:a16="http://schemas.microsoft.com/office/drawing/2014/main" id="{F82746FC-A270-B12A-E235-D68257C416E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62152" y="4434149"/>
            <a:ext cx="682982" cy="350597"/>
          </a:xfrm>
          <a:prstGeom prst="rect">
            <a:avLst/>
          </a:prstGeom>
        </p:spPr>
      </p:pic>
      <p:sp>
        <p:nvSpPr>
          <p:cNvPr id="121" name="Rectangle : coins arrondis 3">
            <a:extLst>
              <a:ext uri="{FF2B5EF4-FFF2-40B4-BE49-F238E27FC236}">
                <a16:creationId xmlns:a16="http://schemas.microsoft.com/office/drawing/2014/main" id="{2FA979B4-C92C-9003-30AD-04C89E1BCB26}"/>
              </a:ext>
            </a:extLst>
          </p:cNvPr>
          <p:cNvSpPr/>
          <p:nvPr/>
        </p:nvSpPr>
        <p:spPr>
          <a:xfrm>
            <a:off x="767279" y="1934753"/>
            <a:ext cx="37612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r>
              <a:rPr lang="en-US" sz="1300" b="1">
                <a:solidFill>
                  <a:schemeClr val="accent4"/>
                </a:solidFill>
              </a:rPr>
              <a:t>Employees &amp; on-site Externals (B2E) </a:t>
            </a:r>
          </a:p>
        </p:txBody>
      </p:sp>
    </p:spTree>
    <p:extLst>
      <p:ext uri="{BB962C8B-B14F-4D97-AF65-F5344CB8AC3E}">
        <p14:creationId xmlns:p14="http://schemas.microsoft.com/office/powerpoint/2010/main" val="307592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 coins arrondis 42">
            <a:extLst>
              <a:ext uri="{FF2B5EF4-FFF2-40B4-BE49-F238E27FC236}">
                <a16:creationId xmlns:a16="http://schemas.microsoft.com/office/drawing/2014/main" id="{7E097F27-5C44-0155-4BCD-4C43EA3E3234}"/>
              </a:ext>
            </a:extLst>
          </p:cNvPr>
          <p:cNvSpPr/>
          <p:nvPr>
            <p:custDataLst>
              <p:tags r:id="rId1"/>
            </p:custDataLst>
          </p:nvPr>
        </p:nvSpPr>
        <p:spPr>
          <a:xfrm>
            <a:off x="493940" y="2096384"/>
            <a:ext cx="3726393" cy="1090959"/>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 coins arrondis 41">
            <a:extLst>
              <a:ext uri="{FF2B5EF4-FFF2-40B4-BE49-F238E27FC236}">
                <a16:creationId xmlns:a16="http://schemas.microsoft.com/office/drawing/2014/main" id="{117DC2C4-CB5A-A34B-C397-F8B38ABD7A7D}"/>
              </a:ext>
            </a:extLst>
          </p:cNvPr>
          <p:cNvSpPr/>
          <p:nvPr>
            <p:custDataLst>
              <p:tags r:id="rId2"/>
            </p:custDataLst>
          </p:nvPr>
        </p:nvSpPr>
        <p:spPr>
          <a:xfrm>
            <a:off x="7753482" y="2101127"/>
            <a:ext cx="3726393" cy="1090959"/>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14C27C4-0C86-4152-BC42-937F027626EB}"/>
              </a:ext>
            </a:extLst>
          </p:cNvPr>
          <p:cNvSpPr>
            <a:spLocks noGrp="1"/>
          </p:cNvSpPr>
          <p:nvPr>
            <p:ph type="title"/>
          </p:nvPr>
        </p:nvSpPr>
        <p:spPr/>
        <p:txBody>
          <a:bodyPr/>
          <a:lstStyle/>
          <a:p>
            <a:r>
              <a:rPr lang="fr-FR" sz="3600" dirty="0"/>
              <a:t>Focus on </a:t>
            </a:r>
            <a:r>
              <a:rPr lang="fr-FR" sz="3600" dirty="0" err="1"/>
              <a:t>Employees</a:t>
            </a:r>
            <a:r>
              <a:rPr lang="fr-FR" sz="3600" dirty="0"/>
              <a:t> vs </a:t>
            </a:r>
            <a:r>
              <a:rPr lang="fr-FR" sz="3600" dirty="0" err="1"/>
              <a:t>Suppliers</a:t>
            </a:r>
            <a:r>
              <a:rPr lang="fr-FR" sz="3600" dirty="0"/>
              <a:t> / </a:t>
            </a:r>
            <a:r>
              <a:rPr lang="fr-FR" sz="3600" dirty="0" err="1"/>
              <a:t>partners</a:t>
            </a:r>
            <a:r>
              <a:rPr lang="fr-FR" sz="3600" dirty="0"/>
              <a:t> / B2B</a:t>
            </a:r>
            <a:endParaRPr lang="fr-FR" dirty="0"/>
          </a:p>
        </p:txBody>
      </p:sp>
      <p:sp>
        <p:nvSpPr>
          <p:cNvPr id="4" name="Espace réservé du pied de page 3">
            <a:extLst>
              <a:ext uri="{FF2B5EF4-FFF2-40B4-BE49-F238E27FC236}">
                <a16:creationId xmlns:a16="http://schemas.microsoft.com/office/drawing/2014/main" id="{F2DB8AEB-CB35-490D-A333-19701D01A496}"/>
              </a:ext>
            </a:extLst>
          </p:cNvPr>
          <p:cNvSpPr>
            <a:spLocks noGrp="1"/>
          </p:cNvSpPr>
          <p:nvPr>
            <p:ph type="ftr" sz="quarter" idx="13"/>
          </p:nvPr>
        </p:nvSpPr>
        <p:spPr/>
        <p:txBody>
          <a:bodyPr/>
          <a:lstStyle/>
          <a:p>
            <a:r>
              <a:rPr lang="fr-FR"/>
              <a:t>Bouygues Construction  |  Mois Année</a:t>
            </a:r>
          </a:p>
        </p:txBody>
      </p:sp>
      <p:sp>
        <p:nvSpPr>
          <p:cNvPr id="3" name="Flèche : double flèche horizontale 2">
            <a:extLst>
              <a:ext uri="{FF2B5EF4-FFF2-40B4-BE49-F238E27FC236}">
                <a16:creationId xmlns:a16="http://schemas.microsoft.com/office/drawing/2014/main" id="{867A25AF-F90F-5EC9-6639-B11EC1BFEE87}"/>
              </a:ext>
            </a:extLst>
          </p:cNvPr>
          <p:cNvSpPr/>
          <p:nvPr/>
        </p:nvSpPr>
        <p:spPr>
          <a:xfrm>
            <a:off x="687185" y="3241965"/>
            <a:ext cx="10432473" cy="1107996"/>
          </a:xfrm>
          <a:prstGeom prst="leftRightArrow">
            <a:avLst/>
          </a:prstGeom>
          <a:solidFill>
            <a:schemeClr val="bg1"/>
          </a:solidFill>
          <a:ln>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But there is a graduation between those extremes!</a:t>
            </a:r>
          </a:p>
          <a:p>
            <a:pPr algn="ctr"/>
            <a:r>
              <a:rPr lang="en-US" dirty="0">
                <a:solidFill>
                  <a:schemeClr val="tx1"/>
                </a:solidFill>
              </a:rPr>
              <a:t>And bridges are needed…</a:t>
            </a:r>
          </a:p>
        </p:txBody>
      </p:sp>
      <p:grpSp>
        <p:nvGrpSpPr>
          <p:cNvPr id="6" name="Graphique 193">
            <a:extLst>
              <a:ext uri="{FF2B5EF4-FFF2-40B4-BE49-F238E27FC236}">
                <a16:creationId xmlns:a16="http://schemas.microsoft.com/office/drawing/2014/main" id="{79930A53-DC94-6AF3-2B46-7290281EDA81}"/>
              </a:ext>
            </a:extLst>
          </p:cNvPr>
          <p:cNvGrpSpPr/>
          <p:nvPr/>
        </p:nvGrpSpPr>
        <p:grpSpPr>
          <a:xfrm>
            <a:off x="1377806" y="1363613"/>
            <a:ext cx="324000" cy="360000"/>
            <a:chOff x="2175353" y="2723890"/>
            <a:chExt cx="266700" cy="285750"/>
          </a:xfrm>
        </p:grpSpPr>
        <p:sp>
          <p:nvSpPr>
            <p:cNvPr id="7" name="Forme libre : forme 6">
              <a:extLst>
                <a:ext uri="{FF2B5EF4-FFF2-40B4-BE49-F238E27FC236}">
                  <a16:creationId xmlns:a16="http://schemas.microsoft.com/office/drawing/2014/main" id="{DC5DD278-A864-8A5F-3671-DF6EAB1C17CD}"/>
                </a:ext>
              </a:extLst>
            </p:cNvPr>
            <p:cNvSpPr/>
            <p:nvPr/>
          </p:nvSpPr>
          <p:spPr>
            <a:xfrm>
              <a:off x="2308703"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8" name="Forme libre : forme 7">
              <a:extLst>
                <a:ext uri="{FF2B5EF4-FFF2-40B4-BE49-F238E27FC236}">
                  <a16:creationId xmlns:a16="http://schemas.microsoft.com/office/drawing/2014/main" id="{62A40238-20B5-A6DB-2192-1F6CDE8481D9}"/>
                </a:ext>
              </a:extLst>
            </p:cNvPr>
            <p:cNvSpPr/>
            <p:nvPr/>
          </p:nvSpPr>
          <p:spPr>
            <a:xfrm>
              <a:off x="2175353" y="2896131"/>
              <a:ext cx="266700" cy="104775"/>
            </a:xfrm>
            <a:custGeom>
              <a:avLst/>
              <a:gdLst>
                <a:gd name="connsiteX0" fmla="*/ 103051 w 266700"/>
                <a:gd name="connsiteY0" fmla="*/ 0 h 104775"/>
                <a:gd name="connsiteX1" fmla="*/ 19860 w 266700"/>
                <a:gd name="connsiteY1" fmla="*/ 45530 h 104775"/>
                <a:gd name="connsiteX2" fmla="*/ 0 w 266700"/>
                <a:gd name="connsiteY2" fmla="*/ 78981 h 104775"/>
                <a:gd name="connsiteX3" fmla="*/ 0 w 266700"/>
                <a:gd name="connsiteY3" fmla="*/ 113509 h 104775"/>
                <a:gd name="connsiteX4" fmla="*/ 266700 w 266700"/>
                <a:gd name="connsiteY4" fmla="*/ 113509 h 104775"/>
                <a:gd name="connsiteX5" fmla="*/ 266700 w 266700"/>
                <a:gd name="connsiteY5" fmla="*/ 78981 h 104775"/>
                <a:gd name="connsiteX6" fmla="*/ 246840 w 266700"/>
                <a:gd name="connsiteY6" fmla="*/ 45530 h 104775"/>
                <a:gd name="connsiteX7" fmla="*/ 163649 w 26670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700" h="104775">
                  <a:moveTo>
                    <a:pt x="103051" y="0"/>
                  </a:moveTo>
                  <a:lnTo>
                    <a:pt x="19860" y="45530"/>
                  </a:lnTo>
                  <a:cubicBezTo>
                    <a:pt x="7620" y="52207"/>
                    <a:pt x="0" y="65037"/>
                    <a:pt x="0" y="78981"/>
                  </a:cubicBezTo>
                  <a:lnTo>
                    <a:pt x="0" y="113509"/>
                  </a:lnTo>
                  <a:lnTo>
                    <a:pt x="266700" y="113509"/>
                  </a:lnTo>
                  <a:lnTo>
                    <a:pt x="266700" y="78981"/>
                  </a:lnTo>
                  <a:cubicBezTo>
                    <a:pt x="266700" y="65037"/>
                    <a:pt x="259080" y="52207"/>
                    <a:pt x="246840" y="45530"/>
                  </a:cubicBezTo>
                  <a:lnTo>
                    <a:pt x="163649" y="0"/>
                  </a:lnTo>
                </a:path>
              </a:pathLst>
            </a:custGeom>
            <a:noFill/>
            <a:ln w="19050" cap="flat">
              <a:solidFill>
                <a:schemeClr val="accent4"/>
              </a:solidFill>
              <a:prstDash val="solid"/>
              <a:miter/>
            </a:ln>
          </p:spPr>
          <p:txBody>
            <a:bodyPr rtlCol="0" anchor="ctr"/>
            <a:lstStyle/>
            <a:p>
              <a:endParaRPr lang="en-US"/>
            </a:p>
          </p:txBody>
        </p:sp>
        <p:sp>
          <p:nvSpPr>
            <p:cNvPr id="9" name="Forme libre : forme 8">
              <a:extLst>
                <a:ext uri="{FF2B5EF4-FFF2-40B4-BE49-F238E27FC236}">
                  <a16:creationId xmlns:a16="http://schemas.microsoft.com/office/drawing/2014/main" id="{5CB62C9D-D4EC-E3B1-AF02-FAA4B1825904}"/>
                </a:ext>
              </a:extLst>
            </p:cNvPr>
            <p:cNvSpPr/>
            <p:nvPr/>
          </p:nvSpPr>
          <p:spPr>
            <a:xfrm>
              <a:off x="2232503"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4B693DDF-AACF-D911-8800-0ED4910E0AD8}"/>
                </a:ext>
              </a:extLst>
            </p:cNvPr>
            <p:cNvSpPr/>
            <p:nvPr/>
          </p:nvSpPr>
          <p:spPr>
            <a:xfrm>
              <a:off x="2232865"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grpSp>
      <p:grpSp>
        <p:nvGrpSpPr>
          <p:cNvPr id="11" name="Graphique 195">
            <a:extLst>
              <a:ext uri="{FF2B5EF4-FFF2-40B4-BE49-F238E27FC236}">
                <a16:creationId xmlns:a16="http://schemas.microsoft.com/office/drawing/2014/main" id="{485B6EBC-C4FE-DFC9-1BD5-6FDE6DB02F5B}"/>
              </a:ext>
            </a:extLst>
          </p:cNvPr>
          <p:cNvGrpSpPr/>
          <p:nvPr/>
        </p:nvGrpSpPr>
        <p:grpSpPr>
          <a:xfrm>
            <a:off x="977684" y="1363108"/>
            <a:ext cx="324000" cy="360000"/>
            <a:chOff x="3264660" y="2723890"/>
            <a:chExt cx="247650" cy="285750"/>
          </a:xfrm>
        </p:grpSpPr>
        <p:sp>
          <p:nvSpPr>
            <p:cNvPr id="12" name="Forme libre : forme 11">
              <a:extLst>
                <a:ext uri="{FF2B5EF4-FFF2-40B4-BE49-F238E27FC236}">
                  <a16:creationId xmlns:a16="http://schemas.microsoft.com/office/drawing/2014/main" id="{30766771-A796-AD37-385B-0F7082EC0C73}"/>
                </a:ext>
              </a:extLst>
            </p:cNvPr>
            <p:cNvSpPr/>
            <p:nvPr/>
          </p:nvSpPr>
          <p:spPr>
            <a:xfrm>
              <a:off x="3388485"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624B4A39-ABBE-014D-27C3-3D25C299F799}"/>
                </a:ext>
              </a:extLst>
            </p:cNvPr>
            <p:cNvSpPr/>
            <p:nvPr/>
          </p:nvSpPr>
          <p:spPr>
            <a:xfrm>
              <a:off x="3264660" y="2896131"/>
              <a:ext cx="247650" cy="104775"/>
            </a:xfrm>
            <a:custGeom>
              <a:avLst/>
              <a:gdLst>
                <a:gd name="connsiteX0" fmla="*/ 93526 w 247650"/>
                <a:gd name="connsiteY0" fmla="*/ 0 h 104775"/>
                <a:gd name="connsiteX1" fmla="*/ 13830 w 247650"/>
                <a:gd name="connsiteY1" fmla="*/ 48025 h 104775"/>
                <a:gd name="connsiteX2" fmla="*/ 0 w 247650"/>
                <a:gd name="connsiteY2" fmla="*/ 72504 h 104775"/>
                <a:gd name="connsiteX3" fmla="*/ 0 w 247650"/>
                <a:gd name="connsiteY3" fmla="*/ 113509 h 104775"/>
                <a:gd name="connsiteX4" fmla="*/ 247650 w 247650"/>
                <a:gd name="connsiteY4" fmla="*/ 113509 h 104775"/>
                <a:gd name="connsiteX5" fmla="*/ 247650 w 247650"/>
                <a:gd name="connsiteY5" fmla="*/ 72504 h 104775"/>
                <a:gd name="connsiteX6" fmla="*/ 233820 w 247650"/>
                <a:gd name="connsiteY6" fmla="*/ 48025 h 104775"/>
                <a:gd name="connsiteX7" fmla="*/ 154124 w 24765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04775">
                  <a:moveTo>
                    <a:pt x="93526" y="0"/>
                  </a:moveTo>
                  <a:lnTo>
                    <a:pt x="13830" y="48025"/>
                  </a:lnTo>
                  <a:cubicBezTo>
                    <a:pt x="5248" y="53197"/>
                    <a:pt x="0" y="62484"/>
                    <a:pt x="0" y="72504"/>
                  </a:cubicBezTo>
                  <a:lnTo>
                    <a:pt x="0" y="113509"/>
                  </a:lnTo>
                  <a:lnTo>
                    <a:pt x="247650" y="113509"/>
                  </a:lnTo>
                  <a:lnTo>
                    <a:pt x="247650" y="72504"/>
                  </a:lnTo>
                  <a:cubicBezTo>
                    <a:pt x="247650" y="62484"/>
                    <a:pt x="242402" y="53197"/>
                    <a:pt x="233820" y="48025"/>
                  </a:cubicBezTo>
                  <a:lnTo>
                    <a:pt x="154124" y="0"/>
                  </a:lnTo>
                </a:path>
              </a:pathLst>
            </a:custGeom>
            <a:noFill/>
            <a:ln w="19050" cap="flat">
              <a:solidFill>
                <a:schemeClr val="accent4"/>
              </a:solidFill>
              <a:prstDash val="solid"/>
              <a:miter/>
            </a:ln>
          </p:spPr>
          <p:txBody>
            <a:bodyPr rtlCol="0" anchor="ctr"/>
            <a:lstStyle/>
            <a:p>
              <a:endParaRPr lang="en-US"/>
            </a:p>
          </p:txBody>
        </p:sp>
        <p:sp>
          <p:nvSpPr>
            <p:cNvPr id="14" name="Forme libre : forme 13">
              <a:extLst>
                <a:ext uri="{FF2B5EF4-FFF2-40B4-BE49-F238E27FC236}">
                  <a16:creationId xmlns:a16="http://schemas.microsoft.com/office/drawing/2014/main" id="{18504B10-AE8C-463C-6A64-634AB3CF8824}"/>
                </a:ext>
              </a:extLst>
            </p:cNvPr>
            <p:cNvSpPr/>
            <p:nvPr/>
          </p:nvSpPr>
          <p:spPr>
            <a:xfrm>
              <a:off x="3312285"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A0EA1EE6-4AC4-5A80-EFAA-AE91D16B2972}"/>
                </a:ext>
              </a:extLst>
            </p:cNvPr>
            <p:cNvSpPr/>
            <p:nvPr/>
          </p:nvSpPr>
          <p:spPr>
            <a:xfrm>
              <a:off x="3312647"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004D277-7F34-7F0B-42DE-0FF7DD6F5015}"/>
                </a:ext>
              </a:extLst>
            </p:cNvPr>
            <p:cNvSpPr/>
            <p:nvPr/>
          </p:nvSpPr>
          <p:spPr>
            <a:xfrm>
              <a:off x="3274185" y="2800090"/>
              <a:ext cx="38100" cy="114300"/>
            </a:xfrm>
            <a:custGeom>
              <a:avLst/>
              <a:gdLst>
                <a:gd name="connsiteX0" fmla="*/ 38100 w 38100"/>
                <a:gd name="connsiteY0" fmla="*/ 0 h 114300"/>
                <a:gd name="connsiteX1" fmla="*/ 0 w 38100"/>
                <a:gd name="connsiteY1" fmla="*/ 95250 h 114300"/>
                <a:gd name="connsiteX2" fmla="*/ 38100 w 38100"/>
                <a:gd name="connsiteY2" fmla="*/ 123701 h 114300"/>
              </a:gdLst>
              <a:ahLst/>
              <a:cxnLst>
                <a:cxn ang="0">
                  <a:pos x="connsiteX0" y="connsiteY0"/>
                </a:cxn>
                <a:cxn ang="0">
                  <a:pos x="connsiteX1" y="connsiteY1"/>
                </a:cxn>
                <a:cxn ang="0">
                  <a:pos x="connsiteX2" y="connsiteY2"/>
                </a:cxn>
              </a:cxnLst>
              <a:rect l="l" t="t" r="r" b="b"/>
              <a:pathLst>
                <a:path w="38100" h="114300">
                  <a:moveTo>
                    <a:pt x="38100" y="0"/>
                  </a:moveTo>
                  <a:cubicBezTo>
                    <a:pt x="38100" y="0"/>
                    <a:pt x="38100" y="66675"/>
                    <a:pt x="0" y="95250"/>
                  </a:cubicBezTo>
                  <a:cubicBezTo>
                    <a:pt x="9525" y="114300"/>
                    <a:pt x="38100" y="123701"/>
                    <a:pt x="38100" y="123701"/>
                  </a:cubicBezTo>
                </a:path>
              </a:pathLst>
            </a:custGeom>
            <a:noFill/>
            <a:ln w="19050" cap="flat">
              <a:solidFill>
                <a:schemeClr val="accent4"/>
              </a:solid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51ED07DC-5096-7598-5DA8-BB7155F1D8F7}"/>
                </a:ext>
              </a:extLst>
            </p:cNvPr>
            <p:cNvSpPr/>
            <p:nvPr/>
          </p:nvSpPr>
          <p:spPr>
            <a:xfrm>
              <a:off x="3464685" y="2800090"/>
              <a:ext cx="38100" cy="114300"/>
            </a:xfrm>
            <a:custGeom>
              <a:avLst/>
              <a:gdLst>
                <a:gd name="connsiteX0" fmla="*/ 0 w 38100"/>
                <a:gd name="connsiteY0" fmla="*/ 0 h 114300"/>
                <a:gd name="connsiteX1" fmla="*/ 38100 w 38100"/>
                <a:gd name="connsiteY1" fmla="*/ 95250 h 114300"/>
                <a:gd name="connsiteX2" fmla="*/ 0 w 38100"/>
                <a:gd name="connsiteY2" fmla="*/ 123701 h 114300"/>
              </a:gdLst>
              <a:ahLst/>
              <a:cxnLst>
                <a:cxn ang="0">
                  <a:pos x="connsiteX0" y="connsiteY0"/>
                </a:cxn>
                <a:cxn ang="0">
                  <a:pos x="connsiteX1" y="connsiteY1"/>
                </a:cxn>
                <a:cxn ang="0">
                  <a:pos x="connsiteX2" y="connsiteY2"/>
                </a:cxn>
              </a:cxnLst>
              <a:rect l="l" t="t" r="r" b="b"/>
              <a:pathLst>
                <a:path w="38100" h="114300">
                  <a:moveTo>
                    <a:pt x="0" y="0"/>
                  </a:moveTo>
                  <a:cubicBezTo>
                    <a:pt x="0" y="0"/>
                    <a:pt x="0" y="66675"/>
                    <a:pt x="38100" y="95250"/>
                  </a:cubicBezTo>
                  <a:cubicBezTo>
                    <a:pt x="28575" y="114300"/>
                    <a:pt x="0" y="123701"/>
                    <a:pt x="0" y="123701"/>
                  </a:cubicBezTo>
                </a:path>
              </a:pathLst>
            </a:custGeom>
            <a:noFill/>
            <a:ln w="19050" cap="flat">
              <a:solidFill>
                <a:schemeClr val="accent4"/>
              </a:solidFill>
              <a:prstDash val="solid"/>
              <a:miter/>
            </a:ln>
          </p:spPr>
          <p:txBody>
            <a:bodyPr rtlCol="0" anchor="ctr"/>
            <a:lstStyle/>
            <a:p>
              <a:endParaRPr lang="en-US"/>
            </a:p>
          </p:txBody>
        </p:sp>
      </p:grpSp>
      <p:sp>
        <p:nvSpPr>
          <p:cNvPr id="18" name="Rectangle : coins arrondis 3">
            <a:extLst>
              <a:ext uri="{FF2B5EF4-FFF2-40B4-BE49-F238E27FC236}">
                <a16:creationId xmlns:a16="http://schemas.microsoft.com/office/drawing/2014/main" id="{28DAF8C7-4365-9FCF-77D2-F8084670BB69}"/>
              </a:ext>
            </a:extLst>
          </p:cNvPr>
          <p:cNvSpPr/>
          <p:nvPr/>
        </p:nvSpPr>
        <p:spPr>
          <a:xfrm>
            <a:off x="35247" y="1820105"/>
            <a:ext cx="2532874"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lgn="ctr"/>
            <a:r>
              <a:rPr lang="en-US" sz="1300" b="1" dirty="0">
                <a:solidFill>
                  <a:schemeClr val="accent4"/>
                </a:solidFill>
              </a:rPr>
              <a:t>Employees &amp; on-site Externals (B2E) </a:t>
            </a:r>
          </a:p>
        </p:txBody>
      </p:sp>
      <p:grpSp>
        <p:nvGrpSpPr>
          <p:cNvPr id="19" name="Graphique 175">
            <a:extLst>
              <a:ext uri="{FF2B5EF4-FFF2-40B4-BE49-F238E27FC236}">
                <a16:creationId xmlns:a16="http://schemas.microsoft.com/office/drawing/2014/main" id="{321EA9BE-8F18-B26B-77F6-8A814ED565A2}"/>
              </a:ext>
            </a:extLst>
          </p:cNvPr>
          <p:cNvGrpSpPr/>
          <p:nvPr/>
        </p:nvGrpSpPr>
        <p:grpSpPr>
          <a:xfrm>
            <a:off x="10359170" y="1418280"/>
            <a:ext cx="360000" cy="288000"/>
            <a:chOff x="3245610" y="1820342"/>
            <a:chExt cx="285750" cy="247650"/>
          </a:xfrm>
        </p:grpSpPr>
        <p:sp>
          <p:nvSpPr>
            <p:cNvPr id="24" name="Forme libre : forme 23">
              <a:extLst>
                <a:ext uri="{FF2B5EF4-FFF2-40B4-BE49-F238E27FC236}">
                  <a16:creationId xmlns:a16="http://schemas.microsoft.com/office/drawing/2014/main" id="{4BD8CDC8-EB14-630B-2316-5EDABE6CC1F6}"/>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sp>
          <p:nvSpPr>
            <p:cNvPr id="25" name="Forme libre : forme 24">
              <a:extLst>
                <a:ext uri="{FF2B5EF4-FFF2-40B4-BE49-F238E27FC236}">
                  <a16:creationId xmlns:a16="http://schemas.microsoft.com/office/drawing/2014/main" id="{F7D22750-6FF7-E26F-F2CF-EE2604D7ADD6}"/>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19050" cap="sq">
              <a:solidFill>
                <a:srgbClr val="6496BB"/>
              </a:solid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5765A047-4B64-AAC2-298A-970ACDD4038C}"/>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19050" cap="sq">
              <a:solidFill>
                <a:srgbClr val="6496BB"/>
              </a:solid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D2BC3DF2-E7BA-0F36-5CC2-D69C2CD9AC32}"/>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grpSp>
      <p:grpSp>
        <p:nvGrpSpPr>
          <p:cNvPr id="28" name="Graphique 116">
            <a:extLst>
              <a:ext uri="{FF2B5EF4-FFF2-40B4-BE49-F238E27FC236}">
                <a16:creationId xmlns:a16="http://schemas.microsoft.com/office/drawing/2014/main" id="{37E1E91E-26D4-5234-9BF8-B87834A30350}"/>
              </a:ext>
            </a:extLst>
          </p:cNvPr>
          <p:cNvGrpSpPr/>
          <p:nvPr/>
        </p:nvGrpSpPr>
        <p:grpSpPr>
          <a:xfrm>
            <a:off x="9843615" y="1369357"/>
            <a:ext cx="360000" cy="360000"/>
            <a:chOff x="7575918" y="3665538"/>
            <a:chExt cx="285750" cy="257175"/>
          </a:xfrm>
        </p:grpSpPr>
        <p:sp>
          <p:nvSpPr>
            <p:cNvPr id="30" name="Forme libre : forme 29">
              <a:extLst>
                <a:ext uri="{FF2B5EF4-FFF2-40B4-BE49-F238E27FC236}">
                  <a16:creationId xmlns:a16="http://schemas.microsoft.com/office/drawing/2014/main" id="{2D8C862E-3304-1FF9-726C-914033730015}"/>
                </a:ext>
              </a:extLst>
            </p:cNvPr>
            <p:cNvSpPr/>
            <p:nvPr/>
          </p:nvSpPr>
          <p:spPr>
            <a:xfrm>
              <a:off x="7709268" y="3713163"/>
              <a:ext cx="152400" cy="171450"/>
            </a:xfrm>
            <a:custGeom>
              <a:avLst/>
              <a:gdLst>
                <a:gd name="connsiteX0" fmla="*/ 104775 w 152400"/>
                <a:gd name="connsiteY0" fmla="*/ 171450 h 171450"/>
                <a:gd name="connsiteX1" fmla="*/ 152400 w 152400"/>
                <a:gd name="connsiteY1" fmla="*/ 171450 h 171450"/>
                <a:gd name="connsiteX2" fmla="*/ 152400 w 152400"/>
                <a:gd name="connsiteY2" fmla="*/ 95250 h 171450"/>
                <a:gd name="connsiteX3" fmla="*/ 114300 w 152400"/>
                <a:gd name="connsiteY3" fmla="*/ 76200 h 171450"/>
                <a:gd name="connsiteX4" fmla="*/ 85725 w 152400"/>
                <a:gd name="connsiteY4" fmla="*/ 0 h 171450"/>
                <a:gd name="connsiteX5" fmla="*/ 0 w 152400"/>
                <a:gd name="connsiteY5" fmla="*/ 0 h 171450"/>
                <a:gd name="connsiteX6" fmla="*/ 0 w 152400"/>
                <a:gd name="connsiteY6" fmla="*/ 171450 h 171450"/>
                <a:gd name="connsiteX7" fmla="*/ 28575 w 152400"/>
                <a:gd name="connsiteY7" fmla="*/ 1714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400" h="171450">
                  <a:moveTo>
                    <a:pt x="104775" y="171450"/>
                  </a:moveTo>
                  <a:lnTo>
                    <a:pt x="152400" y="171450"/>
                  </a:lnTo>
                  <a:lnTo>
                    <a:pt x="152400" y="95250"/>
                  </a:lnTo>
                  <a:lnTo>
                    <a:pt x="114300" y="76200"/>
                  </a:lnTo>
                  <a:lnTo>
                    <a:pt x="85725" y="0"/>
                  </a:lnTo>
                  <a:lnTo>
                    <a:pt x="0" y="0"/>
                  </a:lnTo>
                  <a:lnTo>
                    <a:pt x="0" y="171450"/>
                  </a:lnTo>
                  <a:lnTo>
                    <a:pt x="28575" y="171450"/>
                  </a:lnTo>
                </a:path>
              </a:pathLst>
            </a:custGeom>
            <a:noFill/>
            <a:ln w="19050" cap="flat">
              <a:solidFill>
                <a:srgbClr val="6496BB"/>
              </a:solidFill>
              <a:prstDash val="solid"/>
              <a:miter/>
            </a:ln>
          </p:spPr>
          <p:txBody>
            <a:bodyPr rtlCol="0" anchor="ctr"/>
            <a:lstStyle/>
            <a:p>
              <a:endParaRPr lang="en-US"/>
            </a:p>
          </p:txBody>
        </p:sp>
        <p:sp>
          <p:nvSpPr>
            <p:cNvPr id="31" name="Forme libre : forme 30">
              <a:extLst>
                <a:ext uri="{FF2B5EF4-FFF2-40B4-BE49-F238E27FC236}">
                  <a16:creationId xmlns:a16="http://schemas.microsoft.com/office/drawing/2014/main" id="{4EB8C391-9782-92FA-0B37-791E90C07E75}"/>
                </a:ext>
              </a:extLst>
            </p:cNvPr>
            <p:cNvSpPr/>
            <p:nvPr/>
          </p:nvSpPr>
          <p:spPr>
            <a:xfrm>
              <a:off x="7737843" y="384651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6496BB"/>
              </a:solidFill>
              <a:prstDash val="solid"/>
              <a:miter/>
            </a:ln>
          </p:spPr>
          <p:txBody>
            <a:bodyPr rtlCol="0" anchor="ctr"/>
            <a:lstStyle/>
            <a:p>
              <a:endParaRPr lang="en-US"/>
            </a:p>
          </p:txBody>
        </p:sp>
        <p:sp>
          <p:nvSpPr>
            <p:cNvPr id="32" name="Forme libre : forme 31">
              <a:extLst>
                <a:ext uri="{FF2B5EF4-FFF2-40B4-BE49-F238E27FC236}">
                  <a16:creationId xmlns:a16="http://schemas.microsoft.com/office/drawing/2014/main" id="{0A586681-68CE-1434-4AD8-46E4F904A4A4}"/>
                </a:ext>
              </a:extLst>
            </p:cNvPr>
            <p:cNvSpPr/>
            <p:nvPr/>
          </p:nvSpPr>
          <p:spPr>
            <a:xfrm>
              <a:off x="7747368" y="3751263"/>
              <a:ext cx="38100" cy="38100"/>
            </a:xfrm>
            <a:custGeom>
              <a:avLst/>
              <a:gdLst>
                <a:gd name="connsiteX0" fmla="*/ 0 w 38100"/>
                <a:gd name="connsiteY0" fmla="*/ 0 h 38100"/>
                <a:gd name="connsiteX1" fmla="*/ 0 w 38100"/>
                <a:gd name="connsiteY1" fmla="*/ 38100 h 38100"/>
                <a:gd name="connsiteX2" fmla="*/ 38100 w 38100"/>
                <a:gd name="connsiteY2" fmla="*/ 38100 h 38100"/>
              </a:gdLst>
              <a:ahLst/>
              <a:cxnLst>
                <a:cxn ang="0">
                  <a:pos x="connsiteX0" y="connsiteY0"/>
                </a:cxn>
                <a:cxn ang="0">
                  <a:pos x="connsiteX1" y="connsiteY1"/>
                </a:cxn>
                <a:cxn ang="0">
                  <a:pos x="connsiteX2" y="connsiteY2"/>
                </a:cxn>
              </a:cxnLst>
              <a:rect l="l" t="t" r="r" b="b"/>
              <a:pathLst>
                <a:path w="38100" h="38100">
                  <a:moveTo>
                    <a:pt x="0" y="0"/>
                  </a:moveTo>
                  <a:lnTo>
                    <a:pt x="0" y="38100"/>
                  </a:lnTo>
                  <a:lnTo>
                    <a:pt x="38100" y="38100"/>
                  </a:lnTo>
                </a:path>
              </a:pathLst>
            </a:custGeom>
            <a:noFill/>
            <a:ln w="19050" cap="sq">
              <a:solidFill>
                <a:srgbClr val="6496BB"/>
              </a:solid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B04D2F10-C47C-997E-08BB-BAEA341782CF}"/>
                </a:ext>
              </a:extLst>
            </p:cNvPr>
            <p:cNvSpPr/>
            <p:nvPr/>
          </p:nvSpPr>
          <p:spPr>
            <a:xfrm>
              <a:off x="7594968" y="3713163"/>
              <a:ext cx="76200" cy="9525"/>
            </a:xfrm>
            <a:custGeom>
              <a:avLst/>
              <a:gdLst>
                <a:gd name="connsiteX0" fmla="*/ 76200 w 76200"/>
                <a:gd name="connsiteY0" fmla="*/ 0 h 0"/>
                <a:gd name="connsiteX1" fmla="*/ 0 w 76200"/>
                <a:gd name="connsiteY1" fmla="*/ 0 h 0"/>
              </a:gdLst>
              <a:ahLst/>
              <a:cxnLst>
                <a:cxn ang="0">
                  <a:pos x="connsiteX0" y="connsiteY0"/>
                </a:cxn>
                <a:cxn ang="0">
                  <a:pos x="connsiteX1" y="connsiteY1"/>
                </a:cxn>
              </a:cxnLst>
              <a:rect l="l" t="t" r="r" b="b"/>
              <a:pathLst>
                <a:path w="76200">
                  <a:moveTo>
                    <a:pt x="76200" y="0"/>
                  </a:moveTo>
                  <a:lnTo>
                    <a:pt x="0" y="0"/>
                  </a:lnTo>
                </a:path>
              </a:pathLst>
            </a:custGeom>
            <a:ln w="19050" cap="sq">
              <a:solidFill>
                <a:srgbClr val="6496BB"/>
              </a:solid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98D9E9B6-F8E5-2EEE-80B4-AEB31C5DB289}"/>
                </a:ext>
              </a:extLst>
            </p:cNvPr>
            <p:cNvSpPr/>
            <p:nvPr/>
          </p:nvSpPr>
          <p:spPr>
            <a:xfrm>
              <a:off x="7575918" y="3665538"/>
              <a:ext cx="133350" cy="47625"/>
            </a:xfrm>
            <a:custGeom>
              <a:avLst/>
              <a:gdLst>
                <a:gd name="connsiteX0" fmla="*/ 0 w 133350"/>
                <a:gd name="connsiteY0" fmla="*/ 0 h 47625"/>
                <a:gd name="connsiteX1" fmla="*/ 133350 w 133350"/>
                <a:gd name="connsiteY1" fmla="*/ 0 h 47625"/>
                <a:gd name="connsiteX2" fmla="*/ 133350 w 133350"/>
                <a:gd name="connsiteY2" fmla="*/ 47625 h 47625"/>
              </a:gdLst>
              <a:ahLst/>
              <a:cxnLst>
                <a:cxn ang="0">
                  <a:pos x="connsiteX0" y="connsiteY0"/>
                </a:cxn>
                <a:cxn ang="0">
                  <a:pos x="connsiteX1" y="connsiteY1"/>
                </a:cxn>
                <a:cxn ang="0">
                  <a:pos x="connsiteX2" y="connsiteY2"/>
                </a:cxn>
              </a:cxnLst>
              <a:rect l="l" t="t" r="r" b="b"/>
              <a:pathLst>
                <a:path w="133350" h="47625">
                  <a:moveTo>
                    <a:pt x="0" y="0"/>
                  </a:moveTo>
                  <a:lnTo>
                    <a:pt x="133350" y="0"/>
                  </a:lnTo>
                  <a:lnTo>
                    <a:pt x="133350" y="47625"/>
                  </a:lnTo>
                </a:path>
              </a:pathLst>
            </a:custGeom>
            <a:noFill/>
            <a:ln w="19050" cap="sq">
              <a:solidFill>
                <a:srgbClr val="6496BB"/>
              </a:solid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4D5CB822-E022-23F5-BC5E-8139782DD9DC}"/>
                </a:ext>
              </a:extLst>
            </p:cNvPr>
            <p:cNvSpPr/>
            <p:nvPr/>
          </p:nvSpPr>
          <p:spPr>
            <a:xfrm>
              <a:off x="7614018" y="3760788"/>
              <a:ext cx="57150" cy="9525"/>
            </a:xfrm>
            <a:custGeom>
              <a:avLst/>
              <a:gdLst>
                <a:gd name="connsiteX0" fmla="*/ 57150 w 57150"/>
                <a:gd name="connsiteY0" fmla="*/ 0 h 0"/>
                <a:gd name="connsiteX1" fmla="*/ 0 w 57150"/>
                <a:gd name="connsiteY1" fmla="*/ 0 h 0"/>
              </a:gdLst>
              <a:ahLst/>
              <a:cxnLst>
                <a:cxn ang="0">
                  <a:pos x="connsiteX0" y="connsiteY0"/>
                </a:cxn>
                <a:cxn ang="0">
                  <a:pos x="connsiteX1" y="connsiteY1"/>
                </a:cxn>
              </a:cxnLst>
              <a:rect l="l" t="t" r="r" b="b"/>
              <a:pathLst>
                <a:path w="57150">
                  <a:moveTo>
                    <a:pt x="57150" y="0"/>
                  </a:moveTo>
                  <a:lnTo>
                    <a:pt x="0" y="0"/>
                  </a:lnTo>
                </a:path>
              </a:pathLst>
            </a:custGeom>
            <a:ln w="19050" cap="sq">
              <a:solidFill>
                <a:srgbClr val="6496BB"/>
              </a:solid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907344E5-56EF-7C51-E0CF-C5B4553DBAD9}"/>
                </a:ext>
              </a:extLst>
            </p:cNvPr>
            <p:cNvSpPr/>
            <p:nvPr/>
          </p:nvSpPr>
          <p:spPr>
            <a:xfrm>
              <a:off x="7633068" y="3808413"/>
              <a:ext cx="38100" cy="9525"/>
            </a:xfrm>
            <a:custGeom>
              <a:avLst/>
              <a:gdLst>
                <a:gd name="connsiteX0" fmla="*/ 38100 w 38100"/>
                <a:gd name="connsiteY0" fmla="*/ 0 h 0"/>
                <a:gd name="connsiteX1" fmla="*/ 0 w 38100"/>
                <a:gd name="connsiteY1" fmla="*/ 0 h 0"/>
              </a:gdLst>
              <a:ahLst/>
              <a:cxnLst>
                <a:cxn ang="0">
                  <a:pos x="connsiteX0" y="connsiteY0"/>
                </a:cxn>
                <a:cxn ang="0">
                  <a:pos x="connsiteX1" y="connsiteY1"/>
                </a:cxn>
              </a:cxnLst>
              <a:rect l="l" t="t" r="r" b="b"/>
              <a:pathLst>
                <a:path w="38100">
                  <a:moveTo>
                    <a:pt x="38100" y="0"/>
                  </a:moveTo>
                  <a:lnTo>
                    <a:pt x="0" y="0"/>
                  </a:lnTo>
                </a:path>
              </a:pathLst>
            </a:custGeom>
            <a:ln w="19050" cap="sq">
              <a:solidFill>
                <a:srgbClr val="6496BB"/>
              </a:solidFill>
              <a:prstDash val="solid"/>
              <a:miter/>
            </a:ln>
          </p:spPr>
          <p:txBody>
            <a:bodyPr rtlCol="0" anchor="ctr"/>
            <a:lstStyle/>
            <a:p>
              <a:endParaRPr lang="en-US"/>
            </a:p>
          </p:txBody>
        </p:sp>
      </p:grpSp>
      <p:sp>
        <p:nvSpPr>
          <p:cNvPr id="37" name="Rectangle : coins arrondis 3">
            <a:extLst>
              <a:ext uri="{FF2B5EF4-FFF2-40B4-BE49-F238E27FC236}">
                <a16:creationId xmlns:a16="http://schemas.microsoft.com/office/drawing/2014/main" id="{29A64C25-69B4-169E-CD80-F45AE99A9645}"/>
              </a:ext>
            </a:extLst>
          </p:cNvPr>
          <p:cNvSpPr/>
          <p:nvPr/>
        </p:nvSpPr>
        <p:spPr>
          <a:xfrm>
            <a:off x="9119752" y="1809357"/>
            <a:ext cx="24788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US" sz="1300" b="1">
                <a:solidFill>
                  <a:schemeClr val="accent4"/>
                </a:solidFill>
              </a:rPr>
              <a:t>Suppliers &amp; partners (Guest/B2B) </a:t>
            </a:r>
          </a:p>
        </p:txBody>
      </p:sp>
      <p:sp>
        <p:nvSpPr>
          <p:cNvPr id="39" name="ZoneTexte 38">
            <a:extLst>
              <a:ext uri="{FF2B5EF4-FFF2-40B4-BE49-F238E27FC236}">
                <a16:creationId xmlns:a16="http://schemas.microsoft.com/office/drawing/2014/main" id="{7A3DB887-B3C2-AD69-16DA-9B0165B56538}"/>
              </a:ext>
            </a:extLst>
          </p:cNvPr>
          <p:cNvSpPr txBox="1"/>
          <p:nvPr/>
        </p:nvSpPr>
        <p:spPr>
          <a:xfrm>
            <a:off x="590204" y="2161308"/>
            <a:ext cx="3125585" cy="738664"/>
          </a:xfrm>
          <a:prstGeom prst="rect">
            <a:avLst/>
          </a:prstGeom>
          <a:noFill/>
        </p:spPr>
        <p:txBody>
          <a:bodyPr wrap="square" lIns="36000" tIns="0" rIns="36000" bIns="0" rtlCol="0">
            <a:spAutoFit/>
          </a:bodyPr>
          <a:lstStyle/>
          <a:p>
            <a:r>
              <a:rPr lang="en-US" sz="1200" dirty="0"/>
              <a:t>The Manager:</a:t>
            </a:r>
          </a:p>
          <a:p>
            <a:pPr marL="285750" indent="-285750">
              <a:buFont typeface="Arial" panose="020B0604020202020204" pitchFamily="34" charset="0"/>
              <a:buChar char="•"/>
            </a:pPr>
            <a:r>
              <a:rPr lang="en-US" sz="1200" dirty="0"/>
              <a:t>Manage the Identity of the employee;</a:t>
            </a:r>
          </a:p>
          <a:p>
            <a:pPr marL="285750" indent="-285750">
              <a:buFont typeface="Arial" panose="020B0604020202020204" pitchFamily="34" charset="0"/>
              <a:buChar char="•"/>
            </a:pPr>
            <a:r>
              <a:rPr lang="en-US" sz="1200" dirty="0"/>
              <a:t>Define the authorizations of the employee from an employee centric view</a:t>
            </a:r>
          </a:p>
        </p:txBody>
      </p:sp>
      <p:sp>
        <p:nvSpPr>
          <p:cNvPr id="40" name="ZoneTexte 39">
            <a:extLst>
              <a:ext uri="{FF2B5EF4-FFF2-40B4-BE49-F238E27FC236}">
                <a16:creationId xmlns:a16="http://schemas.microsoft.com/office/drawing/2014/main" id="{59F133BD-8EC8-C02D-AA05-5404EFD85B54}"/>
              </a:ext>
            </a:extLst>
          </p:cNvPr>
          <p:cNvSpPr txBox="1"/>
          <p:nvPr/>
        </p:nvSpPr>
        <p:spPr>
          <a:xfrm>
            <a:off x="7897487" y="2161308"/>
            <a:ext cx="3415416" cy="923330"/>
          </a:xfrm>
          <a:prstGeom prst="rect">
            <a:avLst/>
          </a:prstGeom>
          <a:noFill/>
        </p:spPr>
        <p:txBody>
          <a:bodyPr wrap="square" lIns="36000" tIns="0" rIns="36000" bIns="0" rtlCol="0">
            <a:spAutoFit/>
          </a:bodyPr>
          <a:lstStyle/>
          <a:p>
            <a:pPr marL="285750" indent="-285750">
              <a:buFont typeface="Arial" panose="020B0604020202020204" pitchFamily="34" charset="0"/>
              <a:buChar char="•"/>
            </a:pPr>
            <a:r>
              <a:rPr lang="en-US" sz="1200" dirty="0"/>
              <a:t>The Identity lifecycle of the Partner is managed externally by its company (beware of personal mail address)</a:t>
            </a:r>
          </a:p>
          <a:p>
            <a:pPr marL="285750" indent="-285750">
              <a:buFont typeface="Arial" panose="020B0604020202020204" pitchFamily="34" charset="0"/>
              <a:buChar char="•"/>
            </a:pPr>
            <a:r>
              <a:rPr lang="en-US" sz="1200" dirty="0"/>
              <a:t>Authorizations are managed locally by resources owners from a resource centric view</a:t>
            </a:r>
          </a:p>
        </p:txBody>
      </p:sp>
      <p:sp>
        <p:nvSpPr>
          <p:cNvPr id="44" name="Flèche : bas 43">
            <a:extLst>
              <a:ext uri="{FF2B5EF4-FFF2-40B4-BE49-F238E27FC236}">
                <a16:creationId xmlns:a16="http://schemas.microsoft.com/office/drawing/2014/main" id="{9F7AE900-BA97-C010-248E-1502170DD6AC}"/>
              </a:ext>
            </a:extLst>
          </p:cNvPr>
          <p:cNvSpPr/>
          <p:nvPr/>
        </p:nvSpPr>
        <p:spPr>
          <a:xfrm>
            <a:off x="5511338" y="4222866"/>
            <a:ext cx="739833" cy="739833"/>
          </a:xfrm>
          <a:prstGeom prst="downArrow">
            <a:avLst/>
          </a:prstGeom>
          <a:solidFill>
            <a:schemeClr val="bg1"/>
          </a:solidFill>
          <a:ln>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FEAD184B-7AFB-DE12-991D-743131762A22}"/>
              </a:ext>
            </a:extLst>
          </p:cNvPr>
          <p:cNvSpPr/>
          <p:nvPr/>
        </p:nvSpPr>
        <p:spPr>
          <a:xfrm>
            <a:off x="3279105" y="5006910"/>
            <a:ext cx="5204298" cy="4611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006B8D"/>
                </a:solidFill>
                <a:effectLst/>
                <a:uLnTx/>
                <a:uFillTx/>
                <a:latin typeface="Montserrat"/>
                <a:ea typeface="+mn-ea"/>
                <a:cs typeface="+mn-cs"/>
              </a:rPr>
              <a:t>Global </a:t>
            </a:r>
            <a:r>
              <a:rPr kumimoji="0" lang="fr-FR" sz="1800" b="0" i="0" u="none" strike="noStrike" kern="1200" cap="none" spc="0" normalizeH="0" baseline="0" noProof="0" dirty="0" err="1">
                <a:ln>
                  <a:noFill/>
                </a:ln>
                <a:solidFill>
                  <a:srgbClr val="006B8D"/>
                </a:solidFill>
                <a:effectLst/>
                <a:uLnTx/>
                <a:uFillTx/>
                <a:latin typeface="Montserrat"/>
                <a:ea typeface="+mn-ea"/>
                <a:cs typeface="+mn-cs"/>
              </a:rPr>
              <a:t>Policies</a:t>
            </a:r>
            <a:endParaRPr kumimoji="0" lang="fr-FR" sz="1800" b="0" i="0" u="none" strike="noStrike" kern="1200" cap="none" spc="0" normalizeH="0" baseline="0" noProof="0" dirty="0">
              <a:ln>
                <a:noFill/>
              </a:ln>
              <a:solidFill>
                <a:srgbClr val="006B8D"/>
              </a:solidFill>
              <a:effectLst/>
              <a:uLnTx/>
              <a:uFillTx/>
              <a:latin typeface="Montserrat"/>
              <a:ea typeface="+mn-ea"/>
              <a:cs typeface="+mn-cs"/>
            </a:endParaRPr>
          </a:p>
        </p:txBody>
      </p:sp>
      <p:sp>
        <p:nvSpPr>
          <p:cNvPr id="46" name="ZoneTexte 45">
            <a:extLst>
              <a:ext uri="{FF2B5EF4-FFF2-40B4-BE49-F238E27FC236}">
                <a16:creationId xmlns:a16="http://schemas.microsoft.com/office/drawing/2014/main" id="{848933F5-A5F4-7F77-FE25-06E2F8BE3177}"/>
              </a:ext>
            </a:extLst>
          </p:cNvPr>
          <p:cNvSpPr txBox="1"/>
          <p:nvPr/>
        </p:nvSpPr>
        <p:spPr>
          <a:xfrm>
            <a:off x="139013" y="5512246"/>
            <a:ext cx="3125585" cy="184666"/>
          </a:xfrm>
          <a:prstGeom prst="rect">
            <a:avLst/>
          </a:prstGeom>
          <a:noFill/>
        </p:spPr>
        <p:txBody>
          <a:bodyPr wrap="square" lIns="36000" tIns="0" rIns="36000" bIns="0" rtlCol="0">
            <a:spAutoFit/>
          </a:bodyPr>
          <a:lstStyle/>
          <a:p>
            <a:r>
              <a:rPr lang="en-US" sz="1200" dirty="0"/>
              <a:t>But different tools…</a:t>
            </a:r>
          </a:p>
        </p:txBody>
      </p:sp>
      <p:sp>
        <p:nvSpPr>
          <p:cNvPr id="47" name="Rectangle 46">
            <a:extLst>
              <a:ext uri="{FF2B5EF4-FFF2-40B4-BE49-F238E27FC236}">
                <a16:creationId xmlns:a16="http://schemas.microsoft.com/office/drawing/2014/main" id="{1699D80C-34D3-D891-5F58-28D1E2A872C1}"/>
              </a:ext>
            </a:extLst>
          </p:cNvPr>
          <p:cNvSpPr/>
          <p:nvPr/>
        </p:nvSpPr>
        <p:spPr>
          <a:xfrm>
            <a:off x="1483021" y="5531290"/>
            <a:ext cx="3563154" cy="1268028"/>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80B32A"/>
                </a:solidFill>
                <a:effectLst/>
                <a:uLnTx/>
                <a:uFillTx/>
                <a:ea typeface="+mn-ea"/>
                <a:cs typeface="+mn-cs"/>
              </a:rPr>
              <a:t>IGA</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rgbClr val="80B32A"/>
                </a:solidFill>
              </a:rPr>
              <a:t>Focus 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80B32A"/>
                </a:solidFill>
                <a:effectLst/>
                <a:uLnTx/>
                <a:uFillTx/>
                <a:ea typeface="+mn-ea"/>
                <a:cs typeface="+mn-cs"/>
              </a:rPr>
              <a:t>Identity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rgbClr val="80B32A"/>
                </a:solidFill>
              </a:rPr>
              <a:t>Business </a:t>
            </a:r>
            <a:r>
              <a:rPr lang="fr-FR" sz="1200" dirty="0" err="1">
                <a:solidFill>
                  <a:srgbClr val="80B32A"/>
                </a:solidFill>
              </a:rPr>
              <a:t>view</a:t>
            </a:r>
            <a:endParaRPr kumimoji="0" lang="fr-FR" sz="1200" b="0" i="0" u="none" strike="noStrike" kern="1200" cap="none" spc="0" normalizeH="0" baseline="0" noProof="0" dirty="0">
              <a:ln>
                <a:noFill/>
              </a:ln>
              <a:solidFill>
                <a:srgbClr val="80B32A"/>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rgbClr val="80B32A"/>
                </a:solidFill>
              </a:rPr>
              <a:t>Profiling, </a:t>
            </a:r>
            <a:r>
              <a:rPr lang="fr-FR" sz="1200" dirty="0" err="1">
                <a:solidFill>
                  <a:srgbClr val="80B32A"/>
                </a:solidFill>
              </a:rPr>
              <a:t>rules</a:t>
            </a:r>
            <a:r>
              <a:rPr lang="fr-FR" sz="1200" dirty="0">
                <a:solidFill>
                  <a:srgbClr val="80B32A"/>
                </a:solidFill>
              </a:rPr>
              <a:t>…</a:t>
            </a:r>
            <a:endParaRPr kumimoji="0" lang="fr-FR" sz="1200" b="0" i="0" u="none" strike="noStrike" kern="1200" cap="none" spc="0" normalizeH="0" baseline="0" noProof="0" dirty="0">
              <a:ln>
                <a:noFill/>
              </a:ln>
              <a:solidFill>
                <a:srgbClr val="80B32A"/>
              </a:solidFill>
              <a:effectLst/>
              <a:uLnTx/>
              <a:uFillTx/>
              <a:ea typeface="+mn-ea"/>
              <a:cs typeface="+mn-cs"/>
            </a:endParaRPr>
          </a:p>
        </p:txBody>
      </p:sp>
      <p:sp>
        <p:nvSpPr>
          <p:cNvPr id="48" name="Rectangle 47">
            <a:extLst>
              <a:ext uri="{FF2B5EF4-FFF2-40B4-BE49-F238E27FC236}">
                <a16:creationId xmlns:a16="http://schemas.microsoft.com/office/drawing/2014/main" id="{56F2CBB8-9670-63EC-153E-EFFD47AF8EAA}"/>
              </a:ext>
            </a:extLst>
          </p:cNvPr>
          <p:cNvSpPr/>
          <p:nvPr/>
        </p:nvSpPr>
        <p:spPr>
          <a:xfrm>
            <a:off x="6701826" y="5531290"/>
            <a:ext cx="3563154" cy="1268028"/>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80B32A"/>
                </a:solidFill>
                <a:effectLst/>
                <a:uLnTx/>
                <a:uFillTx/>
                <a:ea typeface="+mn-ea"/>
                <a:cs typeface="+mn-cs"/>
              </a:rPr>
              <a:t>Azure AD B2B</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rgbClr val="80B32A"/>
                </a:solidFill>
              </a:rPr>
              <a:t>Focus on </a:t>
            </a:r>
            <a:r>
              <a:rPr lang="fr-FR" sz="1200" dirty="0" err="1">
                <a:solidFill>
                  <a:srgbClr val="80B32A"/>
                </a:solidFill>
              </a:rPr>
              <a:t>Resources</a:t>
            </a:r>
            <a:r>
              <a:rPr lang="fr-FR" sz="1200" dirty="0">
                <a:solidFill>
                  <a:srgbClr val="80B32A"/>
                </a:solidFill>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80B32A"/>
                </a:solidFill>
                <a:effectLst/>
                <a:uLnTx/>
                <a:uFillTx/>
                <a:ea typeface="+mn-ea"/>
                <a:cs typeface="+mn-cs"/>
              </a:rPr>
              <a:t>Access re-certification</a:t>
            </a:r>
          </a:p>
        </p:txBody>
      </p:sp>
    </p:spTree>
    <p:extLst>
      <p:ext uri="{BB962C8B-B14F-4D97-AF65-F5344CB8AC3E}">
        <p14:creationId xmlns:p14="http://schemas.microsoft.com/office/powerpoint/2010/main" val="186567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D748944-DC02-A250-BFCB-770AB1A9BD9A}"/>
              </a:ext>
            </a:extLst>
          </p:cNvPr>
          <p:cNvSpPr/>
          <p:nvPr/>
        </p:nvSpPr>
        <p:spPr>
          <a:xfrm>
            <a:off x="68062" y="1421322"/>
            <a:ext cx="12055876" cy="5433691"/>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2" name="Graphique 80" descr="Travail à distance contour">
            <a:extLst>
              <a:ext uri="{FF2B5EF4-FFF2-40B4-BE49-F238E27FC236}">
                <a16:creationId xmlns:a16="http://schemas.microsoft.com/office/drawing/2014/main" id="{8CD79184-0BF7-958C-A376-1B4879E9DF11}"/>
              </a:ext>
            </a:extLst>
          </p:cNvPr>
          <p:cNvGrpSpPr/>
          <p:nvPr/>
        </p:nvGrpSpPr>
        <p:grpSpPr>
          <a:xfrm>
            <a:off x="1046062" y="3129062"/>
            <a:ext cx="468000" cy="468000"/>
            <a:chOff x="907550" y="3848515"/>
            <a:chExt cx="838191" cy="733425"/>
          </a:xfrm>
          <a:solidFill>
            <a:srgbClr val="000000"/>
          </a:solidFill>
        </p:grpSpPr>
        <p:sp>
          <p:nvSpPr>
            <p:cNvPr id="83" name="Forme libre : forme 82">
              <a:extLst>
                <a:ext uri="{FF2B5EF4-FFF2-40B4-BE49-F238E27FC236}">
                  <a16:creationId xmlns:a16="http://schemas.microsoft.com/office/drawing/2014/main" id="{B6B593E4-7B9C-2EF2-0E98-F97812A7EF04}"/>
                </a:ext>
              </a:extLst>
            </p:cNvPr>
            <p:cNvSpPr/>
            <p:nvPr/>
          </p:nvSpPr>
          <p:spPr>
            <a:xfrm rot="-2437536">
              <a:off x="1280072" y="4089322"/>
              <a:ext cx="38099" cy="19057"/>
            </a:xfrm>
            <a:custGeom>
              <a:avLst/>
              <a:gdLst>
                <a:gd name="connsiteX0" fmla="*/ 0 w 38099"/>
                <a:gd name="connsiteY0" fmla="*/ 0 h 19057"/>
                <a:gd name="connsiteX1" fmla="*/ 38099 w 38099"/>
                <a:gd name="connsiteY1" fmla="*/ 0 h 19057"/>
                <a:gd name="connsiteX2" fmla="*/ 38099 w 38099"/>
                <a:gd name="connsiteY2" fmla="*/ 19058 h 19057"/>
                <a:gd name="connsiteX3" fmla="*/ 0 w 38099"/>
                <a:gd name="connsiteY3" fmla="*/ 19058 h 19057"/>
              </a:gdLst>
              <a:ahLst/>
              <a:cxnLst>
                <a:cxn ang="0">
                  <a:pos x="connsiteX0" y="connsiteY0"/>
                </a:cxn>
                <a:cxn ang="0">
                  <a:pos x="connsiteX1" y="connsiteY1"/>
                </a:cxn>
                <a:cxn ang="0">
                  <a:pos x="connsiteX2" y="connsiteY2"/>
                </a:cxn>
                <a:cxn ang="0">
                  <a:pos x="connsiteX3" y="connsiteY3"/>
                </a:cxn>
              </a:cxnLst>
              <a:rect l="l" t="t" r="r" b="b"/>
              <a:pathLst>
                <a:path w="38099" h="19057">
                  <a:moveTo>
                    <a:pt x="0" y="0"/>
                  </a:moveTo>
                  <a:lnTo>
                    <a:pt x="38099" y="0"/>
                  </a:lnTo>
                  <a:lnTo>
                    <a:pt x="38099" y="19058"/>
                  </a:lnTo>
                  <a:lnTo>
                    <a:pt x="0" y="1905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4" name="Forme libre : forme 83">
              <a:extLst>
                <a:ext uri="{FF2B5EF4-FFF2-40B4-BE49-F238E27FC236}">
                  <a16:creationId xmlns:a16="http://schemas.microsoft.com/office/drawing/2014/main" id="{9740743C-79C2-5D26-31C2-00C020ADD2BC}"/>
                </a:ext>
              </a:extLst>
            </p:cNvPr>
            <p:cNvSpPr/>
            <p:nvPr/>
          </p:nvSpPr>
          <p:spPr>
            <a:xfrm rot="-2962878">
              <a:off x="1289593" y="4312555"/>
              <a:ext cx="19057" cy="38099"/>
            </a:xfrm>
            <a:custGeom>
              <a:avLst/>
              <a:gdLst>
                <a:gd name="connsiteX0" fmla="*/ 0 w 19057"/>
                <a:gd name="connsiteY0" fmla="*/ 0 h 38099"/>
                <a:gd name="connsiteX1" fmla="*/ 19058 w 19057"/>
                <a:gd name="connsiteY1" fmla="*/ 0 h 38099"/>
                <a:gd name="connsiteX2" fmla="*/ 19058 w 19057"/>
                <a:gd name="connsiteY2" fmla="*/ 38099 h 38099"/>
                <a:gd name="connsiteX3" fmla="*/ 0 w 19057"/>
                <a:gd name="connsiteY3" fmla="*/ 38099 h 38099"/>
              </a:gdLst>
              <a:ahLst/>
              <a:cxnLst>
                <a:cxn ang="0">
                  <a:pos x="connsiteX0" y="connsiteY0"/>
                </a:cxn>
                <a:cxn ang="0">
                  <a:pos x="connsiteX1" y="connsiteY1"/>
                </a:cxn>
                <a:cxn ang="0">
                  <a:pos x="connsiteX2" y="connsiteY2"/>
                </a:cxn>
                <a:cxn ang="0">
                  <a:pos x="connsiteX3" y="connsiteY3"/>
                </a:cxn>
              </a:cxnLst>
              <a:rect l="l" t="t" r="r" b="b"/>
              <a:pathLst>
                <a:path w="19057" h="38099">
                  <a:moveTo>
                    <a:pt x="0" y="0"/>
                  </a:moveTo>
                  <a:lnTo>
                    <a:pt x="19058" y="0"/>
                  </a:lnTo>
                  <a:lnTo>
                    <a:pt x="19058" y="38099"/>
                  </a:lnTo>
                  <a:lnTo>
                    <a:pt x="0" y="38099"/>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5" name="Forme libre : forme 84">
              <a:extLst>
                <a:ext uri="{FF2B5EF4-FFF2-40B4-BE49-F238E27FC236}">
                  <a16:creationId xmlns:a16="http://schemas.microsoft.com/office/drawing/2014/main" id="{34E7A5A5-1FF5-522E-7881-FA9DB9B952BC}"/>
                </a:ext>
              </a:extLst>
            </p:cNvPr>
            <p:cNvSpPr/>
            <p:nvPr/>
          </p:nvSpPr>
          <p:spPr>
            <a:xfrm rot="-2962464">
              <a:off x="1347431" y="4362161"/>
              <a:ext cx="19057" cy="38099"/>
            </a:xfrm>
            <a:custGeom>
              <a:avLst/>
              <a:gdLst>
                <a:gd name="connsiteX0" fmla="*/ 0 w 19057"/>
                <a:gd name="connsiteY0" fmla="*/ 0 h 38099"/>
                <a:gd name="connsiteX1" fmla="*/ 19058 w 19057"/>
                <a:gd name="connsiteY1" fmla="*/ 0 h 38099"/>
                <a:gd name="connsiteX2" fmla="*/ 19058 w 19057"/>
                <a:gd name="connsiteY2" fmla="*/ 38099 h 38099"/>
                <a:gd name="connsiteX3" fmla="*/ 0 w 19057"/>
                <a:gd name="connsiteY3" fmla="*/ 38099 h 38099"/>
              </a:gdLst>
              <a:ahLst/>
              <a:cxnLst>
                <a:cxn ang="0">
                  <a:pos x="connsiteX0" y="connsiteY0"/>
                </a:cxn>
                <a:cxn ang="0">
                  <a:pos x="connsiteX1" y="connsiteY1"/>
                </a:cxn>
                <a:cxn ang="0">
                  <a:pos x="connsiteX2" y="connsiteY2"/>
                </a:cxn>
                <a:cxn ang="0">
                  <a:pos x="connsiteX3" y="connsiteY3"/>
                </a:cxn>
              </a:cxnLst>
              <a:rect l="l" t="t" r="r" b="b"/>
              <a:pathLst>
                <a:path w="19057" h="38099">
                  <a:moveTo>
                    <a:pt x="0" y="0"/>
                  </a:moveTo>
                  <a:lnTo>
                    <a:pt x="19058" y="0"/>
                  </a:lnTo>
                  <a:lnTo>
                    <a:pt x="19058" y="38099"/>
                  </a:lnTo>
                  <a:lnTo>
                    <a:pt x="0" y="38099"/>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6" name="Forme libre : forme 85">
              <a:extLst>
                <a:ext uri="{FF2B5EF4-FFF2-40B4-BE49-F238E27FC236}">
                  <a16:creationId xmlns:a16="http://schemas.microsoft.com/office/drawing/2014/main" id="{DE9B73E2-241C-DA4E-03A3-4CDDB9C2B74F}"/>
                </a:ext>
              </a:extLst>
            </p:cNvPr>
            <p:cNvSpPr/>
            <p:nvPr/>
          </p:nvSpPr>
          <p:spPr>
            <a:xfrm>
              <a:off x="13075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7" name="Forme libre : forme 86">
              <a:extLst>
                <a:ext uri="{FF2B5EF4-FFF2-40B4-BE49-F238E27FC236}">
                  <a16:creationId xmlns:a16="http://schemas.microsoft.com/office/drawing/2014/main" id="{7671C28A-8968-39AB-0068-87CF71161F72}"/>
                </a:ext>
              </a:extLst>
            </p:cNvPr>
            <p:cNvSpPr/>
            <p:nvPr/>
          </p:nvSpPr>
          <p:spPr>
            <a:xfrm>
              <a:off x="14599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8" name="Forme libre : forme 87">
              <a:extLst>
                <a:ext uri="{FF2B5EF4-FFF2-40B4-BE49-F238E27FC236}">
                  <a16:creationId xmlns:a16="http://schemas.microsoft.com/office/drawing/2014/main" id="{19154B51-0A67-E17F-8C98-7F6065370AFA}"/>
                </a:ext>
              </a:extLst>
            </p:cNvPr>
            <p:cNvSpPr/>
            <p:nvPr/>
          </p:nvSpPr>
          <p:spPr>
            <a:xfrm>
              <a:off x="1383791" y="4205702"/>
              <a:ext cx="38100" cy="19050"/>
            </a:xfrm>
            <a:custGeom>
              <a:avLst/>
              <a:gdLst>
                <a:gd name="connsiteX0" fmla="*/ 0 w 38100"/>
                <a:gd name="connsiteY0" fmla="*/ 0 h 19050"/>
                <a:gd name="connsiteX1" fmla="*/ 38100 w 38100"/>
                <a:gd name="connsiteY1" fmla="*/ 0 h 19050"/>
                <a:gd name="connsiteX2" fmla="*/ 38100 w 38100"/>
                <a:gd name="connsiteY2" fmla="*/ 19050 h 19050"/>
                <a:gd name="connsiteX3" fmla="*/ 0 w 381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 h="19050">
                  <a:moveTo>
                    <a:pt x="0" y="0"/>
                  </a:moveTo>
                  <a:lnTo>
                    <a:pt x="38100" y="0"/>
                  </a:lnTo>
                  <a:lnTo>
                    <a:pt x="38100" y="19050"/>
                  </a:lnTo>
                  <a:lnTo>
                    <a:pt x="0" y="19050"/>
                  </a:lnTo>
                  <a:close/>
                </a:path>
              </a:pathLst>
            </a:custGeom>
            <a:solidFill>
              <a:srgbClr val="000000"/>
            </a:solidFill>
            <a:ln w="9525" cap="flat">
              <a:solidFill>
                <a:srgbClr val="7DA7C6"/>
              </a:solidFill>
              <a:prstDash val="solid"/>
              <a:miter/>
            </a:ln>
          </p:spPr>
          <p:txBody>
            <a:bodyPr rtlCol="0" anchor="ctr"/>
            <a:lstStyle/>
            <a:p>
              <a:endParaRPr lang="fr-FR"/>
            </a:p>
          </p:txBody>
        </p:sp>
        <p:sp>
          <p:nvSpPr>
            <p:cNvPr id="89" name="Forme libre : forme 88">
              <a:extLst>
                <a:ext uri="{FF2B5EF4-FFF2-40B4-BE49-F238E27FC236}">
                  <a16:creationId xmlns:a16="http://schemas.microsoft.com/office/drawing/2014/main" id="{FCBBC5F1-DE92-BDB8-F0A3-39A593C1A173}"/>
                </a:ext>
              </a:extLst>
            </p:cNvPr>
            <p:cNvSpPr/>
            <p:nvPr/>
          </p:nvSpPr>
          <p:spPr>
            <a:xfrm rot="-2437536">
              <a:off x="1337910" y="4039716"/>
              <a:ext cx="38099" cy="19057"/>
            </a:xfrm>
            <a:custGeom>
              <a:avLst/>
              <a:gdLst>
                <a:gd name="connsiteX0" fmla="*/ 0 w 38099"/>
                <a:gd name="connsiteY0" fmla="*/ 0 h 19057"/>
                <a:gd name="connsiteX1" fmla="*/ 38099 w 38099"/>
                <a:gd name="connsiteY1" fmla="*/ 0 h 19057"/>
                <a:gd name="connsiteX2" fmla="*/ 38099 w 38099"/>
                <a:gd name="connsiteY2" fmla="*/ 19058 h 19057"/>
                <a:gd name="connsiteX3" fmla="*/ 0 w 38099"/>
                <a:gd name="connsiteY3" fmla="*/ 19058 h 19057"/>
              </a:gdLst>
              <a:ahLst/>
              <a:cxnLst>
                <a:cxn ang="0">
                  <a:pos x="connsiteX0" y="connsiteY0"/>
                </a:cxn>
                <a:cxn ang="0">
                  <a:pos x="connsiteX1" y="connsiteY1"/>
                </a:cxn>
                <a:cxn ang="0">
                  <a:pos x="connsiteX2" y="connsiteY2"/>
                </a:cxn>
                <a:cxn ang="0">
                  <a:pos x="connsiteX3" y="connsiteY3"/>
                </a:cxn>
              </a:cxnLst>
              <a:rect l="l" t="t" r="r" b="b"/>
              <a:pathLst>
                <a:path w="38099" h="19057">
                  <a:moveTo>
                    <a:pt x="0" y="0"/>
                  </a:moveTo>
                  <a:lnTo>
                    <a:pt x="38099" y="0"/>
                  </a:lnTo>
                  <a:lnTo>
                    <a:pt x="38099" y="19058"/>
                  </a:lnTo>
                  <a:lnTo>
                    <a:pt x="0" y="1905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0" name="Forme libre : forme 89">
              <a:extLst>
                <a:ext uri="{FF2B5EF4-FFF2-40B4-BE49-F238E27FC236}">
                  <a16:creationId xmlns:a16="http://schemas.microsoft.com/office/drawing/2014/main" id="{01DD4D8D-2820-16FE-6A22-5179072B09E8}"/>
                </a:ext>
              </a:extLst>
            </p:cNvPr>
            <p:cNvSpPr/>
            <p:nvPr/>
          </p:nvSpPr>
          <p:spPr>
            <a:xfrm>
              <a:off x="907550" y="3953235"/>
              <a:ext cx="361941" cy="514168"/>
            </a:xfrm>
            <a:custGeom>
              <a:avLst/>
              <a:gdLst>
                <a:gd name="connsiteX0" fmla="*/ 323879 w 361941"/>
                <a:gd name="connsiteY0" fmla="*/ 216219 h 514168"/>
                <a:gd name="connsiteX1" fmla="*/ 354398 w 361941"/>
                <a:gd name="connsiteY1" fmla="*/ 190053 h 514168"/>
                <a:gd name="connsiteX2" fmla="*/ 341988 w 361941"/>
                <a:gd name="connsiteY2" fmla="*/ 175589 h 514168"/>
                <a:gd name="connsiteX3" fmla="*/ 323879 w 361941"/>
                <a:gd name="connsiteY3" fmla="*/ 191114 h 514168"/>
                <a:gd name="connsiteX4" fmla="*/ 323879 w 361941"/>
                <a:gd name="connsiteY4" fmla="*/ 47668 h 514168"/>
                <a:gd name="connsiteX5" fmla="*/ 285750 w 361941"/>
                <a:gd name="connsiteY5" fmla="*/ 47668 h 514168"/>
                <a:gd name="connsiteX6" fmla="*/ 285750 w 361941"/>
                <a:gd name="connsiteY6" fmla="*/ 0 h 514168"/>
                <a:gd name="connsiteX7" fmla="*/ 57150 w 361941"/>
                <a:gd name="connsiteY7" fmla="*/ 0 h 514168"/>
                <a:gd name="connsiteX8" fmla="*/ 57150 w 361941"/>
                <a:gd name="connsiteY8" fmla="*/ 47667 h 514168"/>
                <a:gd name="connsiteX9" fmla="*/ 19050 w 361941"/>
                <a:gd name="connsiteY9" fmla="*/ 47667 h 514168"/>
                <a:gd name="connsiteX10" fmla="*/ 19050 w 361941"/>
                <a:gd name="connsiteY10" fmla="*/ 495118 h 514168"/>
                <a:gd name="connsiteX11" fmla="*/ 0 w 361941"/>
                <a:gd name="connsiteY11" fmla="*/ 495118 h 514168"/>
                <a:gd name="connsiteX12" fmla="*/ 0 w 361941"/>
                <a:gd name="connsiteY12" fmla="*/ 514168 h 514168"/>
                <a:gd name="connsiteX13" fmla="*/ 342900 w 361941"/>
                <a:gd name="connsiteY13" fmla="*/ 514168 h 514168"/>
                <a:gd name="connsiteX14" fmla="*/ 342900 w 361941"/>
                <a:gd name="connsiteY14" fmla="*/ 495118 h 514168"/>
                <a:gd name="connsiteX15" fmla="*/ 323879 w 361941"/>
                <a:gd name="connsiteY15" fmla="*/ 495118 h 514168"/>
                <a:gd name="connsiteX16" fmla="*/ 323879 w 361941"/>
                <a:gd name="connsiteY16" fmla="*/ 332868 h 514168"/>
                <a:gd name="connsiteX17" fmla="*/ 341988 w 361941"/>
                <a:gd name="connsiteY17" fmla="*/ 348394 h 514168"/>
                <a:gd name="connsiteX18" fmla="*/ 354398 w 361941"/>
                <a:gd name="connsiteY18" fmla="*/ 333930 h 514168"/>
                <a:gd name="connsiteX19" fmla="*/ 323879 w 361941"/>
                <a:gd name="connsiteY19" fmla="*/ 307763 h 514168"/>
                <a:gd name="connsiteX20" fmla="*/ 323879 w 361941"/>
                <a:gd name="connsiteY20" fmla="*/ 271518 h 514168"/>
                <a:gd name="connsiteX21" fmla="*/ 361941 w 361941"/>
                <a:gd name="connsiteY21" fmla="*/ 271518 h 514168"/>
                <a:gd name="connsiteX22" fmla="*/ 361941 w 361941"/>
                <a:gd name="connsiteY22" fmla="*/ 252468 h 514168"/>
                <a:gd name="connsiteX23" fmla="*/ 323879 w 361941"/>
                <a:gd name="connsiteY23" fmla="*/ 252468 h 514168"/>
                <a:gd name="connsiteX24" fmla="*/ 76200 w 361941"/>
                <a:gd name="connsiteY24" fmla="*/ 19052 h 514168"/>
                <a:gd name="connsiteX25" fmla="*/ 266700 w 361941"/>
                <a:gd name="connsiteY25" fmla="*/ 19052 h 514168"/>
                <a:gd name="connsiteX26" fmla="*/ 266700 w 361941"/>
                <a:gd name="connsiteY26" fmla="*/ 47669 h 514168"/>
                <a:gd name="connsiteX27" fmla="*/ 76200 w 361941"/>
                <a:gd name="connsiteY27" fmla="*/ 47669 h 514168"/>
                <a:gd name="connsiteX28" fmla="*/ 190500 w 361941"/>
                <a:gd name="connsiteY28" fmla="*/ 495120 h 514168"/>
                <a:gd name="connsiteX29" fmla="*/ 190500 w 361941"/>
                <a:gd name="connsiteY29" fmla="*/ 409616 h 514168"/>
                <a:gd name="connsiteX30" fmla="*/ 152400 w 361941"/>
                <a:gd name="connsiteY30" fmla="*/ 409616 h 514168"/>
                <a:gd name="connsiteX31" fmla="*/ 152400 w 361941"/>
                <a:gd name="connsiteY31" fmla="*/ 495118 h 514168"/>
                <a:gd name="connsiteX32" fmla="*/ 38100 w 361941"/>
                <a:gd name="connsiteY32" fmla="*/ 495118 h 514168"/>
                <a:gd name="connsiteX33" fmla="*/ 38100 w 361941"/>
                <a:gd name="connsiteY33" fmla="*/ 66717 h 514168"/>
                <a:gd name="connsiteX34" fmla="*/ 304829 w 361941"/>
                <a:gd name="connsiteY34" fmla="*/ 66717 h 514168"/>
                <a:gd name="connsiteX35" fmla="*/ 304829 w 361941"/>
                <a:gd name="connsiteY35" fmla="*/ 495118 h 51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1941" h="514168">
                  <a:moveTo>
                    <a:pt x="323879" y="216219"/>
                  </a:moveTo>
                  <a:lnTo>
                    <a:pt x="354398" y="190053"/>
                  </a:lnTo>
                  <a:lnTo>
                    <a:pt x="341988" y="175589"/>
                  </a:lnTo>
                  <a:lnTo>
                    <a:pt x="323879" y="191114"/>
                  </a:lnTo>
                  <a:lnTo>
                    <a:pt x="323879" y="47668"/>
                  </a:lnTo>
                  <a:lnTo>
                    <a:pt x="285750" y="47668"/>
                  </a:lnTo>
                  <a:lnTo>
                    <a:pt x="285750" y="0"/>
                  </a:lnTo>
                  <a:lnTo>
                    <a:pt x="57150" y="0"/>
                  </a:lnTo>
                  <a:lnTo>
                    <a:pt x="57150" y="47667"/>
                  </a:lnTo>
                  <a:lnTo>
                    <a:pt x="19050" y="47667"/>
                  </a:lnTo>
                  <a:lnTo>
                    <a:pt x="19050" y="495118"/>
                  </a:lnTo>
                  <a:lnTo>
                    <a:pt x="0" y="495118"/>
                  </a:lnTo>
                  <a:lnTo>
                    <a:pt x="0" y="514168"/>
                  </a:lnTo>
                  <a:lnTo>
                    <a:pt x="342900" y="514168"/>
                  </a:lnTo>
                  <a:lnTo>
                    <a:pt x="342900" y="495118"/>
                  </a:lnTo>
                  <a:lnTo>
                    <a:pt x="323879" y="495118"/>
                  </a:lnTo>
                  <a:lnTo>
                    <a:pt x="323879" y="332868"/>
                  </a:lnTo>
                  <a:lnTo>
                    <a:pt x="341988" y="348394"/>
                  </a:lnTo>
                  <a:lnTo>
                    <a:pt x="354398" y="333930"/>
                  </a:lnTo>
                  <a:lnTo>
                    <a:pt x="323879" y="307763"/>
                  </a:lnTo>
                  <a:lnTo>
                    <a:pt x="323879" y="271518"/>
                  </a:lnTo>
                  <a:lnTo>
                    <a:pt x="361941" y="271518"/>
                  </a:lnTo>
                  <a:lnTo>
                    <a:pt x="361941" y="252468"/>
                  </a:lnTo>
                  <a:lnTo>
                    <a:pt x="323879" y="252468"/>
                  </a:lnTo>
                  <a:close/>
                  <a:moveTo>
                    <a:pt x="76200" y="19052"/>
                  </a:moveTo>
                  <a:lnTo>
                    <a:pt x="266700" y="19052"/>
                  </a:lnTo>
                  <a:lnTo>
                    <a:pt x="266700" y="47669"/>
                  </a:lnTo>
                  <a:lnTo>
                    <a:pt x="76200" y="47669"/>
                  </a:lnTo>
                  <a:close/>
                  <a:moveTo>
                    <a:pt x="190500" y="495120"/>
                  </a:moveTo>
                  <a:lnTo>
                    <a:pt x="190500" y="409616"/>
                  </a:lnTo>
                  <a:lnTo>
                    <a:pt x="152400" y="409616"/>
                  </a:lnTo>
                  <a:lnTo>
                    <a:pt x="152400" y="495118"/>
                  </a:lnTo>
                  <a:lnTo>
                    <a:pt x="38100" y="495118"/>
                  </a:lnTo>
                  <a:lnTo>
                    <a:pt x="38100" y="66717"/>
                  </a:lnTo>
                  <a:lnTo>
                    <a:pt x="304829" y="66717"/>
                  </a:lnTo>
                  <a:lnTo>
                    <a:pt x="304829" y="49511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1" name="Forme libre : forme 90">
              <a:extLst>
                <a:ext uri="{FF2B5EF4-FFF2-40B4-BE49-F238E27FC236}">
                  <a16:creationId xmlns:a16="http://schemas.microsoft.com/office/drawing/2014/main" id="{7CAB42C1-C701-7AFE-F744-548B85483DE1}"/>
                </a:ext>
              </a:extLst>
            </p:cNvPr>
            <p:cNvSpPr/>
            <p:nvPr/>
          </p:nvSpPr>
          <p:spPr>
            <a:xfrm>
              <a:off x="11361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2" name="Forme libre : forme 91">
              <a:extLst>
                <a:ext uri="{FF2B5EF4-FFF2-40B4-BE49-F238E27FC236}">
                  <a16:creationId xmlns:a16="http://schemas.microsoft.com/office/drawing/2014/main" id="{7026C4CE-9D9A-A2D6-C478-E768903C6818}"/>
                </a:ext>
              </a:extLst>
            </p:cNvPr>
            <p:cNvSpPr/>
            <p:nvPr/>
          </p:nvSpPr>
          <p:spPr>
            <a:xfrm>
              <a:off x="9837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3" name="Forme libre : forme 92">
              <a:extLst>
                <a:ext uri="{FF2B5EF4-FFF2-40B4-BE49-F238E27FC236}">
                  <a16:creationId xmlns:a16="http://schemas.microsoft.com/office/drawing/2014/main" id="{F41DBF1D-5548-0486-079E-2C923132CB25}"/>
                </a:ext>
              </a:extLst>
            </p:cNvPr>
            <p:cNvSpPr/>
            <p:nvPr/>
          </p:nvSpPr>
          <p:spPr>
            <a:xfrm>
              <a:off x="1059950" y="42866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4" name="Forme libre : forme 93">
              <a:extLst>
                <a:ext uri="{FF2B5EF4-FFF2-40B4-BE49-F238E27FC236}">
                  <a16:creationId xmlns:a16="http://schemas.microsoft.com/office/drawing/2014/main" id="{52AA5509-2150-489E-4832-442417047C33}"/>
                </a:ext>
              </a:extLst>
            </p:cNvPr>
            <p:cNvSpPr/>
            <p:nvPr/>
          </p:nvSpPr>
          <p:spPr>
            <a:xfrm>
              <a:off x="9837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5" name="Forme libre : forme 94">
              <a:extLst>
                <a:ext uri="{FF2B5EF4-FFF2-40B4-BE49-F238E27FC236}">
                  <a16:creationId xmlns:a16="http://schemas.microsoft.com/office/drawing/2014/main" id="{B674E839-6F70-6714-FC5D-5F81D4438A65}"/>
                </a:ext>
              </a:extLst>
            </p:cNvPr>
            <p:cNvSpPr/>
            <p:nvPr/>
          </p:nvSpPr>
          <p:spPr>
            <a:xfrm>
              <a:off x="10599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6" name="Forme libre : forme 95">
              <a:extLst>
                <a:ext uri="{FF2B5EF4-FFF2-40B4-BE49-F238E27FC236}">
                  <a16:creationId xmlns:a16="http://schemas.microsoft.com/office/drawing/2014/main" id="{BC6A3829-1ECC-57DE-6801-4CA424257B6C}"/>
                </a:ext>
              </a:extLst>
            </p:cNvPr>
            <p:cNvSpPr/>
            <p:nvPr/>
          </p:nvSpPr>
          <p:spPr>
            <a:xfrm>
              <a:off x="10599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7" name="Forme libre : forme 96">
              <a:extLst>
                <a:ext uri="{FF2B5EF4-FFF2-40B4-BE49-F238E27FC236}">
                  <a16:creationId xmlns:a16="http://schemas.microsoft.com/office/drawing/2014/main" id="{0D267C2F-78C0-0DF8-3EF1-0580F7AD1482}"/>
                </a:ext>
              </a:extLst>
            </p:cNvPr>
            <p:cNvSpPr/>
            <p:nvPr/>
          </p:nvSpPr>
          <p:spPr>
            <a:xfrm>
              <a:off x="9837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8" name="Forme libre : forme 97">
              <a:extLst>
                <a:ext uri="{FF2B5EF4-FFF2-40B4-BE49-F238E27FC236}">
                  <a16:creationId xmlns:a16="http://schemas.microsoft.com/office/drawing/2014/main" id="{74AE73BA-65C2-9831-EC05-5FD6B5D59ED8}"/>
                </a:ext>
              </a:extLst>
            </p:cNvPr>
            <p:cNvSpPr/>
            <p:nvPr/>
          </p:nvSpPr>
          <p:spPr>
            <a:xfrm>
              <a:off x="11361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99" name="Forme libre : forme 98">
              <a:extLst>
                <a:ext uri="{FF2B5EF4-FFF2-40B4-BE49-F238E27FC236}">
                  <a16:creationId xmlns:a16="http://schemas.microsoft.com/office/drawing/2014/main" id="{4E322477-69B6-BC47-E2FC-6D258DE6E8E5}"/>
                </a:ext>
              </a:extLst>
            </p:cNvPr>
            <p:cNvSpPr/>
            <p:nvPr/>
          </p:nvSpPr>
          <p:spPr>
            <a:xfrm>
              <a:off x="983750" y="4362851"/>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0" name="Forme libre : forme 99">
              <a:extLst>
                <a:ext uri="{FF2B5EF4-FFF2-40B4-BE49-F238E27FC236}">
                  <a16:creationId xmlns:a16="http://schemas.microsoft.com/office/drawing/2014/main" id="{80E071CB-23FB-294A-98DF-608FBA25AEE6}"/>
                </a:ext>
              </a:extLst>
            </p:cNvPr>
            <p:cNvSpPr/>
            <p:nvPr/>
          </p:nvSpPr>
          <p:spPr>
            <a:xfrm>
              <a:off x="1136150" y="4362851"/>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1" name="Forme libre : forme 100">
              <a:extLst>
                <a:ext uri="{FF2B5EF4-FFF2-40B4-BE49-F238E27FC236}">
                  <a16:creationId xmlns:a16="http://schemas.microsoft.com/office/drawing/2014/main" id="{0F47A5CB-0554-C1CE-C1BC-DEC3DCB6134B}"/>
                </a:ext>
              </a:extLst>
            </p:cNvPr>
            <p:cNvSpPr/>
            <p:nvPr/>
          </p:nvSpPr>
          <p:spPr>
            <a:xfrm>
              <a:off x="9837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2" name="Forme libre : forme 101">
              <a:extLst>
                <a:ext uri="{FF2B5EF4-FFF2-40B4-BE49-F238E27FC236}">
                  <a16:creationId xmlns:a16="http://schemas.microsoft.com/office/drawing/2014/main" id="{88FB2AD5-09C7-FCEF-1FD9-798BF0AC44C4}"/>
                </a:ext>
              </a:extLst>
            </p:cNvPr>
            <p:cNvSpPr/>
            <p:nvPr/>
          </p:nvSpPr>
          <p:spPr>
            <a:xfrm>
              <a:off x="1136150" y="4134249"/>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3" name="Forme libre : forme 102">
              <a:extLst>
                <a:ext uri="{FF2B5EF4-FFF2-40B4-BE49-F238E27FC236}">
                  <a16:creationId xmlns:a16="http://schemas.microsoft.com/office/drawing/2014/main" id="{1F2A4512-E40B-95A0-FC90-A50B220EDA4C}"/>
                </a:ext>
              </a:extLst>
            </p:cNvPr>
            <p:cNvSpPr/>
            <p:nvPr/>
          </p:nvSpPr>
          <p:spPr>
            <a:xfrm>
              <a:off x="1059950" y="4058052"/>
              <a:ext cx="38100" cy="38098"/>
            </a:xfrm>
            <a:custGeom>
              <a:avLst/>
              <a:gdLst>
                <a:gd name="connsiteX0" fmla="*/ 0 w 38100"/>
                <a:gd name="connsiteY0" fmla="*/ 0 h 38098"/>
                <a:gd name="connsiteX1" fmla="*/ 38100 w 38100"/>
                <a:gd name="connsiteY1" fmla="*/ 0 h 38098"/>
                <a:gd name="connsiteX2" fmla="*/ 38100 w 38100"/>
                <a:gd name="connsiteY2" fmla="*/ 38098 h 38098"/>
                <a:gd name="connsiteX3" fmla="*/ 0 w 38100"/>
                <a:gd name="connsiteY3" fmla="*/ 38098 h 38098"/>
              </a:gdLst>
              <a:ahLst/>
              <a:cxnLst>
                <a:cxn ang="0">
                  <a:pos x="connsiteX0" y="connsiteY0"/>
                </a:cxn>
                <a:cxn ang="0">
                  <a:pos x="connsiteX1" y="connsiteY1"/>
                </a:cxn>
                <a:cxn ang="0">
                  <a:pos x="connsiteX2" y="connsiteY2"/>
                </a:cxn>
                <a:cxn ang="0">
                  <a:pos x="connsiteX3" y="connsiteY3"/>
                </a:cxn>
              </a:cxnLst>
              <a:rect l="l" t="t" r="r" b="b"/>
              <a:pathLst>
                <a:path w="38100" h="38098">
                  <a:moveTo>
                    <a:pt x="0" y="0"/>
                  </a:moveTo>
                  <a:lnTo>
                    <a:pt x="38100" y="0"/>
                  </a:lnTo>
                  <a:lnTo>
                    <a:pt x="38100" y="38098"/>
                  </a:lnTo>
                  <a:lnTo>
                    <a:pt x="0" y="38098"/>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4" name="Forme libre : forme 103">
              <a:extLst>
                <a:ext uri="{FF2B5EF4-FFF2-40B4-BE49-F238E27FC236}">
                  <a16:creationId xmlns:a16="http://schemas.microsoft.com/office/drawing/2014/main" id="{0787996C-3EBE-14AC-2886-D9A6F247BE4B}"/>
                </a:ext>
              </a:extLst>
            </p:cNvPr>
            <p:cNvSpPr/>
            <p:nvPr/>
          </p:nvSpPr>
          <p:spPr>
            <a:xfrm>
              <a:off x="1136150" y="4210450"/>
              <a:ext cx="38100" cy="38100"/>
            </a:xfrm>
            <a:custGeom>
              <a:avLst/>
              <a:gdLst>
                <a:gd name="connsiteX0" fmla="*/ 0 w 38100"/>
                <a:gd name="connsiteY0" fmla="*/ 0 h 38100"/>
                <a:gd name="connsiteX1" fmla="*/ 38100 w 38100"/>
                <a:gd name="connsiteY1" fmla="*/ 0 h 38100"/>
                <a:gd name="connsiteX2" fmla="*/ 38100 w 38100"/>
                <a:gd name="connsiteY2" fmla="*/ 38101 h 38100"/>
                <a:gd name="connsiteX3" fmla="*/ 0 w 38100"/>
                <a:gd name="connsiteY3" fmla="*/ 38101 h 38100"/>
              </a:gdLst>
              <a:ahLst/>
              <a:cxnLst>
                <a:cxn ang="0">
                  <a:pos x="connsiteX0" y="connsiteY0"/>
                </a:cxn>
                <a:cxn ang="0">
                  <a:pos x="connsiteX1" y="connsiteY1"/>
                </a:cxn>
                <a:cxn ang="0">
                  <a:pos x="connsiteX2" y="connsiteY2"/>
                </a:cxn>
                <a:cxn ang="0">
                  <a:pos x="connsiteX3" y="connsiteY3"/>
                </a:cxn>
              </a:cxnLst>
              <a:rect l="l" t="t" r="r" b="b"/>
              <a:pathLst>
                <a:path w="38100" h="38100">
                  <a:moveTo>
                    <a:pt x="0" y="0"/>
                  </a:moveTo>
                  <a:lnTo>
                    <a:pt x="38100" y="0"/>
                  </a:lnTo>
                  <a:lnTo>
                    <a:pt x="38100" y="38101"/>
                  </a:lnTo>
                  <a:lnTo>
                    <a:pt x="0" y="38101"/>
                  </a:lnTo>
                  <a:close/>
                </a:path>
              </a:pathLst>
            </a:custGeom>
            <a:solidFill>
              <a:srgbClr val="000000"/>
            </a:solidFill>
            <a:ln w="9525" cap="flat">
              <a:solidFill>
                <a:srgbClr val="7DA7C6"/>
              </a:solidFill>
              <a:prstDash val="solid"/>
              <a:miter/>
            </a:ln>
          </p:spPr>
          <p:txBody>
            <a:bodyPr rtlCol="0" anchor="ctr"/>
            <a:lstStyle/>
            <a:p>
              <a:endParaRPr lang="fr-FR"/>
            </a:p>
          </p:txBody>
        </p:sp>
        <p:sp>
          <p:nvSpPr>
            <p:cNvPr id="105" name="Forme libre : forme 104">
              <a:extLst>
                <a:ext uri="{FF2B5EF4-FFF2-40B4-BE49-F238E27FC236}">
                  <a16:creationId xmlns:a16="http://schemas.microsoft.com/office/drawing/2014/main" id="{7D7F689B-A522-5E56-AE63-36AE81C5A96D}"/>
                </a:ext>
              </a:extLst>
            </p:cNvPr>
            <p:cNvSpPr/>
            <p:nvPr/>
          </p:nvSpPr>
          <p:spPr>
            <a:xfrm>
              <a:off x="1526666" y="4105690"/>
              <a:ext cx="219075" cy="219075"/>
            </a:xfrm>
            <a:custGeom>
              <a:avLst/>
              <a:gdLst>
                <a:gd name="connsiteX0" fmla="*/ 109538 w 219075"/>
                <a:gd name="connsiteY0" fmla="*/ 0 h 219075"/>
                <a:gd name="connsiteX1" fmla="*/ 0 w 219075"/>
                <a:gd name="connsiteY1" fmla="*/ 109538 h 219075"/>
                <a:gd name="connsiteX2" fmla="*/ 109538 w 219075"/>
                <a:gd name="connsiteY2" fmla="*/ 219075 h 219075"/>
                <a:gd name="connsiteX3" fmla="*/ 219075 w 219075"/>
                <a:gd name="connsiteY3" fmla="*/ 109538 h 219075"/>
                <a:gd name="connsiteX4" fmla="*/ 109538 w 219075"/>
                <a:gd name="connsiteY4" fmla="*/ 0 h 219075"/>
                <a:gd name="connsiteX5" fmla="*/ 57804 w 219075"/>
                <a:gd name="connsiteY5" fmla="*/ 183671 h 219075"/>
                <a:gd name="connsiteX6" fmla="*/ 114882 w 219075"/>
                <a:gd name="connsiteY6" fmla="*/ 137274 h 219075"/>
                <a:gd name="connsiteX7" fmla="*/ 161278 w 219075"/>
                <a:gd name="connsiteY7" fmla="*/ 183664 h 219075"/>
                <a:gd name="connsiteX8" fmla="*/ 57804 w 219075"/>
                <a:gd name="connsiteY8" fmla="*/ 183671 h 219075"/>
                <a:gd name="connsiteX9" fmla="*/ 86180 w 219075"/>
                <a:gd name="connsiteY9" fmla="*/ 94593 h 219075"/>
                <a:gd name="connsiteX10" fmla="*/ 109537 w 219075"/>
                <a:gd name="connsiteY10" fmla="*/ 71225 h 219075"/>
                <a:gd name="connsiteX11" fmla="*/ 132904 w 219075"/>
                <a:gd name="connsiteY11" fmla="*/ 94581 h 219075"/>
                <a:gd name="connsiteX12" fmla="*/ 109548 w 219075"/>
                <a:gd name="connsiteY12" fmla="*/ 117949 h 219075"/>
                <a:gd name="connsiteX13" fmla="*/ 109538 w 219075"/>
                <a:gd name="connsiteY13" fmla="*/ 117949 h 219075"/>
                <a:gd name="connsiteX14" fmla="*/ 86180 w 219075"/>
                <a:gd name="connsiteY14" fmla="*/ 94593 h 219075"/>
                <a:gd name="connsiteX15" fmla="*/ 177661 w 219075"/>
                <a:gd name="connsiteY15" fmla="*/ 168908 h 219075"/>
                <a:gd name="connsiteX16" fmla="*/ 139433 w 219075"/>
                <a:gd name="connsiteY16" fmla="*/ 124632 h 219075"/>
                <a:gd name="connsiteX17" fmla="*/ 139621 w 219075"/>
                <a:gd name="connsiteY17" fmla="*/ 64657 h 219075"/>
                <a:gd name="connsiteX18" fmla="*/ 79646 w 219075"/>
                <a:gd name="connsiteY18" fmla="*/ 64468 h 219075"/>
                <a:gd name="connsiteX19" fmla="*/ 79458 w 219075"/>
                <a:gd name="connsiteY19" fmla="*/ 124443 h 219075"/>
                <a:gd name="connsiteX20" fmla="*/ 79646 w 219075"/>
                <a:gd name="connsiteY20" fmla="*/ 124632 h 219075"/>
                <a:gd name="connsiteX21" fmla="*/ 41420 w 219075"/>
                <a:gd name="connsiteY21" fmla="*/ 168913 h 219075"/>
                <a:gd name="connsiteX22" fmla="*/ 49973 w 219075"/>
                <a:gd name="connsiteY22" fmla="*/ 41231 h 219075"/>
                <a:gd name="connsiteX23" fmla="*/ 177656 w 219075"/>
                <a:gd name="connsiteY23" fmla="*/ 49783 h 219075"/>
                <a:gd name="connsiteX24" fmla="*/ 177661 w 219075"/>
                <a:gd name="connsiteY24" fmla="*/ 168907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075" h="219075">
                  <a:moveTo>
                    <a:pt x="109538" y="0"/>
                  </a:moveTo>
                  <a:cubicBezTo>
                    <a:pt x="49041" y="0"/>
                    <a:pt x="0" y="49041"/>
                    <a:pt x="0" y="109538"/>
                  </a:cubicBezTo>
                  <a:cubicBezTo>
                    <a:pt x="0" y="170034"/>
                    <a:pt x="49041" y="219075"/>
                    <a:pt x="109538" y="219075"/>
                  </a:cubicBezTo>
                  <a:cubicBezTo>
                    <a:pt x="170034" y="219075"/>
                    <a:pt x="219075" y="170034"/>
                    <a:pt x="219075" y="109538"/>
                  </a:cubicBezTo>
                  <a:cubicBezTo>
                    <a:pt x="219006" y="49070"/>
                    <a:pt x="170005" y="69"/>
                    <a:pt x="109538" y="0"/>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8" y="117949"/>
                  </a:cubicBezTo>
                  <a:cubicBezTo>
                    <a:pt x="96644" y="117936"/>
                    <a:pt x="86194" y="107487"/>
                    <a:pt x="86180" y="94593"/>
                  </a:cubicBezTo>
                  <a:close/>
                  <a:moveTo>
                    <a:pt x="177661" y="168908"/>
                  </a:move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3"/>
                  </a:cubicBezTo>
                  <a:cubicBezTo>
                    <a:pt x="8524" y="131294"/>
                    <a:pt x="12353" y="74127"/>
                    <a:pt x="49973" y="41231"/>
                  </a:cubicBezTo>
                  <a:cubicBezTo>
                    <a:pt x="87593" y="8334"/>
                    <a:pt x="144759" y="12163"/>
                    <a:pt x="177656" y="49783"/>
                  </a:cubicBezTo>
                  <a:cubicBezTo>
                    <a:pt x="207480" y="83890"/>
                    <a:pt x="207482" y="134797"/>
                    <a:pt x="177661" y="168907"/>
                  </a:cubicBezTo>
                  <a:close/>
                </a:path>
              </a:pathLst>
            </a:custGeom>
            <a:solidFill>
              <a:srgbClr val="000000"/>
            </a:solidFill>
            <a:ln w="9525" cap="flat">
              <a:solidFill>
                <a:srgbClr val="7DA7C6"/>
              </a:solidFill>
              <a:prstDash val="solid"/>
              <a:miter/>
            </a:ln>
          </p:spPr>
          <p:txBody>
            <a:bodyPr rtlCol="0" anchor="ctr"/>
            <a:lstStyle/>
            <a:p>
              <a:endParaRPr lang="fr-FR"/>
            </a:p>
          </p:txBody>
        </p:sp>
        <p:sp>
          <p:nvSpPr>
            <p:cNvPr id="106" name="Forme libre : forme 105">
              <a:extLst>
                <a:ext uri="{FF2B5EF4-FFF2-40B4-BE49-F238E27FC236}">
                  <a16:creationId xmlns:a16="http://schemas.microsoft.com/office/drawing/2014/main" id="{33AF8A13-137A-8268-FF64-F255CC81B6EB}"/>
                </a:ext>
              </a:extLst>
            </p:cNvPr>
            <p:cNvSpPr/>
            <p:nvPr/>
          </p:nvSpPr>
          <p:spPr>
            <a:xfrm>
              <a:off x="1374266" y="3848515"/>
              <a:ext cx="219074" cy="219075"/>
            </a:xfrm>
            <a:custGeom>
              <a:avLst/>
              <a:gdLst>
                <a:gd name="connsiteX0" fmla="*/ 109537 w 219074"/>
                <a:gd name="connsiteY0" fmla="*/ 219075 h 219075"/>
                <a:gd name="connsiteX1" fmla="*/ 219075 w 219074"/>
                <a:gd name="connsiteY1" fmla="*/ 109538 h 219075"/>
                <a:gd name="connsiteX2" fmla="*/ 109537 w 219074"/>
                <a:gd name="connsiteY2" fmla="*/ 0 h 219075"/>
                <a:gd name="connsiteX3" fmla="*/ 0 w 219074"/>
                <a:gd name="connsiteY3" fmla="*/ 109538 h 219075"/>
                <a:gd name="connsiteX4" fmla="*/ 109537 w 219074"/>
                <a:gd name="connsiteY4" fmla="*/ 219075 h 219075"/>
                <a:gd name="connsiteX5" fmla="*/ 57804 w 219074"/>
                <a:gd name="connsiteY5" fmla="*/ 183671 h 219075"/>
                <a:gd name="connsiteX6" fmla="*/ 114882 w 219074"/>
                <a:gd name="connsiteY6" fmla="*/ 137274 h 219075"/>
                <a:gd name="connsiteX7" fmla="*/ 161278 w 219074"/>
                <a:gd name="connsiteY7" fmla="*/ 183664 h 219075"/>
                <a:gd name="connsiteX8" fmla="*/ 57804 w 219074"/>
                <a:gd name="connsiteY8" fmla="*/ 183671 h 219075"/>
                <a:gd name="connsiteX9" fmla="*/ 86180 w 219074"/>
                <a:gd name="connsiteY9" fmla="*/ 94593 h 219075"/>
                <a:gd name="connsiteX10" fmla="*/ 109537 w 219074"/>
                <a:gd name="connsiteY10" fmla="*/ 71225 h 219075"/>
                <a:gd name="connsiteX11" fmla="*/ 132904 w 219074"/>
                <a:gd name="connsiteY11" fmla="*/ 94581 h 219075"/>
                <a:gd name="connsiteX12" fmla="*/ 109548 w 219074"/>
                <a:gd name="connsiteY12" fmla="*/ 117949 h 219075"/>
                <a:gd name="connsiteX13" fmla="*/ 109537 w 219074"/>
                <a:gd name="connsiteY13" fmla="*/ 117949 h 219075"/>
                <a:gd name="connsiteX14" fmla="*/ 86180 w 219074"/>
                <a:gd name="connsiteY14" fmla="*/ 94593 h 219075"/>
                <a:gd name="connsiteX15" fmla="*/ 109537 w 219074"/>
                <a:gd name="connsiteY15" fmla="*/ 19053 h 219075"/>
                <a:gd name="connsiteX16" fmla="*/ 200025 w 219074"/>
                <a:gd name="connsiteY16" fmla="*/ 109264 h 219075"/>
                <a:gd name="connsiteX17" fmla="*/ 177661 w 219074"/>
                <a:gd name="connsiteY17" fmla="*/ 168908 h 219075"/>
                <a:gd name="connsiteX18" fmla="*/ 139433 w 219074"/>
                <a:gd name="connsiteY18" fmla="*/ 124632 h 219075"/>
                <a:gd name="connsiteX19" fmla="*/ 139621 w 219074"/>
                <a:gd name="connsiteY19" fmla="*/ 64657 h 219075"/>
                <a:gd name="connsiteX20" fmla="*/ 79646 w 219074"/>
                <a:gd name="connsiteY20" fmla="*/ 64468 h 219075"/>
                <a:gd name="connsiteX21" fmla="*/ 79458 w 219074"/>
                <a:gd name="connsiteY21" fmla="*/ 124443 h 219075"/>
                <a:gd name="connsiteX22" fmla="*/ 79646 w 219074"/>
                <a:gd name="connsiteY22" fmla="*/ 124632 h 219075"/>
                <a:gd name="connsiteX23" fmla="*/ 41420 w 219074"/>
                <a:gd name="connsiteY23" fmla="*/ 168914 h 219075"/>
                <a:gd name="connsiteX24" fmla="*/ 49881 w 219074"/>
                <a:gd name="connsiteY24" fmla="*/ 41422 h 219075"/>
                <a:gd name="connsiteX25" fmla="*/ 109537 w 219074"/>
                <a:gd name="connsiteY25" fmla="*/ 1905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9074" h="219075">
                  <a:moveTo>
                    <a:pt x="109537" y="219075"/>
                  </a:moveTo>
                  <a:cubicBezTo>
                    <a:pt x="170034" y="219075"/>
                    <a:pt x="219075" y="170034"/>
                    <a:pt x="219075" y="109538"/>
                  </a:cubicBezTo>
                  <a:cubicBezTo>
                    <a:pt x="219075" y="49041"/>
                    <a:pt x="170034" y="0"/>
                    <a:pt x="109537" y="0"/>
                  </a:cubicBezTo>
                  <a:cubicBezTo>
                    <a:pt x="49041" y="0"/>
                    <a:pt x="0" y="49041"/>
                    <a:pt x="0" y="109538"/>
                  </a:cubicBezTo>
                  <a:cubicBezTo>
                    <a:pt x="69" y="170005"/>
                    <a:pt x="49070" y="219006"/>
                    <a:pt x="109537" y="219075"/>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7" y="117949"/>
                  </a:cubicBezTo>
                  <a:cubicBezTo>
                    <a:pt x="96644" y="117936"/>
                    <a:pt x="86194" y="107487"/>
                    <a:pt x="86180" y="94593"/>
                  </a:cubicBezTo>
                  <a:close/>
                  <a:moveTo>
                    <a:pt x="109537" y="19053"/>
                  </a:moveTo>
                  <a:cubicBezTo>
                    <a:pt x="159436" y="18977"/>
                    <a:pt x="199949" y="59366"/>
                    <a:pt x="200025" y="109264"/>
                  </a:cubicBezTo>
                  <a:cubicBezTo>
                    <a:pt x="200058" y="131201"/>
                    <a:pt x="192109" y="152401"/>
                    <a:pt x="177661" y="168908"/>
                  </a:cubicBez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4"/>
                  </a:cubicBezTo>
                  <a:cubicBezTo>
                    <a:pt x="8552" y="131372"/>
                    <a:pt x="12340" y="74291"/>
                    <a:pt x="49881" y="41422"/>
                  </a:cubicBezTo>
                  <a:cubicBezTo>
                    <a:pt x="66390" y="26968"/>
                    <a:pt x="87596" y="19016"/>
                    <a:pt x="109537" y="19050"/>
                  </a:cubicBezTo>
                  <a:close/>
                </a:path>
              </a:pathLst>
            </a:custGeom>
            <a:solidFill>
              <a:srgbClr val="000000"/>
            </a:solidFill>
            <a:ln w="9525" cap="flat">
              <a:solidFill>
                <a:srgbClr val="7DA7C6"/>
              </a:solidFill>
              <a:prstDash val="solid"/>
              <a:miter/>
            </a:ln>
          </p:spPr>
          <p:txBody>
            <a:bodyPr rtlCol="0" anchor="ctr"/>
            <a:lstStyle/>
            <a:p>
              <a:endParaRPr lang="fr-FR"/>
            </a:p>
          </p:txBody>
        </p:sp>
        <p:sp>
          <p:nvSpPr>
            <p:cNvPr id="107" name="Forme libre : forme 106">
              <a:extLst>
                <a:ext uri="{FF2B5EF4-FFF2-40B4-BE49-F238E27FC236}">
                  <a16:creationId xmlns:a16="http://schemas.microsoft.com/office/drawing/2014/main" id="{D17AC1B9-C1B6-4305-43A5-547CB19570D1}"/>
                </a:ext>
              </a:extLst>
            </p:cNvPr>
            <p:cNvSpPr/>
            <p:nvPr/>
          </p:nvSpPr>
          <p:spPr>
            <a:xfrm>
              <a:off x="1374266" y="4362865"/>
              <a:ext cx="219074" cy="219075"/>
            </a:xfrm>
            <a:custGeom>
              <a:avLst/>
              <a:gdLst>
                <a:gd name="connsiteX0" fmla="*/ 109537 w 219074"/>
                <a:gd name="connsiteY0" fmla="*/ 0 h 219075"/>
                <a:gd name="connsiteX1" fmla="*/ 0 w 219074"/>
                <a:gd name="connsiteY1" fmla="*/ 109538 h 219075"/>
                <a:gd name="connsiteX2" fmla="*/ 109537 w 219074"/>
                <a:gd name="connsiteY2" fmla="*/ 219075 h 219075"/>
                <a:gd name="connsiteX3" fmla="*/ 219075 w 219074"/>
                <a:gd name="connsiteY3" fmla="*/ 109538 h 219075"/>
                <a:gd name="connsiteX4" fmla="*/ 109537 w 219074"/>
                <a:gd name="connsiteY4" fmla="*/ 0 h 219075"/>
                <a:gd name="connsiteX5" fmla="*/ 57804 w 219074"/>
                <a:gd name="connsiteY5" fmla="*/ 183671 h 219075"/>
                <a:gd name="connsiteX6" fmla="*/ 114882 w 219074"/>
                <a:gd name="connsiteY6" fmla="*/ 137274 h 219075"/>
                <a:gd name="connsiteX7" fmla="*/ 161278 w 219074"/>
                <a:gd name="connsiteY7" fmla="*/ 183664 h 219075"/>
                <a:gd name="connsiteX8" fmla="*/ 57804 w 219074"/>
                <a:gd name="connsiteY8" fmla="*/ 183671 h 219075"/>
                <a:gd name="connsiteX9" fmla="*/ 86180 w 219074"/>
                <a:gd name="connsiteY9" fmla="*/ 94593 h 219075"/>
                <a:gd name="connsiteX10" fmla="*/ 109537 w 219074"/>
                <a:gd name="connsiteY10" fmla="*/ 71225 h 219075"/>
                <a:gd name="connsiteX11" fmla="*/ 132904 w 219074"/>
                <a:gd name="connsiteY11" fmla="*/ 94581 h 219075"/>
                <a:gd name="connsiteX12" fmla="*/ 109548 w 219074"/>
                <a:gd name="connsiteY12" fmla="*/ 117949 h 219075"/>
                <a:gd name="connsiteX13" fmla="*/ 109537 w 219074"/>
                <a:gd name="connsiteY13" fmla="*/ 117949 h 219075"/>
                <a:gd name="connsiteX14" fmla="*/ 86180 w 219074"/>
                <a:gd name="connsiteY14" fmla="*/ 94593 h 219075"/>
                <a:gd name="connsiteX15" fmla="*/ 177661 w 219074"/>
                <a:gd name="connsiteY15" fmla="*/ 168908 h 219075"/>
                <a:gd name="connsiteX16" fmla="*/ 139433 w 219074"/>
                <a:gd name="connsiteY16" fmla="*/ 124632 h 219075"/>
                <a:gd name="connsiteX17" fmla="*/ 139621 w 219074"/>
                <a:gd name="connsiteY17" fmla="*/ 64657 h 219075"/>
                <a:gd name="connsiteX18" fmla="*/ 79646 w 219074"/>
                <a:gd name="connsiteY18" fmla="*/ 64468 h 219075"/>
                <a:gd name="connsiteX19" fmla="*/ 79458 w 219074"/>
                <a:gd name="connsiteY19" fmla="*/ 124443 h 219075"/>
                <a:gd name="connsiteX20" fmla="*/ 79646 w 219074"/>
                <a:gd name="connsiteY20" fmla="*/ 124632 h 219075"/>
                <a:gd name="connsiteX21" fmla="*/ 41420 w 219074"/>
                <a:gd name="connsiteY21" fmla="*/ 168913 h 219075"/>
                <a:gd name="connsiteX22" fmla="*/ 49973 w 219074"/>
                <a:gd name="connsiteY22" fmla="*/ 41231 h 219075"/>
                <a:gd name="connsiteX23" fmla="*/ 177656 w 219074"/>
                <a:gd name="connsiteY23" fmla="*/ 49783 h 219075"/>
                <a:gd name="connsiteX24" fmla="*/ 177661 w 219074"/>
                <a:gd name="connsiteY24" fmla="*/ 168907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074" h="219075">
                  <a:moveTo>
                    <a:pt x="109537" y="0"/>
                  </a:moveTo>
                  <a:cubicBezTo>
                    <a:pt x="49041" y="0"/>
                    <a:pt x="0" y="49041"/>
                    <a:pt x="0" y="109538"/>
                  </a:cubicBezTo>
                  <a:cubicBezTo>
                    <a:pt x="0" y="170034"/>
                    <a:pt x="49041" y="219075"/>
                    <a:pt x="109537" y="219075"/>
                  </a:cubicBezTo>
                  <a:cubicBezTo>
                    <a:pt x="170034" y="219075"/>
                    <a:pt x="219075" y="170034"/>
                    <a:pt x="219075" y="109538"/>
                  </a:cubicBezTo>
                  <a:cubicBezTo>
                    <a:pt x="219006" y="49070"/>
                    <a:pt x="170005" y="69"/>
                    <a:pt x="109537" y="0"/>
                  </a:cubicBezTo>
                  <a:close/>
                  <a:moveTo>
                    <a:pt x="57804" y="183671"/>
                  </a:moveTo>
                  <a:cubicBezTo>
                    <a:pt x="60754" y="155097"/>
                    <a:pt x="86309" y="134324"/>
                    <a:pt x="114882" y="137274"/>
                  </a:cubicBezTo>
                  <a:cubicBezTo>
                    <a:pt x="139380" y="139803"/>
                    <a:pt x="158747" y="159167"/>
                    <a:pt x="161278" y="183664"/>
                  </a:cubicBezTo>
                  <a:cubicBezTo>
                    <a:pt x="130236" y="205476"/>
                    <a:pt x="88849" y="205479"/>
                    <a:pt x="57804" y="183671"/>
                  </a:cubicBezTo>
                  <a:close/>
                  <a:moveTo>
                    <a:pt x="86180" y="94593"/>
                  </a:moveTo>
                  <a:cubicBezTo>
                    <a:pt x="86177" y="81690"/>
                    <a:pt x="96634" y="71228"/>
                    <a:pt x="109537" y="71225"/>
                  </a:cubicBezTo>
                  <a:cubicBezTo>
                    <a:pt x="122439" y="71222"/>
                    <a:pt x="132901" y="81679"/>
                    <a:pt x="132904" y="94581"/>
                  </a:cubicBezTo>
                  <a:cubicBezTo>
                    <a:pt x="132907" y="107484"/>
                    <a:pt x="122451" y="117946"/>
                    <a:pt x="109548" y="117949"/>
                  </a:cubicBezTo>
                  <a:cubicBezTo>
                    <a:pt x="109544" y="117949"/>
                    <a:pt x="109541" y="117949"/>
                    <a:pt x="109537" y="117949"/>
                  </a:cubicBezTo>
                  <a:cubicBezTo>
                    <a:pt x="96644" y="117936"/>
                    <a:pt x="86194" y="107487"/>
                    <a:pt x="86180" y="94593"/>
                  </a:cubicBezTo>
                  <a:close/>
                  <a:moveTo>
                    <a:pt x="177661" y="168908"/>
                  </a:moveTo>
                  <a:cubicBezTo>
                    <a:pt x="171837" y="149362"/>
                    <a:pt x="157921" y="133244"/>
                    <a:pt x="139433" y="124632"/>
                  </a:cubicBezTo>
                  <a:cubicBezTo>
                    <a:pt x="156046" y="108122"/>
                    <a:pt x="156131" y="81270"/>
                    <a:pt x="139621" y="64657"/>
                  </a:cubicBezTo>
                  <a:cubicBezTo>
                    <a:pt x="123112" y="48043"/>
                    <a:pt x="96260" y="47958"/>
                    <a:pt x="79646" y="64468"/>
                  </a:cubicBezTo>
                  <a:cubicBezTo>
                    <a:pt x="63033" y="80978"/>
                    <a:pt x="62948" y="107830"/>
                    <a:pt x="79458" y="124443"/>
                  </a:cubicBezTo>
                  <a:cubicBezTo>
                    <a:pt x="79520" y="124506"/>
                    <a:pt x="79583" y="124569"/>
                    <a:pt x="79646" y="124632"/>
                  </a:cubicBezTo>
                  <a:cubicBezTo>
                    <a:pt x="61158" y="133246"/>
                    <a:pt x="47243" y="149365"/>
                    <a:pt x="41420" y="168913"/>
                  </a:cubicBezTo>
                  <a:cubicBezTo>
                    <a:pt x="8524" y="131294"/>
                    <a:pt x="12353" y="74127"/>
                    <a:pt x="49973" y="41231"/>
                  </a:cubicBezTo>
                  <a:cubicBezTo>
                    <a:pt x="87593" y="8334"/>
                    <a:pt x="144759" y="12163"/>
                    <a:pt x="177656" y="49783"/>
                  </a:cubicBezTo>
                  <a:cubicBezTo>
                    <a:pt x="207480" y="83890"/>
                    <a:pt x="207482" y="134797"/>
                    <a:pt x="177661" y="168907"/>
                  </a:cubicBezTo>
                  <a:close/>
                </a:path>
              </a:pathLst>
            </a:custGeom>
            <a:solidFill>
              <a:srgbClr val="000000"/>
            </a:solidFill>
            <a:ln w="9525" cap="flat">
              <a:solidFill>
                <a:srgbClr val="7DA7C6"/>
              </a:solidFill>
              <a:prstDash val="solid"/>
              <a:miter/>
            </a:ln>
          </p:spPr>
          <p:txBody>
            <a:bodyPr rtlCol="0" anchor="ctr"/>
            <a:lstStyle/>
            <a:p>
              <a:endParaRPr lang="fr-FR"/>
            </a:p>
          </p:txBody>
        </p:sp>
      </p:grpSp>
      <p:grpSp>
        <p:nvGrpSpPr>
          <p:cNvPr id="108" name="Graphique 175">
            <a:extLst>
              <a:ext uri="{FF2B5EF4-FFF2-40B4-BE49-F238E27FC236}">
                <a16:creationId xmlns:a16="http://schemas.microsoft.com/office/drawing/2014/main" id="{33EE731C-EF3F-D4D4-5824-F6E5A80B0CF8}"/>
              </a:ext>
            </a:extLst>
          </p:cNvPr>
          <p:cNvGrpSpPr/>
          <p:nvPr/>
        </p:nvGrpSpPr>
        <p:grpSpPr>
          <a:xfrm>
            <a:off x="1704586" y="3209777"/>
            <a:ext cx="360000" cy="288000"/>
            <a:chOff x="3245610" y="1820342"/>
            <a:chExt cx="285750" cy="247650"/>
          </a:xfrm>
        </p:grpSpPr>
        <p:sp>
          <p:nvSpPr>
            <p:cNvPr id="109" name="Forme libre : forme 108">
              <a:extLst>
                <a:ext uri="{FF2B5EF4-FFF2-40B4-BE49-F238E27FC236}">
                  <a16:creationId xmlns:a16="http://schemas.microsoft.com/office/drawing/2014/main" id="{E65A38F6-6AAD-7EB0-29C9-A61C4CF66122}"/>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sp>
          <p:nvSpPr>
            <p:cNvPr id="110" name="Forme libre : forme 109">
              <a:extLst>
                <a:ext uri="{FF2B5EF4-FFF2-40B4-BE49-F238E27FC236}">
                  <a16:creationId xmlns:a16="http://schemas.microsoft.com/office/drawing/2014/main" id="{59AAB906-2696-A457-CDA7-60FC8F363A2D}"/>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19050" cap="sq">
              <a:solidFill>
                <a:srgbClr val="6496BB"/>
              </a:solidFill>
              <a:prstDash val="solid"/>
              <a:miter/>
            </a:ln>
          </p:spPr>
          <p:txBody>
            <a:bodyPr rtlCol="0" anchor="ctr"/>
            <a:lstStyle/>
            <a:p>
              <a:endParaRPr lang="en-US"/>
            </a:p>
          </p:txBody>
        </p:sp>
        <p:sp>
          <p:nvSpPr>
            <p:cNvPr id="111" name="Forme libre : forme 110">
              <a:extLst>
                <a:ext uri="{FF2B5EF4-FFF2-40B4-BE49-F238E27FC236}">
                  <a16:creationId xmlns:a16="http://schemas.microsoft.com/office/drawing/2014/main" id="{1104C8BB-6766-488D-6491-7EC2A99684A9}"/>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19050" cap="sq">
              <a:solidFill>
                <a:srgbClr val="6496BB"/>
              </a:solidFill>
              <a:prstDash val="solid"/>
              <a:miter/>
            </a:ln>
          </p:spPr>
          <p:txBody>
            <a:bodyPr rtlCol="0" anchor="ctr"/>
            <a:lstStyle/>
            <a:p>
              <a:endParaRPr lang="en-US"/>
            </a:p>
          </p:txBody>
        </p:sp>
        <p:sp>
          <p:nvSpPr>
            <p:cNvPr id="112" name="Forme libre : forme 111">
              <a:extLst>
                <a:ext uri="{FF2B5EF4-FFF2-40B4-BE49-F238E27FC236}">
                  <a16:creationId xmlns:a16="http://schemas.microsoft.com/office/drawing/2014/main" id="{A8B412D5-7C73-5F49-1564-23FEB73E793D}"/>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grpSp>
      <p:sp>
        <p:nvSpPr>
          <p:cNvPr id="113" name="Rectangle : coins arrondis 3">
            <a:extLst>
              <a:ext uri="{FF2B5EF4-FFF2-40B4-BE49-F238E27FC236}">
                <a16:creationId xmlns:a16="http://schemas.microsoft.com/office/drawing/2014/main" id="{054AA670-F0A3-8139-6799-A3D50B445F8B}"/>
              </a:ext>
            </a:extLst>
          </p:cNvPr>
          <p:cNvSpPr/>
          <p:nvPr/>
        </p:nvSpPr>
        <p:spPr>
          <a:xfrm>
            <a:off x="1285394" y="3602091"/>
            <a:ext cx="24788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Co-contractors</a:t>
            </a:r>
          </a:p>
        </p:txBody>
      </p:sp>
      <p:sp>
        <p:nvSpPr>
          <p:cNvPr id="2" name="Titre 1">
            <a:extLst>
              <a:ext uri="{FF2B5EF4-FFF2-40B4-BE49-F238E27FC236}">
                <a16:creationId xmlns:a16="http://schemas.microsoft.com/office/drawing/2014/main" id="{F241B97D-C18F-63B7-E6D3-2CD1806DAF3D}"/>
              </a:ext>
            </a:extLst>
          </p:cNvPr>
          <p:cNvSpPr>
            <a:spLocks noGrp="1"/>
          </p:cNvSpPr>
          <p:nvPr>
            <p:ph type="title"/>
          </p:nvPr>
        </p:nvSpPr>
        <p:spPr/>
        <p:txBody>
          <a:bodyPr/>
          <a:lstStyle/>
          <a:p>
            <a:r>
              <a:rPr lang="en-US" sz="3600"/>
              <a:t>IAM : Global overview</a:t>
            </a:r>
            <a:endParaRPr lang="fr-FR" sz="3600"/>
          </a:p>
        </p:txBody>
      </p:sp>
      <p:sp>
        <p:nvSpPr>
          <p:cNvPr id="4" name="Espace réservé du pied de page 3">
            <a:extLst>
              <a:ext uri="{FF2B5EF4-FFF2-40B4-BE49-F238E27FC236}">
                <a16:creationId xmlns:a16="http://schemas.microsoft.com/office/drawing/2014/main" id="{65F98A51-77B8-4C4F-B0C6-5A74353321B2}"/>
              </a:ext>
            </a:extLst>
          </p:cNvPr>
          <p:cNvSpPr>
            <a:spLocks noGrp="1"/>
          </p:cNvSpPr>
          <p:nvPr>
            <p:ph type="ftr" sz="quarter" idx="13"/>
          </p:nvPr>
        </p:nvSpPr>
        <p:spPr>
          <a:xfrm>
            <a:off x="9590378" y="6938262"/>
            <a:ext cx="2340000" cy="123111"/>
          </a:xfrm>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808CCAD2-0755-A68D-9BA5-8129641A2A36}"/>
              </a:ext>
            </a:extLst>
          </p:cNvPr>
          <p:cNvSpPr>
            <a:spLocks noGrp="1"/>
          </p:cNvSpPr>
          <p:nvPr>
            <p:ph type="sldNum" sz="quarter" idx="14"/>
          </p:nvPr>
        </p:nvSpPr>
        <p:spPr/>
        <p:txBody>
          <a:bodyPr/>
          <a:lstStyle/>
          <a:p>
            <a:r>
              <a:rPr lang="fr-FR"/>
              <a:t>| </a:t>
            </a:r>
            <a:fld id="{C2EBF694-A8F9-4F06-8F8E-D09447FAA2D5}" type="slidenum">
              <a:rPr smtClean="0"/>
              <a:pPr/>
              <a:t>6</a:t>
            </a:fld>
            <a:endParaRPr/>
          </a:p>
        </p:txBody>
      </p:sp>
      <p:grpSp>
        <p:nvGrpSpPr>
          <p:cNvPr id="6" name="Groupe 5">
            <a:extLst>
              <a:ext uri="{FF2B5EF4-FFF2-40B4-BE49-F238E27FC236}">
                <a16:creationId xmlns:a16="http://schemas.microsoft.com/office/drawing/2014/main" id="{C9C2E473-4ABA-5089-5B8A-921359F5C981}"/>
              </a:ext>
            </a:extLst>
          </p:cNvPr>
          <p:cNvGrpSpPr/>
          <p:nvPr/>
        </p:nvGrpSpPr>
        <p:grpSpPr>
          <a:xfrm>
            <a:off x="4117085" y="1935280"/>
            <a:ext cx="4146106" cy="4249080"/>
            <a:chOff x="487288" y="1843640"/>
            <a:chExt cx="4722022" cy="4750792"/>
          </a:xfrm>
        </p:grpSpPr>
        <p:sp>
          <p:nvSpPr>
            <p:cNvPr id="7" name="Rectangle 9">
              <a:extLst>
                <a:ext uri="{FF2B5EF4-FFF2-40B4-BE49-F238E27FC236}">
                  <a16:creationId xmlns:a16="http://schemas.microsoft.com/office/drawing/2014/main" id="{18CE01C1-C9DC-A59D-5781-040DEFEC4878}"/>
                </a:ext>
              </a:extLst>
            </p:cNvPr>
            <p:cNvSpPr>
              <a:spLocks noChangeArrowheads="1"/>
            </p:cNvSpPr>
            <p:nvPr/>
          </p:nvSpPr>
          <p:spPr bwMode="auto">
            <a:xfrm>
              <a:off x="2051090" y="3910261"/>
              <a:ext cx="1637854" cy="1420919"/>
            </a:xfrm>
            <a:prstGeom prst="rect">
              <a:avLst/>
            </a:prstGeom>
            <a:noFill/>
            <a:ln w="28575">
              <a:no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IAM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grpSp>
          <p:nvGrpSpPr>
            <p:cNvPr id="8" name="Groupe 7">
              <a:extLst>
                <a:ext uri="{FF2B5EF4-FFF2-40B4-BE49-F238E27FC236}">
                  <a16:creationId xmlns:a16="http://schemas.microsoft.com/office/drawing/2014/main" id="{B0492EBB-293F-849E-CB80-1DEA5416C547}"/>
                </a:ext>
              </a:extLst>
            </p:cNvPr>
            <p:cNvGrpSpPr/>
            <p:nvPr/>
          </p:nvGrpSpPr>
          <p:grpSpPr>
            <a:xfrm>
              <a:off x="487288" y="1843640"/>
              <a:ext cx="4722022" cy="4750792"/>
              <a:chOff x="2017840" y="1232784"/>
              <a:chExt cx="4878808" cy="4896544"/>
            </a:xfrm>
          </p:grpSpPr>
          <p:sp>
            <p:nvSpPr>
              <p:cNvPr id="13" name="Ellipse 12">
                <a:extLst>
                  <a:ext uri="{FF2B5EF4-FFF2-40B4-BE49-F238E27FC236}">
                    <a16:creationId xmlns:a16="http://schemas.microsoft.com/office/drawing/2014/main" id="{F66BBD90-60DE-8BB3-EAEC-D03834DB5EFA}"/>
                  </a:ext>
                </a:extLst>
              </p:cNvPr>
              <p:cNvSpPr/>
              <p:nvPr/>
            </p:nvSpPr>
            <p:spPr>
              <a:xfrm>
                <a:off x="2017840" y="1232784"/>
                <a:ext cx="4878808" cy="4896544"/>
              </a:xfrm>
              <a:prstGeom prst="ellipse">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chemeClr val="bg1"/>
                  </a:solidFill>
                  <a:effectLst/>
                  <a:uLnTx/>
                  <a:uFillTx/>
                  <a:latin typeface="Calibri" panose="020F0502020204030204"/>
                  <a:ea typeface="Tahoma" panose="020B0604030504040204" pitchFamily="34" charset="0"/>
                  <a:cs typeface="Tahoma" panose="020B0604030504040204" pitchFamily="34" charset="0"/>
                </a:endParaRPr>
              </a:p>
            </p:txBody>
          </p:sp>
          <p:sp>
            <p:nvSpPr>
              <p:cNvPr id="14" name="Ellipse 13">
                <a:extLst>
                  <a:ext uri="{FF2B5EF4-FFF2-40B4-BE49-F238E27FC236}">
                    <a16:creationId xmlns:a16="http://schemas.microsoft.com/office/drawing/2014/main" id="{F6512A9F-06F6-EECF-B03A-527C0C3DFFAE}"/>
                  </a:ext>
                </a:extLst>
              </p:cNvPr>
              <p:cNvSpPr/>
              <p:nvPr/>
            </p:nvSpPr>
            <p:spPr>
              <a:xfrm>
                <a:off x="2332596" y="1548690"/>
                <a:ext cx="4249284" cy="4264732"/>
              </a:xfrm>
              <a:prstGeom prst="ellipse">
                <a:avLst/>
              </a:prstGeom>
              <a:solidFill>
                <a:srgbClr val="ECECE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5" name="ZoneTexte 14">
                <a:extLst>
                  <a:ext uri="{FF2B5EF4-FFF2-40B4-BE49-F238E27FC236}">
                    <a16:creationId xmlns:a16="http://schemas.microsoft.com/office/drawing/2014/main" id="{41265667-7A1B-4C70-B5DD-E7D6A53BC140}"/>
                  </a:ext>
                </a:extLst>
              </p:cNvPr>
              <p:cNvSpPr txBox="1"/>
              <p:nvPr/>
            </p:nvSpPr>
            <p:spPr>
              <a:xfrm>
                <a:off x="3664345" y="1237007"/>
                <a:ext cx="1573597" cy="4401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a:ln>
                      <a:noFill/>
                    </a:ln>
                    <a:solidFill>
                      <a:schemeClr val="bg1"/>
                    </a:solidFill>
                    <a:effectLst/>
                    <a:uLnTx/>
                    <a:uFillTx/>
                    <a:latin typeface="Calibri" panose="020F0502020204030204"/>
                    <a:ea typeface="Tahoma" panose="020B0604030504040204" pitchFamily="34" charset="0"/>
                    <a:cs typeface="Tahoma" panose="020B0604030504040204" pitchFamily="34" charset="0"/>
                  </a:rPr>
                  <a:t>Governance</a:t>
                </a:r>
              </a:p>
            </p:txBody>
          </p:sp>
        </p:grpSp>
        <p:sp>
          <p:nvSpPr>
            <p:cNvPr id="9" name="AutoShape 4">
              <a:extLst>
                <a:ext uri="{FF2B5EF4-FFF2-40B4-BE49-F238E27FC236}">
                  <a16:creationId xmlns:a16="http://schemas.microsoft.com/office/drawing/2014/main" id="{B3AAA97A-798A-6BED-8619-BD8F7C0F26EA}"/>
                </a:ext>
              </a:extLst>
            </p:cNvPr>
            <p:cNvSpPr>
              <a:spLocks noChangeArrowheads="1"/>
            </p:cNvSpPr>
            <p:nvPr/>
          </p:nvSpPr>
          <p:spPr bwMode="auto">
            <a:xfrm>
              <a:off x="2023468" y="2306144"/>
              <a:ext cx="1637854" cy="1420919"/>
            </a:xfrm>
            <a:prstGeom prst="triangle">
              <a:avLst>
                <a:gd name="adj" fmla="val 50000"/>
              </a:avLst>
            </a:prstGeom>
            <a:solidFill>
              <a:srgbClr val="2B0A3D"/>
            </a:solidFill>
            <a:ln w="28575">
              <a:noFill/>
              <a:miter lim="800000"/>
              <a:headEnd/>
              <a:tailEnd/>
            </a:ln>
            <a:effectLst/>
          </p:spPr>
          <p:txBody>
            <a:bodyPr wrap="none"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Identities</a:t>
              </a:r>
              <a:endParaRPr lang="en-US" sz="1000" b="1" kern="0">
                <a:solidFill>
                  <a:srgbClr val="FFFFFF"/>
                </a:solidFill>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0" name="AutoShape 10">
              <a:extLst>
                <a:ext uri="{FF2B5EF4-FFF2-40B4-BE49-F238E27FC236}">
                  <a16:creationId xmlns:a16="http://schemas.microsoft.com/office/drawing/2014/main" id="{D0E4C654-99E5-F05F-4308-B7F379BFE90C}"/>
                </a:ext>
              </a:extLst>
            </p:cNvPr>
            <p:cNvSpPr>
              <a:spLocks noChangeArrowheads="1"/>
            </p:cNvSpPr>
            <p:nvPr/>
          </p:nvSpPr>
          <p:spPr bwMode="auto">
            <a:xfrm>
              <a:off x="2904856" y="3934627"/>
              <a:ext cx="1637854" cy="1420919"/>
            </a:xfrm>
            <a:prstGeom prst="triangle">
              <a:avLst>
                <a:gd name="adj" fmla="val 50000"/>
              </a:avLst>
            </a:prstGeom>
            <a:solidFill>
              <a:srgbClr val="7030A0">
                <a:alpha val="30000"/>
              </a:srgbClr>
            </a:solidFill>
            <a:ln w="28575">
              <a:no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Authentication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1" name="AutoShape 11">
              <a:extLst>
                <a:ext uri="{FF2B5EF4-FFF2-40B4-BE49-F238E27FC236}">
                  <a16:creationId xmlns:a16="http://schemas.microsoft.com/office/drawing/2014/main" id="{30BCB6DD-5616-C610-D275-41647CE50C77}"/>
                </a:ext>
              </a:extLst>
            </p:cNvPr>
            <p:cNvSpPr>
              <a:spLocks noChangeArrowheads="1"/>
            </p:cNvSpPr>
            <p:nvPr/>
          </p:nvSpPr>
          <p:spPr bwMode="auto">
            <a:xfrm>
              <a:off x="1142081" y="3934627"/>
              <a:ext cx="1637854" cy="1420919"/>
            </a:xfrm>
            <a:prstGeom prst="triangle">
              <a:avLst>
                <a:gd name="adj" fmla="val 50000"/>
              </a:avLst>
            </a:prstGeom>
            <a:solidFill>
              <a:schemeClr val="accent1"/>
            </a:solidFill>
            <a:ln w="28575">
              <a:noFill/>
              <a:miter lim="800000"/>
              <a:headEnd/>
              <a:tailEnd/>
            </a:ln>
            <a:effectLst/>
          </p:spPr>
          <p:txBody>
            <a:bodyPr wrap="none"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rPr>
                <a:t>Authorization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Calibri" panose="020F0502020204030204"/>
                <a:ea typeface="Tahoma" panose="020B0604030504040204" pitchFamily="34" charset="0"/>
                <a:cs typeface="Tahoma" panose="020B0604030504040204" pitchFamily="34" charset="0"/>
              </a:endParaRPr>
            </a:p>
          </p:txBody>
        </p:sp>
        <p:sp>
          <p:nvSpPr>
            <p:cNvPr id="12" name="AutoShape 8">
              <a:extLst>
                <a:ext uri="{FF2B5EF4-FFF2-40B4-BE49-F238E27FC236}">
                  <a16:creationId xmlns:a16="http://schemas.microsoft.com/office/drawing/2014/main" id="{DECFA2C6-2237-B901-D707-140605ED675C}"/>
                </a:ext>
              </a:extLst>
            </p:cNvPr>
            <p:cNvSpPr>
              <a:spLocks noChangeArrowheads="1"/>
            </p:cNvSpPr>
            <p:nvPr/>
          </p:nvSpPr>
          <p:spPr bwMode="auto">
            <a:xfrm flipV="1">
              <a:off x="2023468" y="3823182"/>
              <a:ext cx="1637854" cy="1420919"/>
            </a:xfrm>
            <a:prstGeom prst="triangle">
              <a:avLst>
                <a:gd name="adj" fmla="val 50000"/>
              </a:avLst>
            </a:prstGeom>
            <a:solidFill>
              <a:srgbClr val="FFFFFF"/>
            </a:solidFill>
            <a:ln w="38100">
              <a:noFill/>
              <a:miter lim="800000"/>
              <a:headEnd/>
              <a:tailEnd/>
            </a:ln>
            <a:effectLst/>
          </p:spPr>
          <p:txBody>
            <a:bodyPr rot="10800000"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a:ln>
                  <a:noFill/>
                </a:ln>
                <a:solidFill>
                  <a:srgbClr val="5F5F5F"/>
                </a:solidFill>
                <a:effectLst/>
                <a:uLnTx/>
                <a:uFillTx/>
                <a:latin typeface="Calibri" panose="020F0502020204030204"/>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a:ln>
                    <a:noFill/>
                  </a:ln>
                  <a:solidFill>
                    <a:srgbClr val="5F5F5F"/>
                  </a:solidFill>
                  <a:effectLst/>
                  <a:uLnTx/>
                  <a:uFillTx/>
                  <a:latin typeface="Calibri" panose="020F0502020204030204"/>
                  <a:ea typeface="Tahoma" panose="020B0604030504040204" pitchFamily="34" charset="0"/>
                  <a:cs typeface="Tahoma" panose="020B0604030504040204" pitchFamily="34" charset="0"/>
                </a:rPr>
                <a:t>IAM</a:t>
              </a:r>
            </a:p>
          </p:txBody>
        </p:sp>
      </p:grpSp>
      <p:grpSp>
        <p:nvGrpSpPr>
          <p:cNvPr id="16" name="Graphique 193">
            <a:extLst>
              <a:ext uri="{FF2B5EF4-FFF2-40B4-BE49-F238E27FC236}">
                <a16:creationId xmlns:a16="http://schemas.microsoft.com/office/drawing/2014/main" id="{CF1627E9-DEAC-504E-5BAC-33232E97131B}"/>
              </a:ext>
            </a:extLst>
          </p:cNvPr>
          <p:cNvGrpSpPr/>
          <p:nvPr/>
        </p:nvGrpSpPr>
        <p:grpSpPr>
          <a:xfrm>
            <a:off x="2001261" y="1482760"/>
            <a:ext cx="324000" cy="360000"/>
            <a:chOff x="2175353" y="2723890"/>
            <a:chExt cx="266700" cy="285750"/>
          </a:xfrm>
        </p:grpSpPr>
        <p:sp>
          <p:nvSpPr>
            <p:cNvPr id="17" name="Forme libre : forme 16">
              <a:extLst>
                <a:ext uri="{FF2B5EF4-FFF2-40B4-BE49-F238E27FC236}">
                  <a16:creationId xmlns:a16="http://schemas.microsoft.com/office/drawing/2014/main" id="{4CDEA530-389F-A2BF-6520-98456E126C95}"/>
                </a:ext>
              </a:extLst>
            </p:cNvPr>
            <p:cNvSpPr/>
            <p:nvPr/>
          </p:nvSpPr>
          <p:spPr>
            <a:xfrm>
              <a:off x="2308703"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C3585021-54F6-043D-2226-678493D7602C}"/>
                </a:ext>
              </a:extLst>
            </p:cNvPr>
            <p:cNvSpPr/>
            <p:nvPr/>
          </p:nvSpPr>
          <p:spPr>
            <a:xfrm>
              <a:off x="2175353" y="2896131"/>
              <a:ext cx="266700" cy="104775"/>
            </a:xfrm>
            <a:custGeom>
              <a:avLst/>
              <a:gdLst>
                <a:gd name="connsiteX0" fmla="*/ 103051 w 266700"/>
                <a:gd name="connsiteY0" fmla="*/ 0 h 104775"/>
                <a:gd name="connsiteX1" fmla="*/ 19860 w 266700"/>
                <a:gd name="connsiteY1" fmla="*/ 45530 h 104775"/>
                <a:gd name="connsiteX2" fmla="*/ 0 w 266700"/>
                <a:gd name="connsiteY2" fmla="*/ 78981 h 104775"/>
                <a:gd name="connsiteX3" fmla="*/ 0 w 266700"/>
                <a:gd name="connsiteY3" fmla="*/ 113509 h 104775"/>
                <a:gd name="connsiteX4" fmla="*/ 266700 w 266700"/>
                <a:gd name="connsiteY4" fmla="*/ 113509 h 104775"/>
                <a:gd name="connsiteX5" fmla="*/ 266700 w 266700"/>
                <a:gd name="connsiteY5" fmla="*/ 78981 h 104775"/>
                <a:gd name="connsiteX6" fmla="*/ 246840 w 266700"/>
                <a:gd name="connsiteY6" fmla="*/ 45530 h 104775"/>
                <a:gd name="connsiteX7" fmla="*/ 163649 w 26670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700" h="104775">
                  <a:moveTo>
                    <a:pt x="103051" y="0"/>
                  </a:moveTo>
                  <a:lnTo>
                    <a:pt x="19860" y="45530"/>
                  </a:lnTo>
                  <a:cubicBezTo>
                    <a:pt x="7620" y="52207"/>
                    <a:pt x="0" y="65037"/>
                    <a:pt x="0" y="78981"/>
                  </a:cubicBezTo>
                  <a:lnTo>
                    <a:pt x="0" y="113509"/>
                  </a:lnTo>
                  <a:lnTo>
                    <a:pt x="266700" y="113509"/>
                  </a:lnTo>
                  <a:lnTo>
                    <a:pt x="266700" y="78981"/>
                  </a:lnTo>
                  <a:cubicBezTo>
                    <a:pt x="266700" y="65037"/>
                    <a:pt x="259080" y="52207"/>
                    <a:pt x="246840" y="45530"/>
                  </a:cubicBezTo>
                  <a:lnTo>
                    <a:pt x="163649" y="0"/>
                  </a:lnTo>
                </a:path>
              </a:pathLst>
            </a:custGeom>
            <a:noFill/>
            <a:ln w="19050" cap="flat">
              <a:solidFill>
                <a:schemeClr val="accent4"/>
              </a:solidFill>
              <a:prstDash val="solid"/>
              <a:miter/>
            </a:ln>
          </p:spPr>
          <p:txBody>
            <a:bodyPr rtlCol="0" anchor="ctr"/>
            <a:lstStyle/>
            <a:p>
              <a:endParaRPr lang="en-US"/>
            </a:p>
          </p:txBody>
        </p:sp>
        <p:sp>
          <p:nvSpPr>
            <p:cNvPr id="19" name="Forme libre : forme 18">
              <a:extLst>
                <a:ext uri="{FF2B5EF4-FFF2-40B4-BE49-F238E27FC236}">
                  <a16:creationId xmlns:a16="http://schemas.microsoft.com/office/drawing/2014/main" id="{DE01A3D7-482E-084D-B8F8-E784B3B04E08}"/>
                </a:ext>
              </a:extLst>
            </p:cNvPr>
            <p:cNvSpPr/>
            <p:nvPr/>
          </p:nvSpPr>
          <p:spPr>
            <a:xfrm>
              <a:off x="2232503"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20" name="Forme libre : forme 19">
              <a:extLst>
                <a:ext uri="{FF2B5EF4-FFF2-40B4-BE49-F238E27FC236}">
                  <a16:creationId xmlns:a16="http://schemas.microsoft.com/office/drawing/2014/main" id="{A1E23C3D-0DF3-AC9C-A997-0637C2A4B1D1}"/>
                </a:ext>
              </a:extLst>
            </p:cNvPr>
            <p:cNvSpPr/>
            <p:nvPr/>
          </p:nvSpPr>
          <p:spPr>
            <a:xfrm>
              <a:off x="2232865"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grpSp>
      <p:grpSp>
        <p:nvGrpSpPr>
          <p:cNvPr id="21" name="Graphique 195">
            <a:extLst>
              <a:ext uri="{FF2B5EF4-FFF2-40B4-BE49-F238E27FC236}">
                <a16:creationId xmlns:a16="http://schemas.microsoft.com/office/drawing/2014/main" id="{A3439119-E8B0-BD81-1AF0-14A6B5DFFF29}"/>
              </a:ext>
            </a:extLst>
          </p:cNvPr>
          <p:cNvGrpSpPr/>
          <p:nvPr/>
        </p:nvGrpSpPr>
        <p:grpSpPr>
          <a:xfrm>
            <a:off x="1601139" y="1482255"/>
            <a:ext cx="324000" cy="360000"/>
            <a:chOff x="3264660" y="2723890"/>
            <a:chExt cx="247650" cy="285750"/>
          </a:xfrm>
        </p:grpSpPr>
        <p:sp>
          <p:nvSpPr>
            <p:cNvPr id="22" name="Forme libre : forme 21">
              <a:extLst>
                <a:ext uri="{FF2B5EF4-FFF2-40B4-BE49-F238E27FC236}">
                  <a16:creationId xmlns:a16="http://schemas.microsoft.com/office/drawing/2014/main" id="{8DCCA371-F2AF-E679-4CBF-8BEE08ACB188}"/>
                </a:ext>
              </a:extLst>
            </p:cNvPr>
            <p:cNvSpPr/>
            <p:nvPr/>
          </p:nvSpPr>
          <p:spPr>
            <a:xfrm>
              <a:off x="3388485" y="2942965"/>
              <a:ext cx="9525" cy="66675"/>
            </a:xfrm>
            <a:custGeom>
              <a:avLst/>
              <a:gdLst>
                <a:gd name="connsiteX0" fmla="*/ 0 w 0"/>
                <a:gd name="connsiteY0" fmla="*/ 66675 h 66675"/>
                <a:gd name="connsiteX1" fmla="*/ 0 w 0"/>
                <a:gd name="connsiteY1" fmla="*/ 0 h 66675"/>
              </a:gdLst>
              <a:ahLst/>
              <a:cxnLst>
                <a:cxn ang="0">
                  <a:pos x="connsiteX0" y="connsiteY0"/>
                </a:cxn>
                <a:cxn ang="0">
                  <a:pos x="connsiteX1" y="connsiteY1"/>
                </a:cxn>
              </a:cxnLst>
              <a:rect l="l" t="t" r="r" b="b"/>
              <a:pathLst>
                <a:path h="66675">
                  <a:moveTo>
                    <a:pt x="0" y="66675"/>
                  </a:moveTo>
                  <a:lnTo>
                    <a:pt x="0" y="0"/>
                  </a:lnTo>
                </a:path>
              </a:pathLst>
            </a:custGeom>
            <a:ln w="19050" cap="sq">
              <a:solidFill>
                <a:schemeClr val="accent4"/>
              </a:solidFill>
              <a:prstDash val="solid"/>
              <a:miter/>
            </a:ln>
          </p:spPr>
          <p:txBody>
            <a:bodyPr rtlCol="0" anchor="ctr"/>
            <a:lstStyle/>
            <a:p>
              <a:endParaRPr lang="en-US"/>
            </a:p>
          </p:txBody>
        </p:sp>
        <p:sp>
          <p:nvSpPr>
            <p:cNvPr id="23" name="Forme libre : forme 22">
              <a:extLst>
                <a:ext uri="{FF2B5EF4-FFF2-40B4-BE49-F238E27FC236}">
                  <a16:creationId xmlns:a16="http://schemas.microsoft.com/office/drawing/2014/main" id="{C01DA547-B3C1-9E9F-177C-D31794C662FC}"/>
                </a:ext>
              </a:extLst>
            </p:cNvPr>
            <p:cNvSpPr/>
            <p:nvPr/>
          </p:nvSpPr>
          <p:spPr>
            <a:xfrm>
              <a:off x="3264660" y="2896131"/>
              <a:ext cx="247650" cy="104775"/>
            </a:xfrm>
            <a:custGeom>
              <a:avLst/>
              <a:gdLst>
                <a:gd name="connsiteX0" fmla="*/ 93526 w 247650"/>
                <a:gd name="connsiteY0" fmla="*/ 0 h 104775"/>
                <a:gd name="connsiteX1" fmla="*/ 13830 w 247650"/>
                <a:gd name="connsiteY1" fmla="*/ 48025 h 104775"/>
                <a:gd name="connsiteX2" fmla="*/ 0 w 247650"/>
                <a:gd name="connsiteY2" fmla="*/ 72504 h 104775"/>
                <a:gd name="connsiteX3" fmla="*/ 0 w 247650"/>
                <a:gd name="connsiteY3" fmla="*/ 113509 h 104775"/>
                <a:gd name="connsiteX4" fmla="*/ 247650 w 247650"/>
                <a:gd name="connsiteY4" fmla="*/ 113509 h 104775"/>
                <a:gd name="connsiteX5" fmla="*/ 247650 w 247650"/>
                <a:gd name="connsiteY5" fmla="*/ 72504 h 104775"/>
                <a:gd name="connsiteX6" fmla="*/ 233820 w 247650"/>
                <a:gd name="connsiteY6" fmla="*/ 48025 h 104775"/>
                <a:gd name="connsiteX7" fmla="*/ 154124 w 247650"/>
                <a:gd name="connsiteY7" fmla="*/ 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04775">
                  <a:moveTo>
                    <a:pt x="93526" y="0"/>
                  </a:moveTo>
                  <a:lnTo>
                    <a:pt x="13830" y="48025"/>
                  </a:lnTo>
                  <a:cubicBezTo>
                    <a:pt x="5248" y="53197"/>
                    <a:pt x="0" y="62484"/>
                    <a:pt x="0" y="72504"/>
                  </a:cubicBezTo>
                  <a:lnTo>
                    <a:pt x="0" y="113509"/>
                  </a:lnTo>
                  <a:lnTo>
                    <a:pt x="247650" y="113509"/>
                  </a:lnTo>
                  <a:lnTo>
                    <a:pt x="247650" y="72504"/>
                  </a:lnTo>
                  <a:cubicBezTo>
                    <a:pt x="247650" y="62484"/>
                    <a:pt x="242402" y="53197"/>
                    <a:pt x="233820" y="48025"/>
                  </a:cubicBezTo>
                  <a:lnTo>
                    <a:pt x="154124" y="0"/>
                  </a:lnTo>
                </a:path>
              </a:pathLst>
            </a:custGeom>
            <a:noFill/>
            <a:ln w="19050" cap="flat">
              <a:solidFill>
                <a:schemeClr val="accent4"/>
              </a:solidFill>
              <a:prstDash val="solid"/>
              <a:miter/>
            </a:ln>
          </p:spPr>
          <p:txBody>
            <a:bodyPr rtlCol="0" anchor="ctr"/>
            <a:lstStyle/>
            <a:p>
              <a:endParaRPr lang="en-US"/>
            </a:p>
          </p:txBody>
        </p:sp>
        <p:sp>
          <p:nvSpPr>
            <p:cNvPr id="24" name="Forme libre : forme 23">
              <a:extLst>
                <a:ext uri="{FF2B5EF4-FFF2-40B4-BE49-F238E27FC236}">
                  <a16:creationId xmlns:a16="http://schemas.microsoft.com/office/drawing/2014/main" id="{87C6B8D5-4B3F-ACAC-A190-91FB3745EB3D}"/>
                </a:ext>
              </a:extLst>
            </p:cNvPr>
            <p:cNvSpPr/>
            <p:nvPr/>
          </p:nvSpPr>
          <p:spPr>
            <a:xfrm>
              <a:off x="3312285" y="2723890"/>
              <a:ext cx="152400" cy="180975"/>
            </a:xfrm>
            <a:custGeom>
              <a:avLst/>
              <a:gdLst>
                <a:gd name="connsiteX0" fmla="*/ 0 w 152400"/>
                <a:gd name="connsiteY0" fmla="*/ 76200 h 180975"/>
                <a:gd name="connsiteX1" fmla="*/ 76200 w 152400"/>
                <a:gd name="connsiteY1" fmla="*/ 0 h 180975"/>
                <a:gd name="connsiteX2" fmla="*/ 152400 w 152400"/>
                <a:gd name="connsiteY2" fmla="*/ 76200 h 180975"/>
                <a:gd name="connsiteX3" fmla="*/ 76200 w 152400"/>
                <a:gd name="connsiteY3" fmla="*/ 180975 h 180975"/>
                <a:gd name="connsiteX4" fmla="*/ 0 w 152400"/>
                <a:gd name="connsiteY4" fmla="*/ 76200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80975">
                  <a:moveTo>
                    <a:pt x="0" y="76200"/>
                  </a:moveTo>
                  <a:cubicBezTo>
                    <a:pt x="0" y="34119"/>
                    <a:pt x="34119" y="0"/>
                    <a:pt x="76200" y="0"/>
                  </a:cubicBezTo>
                  <a:cubicBezTo>
                    <a:pt x="118281" y="0"/>
                    <a:pt x="152400" y="34119"/>
                    <a:pt x="152400" y="76200"/>
                  </a:cubicBezTo>
                  <a:cubicBezTo>
                    <a:pt x="152400" y="133350"/>
                    <a:pt x="118281" y="180975"/>
                    <a:pt x="76200" y="180975"/>
                  </a:cubicBezTo>
                  <a:cubicBezTo>
                    <a:pt x="34119" y="180975"/>
                    <a:pt x="0" y="133350"/>
                    <a:pt x="0" y="76200"/>
                  </a:cubicBezTo>
                  <a:close/>
                </a:path>
              </a:pathLst>
            </a:custGeom>
            <a:noFill/>
            <a:ln w="19050" cap="sq">
              <a:solidFill>
                <a:schemeClr val="accent4"/>
              </a:solidFill>
              <a:prstDash val="solid"/>
              <a:miter/>
            </a:ln>
          </p:spPr>
          <p:txBody>
            <a:bodyPr rtlCol="0" anchor="ctr"/>
            <a:lstStyle/>
            <a:p>
              <a:endParaRPr lang="en-US"/>
            </a:p>
          </p:txBody>
        </p:sp>
        <p:sp>
          <p:nvSpPr>
            <p:cNvPr id="25" name="Forme libre : forme 24">
              <a:extLst>
                <a:ext uri="{FF2B5EF4-FFF2-40B4-BE49-F238E27FC236}">
                  <a16:creationId xmlns:a16="http://schemas.microsoft.com/office/drawing/2014/main" id="{53281803-9767-4E0A-F284-2ECBB6E774DA}"/>
                </a:ext>
              </a:extLst>
            </p:cNvPr>
            <p:cNvSpPr/>
            <p:nvPr/>
          </p:nvSpPr>
          <p:spPr>
            <a:xfrm>
              <a:off x="3312647" y="2777125"/>
              <a:ext cx="142875" cy="19050"/>
            </a:xfrm>
            <a:custGeom>
              <a:avLst/>
              <a:gdLst>
                <a:gd name="connsiteX0" fmla="*/ 0 w 142875"/>
                <a:gd name="connsiteY0" fmla="*/ 15459 h 19050"/>
                <a:gd name="connsiteX1" fmla="*/ 37738 w 142875"/>
                <a:gd name="connsiteY1" fmla="*/ 22965 h 19050"/>
                <a:gd name="connsiteX2" fmla="*/ 98698 w 142875"/>
                <a:gd name="connsiteY2" fmla="*/ 0 h 19050"/>
                <a:gd name="connsiteX3" fmla="*/ 152038 w 142875"/>
                <a:gd name="connsiteY3" fmla="*/ 22965 h 19050"/>
              </a:gdLst>
              <a:ahLst/>
              <a:cxnLst>
                <a:cxn ang="0">
                  <a:pos x="connsiteX0" y="connsiteY0"/>
                </a:cxn>
                <a:cxn ang="0">
                  <a:pos x="connsiteX1" y="connsiteY1"/>
                </a:cxn>
                <a:cxn ang="0">
                  <a:pos x="connsiteX2" y="connsiteY2"/>
                </a:cxn>
                <a:cxn ang="0">
                  <a:pos x="connsiteX3" y="connsiteY3"/>
                </a:cxn>
              </a:cxnLst>
              <a:rect l="l" t="t" r="r" b="b"/>
              <a:pathLst>
                <a:path w="142875" h="19050">
                  <a:moveTo>
                    <a:pt x="0" y="15459"/>
                  </a:moveTo>
                  <a:cubicBezTo>
                    <a:pt x="11135" y="20222"/>
                    <a:pt x="24003" y="22965"/>
                    <a:pt x="37738" y="22965"/>
                  </a:cubicBezTo>
                  <a:cubicBezTo>
                    <a:pt x="62703" y="22965"/>
                    <a:pt x="84801" y="13916"/>
                    <a:pt x="98698" y="0"/>
                  </a:cubicBezTo>
                  <a:cubicBezTo>
                    <a:pt x="110861" y="13916"/>
                    <a:pt x="130188" y="22965"/>
                    <a:pt x="152038" y="22965"/>
                  </a:cubicBezTo>
                </a:path>
              </a:pathLst>
            </a:custGeom>
            <a:noFill/>
            <a:ln w="19050" cap="flat">
              <a:solidFill>
                <a:schemeClr val="accent4"/>
              </a:solid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A0BF2956-F237-861F-B283-96E20A0CCB20}"/>
                </a:ext>
              </a:extLst>
            </p:cNvPr>
            <p:cNvSpPr/>
            <p:nvPr/>
          </p:nvSpPr>
          <p:spPr>
            <a:xfrm>
              <a:off x="3274185" y="2800090"/>
              <a:ext cx="38100" cy="114300"/>
            </a:xfrm>
            <a:custGeom>
              <a:avLst/>
              <a:gdLst>
                <a:gd name="connsiteX0" fmla="*/ 38100 w 38100"/>
                <a:gd name="connsiteY0" fmla="*/ 0 h 114300"/>
                <a:gd name="connsiteX1" fmla="*/ 0 w 38100"/>
                <a:gd name="connsiteY1" fmla="*/ 95250 h 114300"/>
                <a:gd name="connsiteX2" fmla="*/ 38100 w 38100"/>
                <a:gd name="connsiteY2" fmla="*/ 123701 h 114300"/>
              </a:gdLst>
              <a:ahLst/>
              <a:cxnLst>
                <a:cxn ang="0">
                  <a:pos x="connsiteX0" y="connsiteY0"/>
                </a:cxn>
                <a:cxn ang="0">
                  <a:pos x="connsiteX1" y="connsiteY1"/>
                </a:cxn>
                <a:cxn ang="0">
                  <a:pos x="connsiteX2" y="connsiteY2"/>
                </a:cxn>
              </a:cxnLst>
              <a:rect l="l" t="t" r="r" b="b"/>
              <a:pathLst>
                <a:path w="38100" h="114300">
                  <a:moveTo>
                    <a:pt x="38100" y="0"/>
                  </a:moveTo>
                  <a:cubicBezTo>
                    <a:pt x="38100" y="0"/>
                    <a:pt x="38100" y="66675"/>
                    <a:pt x="0" y="95250"/>
                  </a:cubicBezTo>
                  <a:cubicBezTo>
                    <a:pt x="9525" y="114300"/>
                    <a:pt x="38100" y="123701"/>
                    <a:pt x="38100" y="123701"/>
                  </a:cubicBezTo>
                </a:path>
              </a:pathLst>
            </a:custGeom>
            <a:noFill/>
            <a:ln w="19050" cap="flat">
              <a:solidFill>
                <a:schemeClr val="accent4"/>
              </a:solid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9F1814E4-350B-DC67-1710-E143BFC4F15E}"/>
                </a:ext>
              </a:extLst>
            </p:cNvPr>
            <p:cNvSpPr/>
            <p:nvPr/>
          </p:nvSpPr>
          <p:spPr>
            <a:xfrm>
              <a:off x="3464685" y="2800090"/>
              <a:ext cx="38100" cy="114300"/>
            </a:xfrm>
            <a:custGeom>
              <a:avLst/>
              <a:gdLst>
                <a:gd name="connsiteX0" fmla="*/ 0 w 38100"/>
                <a:gd name="connsiteY0" fmla="*/ 0 h 114300"/>
                <a:gd name="connsiteX1" fmla="*/ 38100 w 38100"/>
                <a:gd name="connsiteY1" fmla="*/ 95250 h 114300"/>
                <a:gd name="connsiteX2" fmla="*/ 0 w 38100"/>
                <a:gd name="connsiteY2" fmla="*/ 123701 h 114300"/>
              </a:gdLst>
              <a:ahLst/>
              <a:cxnLst>
                <a:cxn ang="0">
                  <a:pos x="connsiteX0" y="connsiteY0"/>
                </a:cxn>
                <a:cxn ang="0">
                  <a:pos x="connsiteX1" y="connsiteY1"/>
                </a:cxn>
                <a:cxn ang="0">
                  <a:pos x="connsiteX2" y="connsiteY2"/>
                </a:cxn>
              </a:cxnLst>
              <a:rect l="l" t="t" r="r" b="b"/>
              <a:pathLst>
                <a:path w="38100" h="114300">
                  <a:moveTo>
                    <a:pt x="0" y="0"/>
                  </a:moveTo>
                  <a:cubicBezTo>
                    <a:pt x="0" y="0"/>
                    <a:pt x="0" y="66675"/>
                    <a:pt x="38100" y="95250"/>
                  </a:cubicBezTo>
                  <a:cubicBezTo>
                    <a:pt x="28575" y="114300"/>
                    <a:pt x="0" y="123701"/>
                    <a:pt x="0" y="123701"/>
                  </a:cubicBezTo>
                </a:path>
              </a:pathLst>
            </a:custGeom>
            <a:noFill/>
            <a:ln w="19050" cap="flat">
              <a:solidFill>
                <a:schemeClr val="accent4"/>
              </a:solidFill>
              <a:prstDash val="solid"/>
              <a:miter/>
            </a:ln>
          </p:spPr>
          <p:txBody>
            <a:bodyPr rtlCol="0" anchor="ctr"/>
            <a:lstStyle/>
            <a:p>
              <a:endParaRPr lang="en-US"/>
            </a:p>
          </p:txBody>
        </p:sp>
      </p:grpSp>
      <p:sp>
        <p:nvSpPr>
          <p:cNvPr id="29" name="Rectangle : coins arrondis 28">
            <a:extLst>
              <a:ext uri="{FF2B5EF4-FFF2-40B4-BE49-F238E27FC236}">
                <a16:creationId xmlns:a16="http://schemas.microsoft.com/office/drawing/2014/main" id="{E16E7A62-D817-FA90-5C94-426240BA6651}"/>
              </a:ext>
            </a:extLst>
          </p:cNvPr>
          <p:cNvSpPr/>
          <p:nvPr>
            <p:custDataLst>
              <p:tags r:id="rId1"/>
            </p:custDataLst>
          </p:nvPr>
        </p:nvSpPr>
        <p:spPr>
          <a:xfrm>
            <a:off x="584550" y="2162348"/>
            <a:ext cx="3172608" cy="721624"/>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E74C786-0D43-F9AA-B500-FFEBD365C9D8}"/>
              </a:ext>
            </a:extLst>
          </p:cNvPr>
          <p:cNvSpPr/>
          <p:nvPr/>
        </p:nvSpPr>
        <p:spPr>
          <a:xfrm>
            <a:off x="717168" y="2230340"/>
            <a:ext cx="2944791" cy="5293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Employees are managed by HR services. </a:t>
            </a:r>
          </a:p>
          <a:p>
            <a:pPr marL="0" algn="just" defTabSz="914400" rtl="0" eaLnBrk="1" latinLnBrk="0" hangingPunct="1"/>
            <a:r>
              <a:rPr lang="en-US" sz="1050">
                <a:solidFill>
                  <a:schemeClr val="dk1"/>
                </a:solidFill>
              </a:rPr>
              <a:t>Service providers are managed by managers</a:t>
            </a:r>
          </a:p>
        </p:txBody>
      </p:sp>
      <p:sp>
        <p:nvSpPr>
          <p:cNvPr id="31" name="Rectangle : coins arrondis 3">
            <a:extLst>
              <a:ext uri="{FF2B5EF4-FFF2-40B4-BE49-F238E27FC236}">
                <a16:creationId xmlns:a16="http://schemas.microsoft.com/office/drawing/2014/main" id="{581DA06C-BF3E-BD62-DE41-EB7618A1223D}"/>
              </a:ext>
            </a:extLst>
          </p:cNvPr>
          <p:cNvSpPr/>
          <p:nvPr/>
        </p:nvSpPr>
        <p:spPr>
          <a:xfrm>
            <a:off x="8971162" y="1824069"/>
            <a:ext cx="2184983" cy="276825"/>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Administrators (PAM)</a:t>
            </a:r>
          </a:p>
        </p:txBody>
      </p:sp>
      <p:grpSp>
        <p:nvGrpSpPr>
          <p:cNvPr id="32" name="Graphique 569">
            <a:extLst>
              <a:ext uri="{FF2B5EF4-FFF2-40B4-BE49-F238E27FC236}">
                <a16:creationId xmlns:a16="http://schemas.microsoft.com/office/drawing/2014/main" id="{47765BF4-860C-141D-F541-A207978FEA4E}"/>
              </a:ext>
            </a:extLst>
          </p:cNvPr>
          <p:cNvGrpSpPr/>
          <p:nvPr/>
        </p:nvGrpSpPr>
        <p:grpSpPr>
          <a:xfrm>
            <a:off x="9429831" y="1424395"/>
            <a:ext cx="360000" cy="360000"/>
            <a:chOff x="1084578" y="2731816"/>
            <a:chExt cx="276226" cy="257182"/>
          </a:xfrm>
        </p:grpSpPr>
        <p:sp>
          <p:nvSpPr>
            <p:cNvPr id="33" name="Forme libre : forme 32">
              <a:extLst>
                <a:ext uri="{FF2B5EF4-FFF2-40B4-BE49-F238E27FC236}">
                  <a16:creationId xmlns:a16="http://schemas.microsoft.com/office/drawing/2014/main" id="{02B8F911-CB19-EC11-0B1F-5EC2FD03727D}"/>
                </a:ext>
              </a:extLst>
            </p:cNvPr>
            <p:cNvSpPr/>
            <p:nvPr/>
          </p:nvSpPr>
          <p:spPr>
            <a:xfrm>
              <a:off x="1122679" y="2865174"/>
              <a:ext cx="142875" cy="66675"/>
            </a:xfrm>
            <a:custGeom>
              <a:avLst/>
              <a:gdLst>
                <a:gd name="connsiteX0" fmla="*/ 0 w 142875"/>
                <a:gd name="connsiteY0" fmla="*/ 0 h 66675"/>
                <a:gd name="connsiteX1" fmla="*/ 9525 w 142875"/>
                <a:gd name="connsiteY1" fmla="*/ 0 h 66675"/>
                <a:gd name="connsiteX2" fmla="*/ 66675 w 142875"/>
                <a:gd name="connsiteY2" fmla="*/ 28575 h 66675"/>
                <a:gd name="connsiteX3" fmla="*/ 104775 w 142875"/>
                <a:gd name="connsiteY3" fmla="*/ 28575 h 66675"/>
                <a:gd name="connsiteX4" fmla="*/ 142875 w 142875"/>
                <a:gd name="connsiteY4" fmla="*/ 66675 h 66675"/>
                <a:gd name="connsiteX5" fmla="*/ 57150 w 142875"/>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66675">
                  <a:moveTo>
                    <a:pt x="0" y="0"/>
                  </a:moveTo>
                  <a:lnTo>
                    <a:pt x="9525" y="0"/>
                  </a:lnTo>
                  <a:cubicBezTo>
                    <a:pt x="32001" y="42"/>
                    <a:pt x="53156" y="10620"/>
                    <a:pt x="66675" y="28575"/>
                  </a:cubicBezTo>
                  <a:lnTo>
                    <a:pt x="104775" y="28575"/>
                  </a:lnTo>
                  <a:cubicBezTo>
                    <a:pt x="125217" y="29958"/>
                    <a:pt x="141492" y="46233"/>
                    <a:pt x="142875" y="66675"/>
                  </a:cubicBezTo>
                  <a:lnTo>
                    <a:pt x="57150" y="66675"/>
                  </a:lnTo>
                </a:path>
              </a:pathLst>
            </a:custGeom>
            <a:noFill/>
            <a:ln w="19050" cap="flat">
              <a:solidFill>
                <a:srgbClr val="6496BB"/>
              </a:solid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C08FFD74-4DE9-62A8-D96F-A20BC955DEB4}"/>
                </a:ext>
              </a:extLst>
            </p:cNvPr>
            <p:cNvSpPr/>
            <p:nvPr/>
          </p:nvSpPr>
          <p:spPr>
            <a:xfrm>
              <a:off x="1122679" y="2912798"/>
              <a:ext cx="238125" cy="76200"/>
            </a:xfrm>
            <a:custGeom>
              <a:avLst/>
              <a:gdLst>
                <a:gd name="connsiteX0" fmla="*/ 137160 w 238125"/>
                <a:gd name="connsiteY0" fmla="*/ 0 h 76200"/>
                <a:gd name="connsiteX1" fmla="*/ 200025 w 238125"/>
                <a:gd name="connsiteY1" fmla="*/ 0 h 76200"/>
                <a:gd name="connsiteX2" fmla="*/ 238125 w 238125"/>
                <a:gd name="connsiteY2" fmla="*/ 19050 h 76200"/>
                <a:gd name="connsiteX3" fmla="*/ 101918 w 238125"/>
                <a:gd name="connsiteY3" fmla="*/ 74295 h 76200"/>
                <a:gd name="connsiteX4" fmla="*/ 68580 w 238125"/>
                <a:gd name="connsiteY4" fmla="*/ 73342 h 76200"/>
                <a:gd name="connsiteX5" fmla="*/ 0 w 238125"/>
                <a:gd name="connsiteY5" fmla="*/ 3810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5" h="76200">
                  <a:moveTo>
                    <a:pt x="137160" y="0"/>
                  </a:moveTo>
                  <a:lnTo>
                    <a:pt x="200025" y="0"/>
                  </a:lnTo>
                  <a:cubicBezTo>
                    <a:pt x="234315" y="0"/>
                    <a:pt x="238125" y="19050"/>
                    <a:pt x="238125" y="19050"/>
                  </a:cubicBezTo>
                  <a:lnTo>
                    <a:pt x="101918" y="74295"/>
                  </a:lnTo>
                  <a:cubicBezTo>
                    <a:pt x="91178" y="78750"/>
                    <a:pt x="79047" y="78404"/>
                    <a:pt x="68580" y="73342"/>
                  </a:cubicBezTo>
                  <a:lnTo>
                    <a:pt x="0" y="38100"/>
                  </a:lnTo>
                </a:path>
              </a:pathLst>
            </a:custGeom>
            <a:noFill/>
            <a:ln w="19050" cap="flat">
              <a:solidFill>
                <a:srgbClr val="6496BB"/>
              </a:solid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98115440-B9FD-C4FE-F935-2B56F4E3F198}"/>
                </a:ext>
              </a:extLst>
            </p:cNvPr>
            <p:cNvSpPr/>
            <p:nvPr/>
          </p:nvSpPr>
          <p:spPr>
            <a:xfrm>
              <a:off x="1084578" y="2846122"/>
              <a:ext cx="38100" cy="123825"/>
            </a:xfrm>
            <a:custGeom>
              <a:avLst/>
              <a:gdLst>
                <a:gd name="connsiteX0" fmla="*/ 0 w 38100"/>
                <a:gd name="connsiteY0" fmla="*/ 0 h 123825"/>
                <a:gd name="connsiteX1" fmla="*/ 38100 w 38100"/>
                <a:gd name="connsiteY1" fmla="*/ 0 h 123825"/>
                <a:gd name="connsiteX2" fmla="*/ 38100 w 38100"/>
                <a:gd name="connsiteY2" fmla="*/ 123825 h 123825"/>
                <a:gd name="connsiteX3" fmla="*/ 0 w 38100"/>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38100" h="123825">
                  <a:moveTo>
                    <a:pt x="0" y="0"/>
                  </a:moveTo>
                  <a:lnTo>
                    <a:pt x="38100" y="0"/>
                  </a:lnTo>
                  <a:lnTo>
                    <a:pt x="38100" y="123825"/>
                  </a:lnTo>
                  <a:lnTo>
                    <a:pt x="0" y="123825"/>
                  </a:lnTo>
                  <a:close/>
                </a:path>
              </a:pathLst>
            </a:custGeom>
            <a:noFill/>
            <a:ln w="19050" cap="flat">
              <a:solidFill>
                <a:srgbClr val="6496BB"/>
              </a:solid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188F8F91-3274-DA56-674E-32C79D743949}"/>
                </a:ext>
              </a:extLst>
            </p:cNvPr>
            <p:cNvSpPr/>
            <p:nvPr/>
          </p:nvSpPr>
          <p:spPr>
            <a:xfrm>
              <a:off x="1170303" y="2769922"/>
              <a:ext cx="19050" cy="19050"/>
            </a:xfrm>
            <a:custGeom>
              <a:avLst/>
              <a:gdLst>
                <a:gd name="connsiteX0" fmla="*/ 19050 w 19050"/>
                <a:gd name="connsiteY0" fmla="*/ 9525 h 19050"/>
                <a:gd name="connsiteX1" fmla="*/ 9525 w 19050"/>
                <a:gd name="connsiteY1" fmla="*/ 19050 h 19050"/>
                <a:gd name="connsiteX2" fmla="*/ 0 w 19050"/>
                <a:gd name="connsiteY2" fmla="*/ 9525 h 19050"/>
                <a:gd name="connsiteX3" fmla="*/ 9525 w 19050"/>
                <a:gd name="connsiteY3" fmla="*/ 0 h 19050"/>
                <a:gd name="connsiteX4" fmla="*/ 19050 w 19050"/>
                <a:gd name="connsiteY4" fmla="*/ 9525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9050" y="9525"/>
                  </a:moveTo>
                  <a:cubicBezTo>
                    <a:pt x="19050" y="14786"/>
                    <a:pt x="14786" y="19050"/>
                    <a:pt x="9525" y="19050"/>
                  </a:cubicBezTo>
                  <a:cubicBezTo>
                    <a:pt x="4264" y="19050"/>
                    <a:pt x="0" y="14786"/>
                    <a:pt x="0" y="9525"/>
                  </a:cubicBezTo>
                  <a:cubicBezTo>
                    <a:pt x="0" y="4264"/>
                    <a:pt x="4264" y="0"/>
                    <a:pt x="9525" y="0"/>
                  </a:cubicBezTo>
                  <a:cubicBezTo>
                    <a:pt x="14786" y="0"/>
                    <a:pt x="19050" y="4264"/>
                    <a:pt x="19050" y="9525"/>
                  </a:cubicBezTo>
                  <a:close/>
                </a:path>
              </a:pathLst>
            </a:custGeom>
            <a:solidFill>
              <a:schemeClr val="accent1"/>
            </a:solidFill>
            <a:ln w="19050" cap="flat">
              <a:solidFill>
                <a:srgbClr val="6496BB"/>
              </a:solid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08DC61FC-06E3-575D-5ABF-CA6FD9AC9913}"/>
                </a:ext>
              </a:extLst>
            </p:cNvPr>
            <p:cNvSpPr/>
            <p:nvPr/>
          </p:nvSpPr>
          <p:spPr>
            <a:xfrm>
              <a:off x="1141672" y="2731816"/>
              <a:ext cx="190500" cy="95250"/>
            </a:xfrm>
            <a:custGeom>
              <a:avLst/>
              <a:gdLst>
                <a:gd name="connsiteX0" fmla="*/ 91286 w 190500"/>
                <a:gd name="connsiteY0" fmla="*/ 28587 h 95250"/>
                <a:gd name="connsiteX1" fmla="*/ 28587 w 190500"/>
                <a:gd name="connsiteY1" fmla="*/ 3988 h 95250"/>
                <a:gd name="connsiteX2" fmla="*/ 3988 w 190500"/>
                <a:gd name="connsiteY2" fmla="*/ 66687 h 95250"/>
                <a:gd name="connsiteX3" fmla="*/ 66687 w 190500"/>
                <a:gd name="connsiteY3" fmla="*/ 91286 h 95250"/>
                <a:gd name="connsiteX4" fmla="*/ 91286 w 190500"/>
                <a:gd name="connsiteY4" fmla="*/ 66687 h 95250"/>
                <a:gd name="connsiteX5" fmla="*/ 123881 w 190500"/>
                <a:gd name="connsiteY5" fmla="*/ 66687 h 95250"/>
                <a:gd name="connsiteX6" fmla="*/ 138168 w 190500"/>
                <a:gd name="connsiteY6" fmla="*/ 76212 h 95250"/>
                <a:gd name="connsiteX7" fmla="*/ 152456 w 190500"/>
                <a:gd name="connsiteY7" fmla="*/ 66687 h 95250"/>
                <a:gd name="connsiteX8" fmla="*/ 181031 w 190500"/>
                <a:gd name="connsiteY8" fmla="*/ 66687 h 95250"/>
                <a:gd name="connsiteX9" fmla="*/ 190556 w 190500"/>
                <a:gd name="connsiteY9" fmla="*/ 28587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0500" h="95250">
                  <a:moveTo>
                    <a:pt x="91286" y="28587"/>
                  </a:moveTo>
                  <a:cubicBezTo>
                    <a:pt x="80765" y="4480"/>
                    <a:pt x="52694" y="-6533"/>
                    <a:pt x="28587" y="3988"/>
                  </a:cubicBezTo>
                  <a:cubicBezTo>
                    <a:pt x="4480" y="14509"/>
                    <a:pt x="-6533" y="42580"/>
                    <a:pt x="3988" y="66687"/>
                  </a:cubicBezTo>
                  <a:cubicBezTo>
                    <a:pt x="14509" y="90794"/>
                    <a:pt x="42580" y="101807"/>
                    <a:pt x="66687" y="91286"/>
                  </a:cubicBezTo>
                  <a:cubicBezTo>
                    <a:pt x="77695" y="86482"/>
                    <a:pt x="86482" y="77695"/>
                    <a:pt x="91286" y="66687"/>
                  </a:cubicBezTo>
                  <a:lnTo>
                    <a:pt x="123881" y="66687"/>
                  </a:lnTo>
                  <a:lnTo>
                    <a:pt x="138168" y="76212"/>
                  </a:lnTo>
                  <a:lnTo>
                    <a:pt x="152456" y="66687"/>
                  </a:lnTo>
                  <a:lnTo>
                    <a:pt x="181031" y="66687"/>
                  </a:lnTo>
                  <a:lnTo>
                    <a:pt x="190556" y="28587"/>
                  </a:lnTo>
                  <a:close/>
                </a:path>
              </a:pathLst>
            </a:custGeom>
            <a:noFill/>
            <a:ln w="19050" cap="sq">
              <a:solidFill>
                <a:srgbClr val="6496BB"/>
              </a:solidFill>
              <a:prstDash val="solid"/>
              <a:miter/>
            </a:ln>
          </p:spPr>
          <p:txBody>
            <a:bodyPr rtlCol="0" anchor="ctr"/>
            <a:lstStyle/>
            <a:p>
              <a:endParaRPr lang="en-US"/>
            </a:p>
          </p:txBody>
        </p:sp>
      </p:grpSp>
      <p:sp>
        <p:nvSpPr>
          <p:cNvPr id="38" name="Rectangle : coins arrondis 37">
            <a:extLst>
              <a:ext uri="{FF2B5EF4-FFF2-40B4-BE49-F238E27FC236}">
                <a16:creationId xmlns:a16="http://schemas.microsoft.com/office/drawing/2014/main" id="{CBF099EA-C5DC-84FF-0213-A2F702B89840}"/>
              </a:ext>
            </a:extLst>
          </p:cNvPr>
          <p:cNvSpPr/>
          <p:nvPr>
            <p:custDataLst>
              <p:tags r:id="rId2"/>
            </p:custDataLst>
          </p:nvPr>
        </p:nvSpPr>
        <p:spPr>
          <a:xfrm>
            <a:off x="8221454" y="2091248"/>
            <a:ext cx="3171600" cy="723600"/>
          </a:xfrm>
          <a:prstGeom prst="roundRect">
            <a:avLst>
              <a:gd name="adj" fmla="val 9166"/>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1B446A-1F3E-CA23-6FFB-FF52CA3E9574}"/>
              </a:ext>
            </a:extLst>
          </p:cNvPr>
          <p:cNvSpPr/>
          <p:nvPr/>
        </p:nvSpPr>
        <p:spPr>
          <a:xfrm>
            <a:off x="8291843" y="2159240"/>
            <a:ext cx="2831963" cy="555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Users who by their privileges possess extensive accesses in the IS and require  additional protections.</a:t>
            </a:r>
          </a:p>
        </p:txBody>
      </p:sp>
      <p:sp>
        <p:nvSpPr>
          <p:cNvPr id="40" name="Rectangle : coins arrondis 39">
            <a:extLst>
              <a:ext uri="{FF2B5EF4-FFF2-40B4-BE49-F238E27FC236}">
                <a16:creationId xmlns:a16="http://schemas.microsoft.com/office/drawing/2014/main" id="{DF2EA53D-ABD3-0213-8681-9F12099D641D}"/>
              </a:ext>
            </a:extLst>
          </p:cNvPr>
          <p:cNvSpPr/>
          <p:nvPr>
            <p:custDataLst>
              <p:tags r:id="rId3"/>
            </p:custDataLst>
          </p:nvPr>
        </p:nvSpPr>
        <p:spPr>
          <a:xfrm>
            <a:off x="1601139" y="5954534"/>
            <a:ext cx="3171600" cy="75600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aphique 175">
            <a:extLst>
              <a:ext uri="{FF2B5EF4-FFF2-40B4-BE49-F238E27FC236}">
                <a16:creationId xmlns:a16="http://schemas.microsoft.com/office/drawing/2014/main" id="{3A1A6AEE-EBA1-6CFE-2C15-00C69BA492BF}"/>
              </a:ext>
            </a:extLst>
          </p:cNvPr>
          <p:cNvGrpSpPr/>
          <p:nvPr/>
        </p:nvGrpSpPr>
        <p:grpSpPr>
          <a:xfrm>
            <a:off x="2910966" y="5269282"/>
            <a:ext cx="360000" cy="288000"/>
            <a:chOff x="3245610" y="1820342"/>
            <a:chExt cx="285750" cy="247650"/>
          </a:xfrm>
        </p:grpSpPr>
        <p:sp>
          <p:nvSpPr>
            <p:cNvPr id="42" name="Forme libre : forme 41">
              <a:extLst>
                <a:ext uri="{FF2B5EF4-FFF2-40B4-BE49-F238E27FC236}">
                  <a16:creationId xmlns:a16="http://schemas.microsoft.com/office/drawing/2014/main" id="{07094FB9-BEC8-02EB-4F67-D635F7596E02}"/>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sp>
          <p:nvSpPr>
            <p:cNvPr id="43" name="Forme libre : forme 42">
              <a:extLst>
                <a:ext uri="{FF2B5EF4-FFF2-40B4-BE49-F238E27FC236}">
                  <a16:creationId xmlns:a16="http://schemas.microsoft.com/office/drawing/2014/main" id="{5AC74460-8920-F0EC-02DC-52BE54488C5B}"/>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19050" cap="sq">
              <a:solidFill>
                <a:srgbClr val="6496BB"/>
              </a:solidFill>
              <a:prstDash val="solid"/>
              <a:miter/>
            </a:ln>
          </p:spPr>
          <p:txBody>
            <a:bodyPr rtlCol="0" anchor="ctr"/>
            <a:lstStyle/>
            <a:p>
              <a:endParaRPr lang="en-US"/>
            </a:p>
          </p:txBody>
        </p:sp>
        <p:sp>
          <p:nvSpPr>
            <p:cNvPr id="44" name="Forme libre : forme 43">
              <a:extLst>
                <a:ext uri="{FF2B5EF4-FFF2-40B4-BE49-F238E27FC236}">
                  <a16:creationId xmlns:a16="http://schemas.microsoft.com/office/drawing/2014/main" id="{AAF4C886-CAAE-C2A1-05BA-8C8B7F05FBB1}"/>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19050" cap="sq">
              <a:solidFill>
                <a:srgbClr val="6496BB"/>
              </a:solidFill>
              <a:prstDash val="solid"/>
              <a:miter/>
            </a:ln>
          </p:spPr>
          <p:txBody>
            <a:bodyPr rtlCol="0" anchor="ctr"/>
            <a:lstStyle/>
            <a:p>
              <a:endParaRPr lang="en-US"/>
            </a:p>
          </p:txBody>
        </p:sp>
        <p:sp>
          <p:nvSpPr>
            <p:cNvPr id="45" name="Forme libre : forme 44">
              <a:extLst>
                <a:ext uri="{FF2B5EF4-FFF2-40B4-BE49-F238E27FC236}">
                  <a16:creationId xmlns:a16="http://schemas.microsoft.com/office/drawing/2014/main" id="{8D2CC81A-07BF-E07F-4C24-55E908EBD0FC}"/>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19050" cap="flat">
              <a:solidFill>
                <a:srgbClr val="6496BB"/>
              </a:solidFill>
              <a:prstDash val="solid"/>
              <a:miter/>
            </a:ln>
          </p:spPr>
          <p:txBody>
            <a:bodyPr rtlCol="0" anchor="ctr"/>
            <a:lstStyle/>
            <a:p>
              <a:endParaRPr lang="en-US"/>
            </a:p>
          </p:txBody>
        </p:sp>
      </p:grpSp>
      <p:grpSp>
        <p:nvGrpSpPr>
          <p:cNvPr id="46" name="Graphique 116">
            <a:extLst>
              <a:ext uri="{FF2B5EF4-FFF2-40B4-BE49-F238E27FC236}">
                <a16:creationId xmlns:a16="http://schemas.microsoft.com/office/drawing/2014/main" id="{FEB22147-1D2F-8528-1AD1-45587CCE9A39}"/>
              </a:ext>
            </a:extLst>
          </p:cNvPr>
          <p:cNvGrpSpPr/>
          <p:nvPr/>
        </p:nvGrpSpPr>
        <p:grpSpPr>
          <a:xfrm>
            <a:off x="2395411" y="5220359"/>
            <a:ext cx="360000" cy="360000"/>
            <a:chOff x="7575918" y="3665538"/>
            <a:chExt cx="285750" cy="257175"/>
          </a:xfrm>
        </p:grpSpPr>
        <p:sp>
          <p:nvSpPr>
            <p:cNvPr id="47" name="Forme libre : forme 46">
              <a:extLst>
                <a:ext uri="{FF2B5EF4-FFF2-40B4-BE49-F238E27FC236}">
                  <a16:creationId xmlns:a16="http://schemas.microsoft.com/office/drawing/2014/main" id="{F27C7368-1388-8C91-790A-C4F8C5ADE826}"/>
                </a:ext>
              </a:extLst>
            </p:cNvPr>
            <p:cNvSpPr/>
            <p:nvPr/>
          </p:nvSpPr>
          <p:spPr>
            <a:xfrm>
              <a:off x="7709268" y="3713163"/>
              <a:ext cx="152400" cy="171450"/>
            </a:xfrm>
            <a:custGeom>
              <a:avLst/>
              <a:gdLst>
                <a:gd name="connsiteX0" fmla="*/ 104775 w 152400"/>
                <a:gd name="connsiteY0" fmla="*/ 171450 h 171450"/>
                <a:gd name="connsiteX1" fmla="*/ 152400 w 152400"/>
                <a:gd name="connsiteY1" fmla="*/ 171450 h 171450"/>
                <a:gd name="connsiteX2" fmla="*/ 152400 w 152400"/>
                <a:gd name="connsiteY2" fmla="*/ 95250 h 171450"/>
                <a:gd name="connsiteX3" fmla="*/ 114300 w 152400"/>
                <a:gd name="connsiteY3" fmla="*/ 76200 h 171450"/>
                <a:gd name="connsiteX4" fmla="*/ 85725 w 152400"/>
                <a:gd name="connsiteY4" fmla="*/ 0 h 171450"/>
                <a:gd name="connsiteX5" fmla="*/ 0 w 152400"/>
                <a:gd name="connsiteY5" fmla="*/ 0 h 171450"/>
                <a:gd name="connsiteX6" fmla="*/ 0 w 152400"/>
                <a:gd name="connsiteY6" fmla="*/ 171450 h 171450"/>
                <a:gd name="connsiteX7" fmla="*/ 28575 w 152400"/>
                <a:gd name="connsiteY7" fmla="*/ 1714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400" h="171450">
                  <a:moveTo>
                    <a:pt x="104775" y="171450"/>
                  </a:moveTo>
                  <a:lnTo>
                    <a:pt x="152400" y="171450"/>
                  </a:lnTo>
                  <a:lnTo>
                    <a:pt x="152400" y="95250"/>
                  </a:lnTo>
                  <a:lnTo>
                    <a:pt x="114300" y="76200"/>
                  </a:lnTo>
                  <a:lnTo>
                    <a:pt x="85725" y="0"/>
                  </a:lnTo>
                  <a:lnTo>
                    <a:pt x="0" y="0"/>
                  </a:lnTo>
                  <a:lnTo>
                    <a:pt x="0" y="171450"/>
                  </a:lnTo>
                  <a:lnTo>
                    <a:pt x="28575" y="171450"/>
                  </a:lnTo>
                </a:path>
              </a:pathLst>
            </a:custGeom>
            <a:noFill/>
            <a:ln w="19050" cap="flat">
              <a:solidFill>
                <a:srgbClr val="6496BB"/>
              </a:solidFill>
              <a:prstDash val="solid"/>
              <a:miter/>
            </a:ln>
          </p:spPr>
          <p:txBody>
            <a:bodyPr rtlCol="0" anchor="ctr"/>
            <a:lstStyle/>
            <a:p>
              <a:endParaRPr lang="en-US"/>
            </a:p>
          </p:txBody>
        </p:sp>
        <p:sp>
          <p:nvSpPr>
            <p:cNvPr id="48" name="Forme libre : forme 47">
              <a:extLst>
                <a:ext uri="{FF2B5EF4-FFF2-40B4-BE49-F238E27FC236}">
                  <a16:creationId xmlns:a16="http://schemas.microsoft.com/office/drawing/2014/main" id="{7E7417FB-2365-3C7E-55AC-8BEBE7DAC9E2}"/>
                </a:ext>
              </a:extLst>
            </p:cNvPr>
            <p:cNvSpPr/>
            <p:nvPr/>
          </p:nvSpPr>
          <p:spPr>
            <a:xfrm>
              <a:off x="7737843" y="384651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6496BB"/>
              </a:solidFill>
              <a:prstDash val="solid"/>
              <a:miter/>
            </a:ln>
          </p:spPr>
          <p:txBody>
            <a:bodyPr rtlCol="0" anchor="ctr"/>
            <a:lstStyle/>
            <a:p>
              <a:endParaRPr lang="en-US"/>
            </a:p>
          </p:txBody>
        </p:sp>
        <p:sp>
          <p:nvSpPr>
            <p:cNvPr id="49" name="Forme libre : forme 48">
              <a:extLst>
                <a:ext uri="{FF2B5EF4-FFF2-40B4-BE49-F238E27FC236}">
                  <a16:creationId xmlns:a16="http://schemas.microsoft.com/office/drawing/2014/main" id="{10566D6C-9D75-9A62-CF6B-6900C8B4B11B}"/>
                </a:ext>
              </a:extLst>
            </p:cNvPr>
            <p:cNvSpPr/>
            <p:nvPr/>
          </p:nvSpPr>
          <p:spPr>
            <a:xfrm>
              <a:off x="7747368" y="3751263"/>
              <a:ext cx="38100" cy="38100"/>
            </a:xfrm>
            <a:custGeom>
              <a:avLst/>
              <a:gdLst>
                <a:gd name="connsiteX0" fmla="*/ 0 w 38100"/>
                <a:gd name="connsiteY0" fmla="*/ 0 h 38100"/>
                <a:gd name="connsiteX1" fmla="*/ 0 w 38100"/>
                <a:gd name="connsiteY1" fmla="*/ 38100 h 38100"/>
                <a:gd name="connsiteX2" fmla="*/ 38100 w 38100"/>
                <a:gd name="connsiteY2" fmla="*/ 38100 h 38100"/>
              </a:gdLst>
              <a:ahLst/>
              <a:cxnLst>
                <a:cxn ang="0">
                  <a:pos x="connsiteX0" y="connsiteY0"/>
                </a:cxn>
                <a:cxn ang="0">
                  <a:pos x="connsiteX1" y="connsiteY1"/>
                </a:cxn>
                <a:cxn ang="0">
                  <a:pos x="connsiteX2" y="connsiteY2"/>
                </a:cxn>
              </a:cxnLst>
              <a:rect l="l" t="t" r="r" b="b"/>
              <a:pathLst>
                <a:path w="38100" h="38100">
                  <a:moveTo>
                    <a:pt x="0" y="0"/>
                  </a:moveTo>
                  <a:lnTo>
                    <a:pt x="0" y="38100"/>
                  </a:lnTo>
                  <a:lnTo>
                    <a:pt x="38100" y="38100"/>
                  </a:lnTo>
                </a:path>
              </a:pathLst>
            </a:custGeom>
            <a:noFill/>
            <a:ln w="19050" cap="sq">
              <a:solidFill>
                <a:srgbClr val="6496BB"/>
              </a:solidFill>
              <a:prstDash val="solid"/>
              <a:miter/>
            </a:ln>
          </p:spPr>
          <p:txBody>
            <a:bodyPr rtlCol="0" anchor="ctr"/>
            <a:lstStyle/>
            <a:p>
              <a:endParaRPr lang="en-US"/>
            </a:p>
          </p:txBody>
        </p:sp>
        <p:sp>
          <p:nvSpPr>
            <p:cNvPr id="50" name="Forme libre : forme 49">
              <a:extLst>
                <a:ext uri="{FF2B5EF4-FFF2-40B4-BE49-F238E27FC236}">
                  <a16:creationId xmlns:a16="http://schemas.microsoft.com/office/drawing/2014/main" id="{B30B9CA4-B912-19FD-72C6-6F4BDF7C4374}"/>
                </a:ext>
              </a:extLst>
            </p:cNvPr>
            <p:cNvSpPr/>
            <p:nvPr/>
          </p:nvSpPr>
          <p:spPr>
            <a:xfrm>
              <a:off x="7594968" y="3713163"/>
              <a:ext cx="76200" cy="9525"/>
            </a:xfrm>
            <a:custGeom>
              <a:avLst/>
              <a:gdLst>
                <a:gd name="connsiteX0" fmla="*/ 76200 w 76200"/>
                <a:gd name="connsiteY0" fmla="*/ 0 h 0"/>
                <a:gd name="connsiteX1" fmla="*/ 0 w 76200"/>
                <a:gd name="connsiteY1" fmla="*/ 0 h 0"/>
              </a:gdLst>
              <a:ahLst/>
              <a:cxnLst>
                <a:cxn ang="0">
                  <a:pos x="connsiteX0" y="connsiteY0"/>
                </a:cxn>
                <a:cxn ang="0">
                  <a:pos x="connsiteX1" y="connsiteY1"/>
                </a:cxn>
              </a:cxnLst>
              <a:rect l="l" t="t" r="r" b="b"/>
              <a:pathLst>
                <a:path w="76200">
                  <a:moveTo>
                    <a:pt x="76200" y="0"/>
                  </a:moveTo>
                  <a:lnTo>
                    <a:pt x="0" y="0"/>
                  </a:lnTo>
                </a:path>
              </a:pathLst>
            </a:custGeom>
            <a:ln w="19050" cap="sq">
              <a:solidFill>
                <a:srgbClr val="6496BB"/>
              </a:solidFill>
              <a:prstDash val="solid"/>
              <a:miter/>
            </a:ln>
          </p:spPr>
          <p:txBody>
            <a:bodyPr rtlCol="0" anchor="ctr"/>
            <a:lstStyle/>
            <a:p>
              <a:endParaRPr lang="en-US"/>
            </a:p>
          </p:txBody>
        </p:sp>
        <p:sp>
          <p:nvSpPr>
            <p:cNvPr id="51" name="Forme libre : forme 50">
              <a:extLst>
                <a:ext uri="{FF2B5EF4-FFF2-40B4-BE49-F238E27FC236}">
                  <a16:creationId xmlns:a16="http://schemas.microsoft.com/office/drawing/2014/main" id="{7918F008-2344-9C26-4E72-D0FC88EED544}"/>
                </a:ext>
              </a:extLst>
            </p:cNvPr>
            <p:cNvSpPr/>
            <p:nvPr/>
          </p:nvSpPr>
          <p:spPr>
            <a:xfrm>
              <a:off x="7575918" y="3665538"/>
              <a:ext cx="133350" cy="47625"/>
            </a:xfrm>
            <a:custGeom>
              <a:avLst/>
              <a:gdLst>
                <a:gd name="connsiteX0" fmla="*/ 0 w 133350"/>
                <a:gd name="connsiteY0" fmla="*/ 0 h 47625"/>
                <a:gd name="connsiteX1" fmla="*/ 133350 w 133350"/>
                <a:gd name="connsiteY1" fmla="*/ 0 h 47625"/>
                <a:gd name="connsiteX2" fmla="*/ 133350 w 133350"/>
                <a:gd name="connsiteY2" fmla="*/ 47625 h 47625"/>
              </a:gdLst>
              <a:ahLst/>
              <a:cxnLst>
                <a:cxn ang="0">
                  <a:pos x="connsiteX0" y="connsiteY0"/>
                </a:cxn>
                <a:cxn ang="0">
                  <a:pos x="connsiteX1" y="connsiteY1"/>
                </a:cxn>
                <a:cxn ang="0">
                  <a:pos x="connsiteX2" y="connsiteY2"/>
                </a:cxn>
              </a:cxnLst>
              <a:rect l="l" t="t" r="r" b="b"/>
              <a:pathLst>
                <a:path w="133350" h="47625">
                  <a:moveTo>
                    <a:pt x="0" y="0"/>
                  </a:moveTo>
                  <a:lnTo>
                    <a:pt x="133350" y="0"/>
                  </a:lnTo>
                  <a:lnTo>
                    <a:pt x="133350" y="47625"/>
                  </a:lnTo>
                </a:path>
              </a:pathLst>
            </a:custGeom>
            <a:noFill/>
            <a:ln w="19050" cap="sq">
              <a:solidFill>
                <a:srgbClr val="6496BB"/>
              </a:solidFill>
              <a:prstDash val="solid"/>
              <a:miter/>
            </a:ln>
          </p:spPr>
          <p:txBody>
            <a:bodyPr rtlCol="0" anchor="ctr"/>
            <a:lstStyle/>
            <a:p>
              <a:endParaRPr lang="en-US"/>
            </a:p>
          </p:txBody>
        </p:sp>
        <p:sp>
          <p:nvSpPr>
            <p:cNvPr id="52" name="Forme libre : forme 51">
              <a:extLst>
                <a:ext uri="{FF2B5EF4-FFF2-40B4-BE49-F238E27FC236}">
                  <a16:creationId xmlns:a16="http://schemas.microsoft.com/office/drawing/2014/main" id="{0806744E-E84A-722A-59B0-22115E87A236}"/>
                </a:ext>
              </a:extLst>
            </p:cNvPr>
            <p:cNvSpPr/>
            <p:nvPr/>
          </p:nvSpPr>
          <p:spPr>
            <a:xfrm>
              <a:off x="7614018" y="3760788"/>
              <a:ext cx="57150" cy="9525"/>
            </a:xfrm>
            <a:custGeom>
              <a:avLst/>
              <a:gdLst>
                <a:gd name="connsiteX0" fmla="*/ 57150 w 57150"/>
                <a:gd name="connsiteY0" fmla="*/ 0 h 0"/>
                <a:gd name="connsiteX1" fmla="*/ 0 w 57150"/>
                <a:gd name="connsiteY1" fmla="*/ 0 h 0"/>
              </a:gdLst>
              <a:ahLst/>
              <a:cxnLst>
                <a:cxn ang="0">
                  <a:pos x="connsiteX0" y="connsiteY0"/>
                </a:cxn>
                <a:cxn ang="0">
                  <a:pos x="connsiteX1" y="connsiteY1"/>
                </a:cxn>
              </a:cxnLst>
              <a:rect l="l" t="t" r="r" b="b"/>
              <a:pathLst>
                <a:path w="57150">
                  <a:moveTo>
                    <a:pt x="57150" y="0"/>
                  </a:moveTo>
                  <a:lnTo>
                    <a:pt x="0" y="0"/>
                  </a:lnTo>
                </a:path>
              </a:pathLst>
            </a:custGeom>
            <a:ln w="19050" cap="sq">
              <a:solidFill>
                <a:srgbClr val="6496BB"/>
              </a:solidFill>
              <a:prstDash val="solid"/>
              <a:miter/>
            </a:ln>
          </p:spPr>
          <p:txBody>
            <a:bodyPr rtlCol="0" anchor="ctr"/>
            <a:lstStyle/>
            <a:p>
              <a:endParaRPr lang="en-US"/>
            </a:p>
          </p:txBody>
        </p:sp>
        <p:sp>
          <p:nvSpPr>
            <p:cNvPr id="53" name="Forme libre : forme 52">
              <a:extLst>
                <a:ext uri="{FF2B5EF4-FFF2-40B4-BE49-F238E27FC236}">
                  <a16:creationId xmlns:a16="http://schemas.microsoft.com/office/drawing/2014/main" id="{689625D8-00C3-7450-34DF-8A1B26A347EF}"/>
                </a:ext>
              </a:extLst>
            </p:cNvPr>
            <p:cNvSpPr/>
            <p:nvPr/>
          </p:nvSpPr>
          <p:spPr>
            <a:xfrm>
              <a:off x="7633068" y="3808413"/>
              <a:ext cx="38100" cy="9525"/>
            </a:xfrm>
            <a:custGeom>
              <a:avLst/>
              <a:gdLst>
                <a:gd name="connsiteX0" fmla="*/ 38100 w 38100"/>
                <a:gd name="connsiteY0" fmla="*/ 0 h 0"/>
                <a:gd name="connsiteX1" fmla="*/ 0 w 38100"/>
                <a:gd name="connsiteY1" fmla="*/ 0 h 0"/>
              </a:gdLst>
              <a:ahLst/>
              <a:cxnLst>
                <a:cxn ang="0">
                  <a:pos x="connsiteX0" y="connsiteY0"/>
                </a:cxn>
                <a:cxn ang="0">
                  <a:pos x="connsiteX1" y="connsiteY1"/>
                </a:cxn>
              </a:cxnLst>
              <a:rect l="l" t="t" r="r" b="b"/>
              <a:pathLst>
                <a:path w="38100">
                  <a:moveTo>
                    <a:pt x="38100" y="0"/>
                  </a:moveTo>
                  <a:lnTo>
                    <a:pt x="0" y="0"/>
                  </a:lnTo>
                </a:path>
              </a:pathLst>
            </a:custGeom>
            <a:ln w="19050" cap="sq">
              <a:solidFill>
                <a:srgbClr val="6496BB"/>
              </a:solidFill>
              <a:prstDash val="solid"/>
              <a:miter/>
            </a:ln>
          </p:spPr>
          <p:txBody>
            <a:bodyPr rtlCol="0" anchor="ctr"/>
            <a:lstStyle/>
            <a:p>
              <a:endParaRPr lang="en-US"/>
            </a:p>
          </p:txBody>
        </p:sp>
      </p:grpSp>
      <p:sp>
        <p:nvSpPr>
          <p:cNvPr id="54" name="Rectangle : coins arrondis 3">
            <a:extLst>
              <a:ext uri="{FF2B5EF4-FFF2-40B4-BE49-F238E27FC236}">
                <a16:creationId xmlns:a16="http://schemas.microsoft.com/office/drawing/2014/main" id="{083CDB2B-250B-5DF7-D947-23968590F149}"/>
              </a:ext>
            </a:extLst>
          </p:cNvPr>
          <p:cNvSpPr/>
          <p:nvPr/>
        </p:nvSpPr>
        <p:spPr>
          <a:xfrm>
            <a:off x="1970822" y="5671999"/>
            <a:ext cx="24788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Suppliers &amp; partners (Guest/B2B) </a:t>
            </a:r>
          </a:p>
        </p:txBody>
      </p:sp>
      <p:sp>
        <p:nvSpPr>
          <p:cNvPr id="55" name="Rectangle 54">
            <a:extLst>
              <a:ext uri="{FF2B5EF4-FFF2-40B4-BE49-F238E27FC236}">
                <a16:creationId xmlns:a16="http://schemas.microsoft.com/office/drawing/2014/main" id="{A96D4AF1-35CD-6E39-E2A2-74C5A1C5EF57}"/>
              </a:ext>
            </a:extLst>
          </p:cNvPr>
          <p:cNvSpPr/>
          <p:nvPr/>
        </p:nvSpPr>
        <p:spPr>
          <a:xfrm>
            <a:off x="1705326" y="6002965"/>
            <a:ext cx="2944791" cy="6079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Partners identities are managed by their own compagnies</a:t>
            </a:r>
          </a:p>
        </p:txBody>
      </p:sp>
      <p:grpSp>
        <p:nvGrpSpPr>
          <p:cNvPr id="56" name="Graphique 745">
            <a:extLst>
              <a:ext uri="{FF2B5EF4-FFF2-40B4-BE49-F238E27FC236}">
                <a16:creationId xmlns:a16="http://schemas.microsoft.com/office/drawing/2014/main" id="{53921817-F533-8C98-1612-AD6F969AD77D}"/>
              </a:ext>
            </a:extLst>
          </p:cNvPr>
          <p:cNvGrpSpPr/>
          <p:nvPr/>
        </p:nvGrpSpPr>
        <p:grpSpPr>
          <a:xfrm>
            <a:off x="9804853" y="4460746"/>
            <a:ext cx="360000" cy="324000"/>
            <a:chOff x="8670333" y="5487063"/>
            <a:chExt cx="278959" cy="285750"/>
          </a:xfrm>
        </p:grpSpPr>
        <p:sp>
          <p:nvSpPr>
            <p:cNvPr id="57" name="Forme libre : forme 56">
              <a:extLst>
                <a:ext uri="{FF2B5EF4-FFF2-40B4-BE49-F238E27FC236}">
                  <a16:creationId xmlns:a16="http://schemas.microsoft.com/office/drawing/2014/main" id="{F3CB1BC4-10AA-7B78-19CC-9CB9069F313F}"/>
                </a:ext>
              </a:extLst>
            </p:cNvPr>
            <p:cNvSpPr/>
            <p:nvPr/>
          </p:nvSpPr>
          <p:spPr>
            <a:xfrm>
              <a:off x="8670333" y="5591838"/>
              <a:ext cx="85725" cy="142875"/>
            </a:xfrm>
            <a:custGeom>
              <a:avLst/>
              <a:gdLst>
                <a:gd name="connsiteX0" fmla="*/ 92516 w 85725"/>
                <a:gd name="connsiteY0" fmla="*/ 16373 h 142875"/>
                <a:gd name="connsiteX1" fmla="*/ 66675 w 85725"/>
                <a:gd name="connsiteY1" fmla="*/ 0 h 142875"/>
                <a:gd name="connsiteX2" fmla="*/ 28575 w 85725"/>
                <a:gd name="connsiteY2" fmla="*/ 0 h 142875"/>
                <a:gd name="connsiteX3" fmla="*/ 0 w 85725"/>
                <a:gd name="connsiteY3" fmla="*/ 28575 h 142875"/>
                <a:gd name="connsiteX4" fmla="*/ 0 w 85725"/>
                <a:gd name="connsiteY4" fmla="*/ 76200 h 142875"/>
                <a:gd name="connsiteX5" fmla="*/ 19050 w 85725"/>
                <a:gd name="connsiteY5" fmla="*/ 76200 h 142875"/>
                <a:gd name="connsiteX6" fmla="*/ 19050 w 85725"/>
                <a:gd name="connsiteY6" fmla="*/ 142875 h 142875"/>
                <a:gd name="connsiteX7" fmla="*/ 76200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92516" y="16373"/>
                  </a:moveTo>
                  <a:cubicBezTo>
                    <a:pt x="87935" y="6715"/>
                    <a:pt x="78076" y="0"/>
                    <a:pt x="66675" y="0"/>
                  </a:cubicBezTo>
                  <a:lnTo>
                    <a:pt x="28575" y="0"/>
                  </a:lnTo>
                  <a:cubicBezTo>
                    <a:pt x="12792" y="0"/>
                    <a:pt x="0" y="12792"/>
                    <a:pt x="0" y="28575"/>
                  </a:cubicBezTo>
                  <a:lnTo>
                    <a:pt x="0" y="76200"/>
                  </a:lnTo>
                  <a:lnTo>
                    <a:pt x="19050" y="76200"/>
                  </a:lnTo>
                  <a:lnTo>
                    <a:pt x="19050" y="142875"/>
                  </a:lnTo>
                  <a:lnTo>
                    <a:pt x="76200" y="142875"/>
                  </a:lnTo>
                </a:path>
              </a:pathLst>
            </a:custGeom>
            <a:noFill/>
            <a:ln w="19050" cap="flat">
              <a:solidFill>
                <a:srgbClr val="6496BB"/>
              </a:solidFill>
              <a:prstDash val="solid"/>
              <a:miter/>
            </a:ln>
          </p:spPr>
          <p:txBody>
            <a:bodyPr rtlCol="0" anchor="ctr"/>
            <a:lstStyle/>
            <a:p>
              <a:endParaRPr lang="en-US"/>
            </a:p>
          </p:txBody>
        </p:sp>
        <p:sp>
          <p:nvSpPr>
            <p:cNvPr id="58" name="Forme libre : forme 57">
              <a:extLst>
                <a:ext uri="{FF2B5EF4-FFF2-40B4-BE49-F238E27FC236}">
                  <a16:creationId xmlns:a16="http://schemas.microsoft.com/office/drawing/2014/main" id="{2D33BCD5-93CD-390D-B572-08193F2671E4}"/>
                </a:ext>
              </a:extLst>
            </p:cNvPr>
            <p:cNvSpPr/>
            <p:nvPr/>
          </p:nvSpPr>
          <p:spPr>
            <a:xfrm>
              <a:off x="86893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59" name="Forme libre : forme 58">
              <a:extLst>
                <a:ext uri="{FF2B5EF4-FFF2-40B4-BE49-F238E27FC236}">
                  <a16:creationId xmlns:a16="http://schemas.microsoft.com/office/drawing/2014/main" id="{08632345-74EE-E9A3-E332-25DEA6333C9B}"/>
                </a:ext>
              </a:extLst>
            </p:cNvPr>
            <p:cNvSpPr/>
            <p:nvPr/>
          </p:nvSpPr>
          <p:spPr>
            <a:xfrm>
              <a:off x="8863567" y="5591838"/>
              <a:ext cx="85725" cy="142875"/>
            </a:xfrm>
            <a:custGeom>
              <a:avLst/>
              <a:gdLst>
                <a:gd name="connsiteX0" fmla="*/ 0 w 85725"/>
                <a:gd name="connsiteY0" fmla="*/ 16373 h 142875"/>
                <a:gd name="connsiteX1" fmla="*/ 25841 w 85725"/>
                <a:gd name="connsiteY1" fmla="*/ 0 h 142875"/>
                <a:gd name="connsiteX2" fmla="*/ 63941 w 85725"/>
                <a:gd name="connsiteY2" fmla="*/ 0 h 142875"/>
                <a:gd name="connsiteX3" fmla="*/ 92516 w 85725"/>
                <a:gd name="connsiteY3" fmla="*/ 28575 h 142875"/>
                <a:gd name="connsiteX4" fmla="*/ 92516 w 85725"/>
                <a:gd name="connsiteY4" fmla="*/ 76200 h 142875"/>
                <a:gd name="connsiteX5" fmla="*/ 73466 w 85725"/>
                <a:gd name="connsiteY5" fmla="*/ 76200 h 142875"/>
                <a:gd name="connsiteX6" fmla="*/ 73466 w 85725"/>
                <a:gd name="connsiteY6" fmla="*/ 142875 h 142875"/>
                <a:gd name="connsiteX7" fmla="*/ 16316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0" y="16373"/>
                  </a:moveTo>
                  <a:cubicBezTo>
                    <a:pt x="4582" y="6715"/>
                    <a:pt x="14440" y="0"/>
                    <a:pt x="25841" y="0"/>
                  </a:cubicBezTo>
                  <a:lnTo>
                    <a:pt x="63941" y="0"/>
                  </a:lnTo>
                  <a:cubicBezTo>
                    <a:pt x="79724" y="0"/>
                    <a:pt x="92516" y="12792"/>
                    <a:pt x="92516" y="28575"/>
                  </a:cubicBezTo>
                  <a:lnTo>
                    <a:pt x="92516" y="76200"/>
                  </a:lnTo>
                  <a:lnTo>
                    <a:pt x="73466" y="76200"/>
                  </a:lnTo>
                  <a:lnTo>
                    <a:pt x="73466" y="142875"/>
                  </a:lnTo>
                  <a:lnTo>
                    <a:pt x="16316" y="142875"/>
                  </a:lnTo>
                </a:path>
              </a:pathLst>
            </a:custGeom>
            <a:noFill/>
            <a:ln w="19050" cap="flat">
              <a:solidFill>
                <a:srgbClr val="6496BB"/>
              </a:solidFill>
              <a:prstDash val="solid"/>
              <a:miter/>
            </a:ln>
          </p:spPr>
          <p:txBody>
            <a:bodyPr rtlCol="0" anchor="ctr"/>
            <a:lstStyle/>
            <a:p>
              <a:endParaRPr lang="en-US"/>
            </a:p>
          </p:txBody>
        </p:sp>
        <p:sp>
          <p:nvSpPr>
            <p:cNvPr id="60" name="Forme libre : forme 59">
              <a:extLst>
                <a:ext uri="{FF2B5EF4-FFF2-40B4-BE49-F238E27FC236}">
                  <a16:creationId xmlns:a16="http://schemas.microsoft.com/office/drawing/2014/main" id="{59253114-7274-EED7-6E90-E29598A7FF06}"/>
                </a:ext>
              </a:extLst>
            </p:cNvPr>
            <p:cNvSpPr/>
            <p:nvPr/>
          </p:nvSpPr>
          <p:spPr>
            <a:xfrm>
              <a:off x="88798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1" name="Forme libre : forme 60">
              <a:extLst>
                <a:ext uri="{FF2B5EF4-FFF2-40B4-BE49-F238E27FC236}">
                  <a16:creationId xmlns:a16="http://schemas.microsoft.com/office/drawing/2014/main" id="{F3F1AC79-3E57-D8DC-BAD7-EB3DACB9C9ED}"/>
                </a:ext>
              </a:extLst>
            </p:cNvPr>
            <p:cNvSpPr/>
            <p:nvPr/>
          </p:nvSpPr>
          <p:spPr>
            <a:xfrm>
              <a:off x="8756058" y="5591838"/>
              <a:ext cx="114300" cy="180975"/>
            </a:xfrm>
            <a:custGeom>
              <a:avLst/>
              <a:gdLst>
                <a:gd name="connsiteX0" fmla="*/ 85725 w 114300"/>
                <a:gd name="connsiteY0" fmla="*/ 180975 h 180975"/>
                <a:gd name="connsiteX1" fmla="*/ 28575 w 114300"/>
                <a:gd name="connsiteY1" fmla="*/ 180975 h 180975"/>
                <a:gd name="connsiteX2" fmla="*/ 28575 w 114300"/>
                <a:gd name="connsiteY2" fmla="*/ 104775 h 180975"/>
                <a:gd name="connsiteX3" fmla="*/ 0 w 114300"/>
                <a:gd name="connsiteY3" fmla="*/ 104775 h 180975"/>
                <a:gd name="connsiteX4" fmla="*/ 0 w 114300"/>
                <a:gd name="connsiteY4" fmla="*/ 38100 h 180975"/>
                <a:gd name="connsiteX5" fmla="*/ 38100 w 114300"/>
                <a:gd name="connsiteY5" fmla="*/ 0 h 180975"/>
                <a:gd name="connsiteX6" fmla="*/ 76200 w 114300"/>
                <a:gd name="connsiteY6" fmla="*/ 0 h 180975"/>
                <a:gd name="connsiteX7" fmla="*/ 114300 w 114300"/>
                <a:gd name="connsiteY7" fmla="*/ 38100 h 180975"/>
                <a:gd name="connsiteX8" fmla="*/ 114300 w 114300"/>
                <a:gd name="connsiteY8" fmla="*/ 104775 h 180975"/>
                <a:gd name="connsiteX9" fmla="*/ 85725 w 114300"/>
                <a:gd name="connsiteY9" fmla="*/ 104775 h 180975"/>
                <a:gd name="connsiteX10" fmla="*/ 85725 w 114300"/>
                <a:gd name="connsiteY10"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300" h="180975">
                  <a:moveTo>
                    <a:pt x="85725" y="180975"/>
                  </a:moveTo>
                  <a:lnTo>
                    <a:pt x="28575" y="180975"/>
                  </a:lnTo>
                  <a:lnTo>
                    <a:pt x="28575" y="104775"/>
                  </a:lnTo>
                  <a:lnTo>
                    <a:pt x="0" y="104775"/>
                  </a:lnTo>
                  <a:lnTo>
                    <a:pt x="0" y="38100"/>
                  </a:lnTo>
                  <a:cubicBezTo>
                    <a:pt x="0" y="17059"/>
                    <a:pt x="17059" y="0"/>
                    <a:pt x="38100" y="0"/>
                  </a:cubicBezTo>
                  <a:lnTo>
                    <a:pt x="76200" y="0"/>
                  </a:lnTo>
                  <a:cubicBezTo>
                    <a:pt x="97241" y="0"/>
                    <a:pt x="114300" y="17059"/>
                    <a:pt x="114300" y="38100"/>
                  </a:cubicBezTo>
                  <a:lnTo>
                    <a:pt x="114300" y="104775"/>
                  </a:lnTo>
                  <a:lnTo>
                    <a:pt x="85725" y="104775"/>
                  </a:lnTo>
                  <a:lnTo>
                    <a:pt x="85725" y="180975"/>
                  </a:lnTo>
                  <a:close/>
                </a:path>
              </a:pathLst>
            </a:custGeom>
            <a:noFill/>
            <a:ln w="19050" cap="sq">
              <a:solidFill>
                <a:srgbClr val="6496BB"/>
              </a:solidFill>
              <a:prstDash val="solid"/>
              <a:miter/>
            </a:ln>
          </p:spPr>
          <p:txBody>
            <a:bodyPr rtlCol="0" anchor="ctr"/>
            <a:lstStyle/>
            <a:p>
              <a:endParaRPr lang="en-US"/>
            </a:p>
          </p:txBody>
        </p:sp>
        <p:sp>
          <p:nvSpPr>
            <p:cNvPr id="62" name="Forme libre : forme 61">
              <a:extLst>
                <a:ext uri="{FF2B5EF4-FFF2-40B4-BE49-F238E27FC236}">
                  <a16:creationId xmlns:a16="http://schemas.microsoft.com/office/drawing/2014/main" id="{90C162A2-ABEE-562F-3D71-20D0C5348DD4}"/>
                </a:ext>
              </a:extLst>
            </p:cNvPr>
            <p:cNvSpPr/>
            <p:nvPr/>
          </p:nvSpPr>
          <p:spPr>
            <a:xfrm>
              <a:off x="8775108" y="548706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6496BB"/>
              </a:solidFill>
              <a:prstDash val="solid"/>
              <a:miter/>
            </a:ln>
          </p:spPr>
          <p:txBody>
            <a:bodyPr rtlCol="0" anchor="ctr"/>
            <a:lstStyle/>
            <a:p>
              <a:endParaRPr lang="en-US"/>
            </a:p>
          </p:txBody>
        </p:sp>
      </p:grpSp>
      <p:grpSp>
        <p:nvGrpSpPr>
          <p:cNvPr id="63" name="Graphique 128">
            <a:extLst>
              <a:ext uri="{FF2B5EF4-FFF2-40B4-BE49-F238E27FC236}">
                <a16:creationId xmlns:a16="http://schemas.microsoft.com/office/drawing/2014/main" id="{7DC03CBF-53F3-8365-9415-2B4E2FF068AF}"/>
              </a:ext>
            </a:extLst>
          </p:cNvPr>
          <p:cNvGrpSpPr/>
          <p:nvPr/>
        </p:nvGrpSpPr>
        <p:grpSpPr>
          <a:xfrm>
            <a:off x="9277384" y="4472227"/>
            <a:ext cx="360000" cy="360000"/>
            <a:chOff x="8658341" y="2723890"/>
            <a:chExt cx="276225" cy="285750"/>
          </a:xfrm>
        </p:grpSpPr>
        <p:sp>
          <p:nvSpPr>
            <p:cNvPr id="64" name="Forme libre : forme 63">
              <a:extLst>
                <a:ext uri="{FF2B5EF4-FFF2-40B4-BE49-F238E27FC236}">
                  <a16:creationId xmlns:a16="http://schemas.microsoft.com/office/drawing/2014/main" id="{583A997E-C879-C75C-B33C-FD06203F6B10}"/>
                </a:ext>
              </a:extLst>
            </p:cNvPr>
            <p:cNvSpPr/>
            <p:nvPr/>
          </p:nvSpPr>
          <p:spPr>
            <a:xfrm>
              <a:off x="8696441" y="2952490"/>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5" name="Forme libre : forme 64">
              <a:extLst>
                <a:ext uri="{FF2B5EF4-FFF2-40B4-BE49-F238E27FC236}">
                  <a16:creationId xmlns:a16="http://schemas.microsoft.com/office/drawing/2014/main" id="{4EF5A0F7-D486-D9C8-9F67-5693BDB32A7B}"/>
                </a:ext>
              </a:extLst>
            </p:cNvPr>
            <p:cNvSpPr/>
            <p:nvPr/>
          </p:nvSpPr>
          <p:spPr>
            <a:xfrm>
              <a:off x="8877416" y="2952490"/>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rgbClr val="6496BB"/>
              </a:solidFill>
              <a:prstDash val="solid"/>
              <a:miter/>
            </a:ln>
          </p:spPr>
          <p:txBody>
            <a:bodyPr rtlCol="0" anchor="ctr"/>
            <a:lstStyle/>
            <a:p>
              <a:endParaRPr lang="en-US"/>
            </a:p>
          </p:txBody>
        </p:sp>
        <p:sp>
          <p:nvSpPr>
            <p:cNvPr id="66" name="Forme libre : forme 65">
              <a:extLst>
                <a:ext uri="{FF2B5EF4-FFF2-40B4-BE49-F238E27FC236}">
                  <a16:creationId xmlns:a16="http://schemas.microsoft.com/office/drawing/2014/main" id="{02273509-EF5B-9738-C36F-6775F721E17A}"/>
                </a:ext>
              </a:extLst>
            </p:cNvPr>
            <p:cNvSpPr/>
            <p:nvPr/>
          </p:nvSpPr>
          <p:spPr>
            <a:xfrm>
              <a:off x="8658341" y="2723890"/>
              <a:ext cx="276225" cy="190500"/>
            </a:xfrm>
            <a:custGeom>
              <a:avLst/>
              <a:gdLst>
                <a:gd name="connsiteX0" fmla="*/ 200025 w 276225"/>
                <a:gd name="connsiteY0" fmla="*/ 57150 h 190500"/>
                <a:gd name="connsiteX1" fmla="*/ 276225 w 276225"/>
                <a:gd name="connsiteY1" fmla="*/ 57150 h 190500"/>
                <a:gd name="connsiteX2" fmla="*/ 247650 w 276225"/>
                <a:gd name="connsiteY2" fmla="*/ 190500 h 190500"/>
                <a:gd name="connsiteX3" fmla="*/ 57150 w 276225"/>
                <a:gd name="connsiteY3" fmla="*/ 190500 h 190500"/>
                <a:gd name="connsiteX4" fmla="*/ 38100 w 276225"/>
                <a:gd name="connsiteY4" fmla="*/ 0 h 190500"/>
                <a:gd name="connsiteX5" fmla="*/ 0 w 276225"/>
                <a:gd name="connsiteY5"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225" h="190500">
                  <a:moveTo>
                    <a:pt x="200025" y="57150"/>
                  </a:moveTo>
                  <a:lnTo>
                    <a:pt x="276225" y="57150"/>
                  </a:lnTo>
                  <a:lnTo>
                    <a:pt x="247650" y="190500"/>
                  </a:lnTo>
                  <a:lnTo>
                    <a:pt x="57150" y="190500"/>
                  </a:lnTo>
                  <a:lnTo>
                    <a:pt x="38100" y="0"/>
                  </a:lnTo>
                  <a:lnTo>
                    <a:pt x="0" y="0"/>
                  </a:lnTo>
                </a:path>
              </a:pathLst>
            </a:custGeom>
            <a:noFill/>
            <a:ln w="19050" cap="sq">
              <a:solidFill>
                <a:srgbClr val="6496BB"/>
              </a:solidFill>
              <a:prstDash val="solid"/>
              <a:miter/>
            </a:ln>
          </p:spPr>
          <p:txBody>
            <a:bodyPr rtlCol="0" anchor="ctr"/>
            <a:lstStyle/>
            <a:p>
              <a:endParaRPr lang="en-US"/>
            </a:p>
          </p:txBody>
        </p:sp>
        <p:sp>
          <p:nvSpPr>
            <p:cNvPr id="67" name="Forme libre : forme 66">
              <a:extLst>
                <a:ext uri="{FF2B5EF4-FFF2-40B4-BE49-F238E27FC236}">
                  <a16:creationId xmlns:a16="http://schemas.microsoft.com/office/drawing/2014/main" id="{81C34C04-41BF-D01A-EAD4-442D57D628C0}"/>
                </a:ext>
              </a:extLst>
            </p:cNvPr>
            <p:cNvSpPr/>
            <p:nvPr/>
          </p:nvSpPr>
          <p:spPr>
            <a:xfrm>
              <a:off x="8703166" y="2781040"/>
              <a:ext cx="57150" cy="9525"/>
            </a:xfrm>
            <a:custGeom>
              <a:avLst/>
              <a:gdLst>
                <a:gd name="connsiteX0" fmla="*/ 0 w 57150"/>
                <a:gd name="connsiteY0" fmla="*/ 0 h 0"/>
                <a:gd name="connsiteX1" fmla="*/ 59950 w 57150"/>
                <a:gd name="connsiteY1" fmla="*/ 0 h 0"/>
              </a:gdLst>
              <a:ahLst/>
              <a:cxnLst>
                <a:cxn ang="0">
                  <a:pos x="connsiteX0" y="connsiteY0"/>
                </a:cxn>
                <a:cxn ang="0">
                  <a:pos x="connsiteX1" y="connsiteY1"/>
                </a:cxn>
              </a:cxnLst>
              <a:rect l="l" t="t" r="r" b="b"/>
              <a:pathLst>
                <a:path w="57150">
                  <a:moveTo>
                    <a:pt x="0" y="0"/>
                  </a:moveTo>
                  <a:lnTo>
                    <a:pt x="59950" y="0"/>
                  </a:lnTo>
                </a:path>
              </a:pathLst>
            </a:custGeom>
            <a:ln w="19050" cap="sq">
              <a:solidFill>
                <a:srgbClr val="6496BB"/>
              </a:solidFill>
              <a:prstDash val="solid"/>
              <a:miter/>
            </a:ln>
          </p:spPr>
          <p:txBody>
            <a:bodyPr rtlCol="0" anchor="ctr"/>
            <a:lstStyle/>
            <a:p>
              <a:endParaRPr lang="en-US"/>
            </a:p>
          </p:txBody>
        </p:sp>
        <p:sp>
          <p:nvSpPr>
            <p:cNvPr id="68" name="Forme libre : forme 67">
              <a:extLst>
                <a:ext uri="{FF2B5EF4-FFF2-40B4-BE49-F238E27FC236}">
                  <a16:creationId xmlns:a16="http://schemas.microsoft.com/office/drawing/2014/main" id="{69B5EDB3-8CCF-29F8-A300-60434316326B}"/>
                </a:ext>
              </a:extLst>
            </p:cNvPr>
            <p:cNvSpPr/>
            <p:nvPr/>
          </p:nvSpPr>
          <p:spPr>
            <a:xfrm>
              <a:off x="8810741" y="2733415"/>
              <a:ext cx="9525" cy="133350"/>
            </a:xfrm>
            <a:custGeom>
              <a:avLst/>
              <a:gdLst>
                <a:gd name="connsiteX0" fmla="*/ 0 w 0"/>
                <a:gd name="connsiteY0" fmla="*/ 0 h 133350"/>
                <a:gd name="connsiteX1" fmla="*/ 0 w 0"/>
                <a:gd name="connsiteY1" fmla="*/ 133350 h 133350"/>
              </a:gdLst>
              <a:ahLst/>
              <a:cxnLst>
                <a:cxn ang="0">
                  <a:pos x="connsiteX0" y="connsiteY0"/>
                </a:cxn>
                <a:cxn ang="0">
                  <a:pos x="connsiteX1" y="connsiteY1"/>
                </a:cxn>
              </a:cxnLst>
              <a:rect l="l" t="t" r="r" b="b"/>
              <a:pathLst>
                <a:path h="133350">
                  <a:moveTo>
                    <a:pt x="0" y="0"/>
                  </a:moveTo>
                  <a:lnTo>
                    <a:pt x="0" y="133350"/>
                  </a:lnTo>
                </a:path>
              </a:pathLst>
            </a:custGeom>
            <a:ln w="19050" cap="flat">
              <a:solidFill>
                <a:srgbClr val="6496BB"/>
              </a:solidFill>
              <a:prstDash val="solid"/>
              <a:miter/>
            </a:ln>
          </p:spPr>
          <p:txBody>
            <a:bodyPr rtlCol="0" anchor="ctr"/>
            <a:lstStyle/>
            <a:p>
              <a:endParaRPr lang="en-US"/>
            </a:p>
          </p:txBody>
        </p:sp>
        <p:sp>
          <p:nvSpPr>
            <p:cNvPr id="69" name="Forme libre : forme 68">
              <a:extLst>
                <a:ext uri="{FF2B5EF4-FFF2-40B4-BE49-F238E27FC236}">
                  <a16:creationId xmlns:a16="http://schemas.microsoft.com/office/drawing/2014/main" id="{5A00771C-EA18-970D-22A0-1113420F070F}"/>
                </a:ext>
              </a:extLst>
            </p:cNvPr>
            <p:cNvSpPr/>
            <p:nvPr/>
          </p:nvSpPr>
          <p:spPr>
            <a:xfrm>
              <a:off x="8772641" y="2828665"/>
              <a:ext cx="76200" cy="38100"/>
            </a:xfrm>
            <a:custGeom>
              <a:avLst/>
              <a:gdLst>
                <a:gd name="connsiteX0" fmla="*/ 76200 w 76200"/>
                <a:gd name="connsiteY0" fmla="*/ 0 h 38100"/>
                <a:gd name="connsiteX1" fmla="*/ 38100 w 76200"/>
                <a:gd name="connsiteY1" fmla="*/ 38100 h 38100"/>
                <a:gd name="connsiteX2" fmla="*/ 0 w 76200"/>
                <a:gd name="connsiteY2" fmla="*/ 0 h 38100"/>
              </a:gdLst>
              <a:ahLst/>
              <a:cxnLst>
                <a:cxn ang="0">
                  <a:pos x="connsiteX0" y="connsiteY0"/>
                </a:cxn>
                <a:cxn ang="0">
                  <a:pos x="connsiteX1" y="connsiteY1"/>
                </a:cxn>
                <a:cxn ang="0">
                  <a:pos x="connsiteX2" y="connsiteY2"/>
                </a:cxn>
              </a:cxnLst>
              <a:rect l="l" t="t" r="r" b="b"/>
              <a:pathLst>
                <a:path w="76200" h="38100">
                  <a:moveTo>
                    <a:pt x="76200" y="0"/>
                  </a:moveTo>
                  <a:lnTo>
                    <a:pt x="38100" y="38100"/>
                  </a:lnTo>
                  <a:lnTo>
                    <a:pt x="0" y="0"/>
                  </a:lnTo>
                </a:path>
              </a:pathLst>
            </a:custGeom>
            <a:noFill/>
            <a:ln w="19050" cap="sq">
              <a:solidFill>
                <a:srgbClr val="6496BB"/>
              </a:solidFill>
              <a:prstDash val="solid"/>
              <a:miter/>
            </a:ln>
          </p:spPr>
          <p:txBody>
            <a:bodyPr rtlCol="0" anchor="ctr"/>
            <a:lstStyle/>
            <a:p>
              <a:endParaRPr lang="en-US"/>
            </a:p>
          </p:txBody>
        </p:sp>
      </p:grpSp>
      <p:sp>
        <p:nvSpPr>
          <p:cNvPr id="70" name="Rectangle : coins arrondis 3">
            <a:extLst>
              <a:ext uri="{FF2B5EF4-FFF2-40B4-BE49-F238E27FC236}">
                <a16:creationId xmlns:a16="http://schemas.microsoft.com/office/drawing/2014/main" id="{6B55CB57-24DD-94B7-0FB8-9A17A1A7C494}"/>
              </a:ext>
            </a:extLst>
          </p:cNvPr>
          <p:cNvSpPr/>
          <p:nvPr/>
        </p:nvSpPr>
        <p:spPr>
          <a:xfrm>
            <a:off x="9003275" y="4841944"/>
            <a:ext cx="1610290"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en-US" sz="1300" b="1">
                <a:solidFill>
                  <a:schemeClr val="accent4"/>
                </a:solidFill>
              </a:rPr>
              <a:t>Customers (CIAM)</a:t>
            </a:r>
          </a:p>
        </p:txBody>
      </p:sp>
      <p:sp>
        <p:nvSpPr>
          <p:cNvPr id="71" name="Rectangle : coins arrondis 70">
            <a:extLst>
              <a:ext uri="{FF2B5EF4-FFF2-40B4-BE49-F238E27FC236}">
                <a16:creationId xmlns:a16="http://schemas.microsoft.com/office/drawing/2014/main" id="{8645CE2B-B617-6EB3-99E6-5A50773C2491}"/>
              </a:ext>
            </a:extLst>
          </p:cNvPr>
          <p:cNvSpPr/>
          <p:nvPr>
            <p:custDataLst>
              <p:tags r:id="rId4"/>
            </p:custDataLst>
          </p:nvPr>
        </p:nvSpPr>
        <p:spPr>
          <a:xfrm>
            <a:off x="8303141" y="5124479"/>
            <a:ext cx="3171600" cy="75600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3FD84B0A-74FE-7F80-C251-B05E1374BE89}"/>
              </a:ext>
            </a:extLst>
          </p:cNvPr>
          <p:cNvSpPr/>
          <p:nvPr/>
        </p:nvSpPr>
        <p:spPr>
          <a:xfrm>
            <a:off x="8373637" y="5172910"/>
            <a:ext cx="2831963" cy="41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algn="l" defTabSz="914400" rtl="0" eaLnBrk="1" fontAlgn="auto" latinLnBrk="0" hangingPunct="1">
              <a:lnSpc>
                <a:spcPct val="100000"/>
              </a:lnSpc>
              <a:spcBef>
                <a:spcPts val="0"/>
              </a:spcBef>
              <a:spcAft>
                <a:spcPts val="0"/>
              </a:spcAft>
              <a:buClrTx/>
              <a:buSzTx/>
              <a:tabLst/>
              <a:defRPr/>
            </a:pPr>
            <a:r>
              <a:rPr lang="en-US" sz="1000">
                <a:solidFill>
                  <a:schemeClr val="tx1"/>
                </a:solidFill>
              </a:rPr>
              <a:t>Manage authentication and access for unmanaged identities</a:t>
            </a:r>
          </a:p>
        </p:txBody>
      </p:sp>
      <p:sp>
        <p:nvSpPr>
          <p:cNvPr id="116" name="Rectangle : coins arrondis 115">
            <a:extLst>
              <a:ext uri="{FF2B5EF4-FFF2-40B4-BE49-F238E27FC236}">
                <a16:creationId xmlns:a16="http://schemas.microsoft.com/office/drawing/2014/main" id="{1CC2162F-945D-4002-DEAC-65C72908C5DD}"/>
              </a:ext>
            </a:extLst>
          </p:cNvPr>
          <p:cNvSpPr/>
          <p:nvPr>
            <p:custDataLst>
              <p:tags r:id="rId5"/>
            </p:custDataLst>
          </p:nvPr>
        </p:nvSpPr>
        <p:spPr>
          <a:xfrm>
            <a:off x="499190" y="3795894"/>
            <a:ext cx="3172608" cy="721624"/>
          </a:xfrm>
          <a:prstGeom prst="roundRect">
            <a:avLst>
              <a:gd name="adj" fmla="val 8389"/>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4487AA7B-1BBC-0F5A-8545-41A8EF175092}"/>
              </a:ext>
            </a:extLst>
          </p:cNvPr>
          <p:cNvSpPr/>
          <p:nvPr/>
        </p:nvSpPr>
        <p:spPr>
          <a:xfrm>
            <a:off x="631808" y="3863886"/>
            <a:ext cx="2944791" cy="5293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just" defTabSz="914400" rtl="0" eaLnBrk="1" latinLnBrk="0" hangingPunct="1"/>
            <a:r>
              <a:rPr lang="en-US" sz="1050" kern="1200">
                <a:solidFill>
                  <a:schemeClr val="dk1"/>
                </a:solidFill>
                <a:effectLst/>
                <a:latin typeface="+mn-lt"/>
                <a:ea typeface="+mn-ea"/>
                <a:cs typeface="+mn-cs"/>
              </a:rPr>
              <a:t>Co-contractors are granted specific accesses on BYCN IS </a:t>
            </a:r>
          </a:p>
        </p:txBody>
      </p:sp>
      <p:sp>
        <p:nvSpPr>
          <p:cNvPr id="73" name="Rectangle 72">
            <a:extLst>
              <a:ext uri="{FF2B5EF4-FFF2-40B4-BE49-F238E27FC236}">
                <a16:creationId xmlns:a16="http://schemas.microsoft.com/office/drawing/2014/main" id="{5E3AFE3D-757F-1D08-7796-7432CF6FFB31}"/>
              </a:ext>
            </a:extLst>
          </p:cNvPr>
          <p:cNvSpPr/>
          <p:nvPr/>
        </p:nvSpPr>
        <p:spPr>
          <a:xfrm>
            <a:off x="68062" y="1409105"/>
            <a:ext cx="6813552" cy="3657120"/>
          </a:xfrm>
          <a:prstGeom prst="rect">
            <a:avLst/>
          </a:prstGeom>
          <a:noFill/>
          <a:ln w="285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3686596D-A67D-1221-D09E-2012F8252987}"/>
              </a:ext>
            </a:extLst>
          </p:cNvPr>
          <p:cNvSpPr/>
          <p:nvPr/>
        </p:nvSpPr>
        <p:spPr>
          <a:xfrm>
            <a:off x="75859" y="5082527"/>
            <a:ext cx="6852395" cy="1800807"/>
          </a:xfrm>
          <a:prstGeom prst="rect">
            <a:avLst/>
          </a:prstGeom>
          <a:solidFill>
            <a:schemeClr val="bg1">
              <a:lumMod val="6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85284AA1-1B23-E545-6B2A-EB06E1A56DDA}"/>
              </a:ext>
            </a:extLst>
          </p:cNvPr>
          <p:cNvSpPr/>
          <p:nvPr/>
        </p:nvSpPr>
        <p:spPr>
          <a:xfrm>
            <a:off x="6913295" y="1399812"/>
            <a:ext cx="5287998" cy="5476153"/>
          </a:xfrm>
          <a:prstGeom prst="rect">
            <a:avLst/>
          </a:prstGeom>
          <a:solidFill>
            <a:schemeClr val="bg1">
              <a:lumMod val="6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009E7173-3702-7FAC-3047-40E631894ACC}"/>
              </a:ext>
            </a:extLst>
          </p:cNvPr>
          <p:cNvSpPr/>
          <p:nvPr/>
        </p:nvSpPr>
        <p:spPr>
          <a:xfrm>
            <a:off x="7479572" y="1746354"/>
            <a:ext cx="3992865" cy="4060767"/>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US" sz="1200">
              <a:solidFill>
                <a:schemeClr val="tx1"/>
              </a:solidFill>
            </a:endParaRPr>
          </a:p>
          <a:p>
            <a:pPr algn="ctr"/>
            <a:endParaRPr lang="en-US" sz="1200">
              <a:solidFill>
                <a:schemeClr val="tx1"/>
              </a:solidFill>
            </a:endParaRPr>
          </a:p>
          <a:p>
            <a:pPr algn="ctr"/>
            <a:endParaRPr lang="en-US" sz="1200">
              <a:solidFill>
                <a:schemeClr val="tx1"/>
              </a:solidFill>
            </a:endParaRPr>
          </a:p>
          <a:p>
            <a:pPr algn="ctr"/>
            <a:endParaRPr lang="en-US" sz="1200">
              <a:solidFill>
                <a:schemeClr val="tx1"/>
              </a:solidFill>
            </a:endParaRPr>
          </a:p>
          <a:p>
            <a:r>
              <a:rPr lang="en-US" sz="1200">
                <a:solidFill>
                  <a:schemeClr val="tx1"/>
                </a:solidFill>
                <a:ea typeface="+mn-lt"/>
                <a:cs typeface="+mn-lt"/>
              </a:rPr>
              <a:t>The current project is to </a:t>
            </a:r>
            <a:r>
              <a:rPr lang="en-US" sz="1200" b="1" i="1">
                <a:solidFill>
                  <a:srgbClr val="00B0F0"/>
                </a:solidFill>
                <a:ea typeface="+mn-lt"/>
                <a:cs typeface="+mn-lt"/>
              </a:rPr>
              <a:t>improve identities &amp; authorization management for </a:t>
            </a:r>
            <a:endParaRPr lang="en-US">
              <a:solidFill>
                <a:srgbClr val="00B0F0"/>
              </a:solidFill>
              <a:cs typeface="Calibri"/>
            </a:endParaRPr>
          </a:p>
          <a:p>
            <a:r>
              <a:rPr lang="en-US" sz="1200">
                <a:solidFill>
                  <a:srgbClr val="00B0F0"/>
                </a:solidFill>
                <a:ea typeface="+mn-lt"/>
                <a:cs typeface="+mn-lt"/>
              </a:rPr>
              <a:t>•</a:t>
            </a:r>
            <a:r>
              <a:rPr lang="en-US" sz="1200" b="1" i="1">
                <a:solidFill>
                  <a:srgbClr val="00B0F0"/>
                </a:solidFill>
                <a:ea typeface="+mn-lt"/>
                <a:cs typeface="+mn-lt"/>
              </a:rPr>
              <a:t>Employees &amp; on-site externals,</a:t>
            </a:r>
            <a:endParaRPr lang="en-US">
              <a:solidFill>
                <a:srgbClr val="00B0F0"/>
              </a:solidFill>
              <a:cs typeface="Calibri"/>
            </a:endParaRPr>
          </a:p>
          <a:p>
            <a:r>
              <a:rPr lang="en-US" sz="1200">
                <a:solidFill>
                  <a:srgbClr val="00B0F0"/>
                </a:solidFill>
                <a:ea typeface="+mn-lt"/>
                <a:cs typeface="+mn-lt"/>
              </a:rPr>
              <a:t>•</a:t>
            </a:r>
            <a:r>
              <a:rPr lang="en-US" sz="1200" b="1" i="1">
                <a:solidFill>
                  <a:srgbClr val="00B0F0"/>
                </a:solidFill>
                <a:ea typeface="+mn-lt"/>
                <a:cs typeface="+mn-lt"/>
              </a:rPr>
              <a:t>Co-contractors</a:t>
            </a:r>
            <a:endParaRPr lang="en-US" sz="1200" b="1" i="1">
              <a:solidFill>
                <a:srgbClr val="00B0F0"/>
              </a:solidFill>
              <a:cs typeface="Calibri"/>
            </a:endParaRPr>
          </a:p>
          <a:p>
            <a:endParaRPr lang="en-US" sz="1200" b="1" i="1">
              <a:solidFill>
                <a:schemeClr val="tx1"/>
              </a:solidFill>
              <a:ea typeface="+mn-lt"/>
              <a:cs typeface="+mn-lt"/>
            </a:endParaRPr>
          </a:p>
          <a:p>
            <a:r>
              <a:rPr lang="en-US" sz="1200">
                <a:solidFill>
                  <a:schemeClr val="tx1"/>
                </a:solidFill>
                <a:ea typeface="+mn-lt"/>
                <a:cs typeface="+mn-lt"/>
              </a:rPr>
              <a:t>This sub-topic of IAM is called </a:t>
            </a:r>
            <a:r>
              <a:rPr lang="en-US" sz="1200" b="1" i="1">
                <a:solidFill>
                  <a:srgbClr val="00B0F0"/>
                </a:solidFill>
                <a:ea typeface="+mn-lt"/>
                <a:cs typeface="+mn-lt"/>
              </a:rPr>
              <a:t>Identity Governance &amp; Administration (IGA)</a:t>
            </a:r>
            <a:r>
              <a:rPr lang="en-US" sz="1200" b="1">
                <a:solidFill>
                  <a:schemeClr val="tx1"/>
                </a:solidFill>
                <a:ea typeface="+mn-lt"/>
                <a:cs typeface="+mn-lt"/>
              </a:rPr>
              <a:t>. </a:t>
            </a:r>
            <a:r>
              <a:rPr lang="en-US" sz="1200">
                <a:solidFill>
                  <a:schemeClr val="tx1"/>
                </a:solidFill>
                <a:ea typeface="+mn-lt"/>
                <a:cs typeface="+mn-lt"/>
              </a:rPr>
              <a:t>It focuses on controlling identities that have to be managed by an organization and their accesses</a:t>
            </a:r>
            <a:endParaRPr lang="en-US">
              <a:solidFill>
                <a:schemeClr val="tx1"/>
              </a:solidFill>
              <a:cs typeface="Calibri"/>
            </a:endParaRPr>
          </a:p>
          <a:p>
            <a:endParaRPr lang="en-US" sz="1200">
              <a:solidFill>
                <a:schemeClr val="tx1"/>
              </a:solidFill>
              <a:cs typeface="Calibri"/>
            </a:endParaRPr>
          </a:p>
        </p:txBody>
      </p:sp>
      <p:pic>
        <p:nvPicPr>
          <p:cNvPr id="78" name="Image 77">
            <a:extLst>
              <a:ext uri="{FF2B5EF4-FFF2-40B4-BE49-F238E27FC236}">
                <a16:creationId xmlns:a16="http://schemas.microsoft.com/office/drawing/2014/main" id="{2D17CA2E-A12E-DE87-AC30-B249CA6E6A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25843" y="1843983"/>
            <a:ext cx="1469362" cy="412907"/>
          </a:xfrm>
          <a:prstGeom prst="rect">
            <a:avLst/>
          </a:prstGeom>
        </p:spPr>
      </p:pic>
      <p:sp>
        <p:nvSpPr>
          <p:cNvPr id="76" name="Rectangle : coins arrondis 3">
            <a:extLst>
              <a:ext uri="{FF2B5EF4-FFF2-40B4-BE49-F238E27FC236}">
                <a16:creationId xmlns:a16="http://schemas.microsoft.com/office/drawing/2014/main" id="{CF732434-61BF-2E01-035C-E3A85BAEA732}"/>
              </a:ext>
            </a:extLst>
          </p:cNvPr>
          <p:cNvSpPr/>
          <p:nvPr/>
        </p:nvSpPr>
        <p:spPr>
          <a:xfrm>
            <a:off x="767279" y="1934753"/>
            <a:ext cx="3761235" cy="23481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r>
              <a:rPr lang="en-US" sz="1300" b="1">
                <a:solidFill>
                  <a:schemeClr val="accent4"/>
                </a:solidFill>
              </a:rPr>
              <a:t>Employees &amp; on-site Externals (B2E) </a:t>
            </a:r>
          </a:p>
        </p:txBody>
      </p:sp>
    </p:spTree>
    <p:extLst>
      <p:ext uri="{BB962C8B-B14F-4D97-AF65-F5344CB8AC3E}">
        <p14:creationId xmlns:p14="http://schemas.microsoft.com/office/powerpoint/2010/main" val="332077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35D1E8-687F-C0DB-B6C2-62F11D5CA358}"/>
              </a:ext>
            </a:extLst>
          </p:cNvPr>
          <p:cNvSpPr>
            <a:spLocks noGrp="1"/>
          </p:cNvSpPr>
          <p:nvPr>
            <p:ph type="title"/>
          </p:nvPr>
        </p:nvSpPr>
        <p:spPr>
          <a:xfrm>
            <a:off x="982663" y="692696"/>
            <a:ext cx="9646169" cy="609398"/>
          </a:xfrm>
        </p:spPr>
        <p:txBody>
          <a:bodyPr/>
          <a:lstStyle/>
          <a:p>
            <a:r>
              <a:rPr lang="en-US" sz="3600"/>
              <a:t>What is Identity Governance &amp; administration (IGA) </a:t>
            </a:r>
          </a:p>
        </p:txBody>
      </p:sp>
      <p:sp>
        <p:nvSpPr>
          <p:cNvPr id="6" name="Rectangle 5">
            <a:extLst>
              <a:ext uri="{FF2B5EF4-FFF2-40B4-BE49-F238E27FC236}">
                <a16:creationId xmlns:a16="http://schemas.microsoft.com/office/drawing/2014/main" id="{20A1A507-131D-EB0F-98CC-183706C6C668}"/>
              </a:ext>
            </a:extLst>
          </p:cNvPr>
          <p:cNvSpPr/>
          <p:nvPr/>
        </p:nvSpPr>
        <p:spPr>
          <a:xfrm>
            <a:off x="1291472" y="1544444"/>
            <a:ext cx="10886869" cy="734096"/>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2"/>
                </a:solidFill>
              </a:rPr>
              <a:t>Ensure that all Information System users can access assets (systems, applications, data) with the necessary and sufficient permissions.</a:t>
            </a:r>
          </a:p>
        </p:txBody>
      </p:sp>
      <p:sp>
        <p:nvSpPr>
          <p:cNvPr id="7" name="Rectangle 6">
            <a:extLst>
              <a:ext uri="{FF2B5EF4-FFF2-40B4-BE49-F238E27FC236}">
                <a16:creationId xmlns:a16="http://schemas.microsoft.com/office/drawing/2014/main" id="{7DF0B4CB-8903-264C-6E94-0ED16CF6F66C}"/>
              </a:ext>
            </a:extLst>
          </p:cNvPr>
          <p:cNvSpPr/>
          <p:nvPr/>
        </p:nvSpPr>
        <p:spPr>
          <a:xfrm>
            <a:off x="13659" y="1544444"/>
            <a:ext cx="1277813" cy="734096"/>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Definition:</a:t>
            </a:r>
          </a:p>
        </p:txBody>
      </p:sp>
      <p:sp>
        <p:nvSpPr>
          <p:cNvPr id="8" name="ZoneTexte 7">
            <a:extLst>
              <a:ext uri="{FF2B5EF4-FFF2-40B4-BE49-F238E27FC236}">
                <a16:creationId xmlns:a16="http://schemas.microsoft.com/office/drawing/2014/main" id="{669CBD19-72F9-623A-20C3-6CDB481A802F}"/>
              </a:ext>
            </a:extLst>
          </p:cNvPr>
          <p:cNvSpPr txBox="1"/>
          <p:nvPr/>
        </p:nvSpPr>
        <p:spPr>
          <a:xfrm>
            <a:off x="137333" y="2422164"/>
            <a:ext cx="5426843" cy="837978"/>
          </a:xfrm>
          <a:prstGeom prst="rect">
            <a:avLst/>
          </a:prstGeom>
          <a:solidFill>
            <a:schemeClr val="bg1"/>
          </a:solidFill>
          <a:ln>
            <a:noFill/>
          </a:ln>
        </p:spPr>
        <p:txBody>
          <a:bodyPr wrap="square" lIns="36000" tIns="0" rIns="36000" bIns="0" rtlCol="0">
            <a:noAutofit/>
          </a:bodyPr>
          <a:lstStyle/>
          <a:p>
            <a:pPr algn="ctr"/>
            <a:r>
              <a:rPr lang="en-US" b="1">
                <a:solidFill>
                  <a:schemeClr val="accent1"/>
                </a:solidFill>
              </a:rPr>
              <a:t>A service at the junction between business and Information Systems</a:t>
            </a:r>
          </a:p>
        </p:txBody>
      </p:sp>
      <p:sp>
        <p:nvSpPr>
          <p:cNvPr id="9" name="Rectangle 8">
            <a:extLst>
              <a:ext uri="{FF2B5EF4-FFF2-40B4-BE49-F238E27FC236}">
                <a16:creationId xmlns:a16="http://schemas.microsoft.com/office/drawing/2014/main" id="{320AAABE-814F-E32F-998F-C53FBB353A2F}"/>
              </a:ext>
            </a:extLst>
          </p:cNvPr>
          <p:cNvSpPr/>
          <p:nvPr/>
        </p:nvSpPr>
        <p:spPr>
          <a:xfrm>
            <a:off x="204281" y="3371582"/>
            <a:ext cx="5204298" cy="1268028"/>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0" name="ZoneTexte 9">
            <a:extLst>
              <a:ext uri="{FF2B5EF4-FFF2-40B4-BE49-F238E27FC236}">
                <a16:creationId xmlns:a16="http://schemas.microsoft.com/office/drawing/2014/main" id="{6C6742B1-2A7F-BBF8-33AB-3426A1E6AEBD}"/>
              </a:ext>
            </a:extLst>
          </p:cNvPr>
          <p:cNvSpPr txBox="1"/>
          <p:nvPr/>
        </p:nvSpPr>
        <p:spPr>
          <a:xfrm>
            <a:off x="2053664" y="3478112"/>
            <a:ext cx="170912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03C5A"/>
                </a:solidFill>
                <a:latin typeface="Montserrat"/>
              </a:rPr>
              <a:t>Business view</a:t>
            </a:r>
            <a:endParaRPr kumimoji="0" lang="en-US" sz="1600" b="1" i="0" u="none" strike="noStrike" kern="1200" cap="none" spc="0" normalizeH="0" baseline="0">
              <a:ln>
                <a:noFill/>
              </a:ln>
              <a:solidFill>
                <a:srgbClr val="003C5A"/>
              </a:solidFill>
              <a:effectLst/>
              <a:uLnTx/>
              <a:uFillTx/>
              <a:latin typeface="Montserrat"/>
              <a:ea typeface="+mn-ea"/>
              <a:cs typeface="+mn-cs"/>
            </a:endParaRPr>
          </a:p>
        </p:txBody>
      </p:sp>
      <p:grpSp>
        <p:nvGrpSpPr>
          <p:cNvPr id="11" name="Graphique 207">
            <a:extLst>
              <a:ext uri="{FF2B5EF4-FFF2-40B4-BE49-F238E27FC236}">
                <a16:creationId xmlns:a16="http://schemas.microsoft.com/office/drawing/2014/main" id="{8C9E9273-D06C-7B34-932F-32F26FCF1274}"/>
              </a:ext>
            </a:extLst>
          </p:cNvPr>
          <p:cNvGrpSpPr>
            <a:grpSpLocks noChangeAspect="1"/>
          </p:cNvGrpSpPr>
          <p:nvPr/>
        </p:nvGrpSpPr>
        <p:grpSpPr>
          <a:xfrm>
            <a:off x="3495366" y="3792254"/>
            <a:ext cx="334368" cy="334367"/>
            <a:chOff x="7566731" y="2714365"/>
            <a:chExt cx="304800" cy="304800"/>
          </a:xfrm>
        </p:grpSpPr>
        <p:sp>
          <p:nvSpPr>
            <p:cNvPr id="12" name="Forme libre : forme 11">
              <a:extLst>
                <a:ext uri="{FF2B5EF4-FFF2-40B4-BE49-F238E27FC236}">
                  <a16:creationId xmlns:a16="http://schemas.microsoft.com/office/drawing/2014/main" id="{93A8ADD2-958A-96C5-7DD1-6FFB8DD8BDC5}"/>
                </a:ext>
              </a:extLst>
            </p:cNvPr>
            <p:cNvSpPr/>
            <p:nvPr/>
          </p:nvSpPr>
          <p:spPr>
            <a:xfrm>
              <a:off x="7614356" y="2866765"/>
              <a:ext cx="142875" cy="66675"/>
            </a:xfrm>
            <a:custGeom>
              <a:avLst/>
              <a:gdLst>
                <a:gd name="connsiteX0" fmla="*/ 0 w 142875"/>
                <a:gd name="connsiteY0" fmla="*/ 0 h 66675"/>
                <a:gd name="connsiteX1" fmla="*/ 9525 w 142875"/>
                <a:gd name="connsiteY1" fmla="*/ 0 h 66675"/>
                <a:gd name="connsiteX2" fmla="*/ 66675 w 142875"/>
                <a:gd name="connsiteY2" fmla="*/ 28575 h 66675"/>
                <a:gd name="connsiteX3" fmla="*/ 104775 w 142875"/>
                <a:gd name="connsiteY3" fmla="*/ 28575 h 66675"/>
                <a:gd name="connsiteX4" fmla="*/ 142875 w 142875"/>
                <a:gd name="connsiteY4" fmla="*/ 66675 h 66675"/>
                <a:gd name="connsiteX5" fmla="*/ 57150 w 142875"/>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66675">
                  <a:moveTo>
                    <a:pt x="0" y="0"/>
                  </a:moveTo>
                  <a:lnTo>
                    <a:pt x="9525" y="0"/>
                  </a:lnTo>
                  <a:cubicBezTo>
                    <a:pt x="31128" y="0"/>
                    <a:pt x="55493" y="11878"/>
                    <a:pt x="66675" y="28575"/>
                  </a:cubicBezTo>
                  <a:lnTo>
                    <a:pt x="104775" y="28575"/>
                  </a:lnTo>
                  <a:cubicBezTo>
                    <a:pt x="123892" y="28575"/>
                    <a:pt x="142875" y="47558"/>
                    <a:pt x="142875" y="66675"/>
                  </a:cubicBezTo>
                  <a:lnTo>
                    <a:pt x="57150" y="66675"/>
                  </a:lnTo>
                </a:path>
              </a:pathLst>
            </a:custGeom>
            <a:no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3" name="Forme libre : forme 12">
              <a:extLst>
                <a:ext uri="{FF2B5EF4-FFF2-40B4-BE49-F238E27FC236}">
                  <a16:creationId xmlns:a16="http://schemas.microsoft.com/office/drawing/2014/main" id="{A2FAF820-F540-DC09-6194-DBE9F0C6D7CC}"/>
                </a:ext>
              </a:extLst>
            </p:cNvPr>
            <p:cNvSpPr/>
            <p:nvPr/>
          </p:nvSpPr>
          <p:spPr>
            <a:xfrm>
              <a:off x="7614356" y="2914390"/>
              <a:ext cx="238125" cy="76200"/>
            </a:xfrm>
            <a:custGeom>
              <a:avLst/>
              <a:gdLst>
                <a:gd name="connsiteX0" fmla="*/ 136789 w 238125"/>
                <a:gd name="connsiteY0" fmla="*/ 0 h 76200"/>
                <a:gd name="connsiteX1" fmla="*/ 200025 w 238125"/>
                <a:gd name="connsiteY1" fmla="*/ 0 h 76200"/>
                <a:gd name="connsiteX2" fmla="*/ 238125 w 238125"/>
                <a:gd name="connsiteY2" fmla="*/ 19050 h 76200"/>
                <a:gd name="connsiteX3" fmla="*/ 101727 w 238125"/>
                <a:gd name="connsiteY3" fmla="*/ 74447 h 76200"/>
                <a:gd name="connsiteX4" fmla="*/ 68228 w 238125"/>
                <a:gd name="connsiteY4" fmla="*/ 73057 h 76200"/>
                <a:gd name="connsiteX5" fmla="*/ 0 w 238125"/>
                <a:gd name="connsiteY5" fmla="*/ 3840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5" h="76200">
                  <a:moveTo>
                    <a:pt x="136789" y="0"/>
                  </a:moveTo>
                  <a:lnTo>
                    <a:pt x="200025" y="0"/>
                  </a:lnTo>
                  <a:cubicBezTo>
                    <a:pt x="234553" y="0"/>
                    <a:pt x="238125" y="19050"/>
                    <a:pt x="238125" y="19050"/>
                  </a:cubicBezTo>
                  <a:lnTo>
                    <a:pt x="101727" y="74447"/>
                  </a:lnTo>
                  <a:cubicBezTo>
                    <a:pt x="90878" y="78791"/>
                    <a:pt x="78686" y="78286"/>
                    <a:pt x="68228" y="73057"/>
                  </a:cubicBezTo>
                  <a:lnTo>
                    <a:pt x="0" y="38405"/>
                  </a:lnTo>
                </a:path>
              </a:pathLst>
            </a:custGeom>
            <a:no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4" name="Forme libre : forme 13">
              <a:extLst>
                <a:ext uri="{FF2B5EF4-FFF2-40B4-BE49-F238E27FC236}">
                  <a16:creationId xmlns:a16="http://schemas.microsoft.com/office/drawing/2014/main" id="{356A3535-A441-09A0-F77F-DB54446AFE4C}"/>
                </a:ext>
              </a:extLst>
            </p:cNvPr>
            <p:cNvSpPr/>
            <p:nvPr/>
          </p:nvSpPr>
          <p:spPr>
            <a:xfrm>
              <a:off x="7757231" y="279056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5" name="Forme libre : forme 14">
              <a:extLst>
                <a:ext uri="{FF2B5EF4-FFF2-40B4-BE49-F238E27FC236}">
                  <a16:creationId xmlns:a16="http://schemas.microsoft.com/office/drawing/2014/main" id="{4C44206A-7F00-F0F0-3C05-75012B7101B3}"/>
                </a:ext>
              </a:extLst>
            </p:cNvPr>
            <p:cNvSpPr/>
            <p:nvPr/>
          </p:nvSpPr>
          <p:spPr>
            <a:xfrm>
              <a:off x="7576256" y="2847715"/>
              <a:ext cx="38100" cy="123825"/>
            </a:xfrm>
            <a:custGeom>
              <a:avLst/>
              <a:gdLst>
                <a:gd name="connsiteX0" fmla="*/ 0 w 38100"/>
                <a:gd name="connsiteY0" fmla="*/ 0 h 123825"/>
                <a:gd name="connsiteX1" fmla="*/ 38100 w 38100"/>
                <a:gd name="connsiteY1" fmla="*/ 0 h 123825"/>
                <a:gd name="connsiteX2" fmla="*/ 38100 w 38100"/>
                <a:gd name="connsiteY2" fmla="*/ 123825 h 123825"/>
                <a:gd name="connsiteX3" fmla="*/ 0 w 38100"/>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38100" h="123825">
                  <a:moveTo>
                    <a:pt x="0" y="0"/>
                  </a:moveTo>
                  <a:lnTo>
                    <a:pt x="38100" y="0"/>
                  </a:lnTo>
                  <a:lnTo>
                    <a:pt x="38100" y="123825"/>
                  </a:lnTo>
                  <a:lnTo>
                    <a:pt x="0" y="123825"/>
                  </a:lnTo>
                  <a:close/>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6" name="Forme libre : forme 15">
              <a:extLst>
                <a:ext uri="{FF2B5EF4-FFF2-40B4-BE49-F238E27FC236}">
                  <a16:creationId xmlns:a16="http://schemas.microsoft.com/office/drawing/2014/main" id="{DCD8CF24-C371-23F3-355C-1AFFF562BFC4}"/>
                </a:ext>
              </a:extLst>
            </p:cNvPr>
            <p:cNvSpPr/>
            <p:nvPr/>
          </p:nvSpPr>
          <p:spPr>
            <a:xfrm>
              <a:off x="7642931" y="273341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grpSp>
        <p:nvGrpSpPr>
          <p:cNvPr id="17" name="Graphique 175">
            <a:extLst>
              <a:ext uri="{FF2B5EF4-FFF2-40B4-BE49-F238E27FC236}">
                <a16:creationId xmlns:a16="http://schemas.microsoft.com/office/drawing/2014/main" id="{7106DABE-B89C-D7EF-0E5C-5761B86129E1}"/>
              </a:ext>
            </a:extLst>
          </p:cNvPr>
          <p:cNvGrpSpPr>
            <a:grpSpLocks noChangeAspect="1"/>
          </p:cNvGrpSpPr>
          <p:nvPr/>
        </p:nvGrpSpPr>
        <p:grpSpPr>
          <a:xfrm>
            <a:off x="1690606" y="3802446"/>
            <a:ext cx="331442" cy="331442"/>
            <a:chOff x="3236085" y="1791767"/>
            <a:chExt cx="304800" cy="304800"/>
          </a:xfrm>
        </p:grpSpPr>
        <p:sp>
          <p:nvSpPr>
            <p:cNvPr id="18" name="Forme libre : forme 17">
              <a:extLst>
                <a:ext uri="{FF2B5EF4-FFF2-40B4-BE49-F238E27FC236}">
                  <a16:creationId xmlns:a16="http://schemas.microsoft.com/office/drawing/2014/main" id="{D7A8DC83-4D95-E92E-230B-B2E7A0D5451D}"/>
                </a:ext>
              </a:extLst>
            </p:cNvPr>
            <p:cNvSpPr/>
            <p:nvPr/>
          </p:nvSpPr>
          <p:spPr>
            <a:xfrm>
              <a:off x="3255135"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9" name="Forme libre : forme 18">
              <a:extLst>
                <a:ext uri="{FF2B5EF4-FFF2-40B4-BE49-F238E27FC236}">
                  <a16:creationId xmlns:a16="http://schemas.microsoft.com/office/drawing/2014/main" id="{63118B56-110D-4C93-8E47-090DD60A94F8}"/>
                </a:ext>
              </a:extLst>
            </p:cNvPr>
            <p:cNvSpPr/>
            <p:nvPr/>
          </p:nvSpPr>
          <p:spPr>
            <a:xfrm>
              <a:off x="3245610" y="1925117"/>
              <a:ext cx="123825" cy="142875"/>
            </a:xfrm>
            <a:custGeom>
              <a:avLst/>
              <a:gdLst>
                <a:gd name="connsiteX0" fmla="*/ 123825 w 123825"/>
                <a:gd name="connsiteY0" fmla="*/ 66675 h 142875"/>
                <a:gd name="connsiteX1" fmla="*/ 38100 w 123825"/>
                <a:gd name="connsiteY1" fmla="*/ 0 h 142875"/>
                <a:gd name="connsiteX2" fmla="*/ 0 w 123825"/>
                <a:gd name="connsiteY2" fmla="*/ 38100 h 142875"/>
                <a:gd name="connsiteX3" fmla="*/ 0 w 123825"/>
                <a:gd name="connsiteY3" fmla="*/ 142875 h 142875"/>
                <a:gd name="connsiteX4" fmla="*/ 76200 w 123825"/>
                <a:gd name="connsiteY4" fmla="*/ 142875 h 142875"/>
                <a:gd name="connsiteX5" fmla="*/ 76200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123825" y="66675"/>
                  </a:moveTo>
                  <a:cubicBezTo>
                    <a:pt x="73419" y="44653"/>
                    <a:pt x="76200" y="0"/>
                    <a:pt x="38100" y="0"/>
                  </a:cubicBezTo>
                  <a:cubicBezTo>
                    <a:pt x="17353" y="695"/>
                    <a:pt x="695" y="17353"/>
                    <a:pt x="0" y="38100"/>
                  </a:cubicBezTo>
                  <a:lnTo>
                    <a:pt x="0" y="142875"/>
                  </a:lnTo>
                  <a:lnTo>
                    <a:pt x="76200" y="142875"/>
                  </a:lnTo>
                  <a:lnTo>
                    <a:pt x="76200" y="76200"/>
                  </a:lnTo>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20" name="Forme libre : forme 19">
              <a:extLst>
                <a:ext uri="{FF2B5EF4-FFF2-40B4-BE49-F238E27FC236}">
                  <a16:creationId xmlns:a16="http://schemas.microsoft.com/office/drawing/2014/main" id="{3ADC9B3E-B149-C358-B40D-76AA12FBC5F4}"/>
                </a:ext>
              </a:extLst>
            </p:cNvPr>
            <p:cNvSpPr/>
            <p:nvPr/>
          </p:nvSpPr>
          <p:spPr>
            <a:xfrm>
              <a:off x="3407535" y="1925117"/>
              <a:ext cx="123825" cy="142875"/>
            </a:xfrm>
            <a:custGeom>
              <a:avLst/>
              <a:gdLst>
                <a:gd name="connsiteX0" fmla="*/ 0 w 123825"/>
                <a:gd name="connsiteY0" fmla="*/ 66675 h 142875"/>
                <a:gd name="connsiteX1" fmla="*/ 85725 w 123825"/>
                <a:gd name="connsiteY1" fmla="*/ 0 h 142875"/>
                <a:gd name="connsiteX2" fmla="*/ 123825 w 123825"/>
                <a:gd name="connsiteY2" fmla="*/ 38100 h 142875"/>
                <a:gd name="connsiteX3" fmla="*/ 123825 w 123825"/>
                <a:gd name="connsiteY3" fmla="*/ 142875 h 142875"/>
                <a:gd name="connsiteX4" fmla="*/ 47625 w 123825"/>
                <a:gd name="connsiteY4" fmla="*/ 142875 h 142875"/>
                <a:gd name="connsiteX5" fmla="*/ 47625 w 123825"/>
                <a:gd name="connsiteY5" fmla="*/ 7620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25" h="142875">
                  <a:moveTo>
                    <a:pt x="0" y="66675"/>
                  </a:moveTo>
                  <a:cubicBezTo>
                    <a:pt x="50406" y="44653"/>
                    <a:pt x="47625" y="0"/>
                    <a:pt x="85725" y="0"/>
                  </a:cubicBezTo>
                  <a:cubicBezTo>
                    <a:pt x="106472" y="695"/>
                    <a:pt x="123130" y="17353"/>
                    <a:pt x="123825" y="38100"/>
                  </a:cubicBezTo>
                  <a:lnTo>
                    <a:pt x="123825" y="142875"/>
                  </a:lnTo>
                  <a:lnTo>
                    <a:pt x="47625" y="142875"/>
                  </a:lnTo>
                  <a:lnTo>
                    <a:pt x="47625" y="76200"/>
                  </a:lnTo>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21" name="Forme libre : forme 20">
              <a:extLst>
                <a:ext uri="{FF2B5EF4-FFF2-40B4-BE49-F238E27FC236}">
                  <a16:creationId xmlns:a16="http://schemas.microsoft.com/office/drawing/2014/main" id="{B3196312-DED6-1292-789A-7B3740408FFF}"/>
                </a:ext>
              </a:extLst>
            </p:cNvPr>
            <p:cNvSpPr/>
            <p:nvPr/>
          </p:nvSpPr>
          <p:spPr>
            <a:xfrm>
              <a:off x="3455160" y="1820342"/>
              <a:ext cx="66675" cy="66675"/>
            </a:xfrm>
            <a:custGeom>
              <a:avLst/>
              <a:gdLst>
                <a:gd name="connsiteX0" fmla="*/ 66675 w 66675"/>
                <a:gd name="connsiteY0" fmla="*/ 33338 h 66675"/>
                <a:gd name="connsiteX1" fmla="*/ 33338 w 66675"/>
                <a:gd name="connsiteY1" fmla="*/ 66675 h 66675"/>
                <a:gd name="connsiteX2" fmla="*/ 0 w 66675"/>
                <a:gd name="connsiteY2" fmla="*/ 33338 h 66675"/>
                <a:gd name="connsiteX3" fmla="*/ 33338 w 66675"/>
                <a:gd name="connsiteY3" fmla="*/ 0 h 66675"/>
                <a:gd name="connsiteX4" fmla="*/ 66675 w 66675"/>
                <a:gd name="connsiteY4" fmla="*/ 33338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675" y="33338"/>
                  </a:moveTo>
                  <a:cubicBezTo>
                    <a:pt x="66675" y="51749"/>
                    <a:pt x="51749" y="66675"/>
                    <a:pt x="33338" y="66675"/>
                  </a:cubicBezTo>
                  <a:cubicBezTo>
                    <a:pt x="14926" y="66675"/>
                    <a:pt x="0" y="51749"/>
                    <a:pt x="0" y="33338"/>
                  </a:cubicBezTo>
                  <a:cubicBezTo>
                    <a:pt x="0" y="14926"/>
                    <a:pt x="14926" y="0"/>
                    <a:pt x="33338" y="0"/>
                  </a:cubicBezTo>
                  <a:cubicBezTo>
                    <a:pt x="51749" y="0"/>
                    <a:pt x="66675" y="14926"/>
                    <a:pt x="66675" y="33338"/>
                  </a:cubicBezTo>
                  <a:close/>
                </a:path>
              </a:pathLst>
            </a:custGeom>
            <a:no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grpSp>
        <p:nvGrpSpPr>
          <p:cNvPr id="22" name="Graphique 215">
            <a:extLst>
              <a:ext uri="{FF2B5EF4-FFF2-40B4-BE49-F238E27FC236}">
                <a16:creationId xmlns:a16="http://schemas.microsoft.com/office/drawing/2014/main" id="{C334620C-D589-DA0F-030D-7267437553B3}"/>
              </a:ext>
            </a:extLst>
          </p:cNvPr>
          <p:cNvGrpSpPr>
            <a:grpSpLocks noChangeAspect="1"/>
          </p:cNvGrpSpPr>
          <p:nvPr/>
        </p:nvGrpSpPr>
        <p:grpSpPr>
          <a:xfrm>
            <a:off x="316421" y="6132000"/>
            <a:ext cx="288000" cy="288000"/>
            <a:chOff x="6484645" y="5482159"/>
            <a:chExt cx="304800" cy="304800"/>
          </a:xfrm>
        </p:grpSpPr>
        <p:sp>
          <p:nvSpPr>
            <p:cNvPr id="23" name="Forme libre : forme 22">
              <a:extLst>
                <a:ext uri="{FF2B5EF4-FFF2-40B4-BE49-F238E27FC236}">
                  <a16:creationId xmlns:a16="http://schemas.microsoft.com/office/drawing/2014/main" id="{4AD4CFCD-2387-BED5-D0CB-A082D6F6C79C}"/>
                </a:ext>
              </a:extLst>
            </p:cNvPr>
            <p:cNvSpPr/>
            <p:nvPr/>
          </p:nvSpPr>
          <p:spPr>
            <a:xfrm>
              <a:off x="6551320" y="5491684"/>
              <a:ext cx="9525" cy="285750"/>
            </a:xfrm>
            <a:custGeom>
              <a:avLst/>
              <a:gdLst>
                <a:gd name="connsiteX0" fmla="*/ 0 w 0"/>
                <a:gd name="connsiteY0" fmla="*/ 0 h 285750"/>
                <a:gd name="connsiteX1" fmla="*/ 0 w 0"/>
                <a:gd name="connsiteY1" fmla="*/ 285750 h 285750"/>
              </a:gdLst>
              <a:ahLst/>
              <a:cxnLst>
                <a:cxn ang="0">
                  <a:pos x="connsiteX0" y="connsiteY0"/>
                </a:cxn>
                <a:cxn ang="0">
                  <a:pos x="connsiteX1" y="connsiteY1"/>
                </a:cxn>
              </a:cxnLst>
              <a:rect l="l" t="t" r="r" b="b"/>
              <a:pathLst>
                <a:path h="285750">
                  <a:moveTo>
                    <a:pt x="0" y="0"/>
                  </a:moveTo>
                  <a:lnTo>
                    <a:pt x="0" y="285750"/>
                  </a:lnTo>
                </a:path>
              </a:pathLst>
            </a:custGeom>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24" name="Forme libre : forme 23">
              <a:extLst>
                <a:ext uri="{FF2B5EF4-FFF2-40B4-BE49-F238E27FC236}">
                  <a16:creationId xmlns:a16="http://schemas.microsoft.com/office/drawing/2014/main" id="{DCCCC8E9-48E3-CA90-7A41-ED7C87827661}"/>
                </a:ext>
              </a:extLst>
            </p:cNvPr>
            <p:cNvSpPr/>
            <p:nvPr/>
          </p:nvSpPr>
          <p:spPr>
            <a:xfrm>
              <a:off x="6503695" y="5491684"/>
              <a:ext cx="238125" cy="285750"/>
            </a:xfrm>
            <a:custGeom>
              <a:avLst/>
              <a:gdLst>
                <a:gd name="connsiteX0" fmla="*/ 0 w 238125"/>
                <a:gd name="connsiteY0" fmla="*/ 0 h 285750"/>
                <a:gd name="connsiteX1" fmla="*/ 218208 w 238125"/>
                <a:gd name="connsiteY1" fmla="*/ 0 h 285750"/>
                <a:gd name="connsiteX2" fmla="*/ 238125 w 238125"/>
                <a:gd name="connsiteY2" fmla="*/ 19050 h 285750"/>
                <a:gd name="connsiteX3" fmla="*/ 238125 w 238125"/>
                <a:gd name="connsiteY3" fmla="*/ 266700 h 285750"/>
                <a:gd name="connsiteX4" fmla="*/ 218208 w 238125"/>
                <a:gd name="connsiteY4" fmla="*/ 285750 h 285750"/>
                <a:gd name="connsiteX5" fmla="*/ 0 w 238125"/>
                <a:gd name="connsiteY5" fmla="*/ 285750 h 285750"/>
                <a:gd name="connsiteX6" fmla="*/ 0 w 238125"/>
                <a:gd name="connsiteY6" fmla="*/ 0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125" h="285750">
                  <a:moveTo>
                    <a:pt x="0" y="0"/>
                  </a:moveTo>
                  <a:lnTo>
                    <a:pt x="218208" y="0"/>
                  </a:lnTo>
                  <a:cubicBezTo>
                    <a:pt x="229210" y="0"/>
                    <a:pt x="238125" y="8525"/>
                    <a:pt x="238125" y="19050"/>
                  </a:cubicBezTo>
                  <a:lnTo>
                    <a:pt x="238125" y="266700"/>
                  </a:lnTo>
                  <a:cubicBezTo>
                    <a:pt x="238125" y="277225"/>
                    <a:pt x="229210" y="285750"/>
                    <a:pt x="218208" y="285750"/>
                  </a:cubicBezTo>
                  <a:lnTo>
                    <a:pt x="0" y="285750"/>
                  </a:lnTo>
                  <a:lnTo>
                    <a:pt x="0" y="0"/>
                  </a:lnTo>
                  <a:close/>
                </a:path>
              </a:pathLst>
            </a:custGeom>
            <a:noFill/>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25" name="Forme libre : forme 24">
              <a:extLst>
                <a:ext uri="{FF2B5EF4-FFF2-40B4-BE49-F238E27FC236}">
                  <a16:creationId xmlns:a16="http://schemas.microsoft.com/office/drawing/2014/main" id="{4BA21711-53CF-0F2F-F991-DB26D2769F2D}"/>
                </a:ext>
              </a:extLst>
            </p:cNvPr>
            <p:cNvSpPr/>
            <p:nvPr/>
          </p:nvSpPr>
          <p:spPr>
            <a:xfrm>
              <a:off x="6779920" y="5529784"/>
              <a:ext cx="9525" cy="38100"/>
            </a:xfrm>
            <a:custGeom>
              <a:avLst/>
              <a:gdLst>
                <a:gd name="connsiteX0" fmla="*/ 0 w 0"/>
                <a:gd name="connsiteY0" fmla="*/ 0 h 38100"/>
                <a:gd name="connsiteX1" fmla="*/ 0 w 0"/>
                <a:gd name="connsiteY1" fmla="*/ 38100 h 38100"/>
              </a:gdLst>
              <a:ahLst/>
              <a:cxnLst>
                <a:cxn ang="0">
                  <a:pos x="connsiteX0" y="connsiteY0"/>
                </a:cxn>
                <a:cxn ang="0">
                  <a:pos x="connsiteX1" y="connsiteY1"/>
                </a:cxn>
              </a:cxnLst>
              <a:rect l="l" t="t" r="r" b="b"/>
              <a:pathLst>
                <a:path h="38100">
                  <a:moveTo>
                    <a:pt x="0" y="0"/>
                  </a:moveTo>
                  <a:lnTo>
                    <a:pt x="0" y="38100"/>
                  </a:lnTo>
                </a:path>
              </a:pathLst>
            </a:custGeom>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26" name="Forme libre : forme 25">
              <a:extLst>
                <a:ext uri="{FF2B5EF4-FFF2-40B4-BE49-F238E27FC236}">
                  <a16:creationId xmlns:a16="http://schemas.microsoft.com/office/drawing/2014/main" id="{FC03D361-6D6A-84DA-E380-66489A6DA48F}"/>
                </a:ext>
              </a:extLst>
            </p:cNvPr>
            <p:cNvSpPr/>
            <p:nvPr/>
          </p:nvSpPr>
          <p:spPr>
            <a:xfrm>
              <a:off x="6779920" y="5605984"/>
              <a:ext cx="9525" cy="38100"/>
            </a:xfrm>
            <a:custGeom>
              <a:avLst/>
              <a:gdLst>
                <a:gd name="connsiteX0" fmla="*/ 0 w 0"/>
                <a:gd name="connsiteY0" fmla="*/ 0 h 38100"/>
                <a:gd name="connsiteX1" fmla="*/ 0 w 0"/>
                <a:gd name="connsiteY1" fmla="*/ 38100 h 38100"/>
              </a:gdLst>
              <a:ahLst/>
              <a:cxnLst>
                <a:cxn ang="0">
                  <a:pos x="connsiteX0" y="connsiteY0"/>
                </a:cxn>
                <a:cxn ang="0">
                  <a:pos x="connsiteX1" y="connsiteY1"/>
                </a:cxn>
              </a:cxnLst>
              <a:rect l="l" t="t" r="r" b="b"/>
              <a:pathLst>
                <a:path h="38100">
                  <a:moveTo>
                    <a:pt x="0" y="0"/>
                  </a:moveTo>
                  <a:lnTo>
                    <a:pt x="0" y="38100"/>
                  </a:lnTo>
                </a:path>
              </a:pathLst>
            </a:custGeom>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27" name="Forme libre : forme 26">
              <a:extLst>
                <a:ext uri="{FF2B5EF4-FFF2-40B4-BE49-F238E27FC236}">
                  <a16:creationId xmlns:a16="http://schemas.microsoft.com/office/drawing/2014/main" id="{F10AEB7A-EDA0-0FBB-F356-A28E99A0C86A}"/>
                </a:ext>
              </a:extLst>
            </p:cNvPr>
            <p:cNvSpPr/>
            <p:nvPr/>
          </p:nvSpPr>
          <p:spPr>
            <a:xfrm>
              <a:off x="6627520" y="5577409"/>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noFill/>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28" name="Forme libre : forme 27">
              <a:extLst>
                <a:ext uri="{FF2B5EF4-FFF2-40B4-BE49-F238E27FC236}">
                  <a16:creationId xmlns:a16="http://schemas.microsoft.com/office/drawing/2014/main" id="{4191987F-23AE-7AB6-2C7B-4E9BCD279242}"/>
                </a:ext>
              </a:extLst>
            </p:cNvPr>
            <p:cNvSpPr/>
            <p:nvPr/>
          </p:nvSpPr>
          <p:spPr>
            <a:xfrm>
              <a:off x="6598945" y="5644084"/>
              <a:ext cx="95250" cy="38100"/>
            </a:xfrm>
            <a:custGeom>
              <a:avLst/>
              <a:gdLst>
                <a:gd name="connsiteX0" fmla="*/ 95250 w 95250"/>
                <a:gd name="connsiteY0" fmla="*/ 38100 h 38100"/>
                <a:gd name="connsiteX1" fmla="*/ 0 w 95250"/>
                <a:gd name="connsiteY1" fmla="*/ 38100 h 38100"/>
                <a:gd name="connsiteX2" fmla="*/ 0 w 95250"/>
                <a:gd name="connsiteY2" fmla="*/ 38100 h 38100"/>
                <a:gd name="connsiteX3" fmla="*/ 38100 w 95250"/>
                <a:gd name="connsiteY3" fmla="*/ 0 h 38100"/>
                <a:gd name="connsiteX4" fmla="*/ 57150 w 95250"/>
                <a:gd name="connsiteY4" fmla="*/ 0 h 38100"/>
                <a:gd name="connsiteX5" fmla="*/ 95250 w 95250"/>
                <a:gd name="connsiteY5" fmla="*/ 38100 h 38100"/>
                <a:gd name="connsiteX6" fmla="*/ 95250 w 95250"/>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8100">
                  <a:moveTo>
                    <a:pt x="95250" y="38100"/>
                  </a:moveTo>
                  <a:lnTo>
                    <a:pt x="0" y="38100"/>
                  </a:lnTo>
                  <a:lnTo>
                    <a:pt x="0" y="38100"/>
                  </a:lnTo>
                  <a:cubicBezTo>
                    <a:pt x="0" y="17059"/>
                    <a:pt x="17059" y="0"/>
                    <a:pt x="38100" y="0"/>
                  </a:cubicBezTo>
                  <a:lnTo>
                    <a:pt x="57150" y="0"/>
                  </a:lnTo>
                  <a:cubicBezTo>
                    <a:pt x="78191" y="0"/>
                    <a:pt x="95250" y="17059"/>
                    <a:pt x="95250" y="38100"/>
                  </a:cubicBezTo>
                  <a:lnTo>
                    <a:pt x="95250" y="38100"/>
                  </a:lnTo>
                  <a:close/>
                </a:path>
              </a:pathLst>
            </a:custGeom>
            <a:noFill/>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grpSp>
        <p:nvGrpSpPr>
          <p:cNvPr id="29" name="Graphique 683">
            <a:extLst>
              <a:ext uri="{FF2B5EF4-FFF2-40B4-BE49-F238E27FC236}">
                <a16:creationId xmlns:a16="http://schemas.microsoft.com/office/drawing/2014/main" id="{F61C79BF-4088-5D07-BAD6-E000FE8BA72B}"/>
              </a:ext>
            </a:extLst>
          </p:cNvPr>
          <p:cNvGrpSpPr>
            <a:grpSpLocks noChangeAspect="1"/>
          </p:cNvGrpSpPr>
          <p:nvPr/>
        </p:nvGrpSpPr>
        <p:grpSpPr>
          <a:xfrm>
            <a:off x="2408847" y="6169146"/>
            <a:ext cx="288000" cy="288000"/>
            <a:chOff x="4326500" y="3636430"/>
            <a:chExt cx="304800" cy="304800"/>
          </a:xfrm>
        </p:grpSpPr>
        <p:sp>
          <p:nvSpPr>
            <p:cNvPr id="30" name="Forme libre : forme 29">
              <a:extLst>
                <a:ext uri="{FF2B5EF4-FFF2-40B4-BE49-F238E27FC236}">
                  <a16:creationId xmlns:a16="http://schemas.microsoft.com/office/drawing/2014/main" id="{9907E471-FF8B-D949-D3CA-E8994F98F216}"/>
                </a:ext>
              </a:extLst>
            </p:cNvPr>
            <p:cNvSpPr/>
            <p:nvPr/>
          </p:nvSpPr>
          <p:spPr>
            <a:xfrm>
              <a:off x="4440800" y="375073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1" name="Forme libre : forme 30">
              <a:extLst>
                <a:ext uri="{FF2B5EF4-FFF2-40B4-BE49-F238E27FC236}">
                  <a16:creationId xmlns:a16="http://schemas.microsoft.com/office/drawing/2014/main" id="{6C64F95C-755E-D902-0046-E27902B408C9}"/>
                </a:ext>
              </a:extLst>
            </p:cNvPr>
            <p:cNvSpPr/>
            <p:nvPr/>
          </p:nvSpPr>
          <p:spPr>
            <a:xfrm>
              <a:off x="4336025" y="3645955"/>
              <a:ext cx="285750" cy="285750"/>
            </a:xfrm>
            <a:custGeom>
              <a:avLst/>
              <a:gdLst>
                <a:gd name="connsiteX0" fmla="*/ 285750 w 285750"/>
                <a:gd name="connsiteY0" fmla="*/ 161925 h 285750"/>
                <a:gd name="connsiteX1" fmla="*/ 285750 w 285750"/>
                <a:gd name="connsiteY1" fmla="*/ 123825 h 285750"/>
                <a:gd name="connsiteX2" fmla="*/ 244735 w 285750"/>
                <a:gd name="connsiteY2" fmla="*/ 118701 h 285750"/>
                <a:gd name="connsiteX3" fmla="*/ 231981 w 285750"/>
                <a:gd name="connsiteY3" fmla="*/ 87963 h 285750"/>
                <a:gd name="connsiteX4" fmla="*/ 257375 w 285750"/>
                <a:gd name="connsiteY4" fmla="*/ 55321 h 285750"/>
                <a:gd name="connsiteX5" fmla="*/ 230429 w 285750"/>
                <a:gd name="connsiteY5" fmla="*/ 28375 h 285750"/>
                <a:gd name="connsiteX6" fmla="*/ 197787 w 285750"/>
                <a:gd name="connsiteY6" fmla="*/ 53769 h 285750"/>
                <a:gd name="connsiteX7" fmla="*/ 167049 w 285750"/>
                <a:gd name="connsiteY7" fmla="*/ 41015 h 285750"/>
                <a:gd name="connsiteX8" fmla="*/ 161925 w 285750"/>
                <a:gd name="connsiteY8" fmla="*/ 0 h 285750"/>
                <a:gd name="connsiteX9" fmla="*/ 123825 w 285750"/>
                <a:gd name="connsiteY9" fmla="*/ 0 h 285750"/>
                <a:gd name="connsiteX10" fmla="*/ 118701 w 285750"/>
                <a:gd name="connsiteY10" fmla="*/ 41015 h 285750"/>
                <a:gd name="connsiteX11" fmla="*/ 87963 w 285750"/>
                <a:gd name="connsiteY11" fmla="*/ 53769 h 285750"/>
                <a:gd name="connsiteX12" fmla="*/ 55321 w 285750"/>
                <a:gd name="connsiteY12" fmla="*/ 28375 h 285750"/>
                <a:gd name="connsiteX13" fmla="*/ 28375 w 285750"/>
                <a:gd name="connsiteY13" fmla="*/ 55321 h 285750"/>
                <a:gd name="connsiteX14" fmla="*/ 53769 w 285750"/>
                <a:gd name="connsiteY14" fmla="*/ 87963 h 285750"/>
                <a:gd name="connsiteX15" fmla="*/ 41015 w 285750"/>
                <a:gd name="connsiteY15" fmla="*/ 118701 h 285750"/>
                <a:gd name="connsiteX16" fmla="*/ 0 w 285750"/>
                <a:gd name="connsiteY16" fmla="*/ 123825 h 285750"/>
                <a:gd name="connsiteX17" fmla="*/ 0 w 285750"/>
                <a:gd name="connsiteY17" fmla="*/ 161925 h 285750"/>
                <a:gd name="connsiteX18" fmla="*/ 41015 w 285750"/>
                <a:gd name="connsiteY18" fmla="*/ 167049 h 285750"/>
                <a:gd name="connsiteX19" fmla="*/ 53769 w 285750"/>
                <a:gd name="connsiteY19" fmla="*/ 197787 h 285750"/>
                <a:gd name="connsiteX20" fmla="*/ 28375 w 285750"/>
                <a:gd name="connsiteY20" fmla="*/ 230429 h 285750"/>
                <a:gd name="connsiteX21" fmla="*/ 55321 w 285750"/>
                <a:gd name="connsiteY21" fmla="*/ 257375 h 285750"/>
                <a:gd name="connsiteX22" fmla="*/ 87963 w 285750"/>
                <a:gd name="connsiteY22" fmla="*/ 231981 h 285750"/>
                <a:gd name="connsiteX23" fmla="*/ 118701 w 285750"/>
                <a:gd name="connsiteY23" fmla="*/ 244735 h 285750"/>
                <a:gd name="connsiteX24" fmla="*/ 123825 w 285750"/>
                <a:gd name="connsiteY24" fmla="*/ 285750 h 285750"/>
                <a:gd name="connsiteX25" fmla="*/ 161925 w 285750"/>
                <a:gd name="connsiteY25" fmla="*/ 285750 h 285750"/>
                <a:gd name="connsiteX26" fmla="*/ 167049 w 285750"/>
                <a:gd name="connsiteY26" fmla="*/ 244735 h 285750"/>
                <a:gd name="connsiteX27" fmla="*/ 197787 w 285750"/>
                <a:gd name="connsiteY27" fmla="*/ 231981 h 285750"/>
                <a:gd name="connsiteX28" fmla="*/ 230429 w 285750"/>
                <a:gd name="connsiteY28" fmla="*/ 257375 h 285750"/>
                <a:gd name="connsiteX29" fmla="*/ 257375 w 285750"/>
                <a:gd name="connsiteY29" fmla="*/ 230429 h 285750"/>
                <a:gd name="connsiteX30" fmla="*/ 231981 w 285750"/>
                <a:gd name="connsiteY30" fmla="*/ 197787 h 285750"/>
                <a:gd name="connsiteX31" fmla="*/ 244735 w 285750"/>
                <a:gd name="connsiteY31" fmla="*/ 167049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50" h="285750">
                  <a:moveTo>
                    <a:pt x="285750" y="161925"/>
                  </a:moveTo>
                  <a:lnTo>
                    <a:pt x="285750" y="123825"/>
                  </a:lnTo>
                  <a:lnTo>
                    <a:pt x="244735" y="118701"/>
                  </a:lnTo>
                  <a:cubicBezTo>
                    <a:pt x="242162" y="107836"/>
                    <a:pt x="237856" y="97458"/>
                    <a:pt x="231981" y="87963"/>
                  </a:cubicBezTo>
                  <a:lnTo>
                    <a:pt x="257375" y="55321"/>
                  </a:lnTo>
                  <a:lnTo>
                    <a:pt x="230429" y="28375"/>
                  </a:lnTo>
                  <a:lnTo>
                    <a:pt x="197787" y="53769"/>
                  </a:lnTo>
                  <a:cubicBezTo>
                    <a:pt x="188292" y="47894"/>
                    <a:pt x="177914" y="43588"/>
                    <a:pt x="167049" y="41015"/>
                  </a:cubicBezTo>
                  <a:lnTo>
                    <a:pt x="161925" y="0"/>
                  </a:lnTo>
                  <a:lnTo>
                    <a:pt x="123825" y="0"/>
                  </a:lnTo>
                  <a:lnTo>
                    <a:pt x="118701" y="41015"/>
                  </a:lnTo>
                  <a:cubicBezTo>
                    <a:pt x="107836" y="43588"/>
                    <a:pt x="97458" y="47894"/>
                    <a:pt x="87963" y="53769"/>
                  </a:cubicBezTo>
                  <a:lnTo>
                    <a:pt x="55321" y="28375"/>
                  </a:lnTo>
                  <a:lnTo>
                    <a:pt x="28375" y="55321"/>
                  </a:lnTo>
                  <a:lnTo>
                    <a:pt x="53769" y="87963"/>
                  </a:lnTo>
                  <a:cubicBezTo>
                    <a:pt x="47894" y="97458"/>
                    <a:pt x="43588" y="107836"/>
                    <a:pt x="41015" y="118701"/>
                  </a:cubicBezTo>
                  <a:lnTo>
                    <a:pt x="0" y="123825"/>
                  </a:lnTo>
                  <a:lnTo>
                    <a:pt x="0" y="161925"/>
                  </a:lnTo>
                  <a:lnTo>
                    <a:pt x="41015" y="167049"/>
                  </a:lnTo>
                  <a:cubicBezTo>
                    <a:pt x="43588" y="177914"/>
                    <a:pt x="47894" y="188292"/>
                    <a:pt x="53769" y="197787"/>
                  </a:cubicBezTo>
                  <a:lnTo>
                    <a:pt x="28375" y="230429"/>
                  </a:lnTo>
                  <a:lnTo>
                    <a:pt x="55321" y="257375"/>
                  </a:lnTo>
                  <a:lnTo>
                    <a:pt x="87963" y="231981"/>
                  </a:lnTo>
                  <a:cubicBezTo>
                    <a:pt x="97458" y="237856"/>
                    <a:pt x="107836" y="242162"/>
                    <a:pt x="118701" y="244735"/>
                  </a:cubicBezTo>
                  <a:lnTo>
                    <a:pt x="123825" y="285750"/>
                  </a:lnTo>
                  <a:lnTo>
                    <a:pt x="161925" y="285750"/>
                  </a:lnTo>
                  <a:lnTo>
                    <a:pt x="167049" y="244735"/>
                  </a:lnTo>
                  <a:cubicBezTo>
                    <a:pt x="177914" y="242162"/>
                    <a:pt x="188292" y="237856"/>
                    <a:pt x="197787" y="231981"/>
                  </a:cubicBezTo>
                  <a:lnTo>
                    <a:pt x="230429" y="257375"/>
                  </a:lnTo>
                  <a:lnTo>
                    <a:pt x="257375" y="230429"/>
                  </a:lnTo>
                  <a:lnTo>
                    <a:pt x="231981" y="197787"/>
                  </a:lnTo>
                  <a:cubicBezTo>
                    <a:pt x="237856" y="188292"/>
                    <a:pt x="242162" y="177914"/>
                    <a:pt x="244735" y="167049"/>
                  </a:cubicBezTo>
                  <a:close/>
                </a:path>
              </a:pathLst>
            </a:custGeom>
            <a:noFill/>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grpSp>
        <p:nvGrpSpPr>
          <p:cNvPr id="32" name="Graphique 745">
            <a:extLst>
              <a:ext uri="{FF2B5EF4-FFF2-40B4-BE49-F238E27FC236}">
                <a16:creationId xmlns:a16="http://schemas.microsoft.com/office/drawing/2014/main" id="{3B5FD006-D7C9-DE1C-22E0-40BD5D520767}"/>
              </a:ext>
            </a:extLst>
          </p:cNvPr>
          <p:cNvGrpSpPr>
            <a:grpSpLocks noChangeAspect="1"/>
          </p:cNvGrpSpPr>
          <p:nvPr/>
        </p:nvGrpSpPr>
        <p:grpSpPr>
          <a:xfrm>
            <a:off x="328585" y="3901694"/>
            <a:ext cx="277627" cy="282667"/>
            <a:chOff x="8660808" y="5477538"/>
            <a:chExt cx="304800" cy="304800"/>
          </a:xfrm>
        </p:grpSpPr>
        <p:sp>
          <p:nvSpPr>
            <p:cNvPr id="33" name="Forme libre : forme 32">
              <a:extLst>
                <a:ext uri="{FF2B5EF4-FFF2-40B4-BE49-F238E27FC236}">
                  <a16:creationId xmlns:a16="http://schemas.microsoft.com/office/drawing/2014/main" id="{C9723C6C-2D9B-3193-EEE7-688F339F34B2}"/>
                </a:ext>
              </a:extLst>
            </p:cNvPr>
            <p:cNvSpPr/>
            <p:nvPr/>
          </p:nvSpPr>
          <p:spPr>
            <a:xfrm>
              <a:off x="8670333" y="5591838"/>
              <a:ext cx="85725" cy="142875"/>
            </a:xfrm>
            <a:custGeom>
              <a:avLst/>
              <a:gdLst>
                <a:gd name="connsiteX0" fmla="*/ 92516 w 85725"/>
                <a:gd name="connsiteY0" fmla="*/ 16373 h 142875"/>
                <a:gd name="connsiteX1" fmla="*/ 66675 w 85725"/>
                <a:gd name="connsiteY1" fmla="*/ 0 h 142875"/>
                <a:gd name="connsiteX2" fmla="*/ 28575 w 85725"/>
                <a:gd name="connsiteY2" fmla="*/ 0 h 142875"/>
                <a:gd name="connsiteX3" fmla="*/ 0 w 85725"/>
                <a:gd name="connsiteY3" fmla="*/ 28575 h 142875"/>
                <a:gd name="connsiteX4" fmla="*/ 0 w 85725"/>
                <a:gd name="connsiteY4" fmla="*/ 76200 h 142875"/>
                <a:gd name="connsiteX5" fmla="*/ 19050 w 85725"/>
                <a:gd name="connsiteY5" fmla="*/ 76200 h 142875"/>
                <a:gd name="connsiteX6" fmla="*/ 19050 w 85725"/>
                <a:gd name="connsiteY6" fmla="*/ 142875 h 142875"/>
                <a:gd name="connsiteX7" fmla="*/ 76200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92516" y="16373"/>
                  </a:moveTo>
                  <a:cubicBezTo>
                    <a:pt x="87935" y="6715"/>
                    <a:pt x="78076" y="0"/>
                    <a:pt x="66675" y="0"/>
                  </a:cubicBezTo>
                  <a:lnTo>
                    <a:pt x="28575" y="0"/>
                  </a:lnTo>
                  <a:cubicBezTo>
                    <a:pt x="12792" y="0"/>
                    <a:pt x="0" y="12792"/>
                    <a:pt x="0" y="28575"/>
                  </a:cubicBezTo>
                  <a:lnTo>
                    <a:pt x="0" y="76200"/>
                  </a:lnTo>
                  <a:lnTo>
                    <a:pt x="19050" y="76200"/>
                  </a:lnTo>
                  <a:lnTo>
                    <a:pt x="19050" y="142875"/>
                  </a:lnTo>
                  <a:lnTo>
                    <a:pt x="76200" y="142875"/>
                  </a:lnTo>
                </a:path>
              </a:pathLst>
            </a:custGeom>
            <a:no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4" name="Forme libre : forme 33">
              <a:extLst>
                <a:ext uri="{FF2B5EF4-FFF2-40B4-BE49-F238E27FC236}">
                  <a16:creationId xmlns:a16="http://schemas.microsoft.com/office/drawing/2014/main" id="{E9C72922-8FF4-9B55-2A00-978FA4DDB8A1}"/>
                </a:ext>
              </a:extLst>
            </p:cNvPr>
            <p:cNvSpPr/>
            <p:nvPr/>
          </p:nvSpPr>
          <p:spPr>
            <a:xfrm>
              <a:off x="86893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5" name="Forme libre : forme 34">
              <a:extLst>
                <a:ext uri="{FF2B5EF4-FFF2-40B4-BE49-F238E27FC236}">
                  <a16:creationId xmlns:a16="http://schemas.microsoft.com/office/drawing/2014/main" id="{DDD06F02-A5ED-BDA3-45BB-168185B00EF7}"/>
                </a:ext>
              </a:extLst>
            </p:cNvPr>
            <p:cNvSpPr/>
            <p:nvPr/>
          </p:nvSpPr>
          <p:spPr>
            <a:xfrm>
              <a:off x="8863567" y="5591838"/>
              <a:ext cx="85725" cy="142875"/>
            </a:xfrm>
            <a:custGeom>
              <a:avLst/>
              <a:gdLst>
                <a:gd name="connsiteX0" fmla="*/ 0 w 85725"/>
                <a:gd name="connsiteY0" fmla="*/ 16373 h 142875"/>
                <a:gd name="connsiteX1" fmla="*/ 25841 w 85725"/>
                <a:gd name="connsiteY1" fmla="*/ 0 h 142875"/>
                <a:gd name="connsiteX2" fmla="*/ 63941 w 85725"/>
                <a:gd name="connsiteY2" fmla="*/ 0 h 142875"/>
                <a:gd name="connsiteX3" fmla="*/ 92516 w 85725"/>
                <a:gd name="connsiteY3" fmla="*/ 28575 h 142875"/>
                <a:gd name="connsiteX4" fmla="*/ 92516 w 85725"/>
                <a:gd name="connsiteY4" fmla="*/ 76200 h 142875"/>
                <a:gd name="connsiteX5" fmla="*/ 73466 w 85725"/>
                <a:gd name="connsiteY5" fmla="*/ 76200 h 142875"/>
                <a:gd name="connsiteX6" fmla="*/ 73466 w 85725"/>
                <a:gd name="connsiteY6" fmla="*/ 142875 h 142875"/>
                <a:gd name="connsiteX7" fmla="*/ 16316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0" y="16373"/>
                  </a:moveTo>
                  <a:cubicBezTo>
                    <a:pt x="4582" y="6715"/>
                    <a:pt x="14440" y="0"/>
                    <a:pt x="25841" y="0"/>
                  </a:cubicBezTo>
                  <a:lnTo>
                    <a:pt x="63941" y="0"/>
                  </a:lnTo>
                  <a:cubicBezTo>
                    <a:pt x="79724" y="0"/>
                    <a:pt x="92516" y="12792"/>
                    <a:pt x="92516" y="28575"/>
                  </a:cubicBezTo>
                  <a:lnTo>
                    <a:pt x="92516" y="76200"/>
                  </a:lnTo>
                  <a:lnTo>
                    <a:pt x="73466" y="76200"/>
                  </a:lnTo>
                  <a:lnTo>
                    <a:pt x="73466" y="142875"/>
                  </a:lnTo>
                  <a:lnTo>
                    <a:pt x="16316" y="142875"/>
                  </a:lnTo>
                </a:path>
              </a:pathLst>
            </a:custGeom>
            <a:no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6" name="Forme libre : forme 35">
              <a:extLst>
                <a:ext uri="{FF2B5EF4-FFF2-40B4-BE49-F238E27FC236}">
                  <a16:creationId xmlns:a16="http://schemas.microsoft.com/office/drawing/2014/main" id="{F68E33FB-F217-A9E7-E40F-A58F756C04AD}"/>
                </a:ext>
              </a:extLst>
            </p:cNvPr>
            <p:cNvSpPr/>
            <p:nvPr/>
          </p:nvSpPr>
          <p:spPr>
            <a:xfrm>
              <a:off x="88798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7" name="Forme libre : forme 36">
              <a:extLst>
                <a:ext uri="{FF2B5EF4-FFF2-40B4-BE49-F238E27FC236}">
                  <a16:creationId xmlns:a16="http://schemas.microsoft.com/office/drawing/2014/main" id="{A9A9FB02-09D1-FCEA-6D30-924FC0A4887C}"/>
                </a:ext>
              </a:extLst>
            </p:cNvPr>
            <p:cNvSpPr/>
            <p:nvPr/>
          </p:nvSpPr>
          <p:spPr>
            <a:xfrm>
              <a:off x="8756058" y="5591838"/>
              <a:ext cx="114300" cy="180975"/>
            </a:xfrm>
            <a:custGeom>
              <a:avLst/>
              <a:gdLst>
                <a:gd name="connsiteX0" fmla="*/ 85725 w 114300"/>
                <a:gd name="connsiteY0" fmla="*/ 180975 h 180975"/>
                <a:gd name="connsiteX1" fmla="*/ 28575 w 114300"/>
                <a:gd name="connsiteY1" fmla="*/ 180975 h 180975"/>
                <a:gd name="connsiteX2" fmla="*/ 28575 w 114300"/>
                <a:gd name="connsiteY2" fmla="*/ 104775 h 180975"/>
                <a:gd name="connsiteX3" fmla="*/ 0 w 114300"/>
                <a:gd name="connsiteY3" fmla="*/ 104775 h 180975"/>
                <a:gd name="connsiteX4" fmla="*/ 0 w 114300"/>
                <a:gd name="connsiteY4" fmla="*/ 38100 h 180975"/>
                <a:gd name="connsiteX5" fmla="*/ 38100 w 114300"/>
                <a:gd name="connsiteY5" fmla="*/ 0 h 180975"/>
                <a:gd name="connsiteX6" fmla="*/ 76200 w 114300"/>
                <a:gd name="connsiteY6" fmla="*/ 0 h 180975"/>
                <a:gd name="connsiteX7" fmla="*/ 114300 w 114300"/>
                <a:gd name="connsiteY7" fmla="*/ 38100 h 180975"/>
                <a:gd name="connsiteX8" fmla="*/ 114300 w 114300"/>
                <a:gd name="connsiteY8" fmla="*/ 104775 h 180975"/>
                <a:gd name="connsiteX9" fmla="*/ 85725 w 114300"/>
                <a:gd name="connsiteY9" fmla="*/ 104775 h 180975"/>
                <a:gd name="connsiteX10" fmla="*/ 85725 w 114300"/>
                <a:gd name="connsiteY10"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300" h="180975">
                  <a:moveTo>
                    <a:pt x="85725" y="180975"/>
                  </a:moveTo>
                  <a:lnTo>
                    <a:pt x="28575" y="180975"/>
                  </a:lnTo>
                  <a:lnTo>
                    <a:pt x="28575" y="104775"/>
                  </a:lnTo>
                  <a:lnTo>
                    <a:pt x="0" y="104775"/>
                  </a:lnTo>
                  <a:lnTo>
                    <a:pt x="0" y="38100"/>
                  </a:lnTo>
                  <a:cubicBezTo>
                    <a:pt x="0" y="17059"/>
                    <a:pt x="17059" y="0"/>
                    <a:pt x="38100" y="0"/>
                  </a:cubicBezTo>
                  <a:lnTo>
                    <a:pt x="76200" y="0"/>
                  </a:lnTo>
                  <a:cubicBezTo>
                    <a:pt x="97241" y="0"/>
                    <a:pt x="114300" y="17059"/>
                    <a:pt x="114300" y="38100"/>
                  </a:cubicBezTo>
                  <a:lnTo>
                    <a:pt x="114300" y="104775"/>
                  </a:lnTo>
                  <a:lnTo>
                    <a:pt x="85725" y="104775"/>
                  </a:lnTo>
                  <a:lnTo>
                    <a:pt x="85725" y="180975"/>
                  </a:lnTo>
                  <a:close/>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8" name="Forme libre : forme 37">
              <a:extLst>
                <a:ext uri="{FF2B5EF4-FFF2-40B4-BE49-F238E27FC236}">
                  <a16:creationId xmlns:a16="http://schemas.microsoft.com/office/drawing/2014/main" id="{5909010A-614B-3BC3-CA34-F8858AF56262}"/>
                </a:ext>
              </a:extLst>
            </p:cNvPr>
            <p:cNvSpPr/>
            <p:nvPr/>
          </p:nvSpPr>
          <p:spPr>
            <a:xfrm>
              <a:off x="8775108" y="548706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grpSp>
        <p:nvGrpSpPr>
          <p:cNvPr id="39" name="Graphique 265">
            <a:extLst>
              <a:ext uri="{FF2B5EF4-FFF2-40B4-BE49-F238E27FC236}">
                <a16:creationId xmlns:a16="http://schemas.microsoft.com/office/drawing/2014/main" id="{0A36F3E1-15DD-8F30-2150-36CCE11BD8A6}"/>
              </a:ext>
            </a:extLst>
          </p:cNvPr>
          <p:cNvGrpSpPr>
            <a:grpSpLocks noChangeAspect="1"/>
          </p:cNvGrpSpPr>
          <p:nvPr/>
        </p:nvGrpSpPr>
        <p:grpSpPr>
          <a:xfrm>
            <a:off x="3749563" y="6194526"/>
            <a:ext cx="288000" cy="288000"/>
            <a:chOff x="8648816" y="5482159"/>
            <a:chExt cx="304800" cy="304800"/>
          </a:xfrm>
        </p:grpSpPr>
        <p:sp>
          <p:nvSpPr>
            <p:cNvPr id="40" name="Forme libre : forme 39">
              <a:extLst>
                <a:ext uri="{FF2B5EF4-FFF2-40B4-BE49-F238E27FC236}">
                  <a16:creationId xmlns:a16="http://schemas.microsoft.com/office/drawing/2014/main" id="{DD762184-6DF9-AB4A-9772-CAC6D3B08C06}"/>
                </a:ext>
              </a:extLst>
            </p:cNvPr>
            <p:cNvSpPr/>
            <p:nvPr/>
          </p:nvSpPr>
          <p:spPr>
            <a:xfrm>
              <a:off x="8791691" y="5501209"/>
              <a:ext cx="142875" cy="142875"/>
            </a:xfrm>
            <a:custGeom>
              <a:avLst/>
              <a:gdLst>
                <a:gd name="connsiteX0" fmla="*/ 0 w 142875"/>
                <a:gd name="connsiteY0" fmla="*/ 142875 h 142875"/>
                <a:gd name="connsiteX1" fmla="*/ 142875 w 142875"/>
                <a:gd name="connsiteY1" fmla="*/ 0 h 142875"/>
              </a:gdLst>
              <a:ahLst/>
              <a:cxnLst>
                <a:cxn ang="0">
                  <a:pos x="connsiteX0" y="connsiteY0"/>
                </a:cxn>
                <a:cxn ang="0">
                  <a:pos x="connsiteX1" y="connsiteY1"/>
                </a:cxn>
              </a:cxnLst>
              <a:rect l="l" t="t" r="r" b="b"/>
              <a:pathLst>
                <a:path w="142875" h="142875">
                  <a:moveTo>
                    <a:pt x="0" y="142875"/>
                  </a:moveTo>
                  <a:lnTo>
                    <a:pt x="142875" y="0"/>
                  </a:lnTo>
                </a:path>
              </a:pathLst>
            </a:custGeom>
            <a:ln w="28575"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41" name="Forme libre : forme 40">
              <a:extLst>
                <a:ext uri="{FF2B5EF4-FFF2-40B4-BE49-F238E27FC236}">
                  <a16:creationId xmlns:a16="http://schemas.microsoft.com/office/drawing/2014/main" id="{6A7AABED-5815-B873-0C58-716D06EA1F55}"/>
                </a:ext>
              </a:extLst>
            </p:cNvPr>
            <p:cNvSpPr/>
            <p:nvPr/>
          </p:nvSpPr>
          <p:spPr>
            <a:xfrm>
              <a:off x="8686916" y="5501209"/>
              <a:ext cx="76200" cy="76200"/>
            </a:xfrm>
            <a:custGeom>
              <a:avLst/>
              <a:gdLst>
                <a:gd name="connsiteX0" fmla="*/ 0 w 76200"/>
                <a:gd name="connsiteY0" fmla="*/ 0 h 76200"/>
                <a:gd name="connsiteX1" fmla="*/ 76200 w 76200"/>
                <a:gd name="connsiteY1" fmla="*/ 76200 h 76200"/>
              </a:gdLst>
              <a:ahLst/>
              <a:cxnLst>
                <a:cxn ang="0">
                  <a:pos x="connsiteX0" y="connsiteY0"/>
                </a:cxn>
                <a:cxn ang="0">
                  <a:pos x="connsiteX1" y="connsiteY1"/>
                </a:cxn>
              </a:cxnLst>
              <a:rect l="l" t="t" r="r" b="b"/>
              <a:pathLst>
                <a:path w="76200" h="76200">
                  <a:moveTo>
                    <a:pt x="0" y="0"/>
                  </a:moveTo>
                  <a:lnTo>
                    <a:pt x="76200" y="76200"/>
                  </a:lnTo>
                </a:path>
              </a:pathLst>
            </a:custGeom>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42" name="Forme libre : forme 41">
              <a:extLst>
                <a:ext uri="{FF2B5EF4-FFF2-40B4-BE49-F238E27FC236}">
                  <a16:creationId xmlns:a16="http://schemas.microsoft.com/office/drawing/2014/main" id="{763D778D-6BCA-5C7A-D902-E4DA5F434E85}"/>
                </a:ext>
              </a:extLst>
            </p:cNvPr>
            <p:cNvSpPr/>
            <p:nvPr/>
          </p:nvSpPr>
          <p:spPr>
            <a:xfrm>
              <a:off x="8686916" y="5501209"/>
              <a:ext cx="76200" cy="76200"/>
            </a:xfrm>
            <a:custGeom>
              <a:avLst/>
              <a:gdLst>
                <a:gd name="connsiteX0" fmla="*/ 0 w 76200"/>
                <a:gd name="connsiteY0" fmla="*/ 76200 h 76200"/>
                <a:gd name="connsiteX1" fmla="*/ 76200 w 76200"/>
                <a:gd name="connsiteY1" fmla="*/ 0 h 76200"/>
              </a:gdLst>
              <a:ahLst/>
              <a:cxnLst>
                <a:cxn ang="0">
                  <a:pos x="connsiteX0" y="connsiteY0"/>
                </a:cxn>
                <a:cxn ang="0">
                  <a:pos x="connsiteX1" y="connsiteY1"/>
                </a:cxn>
              </a:cxnLst>
              <a:rect l="l" t="t" r="r" b="b"/>
              <a:pathLst>
                <a:path w="76200" h="76200">
                  <a:moveTo>
                    <a:pt x="0" y="76200"/>
                  </a:moveTo>
                  <a:lnTo>
                    <a:pt x="76200" y="0"/>
                  </a:lnTo>
                </a:path>
              </a:pathLst>
            </a:custGeom>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43" name="Forme libre : forme 42">
              <a:extLst>
                <a:ext uri="{FF2B5EF4-FFF2-40B4-BE49-F238E27FC236}">
                  <a16:creationId xmlns:a16="http://schemas.microsoft.com/office/drawing/2014/main" id="{F0846044-EBEA-5E7B-7738-D65E4783E143}"/>
                </a:ext>
              </a:extLst>
            </p:cNvPr>
            <p:cNvSpPr/>
            <p:nvPr/>
          </p:nvSpPr>
          <p:spPr>
            <a:xfrm>
              <a:off x="8858366" y="5672659"/>
              <a:ext cx="76200" cy="76200"/>
            </a:xfrm>
            <a:custGeom>
              <a:avLst/>
              <a:gdLst>
                <a:gd name="connsiteX0" fmla="*/ 0 w 76200"/>
                <a:gd name="connsiteY0" fmla="*/ 0 h 76200"/>
                <a:gd name="connsiteX1" fmla="*/ 76200 w 76200"/>
                <a:gd name="connsiteY1" fmla="*/ 76200 h 76200"/>
              </a:gdLst>
              <a:ahLst/>
              <a:cxnLst>
                <a:cxn ang="0">
                  <a:pos x="connsiteX0" y="connsiteY0"/>
                </a:cxn>
                <a:cxn ang="0">
                  <a:pos x="connsiteX1" y="connsiteY1"/>
                </a:cxn>
              </a:cxnLst>
              <a:rect l="l" t="t" r="r" b="b"/>
              <a:pathLst>
                <a:path w="76200" h="76200">
                  <a:moveTo>
                    <a:pt x="0" y="0"/>
                  </a:moveTo>
                  <a:lnTo>
                    <a:pt x="76200" y="76200"/>
                  </a:lnTo>
                </a:path>
              </a:pathLst>
            </a:custGeom>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44" name="Forme libre : forme 43">
              <a:extLst>
                <a:ext uri="{FF2B5EF4-FFF2-40B4-BE49-F238E27FC236}">
                  <a16:creationId xmlns:a16="http://schemas.microsoft.com/office/drawing/2014/main" id="{0DB4E1CE-9DED-E1D6-3E94-C88DB172B1CC}"/>
                </a:ext>
              </a:extLst>
            </p:cNvPr>
            <p:cNvSpPr/>
            <p:nvPr/>
          </p:nvSpPr>
          <p:spPr>
            <a:xfrm>
              <a:off x="8858366" y="5672659"/>
              <a:ext cx="76200" cy="76200"/>
            </a:xfrm>
            <a:custGeom>
              <a:avLst/>
              <a:gdLst>
                <a:gd name="connsiteX0" fmla="*/ 0 w 76200"/>
                <a:gd name="connsiteY0" fmla="*/ 76200 h 76200"/>
                <a:gd name="connsiteX1" fmla="*/ 76200 w 76200"/>
                <a:gd name="connsiteY1" fmla="*/ 0 h 76200"/>
              </a:gdLst>
              <a:ahLst/>
              <a:cxnLst>
                <a:cxn ang="0">
                  <a:pos x="connsiteX0" y="connsiteY0"/>
                </a:cxn>
                <a:cxn ang="0">
                  <a:pos x="connsiteX1" y="connsiteY1"/>
                </a:cxn>
              </a:cxnLst>
              <a:rect l="l" t="t" r="r" b="b"/>
              <a:pathLst>
                <a:path w="76200" h="76200">
                  <a:moveTo>
                    <a:pt x="0" y="76200"/>
                  </a:moveTo>
                  <a:lnTo>
                    <a:pt x="76200" y="0"/>
                  </a:lnTo>
                </a:path>
              </a:pathLst>
            </a:custGeom>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45" name="Forme libre : forme 44">
              <a:extLst>
                <a:ext uri="{FF2B5EF4-FFF2-40B4-BE49-F238E27FC236}">
                  <a16:creationId xmlns:a16="http://schemas.microsoft.com/office/drawing/2014/main" id="{44E32F9D-03F1-C5E3-7284-5D56282B33C8}"/>
                </a:ext>
              </a:extLst>
            </p:cNvPr>
            <p:cNvSpPr/>
            <p:nvPr/>
          </p:nvSpPr>
          <p:spPr>
            <a:xfrm>
              <a:off x="8667866" y="5653609"/>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noFill/>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46" name="Forme libre : forme 45">
              <a:extLst>
                <a:ext uri="{FF2B5EF4-FFF2-40B4-BE49-F238E27FC236}">
                  <a16:creationId xmlns:a16="http://schemas.microsoft.com/office/drawing/2014/main" id="{590AC3AD-DEA7-E795-028A-D189A5E918DE}"/>
                </a:ext>
              </a:extLst>
            </p:cNvPr>
            <p:cNvSpPr/>
            <p:nvPr/>
          </p:nvSpPr>
          <p:spPr>
            <a:xfrm>
              <a:off x="8848841" y="5501209"/>
              <a:ext cx="85725" cy="85725"/>
            </a:xfrm>
            <a:custGeom>
              <a:avLst/>
              <a:gdLst>
                <a:gd name="connsiteX0" fmla="*/ 0 w 85725"/>
                <a:gd name="connsiteY0" fmla="*/ 0 h 85725"/>
                <a:gd name="connsiteX1" fmla="*/ 85725 w 85725"/>
                <a:gd name="connsiteY1" fmla="*/ 0 h 85725"/>
                <a:gd name="connsiteX2" fmla="*/ 85725 w 85725"/>
                <a:gd name="connsiteY2" fmla="*/ 85725 h 85725"/>
              </a:gdLst>
              <a:ahLst/>
              <a:cxnLst>
                <a:cxn ang="0">
                  <a:pos x="connsiteX0" y="connsiteY0"/>
                </a:cxn>
                <a:cxn ang="0">
                  <a:pos x="connsiteX1" y="connsiteY1"/>
                </a:cxn>
                <a:cxn ang="0">
                  <a:pos x="connsiteX2" y="connsiteY2"/>
                </a:cxn>
              </a:cxnLst>
              <a:rect l="l" t="t" r="r" b="b"/>
              <a:pathLst>
                <a:path w="85725" h="85725">
                  <a:moveTo>
                    <a:pt x="0" y="0"/>
                  </a:moveTo>
                  <a:lnTo>
                    <a:pt x="85725" y="0"/>
                  </a:lnTo>
                  <a:lnTo>
                    <a:pt x="85725" y="85725"/>
                  </a:lnTo>
                </a:path>
              </a:pathLst>
            </a:custGeom>
            <a:noFill/>
            <a:ln w="28575" cap="sq">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sp>
        <p:nvSpPr>
          <p:cNvPr id="47" name="ZoneTexte 46">
            <a:extLst>
              <a:ext uri="{FF2B5EF4-FFF2-40B4-BE49-F238E27FC236}">
                <a16:creationId xmlns:a16="http://schemas.microsoft.com/office/drawing/2014/main" id="{148E400A-1468-D8E5-4107-AAA8C0B7CAF9}"/>
              </a:ext>
            </a:extLst>
          </p:cNvPr>
          <p:cNvSpPr txBox="1"/>
          <p:nvPr/>
        </p:nvSpPr>
        <p:spPr>
          <a:xfrm>
            <a:off x="606591" y="3872582"/>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3C5A"/>
                </a:solidFill>
                <a:latin typeface="Montserrat"/>
              </a:rPr>
              <a:t>Persons</a:t>
            </a:r>
            <a:endParaRPr kumimoji="0" lang="en-US" sz="1200" b="0" i="0" u="none" strike="noStrike" kern="1200" cap="none" spc="0" normalizeH="0" baseline="0">
              <a:ln>
                <a:noFill/>
              </a:ln>
              <a:solidFill>
                <a:srgbClr val="003C5A"/>
              </a:solidFill>
              <a:effectLst/>
              <a:uLnTx/>
              <a:uFillTx/>
              <a:latin typeface="Montserrat"/>
              <a:ea typeface="+mn-ea"/>
              <a:cs typeface="+mn-cs"/>
            </a:endParaRPr>
          </a:p>
        </p:txBody>
      </p:sp>
      <p:sp>
        <p:nvSpPr>
          <p:cNvPr id="48" name="ZoneTexte 47">
            <a:extLst>
              <a:ext uri="{FF2B5EF4-FFF2-40B4-BE49-F238E27FC236}">
                <a16:creationId xmlns:a16="http://schemas.microsoft.com/office/drawing/2014/main" id="{044739BC-BC08-9B58-BBDD-EBAE4A54B8C9}"/>
              </a:ext>
            </a:extLst>
          </p:cNvPr>
          <p:cNvSpPr txBox="1"/>
          <p:nvPr/>
        </p:nvSpPr>
        <p:spPr>
          <a:xfrm>
            <a:off x="2105493" y="3779414"/>
            <a:ext cx="1192955"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3C5A"/>
                </a:solidFill>
                <a:latin typeface="Montserrat"/>
              </a:rPr>
              <a:t>Organization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3C5A"/>
                </a:solidFill>
                <a:latin typeface="Montserrat"/>
              </a:rPr>
              <a:t>chart</a:t>
            </a:r>
            <a:endParaRPr kumimoji="0" lang="en-US" sz="1200" b="0" i="0" u="none" strike="noStrike" kern="1200" cap="none" spc="0" normalizeH="0" baseline="0" dirty="0">
              <a:ln>
                <a:noFill/>
              </a:ln>
              <a:solidFill>
                <a:srgbClr val="003C5A"/>
              </a:solidFill>
              <a:effectLst/>
              <a:uLnTx/>
              <a:uFillTx/>
              <a:latin typeface="Montserrat"/>
              <a:ea typeface="+mn-ea"/>
              <a:cs typeface="+mn-cs"/>
            </a:endParaRPr>
          </a:p>
        </p:txBody>
      </p:sp>
      <p:sp>
        <p:nvSpPr>
          <p:cNvPr id="49" name="ZoneTexte 48">
            <a:extLst>
              <a:ext uri="{FF2B5EF4-FFF2-40B4-BE49-F238E27FC236}">
                <a16:creationId xmlns:a16="http://schemas.microsoft.com/office/drawing/2014/main" id="{E8517D32-C880-8CBD-4EF1-5135E564CBEA}"/>
              </a:ext>
            </a:extLst>
          </p:cNvPr>
          <p:cNvSpPr txBox="1"/>
          <p:nvPr/>
        </p:nvSpPr>
        <p:spPr>
          <a:xfrm>
            <a:off x="3808836" y="3837948"/>
            <a:ext cx="158248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3C5A"/>
                </a:solidFill>
                <a:latin typeface="Montserrat"/>
              </a:rPr>
              <a:t>Business missions</a:t>
            </a:r>
            <a:endParaRPr kumimoji="0" lang="en-US" sz="1200" b="0" i="0" u="none" strike="noStrike" kern="1200" cap="none" spc="0" normalizeH="0" baseline="0">
              <a:ln>
                <a:noFill/>
              </a:ln>
              <a:solidFill>
                <a:srgbClr val="003C5A"/>
              </a:solidFill>
              <a:effectLst/>
              <a:uLnTx/>
              <a:uFillTx/>
              <a:latin typeface="Montserrat"/>
              <a:ea typeface="+mn-ea"/>
              <a:cs typeface="+mn-cs"/>
            </a:endParaRPr>
          </a:p>
        </p:txBody>
      </p:sp>
      <p:sp>
        <p:nvSpPr>
          <p:cNvPr id="50" name="Rectangle 49">
            <a:extLst>
              <a:ext uri="{FF2B5EF4-FFF2-40B4-BE49-F238E27FC236}">
                <a16:creationId xmlns:a16="http://schemas.microsoft.com/office/drawing/2014/main" id="{F1D3744D-9A88-5C13-19A1-5E07BD7C3B4D}"/>
              </a:ext>
            </a:extLst>
          </p:cNvPr>
          <p:cNvSpPr/>
          <p:nvPr/>
        </p:nvSpPr>
        <p:spPr>
          <a:xfrm>
            <a:off x="204281" y="5512151"/>
            <a:ext cx="5204298" cy="1268028"/>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1" name="ZoneTexte 50">
            <a:extLst>
              <a:ext uri="{FF2B5EF4-FFF2-40B4-BE49-F238E27FC236}">
                <a16:creationId xmlns:a16="http://schemas.microsoft.com/office/drawing/2014/main" id="{3E6E8938-4F1E-CA6D-5FBF-322CB566422B}"/>
              </a:ext>
            </a:extLst>
          </p:cNvPr>
          <p:cNvSpPr txBox="1"/>
          <p:nvPr/>
        </p:nvSpPr>
        <p:spPr>
          <a:xfrm>
            <a:off x="2381000" y="5803503"/>
            <a:ext cx="944489"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b="1">
                <a:solidFill>
                  <a:srgbClr val="003C5A"/>
                </a:solidFill>
                <a:latin typeface="Montserrat"/>
              </a:rPr>
              <a:t>IT </a:t>
            </a:r>
            <a:r>
              <a:rPr lang="fr-FR" sz="1600" b="1" err="1">
                <a:solidFill>
                  <a:srgbClr val="003C5A"/>
                </a:solidFill>
                <a:latin typeface="Montserrat"/>
              </a:rPr>
              <a:t>view</a:t>
            </a:r>
            <a:endParaRPr kumimoji="0" lang="fr-FR" sz="1600" b="1" i="0" u="none" strike="noStrike" kern="1200" cap="none" spc="0" normalizeH="0" baseline="0" noProof="0">
              <a:ln>
                <a:noFill/>
              </a:ln>
              <a:solidFill>
                <a:srgbClr val="003C5A"/>
              </a:solidFill>
              <a:effectLst/>
              <a:uLnTx/>
              <a:uFillTx/>
              <a:latin typeface="Montserrat"/>
              <a:ea typeface="+mn-ea"/>
              <a:cs typeface="+mn-cs"/>
            </a:endParaRPr>
          </a:p>
        </p:txBody>
      </p:sp>
      <p:sp>
        <p:nvSpPr>
          <p:cNvPr id="52" name="ZoneTexte 51">
            <a:extLst>
              <a:ext uri="{FF2B5EF4-FFF2-40B4-BE49-F238E27FC236}">
                <a16:creationId xmlns:a16="http://schemas.microsoft.com/office/drawing/2014/main" id="{880AFEC8-E5A7-862F-9780-A2AC06DF44D9}"/>
              </a:ext>
            </a:extLst>
          </p:cNvPr>
          <p:cNvSpPr txBox="1"/>
          <p:nvPr/>
        </p:nvSpPr>
        <p:spPr>
          <a:xfrm>
            <a:off x="627109" y="6149091"/>
            <a:ext cx="143180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solidFill>
                  <a:srgbClr val="003C5A"/>
                </a:solidFill>
                <a:latin typeface="Montserrat"/>
              </a:rPr>
              <a:t>Active directory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800">
                <a:solidFill>
                  <a:srgbClr val="003C5A"/>
                </a:solidFill>
                <a:latin typeface="Montserrat"/>
              </a:rPr>
              <a:t>(Office 365, etc.)</a:t>
            </a:r>
            <a:endParaRPr kumimoji="0" lang="fr-FR" sz="800" b="0" i="0" u="none" strike="noStrike" kern="1200" cap="none" spc="0" normalizeH="0" baseline="0" noProof="0">
              <a:ln>
                <a:noFill/>
              </a:ln>
              <a:solidFill>
                <a:srgbClr val="003C5A"/>
              </a:solidFill>
              <a:effectLst/>
              <a:uLnTx/>
              <a:uFillTx/>
              <a:latin typeface="Montserrat"/>
              <a:ea typeface="+mn-ea"/>
              <a:cs typeface="+mn-cs"/>
            </a:endParaRPr>
          </a:p>
        </p:txBody>
      </p:sp>
      <p:sp>
        <p:nvSpPr>
          <p:cNvPr id="53" name="ZoneTexte 52">
            <a:extLst>
              <a:ext uri="{FF2B5EF4-FFF2-40B4-BE49-F238E27FC236}">
                <a16:creationId xmlns:a16="http://schemas.microsoft.com/office/drawing/2014/main" id="{915410D1-2A02-3DBB-B583-3A007A5C0193}"/>
              </a:ext>
            </a:extLst>
          </p:cNvPr>
          <p:cNvSpPr txBox="1"/>
          <p:nvPr/>
        </p:nvSpPr>
        <p:spPr>
          <a:xfrm>
            <a:off x="2738331" y="6158662"/>
            <a:ext cx="50847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solidFill>
                  <a:srgbClr val="003C5A"/>
                </a:solidFill>
                <a:latin typeface="Montserrat"/>
              </a:rPr>
              <a:t>ERP</a:t>
            </a:r>
            <a:endParaRPr kumimoji="0" lang="fr-FR" sz="1200" b="0" i="0" u="none" strike="noStrike" kern="1200" cap="none" spc="0" normalizeH="0" baseline="0" noProof="0">
              <a:ln>
                <a:noFill/>
              </a:ln>
              <a:solidFill>
                <a:srgbClr val="003C5A"/>
              </a:solidFill>
              <a:effectLst/>
              <a:uLnTx/>
              <a:uFillTx/>
              <a:latin typeface="Montserrat"/>
              <a:ea typeface="+mn-ea"/>
              <a:cs typeface="+mn-cs"/>
            </a:endParaRPr>
          </a:p>
        </p:txBody>
      </p:sp>
      <p:sp>
        <p:nvSpPr>
          <p:cNvPr id="54" name="ZoneTexte 53">
            <a:extLst>
              <a:ext uri="{FF2B5EF4-FFF2-40B4-BE49-F238E27FC236}">
                <a16:creationId xmlns:a16="http://schemas.microsoft.com/office/drawing/2014/main" id="{E2EAAD56-E993-DB2B-44D8-28E1FBEA3F0C}"/>
              </a:ext>
            </a:extLst>
          </p:cNvPr>
          <p:cNvSpPr txBox="1"/>
          <p:nvPr/>
        </p:nvSpPr>
        <p:spPr>
          <a:xfrm>
            <a:off x="4089921" y="6104194"/>
            <a:ext cx="13875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3C5A"/>
                </a:solidFill>
                <a:latin typeface="Montserrat"/>
              </a:rPr>
              <a:t>Other applications</a:t>
            </a:r>
            <a:endParaRPr kumimoji="0" lang="en-US" sz="1200" b="0" i="0" u="none" strike="noStrike" kern="1200" cap="none" spc="0" normalizeH="0" baseline="0">
              <a:ln>
                <a:noFill/>
              </a:ln>
              <a:solidFill>
                <a:srgbClr val="003C5A"/>
              </a:solidFill>
              <a:effectLst/>
              <a:uLnTx/>
              <a:uFillTx/>
              <a:latin typeface="Montserrat"/>
              <a:ea typeface="+mn-ea"/>
              <a:cs typeface="+mn-cs"/>
            </a:endParaRPr>
          </a:p>
        </p:txBody>
      </p:sp>
      <p:sp>
        <p:nvSpPr>
          <p:cNvPr id="55" name="Rectangle : coins arrondis 54">
            <a:extLst>
              <a:ext uri="{FF2B5EF4-FFF2-40B4-BE49-F238E27FC236}">
                <a16:creationId xmlns:a16="http://schemas.microsoft.com/office/drawing/2014/main" id="{B7558C3D-C5DF-FA28-97E1-EB03029E1410}"/>
              </a:ext>
            </a:extLst>
          </p:cNvPr>
          <p:cNvSpPr/>
          <p:nvPr/>
        </p:nvSpPr>
        <p:spPr>
          <a:xfrm>
            <a:off x="375793" y="4512859"/>
            <a:ext cx="4829959" cy="1057776"/>
          </a:xfrm>
          <a:prstGeom prst="roundRect">
            <a:avLst/>
          </a:prstGeom>
          <a:solidFill>
            <a:schemeClr val="bg1">
              <a:lumMod val="95000"/>
            </a:schemeClr>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ZoneTexte 55">
            <a:extLst>
              <a:ext uri="{FF2B5EF4-FFF2-40B4-BE49-F238E27FC236}">
                <a16:creationId xmlns:a16="http://schemas.microsoft.com/office/drawing/2014/main" id="{4EB8BAA1-74F1-4B18-A8DD-2F34D83D42BE}"/>
              </a:ext>
            </a:extLst>
          </p:cNvPr>
          <p:cNvSpPr txBox="1"/>
          <p:nvPr/>
        </p:nvSpPr>
        <p:spPr>
          <a:xfrm>
            <a:off x="410496" y="4851678"/>
            <a:ext cx="567784" cy="338554"/>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solidFill>
                  <a:schemeClr val="tx2"/>
                </a:solidFill>
                <a:latin typeface="Montserrat"/>
              </a:rPr>
              <a:t>IGA</a:t>
            </a:r>
            <a:endParaRPr kumimoji="0" lang="fr-FR" sz="1600" b="1" i="0" u="none" strike="noStrike" kern="1200" cap="none" spc="0" normalizeH="0" baseline="0" noProof="0" dirty="0">
              <a:ln>
                <a:noFill/>
              </a:ln>
              <a:solidFill>
                <a:schemeClr val="tx2"/>
              </a:solidFill>
              <a:effectLst/>
              <a:uLnTx/>
              <a:uFillTx/>
              <a:latin typeface="Montserrat"/>
              <a:ea typeface="+mn-ea"/>
              <a:cs typeface="+mn-cs"/>
            </a:endParaRPr>
          </a:p>
        </p:txBody>
      </p:sp>
      <p:sp>
        <p:nvSpPr>
          <p:cNvPr id="57" name="Rectangle 56">
            <a:extLst>
              <a:ext uri="{FF2B5EF4-FFF2-40B4-BE49-F238E27FC236}">
                <a16:creationId xmlns:a16="http://schemas.microsoft.com/office/drawing/2014/main" id="{6E940A3A-DB97-0B4E-5822-FF1CB88A4891}"/>
              </a:ext>
            </a:extLst>
          </p:cNvPr>
          <p:cNvSpPr/>
          <p:nvPr/>
        </p:nvSpPr>
        <p:spPr>
          <a:xfrm>
            <a:off x="978280" y="4739482"/>
            <a:ext cx="4032000" cy="25728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2"/>
                </a:solidFill>
                <a:effectLst/>
                <a:uLnTx/>
                <a:uFillTx/>
                <a:latin typeface="Montserrat"/>
                <a:ea typeface="+mn-ea"/>
                <a:cs typeface="+mn-cs"/>
              </a:rPr>
              <a:t>Dictionary for identities and accesses</a:t>
            </a:r>
          </a:p>
        </p:txBody>
      </p:sp>
      <p:sp>
        <p:nvSpPr>
          <p:cNvPr id="58" name="Rectangle 57">
            <a:extLst>
              <a:ext uri="{FF2B5EF4-FFF2-40B4-BE49-F238E27FC236}">
                <a16:creationId xmlns:a16="http://schemas.microsoft.com/office/drawing/2014/main" id="{A7EF1AC9-52B7-19CF-1E20-45A778DFE4C3}"/>
              </a:ext>
            </a:extLst>
          </p:cNvPr>
          <p:cNvSpPr/>
          <p:nvPr/>
        </p:nvSpPr>
        <p:spPr>
          <a:xfrm>
            <a:off x="978280" y="5049300"/>
            <a:ext cx="1983600" cy="28257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2"/>
                </a:solidFill>
                <a:effectLst/>
                <a:uLnTx/>
                <a:uFillTx/>
                <a:latin typeface="Montserrat"/>
                <a:ea typeface="+mn-ea"/>
                <a:cs typeface="+mn-cs"/>
              </a:rPr>
              <a:t>Processes</a:t>
            </a:r>
          </a:p>
        </p:txBody>
      </p:sp>
      <p:sp>
        <p:nvSpPr>
          <p:cNvPr id="59" name="Rectangle 58">
            <a:extLst>
              <a:ext uri="{FF2B5EF4-FFF2-40B4-BE49-F238E27FC236}">
                <a16:creationId xmlns:a16="http://schemas.microsoft.com/office/drawing/2014/main" id="{BED2D3FD-ADB8-D6F3-A145-BB362CE27695}"/>
              </a:ext>
            </a:extLst>
          </p:cNvPr>
          <p:cNvSpPr/>
          <p:nvPr/>
        </p:nvSpPr>
        <p:spPr>
          <a:xfrm>
            <a:off x="3026680" y="5049300"/>
            <a:ext cx="1983600" cy="28257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2"/>
                </a:solidFill>
                <a:effectLst/>
                <a:uLnTx/>
                <a:uFillTx/>
                <a:latin typeface="Montserrat"/>
                <a:ea typeface="+mn-ea"/>
                <a:cs typeface="+mn-cs"/>
              </a:rPr>
              <a:t>Reporting</a:t>
            </a:r>
          </a:p>
        </p:txBody>
      </p:sp>
      <p:sp>
        <p:nvSpPr>
          <p:cNvPr id="60" name="Triangle isocèle 59">
            <a:extLst>
              <a:ext uri="{FF2B5EF4-FFF2-40B4-BE49-F238E27FC236}">
                <a16:creationId xmlns:a16="http://schemas.microsoft.com/office/drawing/2014/main" id="{2C600FC4-0F4B-BD30-499B-12FF4CFF79E3}"/>
              </a:ext>
            </a:extLst>
          </p:cNvPr>
          <p:cNvSpPr/>
          <p:nvPr/>
        </p:nvSpPr>
        <p:spPr>
          <a:xfrm rot="5400000">
            <a:off x="4729761" y="4608165"/>
            <a:ext cx="3270604" cy="44211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ZoneTexte 119">
            <a:extLst>
              <a:ext uri="{FF2B5EF4-FFF2-40B4-BE49-F238E27FC236}">
                <a16:creationId xmlns:a16="http://schemas.microsoft.com/office/drawing/2014/main" id="{C420DEB1-7553-C9CD-544B-3E2E26D9FB5B}"/>
              </a:ext>
            </a:extLst>
          </p:cNvPr>
          <p:cNvSpPr txBox="1"/>
          <p:nvPr/>
        </p:nvSpPr>
        <p:spPr>
          <a:xfrm>
            <a:off x="6288267" y="2560687"/>
            <a:ext cx="5426843" cy="398850"/>
          </a:xfrm>
          <a:prstGeom prst="rect">
            <a:avLst/>
          </a:prstGeom>
          <a:solidFill>
            <a:schemeClr val="bg1"/>
          </a:solidFill>
          <a:ln>
            <a:noFill/>
          </a:ln>
        </p:spPr>
        <p:txBody>
          <a:bodyPr wrap="square" lIns="36000" tIns="0" rIns="36000" bIns="0" rtlCol="0">
            <a:noAutofit/>
          </a:bodyPr>
          <a:lstStyle/>
          <a:p>
            <a:pPr algn="ctr"/>
            <a:r>
              <a:rPr lang="en-US" b="1">
                <a:solidFill>
                  <a:schemeClr val="accent1"/>
                </a:solidFill>
              </a:rPr>
              <a:t>A governance on 3 levels</a:t>
            </a:r>
          </a:p>
        </p:txBody>
      </p:sp>
      <p:grpSp>
        <p:nvGrpSpPr>
          <p:cNvPr id="139" name="Groupe 138">
            <a:extLst>
              <a:ext uri="{FF2B5EF4-FFF2-40B4-BE49-F238E27FC236}">
                <a16:creationId xmlns:a16="http://schemas.microsoft.com/office/drawing/2014/main" id="{8D324964-3DCA-5D0C-6728-2CCC47E361C2}"/>
              </a:ext>
            </a:extLst>
          </p:cNvPr>
          <p:cNvGrpSpPr/>
          <p:nvPr/>
        </p:nvGrpSpPr>
        <p:grpSpPr>
          <a:xfrm rot="420158">
            <a:off x="9395053" y="5701531"/>
            <a:ext cx="269501" cy="243146"/>
            <a:chOff x="5744383" y="5991849"/>
            <a:chExt cx="330905" cy="326367"/>
          </a:xfrm>
        </p:grpSpPr>
        <p:sp>
          <p:nvSpPr>
            <p:cNvPr id="133" name="Forme libre : forme 132">
              <a:extLst>
                <a:ext uri="{FF2B5EF4-FFF2-40B4-BE49-F238E27FC236}">
                  <a16:creationId xmlns:a16="http://schemas.microsoft.com/office/drawing/2014/main" id="{427958C6-04D4-A7FA-B446-1A017E10A492}"/>
                </a:ext>
              </a:extLst>
            </p:cNvPr>
            <p:cNvSpPr/>
            <p:nvPr/>
          </p:nvSpPr>
          <p:spPr>
            <a:xfrm>
              <a:off x="5965736" y="6018909"/>
              <a:ext cx="80350" cy="79622"/>
            </a:xfrm>
            <a:custGeom>
              <a:avLst/>
              <a:gdLst>
                <a:gd name="connsiteX0" fmla="*/ 0 w 66675"/>
                <a:gd name="connsiteY0" fmla="*/ 0 h 66675"/>
                <a:gd name="connsiteX1" fmla="*/ 74200 w 66675"/>
                <a:gd name="connsiteY1" fmla="*/ 74200 h 66675"/>
              </a:gdLst>
              <a:ahLst/>
              <a:cxnLst>
                <a:cxn ang="0">
                  <a:pos x="connsiteX0" y="connsiteY0"/>
                </a:cxn>
                <a:cxn ang="0">
                  <a:pos x="connsiteX1" y="connsiteY1"/>
                </a:cxn>
              </a:cxnLst>
              <a:rect l="l" t="t" r="r" b="b"/>
              <a:pathLst>
                <a:path w="66675" h="66675">
                  <a:moveTo>
                    <a:pt x="0" y="0"/>
                  </a:moveTo>
                  <a:lnTo>
                    <a:pt x="74200" y="7420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34" name="Forme libre : forme 133">
              <a:extLst>
                <a:ext uri="{FF2B5EF4-FFF2-40B4-BE49-F238E27FC236}">
                  <a16:creationId xmlns:a16="http://schemas.microsoft.com/office/drawing/2014/main" id="{97B6DA00-8628-01A8-AA3D-8E767D611DE9}"/>
                </a:ext>
              </a:extLst>
            </p:cNvPr>
            <p:cNvSpPr/>
            <p:nvPr/>
          </p:nvSpPr>
          <p:spPr>
            <a:xfrm>
              <a:off x="5776845" y="6029365"/>
              <a:ext cx="149222" cy="102371"/>
            </a:xfrm>
            <a:custGeom>
              <a:avLst/>
              <a:gdLst>
                <a:gd name="connsiteX0" fmla="*/ 126682 w 123825"/>
                <a:gd name="connsiteY0" fmla="*/ 6941 h 85725"/>
                <a:gd name="connsiteX1" fmla="*/ 0 w 123825"/>
                <a:gd name="connsiteY1" fmla="*/ 51032 h 85725"/>
                <a:gd name="connsiteX2" fmla="*/ 39662 w 123825"/>
                <a:gd name="connsiteY2" fmla="*/ 90790 h 85725"/>
              </a:gdLst>
              <a:ahLst/>
              <a:cxnLst>
                <a:cxn ang="0">
                  <a:pos x="connsiteX0" y="connsiteY0"/>
                </a:cxn>
                <a:cxn ang="0">
                  <a:pos x="connsiteX1" y="connsiteY1"/>
                </a:cxn>
                <a:cxn ang="0">
                  <a:pos x="connsiteX2" y="connsiteY2"/>
                </a:cxn>
              </a:cxnLst>
              <a:rect l="l" t="t" r="r" b="b"/>
              <a:pathLst>
                <a:path w="123825" h="85725">
                  <a:moveTo>
                    <a:pt x="126682" y="6941"/>
                  </a:moveTo>
                  <a:cubicBezTo>
                    <a:pt x="83344" y="-8756"/>
                    <a:pt x="38100" y="626"/>
                    <a:pt x="0" y="51032"/>
                  </a:cubicBezTo>
                  <a:lnTo>
                    <a:pt x="39662" y="90790"/>
                  </a:ln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35" name="Forme libre : forme 134">
              <a:extLst>
                <a:ext uri="{FF2B5EF4-FFF2-40B4-BE49-F238E27FC236}">
                  <a16:creationId xmlns:a16="http://schemas.microsoft.com/office/drawing/2014/main" id="{AC4C2B91-1593-8755-3A40-FD6613344505}"/>
                </a:ext>
              </a:extLst>
            </p:cNvPr>
            <p:cNvSpPr/>
            <p:nvPr/>
          </p:nvSpPr>
          <p:spPr>
            <a:xfrm>
              <a:off x="5935548" y="6143766"/>
              <a:ext cx="103307" cy="147869"/>
            </a:xfrm>
            <a:custGeom>
              <a:avLst/>
              <a:gdLst>
                <a:gd name="connsiteX0" fmla="*/ 0 w 85725"/>
                <a:gd name="connsiteY0" fmla="*/ 87020 h 123825"/>
                <a:gd name="connsiteX1" fmla="*/ 39757 w 85725"/>
                <a:gd name="connsiteY1" fmla="*/ 126683 h 123825"/>
                <a:gd name="connsiteX2" fmla="*/ 83849 w 85725"/>
                <a:gd name="connsiteY2" fmla="*/ 0 h 123825"/>
              </a:gdLst>
              <a:ahLst/>
              <a:cxnLst>
                <a:cxn ang="0">
                  <a:pos x="connsiteX0" y="connsiteY0"/>
                </a:cxn>
                <a:cxn ang="0">
                  <a:pos x="connsiteX1" y="connsiteY1"/>
                </a:cxn>
                <a:cxn ang="0">
                  <a:pos x="connsiteX2" y="connsiteY2"/>
                </a:cxn>
              </a:cxnLst>
              <a:rect l="l" t="t" r="r" b="b"/>
              <a:pathLst>
                <a:path w="85725" h="123825">
                  <a:moveTo>
                    <a:pt x="0" y="87020"/>
                  </a:moveTo>
                  <a:lnTo>
                    <a:pt x="39757" y="126683"/>
                  </a:lnTo>
                  <a:cubicBezTo>
                    <a:pt x="90164" y="88583"/>
                    <a:pt x="99546" y="43339"/>
                    <a:pt x="83849" y="0"/>
                  </a:cubicBez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36" name="Forme libre : forme 135">
              <a:extLst>
                <a:ext uri="{FF2B5EF4-FFF2-40B4-BE49-F238E27FC236}">
                  <a16:creationId xmlns:a16="http://schemas.microsoft.com/office/drawing/2014/main" id="{4D92B2DD-4812-BAD1-1976-EF0D183E04A4}"/>
                </a:ext>
              </a:extLst>
            </p:cNvPr>
            <p:cNvSpPr/>
            <p:nvPr/>
          </p:nvSpPr>
          <p:spPr>
            <a:xfrm>
              <a:off x="5799802" y="5991849"/>
              <a:ext cx="275486" cy="272989"/>
            </a:xfrm>
            <a:custGeom>
              <a:avLst/>
              <a:gdLst>
                <a:gd name="connsiteX0" fmla="*/ 76200 w 228600"/>
                <a:gd name="connsiteY0" fmla="*/ 234848 h 228600"/>
                <a:gd name="connsiteX1" fmla="*/ 0 w 228600"/>
                <a:gd name="connsiteY1" fmla="*/ 158648 h 228600"/>
                <a:gd name="connsiteX2" fmla="*/ 234848 w 228600"/>
                <a:gd name="connsiteY2" fmla="*/ 0 h 228600"/>
                <a:gd name="connsiteX3" fmla="*/ 76200 w 228600"/>
                <a:gd name="connsiteY3" fmla="*/ 234848 h 228600"/>
              </a:gdLst>
              <a:ahLst/>
              <a:cxnLst>
                <a:cxn ang="0">
                  <a:pos x="connsiteX0" y="connsiteY0"/>
                </a:cxn>
                <a:cxn ang="0">
                  <a:pos x="connsiteX1" y="connsiteY1"/>
                </a:cxn>
                <a:cxn ang="0">
                  <a:pos x="connsiteX2" y="connsiteY2"/>
                </a:cxn>
                <a:cxn ang="0">
                  <a:pos x="connsiteX3" y="connsiteY3"/>
                </a:cxn>
              </a:cxnLst>
              <a:rect l="l" t="t" r="r" b="b"/>
              <a:pathLst>
                <a:path w="228600" h="228600">
                  <a:moveTo>
                    <a:pt x="76200" y="234848"/>
                  </a:moveTo>
                  <a:lnTo>
                    <a:pt x="0" y="158648"/>
                  </a:lnTo>
                  <a:cubicBezTo>
                    <a:pt x="0" y="158648"/>
                    <a:pt x="61846" y="9030"/>
                    <a:pt x="234848" y="0"/>
                  </a:cubicBezTo>
                  <a:cubicBezTo>
                    <a:pt x="225066" y="172260"/>
                    <a:pt x="76200" y="234848"/>
                    <a:pt x="76200" y="234848"/>
                  </a:cubicBezTo>
                  <a:close/>
                </a:path>
              </a:pathLst>
            </a:custGeom>
            <a:noFill/>
            <a:ln w="19050"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37" name="Forme libre : forme 136">
              <a:extLst>
                <a:ext uri="{FF2B5EF4-FFF2-40B4-BE49-F238E27FC236}">
                  <a16:creationId xmlns:a16="http://schemas.microsoft.com/office/drawing/2014/main" id="{5DBEB75C-C5F9-5E38-CB6B-57BAFF9EB21C}"/>
                </a:ext>
              </a:extLst>
            </p:cNvPr>
            <p:cNvSpPr/>
            <p:nvPr/>
          </p:nvSpPr>
          <p:spPr>
            <a:xfrm>
              <a:off x="5914588" y="6101681"/>
              <a:ext cx="57393" cy="56873"/>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noFill/>
            <a:ln w="19050"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38" name="Forme libre : forme 137">
              <a:extLst>
                <a:ext uri="{FF2B5EF4-FFF2-40B4-BE49-F238E27FC236}">
                  <a16:creationId xmlns:a16="http://schemas.microsoft.com/office/drawing/2014/main" id="{06642B34-0626-34E0-24E0-EAAC583BB894}"/>
                </a:ext>
              </a:extLst>
            </p:cNvPr>
            <p:cNvSpPr/>
            <p:nvPr/>
          </p:nvSpPr>
          <p:spPr>
            <a:xfrm>
              <a:off x="5744383" y="6249969"/>
              <a:ext cx="68872" cy="68247"/>
            </a:xfrm>
            <a:custGeom>
              <a:avLst/>
              <a:gdLst>
                <a:gd name="connsiteX0" fmla="*/ 16259 w 57150"/>
                <a:gd name="connsiteY0" fmla="*/ 8021 h 57150"/>
                <a:gd name="connsiteX1" fmla="*/ 56664 w 57150"/>
                <a:gd name="connsiteY1" fmla="*/ 8723 h 57150"/>
                <a:gd name="connsiteX2" fmla="*/ 56664 w 57150"/>
                <a:gd name="connsiteY2" fmla="*/ 48426 h 57150"/>
                <a:gd name="connsiteX3" fmla="*/ 0 w 57150"/>
                <a:gd name="connsiteY3" fmla="*/ 64685 h 57150"/>
                <a:gd name="connsiteX4" fmla="*/ 16259 w 57150"/>
                <a:gd name="connsiteY4" fmla="*/ 802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16259" y="8021"/>
                  </a:moveTo>
                  <a:cubicBezTo>
                    <a:pt x="27611" y="-2942"/>
                    <a:pt x="45701" y="-2628"/>
                    <a:pt x="56664" y="8723"/>
                  </a:cubicBezTo>
                  <a:cubicBezTo>
                    <a:pt x="67359" y="19797"/>
                    <a:pt x="67359" y="37352"/>
                    <a:pt x="56664" y="48426"/>
                  </a:cubicBezTo>
                  <a:cubicBezTo>
                    <a:pt x="45510" y="59590"/>
                    <a:pt x="0" y="64685"/>
                    <a:pt x="0" y="64685"/>
                  </a:cubicBezTo>
                  <a:cubicBezTo>
                    <a:pt x="0" y="64685"/>
                    <a:pt x="5096" y="19175"/>
                    <a:pt x="16259" y="8021"/>
                  </a:cubicBezTo>
                  <a:close/>
                </a:path>
              </a:pathLst>
            </a:custGeom>
            <a:noFill/>
            <a:ln w="19050"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pic>
        <p:nvPicPr>
          <p:cNvPr id="4" name="Image 3">
            <a:extLst>
              <a:ext uri="{FF2B5EF4-FFF2-40B4-BE49-F238E27FC236}">
                <a16:creationId xmlns:a16="http://schemas.microsoft.com/office/drawing/2014/main" id="{CB1C59C6-FC89-84D4-AB3A-F6311660FC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762" y="2953926"/>
            <a:ext cx="3659348" cy="3631025"/>
          </a:xfrm>
          <a:prstGeom prst="rect">
            <a:avLst/>
          </a:prstGeom>
        </p:spPr>
      </p:pic>
      <p:grpSp>
        <p:nvGrpSpPr>
          <p:cNvPr id="5" name="Graphique 683">
            <a:extLst>
              <a:ext uri="{FF2B5EF4-FFF2-40B4-BE49-F238E27FC236}">
                <a16:creationId xmlns:a16="http://schemas.microsoft.com/office/drawing/2014/main" id="{EA54B8DE-F174-CDA9-4C9A-3D1CED270D38}"/>
              </a:ext>
            </a:extLst>
          </p:cNvPr>
          <p:cNvGrpSpPr/>
          <p:nvPr/>
        </p:nvGrpSpPr>
        <p:grpSpPr>
          <a:xfrm>
            <a:off x="6446048" y="3384824"/>
            <a:ext cx="180000" cy="180000"/>
            <a:chOff x="4336025" y="3645955"/>
            <a:chExt cx="285750" cy="285750"/>
          </a:xfrm>
        </p:grpSpPr>
        <p:sp>
          <p:nvSpPr>
            <p:cNvPr id="61" name="Forme libre : forme 60">
              <a:extLst>
                <a:ext uri="{FF2B5EF4-FFF2-40B4-BE49-F238E27FC236}">
                  <a16:creationId xmlns:a16="http://schemas.microsoft.com/office/drawing/2014/main" id="{1B03FF79-DC1B-BD8B-678C-A5D1E715DD97}"/>
                </a:ext>
              </a:extLst>
            </p:cNvPr>
            <p:cNvSpPr/>
            <p:nvPr/>
          </p:nvSpPr>
          <p:spPr>
            <a:xfrm>
              <a:off x="4440800" y="375073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62" name="Forme libre : forme 61">
              <a:extLst>
                <a:ext uri="{FF2B5EF4-FFF2-40B4-BE49-F238E27FC236}">
                  <a16:creationId xmlns:a16="http://schemas.microsoft.com/office/drawing/2014/main" id="{13E86E85-C3A0-9BB4-33B5-E58738BE673F}"/>
                </a:ext>
              </a:extLst>
            </p:cNvPr>
            <p:cNvSpPr/>
            <p:nvPr/>
          </p:nvSpPr>
          <p:spPr>
            <a:xfrm>
              <a:off x="4336025" y="3645955"/>
              <a:ext cx="285750" cy="285750"/>
            </a:xfrm>
            <a:custGeom>
              <a:avLst/>
              <a:gdLst>
                <a:gd name="connsiteX0" fmla="*/ 285750 w 285750"/>
                <a:gd name="connsiteY0" fmla="*/ 161925 h 285750"/>
                <a:gd name="connsiteX1" fmla="*/ 285750 w 285750"/>
                <a:gd name="connsiteY1" fmla="*/ 123825 h 285750"/>
                <a:gd name="connsiteX2" fmla="*/ 244735 w 285750"/>
                <a:gd name="connsiteY2" fmla="*/ 118701 h 285750"/>
                <a:gd name="connsiteX3" fmla="*/ 231981 w 285750"/>
                <a:gd name="connsiteY3" fmla="*/ 87963 h 285750"/>
                <a:gd name="connsiteX4" fmla="*/ 257375 w 285750"/>
                <a:gd name="connsiteY4" fmla="*/ 55321 h 285750"/>
                <a:gd name="connsiteX5" fmla="*/ 230429 w 285750"/>
                <a:gd name="connsiteY5" fmla="*/ 28375 h 285750"/>
                <a:gd name="connsiteX6" fmla="*/ 197787 w 285750"/>
                <a:gd name="connsiteY6" fmla="*/ 53769 h 285750"/>
                <a:gd name="connsiteX7" fmla="*/ 167049 w 285750"/>
                <a:gd name="connsiteY7" fmla="*/ 41015 h 285750"/>
                <a:gd name="connsiteX8" fmla="*/ 161925 w 285750"/>
                <a:gd name="connsiteY8" fmla="*/ 0 h 285750"/>
                <a:gd name="connsiteX9" fmla="*/ 123825 w 285750"/>
                <a:gd name="connsiteY9" fmla="*/ 0 h 285750"/>
                <a:gd name="connsiteX10" fmla="*/ 118701 w 285750"/>
                <a:gd name="connsiteY10" fmla="*/ 41015 h 285750"/>
                <a:gd name="connsiteX11" fmla="*/ 87963 w 285750"/>
                <a:gd name="connsiteY11" fmla="*/ 53769 h 285750"/>
                <a:gd name="connsiteX12" fmla="*/ 55321 w 285750"/>
                <a:gd name="connsiteY12" fmla="*/ 28375 h 285750"/>
                <a:gd name="connsiteX13" fmla="*/ 28375 w 285750"/>
                <a:gd name="connsiteY13" fmla="*/ 55321 h 285750"/>
                <a:gd name="connsiteX14" fmla="*/ 53769 w 285750"/>
                <a:gd name="connsiteY14" fmla="*/ 87963 h 285750"/>
                <a:gd name="connsiteX15" fmla="*/ 41015 w 285750"/>
                <a:gd name="connsiteY15" fmla="*/ 118701 h 285750"/>
                <a:gd name="connsiteX16" fmla="*/ 0 w 285750"/>
                <a:gd name="connsiteY16" fmla="*/ 123825 h 285750"/>
                <a:gd name="connsiteX17" fmla="*/ 0 w 285750"/>
                <a:gd name="connsiteY17" fmla="*/ 161925 h 285750"/>
                <a:gd name="connsiteX18" fmla="*/ 41015 w 285750"/>
                <a:gd name="connsiteY18" fmla="*/ 167049 h 285750"/>
                <a:gd name="connsiteX19" fmla="*/ 53769 w 285750"/>
                <a:gd name="connsiteY19" fmla="*/ 197787 h 285750"/>
                <a:gd name="connsiteX20" fmla="*/ 28375 w 285750"/>
                <a:gd name="connsiteY20" fmla="*/ 230429 h 285750"/>
                <a:gd name="connsiteX21" fmla="*/ 55321 w 285750"/>
                <a:gd name="connsiteY21" fmla="*/ 257375 h 285750"/>
                <a:gd name="connsiteX22" fmla="*/ 87963 w 285750"/>
                <a:gd name="connsiteY22" fmla="*/ 231981 h 285750"/>
                <a:gd name="connsiteX23" fmla="*/ 118701 w 285750"/>
                <a:gd name="connsiteY23" fmla="*/ 244735 h 285750"/>
                <a:gd name="connsiteX24" fmla="*/ 123825 w 285750"/>
                <a:gd name="connsiteY24" fmla="*/ 285750 h 285750"/>
                <a:gd name="connsiteX25" fmla="*/ 161925 w 285750"/>
                <a:gd name="connsiteY25" fmla="*/ 285750 h 285750"/>
                <a:gd name="connsiteX26" fmla="*/ 167049 w 285750"/>
                <a:gd name="connsiteY26" fmla="*/ 244735 h 285750"/>
                <a:gd name="connsiteX27" fmla="*/ 197787 w 285750"/>
                <a:gd name="connsiteY27" fmla="*/ 231981 h 285750"/>
                <a:gd name="connsiteX28" fmla="*/ 230429 w 285750"/>
                <a:gd name="connsiteY28" fmla="*/ 257375 h 285750"/>
                <a:gd name="connsiteX29" fmla="*/ 257375 w 285750"/>
                <a:gd name="connsiteY29" fmla="*/ 230429 h 285750"/>
                <a:gd name="connsiteX30" fmla="*/ 231981 w 285750"/>
                <a:gd name="connsiteY30" fmla="*/ 197787 h 285750"/>
                <a:gd name="connsiteX31" fmla="*/ 244735 w 285750"/>
                <a:gd name="connsiteY31" fmla="*/ 167049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50" h="285750">
                  <a:moveTo>
                    <a:pt x="285750" y="161925"/>
                  </a:moveTo>
                  <a:lnTo>
                    <a:pt x="285750" y="123825"/>
                  </a:lnTo>
                  <a:lnTo>
                    <a:pt x="244735" y="118701"/>
                  </a:lnTo>
                  <a:cubicBezTo>
                    <a:pt x="242162" y="107836"/>
                    <a:pt x="237856" y="97458"/>
                    <a:pt x="231981" y="87963"/>
                  </a:cubicBezTo>
                  <a:lnTo>
                    <a:pt x="257375" y="55321"/>
                  </a:lnTo>
                  <a:lnTo>
                    <a:pt x="230429" y="28375"/>
                  </a:lnTo>
                  <a:lnTo>
                    <a:pt x="197787" y="53769"/>
                  </a:lnTo>
                  <a:cubicBezTo>
                    <a:pt x="188292" y="47894"/>
                    <a:pt x="177914" y="43588"/>
                    <a:pt x="167049" y="41015"/>
                  </a:cubicBezTo>
                  <a:lnTo>
                    <a:pt x="161925" y="0"/>
                  </a:lnTo>
                  <a:lnTo>
                    <a:pt x="123825" y="0"/>
                  </a:lnTo>
                  <a:lnTo>
                    <a:pt x="118701" y="41015"/>
                  </a:lnTo>
                  <a:cubicBezTo>
                    <a:pt x="107836" y="43588"/>
                    <a:pt x="97458" y="47894"/>
                    <a:pt x="87963" y="53769"/>
                  </a:cubicBezTo>
                  <a:lnTo>
                    <a:pt x="55321" y="28375"/>
                  </a:lnTo>
                  <a:lnTo>
                    <a:pt x="28375" y="55321"/>
                  </a:lnTo>
                  <a:lnTo>
                    <a:pt x="53769" y="87963"/>
                  </a:lnTo>
                  <a:cubicBezTo>
                    <a:pt x="47894" y="97458"/>
                    <a:pt x="43588" y="107836"/>
                    <a:pt x="41015" y="118701"/>
                  </a:cubicBezTo>
                  <a:lnTo>
                    <a:pt x="0" y="123825"/>
                  </a:lnTo>
                  <a:lnTo>
                    <a:pt x="0" y="161925"/>
                  </a:lnTo>
                  <a:lnTo>
                    <a:pt x="41015" y="167049"/>
                  </a:lnTo>
                  <a:cubicBezTo>
                    <a:pt x="43588" y="177914"/>
                    <a:pt x="47894" y="188292"/>
                    <a:pt x="53769" y="197787"/>
                  </a:cubicBezTo>
                  <a:lnTo>
                    <a:pt x="28375" y="230429"/>
                  </a:lnTo>
                  <a:lnTo>
                    <a:pt x="55321" y="257375"/>
                  </a:lnTo>
                  <a:lnTo>
                    <a:pt x="87963" y="231981"/>
                  </a:lnTo>
                  <a:cubicBezTo>
                    <a:pt x="97458" y="237856"/>
                    <a:pt x="107836" y="242162"/>
                    <a:pt x="118701" y="244735"/>
                  </a:cubicBezTo>
                  <a:lnTo>
                    <a:pt x="123825" y="285750"/>
                  </a:lnTo>
                  <a:lnTo>
                    <a:pt x="161925" y="285750"/>
                  </a:lnTo>
                  <a:lnTo>
                    <a:pt x="167049" y="244735"/>
                  </a:lnTo>
                  <a:cubicBezTo>
                    <a:pt x="177914" y="242162"/>
                    <a:pt x="188292" y="237856"/>
                    <a:pt x="197787" y="231981"/>
                  </a:cubicBezTo>
                  <a:lnTo>
                    <a:pt x="230429" y="257375"/>
                  </a:lnTo>
                  <a:lnTo>
                    <a:pt x="257375" y="230429"/>
                  </a:lnTo>
                  <a:lnTo>
                    <a:pt x="231981" y="197787"/>
                  </a:lnTo>
                  <a:cubicBezTo>
                    <a:pt x="237856" y="188292"/>
                    <a:pt x="242162" y="177914"/>
                    <a:pt x="244735" y="167049"/>
                  </a:cubicBezTo>
                  <a:close/>
                </a:path>
              </a:pathLst>
            </a:custGeom>
            <a:noFill/>
            <a:ln w="19050"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sp>
        <p:nvSpPr>
          <p:cNvPr id="63" name="TextBox 16">
            <a:extLst>
              <a:ext uri="{FF2B5EF4-FFF2-40B4-BE49-F238E27FC236}">
                <a16:creationId xmlns:a16="http://schemas.microsoft.com/office/drawing/2014/main" id="{7814E5EF-6F93-ABE3-6742-CDFB59F400B1}"/>
              </a:ext>
            </a:extLst>
          </p:cNvPr>
          <p:cNvSpPr txBox="1"/>
          <p:nvPr/>
        </p:nvSpPr>
        <p:spPr>
          <a:xfrm>
            <a:off x="6741710" y="3561840"/>
            <a:ext cx="1357049" cy="615553"/>
          </a:xfrm>
          <a:prstGeom prst="rect">
            <a:avLst/>
          </a:prstGeom>
          <a:noFill/>
        </p:spPr>
        <p:txBody>
          <a:bodyPr wrap="square" lIns="0" tIns="0" rIns="0" bIns="0" rtlCol="0" anchor="t">
            <a:spAutoFit/>
          </a:bodyPr>
          <a:lstStyle/>
          <a:p>
            <a:pPr>
              <a:defRPr/>
            </a:pPr>
            <a:r>
              <a:rPr lang="en-US" sz="800">
                <a:latin typeface="Corbel"/>
              </a:rPr>
              <a:t>Manage :</a:t>
            </a:r>
          </a:p>
          <a:p>
            <a:pPr marL="285750" indent="-285750">
              <a:buFontTx/>
              <a:buChar char="-"/>
              <a:defRPr/>
            </a:pPr>
            <a:r>
              <a:rPr lang="en-US" sz="800">
                <a:latin typeface="Corbel"/>
              </a:rPr>
              <a:t>Joiners</a:t>
            </a:r>
          </a:p>
          <a:p>
            <a:pPr marL="285750" indent="-285750">
              <a:buFontTx/>
              <a:buChar char="-"/>
              <a:defRPr/>
            </a:pPr>
            <a:r>
              <a:rPr lang="en-US" sz="800">
                <a:latin typeface="Corbel"/>
              </a:rPr>
              <a:t>Movers</a:t>
            </a:r>
          </a:p>
          <a:p>
            <a:pPr marL="285750" indent="-285750">
              <a:buFontTx/>
              <a:buChar char="-"/>
              <a:defRPr/>
            </a:pPr>
            <a:r>
              <a:rPr lang="en-US" sz="800">
                <a:latin typeface="Corbel"/>
              </a:rPr>
              <a:t>Leavers</a:t>
            </a:r>
          </a:p>
          <a:p>
            <a:pPr marL="285750" indent="-285750">
              <a:buFontTx/>
              <a:buChar char="-"/>
              <a:defRPr/>
            </a:pPr>
            <a:r>
              <a:rPr lang="en-US" sz="800">
                <a:latin typeface="Corbel"/>
              </a:rPr>
              <a:t>Authorization</a:t>
            </a:r>
            <a:endParaRPr lang="en-US" sz="800" b="0" i="0" u="none" strike="noStrike" kern="1200" cap="none" spc="0" normalizeH="0" baseline="0">
              <a:ln>
                <a:noFill/>
              </a:ln>
              <a:solidFill>
                <a:srgbClr val="EDEFED"/>
              </a:solidFill>
              <a:effectLst/>
              <a:uLnTx/>
              <a:uFillTx/>
              <a:latin typeface="Montserrat"/>
            </a:endParaRPr>
          </a:p>
        </p:txBody>
      </p:sp>
      <p:sp>
        <p:nvSpPr>
          <p:cNvPr id="64" name="ZoneTexte 63">
            <a:extLst>
              <a:ext uri="{FF2B5EF4-FFF2-40B4-BE49-F238E27FC236}">
                <a16:creationId xmlns:a16="http://schemas.microsoft.com/office/drawing/2014/main" id="{41371C18-22DE-B020-7E66-51EEF5CE9C99}"/>
              </a:ext>
            </a:extLst>
          </p:cNvPr>
          <p:cNvSpPr txBox="1"/>
          <p:nvPr/>
        </p:nvSpPr>
        <p:spPr>
          <a:xfrm>
            <a:off x="6679548" y="3380975"/>
            <a:ext cx="1474781" cy="153888"/>
          </a:xfrm>
          <a:prstGeom prst="rect">
            <a:avLst/>
          </a:prstGeom>
          <a:noFill/>
        </p:spPr>
        <p:txBody>
          <a:bodyPr wrap="square" lIns="36000" tIns="0" rIns="36000" bIns="0" rtlCol="0">
            <a:spAutoFit/>
          </a:bodyPr>
          <a:lstStyle/>
          <a:p>
            <a:r>
              <a:rPr lang="en-US" sz="1000" b="1" cap="all">
                <a:solidFill>
                  <a:srgbClr val="0F6FC6"/>
                </a:solidFill>
                <a:latin typeface="Montserrat"/>
              </a:rPr>
              <a:t>Processes</a:t>
            </a:r>
            <a:endParaRPr lang="en-US" sz="1000">
              <a:latin typeface="Montserrat"/>
            </a:endParaRPr>
          </a:p>
        </p:txBody>
      </p:sp>
      <p:grpSp>
        <p:nvGrpSpPr>
          <p:cNvPr id="65" name="Graphique 59">
            <a:extLst>
              <a:ext uri="{FF2B5EF4-FFF2-40B4-BE49-F238E27FC236}">
                <a16:creationId xmlns:a16="http://schemas.microsoft.com/office/drawing/2014/main" id="{C0B9427F-297D-67A4-E259-30AFB3FFDFD4}"/>
              </a:ext>
            </a:extLst>
          </p:cNvPr>
          <p:cNvGrpSpPr/>
          <p:nvPr/>
        </p:nvGrpSpPr>
        <p:grpSpPr>
          <a:xfrm>
            <a:off x="6522437" y="5716974"/>
            <a:ext cx="216000" cy="216000"/>
            <a:chOff x="8671971" y="1804568"/>
            <a:chExt cx="274587" cy="273299"/>
          </a:xfrm>
        </p:grpSpPr>
        <p:sp>
          <p:nvSpPr>
            <p:cNvPr id="66" name="Forme libre : forme 65">
              <a:extLst>
                <a:ext uri="{FF2B5EF4-FFF2-40B4-BE49-F238E27FC236}">
                  <a16:creationId xmlns:a16="http://schemas.microsoft.com/office/drawing/2014/main" id="{A9A91D47-E8BC-5592-9DF3-D8ECECFA20DF}"/>
                </a:ext>
              </a:extLst>
            </p:cNvPr>
            <p:cNvSpPr/>
            <p:nvPr/>
          </p:nvSpPr>
          <p:spPr>
            <a:xfrm>
              <a:off x="8855651" y="1827228"/>
              <a:ext cx="66675" cy="66675"/>
            </a:xfrm>
            <a:custGeom>
              <a:avLst/>
              <a:gdLst>
                <a:gd name="connsiteX0" fmla="*/ 0 w 66675"/>
                <a:gd name="connsiteY0" fmla="*/ 0 h 66675"/>
                <a:gd name="connsiteX1" fmla="*/ 74200 w 66675"/>
                <a:gd name="connsiteY1" fmla="*/ 74200 h 66675"/>
              </a:gdLst>
              <a:ahLst/>
              <a:cxnLst>
                <a:cxn ang="0">
                  <a:pos x="connsiteX0" y="connsiteY0"/>
                </a:cxn>
                <a:cxn ang="0">
                  <a:pos x="connsiteX1" y="connsiteY1"/>
                </a:cxn>
              </a:cxnLst>
              <a:rect l="l" t="t" r="r" b="b"/>
              <a:pathLst>
                <a:path w="66675" h="66675">
                  <a:moveTo>
                    <a:pt x="0" y="0"/>
                  </a:moveTo>
                  <a:lnTo>
                    <a:pt x="74200" y="74200"/>
                  </a:lnTo>
                </a:path>
              </a:pathLst>
            </a:custGeom>
            <a:ln w="19050" cap="flat">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67" name="Forme libre : forme 66">
              <a:extLst>
                <a:ext uri="{FF2B5EF4-FFF2-40B4-BE49-F238E27FC236}">
                  <a16:creationId xmlns:a16="http://schemas.microsoft.com/office/drawing/2014/main" id="{F3912AFA-F90E-D8A3-63EC-A3D8FD37040F}"/>
                </a:ext>
              </a:extLst>
            </p:cNvPr>
            <p:cNvSpPr/>
            <p:nvPr/>
          </p:nvSpPr>
          <p:spPr>
            <a:xfrm>
              <a:off x="8698908" y="1835984"/>
              <a:ext cx="123825" cy="85725"/>
            </a:xfrm>
            <a:custGeom>
              <a:avLst/>
              <a:gdLst>
                <a:gd name="connsiteX0" fmla="*/ 126682 w 123825"/>
                <a:gd name="connsiteY0" fmla="*/ 6941 h 85725"/>
                <a:gd name="connsiteX1" fmla="*/ 0 w 123825"/>
                <a:gd name="connsiteY1" fmla="*/ 51032 h 85725"/>
                <a:gd name="connsiteX2" fmla="*/ 39662 w 123825"/>
                <a:gd name="connsiteY2" fmla="*/ 90790 h 85725"/>
              </a:gdLst>
              <a:ahLst/>
              <a:cxnLst>
                <a:cxn ang="0">
                  <a:pos x="connsiteX0" y="connsiteY0"/>
                </a:cxn>
                <a:cxn ang="0">
                  <a:pos x="connsiteX1" y="connsiteY1"/>
                </a:cxn>
                <a:cxn ang="0">
                  <a:pos x="connsiteX2" y="connsiteY2"/>
                </a:cxn>
              </a:cxnLst>
              <a:rect l="l" t="t" r="r" b="b"/>
              <a:pathLst>
                <a:path w="123825" h="85725">
                  <a:moveTo>
                    <a:pt x="126682" y="6941"/>
                  </a:moveTo>
                  <a:cubicBezTo>
                    <a:pt x="83344" y="-8756"/>
                    <a:pt x="38100" y="626"/>
                    <a:pt x="0" y="51032"/>
                  </a:cubicBezTo>
                  <a:lnTo>
                    <a:pt x="39662" y="90790"/>
                  </a:lnTo>
                </a:path>
              </a:pathLst>
            </a:custGeom>
            <a:noFill/>
            <a:ln w="19050" cap="flat">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68" name="Forme libre : forme 67">
              <a:extLst>
                <a:ext uri="{FF2B5EF4-FFF2-40B4-BE49-F238E27FC236}">
                  <a16:creationId xmlns:a16="http://schemas.microsoft.com/office/drawing/2014/main" id="{1EC3D70D-966D-60D4-7CD2-F24686E3A929}"/>
                </a:ext>
              </a:extLst>
            </p:cNvPr>
            <p:cNvSpPr/>
            <p:nvPr/>
          </p:nvSpPr>
          <p:spPr>
            <a:xfrm>
              <a:off x="8830601" y="1931783"/>
              <a:ext cx="85725" cy="123825"/>
            </a:xfrm>
            <a:custGeom>
              <a:avLst/>
              <a:gdLst>
                <a:gd name="connsiteX0" fmla="*/ 0 w 85725"/>
                <a:gd name="connsiteY0" fmla="*/ 87020 h 123825"/>
                <a:gd name="connsiteX1" fmla="*/ 39757 w 85725"/>
                <a:gd name="connsiteY1" fmla="*/ 126683 h 123825"/>
                <a:gd name="connsiteX2" fmla="*/ 83849 w 85725"/>
                <a:gd name="connsiteY2" fmla="*/ 0 h 123825"/>
              </a:gdLst>
              <a:ahLst/>
              <a:cxnLst>
                <a:cxn ang="0">
                  <a:pos x="connsiteX0" y="connsiteY0"/>
                </a:cxn>
                <a:cxn ang="0">
                  <a:pos x="connsiteX1" y="connsiteY1"/>
                </a:cxn>
                <a:cxn ang="0">
                  <a:pos x="connsiteX2" y="connsiteY2"/>
                </a:cxn>
              </a:cxnLst>
              <a:rect l="l" t="t" r="r" b="b"/>
              <a:pathLst>
                <a:path w="85725" h="123825">
                  <a:moveTo>
                    <a:pt x="0" y="87020"/>
                  </a:moveTo>
                  <a:lnTo>
                    <a:pt x="39757" y="126683"/>
                  </a:lnTo>
                  <a:cubicBezTo>
                    <a:pt x="90164" y="88583"/>
                    <a:pt x="99546" y="43339"/>
                    <a:pt x="83849" y="0"/>
                  </a:cubicBezTo>
                </a:path>
              </a:pathLst>
            </a:custGeom>
            <a:noFill/>
            <a:ln w="19050" cap="flat">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69" name="Forme libre : forme 68">
              <a:extLst>
                <a:ext uri="{FF2B5EF4-FFF2-40B4-BE49-F238E27FC236}">
                  <a16:creationId xmlns:a16="http://schemas.microsoft.com/office/drawing/2014/main" id="{DE8BCDD0-A78E-6AD0-22FC-B915C0E51432}"/>
                </a:ext>
              </a:extLst>
            </p:cNvPr>
            <p:cNvSpPr/>
            <p:nvPr/>
          </p:nvSpPr>
          <p:spPr>
            <a:xfrm>
              <a:off x="8717958" y="1804568"/>
              <a:ext cx="228600" cy="228600"/>
            </a:xfrm>
            <a:custGeom>
              <a:avLst/>
              <a:gdLst>
                <a:gd name="connsiteX0" fmla="*/ 76200 w 228600"/>
                <a:gd name="connsiteY0" fmla="*/ 234848 h 228600"/>
                <a:gd name="connsiteX1" fmla="*/ 0 w 228600"/>
                <a:gd name="connsiteY1" fmla="*/ 158648 h 228600"/>
                <a:gd name="connsiteX2" fmla="*/ 234848 w 228600"/>
                <a:gd name="connsiteY2" fmla="*/ 0 h 228600"/>
                <a:gd name="connsiteX3" fmla="*/ 76200 w 228600"/>
                <a:gd name="connsiteY3" fmla="*/ 234848 h 228600"/>
              </a:gdLst>
              <a:ahLst/>
              <a:cxnLst>
                <a:cxn ang="0">
                  <a:pos x="connsiteX0" y="connsiteY0"/>
                </a:cxn>
                <a:cxn ang="0">
                  <a:pos x="connsiteX1" y="connsiteY1"/>
                </a:cxn>
                <a:cxn ang="0">
                  <a:pos x="connsiteX2" y="connsiteY2"/>
                </a:cxn>
                <a:cxn ang="0">
                  <a:pos x="connsiteX3" y="connsiteY3"/>
                </a:cxn>
              </a:cxnLst>
              <a:rect l="l" t="t" r="r" b="b"/>
              <a:pathLst>
                <a:path w="228600" h="228600">
                  <a:moveTo>
                    <a:pt x="76200" y="234848"/>
                  </a:moveTo>
                  <a:lnTo>
                    <a:pt x="0" y="158648"/>
                  </a:lnTo>
                  <a:cubicBezTo>
                    <a:pt x="0" y="158648"/>
                    <a:pt x="61846" y="9030"/>
                    <a:pt x="234848" y="0"/>
                  </a:cubicBezTo>
                  <a:cubicBezTo>
                    <a:pt x="225066" y="172260"/>
                    <a:pt x="76200" y="234848"/>
                    <a:pt x="76200" y="234848"/>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03" name="Forme libre : forme 102">
              <a:extLst>
                <a:ext uri="{FF2B5EF4-FFF2-40B4-BE49-F238E27FC236}">
                  <a16:creationId xmlns:a16="http://schemas.microsoft.com/office/drawing/2014/main" id="{48C20034-3FCA-DA21-5E34-9E6226306E30}"/>
                </a:ext>
              </a:extLst>
            </p:cNvPr>
            <p:cNvSpPr/>
            <p:nvPr/>
          </p:nvSpPr>
          <p:spPr>
            <a:xfrm>
              <a:off x="8813208" y="1896541"/>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04" name="Forme libre : forme 103">
              <a:extLst>
                <a:ext uri="{FF2B5EF4-FFF2-40B4-BE49-F238E27FC236}">
                  <a16:creationId xmlns:a16="http://schemas.microsoft.com/office/drawing/2014/main" id="{3B950E15-9F0A-5716-308B-51CBD2ED9271}"/>
                </a:ext>
              </a:extLst>
            </p:cNvPr>
            <p:cNvSpPr/>
            <p:nvPr/>
          </p:nvSpPr>
          <p:spPr>
            <a:xfrm>
              <a:off x="8671971" y="2020717"/>
              <a:ext cx="57150" cy="57150"/>
            </a:xfrm>
            <a:custGeom>
              <a:avLst/>
              <a:gdLst>
                <a:gd name="connsiteX0" fmla="*/ 16259 w 57150"/>
                <a:gd name="connsiteY0" fmla="*/ 8021 h 57150"/>
                <a:gd name="connsiteX1" fmla="*/ 56664 w 57150"/>
                <a:gd name="connsiteY1" fmla="*/ 8723 h 57150"/>
                <a:gd name="connsiteX2" fmla="*/ 56664 w 57150"/>
                <a:gd name="connsiteY2" fmla="*/ 48426 h 57150"/>
                <a:gd name="connsiteX3" fmla="*/ 0 w 57150"/>
                <a:gd name="connsiteY3" fmla="*/ 64685 h 57150"/>
                <a:gd name="connsiteX4" fmla="*/ 16259 w 57150"/>
                <a:gd name="connsiteY4" fmla="*/ 802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16259" y="8021"/>
                  </a:moveTo>
                  <a:cubicBezTo>
                    <a:pt x="27611" y="-2942"/>
                    <a:pt x="45701" y="-2628"/>
                    <a:pt x="56664" y="8723"/>
                  </a:cubicBezTo>
                  <a:cubicBezTo>
                    <a:pt x="67359" y="19797"/>
                    <a:pt x="67359" y="37352"/>
                    <a:pt x="56664" y="48426"/>
                  </a:cubicBezTo>
                  <a:cubicBezTo>
                    <a:pt x="45510" y="59590"/>
                    <a:pt x="0" y="64685"/>
                    <a:pt x="0" y="64685"/>
                  </a:cubicBezTo>
                  <a:cubicBezTo>
                    <a:pt x="0" y="64685"/>
                    <a:pt x="5096" y="19175"/>
                    <a:pt x="16259" y="8021"/>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sp>
        <p:nvSpPr>
          <p:cNvPr id="106" name="TextBox 16">
            <a:extLst>
              <a:ext uri="{FF2B5EF4-FFF2-40B4-BE49-F238E27FC236}">
                <a16:creationId xmlns:a16="http://schemas.microsoft.com/office/drawing/2014/main" id="{040D3F2E-C189-6D0B-D452-7BF5A6825733}"/>
              </a:ext>
            </a:extLst>
          </p:cNvPr>
          <p:cNvSpPr txBox="1"/>
          <p:nvPr/>
        </p:nvSpPr>
        <p:spPr>
          <a:xfrm>
            <a:off x="6514117" y="6055334"/>
            <a:ext cx="1711146" cy="369332"/>
          </a:xfrm>
          <a:prstGeom prst="rect">
            <a:avLst/>
          </a:prstGeom>
          <a:noFill/>
        </p:spPr>
        <p:txBody>
          <a:bodyPr wrap="square" lIns="0" tIns="0" rIns="0" bIns="0" rtlCol="0" anchor="t">
            <a:spAutoFit/>
          </a:bodyPr>
          <a:lstStyle/>
          <a:p>
            <a:pPr>
              <a:defRPr/>
            </a:pPr>
            <a:r>
              <a:rPr lang="en-US" sz="800">
                <a:latin typeface="Corbel"/>
              </a:rPr>
              <a:t>Tools able to manage thousands identities and automate access (de)provisioning &amp; controls</a:t>
            </a:r>
            <a:endParaRPr lang="en-US" sz="800" b="0" i="0" u="none" strike="noStrike" kern="1200" cap="none" spc="0" normalizeH="0" baseline="0" noProof="0">
              <a:ln>
                <a:noFill/>
              </a:ln>
              <a:solidFill>
                <a:srgbClr val="EDEFED"/>
              </a:solidFill>
              <a:effectLst/>
              <a:uLnTx/>
              <a:uFillTx/>
              <a:latin typeface="Montserrat"/>
            </a:endParaRPr>
          </a:p>
        </p:txBody>
      </p:sp>
      <p:sp>
        <p:nvSpPr>
          <p:cNvPr id="115" name="ZoneTexte 114">
            <a:extLst>
              <a:ext uri="{FF2B5EF4-FFF2-40B4-BE49-F238E27FC236}">
                <a16:creationId xmlns:a16="http://schemas.microsoft.com/office/drawing/2014/main" id="{34AC72F6-36D0-0818-4558-DC8F5282C56A}"/>
              </a:ext>
            </a:extLst>
          </p:cNvPr>
          <p:cNvSpPr txBox="1"/>
          <p:nvPr/>
        </p:nvSpPr>
        <p:spPr>
          <a:xfrm>
            <a:off x="6794218" y="5775459"/>
            <a:ext cx="915421" cy="153888"/>
          </a:xfrm>
          <a:prstGeom prst="rect">
            <a:avLst/>
          </a:prstGeom>
          <a:noFill/>
        </p:spPr>
        <p:txBody>
          <a:bodyPr wrap="square" lIns="36000" tIns="0" rIns="36000" bIns="0" rtlCol="0">
            <a:spAutoFit/>
          </a:bodyPr>
          <a:lstStyle/>
          <a:p>
            <a:r>
              <a:rPr lang="en-US" sz="1000" cap="all">
                <a:solidFill>
                  <a:srgbClr val="A2B969"/>
                </a:solidFill>
                <a:latin typeface="Montserrat SemiBold"/>
              </a:rPr>
              <a:t>Tools</a:t>
            </a:r>
            <a:endParaRPr lang="en-US" sz="1000" b="0" i="0" u="none" strike="noStrike" kern="1200" cap="all" spc="0" normalizeH="0" baseline="0" noProof="0">
              <a:ln>
                <a:noFill/>
              </a:ln>
              <a:solidFill>
                <a:srgbClr val="A2B969"/>
              </a:solidFill>
              <a:effectLst/>
              <a:uLnTx/>
              <a:uFillTx/>
              <a:latin typeface="Montserrat SemiBold"/>
            </a:endParaRPr>
          </a:p>
        </p:txBody>
      </p:sp>
      <p:grpSp>
        <p:nvGrpSpPr>
          <p:cNvPr id="116" name="Graphique 229">
            <a:extLst>
              <a:ext uri="{FF2B5EF4-FFF2-40B4-BE49-F238E27FC236}">
                <a16:creationId xmlns:a16="http://schemas.microsoft.com/office/drawing/2014/main" id="{159A3A9C-97E0-D458-67AC-6CB665A197A5}"/>
              </a:ext>
            </a:extLst>
          </p:cNvPr>
          <p:cNvGrpSpPr/>
          <p:nvPr/>
        </p:nvGrpSpPr>
        <p:grpSpPr>
          <a:xfrm>
            <a:off x="10524104" y="3750639"/>
            <a:ext cx="144000" cy="216000"/>
            <a:chOff x="3283710" y="5491684"/>
            <a:chExt cx="209550" cy="295275"/>
          </a:xfrm>
        </p:grpSpPr>
        <p:sp>
          <p:nvSpPr>
            <p:cNvPr id="117" name="Forme libre : forme 116">
              <a:extLst>
                <a:ext uri="{FF2B5EF4-FFF2-40B4-BE49-F238E27FC236}">
                  <a16:creationId xmlns:a16="http://schemas.microsoft.com/office/drawing/2014/main" id="{17BFEDAA-945C-88E6-53CB-BD07B62F06EE}"/>
                </a:ext>
              </a:extLst>
            </p:cNvPr>
            <p:cNvSpPr/>
            <p:nvPr/>
          </p:nvSpPr>
          <p:spPr>
            <a:xfrm>
              <a:off x="3283710" y="5491684"/>
              <a:ext cx="209550" cy="247650"/>
            </a:xfrm>
            <a:custGeom>
              <a:avLst/>
              <a:gdLst>
                <a:gd name="connsiteX0" fmla="*/ 209550 w 209550"/>
                <a:gd name="connsiteY0" fmla="*/ 104775 h 247650"/>
                <a:gd name="connsiteX1" fmla="*/ 104775 w 209550"/>
                <a:gd name="connsiteY1" fmla="*/ 0 h 247650"/>
                <a:gd name="connsiteX2" fmla="*/ 0 w 209550"/>
                <a:gd name="connsiteY2" fmla="*/ 104775 h 247650"/>
                <a:gd name="connsiteX3" fmla="*/ 57150 w 209550"/>
                <a:gd name="connsiteY3" fmla="*/ 198025 h 247650"/>
                <a:gd name="connsiteX4" fmla="*/ 57150 w 209550"/>
                <a:gd name="connsiteY4" fmla="*/ 247650 h 247650"/>
                <a:gd name="connsiteX5" fmla="*/ 152400 w 209550"/>
                <a:gd name="connsiteY5" fmla="*/ 247650 h 247650"/>
                <a:gd name="connsiteX6" fmla="*/ 152400 w 209550"/>
                <a:gd name="connsiteY6" fmla="*/ 198025 h 247650"/>
                <a:gd name="connsiteX7" fmla="*/ 209550 w 209550"/>
                <a:gd name="connsiteY7" fmla="*/ 104775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50" h="247650">
                  <a:moveTo>
                    <a:pt x="209550" y="104775"/>
                  </a:moveTo>
                  <a:cubicBezTo>
                    <a:pt x="209550" y="46911"/>
                    <a:pt x="162639" y="0"/>
                    <a:pt x="104775" y="0"/>
                  </a:cubicBezTo>
                  <a:cubicBezTo>
                    <a:pt x="46911" y="0"/>
                    <a:pt x="0" y="46911"/>
                    <a:pt x="0" y="104775"/>
                  </a:cubicBezTo>
                  <a:cubicBezTo>
                    <a:pt x="0" y="145475"/>
                    <a:pt x="23251" y="180670"/>
                    <a:pt x="57150" y="198025"/>
                  </a:cubicBezTo>
                  <a:lnTo>
                    <a:pt x="57150" y="247650"/>
                  </a:lnTo>
                  <a:lnTo>
                    <a:pt x="152400" y="247650"/>
                  </a:lnTo>
                  <a:lnTo>
                    <a:pt x="152400" y="198025"/>
                  </a:lnTo>
                  <a:cubicBezTo>
                    <a:pt x="186299" y="180670"/>
                    <a:pt x="209550" y="145475"/>
                    <a:pt x="209550" y="104775"/>
                  </a:cubicBezTo>
                  <a:close/>
                </a:path>
              </a:pathLst>
            </a:custGeom>
            <a:noFill/>
            <a:ln w="19050" cap="sq">
              <a:solidFill>
                <a:srgbClr val="4CC1E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18" name="Forme libre : forme 117">
              <a:extLst>
                <a:ext uri="{FF2B5EF4-FFF2-40B4-BE49-F238E27FC236}">
                  <a16:creationId xmlns:a16="http://schemas.microsoft.com/office/drawing/2014/main" id="{78DCFA5A-8E29-9E17-7C2C-7E2A91FB5F48}"/>
                </a:ext>
              </a:extLst>
            </p:cNvPr>
            <p:cNvSpPr/>
            <p:nvPr/>
          </p:nvSpPr>
          <p:spPr>
            <a:xfrm>
              <a:off x="3340860" y="5777434"/>
              <a:ext cx="95250" cy="9525"/>
            </a:xfrm>
            <a:custGeom>
              <a:avLst/>
              <a:gdLst>
                <a:gd name="connsiteX0" fmla="*/ 0 w 95250"/>
                <a:gd name="connsiteY0" fmla="*/ 0 h 0"/>
                <a:gd name="connsiteX1" fmla="*/ 95250 w 95250"/>
                <a:gd name="connsiteY1" fmla="*/ 0 h 0"/>
              </a:gdLst>
              <a:ahLst/>
              <a:cxnLst>
                <a:cxn ang="0">
                  <a:pos x="connsiteX0" y="connsiteY0"/>
                </a:cxn>
                <a:cxn ang="0">
                  <a:pos x="connsiteX1" y="connsiteY1"/>
                </a:cxn>
              </a:cxnLst>
              <a:rect l="l" t="t" r="r" b="b"/>
              <a:pathLst>
                <a:path w="95250">
                  <a:moveTo>
                    <a:pt x="0" y="0"/>
                  </a:moveTo>
                  <a:lnTo>
                    <a:pt x="95250" y="0"/>
                  </a:lnTo>
                </a:path>
              </a:pathLst>
            </a:custGeom>
            <a:ln w="19050" cap="sq">
              <a:solidFill>
                <a:srgbClr val="4CC1E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19" name="Forme libre : forme 118">
              <a:extLst>
                <a:ext uri="{FF2B5EF4-FFF2-40B4-BE49-F238E27FC236}">
                  <a16:creationId xmlns:a16="http://schemas.microsoft.com/office/drawing/2014/main" id="{85DE1D56-5D0E-9494-1972-610EE3277B23}"/>
                </a:ext>
              </a:extLst>
            </p:cNvPr>
            <p:cNvSpPr/>
            <p:nvPr/>
          </p:nvSpPr>
          <p:spPr>
            <a:xfrm>
              <a:off x="3331335" y="5539309"/>
              <a:ext cx="57150" cy="57150"/>
            </a:xfrm>
            <a:custGeom>
              <a:avLst/>
              <a:gdLst>
                <a:gd name="connsiteX0" fmla="*/ 0 w 57150"/>
                <a:gd name="connsiteY0" fmla="*/ 57150 h 57150"/>
                <a:gd name="connsiteX1" fmla="*/ 57150 w 57150"/>
                <a:gd name="connsiteY1" fmla="*/ 0 h 57150"/>
              </a:gdLst>
              <a:ahLst/>
              <a:cxnLst>
                <a:cxn ang="0">
                  <a:pos x="connsiteX0" y="connsiteY0"/>
                </a:cxn>
                <a:cxn ang="0">
                  <a:pos x="connsiteX1" y="connsiteY1"/>
                </a:cxn>
              </a:cxnLst>
              <a:rect l="l" t="t" r="r" b="b"/>
              <a:pathLst>
                <a:path w="57150" h="57150">
                  <a:moveTo>
                    <a:pt x="0" y="57150"/>
                  </a:moveTo>
                  <a:cubicBezTo>
                    <a:pt x="0" y="25584"/>
                    <a:pt x="25584" y="0"/>
                    <a:pt x="57150" y="0"/>
                  </a:cubicBezTo>
                </a:path>
              </a:pathLst>
            </a:custGeom>
            <a:noFill/>
            <a:ln w="19050" cap="sq">
              <a:solidFill>
                <a:srgbClr val="4CC1E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sp>
        <p:nvSpPr>
          <p:cNvPr id="121" name="TextBox 16">
            <a:extLst>
              <a:ext uri="{FF2B5EF4-FFF2-40B4-BE49-F238E27FC236}">
                <a16:creationId xmlns:a16="http://schemas.microsoft.com/office/drawing/2014/main" id="{0FEC67E2-B851-400D-F276-F91A9988D3A2}"/>
              </a:ext>
            </a:extLst>
          </p:cNvPr>
          <p:cNvSpPr txBox="1"/>
          <p:nvPr/>
        </p:nvSpPr>
        <p:spPr>
          <a:xfrm>
            <a:off x="10590850" y="4032581"/>
            <a:ext cx="1661783" cy="285656"/>
          </a:xfrm>
          <a:prstGeom prst="rect">
            <a:avLst/>
          </a:prstGeom>
          <a:noFill/>
        </p:spPr>
        <p:txBody>
          <a:bodyPr wrap="square" lIns="0" tIns="0" rIns="0" bIns="0" rtlCol="0" anchor="t">
            <a:spAutoFit/>
          </a:bodyPr>
          <a:lstStyle/>
          <a:p>
            <a:pPr>
              <a:lnSpc>
                <a:spcPct val="120000"/>
              </a:lnSpc>
              <a:defRPr/>
            </a:pPr>
            <a:r>
              <a:rPr lang="en-US" sz="800">
                <a:latin typeface="Corbel"/>
              </a:rPr>
              <a:t>Use master sources to manage users’ lifecycle and reduce human errors </a:t>
            </a:r>
          </a:p>
        </p:txBody>
      </p:sp>
      <p:sp>
        <p:nvSpPr>
          <p:cNvPr id="122" name="ZoneTexte 121">
            <a:extLst>
              <a:ext uri="{FF2B5EF4-FFF2-40B4-BE49-F238E27FC236}">
                <a16:creationId xmlns:a16="http://schemas.microsoft.com/office/drawing/2014/main" id="{B5156639-D98B-77AC-AEDB-777BE77C42FB}"/>
              </a:ext>
            </a:extLst>
          </p:cNvPr>
          <p:cNvSpPr txBox="1"/>
          <p:nvPr/>
        </p:nvSpPr>
        <p:spPr>
          <a:xfrm>
            <a:off x="10740532" y="3805550"/>
            <a:ext cx="1104073" cy="153888"/>
          </a:xfrm>
          <a:prstGeom prst="rect">
            <a:avLst/>
          </a:prstGeom>
          <a:noFill/>
        </p:spPr>
        <p:txBody>
          <a:bodyPr wrap="square" lIns="36000" tIns="0" rIns="36000" bIns="0" rtlCol="0">
            <a:spAutoFit/>
          </a:bodyPr>
          <a:lstStyle/>
          <a:p>
            <a:r>
              <a:rPr lang="en-US" sz="1000" b="1" cap="all">
                <a:solidFill>
                  <a:srgbClr val="4CC0EE"/>
                </a:solidFill>
                <a:latin typeface="Montserrat"/>
              </a:rPr>
              <a:t>Master DATA</a:t>
            </a:r>
            <a:endParaRPr lang="en-US" sz="1000" b="1" cap="all">
              <a:solidFill>
                <a:srgbClr val="4CC0EE"/>
              </a:solidFill>
            </a:endParaRPr>
          </a:p>
        </p:txBody>
      </p:sp>
    </p:spTree>
    <p:extLst>
      <p:ext uri="{BB962C8B-B14F-4D97-AF65-F5344CB8AC3E}">
        <p14:creationId xmlns:p14="http://schemas.microsoft.com/office/powerpoint/2010/main" val="4066006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4C27C4-0C86-4152-BC42-937F027626EB}"/>
              </a:ext>
            </a:extLst>
          </p:cNvPr>
          <p:cNvSpPr>
            <a:spLocks noGrp="1"/>
          </p:cNvSpPr>
          <p:nvPr>
            <p:ph type="title"/>
          </p:nvPr>
        </p:nvSpPr>
        <p:spPr/>
        <p:txBody>
          <a:bodyPr/>
          <a:lstStyle/>
          <a:p>
            <a:r>
              <a:rPr lang="fr-FR" sz="3600"/>
              <a:t>BYCN </a:t>
            </a:r>
            <a:r>
              <a:rPr lang="fr-FR" sz="3600" err="1"/>
              <a:t>current</a:t>
            </a:r>
            <a:r>
              <a:rPr lang="fr-FR" sz="3600"/>
              <a:t> situation </a:t>
            </a:r>
            <a:r>
              <a:rPr lang="fr-FR" sz="3600" err="1"/>
              <a:t>regarding</a:t>
            </a:r>
            <a:r>
              <a:rPr lang="fr-FR" sz="3600"/>
              <a:t> IGA</a:t>
            </a:r>
            <a:endParaRPr lang="fr-FR"/>
          </a:p>
        </p:txBody>
      </p:sp>
      <p:sp>
        <p:nvSpPr>
          <p:cNvPr id="4" name="Espace réservé du pied de page 3">
            <a:extLst>
              <a:ext uri="{FF2B5EF4-FFF2-40B4-BE49-F238E27FC236}">
                <a16:creationId xmlns:a16="http://schemas.microsoft.com/office/drawing/2014/main" id="{F2DB8AEB-CB35-490D-A333-19701D01A496}"/>
              </a:ext>
            </a:extLst>
          </p:cNvPr>
          <p:cNvSpPr>
            <a:spLocks noGrp="1"/>
          </p:cNvSpPr>
          <p:nvPr>
            <p:ph type="ftr" sz="quarter" idx="13"/>
          </p:nvPr>
        </p:nvSpPr>
        <p:spPr/>
        <p:txBody>
          <a:bodyPr/>
          <a:lstStyle/>
          <a:p>
            <a:r>
              <a:rPr lang="fr-FR"/>
              <a:t>Bouygues Construction  |  Mois Année</a:t>
            </a:r>
          </a:p>
        </p:txBody>
      </p:sp>
      <p:sp>
        <p:nvSpPr>
          <p:cNvPr id="5" name="Espace réservé du numéro de diapositive 4">
            <a:extLst>
              <a:ext uri="{FF2B5EF4-FFF2-40B4-BE49-F238E27FC236}">
                <a16:creationId xmlns:a16="http://schemas.microsoft.com/office/drawing/2014/main" id="{C534682A-16E4-4B67-8447-E9530AE82107}"/>
              </a:ext>
            </a:extLst>
          </p:cNvPr>
          <p:cNvSpPr>
            <a:spLocks noGrp="1"/>
          </p:cNvSpPr>
          <p:nvPr>
            <p:ph type="sldNum" sz="quarter" idx="14"/>
          </p:nvPr>
        </p:nvSpPr>
        <p:spPr/>
        <p:txBody>
          <a:bodyPr/>
          <a:lstStyle/>
          <a:p>
            <a:r>
              <a:rPr lang="fr-FR"/>
              <a:t>| </a:t>
            </a:r>
            <a:fld id="{C2EBF694-A8F9-4F06-8F8E-D09447FAA2D5}" type="slidenum">
              <a:rPr smtClean="0"/>
              <a:pPr/>
              <a:t>8</a:t>
            </a:fld>
            <a:endParaRPr/>
          </a:p>
        </p:txBody>
      </p:sp>
      <p:sp>
        <p:nvSpPr>
          <p:cNvPr id="29" name="Rectangle 28">
            <a:extLst>
              <a:ext uri="{FF2B5EF4-FFF2-40B4-BE49-F238E27FC236}">
                <a16:creationId xmlns:a16="http://schemas.microsoft.com/office/drawing/2014/main" id="{B30C81EC-325F-11FA-C9F4-BC79F76B3E16}"/>
              </a:ext>
            </a:extLst>
          </p:cNvPr>
          <p:cNvSpPr/>
          <p:nvPr/>
        </p:nvSpPr>
        <p:spPr>
          <a:xfrm>
            <a:off x="8585200" y="1"/>
            <a:ext cx="3618470" cy="6858000"/>
          </a:xfrm>
          <a:prstGeom prst="rect">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a:extLst>
              <a:ext uri="{FF2B5EF4-FFF2-40B4-BE49-F238E27FC236}">
                <a16:creationId xmlns:a16="http://schemas.microsoft.com/office/drawing/2014/main" id="{C3223DF3-06EB-A470-C7EB-060DBE3AD7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2300" y="731171"/>
            <a:ext cx="1037235" cy="532447"/>
          </a:xfrm>
          <a:prstGeom prst="rect">
            <a:avLst/>
          </a:prstGeom>
        </p:spPr>
      </p:pic>
      <p:sp>
        <p:nvSpPr>
          <p:cNvPr id="21" name="TextBox 16">
            <a:extLst>
              <a:ext uri="{FF2B5EF4-FFF2-40B4-BE49-F238E27FC236}">
                <a16:creationId xmlns:a16="http://schemas.microsoft.com/office/drawing/2014/main" id="{D954699A-C97C-0CDB-83E9-C74A7AAF5577}"/>
              </a:ext>
            </a:extLst>
          </p:cNvPr>
          <p:cNvSpPr txBox="1"/>
          <p:nvPr/>
        </p:nvSpPr>
        <p:spPr>
          <a:xfrm>
            <a:off x="8971280" y="1390882"/>
            <a:ext cx="2915919"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FE6E2B"/>
                </a:solidFill>
                <a:latin typeface="Montserrat" panose="00000500000000000000" pitchFamily="2" charset="0"/>
              </a:rPr>
              <a:t>Global key figures impacting IGA</a:t>
            </a:r>
            <a:endParaRPr kumimoji="0" lang="en-US" b="1" i="0" u="none" strike="noStrike" kern="1200" cap="none" spc="0" normalizeH="0" baseline="0">
              <a:ln>
                <a:noFill/>
              </a:ln>
              <a:solidFill>
                <a:srgbClr val="FE6E2B"/>
              </a:solidFill>
              <a:effectLst/>
              <a:uLnTx/>
              <a:uFillTx/>
              <a:latin typeface="Montserrat" panose="00000500000000000000" pitchFamily="2" charset="0"/>
              <a:ea typeface="+mn-ea"/>
              <a:cs typeface="+mn-cs"/>
            </a:endParaRPr>
          </a:p>
        </p:txBody>
      </p:sp>
      <p:sp>
        <p:nvSpPr>
          <p:cNvPr id="22" name="ZoneTexte 21">
            <a:extLst>
              <a:ext uri="{FF2B5EF4-FFF2-40B4-BE49-F238E27FC236}">
                <a16:creationId xmlns:a16="http://schemas.microsoft.com/office/drawing/2014/main" id="{5B7FEE6F-08EF-4903-A847-18E0AF6DE248}"/>
              </a:ext>
            </a:extLst>
          </p:cNvPr>
          <p:cNvSpPr txBox="1"/>
          <p:nvPr/>
        </p:nvSpPr>
        <p:spPr>
          <a:xfrm>
            <a:off x="8585200" y="1922937"/>
            <a:ext cx="3618470" cy="3924151"/>
          </a:xfrm>
          <a:prstGeom prst="rect">
            <a:avLst/>
          </a:prstGeom>
          <a:noFill/>
        </p:spPr>
        <p:txBody>
          <a:bodyPr wrap="square" lIns="91440" tIns="45720" rIns="91440" bIns="45720" anchor="t">
            <a:spAutoFit/>
          </a:bodyPr>
          <a:lstStyle/>
          <a:p>
            <a:pPr lvl="1">
              <a:defRPr/>
            </a:pPr>
            <a:endParaRPr kumimoji="0" lang="en-US" sz="1200" b="0" i="0" u="none" strike="noStrike" kern="1200" cap="none" spc="0" normalizeH="0" baseline="0">
              <a:ln>
                <a:noFill/>
              </a:ln>
              <a:solidFill>
                <a:srgbClr val="000000"/>
              </a:solidFill>
              <a:effectLst/>
              <a:uLnTx/>
              <a:uFillTx/>
              <a:latin typeface="Calibri"/>
              <a:ea typeface="+mn-ea"/>
              <a:cs typeface="+mn-cs"/>
            </a:endParaRPr>
          </a:p>
          <a:p>
            <a:pPr lvl="1">
              <a:defRPr/>
            </a:pPr>
            <a:endParaRPr kumimoji="0" lang="en-US" sz="1200" b="0" i="0" u="none" strike="noStrike" kern="1200" cap="none" spc="0" normalizeH="0" baseline="0">
              <a:ln>
                <a:noFill/>
              </a:ln>
              <a:solidFill>
                <a:srgbClr val="000000"/>
              </a:solidFill>
              <a:effectLst/>
              <a:uLnTx/>
              <a:uFillTx/>
              <a:latin typeface="Calibri"/>
              <a:ea typeface="+mn-ea"/>
              <a:cs typeface="+mn-cs"/>
            </a:endParaRPr>
          </a:p>
          <a:p>
            <a:pPr lvl="1">
              <a:defRPr/>
            </a:pPr>
            <a:r>
              <a:rPr kumimoji="0" lang="en-US" sz="1400" b="1" i="1" u="sng" strike="noStrike" kern="1200" cap="none" spc="0" normalizeH="0" baseline="0" dirty="0">
                <a:ln>
                  <a:noFill/>
                </a:ln>
                <a:solidFill>
                  <a:srgbClr val="FE6E2B"/>
                </a:solidFill>
                <a:effectLst/>
                <a:uLnTx/>
                <a:uFillTx/>
                <a:latin typeface="Calibri"/>
                <a:ea typeface="+mn-ea"/>
                <a:cs typeface="+mn-cs"/>
              </a:rPr>
              <a:t>A large amount of identities</a:t>
            </a:r>
            <a:endParaRPr lang="en-US" sz="1400" b="1" i="1" u="sng" strike="noStrike" kern="1200" cap="none" spc="0" normalizeH="0" baseline="0" dirty="0">
              <a:ln>
                <a:noFill/>
              </a:ln>
              <a:solidFill>
                <a:srgbClr val="FE6E2B"/>
              </a:solidFill>
              <a:effectLst/>
              <a:uLnTx/>
              <a:uFillTx/>
              <a:latin typeface="Calibri"/>
              <a:cs typeface="Calibri"/>
            </a:endParaRPr>
          </a:p>
          <a:p>
            <a:pPr lvl="1">
              <a:defRPr/>
            </a:pPr>
            <a:r>
              <a:rPr kumimoji="0" lang="en-US" sz="1100" b="0" i="0" u="none" strike="noStrike" kern="1200" cap="none" spc="0" normalizeH="0" baseline="0" dirty="0">
                <a:ln>
                  <a:noFill/>
                </a:ln>
                <a:solidFill>
                  <a:srgbClr val="000000"/>
                </a:solidFill>
                <a:effectLst/>
                <a:uLnTx/>
                <a:uFillTx/>
                <a:latin typeface="Calibri"/>
                <a:ea typeface="+mn-ea"/>
                <a:cs typeface="+mn-cs"/>
              </a:rPr>
              <a:t>More than 20 000</a:t>
            </a:r>
            <a:r>
              <a:rPr kumimoji="0" lang="en-US" sz="1100" b="0" i="0" u="none" strike="noStrike" kern="1200" cap="none" spc="0" normalizeH="0" baseline="30000" dirty="0">
                <a:ln>
                  <a:noFill/>
                </a:ln>
                <a:solidFill>
                  <a:srgbClr val="000000"/>
                </a:solidFill>
                <a:effectLst/>
                <a:uLnTx/>
                <a:uFillTx/>
                <a:latin typeface="Calibri"/>
                <a:ea typeface="+mn-ea"/>
                <a:cs typeface="+mn-cs"/>
              </a:rPr>
              <a:t>(*)</a:t>
            </a:r>
            <a:r>
              <a:rPr kumimoji="0" lang="en-US" sz="1100" b="0" i="0" u="none" strike="noStrike" kern="1200" cap="none" spc="0" normalizeH="0" baseline="0" dirty="0">
                <a:ln>
                  <a:noFill/>
                </a:ln>
                <a:solidFill>
                  <a:srgbClr val="000000"/>
                </a:solidFill>
                <a:effectLst/>
                <a:uLnTx/>
                <a:uFillTx/>
                <a:latin typeface="Calibri"/>
                <a:ea typeface="+mn-ea"/>
                <a:cs typeface="+mn-cs"/>
              </a:rPr>
              <a:t> identities are managed worldwide, </a:t>
            </a:r>
            <a:r>
              <a:rPr lang="en-US" sz="1100" dirty="0">
                <a:solidFill>
                  <a:srgbClr val="000000"/>
                </a:solidFill>
                <a:latin typeface="Calibri"/>
              </a:rPr>
              <a:t>including </a:t>
            </a:r>
            <a:r>
              <a:rPr kumimoji="0" lang="en-US" sz="1100" i="0" u="none" strike="noStrike" kern="1200" cap="none" spc="0" normalizeH="0" baseline="0" dirty="0">
                <a:ln>
                  <a:noFill/>
                </a:ln>
                <a:solidFill>
                  <a:srgbClr val="000000"/>
                </a:solidFill>
                <a:effectLst/>
                <a:uLnTx/>
                <a:uFillTx/>
                <a:latin typeface="Calibri"/>
                <a:ea typeface="+mn-ea"/>
                <a:cs typeface="+mn-cs"/>
              </a:rPr>
              <a:t>10.000</a:t>
            </a:r>
            <a:r>
              <a:rPr kumimoji="0" lang="en-US" sz="1100" b="0" i="0" u="none" strike="noStrike" kern="1200" cap="none" spc="0" normalizeH="0" baseline="30000" dirty="0">
                <a:ln>
                  <a:noFill/>
                </a:ln>
                <a:solidFill>
                  <a:srgbClr val="000000"/>
                </a:solidFill>
                <a:effectLst/>
                <a:uLnTx/>
                <a:uFillTx/>
                <a:latin typeface="Calibri"/>
                <a:ea typeface="+mn-ea"/>
                <a:cs typeface="+mn-cs"/>
              </a:rPr>
              <a:t> (*)</a:t>
            </a:r>
            <a:r>
              <a:rPr kumimoji="0" lang="en-US" sz="1100" i="0" u="none" strike="noStrike" kern="1200" cap="none" spc="0" normalizeH="0" baseline="0" dirty="0">
                <a:ln>
                  <a:noFill/>
                </a:ln>
                <a:solidFill>
                  <a:srgbClr val="000000"/>
                </a:solidFill>
                <a:effectLst/>
                <a:uLnTx/>
                <a:uFillTx/>
                <a:latin typeface="Calibri"/>
                <a:ea typeface="+mn-ea"/>
                <a:cs typeface="+mn-cs"/>
              </a:rPr>
              <a:t> only in France</a:t>
            </a:r>
            <a:br>
              <a:rPr lang="en-US" sz="1100" i="0" u="none" strike="noStrike" kern="1200" cap="none" spc="0" normalizeH="0" baseline="0" dirty="0">
                <a:ln>
                  <a:noFill/>
                </a:ln>
                <a:effectLst/>
                <a:uLnTx/>
                <a:uFillTx/>
                <a:latin typeface="Calibri"/>
              </a:rPr>
            </a:br>
            <a:br>
              <a:rPr lang="en-US" sz="1200" i="0" u="none" strike="noStrike" kern="1200" cap="none" spc="0" normalizeH="0" baseline="0" dirty="0">
                <a:ln>
                  <a:noFill/>
                </a:ln>
                <a:effectLst/>
                <a:uLnTx/>
                <a:uFillTx/>
                <a:latin typeface="Calibri"/>
              </a:rPr>
            </a:br>
            <a:r>
              <a:rPr lang="en-US" sz="1200" dirty="0">
                <a:solidFill>
                  <a:srgbClr val="000000"/>
                </a:solidFill>
                <a:latin typeface="Calibri"/>
              </a:rPr>
              <a:t> </a:t>
            </a:r>
            <a:endParaRPr lang="en-US" sz="1200" i="0" u="none" strike="noStrike" kern="1200" cap="none" spc="0" normalizeH="0" baseline="0" dirty="0">
              <a:ln>
                <a:noFill/>
              </a:ln>
              <a:solidFill>
                <a:srgbClr val="000000"/>
              </a:solidFill>
              <a:effectLst/>
              <a:uLnTx/>
              <a:uFillTx/>
              <a:latin typeface="Calibri"/>
              <a:cs typeface="Calibri"/>
            </a:endParaRPr>
          </a:p>
          <a:p>
            <a:pPr marR="0" lvl="1" algn="l" defTabSz="914400" rtl="0" eaLnBrk="1" fontAlgn="auto" latinLnBrk="0" hangingPunct="1">
              <a:lnSpc>
                <a:spcPct val="100000"/>
              </a:lnSpc>
              <a:spcBef>
                <a:spcPts val="0"/>
              </a:spcBef>
              <a:spcAft>
                <a:spcPts val="0"/>
              </a:spcAft>
              <a:buClrTx/>
              <a:buSzTx/>
              <a:tabLst/>
              <a:defRPr/>
            </a:pPr>
            <a:endParaRPr kumimoji="0" lang="en-US" sz="1200" b="0" i="0" u="none" strike="noStrike" kern="1200" cap="none" spc="0" normalizeH="0" baseline="0">
              <a:ln>
                <a:noFill/>
              </a:ln>
              <a:solidFill>
                <a:srgbClr val="000000"/>
              </a:solidFill>
              <a:effectLst/>
              <a:uLnTx/>
              <a:uFillTx/>
              <a:latin typeface="Calibri"/>
              <a:ea typeface="+mn-ea"/>
              <a:cs typeface="+mn-cs"/>
            </a:endParaRPr>
          </a:p>
          <a:p>
            <a:pPr lvl="1">
              <a:defRPr/>
            </a:pPr>
            <a:r>
              <a:rPr lang="en-US" sz="1400" b="1" i="1" u="sng" dirty="0">
                <a:solidFill>
                  <a:srgbClr val="FE6E2B"/>
                </a:solidFill>
                <a:latin typeface="Calibri"/>
              </a:rPr>
              <a:t>Different lifecycles per population</a:t>
            </a:r>
            <a:br>
              <a:rPr lang="en-US" sz="1200" b="0" i="0" u="none" strike="noStrike" kern="1200" cap="none" spc="0" normalizeH="0" baseline="0" dirty="0">
                <a:ln>
                  <a:noFill/>
                </a:ln>
                <a:effectLst/>
                <a:uLnTx/>
                <a:uFillTx/>
                <a:latin typeface="Calibri"/>
              </a:rPr>
            </a:br>
            <a:r>
              <a:rPr kumimoji="0" lang="en-US" sz="1200" b="0" i="0" u="none" strike="noStrike" kern="1200" cap="none" spc="0" normalizeH="0" baseline="0" dirty="0">
                <a:ln>
                  <a:noFill/>
                </a:ln>
                <a:solidFill>
                  <a:srgbClr val="000000"/>
                </a:solidFill>
                <a:effectLst/>
                <a:uLnTx/>
                <a:uFillTx/>
                <a:latin typeface="Calibri"/>
                <a:ea typeface="+mn-ea"/>
                <a:cs typeface="+mn-cs"/>
              </a:rPr>
              <a:t>Staff</a:t>
            </a:r>
            <a:r>
              <a:rPr lang="en-US" sz="1200" dirty="0">
                <a:solidFill>
                  <a:srgbClr val="000000"/>
                </a:solidFill>
                <a:latin typeface="Calibri"/>
              </a:rPr>
              <a:t> &amp;</a:t>
            </a:r>
            <a:r>
              <a:rPr kumimoji="0" lang="en-US" sz="1200" b="0" i="0" u="none" strike="noStrike" kern="1200" cap="none" spc="0" normalizeH="0" baseline="0" dirty="0">
                <a:ln>
                  <a:noFill/>
                </a:ln>
                <a:solidFill>
                  <a:srgbClr val="000000"/>
                </a:solidFill>
                <a:effectLst/>
                <a:uLnTx/>
                <a:uFillTx/>
                <a:latin typeface="Calibri"/>
                <a:ea typeface="+mn-ea"/>
                <a:cs typeface="+mn-cs"/>
              </a:rPr>
              <a:t> workers with different lifecycles and needs</a:t>
            </a:r>
            <a:r>
              <a:rPr lang="en-US" sz="1200" dirty="0">
                <a:solidFill>
                  <a:srgbClr val="000000"/>
                </a:solidFill>
                <a:latin typeface="Calibri"/>
              </a:rPr>
              <a:t>  </a:t>
            </a:r>
            <a:r>
              <a:rPr kumimoji="0" lang="en-US" sz="1200" b="0" i="0" u="none" strike="noStrike" kern="1200" cap="none" spc="0" normalizeH="0" baseline="0" dirty="0">
                <a:ln>
                  <a:noFill/>
                </a:ln>
                <a:solidFill>
                  <a:srgbClr val="000000"/>
                </a:solidFill>
                <a:effectLst/>
                <a:uLnTx/>
                <a:uFillTx/>
                <a:latin typeface="Calibri"/>
                <a:ea typeface="+mn-ea"/>
                <a:cs typeface="+mn-cs"/>
              </a:rPr>
              <a:t> </a:t>
            </a:r>
            <a:br>
              <a:rPr lang="en-US" sz="1200" b="0" i="0" u="none" strike="noStrike" kern="1200" cap="none" spc="0" normalizeH="0" baseline="0" dirty="0">
                <a:ln>
                  <a:noFill/>
                </a:ln>
                <a:effectLst/>
                <a:uLnTx/>
                <a:uFillTx/>
                <a:latin typeface="Calibri"/>
              </a:rPr>
            </a:br>
            <a:endParaRPr kumimoji="0" lang="en-US" sz="1200" b="0" i="0" u="none" strike="noStrike" kern="1200" cap="none" spc="0" normalizeH="0" baseline="0">
              <a:ln>
                <a:noFill/>
              </a:ln>
              <a:solidFill>
                <a:srgbClr val="000000"/>
              </a:solidFill>
              <a:effectLst/>
              <a:uLnTx/>
              <a:uFillTx/>
              <a:latin typeface="Calibri"/>
              <a:ea typeface="+mn-ea"/>
              <a:cs typeface="+mn-cs"/>
            </a:endParaRPr>
          </a:p>
          <a:p>
            <a:pPr marR="0" lvl="1" algn="l" defTabSz="914400" rtl="0" eaLnBrk="1" fontAlgn="auto" latinLnBrk="0" hangingPunct="1">
              <a:lnSpc>
                <a:spcPct val="100000"/>
              </a:lnSpc>
              <a:spcBef>
                <a:spcPts val="0"/>
              </a:spcBef>
              <a:spcAft>
                <a:spcPts val="0"/>
              </a:spcAft>
              <a:buClrTx/>
              <a:buSzTx/>
              <a:tabLst/>
              <a:defRPr/>
            </a:pPr>
            <a:endParaRPr lang="en-US" sz="1200">
              <a:solidFill>
                <a:srgbClr val="000000"/>
              </a:solidFill>
              <a:latin typeface="Calibri"/>
            </a:endParaRPr>
          </a:p>
          <a:p>
            <a:pPr lvl="1">
              <a:defRPr/>
            </a:pPr>
            <a:endParaRPr kumimoji="0" lang="en-US" sz="1200" b="0" i="0" u="none" strike="noStrike" kern="1200" cap="none" spc="0" normalizeH="0" baseline="0">
              <a:ln>
                <a:noFill/>
              </a:ln>
              <a:solidFill>
                <a:srgbClr val="000000"/>
              </a:solidFill>
              <a:effectLst/>
              <a:uLnTx/>
              <a:uFillTx/>
              <a:latin typeface="Calibri"/>
              <a:ea typeface="+mn-ea"/>
              <a:cs typeface="+mn-cs"/>
            </a:endParaRPr>
          </a:p>
          <a:p>
            <a:pPr lvl="1">
              <a:defRPr/>
            </a:pPr>
            <a:r>
              <a:rPr lang="en-US" sz="1400" b="1" i="1" u="sng" dirty="0">
                <a:solidFill>
                  <a:srgbClr val="FE6E2B"/>
                </a:solidFill>
                <a:latin typeface="Calibri"/>
              </a:rPr>
              <a:t>An international context </a:t>
            </a:r>
            <a:endParaRPr lang="en-US" sz="1200" dirty="0">
              <a:latin typeface="Calibri"/>
            </a:endParaRPr>
          </a:p>
          <a:p>
            <a:pPr lvl="1">
              <a:defRPr/>
            </a:pPr>
            <a:r>
              <a:rPr lang="en-US" sz="1200" dirty="0">
                <a:latin typeface="Calibri"/>
              </a:rPr>
              <a:t>Chorus usage varies between countries/entities</a:t>
            </a:r>
            <a:r>
              <a:rPr lang="en-US" sz="1200" dirty="0">
                <a:ea typeface="+mn-lt"/>
                <a:cs typeface="+mn-lt"/>
              </a:rPr>
              <a:t> </a:t>
            </a:r>
            <a:r>
              <a:rPr kumimoji="0" lang="en-US" sz="1200" b="0" i="0" u="none" strike="noStrike" kern="1200" cap="none" spc="0" normalizeH="0" baseline="0" dirty="0">
                <a:ln>
                  <a:noFill/>
                </a:ln>
                <a:solidFill>
                  <a:srgbClr val="000000"/>
                </a:solidFill>
                <a:effectLst/>
                <a:uLnTx/>
                <a:uFillTx/>
                <a:latin typeface="Calibri"/>
                <a:ea typeface="+mn-ea"/>
                <a:cs typeface="+mn-cs"/>
              </a:rPr>
              <a:t>. </a:t>
            </a:r>
            <a:br>
              <a:rPr lang="en-US" sz="1200" dirty="0">
                <a:latin typeface="Calibri"/>
              </a:rPr>
            </a:br>
            <a:endParaRPr lang="en-US" sz="1200">
              <a:solidFill>
                <a:srgbClr val="000000"/>
              </a:solidFill>
              <a:latin typeface="Calibri"/>
              <a:cs typeface="Calibri"/>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1" i="0" u="none" strike="noStrike" kern="1200" cap="none" spc="0" normalizeH="0" baseline="0">
              <a:ln>
                <a:noFill/>
              </a:ln>
              <a:solidFill>
                <a:srgbClr val="000000"/>
              </a:solidFill>
              <a:effectLst/>
              <a:uLnTx/>
              <a:uFillTx/>
              <a:latin typeface="Calibri"/>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1" i="0" u="none" strike="noStrike" kern="1200" cap="none" spc="0" normalizeH="0" baseline="0">
              <a:ln>
                <a:noFill/>
              </a:ln>
              <a:solidFill>
                <a:srgbClr val="000000"/>
              </a:solidFill>
              <a:effectLst/>
              <a:uLnTx/>
              <a:uFillTx/>
              <a:latin typeface="Calibri"/>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0" i="0" u="none" strike="noStrike" kern="1200" cap="none" spc="0" normalizeH="0" baseline="0">
              <a:ln>
                <a:noFill/>
              </a:ln>
              <a:solidFill>
                <a:srgbClr val="000000"/>
              </a:solidFill>
              <a:effectLst/>
              <a:uLnTx/>
              <a:uFillTx/>
              <a:latin typeface="Calibri"/>
              <a:ea typeface="+mn-ea"/>
              <a:cs typeface="+mn-cs"/>
            </a:endParaRPr>
          </a:p>
        </p:txBody>
      </p:sp>
      <p:pic>
        <p:nvPicPr>
          <p:cNvPr id="23" name="Image 22">
            <a:extLst>
              <a:ext uri="{FF2B5EF4-FFF2-40B4-BE49-F238E27FC236}">
                <a16:creationId xmlns:a16="http://schemas.microsoft.com/office/drawing/2014/main" id="{7F81D030-19BF-D551-CCB8-3836322252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3948" y="2725808"/>
            <a:ext cx="2506725" cy="2487323"/>
          </a:xfrm>
          <a:prstGeom prst="rect">
            <a:avLst/>
          </a:prstGeom>
        </p:spPr>
      </p:pic>
      <p:grpSp>
        <p:nvGrpSpPr>
          <p:cNvPr id="49" name="Groupe 48">
            <a:extLst>
              <a:ext uri="{FF2B5EF4-FFF2-40B4-BE49-F238E27FC236}">
                <a16:creationId xmlns:a16="http://schemas.microsoft.com/office/drawing/2014/main" id="{A497587A-A9A0-056C-292E-A6554CFDE232}"/>
              </a:ext>
            </a:extLst>
          </p:cNvPr>
          <p:cNvGrpSpPr/>
          <p:nvPr/>
        </p:nvGrpSpPr>
        <p:grpSpPr>
          <a:xfrm>
            <a:off x="328446" y="2033669"/>
            <a:ext cx="2841852" cy="1164143"/>
            <a:chOff x="1172251" y="3775475"/>
            <a:chExt cx="2841852" cy="1164143"/>
          </a:xfrm>
        </p:grpSpPr>
        <p:sp>
          <p:nvSpPr>
            <p:cNvPr id="51" name="Rectangle : coins arrondis 50">
              <a:extLst>
                <a:ext uri="{FF2B5EF4-FFF2-40B4-BE49-F238E27FC236}">
                  <a16:creationId xmlns:a16="http://schemas.microsoft.com/office/drawing/2014/main" id="{5F004511-BABC-A7D8-8D6D-1C855D820082}"/>
                </a:ext>
              </a:extLst>
            </p:cNvPr>
            <p:cNvSpPr/>
            <p:nvPr/>
          </p:nvSpPr>
          <p:spPr>
            <a:xfrm>
              <a:off x="1172251" y="3775475"/>
              <a:ext cx="2841852" cy="1164143"/>
            </a:xfrm>
            <a:prstGeom prst="roundRect">
              <a:avLst>
                <a:gd name="adj" fmla="val 3101"/>
              </a:avLst>
            </a:prstGeom>
            <a:solidFill>
              <a:schemeClr val="bg1"/>
            </a:solidFill>
            <a:ln w="19050">
              <a:solidFill>
                <a:srgbClr val="002060"/>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3" name="TextBox 16">
              <a:extLst>
                <a:ext uri="{FF2B5EF4-FFF2-40B4-BE49-F238E27FC236}">
                  <a16:creationId xmlns:a16="http://schemas.microsoft.com/office/drawing/2014/main" id="{AFA9357F-FE03-476B-D072-776430BDE5D2}"/>
                </a:ext>
              </a:extLst>
            </p:cNvPr>
            <p:cNvSpPr txBox="1"/>
            <p:nvPr/>
          </p:nvSpPr>
          <p:spPr>
            <a:xfrm>
              <a:off x="1172251" y="3860882"/>
              <a:ext cx="2841852" cy="184666"/>
            </a:xfrm>
            <a:prstGeom prst="rect">
              <a:avLst/>
            </a:prstGeom>
            <a:noFill/>
            <a:ln w="19050">
              <a:noFill/>
            </a:ln>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6B8D"/>
                  </a:solidFill>
                  <a:latin typeface="Montserrat" panose="00000500000000000000" pitchFamily="2" charset="0"/>
                </a:rPr>
                <a:t>P</a:t>
              </a:r>
              <a:r>
                <a:rPr kumimoji="0" lang="en-US" sz="1200" b="1" i="0" u="none" strike="noStrike" kern="1200" cap="none" spc="0" normalizeH="0" baseline="0" noProof="0" err="1">
                  <a:ln>
                    <a:noFill/>
                  </a:ln>
                  <a:solidFill>
                    <a:srgbClr val="006B8D"/>
                  </a:solidFill>
                  <a:effectLst/>
                  <a:uLnTx/>
                  <a:uFillTx/>
                  <a:latin typeface="Montserrat" panose="00000500000000000000" pitchFamily="2" charset="0"/>
                  <a:ea typeface="+mn-ea"/>
                  <a:cs typeface="+mn-cs"/>
                </a:rPr>
                <a:t>rocesses</a:t>
              </a:r>
              <a:endPar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endParaRPr>
            </a:p>
          </p:txBody>
        </p:sp>
        <p:sp>
          <p:nvSpPr>
            <p:cNvPr id="54" name="ZoneTexte 53">
              <a:extLst>
                <a:ext uri="{FF2B5EF4-FFF2-40B4-BE49-F238E27FC236}">
                  <a16:creationId xmlns:a16="http://schemas.microsoft.com/office/drawing/2014/main" id="{DCE39A7B-A3B5-D979-E187-C42A7513CB5E}"/>
                </a:ext>
              </a:extLst>
            </p:cNvPr>
            <p:cNvSpPr txBox="1"/>
            <p:nvPr/>
          </p:nvSpPr>
          <p:spPr>
            <a:xfrm>
              <a:off x="1340644" y="4255995"/>
              <a:ext cx="2512291" cy="461665"/>
            </a:xfrm>
            <a:prstGeom prst="rect">
              <a:avLst/>
            </a:prstGeom>
            <a:noFill/>
            <a:ln w="19050">
              <a:noFill/>
            </a:ln>
          </p:spPr>
          <p:txBody>
            <a:bodyPr wrap="square" lIns="36000" tIns="0" rIns="36000" bIns="0" rtlCol="0">
              <a:spAutoFit/>
            </a:bodyPr>
            <a:lstStyle/>
            <a:p>
              <a:pPr>
                <a:defRPr/>
              </a:pPr>
              <a:r>
                <a:rPr lang="en-US" sz="1000">
                  <a:latin typeface="Corbel"/>
                </a:rPr>
                <a:t>Joiner, mover &amp; Leaver </a:t>
              </a:r>
              <a:r>
                <a:rPr lang="en-US" sz="1000" b="1" i="1">
                  <a:latin typeface="Corbel"/>
                </a:rPr>
                <a:t>processes mainly rely on manual actions </a:t>
              </a:r>
              <a:r>
                <a:rPr lang="en-US" sz="1000">
                  <a:latin typeface="Corbel"/>
                </a:rPr>
                <a:t>with variations from entities &amp; countries</a:t>
              </a:r>
            </a:p>
          </p:txBody>
        </p:sp>
        <p:grpSp>
          <p:nvGrpSpPr>
            <p:cNvPr id="55" name="Graphique 683">
              <a:extLst>
                <a:ext uri="{FF2B5EF4-FFF2-40B4-BE49-F238E27FC236}">
                  <a16:creationId xmlns:a16="http://schemas.microsoft.com/office/drawing/2014/main" id="{60B45E76-898B-0032-76DD-DB55EB043AF4}"/>
                </a:ext>
              </a:extLst>
            </p:cNvPr>
            <p:cNvGrpSpPr/>
            <p:nvPr/>
          </p:nvGrpSpPr>
          <p:grpSpPr>
            <a:xfrm>
              <a:off x="1804072" y="3867629"/>
              <a:ext cx="180000" cy="180000"/>
              <a:chOff x="4336025" y="3645955"/>
              <a:chExt cx="285750" cy="285750"/>
            </a:xfrm>
          </p:grpSpPr>
          <p:sp>
            <p:nvSpPr>
              <p:cNvPr id="56" name="Forme libre : forme 55">
                <a:extLst>
                  <a:ext uri="{FF2B5EF4-FFF2-40B4-BE49-F238E27FC236}">
                    <a16:creationId xmlns:a16="http://schemas.microsoft.com/office/drawing/2014/main" id="{8A629705-2605-705A-972C-FC7A005C81CB}"/>
                  </a:ext>
                </a:extLst>
              </p:cNvPr>
              <p:cNvSpPr/>
              <p:nvPr/>
            </p:nvSpPr>
            <p:spPr>
              <a:xfrm>
                <a:off x="4440800" y="375073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7" name="Forme libre : forme 56">
                <a:extLst>
                  <a:ext uri="{FF2B5EF4-FFF2-40B4-BE49-F238E27FC236}">
                    <a16:creationId xmlns:a16="http://schemas.microsoft.com/office/drawing/2014/main" id="{2E23906E-453E-A0DA-8947-B7C64BD413CE}"/>
                  </a:ext>
                </a:extLst>
              </p:cNvPr>
              <p:cNvSpPr/>
              <p:nvPr/>
            </p:nvSpPr>
            <p:spPr>
              <a:xfrm>
                <a:off x="4336025" y="3645955"/>
                <a:ext cx="285750" cy="285750"/>
              </a:xfrm>
              <a:custGeom>
                <a:avLst/>
                <a:gdLst>
                  <a:gd name="connsiteX0" fmla="*/ 285750 w 285750"/>
                  <a:gd name="connsiteY0" fmla="*/ 161925 h 285750"/>
                  <a:gd name="connsiteX1" fmla="*/ 285750 w 285750"/>
                  <a:gd name="connsiteY1" fmla="*/ 123825 h 285750"/>
                  <a:gd name="connsiteX2" fmla="*/ 244735 w 285750"/>
                  <a:gd name="connsiteY2" fmla="*/ 118701 h 285750"/>
                  <a:gd name="connsiteX3" fmla="*/ 231981 w 285750"/>
                  <a:gd name="connsiteY3" fmla="*/ 87963 h 285750"/>
                  <a:gd name="connsiteX4" fmla="*/ 257375 w 285750"/>
                  <a:gd name="connsiteY4" fmla="*/ 55321 h 285750"/>
                  <a:gd name="connsiteX5" fmla="*/ 230429 w 285750"/>
                  <a:gd name="connsiteY5" fmla="*/ 28375 h 285750"/>
                  <a:gd name="connsiteX6" fmla="*/ 197787 w 285750"/>
                  <a:gd name="connsiteY6" fmla="*/ 53769 h 285750"/>
                  <a:gd name="connsiteX7" fmla="*/ 167049 w 285750"/>
                  <a:gd name="connsiteY7" fmla="*/ 41015 h 285750"/>
                  <a:gd name="connsiteX8" fmla="*/ 161925 w 285750"/>
                  <a:gd name="connsiteY8" fmla="*/ 0 h 285750"/>
                  <a:gd name="connsiteX9" fmla="*/ 123825 w 285750"/>
                  <a:gd name="connsiteY9" fmla="*/ 0 h 285750"/>
                  <a:gd name="connsiteX10" fmla="*/ 118701 w 285750"/>
                  <a:gd name="connsiteY10" fmla="*/ 41015 h 285750"/>
                  <a:gd name="connsiteX11" fmla="*/ 87963 w 285750"/>
                  <a:gd name="connsiteY11" fmla="*/ 53769 h 285750"/>
                  <a:gd name="connsiteX12" fmla="*/ 55321 w 285750"/>
                  <a:gd name="connsiteY12" fmla="*/ 28375 h 285750"/>
                  <a:gd name="connsiteX13" fmla="*/ 28375 w 285750"/>
                  <a:gd name="connsiteY13" fmla="*/ 55321 h 285750"/>
                  <a:gd name="connsiteX14" fmla="*/ 53769 w 285750"/>
                  <a:gd name="connsiteY14" fmla="*/ 87963 h 285750"/>
                  <a:gd name="connsiteX15" fmla="*/ 41015 w 285750"/>
                  <a:gd name="connsiteY15" fmla="*/ 118701 h 285750"/>
                  <a:gd name="connsiteX16" fmla="*/ 0 w 285750"/>
                  <a:gd name="connsiteY16" fmla="*/ 123825 h 285750"/>
                  <a:gd name="connsiteX17" fmla="*/ 0 w 285750"/>
                  <a:gd name="connsiteY17" fmla="*/ 161925 h 285750"/>
                  <a:gd name="connsiteX18" fmla="*/ 41015 w 285750"/>
                  <a:gd name="connsiteY18" fmla="*/ 167049 h 285750"/>
                  <a:gd name="connsiteX19" fmla="*/ 53769 w 285750"/>
                  <a:gd name="connsiteY19" fmla="*/ 197787 h 285750"/>
                  <a:gd name="connsiteX20" fmla="*/ 28375 w 285750"/>
                  <a:gd name="connsiteY20" fmla="*/ 230429 h 285750"/>
                  <a:gd name="connsiteX21" fmla="*/ 55321 w 285750"/>
                  <a:gd name="connsiteY21" fmla="*/ 257375 h 285750"/>
                  <a:gd name="connsiteX22" fmla="*/ 87963 w 285750"/>
                  <a:gd name="connsiteY22" fmla="*/ 231981 h 285750"/>
                  <a:gd name="connsiteX23" fmla="*/ 118701 w 285750"/>
                  <a:gd name="connsiteY23" fmla="*/ 244735 h 285750"/>
                  <a:gd name="connsiteX24" fmla="*/ 123825 w 285750"/>
                  <a:gd name="connsiteY24" fmla="*/ 285750 h 285750"/>
                  <a:gd name="connsiteX25" fmla="*/ 161925 w 285750"/>
                  <a:gd name="connsiteY25" fmla="*/ 285750 h 285750"/>
                  <a:gd name="connsiteX26" fmla="*/ 167049 w 285750"/>
                  <a:gd name="connsiteY26" fmla="*/ 244735 h 285750"/>
                  <a:gd name="connsiteX27" fmla="*/ 197787 w 285750"/>
                  <a:gd name="connsiteY27" fmla="*/ 231981 h 285750"/>
                  <a:gd name="connsiteX28" fmla="*/ 230429 w 285750"/>
                  <a:gd name="connsiteY28" fmla="*/ 257375 h 285750"/>
                  <a:gd name="connsiteX29" fmla="*/ 257375 w 285750"/>
                  <a:gd name="connsiteY29" fmla="*/ 230429 h 285750"/>
                  <a:gd name="connsiteX30" fmla="*/ 231981 w 285750"/>
                  <a:gd name="connsiteY30" fmla="*/ 197787 h 285750"/>
                  <a:gd name="connsiteX31" fmla="*/ 244735 w 285750"/>
                  <a:gd name="connsiteY31" fmla="*/ 167049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50" h="285750">
                    <a:moveTo>
                      <a:pt x="285750" y="161925"/>
                    </a:moveTo>
                    <a:lnTo>
                      <a:pt x="285750" y="123825"/>
                    </a:lnTo>
                    <a:lnTo>
                      <a:pt x="244735" y="118701"/>
                    </a:lnTo>
                    <a:cubicBezTo>
                      <a:pt x="242162" y="107836"/>
                      <a:pt x="237856" y="97458"/>
                      <a:pt x="231981" y="87963"/>
                    </a:cubicBezTo>
                    <a:lnTo>
                      <a:pt x="257375" y="55321"/>
                    </a:lnTo>
                    <a:lnTo>
                      <a:pt x="230429" y="28375"/>
                    </a:lnTo>
                    <a:lnTo>
                      <a:pt x="197787" y="53769"/>
                    </a:lnTo>
                    <a:cubicBezTo>
                      <a:pt x="188292" y="47894"/>
                      <a:pt x="177914" y="43588"/>
                      <a:pt x="167049" y="41015"/>
                    </a:cubicBezTo>
                    <a:lnTo>
                      <a:pt x="161925" y="0"/>
                    </a:lnTo>
                    <a:lnTo>
                      <a:pt x="123825" y="0"/>
                    </a:lnTo>
                    <a:lnTo>
                      <a:pt x="118701" y="41015"/>
                    </a:lnTo>
                    <a:cubicBezTo>
                      <a:pt x="107836" y="43588"/>
                      <a:pt x="97458" y="47894"/>
                      <a:pt x="87963" y="53769"/>
                    </a:cubicBezTo>
                    <a:lnTo>
                      <a:pt x="55321" y="28375"/>
                    </a:lnTo>
                    <a:lnTo>
                      <a:pt x="28375" y="55321"/>
                    </a:lnTo>
                    <a:lnTo>
                      <a:pt x="53769" y="87963"/>
                    </a:lnTo>
                    <a:cubicBezTo>
                      <a:pt x="47894" y="97458"/>
                      <a:pt x="43588" y="107836"/>
                      <a:pt x="41015" y="118701"/>
                    </a:cubicBezTo>
                    <a:lnTo>
                      <a:pt x="0" y="123825"/>
                    </a:lnTo>
                    <a:lnTo>
                      <a:pt x="0" y="161925"/>
                    </a:lnTo>
                    <a:lnTo>
                      <a:pt x="41015" y="167049"/>
                    </a:lnTo>
                    <a:cubicBezTo>
                      <a:pt x="43588" y="177914"/>
                      <a:pt x="47894" y="188292"/>
                      <a:pt x="53769" y="197787"/>
                    </a:cubicBezTo>
                    <a:lnTo>
                      <a:pt x="28375" y="230429"/>
                    </a:lnTo>
                    <a:lnTo>
                      <a:pt x="55321" y="257375"/>
                    </a:lnTo>
                    <a:lnTo>
                      <a:pt x="87963" y="231981"/>
                    </a:lnTo>
                    <a:cubicBezTo>
                      <a:pt x="97458" y="237856"/>
                      <a:pt x="107836" y="242162"/>
                      <a:pt x="118701" y="244735"/>
                    </a:cubicBezTo>
                    <a:lnTo>
                      <a:pt x="123825" y="285750"/>
                    </a:lnTo>
                    <a:lnTo>
                      <a:pt x="161925" y="285750"/>
                    </a:lnTo>
                    <a:lnTo>
                      <a:pt x="167049" y="244735"/>
                    </a:lnTo>
                    <a:cubicBezTo>
                      <a:pt x="177914" y="242162"/>
                      <a:pt x="188292" y="237856"/>
                      <a:pt x="197787" y="231981"/>
                    </a:cubicBezTo>
                    <a:lnTo>
                      <a:pt x="230429" y="257375"/>
                    </a:lnTo>
                    <a:lnTo>
                      <a:pt x="257375" y="230429"/>
                    </a:lnTo>
                    <a:lnTo>
                      <a:pt x="231981" y="197787"/>
                    </a:lnTo>
                    <a:cubicBezTo>
                      <a:pt x="237856" y="188292"/>
                      <a:pt x="242162" y="177914"/>
                      <a:pt x="244735" y="167049"/>
                    </a:cubicBezTo>
                    <a:close/>
                  </a:path>
                </a:pathLst>
              </a:custGeom>
              <a:noFill/>
              <a:ln w="19050"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grpSp>
      <p:sp>
        <p:nvSpPr>
          <p:cNvPr id="60" name="Rectangle : coins arrondis 59">
            <a:extLst>
              <a:ext uri="{FF2B5EF4-FFF2-40B4-BE49-F238E27FC236}">
                <a16:creationId xmlns:a16="http://schemas.microsoft.com/office/drawing/2014/main" id="{A7F0DB29-18AD-E3AC-71E6-C6E1CBE336C0}"/>
              </a:ext>
            </a:extLst>
          </p:cNvPr>
          <p:cNvSpPr/>
          <p:nvPr/>
        </p:nvSpPr>
        <p:spPr>
          <a:xfrm>
            <a:off x="5298832" y="1861151"/>
            <a:ext cx="2937428" cy="1719320"/>
          </a:xfrm>
          <a:prstGeom prst="roundRect">
            <a:avLst>
              <a:gd name="adj" fmla="val 3101"/>
            </a:avLst>
          </a:prstGeom>
          <a:solidFill>
            <a:schemeClr val="bg1"/>
          </a:solidFill>
          <a:ln w="19050">
            <a:solidFill>
              <a:srgbClr val="4CC1EF"/>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66" name="TextBox 16">
            <a:extLst>
              <a:ext uri="{FF2B5EF4-FFF2-40B4-BE49-F238E27FC236}">
                <a16:creationId xmlns:a16="http://schemas.microsoft.com/office/drawing/2014/main" id="{79167934-080F-7CD7-48C9-8462D75BC301}"/>
              </a:ext>
            </a:extLst>
          </p:cNvPr>
          <p:cNvSpPr txBox="1"/>
          <p:nvPr/>
        </p:nvSpPr>
        <p:spPr>
          <a:xfrm>
            <a:off x="6315405" y="2090516"/>
            <a:ext cx="1384877" cy="184666"/>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4CC1EF"/>
                </a:solidFill>
                <a:effectLst/>
                <a:uLnTx/>
                <a:uFillTx/>
                <a:latin typeface="Montserrat" panose="00000500000000000000" pitchFamily="2" charset="0"/>
                <a:ea typeface="+mn-ea"/>
                <a:cs typeface="+mn-cs"/>
              </a:rPr>
              <a:t>Master Data</a:t>
            </a:r>
          </a:p>
        </p:txBody>
      </p:sp>
      <p:sp>
        <p:nvSpPr>
          <p:cNvPr id="67" name="ZoneTexte 66">
            <a:extLst>
              <a:ext uri="{FF2B5EF4-FFF2-40B4-BE49-F238E27FC236}">
                <a16:creationId xmlns:a16="http://schemas.microsoft.com/office/drawing/2014/main" id="{B9A8FF2B-0023-2A3C-D9A7-2B2B3DC87CE2}"/>
              </a:ext>
            </a:extLst>
          </p:cNvPr>
          <p:cNvSpPr txBox="1"/>
          <p:nvPr/>
        </p:nvSpPr>
        <p:spPr>
          <a:xfrm>
            <a:off x="5364803" y="2406687"/>
            <a:ext cx="2777153" cy="1095685"/>
          </a:xfrm>
          <a:prstGeom prst="rect">
            <a:avLst/>
          </a:prstGeom>
          <a:noFill/>
        </p:spPr>
        <p:txBody>
          <a:bodyPr wrap="square" lIns="36000" tIns="0" rIns="36000" bIns="0" rtlCol="0">
            <a:spAutoFit/>
          </a:bodyPr>
          <a:lstStyle/>
          <a:p>
            <a:pPr>
              <a:lnSpc>
                <a:spcPct val="120000"/>
              </a:lnSpc>
              <a:defRPr/>
            </a:pPr>
            <a:r>
              <a:rPr lang="en-US" sz="1000" b="1" i="1">
                <a:latin typeface="Corbel"/>
              </a:rPr>
              <a:t>Only two main data sources </a:t>
            </a:r>
            <a:r>
              <a:rPr lang="en-US" sz="1000">
                <a:latin typeface="Corbel"/>
              </a:rPr>
              <a:t>for internals :</a:t>
            </a:r>
          </a:p>
          <a:p>
            <a:pPr marL="171450" indent="-171450">
              <a:lnSpc>
                <a:spcPct val="120000"/>
              </a:lnSpc>
              <a:buFontTx/>
              <a:buChar char="-"/>
              <a:defRPr/>
            </a:pPr>
            <a:r>
              <a:rPr lang="en-US" sz="1000">
                <a:latin typeface="Corbel"/>
              </a:rPr>
              <a:t>RUBIS (FR scope)</a:t>
            </a:r>
          </a:p>
          <a:p>
            <a:pPr marL="171450" indent="-171450">
              <a:lnSpc>
                <a:spcPct val="120000"/>
              </a:lnSpc>
              <a:buFontTx/>
              <a:buChar char="-"/>
              <a:defRPr/>
            </a:pPr>
            <a:r>
              <a:rPr lang="en-US" sz="1000">
                <a:latin typeface="Corbel"/>
              </a:rPr>
              <a:t>CHORUS (world scope)</a:t>
            </a:r>
          </a:p>
          <a:p>
            <a:pPr>
              <a:lnSpc>
                <a:spcPct val="120000"/>
              </a:lnSpc>
              <a:defRPr/>
            </a:pPr>
            <a:endParaRPr lang="en-US" sz="1000">
              <a:latin typeface="Corbel"/>
            </a:endParaRPr>
          </a:p>
          <a:p>
            <a:pPr>
              <a:lnSpc>
                <a:spcPct val="120000"/>
              </a:lnSpc>
              <a:defRPr/>
            </a:pPr>
            <a:r>
              <a:rPr lang="en-US" sz="1000">
                <a:latin typeface="Corbel"/>
              </a:rPr>
              <a:t>Data are uploaded to CHORUS manually &amp; periodically from entities.</a:t>
            </a:r>
          </a:p>
        </p:txBody>
      </p:sp>
      <p:grpSp>
        <p:nvGrpSpPr>
          <p:cNvPr id="68" name="Graphique 229">
            <a:extLst>
              <a:ext uri="{FF2B5EF4-FFF2-40B4-BE49-F238E27FC236}">
                <a16:creationId xmlns:a16="http://schemas.microsoft.com/office/drawing/2014/main" id="{2CFA3D42-9A57-F73A-AA6E-AAA4BEF34C7F}"/>
              </a:ext>
            </a:extLst>
          </p:cNvPr>
          <p:cNvGrpSpPr/>
          <p:nvPr/>
        </p:nvGrpSpPr>
        <p:grpSpPr>
          <a:xfrm>
            <a:off x="6138678" y="2076013"/>
            <a:ext cx="144000" cy="216000"/>
            <a:chOff x="3283710" y="5491684"/>
            <a:chExt cx="209550" cy="295275"/>
          </a:xfrm>
        </p:grpSpPr>
        <p:sp>
          <p:nvSpPr>
            <p:cNvPr id="69" name="Forme libre : forme 68">
              <a:extLst>
                <a:ext uri="{FF2B5EF4-FFF2-40B4-BE49-F238E27FC236}">
                  <a16:creationId xmlns:a16="http://schemas.microsoft.com/office/drawing/2014/main" id="{91A03763-5FFE-A641-5502-6FCDD36A9A66}"/>
                </a:ext>
              </a:extLst>
            </p:cNvPr>
            <p:cNvSpPr/>
            <p:nvPr/>
          </p:nvSpPr>
          <p:spPr>
            <a:xfrm>
              <a:off x="3283710" y="5491684"/>
              <a:ext cx="209550" cy="247650"/>
            </a:xfrm>
            <a:custGeom>
              <a:avLst/>
              <a:gdLst>
                <a:gd name="connsiteX0" fmla="*/ 209550 w 209550"/>
                <a:gd name="connsiteY0" fmla="*/ 104775 h 247650"/>
                <a:gd name="connsiteX1" fmla="*/ 104775 w 209550"/>
                <a:gd name="connsiteY1" fmla="*/ 0 h 247650"/>
                <a:gd name="connsiteX2" fmla="*/ 0 w 209550"/>
                <a:gd name="connsiteY2" fmla="*/ 104775 h 247650"/>
                <a:gd name="connsiteX3" fmla="*/ 57150 w 209550"/>
                <a:gd name="connsiteY3" fmla="*/ 198025 h 247650"/>
                <a:gd name="connsiteX4" fmla="*/ 57150 w 209550"/>
                <a:gd name="connsiteY4" fmla="*/ 247650 h 247650"/>
                <a:gd name="connsiteX5" fmla="*/ 152400 w 209550"/>
                <a:gd name="connsiteY5" fmla="*/ 247650 h 247650"/>
                <a:gd name="connsiteX6" fmla="*/ 152400 w 209550"/>
                <a:gd name="connsiteY6" fmla="*/ 198025 h 247650"/>
                <a:gd name="connsiteX7" fmla="*/ 209550 w 209550"/>
                <a:gd name="connsiteY7" fmla="*/ 104775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50" h="247650">
                  <a:moveTo>
                    <a:pt x="209550" y="104775"/>
                  </a:moveTo>
                  <a:cubicBezTo>
                    <a:pt x="209550" y="46911"/>
                    <a:pt x="162639" y="0"/>
                    <a:pt x="104775" y="0"/>
                  </a:cubicBezTo>
                  <a:cubicBezTo>
                    <a:pt x="46911" y="0"/>
                    <a:pt x="0" y="46911"/>
                    <a:pt x="0" y="104775"/>
                  </a:cubicBezTo>
                  <a:cubicBezTo>
                    <a:pt x="0" y="145475"/>
                    <a:pt x="23251" y="180670"/>
                    <a:pt x="57150" y="198025"/>
                  </a:cubicBezTo>
                  <a:lnTo>
                    <a:pt x="57150" y="247650"/>
                  </a:lnTo>
                  <a:lnTo>
                    <a:pt x="152400" y="247650"/>
                  </a:lnTo>
                  <a:lnTo>
                    <a:pt x="152400" y="198025"/>
                  </a:lnTo>
                  <a:cubicBezTo>
                    <a:pt x="186299" y="180670"/>
                    <a:pt x="209550" y="145475"/>
                    <a:pt x="209550" y="104775"/>
                  </a:cubicBezTo>
                  <a:close/>
                </a:path>
              </a:pathLst>
            </a:custGeom>
            <a:noFill/>
            <a:ln w="19050" cap="sq">
              <a:solidFill>
                <a:srgbClr val="4CC1E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70" name="Forme libre : forme 69">
              <a:extLst>
                <a:ext uri="{FF2B5EF4-FFF2-40B4-BE49-F238E27FC236}">
                  <a16:creationId xmlns:a16="http://schemas.microsoft.com/office/drawing/2014/main" id="{7A5D7512-7247-4659-EB10-06FB5B920940}"/>
                </a:ext>
              </a:extLst>
            </p:cNvPr>
            <p:cNvSpPr/>
            <p:nvPr/>
          </p:nvSpPr>
          <p:spPr>
            <a:xfrm>
              <a:off x="3340860" y="5777434"/>
              <a:ext cx="95250" cy="9525"/>
            </a:xfrm>
            <a:custGeom>
              <a:avLst/>
              <a:gdLst>
                <a:gd name="connsiteX0" fmla="*/ 0 w 95250"/>
                <a:gd name="connsiteY0" fmla="*/ 0 h 0"/>
                <a:gd name="connsiteX1" fmla="*/ 95250 w 95250"/>
                <a:gd name="connsiteY1" fmla="*/ 0 h 0"/>
              </a:gdLst>
              <a:ahLst/>
              <a:cxnLst>
                <a:cxn ang="0">
                  <a:pos x="connsiteX0" y="connsiteY0"/>
                </a:cxn>
                <a:cxn ang="0">
                  <a:pos x="connsiteX1" y="connsiteY1"/>
                </a:cxn>
              </a:cxnLst>
              <a:rect l="l" t="t" r="r" b="b"/>
              <a:pathLst>
                <a:path w="95250">
                  <a:moveTo>
                    <a:pt x="0" y="0"/>
                  </a:moveTo>
                  <a:lnTo>
                    <a:pt x="95250" y="0"/>
                  </a:lnTo>
                </a:path>
              </a:pathLst>
            </a:custGeom>
            <a:ln w="19050" cap="sq">
              <a:solidFill>
                <a:srgbClr val="4CC1E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71" name="Forme libre : forme 70">
              <a:extLst>
                <a:ext uri="{FF2B5EF4-FFF2-40B4-BE49-F238E27FC236}">
                  <a16:creationId xmlns:a16="http://schemas.microsoft.com/office/drawing/2014/main" id="{2B1756C2-14B6-FB15-7EC1-270605C68599}"/>
                </a:ext>
              </a:extLst>
            </p:cNvPr>
            <p:cNvSpPr/>
            <p:nvPr/>
          </p:nvSpPr>
          <p:spPr>
            <a:xfrm>
              <a:off x="3331335" y="5539309"/>
              <a:ext cx="57150" cy="57150"/>
            </a:xfrm>
            <a:custGeom>
              <a:avLst/>
              <a:gdLst>
                <a:gd name="connsiteX0" fmla="*/ 0 w 57150"/>
                <a:gd name="connsiteY0" fmla="*/ 57150 h 57150"/>
                <a:gd name="connsiteX1" fmla="*/ 57150 w 57150"/>
                <a:gd name="connsiteY1" fmla="*/ 0 h 57150"/>
              </a:gdLst>
              <a:ahLst/>
              <a:cxnLst>
                <a:cxn ang="0">
                  <a:pos x="connsiteX0" y="connsiteY0"/>
                </a:cxn>
                <a:cxn ang="0">
                  <a:pos x="connsiteX1" y="connsiteY1"/>
                </a:cxn>
              </a:cxnLst>
              <a:rect l="l" t="t" r="r" b="b"/>
              <a:pathLst>
                <a:path w="57150" h="57150">
                  <a:moveTo>
                    <a:pt x="0" y="57150"/>
                  </a:moveTo>
                  <a:cubicBezTo>
                    <a:pt x="0" y="25584"/>
                    <a:pt x="25584" y="0"/>
                    <a:pt x="57150" y="0"/>
                  </a:cubicBezTo>
                </a:path>
              </a:pathLst>
            </a:custGeom>
            <a:noFill/>
            <a:ln w="19050" cap="sq">
              <a:solidFill>
                <a:srgbClr val="4CC1E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sp>
        <p:nvSpPr>
          <p:cNvPr id="72" name="Rectangle : coins arrondis 71">
            <a:extLst>
              <a:ext uri="{FF2B5EF4-FFF2-40B4-BE49-F238E27FC236}">
                <a16:creationId xmlns:a16="http://schemas.microsoft.com/office/drawing/2014/main" id="{565D7401-FA8E-3D2D-7D64-C898DA2A727D}"/>
              </a:ext>
            </a:extLst>
          </p:cNvPr>
          <p:cNvSpPr/>
          <p:nvPr/>
        </p:nvSpPr>
        <p:spPr>
          <a:xfrm>
            <a:off x="328446" y="4818713"/>
            <a:ext cx="2947677" cy="1515411"/>
          </a:xfrm>
          <a:prstGeom prst="roundRect">
            <a:avLst>
              <a:gd name="adj" fmla="val 3101"/>
            </a:avLst>
          </a:prstGeom>
          <a:solidFill>
            <a:schemeClr val="bg1"/>
          </a:solidFill>
          <a:ln w="19050">
            <a:solidFill>
              <a:srgbClr val="A2B969"/>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73" name="TextBox 16">
            <a:extLst>
              <a:ext uri="{FF2B5EF4-FFF2-40B4-BE49-F238E27FC236}">
                <a16:creationId xmlns:a16="http://schemas.microsoft.com/office/drawing/2014/main" id="{65071505-767A-C69E-4FAA-BB5BA5FF97F9}"/>
              </a:ext>
            </a:extLst>
          </p:cNvPr>
          <p:cNvSpPr txBox="1"/>
          <p:nvPr/>
        </p:nvSpPr>
        <p:spPr>
          <a:xfrm>
            <a:off x="904395" y="4860551"/>
            <a:ext cx="1745979" cy="204223"/>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en-US" sz="1200" cap="all">
                <a:solidFill>
                  <a:srgbClr val="A2B969"/>
                </a:solidFill>
                <a:latin typeface="Montserrat SemiBold"/>
              </a:rPr>
              <a:t>Tools</a:t>
            </a:r>
          </a:p>
        </p:txBody>
      </p:sp>
      <p:sp>
        <p:nvSpPr>
          <p:cNvPr id="74" name="ZoneTexte 73">
            <a:extLst>
              <a:ext uri="{FF2B5EF4-FFF2-40B4-BE49-F238E27FC236}">
                <a16:creationId xmlns:a16="http://schemas.microsoft.com/office/drawing/2014/main" id="{50580FC1-748F-AA76-828F-8124503BAD1E}"/>
              </a:ext>
            </a:extLst>
          </p:cNvPr>
          <p:cNvSpPr txBox="1"/>
          <p:nvPr/>
        </p:nvSpPr>
        <p:spPr>
          <a:xfrm>
            <a:off x="496840" y="5166769"/>
            <a:ext cx="2629118" cy="1095685"/>
          </a:xfrm>
          <a:prstGeom prst="rect">
            <a:avLst/>
          </a:prstGeom>
          <a:noFill/>
        </p:spPr>
        <p:txBody>
          <a:bodyPr wrap="square" lIns="36000" tIns="0" rIns="36000" bIns="0" rtlCol="0">
            <a:spAutoFit/>
          </a:bodyPr>
          <a:lstStyle/>
          <a:p>
            <a:pPr marL="171450" marR="0" lvl="0" indent="-171450"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000" b="1" i="1">
                <a:latin typeface="Corbel"/>
              </a:rPr>
              <a:t>CPEOPLE </a:t>
            </a:r>
            <a:r>
              <a:rPr lang="en-US" sz="1000">
                <a:latin typeface="Corbel"/>
              </a:rPr>
              <a:t>to centralize identities </a:t>
            </a:r>
          </a:p>
          <a:p>
            <a:pPr marL="171450" marR="0" lvl="0" indent="-171450"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000">
                <a:latin typeface="Corbel"/>
              </a:rPr>
              <a:t>OASIS to register access request &amp; approbation</a:t>
            </a:r>
          </a:p>
          <a:p>
            <a:pPr marL="171450" marR="0" lvl="0" indent="-171450"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000">
                <a:latin typeface="Corbel"/>
              </a:rPr>
              <a:t>Active Directory &amp; Azure AD as main technical directories</a:t>
            </a:r>
          </a:p>
          <a:p>
            <a:pPr marL="171450" marR="0" lvl="0" indent="-171450"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000">
                <a:latin typeface="Corbel"/>
              </a:rPr>
              <a:t>Local initiative as Trello (UK) to user lifecycle</a:t>
            </a:r>
          </a:p>
        </p:txBody>
      </p:sp>
      <p:grpSp>
        <p:nvGrpSpPr>
          <p:cNvPr id="75" name="Graphique 59">
            <a:extLst>
              <a:ext uri="{FF2B5EF4-FFF2-40B4-BE49-F238E27FC236}">
                <a16:creationId xmlns:a16="http://schemas.microsoft.com/office/drawing/2014/main" id="{D3778A4A-524D-FD0D-3E64-C7BE6EB46600}"/>
              </a:ext>
            </a:extLst>
          </p:cNvPr>
          <p:cNvGrpSpPr/>
          <p:nvPr/>
        </p:nvGrpSpPr>
        <p:grpSpPr>
          <a:xfrm>
            <a:off x="1185038" y="4874452"/>
            <a:ext cx="216001" cy="215999"/>
            <a:chOff x="8671971" y="1804568"/>
            <a:chExt cx="274587" cy="273299"/>
          </a:xfrm>
        </p:grpSpPr>
        <p:sp>
          <p:nvSpPr>
            <p:cNvPr id="76" name="Forme libre : forme 75">
              <a:extLst>
                <a:ext uri="{FF2B5EF4-FFF2-40B4-BE49-F238E27FC236}">
                  <a16:creationId xmlns:a16="http://schemas.microsoft.com/office/drawing/2014/main" id="{8F64935E-3F67-BAF2-1A15-C0E7B9C4749D}"/>
                </a:ext>
              </a:extLst>
            </p:cNvPr>
            <p:cNvSpPr/>
            <p:nvPr/>
          </p:nvSpPr>
          <p:spPr>
            <a:xfrm>
              <a:off x="8855651" y="1827228"/>
              <a:ext cx="66675" cy="66675"/>
            </a:xfrm>
            <a:custGeom>
              <a:avLst/>
              <a:gdLst>
                <a:gd name="connsiteX0" fmla="*/ 0 w 66675"/>
                <a:gd name="connsiteY0" fmla="*/ 0 h 66675"/>
                <a:gd name="connsiteX1" fmla="*/ 74200 w 66675"/>
                <a:gd name="connsiteY1" fmla="*/ 74200 h 66675"/>
              </a:gdLst>
              <a:ahLst/>
              <a:cxnLst>
                <a:cxn ang="0">
                  <a:pos x="connsiteX0" y="connsiteY0"/>
                </a:cxn>
                <a:cxn ang="0">
                  <a:pos x="connsiteX1" y="connsiteY1"/>
                </a:cxn>
              </a:cxnLst>
              <a:rect l="l" t="t" r="r" b="b"/>
              <a:pathLst>
                <a:path w="66675" h="66675">
                  <a:moveTo>
                    <a:pt x="0" y="0"/>
                  </a:moveTo>
                  <a:lnTo>
                    <a:pt x="74200" y="74200"/>
                  </a:lnTo>
                </a:path>
              </a:pathLst>
            </a:custGeom>
            <a:ln w="19050" cap="flat">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77" name="Forme libre : forme 76">
              <a:extLst>
                <a:ext uri="{FF2B5EF4-FFF2-40B4-BE49-F238E27FC236}">
                  <a16:creationId xmlns:a16="http://schemas.microsoft.com/office/drawing/2014/main" id="{9F806EBA-A3C2-DA4F-2BF5-ADE00B8A635B}"/>
                </a:ext>
              </a:extLst>
            </p:cNvPr>
            <p:cNvSpPr/>
            <p:nvPr/>
          </p:nvSpPr>
          <p:spPr>
            <a:xfrm>
              <a:off x="8698908" y="1835984"/>
              <a:ext cx="123825" cy="85725"/>
            </a:xfrm>
            <a:custGeom>
              <a:avLst/>
              <a:gdLst>
                <a:gd name="connsiteX0" fmla="*/ 126682 w 123825"/>
                <a:gd name="connsiteY0" fmla="*/ 6941 h 85725"/>
                <a:gd name="connsiteX1" fmla="*/ 0 w 123825"/>
                <a:gd name="connsiteY1" fmla="*/ 51032 h 85725"/>
                <a:gd name="connsiteX2" fmla="*/ 39662 w 123825"/>
                <a:gd name="connsiteY2" fmla="*/ 90790 h 85725"/>
              </a:gdLst>
              <a:ahLst/>
              <a:cxnLst>
                <a:cxn ang="0">
                  <a:pos x="connsiteX0" y="connsiteY0"/>
                </a:cxn>
                <a:cxn ang="0">
                  <a:pos x="connsiteX1" y="connsiteY1"/>
                </a:cxn>
                <a:cxn ang="0">
                  <a:pos x="connsiteX2" y="connsiteY2"/>
                </a:cxn>
              </a:cxnLst>
              <a:rect l="l" t="t" r="r" b="b"/>
              <a:pathLst>
                <a:path w="123825" h="85725">
                  <a:moveTo>
                    <a:pt x="126682" y="6941"/>
                  </a:moveTo>
                  <a:cubicBezTo>
                    <a:pt x="83344" y="-8756"/>
                    <a:pt x="38100" y="626"/>
                    <a:pt x="0" y="51032"/>
                  </a:cubicBezTo>
                  <a:lnTo>
                    <a:pt x="39662" y="90790"/>
                  </a:lnTo>
                </a:path>
              </a:pathLst>
            </a:custGeom>
            <a:noFill/>
            <a:ln w="19050" cap="flat">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78" name="Forme libre : forme 77">
              <a:extLst>
                <a:ext uri="{FF2B5EF4-FFF2-40B4-BE49-F238E27FC236}">
                  <a16:creationId xmlns:a16="http://schemas.microsoft.com/office/drawing/2014/main" id="{B17F5574-1B71-1EC5-D4C9-0CB48AC46297}"/>
                </a:ext>
              </a:extLst>
            </p:cNvPr>
            <p:cNvSpPr/>
            <p:nvPr/>
          </p:nvSpPr>
          <p:spPr>
            <a:xfrm>
              <a:off x="8830601" y="1931783"/>
              <a:ext cx="85725" cy="123825"/>
            </a:xfrm>
            <a:custGeom>
              <a:avLst/>
              <a:gdLst>
                <a:gd name="connsiteX0" fmla="*/ 0 w 85725"/>
                <a:gd name="connsiteY0" fmla="*/ 87020 h 123825"/>
                <a:gd name="connsiteX1" fmla="*/ 39757 w 85725"/>
                <a:gd name="connsiteY1" fmla="*/ 126683 h 123825"/>
                <a:gd name="connsiteX2" fmla="*/ 83849 w 85725"/>
                <a:gd name="connsiteY2" fmla="*/ 0 h 123825"/>
              </a:gdLst>
              <a:ahLst/>
              <a:cxnLst>
                <a:cxn ang="0">
                  <a:pos x="connsiteX0" y="connsiteY0"/>
                </a:cxn>
                <a:cxn ang="0">
                  <a:pos x="connsiteX1" y="connsiteY1"/>
                </a:cxn>
                <a:cxn ang="0">
                  <a:pos x="connsiteX2" y="connsiteY2"/>
                </a:cxn>
              </a:cxnLst>
              <a:rect l="l" t="t" r="r" b="b"/>
              <a:pathLst>
                <a:path w="85725" h="123825">
                  <a:moveTo>
                    <a:pt x="0" y="87020"/>
                  </a:moveTo>
                  <a:lnTo>
                    <a:pt x="39757" y="126683"/>
                  </a:lnTo>
                  <a:cubicBezTo>
                    <a:pt x="90164" y="88583"/>
                    <a:pt x="99546" y="43339"/>
                    <a:pt x="83849" y="0"/>
                  </a:cubicBezTo>
                </a:path>
              </a:pathLst>
            </a:custGeom>
            <a:noFill/>
            <a:ln w="19050" cap="flat">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79" name="Forme libre : forme 78">
              <a:extLst>
                <a:ext uri="{FF2B5EF4-FFF2-40B4-BE49-F238E27FC236}">
                  <a16:creationId xmlns:a16="http://schemas.microsoft.com/office/drawing/2014/main" id="{2437F6AD-1D92-59AC-6774-216FEB0F30D8}"/>
                </a:ext>
              </a:extLst>
            </p:cNvPr>
            <p:cNvSpPr/>
            <p:nvPr/>
          </p:nvSpPr>
          <p:spPr>
            <a:xfrm>
              <a:off x="8717958" y="1804568"/>
              <a:ext cx="228600" cy="228600"/>
            </a:xfrm>
            <a:custGeom>
              <a:avLst/>
              <a:gdLst>
                <a:gd name="connsiteX0" fmla="*/ 76200 w 228600"/>
                <a:gd name="connsiteY0" fmla="*/ 234848 h 228600"/>
                <a:gd name="connsiteX1" fmla="*/ 0 w 228600"/>
                <a:gd name="connsiteY1" fmla="*/ 158648 h 228600"/>
                <a:gd name="connsiteX2" fmla="*/ 234848 w 228600"/>
                <a:gd name="connsiteY2" fmla="*/ 0 h 228600"/>
                <a:gd name="connsiteX3" fmla="*/ 76200 w 228600"/>
                <a:gd name="connsiteY3" fmla="*/ 234848 h 228600"/>
              </a:gdLst>
              <a:ahLst/>
              <a:cxnLst>
                <a:cxn ang="0">
                  <a:pos x="connsiteX0" y="connsiteY0"/>
                </a:cxn>
                <a:cxn ang="0">
                  <a:pos x="connsiteX1" y="connsiteY1"/>
                </a:cxn>
                <a:cxn ang="0">
                  <a:pos x="connsiteX2" y="connsiteY2"/>
                </a:cxn>
                <a:cxn ang="0">
                  <a:pos x="connsiteX3" y="connsiteY3"/>
                </a:cxn>
              </a:cxnLst>
              <a:rect l="l" t="t" r="r" b="b"/>
              <a:pathLst>
                <a:path w="228600" h="228600">
                  <a:moveTo>
                    <a:pt x="76200" y="234848"/>
                  </a:moveTo>
                  <a:lnTo>
                    <a:pt x="0" y="158648"/>
                  </a:lnTo>
                  <a:cubicBezTo>
                    <a:pt x="0" y="158648"/>
                    <a:pt x="61846" y="9030"/>
                    <a:pt x="234848" y="0"/>
                  </a:cubicBezTo>
                  <a:cubicBezTo>
                    <a:pt x="225066" y="172260"/>
                    <a:pt x="76200" y="234848"/>
                    <a:pt x="76200" y="234848"/>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80" name="Forme libre : forme 79">
              <a:extLst>
                <a:ext uri="{FF2B5EF4-FFF2-40B4-BE49-F238E27FC236}">
                  <a16:creationId xmlns:a16="http://schemas.microsoft.com/office/drawing/2014/main" id="{20C42667-C4B2-3C99-919F-A3AE759F06EB}"/>
                </a:ext>
              </a:extLst>
            </p:cNvPr>
            <p:cNvSpPr/>
            <p:nvPr/>
          </p:nvSpPr>
          <p:spPr>
            <a:xfrm>
              <a:off x="8813208" y="1896541"/>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81" name="Forme libre : forme 80">
              <a:extLst>
                <a:ext uri="{FF2B5EF4-FFF2-40B4-BE49-F238E27FC236}">
                  <a16:creationId xmlns:a16="http://schemas.microsoft.com/office/drawing/2014/main" id="{47A6A648-DCE6-125B-5992-D0F758C16035}"/>
                </a:ext>
              </a:extLst>
            </p:cNvPr>
            <p:cNvSpPr/>
            <p:nvPr/>
          </p:nvSpPr>
          <p:spPr>
            <a:xfrm>
              <a:off x="8671971" y="2020717"/>
              <a:ext cx="57150" cy="57150"/>
            </a:xfrm>
            <a:custGeom>
              <a:avLst/>
              <a:gdLst>
                <a:gd name="connsiteX0" fmla="*/ 16259 w 57150"/>
                <a:gd name="connsiteY0" fmla="*/ 8021 h 57150"/>
                <a:gd name="connsiteX1" fmla="*/ 56664 w 57150"/>
                <a:gd name="connsiteY1" fmla="*/ 8723 h 57150"/>
                <a:gd name="connsiteX2" fmla="*/ 56664 w 57150"/>
                <a:gd name="connsiteY2" fmla="*/ 48426 h 57150"/>
                <a:gd name="connsiteX3" fmla="*/ 0 w 57150"/>
                <a:gd name="connsiteY3" fmla="*/ 64685 h 57150"/>
                <a:gd name="connsiteX4" fmla="*/ 16259 w 57150"/>
                <a:gd name="connsiteY4" fmla="*/ 802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16259" y="8021"/>
                  </a:moveTo>
                  <a:cubicBezTo>
                    <a:pt x="27611" y="-2942"/>
                    <a:pt x="45701" y="-2628"/>
                    <a:pt x="56664" y="8723"/>
                  </a:cubicBezTo>
                  <a:cubicBezTo>
                    <a:pt x="67359" y="19797"/>
                    <a:pt x="67359" y="37352"/>
                    <a:pt x="56664" y="48426"/>
                  </a:cubicBezTo>
                  <a:cubicBezTo>
                    <a:pt x="45510" y="59590"/>
                    <a:pt x="0" y="64685"/>
                    <a:pt x="0" y="64685"/>
                  </a:cubicBezTo>
                  <a:cubicBezTo>
                    <a:pt x="0" y="64685"/>
                    <a:pt x="5096" y="19175"/>
                    <a:pt x="16259" y="8021"/>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sp>
        <p:nvSpPr>
          <p:cNvPr id="82" name="ZoneTexte 81">
            <a:extLst>
              <a:ext uri="{FF2B5EF4-FFF2-40B4-BE49-F238E27FC236}">
                <a16:creationId xmlns:a16="http://schemas.microsoft.com/office/drawing/2014/main" id="{991746BE-AF56-1F0C-B2C9-3285941938D1}"/>
              </a:ext>
            </a:extLst>
          </p:cNvPr>
          <p:cNvSpPr txBox="1"/>
          <p:nvPr/>
        </p:nvSpPr>
        <p:spPr>
          <a:xfrm>
            <a:off x="8585200" y="6462638"/>
            <a:ext cx="3460815" cy="307777"/>
          </a:xfrm>
          <a:prstGeom prst="rect">
            <a:avLst/>
          </a:prstGeom>
          <a:noFill/>
        </p:spPr>
        <p:txBody>
          <a:bodyPr wrap="square" lIns="36000" tIns="0" rIns="36000" bIns="0" rtlCol="0">
            <a:spAutoFit/>
          </a:bodyPr>
          <a:lstStyle/>
          <a:p>
            <a:r>
              <a:rPr lang="en-US" sz="1000"/>
              <a:t>* Estimated number of identities after BYes carve-out (Guest &amp; Workers are not included)</a:t>
            </a:r>
          </a:p>
        </p:txBody>
      </p:sp>
    </p:spTree>
    <p:extLst>
      <p:ext uri="{BB962C8B-B14F-4D97-AF65-F5344CB8AC3E}">
        <p14:creationId xmlns:p14="http://schemas.microsoft.com/office/powerpoint/2010/main" val="2397483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65898F-3169-59F8-7765-16FD93F08F7D}"/>
              </a:ext>
            </a:extLst>
          </p:cNvPr>
          <p:cNvSpPr/>
          <p:nvPr/>
        </p:nvSpPr>
        <p:spPr>
          <a:xfrm>
            <a:off x="3589" y="1399094"/>
            <a:ext cx="4038760" cy="5455920"/>
          </a:xfrm>
          <a:prstGeom prst="rect">
            <a:avLst/>
          </a:prstGeom>
          <a:solidFill>
            <a:srgbClr val="6496B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6496BB"/>
              </a:solidFill>
            </a:endParaRPr>
          </a:p>
        </p:txBody>
      </p:sp>
      <p:sp>
        <p:nvSpPr>
          <p:cNvPr id="71" name="Rectangle 70">
            <a:extLst>
              <a:ext uri="{FF2B5EF4-FFF2-40B4-BE49-F238E27FC236}">
                <a16:creationId xmlns:a16="http://schemas.microsoft.com/office/drawing/2014/main" id="{1761E327-74F6-89E8-6271-CCCE5465A6F0}"/>
              </a:ext>
            </a:extLst>
          </p:cNvPr>
          <p:cNvSpPr/>
          <p:nvPr/>
        </p:nvSpPr>
        <p:spPr>
          <a:xfrm>
            <a:off x="4034094" y="1399094"/>
            <a:ext cx="8157905" cy="545592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ED08BB5-8CF8-E128-8F0D-25710C83E06C}"/>
              </a:ext>
            </a:extLst>
          </p:cNvPr>
          <p:cNvSpPr>
            <a:spLocks noGrp="1"/>
          </p:cNvSpPr>
          <p:nvPr>
            <p:ph type="title"/>
          </p:nvPr>
        </p:nvSpPr>
        <p:spPr/>
        <p:txBody>
          <a:bodyPr/>
          <a:lstStyle/>
          <a:p>
            <a:r>
              <a:rPr lang="en-US" sz="3600"/>
              <a:t>Feedbacks from BYCN Stakeholders</a:t>
            </a:r>
          </a:p>
        </p:txBody>
      </p:sp>
      <p:sp>
        <p:nvSpPr>
          <p:cNvPr id="4" name="Espace réservé du pied de page 3">
            <a:extLst>
              <a:ext uri="{FF2B5EF4-FFF2-40B4-BE49-F238E27FC236}">
                <a16:creationId xmlns:a16="http://schemas.microsoft.com/office/drawing/2014/main" id="{F6462785-BCCC-7DE3-CC04-9379D8AFC187}"/>
              </a:ext>
            </a:extLst>
          </p:cNvPr>
          <p:cNvSpPr>
            <a:spLocks noGrp="1"/>
          </p:cNvSpPr>
          <p:nvPr>
            <p:ph type="ftr" sz="quarter" idx="13"/>
          </p:nvPr>
        </p:nvSpPr>
        <p:spPr/>
        <p:txBody>
          <a:bodyPr/>
          <a:lstStyle/>
          <a:p>
            <a:r>
              <a:rPr lang="en-US"/>
              <a:t>Bouygues Construction  |  </a:t>
            </a:r>
            <a:r>
              <a:rPr lang="fr-FR">
                <a:ea typeface="+mn-lt"/>
                <a:cs typeface="+mn-lt"/>
              </a:rPr>
              <a:t>02 2023</a:t>
            </a:r>
            <a:endParaRPr lang="en-US"/>
          </a:p>
        </p:txBody>
      </p:sp>
      <p:sp>
        <p:nvSpPr>
          <p:cNvPr id="5" name="Espace réservé du numéro de diapositive 4">
            <a:extLst>
              <a:ext uri="{FF2B5EF4-FFF2-40B4-BE49-F238E27FC236}">
                <a16:creationId xmlns:a16="http://schemas.microsoft.com/office/drawing/2014/main" id="{59C7071D-DBD7-2C7E-B8E2-765CE51E5569}"/>
              </a:ext>
            </a:extLst>
          </p:cNvPr>
          <p:cNvSpPr>
            <a:spLocks noGrp="1"/>
          </p:cNvSpPr>
          <p:nvPr>
            <p:ph type="sldNum" sz="quarter" idx="14"/>
          </p:nvPr>
        </p:nvSpPr>
        <p:spPr>
          <a:xfrm>
            <a:off x="11805565" y="6594433"/>
            <a:ext cx="171522" cy="123111"/>
          </a:xfrm>
        </p:spPr>
        <p:txBody>
          <a:bodyPr/>
          <a:lstStyle/>
          <a:p>
            <a:r>
              <a:rPr lang="en-US"/>
              <a:t>| </a:t>
            </a:r>
            <a:fld id="{C2EBF694-A8F9-4F06-8F8E-D09447FAA2D5}" type="slidenum">
              <a:rPr lang="en-US" smtClean="0"/>
              <a:pPr/>
              <a:t>9</a:t>
            </a:fld>
            <a:endParaRPr lang="en-US"/>
          </a:p>
        </p:txBody>
      </p:sp>
      <p:sp>
        <p:nvSpPr>
          <p:cNvPr id="55" name="ZoneTexte 54">
            <a:extLst>
              <a:ext uri="{FF2B5EF4-FFF2-40B4-BE49-F238E27FC236}">
                <a16:creationId xmlns:a16="http://schemas.microsoft.com/office/drawing/2014/main" id="{403407A9-486E-1B2B-6788-48D19AF45A9A}"/>
              </a:ext>
            </a:extLst>
          </p:cNvPr>
          <p:cNvSpPr txBox="1"/>
          <p:nvPr/>
        </p:nvSpPr>
        <p:spPr>
          <a:xfrm>
            <a:off x="4936377" y="1459495"/>
            <a:ext cx="6894298" cy="430887"/>
          </a:xfrm>
          <a:prstGeom prst="rect">
            <a:avLst/>
          </a:prstGeom>
          <a:noFill/>
        </p:spPr>
        <p:txBody>
          <a:bodyPr wrap="square" lIns="36000" tIns="0" rIns="36000" bIns="0" rtlCol="0">
            <a:spAutoFit/>
          </a:bodyPr>
          <a:lstStyle/>
          <a:p>
            <a:r>
              <a:rPr lang="en-US" sz="1400" b="1"/>
              <a:t>Everyone encounters issues with Identity &amp; Access management and have adapted processes to deal with it. </a:t>
            </a:r>
            <a:endParaRPr lang="en-US" sz="1400"/>
          </a:p>
        </p:txBody>
      </p:sp>
      <p:sp>
        <p:nvSpPr>
          <p:cNvPr id="11" name="Espace réservé du texte 2">
            <a:extLst>
              <a:ext uri="{FF2B5EF4-FFF2-40B4-BE49-F238E27FC236}">
                <a16:creationId xmlns:a16="http://schemas.microsoft.com/office/drawing/2014/main" id="{5BD9E1EE-16F4-88FD-E8AD-AAE26063DA75}"/>
              </a:ext>
            </a:extLst>
          </p:cNvPr>
          <p:cNvSpPr txBox="1">
            <a:spLocks/>
          </p:cNvSpPr>
          <p:nvPr/>
        </p:nvSpPr>
        <p:spPr>
          <a:xfrm>
            <a:off x="88776" y="1461545"/>
            <a:ext cx="3845695" cy="1444048"/>
          </a:xfrm>
          <a:prstGeom prst="roundRect">
            <a:avLst/>
          </a:prstGeom>
          <a:solidFill>
            <a:schemeClr val="bg1"/>
          </a:solidFill>
        </p:spPr>
        <p:txBody>
          <a:bodyPr vert="horz" lIns="36000" tIns="0" rIns="36000" bIns="0" rtlCol="0">
            <a:noAutofit/>
          </a:bodyPr>
          <a:lstStyle>
            <a:lvl1pPr marL="0" indent="0" algn="l" defTabSz="914400" rtl="0" eaLnBrk="1" latinLnBrk="0" hangingPunct="1">
              <a:lnSpc>
                <a:spcPct val="100000"/>
              </a:lnSpc>
              <a:spcBef>
                <a:spcPts val="0"/>
              </a:spcBef>
              <a:buFontTx/>
              <a:buNone/>
              <a:defRPr sz="19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800" b="0" kern="1200">
                <a:solidFill>
                  <a:schemeClr val="tx1"/>
                </a:solidFill>
                <a:latin typeface="+mn-lt"/>
                <a:ea typeface="+mn-ea"/>
                <a:cs typeface="+mn-cs"/>
              </a:defRPr>
            </a:lvl2pPr>
            <a:lvl3pPr marL="180000" indent="-179388" algn="l" defTabSz="914400" rtl="0" eaLnBrk="1" latinLnBrk="0" hangingPunct="1">
              <a:lnSpc>
                <a:spcPct val="100000"/>
              </a:lnSpc>
              <a:spcBef>
                <a:spcPts val="600"/>
              </a:spcBef>
              <a:buClr>
                <a:schemeClr val="tx2"/>
              </a:buClr>
              <a:buFont typeface="Symbol" panose="05050102010706020507" pitchFamily="18" charset="2"/>
              <a:buChar char="·"/>
              <a:defRPr sz="1800" b="0" kern="1200">
                <a:solidFill>
                  <a:schemeClr val="tx1"/>
                </a:solidFill>
                <a:latin typeface="+mn-lt"/>
                <a:ea typeface="+mn-ea"/>
                <a:cs typeface="+mn-cs"/>
              </a:defRPr>
            </a:lvl3pPr>
            <a:lvl4pPr marL="324000" indent="-142875" algn="l" defTabSz="914400" rtl="0" eaLnBrk="1" latinLnBrk="0" hangingPunct="1">
              <a:lnSpc>
                <a:spcPct val="100000"/>
              </a:lnSpc>
              <a:spcBef>
                <a:spcPts val="300"/>
              </a:spcBef>
              <a:buFont typeface="Calibri" panose="020F050202020403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0">
                <a:solidFill>
                  <a:srgbClr val="6496BB"/>
                </a:solidFill>
              </a:rPr>
              <a:t>In addition of the interviews conducted in 2021 , </a:t>
            </a:r>
            <a:r>
              <a:rPr lang="en-US" sz="1400" i="1">
                <a:solidFill>
                  <a:srgbClr val="6496BB"/>
                </a:solidFill>
              </a:rPr>
              <a:t>~15 actors from different roles and locations have been consulted </a:t>
            </a:r>
            <a:r>
              <a:rPr lang="en-US" sz="1400" b="0">
                <a:solidFill>
                  <a:srgbClr val="6496BB"/>
                </a:solidFill>
              </a:rPr>
              <a:t>to have their feedback</a:t>
            </a:r>
          </a:p>
        </p:txBody>
      </p:sp>
      <p:sp>
        <p:nvSpPr>
          <p:cNvPr id="6" name="Rectangle: Rounded Corners 2">
            <a:extLst>
              <a:ext uri="{FF2B5EF4-FFF2-40B4-BE49-F238E27FC236}">
                <a16:creationId xmlns:a16="http://schemas.microsoft.com/office/drawing/2014/main" id="{1E14381D-9497-6050-A2A5-D2361A35312C}"/>
              </a:ext>
            </a:extLst>
          </p:cNvPr>
          <p:cNvSpPr>
            <a:spLocks noChangeAspect="1"/>
          </p:cNvSpPr>
          <p:nvPr/>
        </p:nvSpPr>
        <p:spPr>
          <a:xfrm rot="2700000">
            <a:off x="7139632" y="3067051"/>
            <a:ext cx="2380532" cy="2380532"/>
          </a:xfrm>
          <a:prstGeom prst="roundRect">
            <a:avLst>
              <a:gd name="adj" fmla="val 4352"/>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solidFill>
                <a:schemeClr val="tx1"/>
              </a:solidFill>
            </a:endParaRPr>
          </a:p>
        </p:txBody>
      </p:sp>
      <p:sp>
        <p:nvSpPr>
          <p:cNvPr id="12" name="Rectangle: Rounded Corners 3">
            <a:extLst>
              <a:ext uri="{FF2B5EF4-FFF2-40B4-BE49-F238E27FC236}">
                <a16:creationId xmlns:a16="http://schemas.microsoft.com/office/drawing/2014/main" id="{7B2DAFBB-E958-72DF-395E-DEBCF7A864C5}"/>
              </a:ext>
            </a:extLst>
          </p:cNvPr>
          <p:cNvSpPr>
            <a:spLocks noChangeAspect="1"/>
          </p:cNvSpPr>
          <p:nvPr/>
        </p:nvSpPr>
        <p:spPr>
          <a:xfrm>
            <a:off x="4936377" y="3022191"/>
            <a:ext cx="3392978" cy="820322"/>
          </a:xfrm>
          <a:prstGeom prst="roundRect">
            <a:avLst>
              <a:gd name="adj" fmla="val 4352"/>
            </a:avLst>
          </a:prstGeom>
          <a:solidFill>
            <a:srgbClr val="FF5A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00000" rIns="91440" bIns="45720" numCol="1" spcCol="0" rtlCol="0" fromWordArt="0" anchor="ctr" anchorCtr="0" forceAA="0" compatLnSpc="1">
            <a:prstTxWarp prst="textNoShape">
              <a:avLst/>
            </a:prstTxWarp>
            <a:noAutofit/>
          </a:bodyPr>
          <a:lstStyle/>
          <a:p>
            <a:pPr algn="ctr"/>
            <a:endParaRPr lang="fr-FR"/>
          </a:p>
        </p:txBody>
      </p:sp>
      <p:sp>
        <p:nvSpPr>
          <p:cNvPr id="13" name="Rectangle: Rounded Corners 4">
            <a:extLst>
              <a:ext uri="{FF2B5EF4-FFF2-40B4-BE49-F238E27FC236}">
                <a16:creationId xmlns:a16="http://schemas.microsoft.com/office/drawing/2014/main" id="{FA9C3019-0534-CC46-A6A2-385DE8B5FCB8}"/>
              </a:ext>
            </a:extLst>
          </p:cNvPr>
          <p:cNvSpPr>
            <a:spLocks noChangeAspect="1"/>
          </p:cNvSpPr>
          <p:nvPr/>
        </p:nvSpPr>
        <p:spPr>
          <a:xfrm>
            <a:off x="4936377" y="4246264"/>
            <a:ext cx="3392978" cy="820322"/>
          </a:xfrm>
          <a:prstGeom prst="roundRect">
            <a:avLst>
              <a:gd name="adj" fmla="val 4352"/>
            </a:avLst>
          </a:prstGeom>
          <a:solidFill>
            <a:srgbClr val="BF44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00000" rIns="91440" bIns="45720" numCol="1" spcCol="0" rtlCol="0" fromWordArt="0" anchor="ctr" anchorCtr="0" forceAA="0" compatLnSpc="1">
            <a:prstTxWarp prst="textNoShape">
              <a:avLst/>
            </a:prstTxWarp>
            <a:noAutofit/>
          </a:bodyPr>
          <a:lstStyle/>
          <a:p>
            <a:pPr algn="ctr"/>
            <a:endParaRPr lang="fr-FR"/>
          </a:p>
        </p:txBody>
      </p:sp>
      <p:sp>
        <p:nvSpPr>
          <p:cNvPr id="14" name="Rectangle: Rounded Corners 5">
            <a:extLst>
              <a:ext uri="{FF2B5EF4-FFF2-40B4-BE49-F238E27FC236}">
                <a16:creationId xmlns:a16="http://schemas.microsoft.com/office/drawing/2014/main" id="{14708D6C-EEAE-966B-D59A-C3B849DAF5F9}"/>
              </a:ext>
            </a:extLst>
          </p:cNvPr>
          <p:cNvSpPr>
            <a:spLocks noChangeAspect="1"/>
          </p:cNvSpPr>
          <p:nvPr/>
        </p:nvSpPr>
        <p:spPr>
          <a:xfrm>
            <a:off x="8440133" y="3022190"/>
            <a:ext cx="3394800" cy="830997"/>
          </a:xfrm>
          <a:prstGeom prst="roundRect">
            <a:avLst>
              <a:gd name="adj" fmla="val 4352"/>
            </a:avLst>
          </a:prstGeom>
          <a:solidFill>
            <a:srgbClr val="802D1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00000" rIns="91440" bIns="45720" numCol="1" spcCol="0" rtlCol="0" fromWordArt="0" anchor="ctr" anchorCtr="0" forceAA="0" compatLnSpc="1">
            <a:prstTxWarp prst="textNoShape">
              <a:avLst/>
            </a:prstTxWarp>
            <a:noAutofit/>
          </a:bodyPr>
          <a:lstStyle/>
          <a:p>
            <a:pPr algn="ctr"/>
            <a:endParaRPr lang="fr-FR"/>
          </a:p>
        </p:txBody>
      </p:sp>
      <p:sp>
        <p:nvSpPr>
          <p:cNvPr id="15" name="Rectangle: Rounded Corners 6">
            <a:extLst>
              <a:ext uri="{FF2B5EF4-FFF2-40B4-BE49-F238E27FC236}">
                <a16:creationId xmlns:a16="http://schemas.microsoft.com/office/drawing/2014/main" id="{EE3B3097-DE5E-03FA-CE39-783A26F7824F}"/>
              </a:ext>
            </a:extLst>
          </p:cNvPr>
          <p:cNvSpPr>
            <a:spLocks noChangeAspect="1"/>
          </p:cNvSpPr>
          <p:nvPr/>
        </p:nvSpPr>
        <p:spPr>
          <a:xfrm>
            <a:off x="8440133" y="4246264"/>
            <a:ext cx="3390542" cy="820322"/>
          </a:xfrm>
          <a:prstGeom prst="roundRect">
            <a:avLst>
              <a:gd name="adj" fmla="val 4352"/>
            </a:avLst>
          </a:prstGeom>
          <a:solidFill>
            <a:srgbClr val="40170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00000" rIns="91440" bIns="45720" numCol="1" spcCol="0" rtlCol="0" fromWordArt="0" anchor="ctr" anchorCtr="0" forceAA="0" compatLnSpc="1">
            <a:prstTxWarp prst="textNoShape">
              <a:avLst/>
            </a:prstTxWarp>
            <a:noAutofit/>
          </a:bodyPr>
          <a:lstStyle/>
          <a:p>
            <a:pPr algn="ctr"/>
            <a:endParaRPr lang="fr-FR">
              <a:solidFill>
                <a:srgbClr val="40170A"/>
              </a:solidFill>
            </a:endParaRPr>
          </a:p>
        </p:txBody>
      </p:sp>
      <p:sp>
        <p:nvSpPr>
          <p:cNvPr id="16" name="TextBox 70">
            <a:extLst>
              <a:ext uri="{FF2B5EF4-FFF2-40B4-BE49-F238E27FC236}">
                <a16:creationId xmlns:a16="http://schemas.microsoft.com/office/drawing/2014/main" id="{EAAF09C7-B30B-2F33-75E8-61E2CEFD0656}"/>
              </a:ext>
            </a:extLst>
          </p:cNvPr>
          <p:cNvSpPr txBox="1"/>
          <p:nvPr/>
        </p:nvSpPr>
        <p:spPr>
          <a:xfrm>
            <a:off x="5335880" y="3057810"/>
            <a:ext cx="3097697" cy="830997"/>
          </a:xfrm>
          <a:prstGeom prst="rect">
            <a:avLst/>
          </a:prstGeom>
          <a:noFill/>
        </p:spPr>
        <p:txBody>
          <a:bodyPr wrap="square" lIns="91440" tIns="45720" rIns="91440" bIns="45720" rtlCol="0" anchor="t">
            <a:spAutoFit/>
          </a:bodyPr>
          <a:lstStyle/>
          <a:p>
            <a:r>
              <a:rPr lang="en-US" sz="1200" b="1">
                <a:solidFill>
                  <a:schemeClr val="bg1"/>
                </a:solidFill>
              </a:rPr>
              <a:t>Orphan</a:t>
            </a:r>
            <a:r>
              <a:rPr lang="en-US" sz="1200">
                <a:solidFill>
                  <a:schemeClr val="bg1"/>
                </a:solidFill>
              </a:rPr>
              <a:t> &amp; </a:t>
            </a:r>
            <a:r>
              <a:rPr lang="en-US" sz="1200" b="1">
                <a:solidFill>
                  <a:schemeClr val="bg1"/>
                </a:solidFill>
              </a:rPr>
              <a:t>generic accounts </a:t>
            </a:r>
            <a:r>
              <a:rPr lang="en-US" sz="1200">
                <a:solidFill>
                  <a:schemeClr val="bg1"/>
                </a:solidFill>
              </a:rPr>
              <a:t>are enabled and </a:t>
            </a:r>
            <a:r>
              <a:rPr lang="en-US" sz="1200" b="1">
                <a:solidFill>
                  <a:schemeClr val="bg1"/>
                </a:solidFill>
              </a:rPr>
              <a:t>not managed </a:t>
            </a:r>
            <a:r>
              <a:rPr lang="en-US" sz="1200">
                <a:solidFill>
                  <a:schemeClr val="bg1"/>
                </a:solidFill>
              </a:rPr>
              <a:t>that are open doors on our IT</a:t>
            </a:r>
          </a:p>
          <a:p>
            <a:r>
              <a:rPr lang="en-US" sz="1200">
                <a:solidFill>
                  <a:schemeClr val="bg1"/>
                </a:solidFill>
                <a:ea typeface="+mn-lt"/>
                <a:cs typeface="+mn-lt"/>
              </a:rPr>
              <a:t>Identity Governance is a requirement for any Zero Trust strategy. </a:t>
            </a:r>
            <a:endParaRPr lang="en-US" sz="1200">
              <a:solidFill>
                <a:schemeClr val="bg1"/>
              </a:solidFill>
              <a:cs typeface="Calibri"/>
            </a:endParaRPr>
          </a:p>
        </p:txBody>
      </p:sp>
      <p:sp>
        <p:nvSpPr>
          <p:cNvPr id="17" name="TextBox 71">
            <a:extLst>
              <a:ext uri="{FF2B5EF4-FFF2-40B4-BE49-F238E27FC236}">
                <a16:creationId xmlns:a16="http://schemas.microsoft.com/office/drawing/2014/main" id="{4B9ED907-A8B6-1810-F060-E6482A433DE5}"/>
              </a:ext>
            </a:extLst>
          </p:cNvPr>
          <p:cNvSpPr txBox="1"/>
          <p:nvPr/>
        </p:nvSpPr>
        <p:spPr>
          <a:xfrm>
            <a:off x="8919445" y="3058124"/>
            <a:ext cx="3097697" cy="830997"/>
          </a:xfrm>
          <a:prstGeom prst="rect">
            <a:avLst/>
          </a:prstGeom>
          <a:noFill/>
        </p:spPr>
        <p:txBody>
          <a:bodyPr wrap="square" rtlCol="0">
            <a:spAutoFit/>
          </a:bodyPr>
          <a:lstStyle/>
          <a:p>
            <a:r>
              <a:rPr lang="en-US" sz="1200" b="1">
                <a:solidFill>
                  <a:schemeClr val="bg1"/>
                </a:solidFill>
              </a:rPr>
              <a:t>Many manual steps</a:t>
            </a:r>
            <a:r>
              <a:rPr lang="en-US" sz="1200">
                <a:solidFill>
                  <a:schemeClr val="bg1"/>
                </a:solidFill>
              </a:rPr>
              <a:t> for joiner</a:t>
            </a:r>
          </a:p>
          <a:p>
            <a:pPr marL="285750" indent="-285750">
              <a:buFont typeface="Wingdings" panose="05000000000000000000" pitchFamily="2" charset="2"/>
              <a:buChar char="§"/>
            </a:pPr>
            <a:r>
              <a:rPr lang="en-US" sz="1200">
                <a:solidFill>
                  <a:schemeClr val="bg1"/>
                </a:solidFill>
              </a:rPr>
              <a:t>Input errors lead to time-consuming operations to correct</a:t>
            </a:r>
          </a:p>
          <a:p>
            <a:pPr marL="285750" indent="-285750">
              <a:buFont typeface="Wingdings" panose="05000000000000000000" pitchFamily="2" charset="2"/>
              <a:buChar char="§"/>
            </a:pPr>
            <a:r>
              <a:rPr lang="en-US" sz="1200">
                <a:solidFill>
                  <a:schemeClr val="bg1"/>
                </a:solidFill>
              </a:rPr>
              <a:t>Impact on business &amp; user satisfaction</a:t>
            </a:r>
          </a:p>
        </p:txBody>
      </p:sp>
      <p:sp>
        <p:nvSpPr>
          <p:cNvPr id="18" name="TextBox 72">
            <a:extLst>
              <a:ext uri="{FF2B5EF4-FFF2-40B4-BE49-F238E27FC236}">
                <a16:creationId xmlns:a16="http://schemas.microsoft.com/office/drawing/2014/main" id="{D4B2A3C4-A878-B350-FD21-F272357DD71D}"/>
              </a:ext>
            </a:extLst>
          </p:cNvPr>
          <p:cNvSpPr txBox="1"/>
          <p:nvPr/>
        </p:nvSpPr>
        <p:spPr>
          <a:xfrm>
            <a:off x="5335880" y="4406679"/>
            <a:ext cx="3097697" cy="461665"/>
          </a:xfrm>
          <a:prstGeom prst="rect">
            <a:avLst/>
          </a:prstGeom>
          <a:noFill/>
        </p:spPr>
        <p:txBody>
          <a:bodyPr wrap="square" rtlCol="0">
            <a:spAutoFit/>
          </a:bodyPr>
          <a:lstStyle/>
          <a:p>
            <a:r>
              <a:rPr lang="en-US" sz="1200">
                <a:solidFill>
                  <a:schemeClr val="bg1"/>
                </a:solidFill>
              </a:rPr>
              <a:t>Difficulties to </a:t>
            </a:r>
            <a:r>
              <a:rPr lang="en-US" sz="1200" b="1">
                <a:solidFill>
                  <a:schemeClr val="bg1"/>
                </a:solidFill>
              </a:rPr>
              <a:t>manage licenses</a:t>
            </a:r>
            <a:r>
              <a:rPr lang="en-US" sz="1200">
                <a:solidFill>
                  <a:schemeClr val="bg1"/>
                </a:solidFill>
              </a:rPr>
              <a:t> and revoke them when no longer needed</a:t>
            </a:r>
          </a:p>
        </p:txBody>
      </p:sp>
      <p:sp>
        <p:nvSpPr>
          <p:cNvPr id="19" name="TextBox 73">
            <a:extLst>
              <a:ext uri="{FF2B5EF4-FFF2-40B4-BE49-F238E27FC236}">
                <a16:creationId xmlns:a16="http://schemas.microsoft.com/office/drawing/2014/main" id="{7A9C12AF-1F7D-A08A-7CF6-E4F0C13F936B}"/>
              </a:ext>
            </a:extLst>
          </p:cNvPr>
          <p:cNvSpPr txBox="1"/>
          <p:nvPr/>
        </p:nvSpPr>
        <p:spPr>
          <a:xfrm>
            <a:off x="8818563" y="4235589"/>
            <a:ext cx="3194808" cy="830997"/>
          </a:xfrm>
          <a:prstGeom prst="rect">
            <a:avLst/>
          </a:prstGeom>
          <a:noFill/>
        </p:spPr>
        <p:txBody>
          <a:bodyPr wrap="square" rtlCol="0">
            <a:spAutoFit/>
          </a:bodyPr>
          <a:lstStyle/>
          <a:p>
            <a:r>
              <a:rPr lang="en-US" sz="1200" b="1">
                <a:solidFill>
                  <a:schemeClr val="bg1"/>
                </a:solidFill>
              </a:rPr>
              <a:t>Joiner process too long</a:t>
            </a:r>
            <a:r>
              <a:rPr lang="en-US" sz="1200">
                <a:solidFill>
                  <a:schemeClr val="bg1"/>
                </a:solidFill>
              </a:rPr>
              <a:t> for certain populations : </a:t>
            </a:r>
          </a:p>
          <a:p>
            <a:pPr marL="285750" indent="-285750">
              <a:buFont typeface="Wingdings" panose="05000000000000000000" pitchFamily="2" charset="2"/>
              <a:buChar char="§"/>
            </a:pPr>
            <a:r>
              <a:rPr lang="en-US" sz="1200">
                <a:solidFill>
                  <a:schemeClr val="bg1"/>
                </a:solidFill>
              </a:rPr>
              <a:t>Accesses for short-term actors are given with generic accounts </a:t>
            </a:r>
          </a:p>
          <a:p>
            <a:pPr marL="285750" indent="-285750">
              <a:buFont typeface="Wingdings" panose="05000000000000000000" pitchFamily="2" charset="2"/>
              <a:buChar char="§"/>
            </a:pPr>
            <a:r>
              <a:rPr lang="en-US" sz="1200">
                <a:solidFill>
                  <a:schemeClr val="bg1"/>
                </a:solidFill>
              </a:rPr>
              <a:t>Access to HR apps for entities in CHORUS</a:t>
            </a:r>
          </a:p>
        </p:txBody>
      </p:sp>
      <p:grpSp>
        <p:nvGrpSpPr>
          <p:cNvPr id="22" name="Graphique 687">
            <a:extLst>
              <a:ext uri="{FF2B5EF4-FFF2-40B4-BE49-F238E27FC236}">
                <a16:creationId xmlns:a16="http://schemas.microsoft.com/office/drawing/2014/main" id="{5E020182-B4B9-FEAF-0408-3B59931188D4}"/>
              </a:ext>
            </a:extLst>
          </p:cNvPr>
          <p:cNvGrpSpPr>
            <a:grpSpLocks noChangeAspect="1"/>
          </p:cNvGrpSpPr>
          <p:nvPr/>
        </p:nvGrpSpPr>
        <p:grpSpPr>
          <a:xfrm>
            <a:off x="4993603" y="3272657"/>
            <a:ext cx="315000" cy="315000"/>
            <a:chOff x="10847011" y="2733149"/>
            <a:chExt cx="266700" cy="266700"/>
          </a:xfrm>
        </p:grpSpPr>
        <p:sp>
          <p:nvSpPr>
            <p:cNvPr id="23" name="Forme libre : forme 22">
              <a:extLst>
                <a:ext uri="{FF2B5EF4-FFF2-40B4-BE49-F238E27FC236}">
                  <a16:creationId xmlns:a16="http://schemas.microsoft.com/office/drawing/2014/main" id="{CD3966A7-5BF6-64E2-F0CA-E925A42AA79F}"/>
                </a:ext>
              </a:extLst>
            </p:cNvPr>
            <p:cNvSpPr/>
            <p:nvPr/>
          </p:nvSpPr>
          <p:spPr>
            <a:xfrm>
              <a:off x="10980361" y="2733149"/>
              <a:ext cx="9525" cy="266700"/>
            </a:xfrm>
            <a:custGeom>
              <a:avLst/>
              <a:gdLst>
                <a:gd name="connsiteX0" fmla="*/ 0 w 0"/>
                <a:gd name="connsiteY0" fmla="*/ 266700 h 266700"/>
                <a:gd name="connsiteX1" fmla="*/ 0 w 0"/>
                <a:gd name="connsiteY1" fmla="*/ 0 h 266700"/>
              </a:gdLst>
              <a:ahLst/>
              <a:cxnLst>
                <a:cxn ang="0">
                  <a:pos x="connsiteX0" y="connsiteY0"/>
                </a:cxn>
                <a:cxn ang="0">
                  <a:pos x="connsiteX1" y="connsiteY1"/>
                </a:cxn>
              </a:cxnLst>
              <a:rect l="l" t="t" r="r" b="b"/>
              <a:pathLst>
                <a:path h="266700">
                  <a:moveTo>
                    <a:pt x="0" y="266700"/>
                  </a:moveTo>
                  <a:lnTo>
                    <a:pt x="0"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0000"/>
                </a:solidFill>
                <a:effectLst/>
                <a:uLnTx/>
                <a:uFillTx/>
                <a:latin typeface="Calibri"/>
                <a:ea typeface="+mn-ea"/>
                <a:cs typeface="+mn-cs"/>
              </a:endParaRPr>
            </a:p>
          </p:txBody>
        </p:sp>
        <p:sp>
          <p:nvSpPr>
            <p:cNvPr id="24" name="Forme libre : forme 23">
              <a:extLst>
                <a:ext uri="{FF2B5EF4-FFF2-40B4-BE49-F238E27FC236}">
                  <a16:creationId xmlns:a16="http://schemas.microsoft.com/office/drawing/2014/main" id="{095F2748-814C-6B98-97D1-323E5AB2736D}"/>
                </a:ext>
              </a:extLst>
            </p:cNvPr>
            <p:cNvSpPr/>
            <p:nvPr/>
          </p:nvSpPr>
          <p:spPr>
            <a:xfrm>
              <a:off x="10861194" y="2866499"/>
              <a:ext cx="238125" cy="9525"/>
            </a:xfrm>
            <a:custGeom>
              <a:avLst/>
              <a:gdLst>
                <a:gd name="connsiteX0" fmla="*/ 0 w 238125"/>
                <a:gd name="connsiteY0" fmla="*/ 0 h 0"/>
                <a:gd name="connsiteX1" fmla="*/ 238335 w 238125"/>
                <a:gd name="connsiteY1" fmla="*/ 0 h 0"/>
              </a:gdLst>
              <a:ahLst/>
              <a:cxnLst>
                <a:cxn ang="0">
                  <a:pos x="connsiteX0" y="connsiteY0"/>
                </a:cxn>
                <a:cxn ang="0">
                  <a:pos x="connsiteX1" y="connsiteY1"/>
                </a:cxn>
              </a:cxnLst>
              <a:rect l="l" t="t" r="r" b="b"/>
              <a:pathLst>
                <a:path w="238125">
                  <a:moveTo>
                    <a:pt x="0" y="0"/>
                  </a:moveTo>
                  <a:lnTo>
                    <a:pt x="238335"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0000"/>
                </a:solidFill>
                <a:effectLst/>
                <a:uLnTx/>
                <a:uFillTx/>
                <a:latin typeface="Calibri"/>
                <a:ea typeface="+mn-ea"/>
                <a:cs typeface="+mn-cs"/>
              </a:endParaRPr>
            </a:p>
          </p:txBody>
        </p:sp>
        <p:sp>
          <p:nvSpPr>
            <p:cNvPr id="25" name="Forme libre : forme 24">
              <a:extLst>
                <a:ext uri="{FF2B5EF4-FFF2-40B4-BE49-F238E27FC236}">
                  <a16:creationId xmlns:a16="http://schemas.microsoft.com/office/drawing/2014/main" id="{70E3C5DA-F025-FD86-41BD-330F6CC4DADF}"/>
                </a:ext>
              </a:extLst>
            </p:cNvPr>
            <p:cNvSpPr/>
            <p:nvPr/>
          </p:nvSpPr>
          <p:spPr>
            <a:xfrm>
              <a:off x="10847011" y="2733149"/>
              <a:ext cx="266700" cy="266700"/>
            </a:xfrm>
            <a:custGeom>
              <a:avLst/>
              <a:gdLst>
                <a:gd name="connsiteX0" fmla="*/ 133350 w 266700"/>
                <a:gd name="connsiteY0" fmla="*/ 0 h 266700"/>
                <a:gd name="connsiteX1" fmla="*/ 0 w 266700"/>
                <a:gd name="connsiteY1" fmla="*/ 47625 h 266700"/>
                <a:gd name="connsiteX2" fmla="*/ 133350 w 266700"/>
                <a:gd name="connsiteY2" fmla="*/ 266700 h 266700"/>
                <a:gd name="connsiteX3" fmla="*/ 266700 w 266700"/>
                <a:gd name="connsiteY3" fmla="*/ 47625 h 266700"/>
                <a:gd name="connsiteX4" fmla="*/ 133350 w 266700"/>
                <a:gd name="connsiteY4" fmla="*/ 0 h 26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700" h="266700">
                  <a:moveTo>
                    <a:pt x="133350" y="0"/>
                  </a:moveTo>
                  <a:cubicBezTo>
                    <a:pt x="95250" y="28575"/>
                    <a:pt x="38100" y="47625"/>
                    <a:pt x="0" y="47625"/>
                  </a:cubicBezTo>
                  <a:cubicBezTo>
                    <a:pt x="0" y="136522"/>
                    <a:pt x="44453" y="228600"/>
                    <a:pt x="133350" y="266700"/>
                  </a:cubicBezTo>
                  <a:cubicBezTo>
                    <a:pt x="222247" y="228600"/>
                    <a:pt x="266700" y="136522"/>
                    <a:pt x="266700" y="47625"/>
                  </a:cubicBezTo>
                  <a:cubicBezTo>
                    <a:pt x="228600" y="47625"/>
                    <a:pt x="171450" y="28575"/>
                    <a:pt x="133350" y="0"/>
                  </a:cubicBezTo>
                  <a:close/>
                </a:path>
              </a:pathLst>
            </a:custGeom>
            <a:noFill/>
            <a:ln w="19050"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0000"/>
                </a:solidFill>
                <a:effectLst/>
                <a:uLnTx/>
                <a:uFillTx/>
                <a:latin typeface="Calibri"/>
                <a:ea typeface="+mn-ea"/>
                <a:cs typeface="+mn-cs"/>
              </a:endParaRPr>
            </a:p>
          </p:txBody>
        </p:sp>
      </p:grpSp>
      <p:grpSp>
        <p:nvGrpSpPr>
          <p:cNvPr id="26" name="Graphique 745">
            <a:extLst>
              <a:ext uri="{FF2B5EF4-FFF2-40B4-BE49-F238E27FC236}">
                <a16:creationId xmlns:a16="http://schemas.microsoft.com/office/drawing/2014/main" id="{8ACE26FF-653F-A110-59EE-9BE030038D9C}"/>
              </a:ext>
            </a:extLst>
          </p:cNvPr>
          <p:cNvGrpSpPr/>
          <p:nvPr/>
        </p:nvGrpSpPr>
        <p:grpSpPr>
          <a:xfrm>
            <a:off x="8526910" y="3154155"/>
            <a:ext cx="278959" cy="285750"/>
            <a:chOff x="8670333" y="5487063"/>
            <a:chExt cx="278959" cy="285750"/>
          </a:xfrm>
        </p:grpSpPr>
        <p:sp>
          <p:nvSpPr>
            <p:cNvPr id="37" name="Forme libre : forme 36">
              <a:extLst>
                <a:ext uri="{FF2B5EF4-FFF2-40B4-BE49-F238E27FC236}">
                  <a16:creationId xmlns:a16="http://schemas.microsoft.com/office/drawing/2014/main" id="{D8965253-9551-5AD5-2759-6508D4172864}"/>
                </a:ext>
              </a:extLst>
            </p:cNvPr>
            <p:cNvSpPr/>
            <p:nvPr/>
          </p:nvSpPr>
          <p:spPr>
            <a:xfrm>
              <a:off x="8670333" y="5591838"/>
              <a:ext cx="85725" cy="142875"/>
            </a:xfrm>
            <a:custGeom>
              <a:avLst/>
              <a:gdLst>
                <a:gd name="connsiteX0" fmla="*/ 92516 w 85725"/>
                <a:gd name="connsiteY0" fmla="*/ 16373 h 142875"/>
                <a:gd name="connsiteX1" fmla="*/ 66675 w 85725"/>
                <a:gd name="connsiteY1" fmla="*/ 0 h 142875"/>
                <a:gd name="connsiteX2" fmla="*/ 28575 w 85725"/>
                <a:gd name="connsiteY2" fmla="*/ 0 h 142875"/>
                <a:gd name="connsiteX3" fmla="*/ 0 w 85725"/>
                <a:gd name="connsiteY3" fmla="*/ 28575 h 142875"/>
                <a:gd name="connsiteX4" fmla="*/ 0 w 85725"/>
                <a:gd name="connsiteY4" fmla="*/ 76200 h 142875"/>
                <a:gd name="connsiteX5" fmla="*/ 19050 w 85725"/>
                <a:gd name="connsiteY5" fmla="*/ 76200 h 142875"/>
                <a:gd name="connsiteX6" fmla="*/ 19050 w 85725"/>
                <a:gd name="connsiteY6" fmla="*/ 142875 h 142875"/>
                <a:gd name="connsiteX7" fmla="*/ 76200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92516" y="16373"/>
                  </a:moveTo>
                  <a:cubicBezTo>
                    <a:pt x="87935" y="6715"/>
                    <a:pt x="78076" y="0"/>
                    <a:pt x="66675" y="0"/>
                  </a:cubicBezTo>
                  <a:lnTo>
                    <a:pt x="28575" y="0"/>
                  </a:lnTo>
                  <a:cubicBezTo>
                    <a:pt x="12792" y="0"/>
                    <a:pt x="0" y="12792"/>
                    <a:pt x="0" y="28575"/>
                  </a:cubicBezTo>
                  <a:lnTo>
                    <a:pt x="0" y="76200"/>
                  </a:lnTo>
                  <a:lnTo>
                    <a:pt x="19050" y="76200"/>
                  </a:lnTo>
                  <a:lnTo>
                    <a:pt x="19050" y="142875"/>
                  </a:lnTo>
                  <a:lnTo>
                    <a:pt x="76200" y="142875"/>
                  </a:lnTo>
                </a:path>
              </a:pathLst>
            </a:custGeom>
            <a:noFill/>
            <a:ln w="19050" cap="flat">
              <a:solidFill>
                <a:schemeClr val="bg1"/>
              </a:solidFill>
              <a:prstDash val="solid"/>
              <a:miter/>
            </a:ln>
          </p:spPr>
          <p:txBody>
            <a:bodyPr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a:ea typeface="+mn-ea"/>
                <a:cs typeface="+mn-cs"/>
              </a:endParaRPr>
            </a:p>
          </p:txBody>
        </p:sp>
        <p:sp>
          <p:nvSpPr>
            <p:cNvPr id="46" name="Forme libre : forme 45">
              <a:extLst>
                <a:ext uri="{FF2B5EF4-FFF2-40B4-BE49-F238E27FC236}">
                  <a16:creationId xmlns:a16="http://schemas.microsoft.com/office/drawing/2014/main" id="{1852BE33-809F-45EB-4204-EEAA10387C46}"/>
                </a:ext>
              </a:extLst>
            </p:cNvPr>
            <p:cNvSpPr/>
            <p:nvPr/>
          </p:nvSpPr>
          <p:spPr>
            <a:xfrm>
              <a:off x="86893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chemeClr val="bg1"/>
              </a:solidFill>
              <a:prstDash val="solid"/>
              <a:miter/>
            </a:ln>
          </p:spPr>
          <p:txBody>
            <a:bodyPr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a:ea typeface="+mn-ea"/>
                <a:cs typeface="+mn-cs"/>
              </a:endParaRPr>
            </a:p>
          </p:txBody>
        </p:sp>
        <p:sp>
          <p:nvSpPr>
            <p:cNvPr id="47" name="Forme libre : forme 46">
              <a:extLst>
                <a:ext uri="{FF2B5EF4-FFF2-40B4-BE49-F238E27FC236}">
                  <a16:creationId xmlns:a16="http://schemas.microsoft.com/office/drawing/2014/main" id="{AA157FB5-7786-69A2-0CDB-92A39F87633C}"/>
                </a:ext>
              </a:extLst>
            </p:cNvPr>
            <p:cNvSpPr/>
            <p:nvPr/>
          </p:nvSpPr>
          <p:spPr>
            <a:xfrm>
              <a:off x="8863567" y="5591838"/>
              <a:ext cx="85725" cy="142875"/>
            </a:xfrm>
            <a:custGeom>
              <a:avLst/>
              <a:gdLst>
                <a:gd name="connsiteX0" fmla="*/ 0 w 85725"/>
                <a:gd name="connsiteY0" fmla="*/ 16373 h 142875"/>
                <a:gd name="connsiteX1" fmla="*/ 25841 w 85725"/>
                <a:gd name="connsiteY1" fmla="*/ 0 h 142875"/>
                <a:gd name="connsiteX2" fmla="*/ 63941 w 85725"/>
                <a:gd name="connsiteY2" fmla="*/ 0 h 142875"/>
                <a:gd name="connsiteX3" fmla="*/ 92516 w 85725"/>
                <a:gd name="connsiteY3" fmla="*/ 28575 h 142875"/>
                <a:gd name="connsiteX4" fmla="*/ 92516 w 85725"/>
                <a:gd name="connsiteY4" fmla="*/ 76200 h 142875"/>
                <a:gd name="connsiteX5" fmla="*/ 73466 w 85725"/>
                <a:gd name="connsiteY5" fmla="*/ 76200 h 142875"/>
                <a:gd name="connsiteX6" fmla="*/ 73466 w 85725"/>
                <a:gd name="connsiteY6" fmla="*/ 142875 h 142875"/>
                <a:gd name="connsiteX7" fmla="*/ 16316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0" y="16373"/>
                  </a:moveTo>
                  <a:cubicBezTo>
                    <a:pt x="4582" y="6715"/>
                    <a:pt x="14440" y="0"/>
                    <a:pt x="25841" y="0"/>
                  </a:cubicBezTo>
                  <a:lnTo>
                    <a:pt x="63941" y="0"/>
                  </a:lnTo>
                  <a:cubicBezTo>
                    <a:pt x="79724" y="0"/>
                    <a:pt x="92516" y="12792"/>
                    <a:pt x="92516" y="28575"/>
                  </a:cubicBezTo>
                  <a:lnTo>
                    <a:pt x="92516" y="76200"/>
                  </a:lnTo>
                  <a:lnTo>
                    <a:pt x="73466" y="76200"/>
                  </a:lnTo>
                  <a:lnTo>
                    <a:pt x="73466" y="142875"/>
                  </a:lnTo>
                  <a:lnTo>
                    <a:pt x="16316" y="142875"/>
                  </a:lnTo>
                </a:path>
              </a:pathLst>
            </a:custGeom>
            <a:noFill/>
            <a:ln w="19050" cap="flat">
              <a:solidFill>
                <a:schemeClr val="bg1"/>
              </a:solidFill>
              <a:prstDash val="solid"/>
              <a:miter/>
            </a:ln>
          </p:spPr>
          <p:txBody>
            <a:bodyPr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a:ea typeface="+mn-ea"/>
                <a:cs typeface="+mn-cs"/>
              </a:endParaRPr>
            </a:p>
          </p:txBody>
        </p:sp>
        <p:sp>
          <p:nvSpPr>
            <p:cNvPr id="48" name="Forme libre : forme 47">
              <a:extLst>
                <a:ext uri="{FF2B5EF4-FFF2-40B4-BE49-F238E27FC236}">
                  <a16:creationId xmlns:a16="http://schemas.microsoft.com/office/drawing/2014/main" id="{1F407A73-0C10-7E72-1952-9AB7C016841F}"/>
                </a:ext>
              </a:extLst>
            </p:cNvPr>
            <p:cNvSpPr/>
            <p:nvPr/>
          </p:nvSpPr>
          <p:spPr>
            <a:xfrm>
              <a:off x="88798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19050" cap="sq">
              <a:solidFill>
                <a:schemeClr val="bg1"/>
              </a:solidFill>
              <a:prstDash val="solid"/>
              <a:miter/>
            </a:ln>
          </p:spPr>
          <p:txBody>
            <a:bodyPr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a:ea typeface="+mn-ea"/>
                <a:cs typeface="+mn-cs"/>
              </a:endParaRPr>
            </a:p>
          </p:txBody>
        </p:sp>
        <p:sp>
          <p:nvSpPr>
            <p:cNvPr id="58" name="Forme libre : forme 57">
              <a:extLst>
                <a:ext uri="{FF2B5EF4-FFF2-40B4-BE49-F238E27FC236}">
                  <a16:creationId xmlns:a16="http://schemas.microsoft.com/office/drawing/2014/main" id="{89A1751C-6E32-8BA1-16B2-3A98F96F3EB0}"/>
                </a:ext>
              </a:extLst>
            </p:cNvPr>
            <p:cNvSpPr/>
            <p:nvPr/>
          </p:nvSpPr>
          <p:spPr>
            <a:xfrm>
              <a:off x="8756058" y="5591838"/>
              <a:ext cx="114300" cy="180975"/>
            </a:xfrm>
            <a:custGeom>
              <a:avLst/>
              <a:gdLst>
                <a:gd name="connsiteX0" fmla="*/ 85725 w 114300"/>
                <a:gd name="connsiteY0" fmla="*/ 180975 h 180975"/>
                <a:gd name="connsiteX1" fmla="*/ 28575 w 114300"/>
                <a:gd name="connsiteY1" fmla="*/ 180975 h 180975"/>
                <a:gd name="connsiteX2" fmla="*/ 28575 w 114300"/>
                <a:gd name="connsiteY2" fmla="*/ 104775 h 180975"/>
                <a:gd name="connsiteX3" fmla="*/ 0 w 114300"/>
                <a:gd name="connsiteY3" fmla="*/ 104775 h 180975"/>
                <a:gd name="connsiteX4" fmla="*/ 0 w 114300"/>
                <a:gd name="connsiteY4" fmla="*/ 38100 h 180975"/>
                <a:gd name="connsiteX5" fmla="*/ 38100 w 114300"/>
                <a:gd name="connsiteY5" fmla="*/ 0 h 180975"/>
                <a:gd name="connsiteX6" fmla="*/ 76200 w 114300"/>
                <a:gd name="connsiteY6" fmla="*/ 0 h 180975"/>
                <a:gd name="connsiteX7" fmla="*/ 114300 w 114300"/>
                <a:gd name="connsiteY7" fmla="*/ 38100 h 180975"/>
                <a:gd name="connsiteX8" fmla="*/ 114300 w 114300"/>
                <a:gd name="connsiteY8" fmla="*/ 104775 h 180975"/>
                <a:gd name="connsiteX9" fmla="*/ 85725 w 114300"/>
                <a:gd name="connsiteY9" fmla="*/ 104775 h 180975"/>
                <a:gd name="connsiteX10" fmla="*/ 85725 w 114300"/>
                <a:gd name="connsiteY10"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300" h="180975">
                  <a:moveTo>
                    <a:pt x="85725" y="180975"/>
                  </a:moveTo>
                  <a:lnTo>
                    <a:pt x="28575" y="180975"/>
                  </a:lnTo>
                  <a:lnTo>
                    <a:pt x="28575" y="104775"/>
                  </a:lnTo>
                  <a:lnTo>
                    <a:pt x="0" y="104775"/>
                  </a:lnTo>
                  <a:lnTo>
                    <a:pt x="0" y="38100"/>
                  </a:lnTo>
                  <a:cubicBezTo>
                    <a:pt x="0" y="17059"/>
                    <a:pt x="17059" y="0"/>
                    <a:pt x="38100" y="0"/>
                  </a:cubicBezTo>
                  <a:lnTo>
                    <a:pt x="76200" y="0"/>
                  </a:lnTo>
                  <a:cubicBezTo>
                    <a:pt x="97241" y="0"/>
                    <a:pt x="114300" y="17059"/>
                    <a:pt x="114300" y="38100"/>
                  </a:cubicBezTo>
                  <a:lnTo>
                    <a:pt x="114300" y="104775"/>
                  </a:lnTo>
                  <a:lnTo>
                    <a:pt x="85725" y="104775"/>
                  </a:lnTo>
                  <a:lnTo>
                    <a:pt x="85725" y="180975"/>
                  </a:lnTo>
                  <a:close/>
                </a:path>
              </a:pathLst>
            </a:custGeom>
            <a:noFill/>
            <a:ln w="19050" cap="sq">
              <a:solidFill>
                <a:schemeClr val="bg1"/>
              </a:solidFill>
              <a:prstDash val="solid"/>
              <a:miter/>
            </a:ln>
          </p:spPr>
          <p:txBody>
            <a:bodyPr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a:ea typeface="+mn-ea"/>
                <a:cs typeface="+mn-cs"/>
              </a:endParaRPr>
            </a:p>
          </p:txBody>
        </p:sp>
        <p:sp>
          <p:nvSpPr>
            <p:cNvPr id="59" name="Forme libre : forme 58">
              <a:extLst>
                <a:ext uri="{FF2B5EF4-FFF2-40B4-BE49-F238E27FC236}">
                  <a16:creationId xmlns:a16="http://schemas.microsoft.com/office/drawing/2014/main" id="{4E32AB78-D13B-700E-D42D-1BDE5F5D7E67}"/>
                </a:ext>
              </a:extLst>
            </p:cNvPr>
            <p:cNvSpPr/>
            <p:nvPr/>
          </p:nvSpPr>
          <p:spPr>
            <a:xfrm>
              <a:off x="8775108" y="548706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chemeClr val="bg1"/>
              </a:solidFill>
              <a:prstDash val="solid"/>
              <a:miter/>
            </a:ln>
          </p:spPr>
          <p:txBody>
            <a:bodyPr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a:ea typeface="+mn-ea"/>
                <a:cs typeface="+mn-cs"/>
              </a:endParaRPr>
            </a:p>
          </p:txBody>
        </p:sp>
      </p:grpSp>
      <p:grpSp>
        <p:nvGrpSpPr>
          <p:cNvPr id="60" name="Graphique 683">
            <a:extLst>
              <a:ext uri="{FF2B5EF4-FFF2-40B4-BE49-F238E27FC236}">
                <a16:creationId xmlns:a16="http://schemas.microsoft.com/office/drawing/2014/main" id="{E16D9186-3BA7-E7AA-34F8-FEFF6E8A5152}"/>
              </a:ext>
            </a:extLst>
          </p:cNvPr>
          <p:cNvGrpSpPr>
            <a:grpSpLocks noChangeAspect="1"/>
          </p:cNvGrpSpPr>
          <p:nvPr/>
        </p:nvGrpSpPr>
        <p:grpSpPr>
          <a:xfrm>
            <a:off x="5003605" y="4478611"/>
            <a:ext cx="288000" cy="288000"/>
            <a:chOff x="4326500" y="3636430"/>
            <a:chExt cx="304800" cy="304800"/>
          </a:xfrm>
        </p:grpSpPr>
        <p:sp>
          <p:nvSpPr>
            <p:cNvPr id="61" name="Forme libre : forme 60">
              <a:extLst>
                <a:ext uri="{FF2B5EF4-FFF2-40B4-BE49-F238E27FC236}">
                  <a16:creationId xmlns:a16="http://schemas.microsoft.com/office/drawing/2014/main" id="{00C5F5FD-551E-9684-4852-1CBFEEF815A0}"/>
                </a:ext>
              </a:extLst>
            </p:cNvPr>
            <p:cNvSpPr/>
            <p:nvPr/>
          </p:nvSpPr>
          <p:spPr>
            <a:xfrm>
              <a:off x="4440800" y="375073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62" name="Forme libre : forme 61">
              <a:extLst>
                <a:ext uri="{FF2B5EF4-FFF2-40B4-BE49-F238E27FC236}">
                  <a16:creationId xmlns:a16="http://schemas.microsoft.com/office/drawing/2014/main" id="{52E2A8BD-BB74-DDC0-C8A6-554D663AD10C}"/>
                </a:ext>
              </a:extLst>
            </p:cNvPr>
            <p:cNvSpPr/>
            <p:nvPr/>
          </p:nvSpPr>
          <p:spPr>
            <a:xfrm>
              <a:off x="4336025" y="3645955"/>
              <a:ext cx="285750" cy="285750"/>
            </a:xfrm>
            <a:custGeom>
              <a:avLst/>
              <a:gdLst>
                <a:gd name="connsiteX0" fmla="*/ 285750 w 285750"/>
                <a:gd name="connsiteY0" fmla="*/ 161925 h 285750"/>
                <a:gd name="connsiteX1" fmla="*/ 285750 w 285750"/>
                <a:gd name="connsiteY1" fmla="*/ 123825 h 285750"/>
                <a:gd name="connsiteX2" fmla="*/ 244735 w 285750"/>
                <a:gd name="connsiteY2" fmla="*/ 118701 h 285750"/>
                <a:gd name="connsiteX3" fmla="*/ 231981 w 285750"/>
                <a:gd name="connsiteY3" fmla="*/ 87963 h 285750"/>
                <a:gd name="connsiteX4" fmla="*/ 257375 w 285750"/>
                <a:gd name="connsiteY4" fmla="*/ 55321 h 285750"/>
                <a:gd name="connsiteX5" fmla="*/ 230429 w 285750"/>
                <a:gd name="connsiteY5" fmla="*/ 28375 h 285750"/>
                <a:gd name="connsiteX6" fmla="*/ 197787 w 285750"/>
                <a:gd name="connsiteY6" fmla="*/ 53769 h 285750"/>
                <a:gd name="connsiteX7" fmla="*/ 167049 w 285750"/>
                <a:gd name="connsiteY7" fmla="*/ 41015 h 285750"/>
                <a:gd name="connsiteX8" fmla="*/ 161925 w 285750"/>
                <a:gd name="connsiteY8" fmla="*/ 0 h 285750"/>
                <a:gd name="connsiteX9" fmla="*/ 123825 w 285750"/>
                <a:gd name="connsiteY9" fmla="*/ 0 h 285750"/>
                <a:gd name="connsiteX10" fmla="*/ 118701 w 285750"/>
                <a:gd name="connsiteY10" fmla="*/ 41015 h 285750"/>
                <a:gd name="connsiteX11" fmla="*/ 87963 w 285750"/>
                <a:gd name="connsiteY11" fmla="*/ 53769 h 285750"/>
                <a:gd name="connsiteX12" fmla="*/ 55321 w 285750"/>
                <a:gd name="connsiteY12" fmla="*/ 28375 h 285750"/>
                <a:gd name="connsiteX13" fmla="*/ 28375 w 285750"/>
                <a:gd name="connsiteY13" fmla="*/ 55321 h 285750"/>
                <a:gd name="connsiteX14" fmla="*/ 53769 w 285750"/>
                <a:gd name="connsiteY14" fmla="*/ 87963 h 285750"/>
                <a:gd name="connsiteX15" fmla="*/ 41015 w 285750"/>
                <a:gd name="connsiteY15" fmla="*/ 118701 h 285750"/>
                <a:gd name="connsiteX16" fmla="*/ 0 w 285750"/>
                <a:gd name="connsiteY16" fmla="*/ 123825 h 285750"/>
                <a:gd name="connsiteX17" fmla="*/ 0 w 285750"/>
                <a:gd name="connsiteY17" fmla="*/ 161925 h 285750"/>
                <a:gd name="connsiteX18" fmla="*/ 41015 w 285750"/>
                <a:gd name="connsiteY18" fmla="*/ 167049 h 285750"/>
                <a:gd name="connsiteX19" fmla="*/ 53769 w 285750"/>
                <a:gd name="connsiteY19" fmla="*/ 197787 h 285750"/>
                <a:gd name="connsiteX20" fmla="*/ 28375 w 285750"/>
                <a:gd name="connsiteY20" fmla="*/ 230429 h 285750"/>
                <a:gd name="connsiteX21" fmla="*/ 55321 w 285750"/>
                <a:gd name="connsiteY21" fmla="*/ 257375 h 285750"/>
                <a:gd name="connsiteX22" fmla="*/ 87963 w 285750"/>
                <a:gd name="connsiteY22" fmla="*/ 231981 h 285750"/>
                <a:gd name="connsiteX23" fmla="*/ 118701 w 285750"/>
                <a:gd name="connsiteY23" fmla="*/ 244735 h 285750"/>
                <a:gd name="connsiteX24" fmla="*/ 123825 w 285750"/>
                <a:gd name="connsiteY24" fmla="*/ 285750 h 285750"/>
                <a:gd name="connsiteX25" fmla="*/ 161925 w 285750"/>
                <a:gd name="connsiteY25" fmla="*/ 285750 h 285750"/>
                <a:gd name="connsiteX26" fmla="*/ 167049 w 285750"/>
                <a:gd name="connsiteY26" fmla="*/ 244735 h 285750"/>
                <a:gd name="connsiteX27" fmla="*/ 197787 w 285750"/>
                <a:gd name="connsiteY27" fmla="*/ 231981 h 285750"/>
                <a:gd name="connsiteX28" fmla="*/ 230429 w 285750"/>
                <a:gd name="connsiteY28" fmla="*/ 257375 h 285750"/>
                <a:gd name="connsiteX29" fmla="*/ 257375 w 285750"/>
                <a:gd name="connsiteY29" fmla="*/ 230429 h 285750"/>
                <a:gd name="connsiteX30" fmla="*/ 231981 w 285750"/>
                <a:gd name="connsiteY30" fmla="*/ 197787 h 285750"/>
                <a:gd name="connsiteX31" fmla="*/ 244735 w 285750"/>
                <a:gd name="connsiteY31" fmla="*/ 167049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50" h="285750">
                  <a:moveTo>
                    <a:pt x="285750" y="161925"/>
                  </a:moveTo>
                  <a:lnTo>
                    <a:pt x="285750" y="123825"/>
                  </a:lnTo>
                  <a:lnTo>
                    <a:pt x="244735" y="118701"/>
                  </a:lnTo>
                  <a:cubicBezTo>
                    <a:pt x="242162" y="107836"/>
                    <a:pt x="237856" y="97458"/>
                    <a:pt x="231981" y="87963"/>
                  </a:cubicBezTo>
                  <a:lnTo>
                    <a:pt x="257375" y="55321"/>
                  </a:lnTo>
                  <a:lnTo>
                    <a:pt x="230429" y="28375"/>
                  </a:lnTo>
                  <a:lnTo>
                    <a:pt x="197787" y="53769"/>
                  </a:lnTo>
                  <a:cubicBezTo>
                    <a:pt x="188292" y="47894"/>
                    <a:pt x="177914" y="43588"/>
                    <a:pt x="167049" y="41015"/>
                  </a:cubicBezTo>
                  <a:lnTo>
                    <a:pt x="161925" y="0"/>
                  </a:lnTo>
                  <a:lnTo>
                    <a:pt x="123825" y="0"/>
                  </a:lnTo>
                  <a:lnTo>
                    <a:pt x="118701" y="41015"/>
                  </a:lnTo>
                  <a:cubicBezTo>
                    <a:pt x="107836" y="43588"/>
                    <a:pt x="97458" y="47894"/>
                    <a:pt x="87963" y="53769"/>
                  </a:cubicBezTo>
                  <a:lnTo>
                    <a:pt x="55321" y="28375"/>
                  </a:lnTo>
                  <a:lnTo>
                    <a:pt x="28375" y="55321"/>
                  </a:lnTo>
                  <a:lnTo>
                    <a:pt x="53769" y="87963"/>
                  </a:lnTo>
                  <a:cubicBezTo>
                    <a:pt x="47894" y="97458"/>
                    <a:pt x="43588" y="107836"/>
                    <a:pt x="41015" y="118701"/>
                  </a:cubicBezTo>
                  <a:lnTo>
                    <a:pt x="0" y="123825"/>
                  </a:lnTo>
                  <a:lnTo>
                    <a:pt x="0" y="161925"/>
                  </a:lnTo>
                  <a:lnTo>
                    <a:pt x="41015" y="167049"/>
                  </a:lnTo>
                  <a:cubicBezTo>
                    <a:pt x="43588" y="177914"/>
                    <a:pt x="47894" y="188292"/>
                    <a:pt x="53769" y="197787"/>
                  </a:cubicBezTo>
                  <a:lnTo>
                    <a:pt x="28375" y="230429"/>
                  </a:lnTo>
                  <a:lnTo>
                    <a:pt x="55321" y="257375"/>
                  </a:lnTo>
                  <a:lnTo>
                    <a:pt x="87963" y="231981"/>
                  </a:lnTo>
                  <a:cubicBezTo>
                    <a:pt x="97458" y="237856"/>
                    <a:pt x="107836" y="242162"/>
                    <a:pt x="118701" y="244735"/>
                  </a:cubicBezTo>
                  <a:lnTo>
                    <a:pt x="123825" y="285750"/>
                  </a:lnTo>
                  <a:lnTo>
                    <a:pt x="161925" y="285750"/>
                  </a:lnTo>
                  <a:lnTo>
                    <a:pt x="167049" y="244735"/>
                  </a:lnTo>
                  <a:cubicBezTo>
                    <a:pt x="177914" y="242162"/>
                    <a:pt x="188292" y="237856"/>
                    <a:pt x="197787" y="231981"/>
                  </a:cubicBezTo>
                  <a:lnTo>
                    <a:pt x="230429" y="257375"/>
                  </a:lnTo>
                  <a:lnTo>
                    <a:pt x="257375" y="230429"/>
                  </a:lnTo>
                  <a:lnTo>
                    <a:pt x="231981" y="197787"/>
                  </a:lnTo>
                  <a:cubicBezTo>
                    <a:pt x="237856" y="188292"/>
                    <a:pt x="242162" y="177914"/>
                    <a:pt x="244735" y="167049"/>
                  </a:cubicBezTo>
                  <a:close/>
                </a:path>
              </a:pathLst>
            </a:custGeom>
            <a:noFill/>
            <a:ln w="28575"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grpSp>
        <p:nvGrpSpPr>
          <p:cNvPr id="64" name="Graphique 207">
            <a:extLst>
              <a:ext uri="{FF2B5EF4-FFF2-40B4-BE49-F238E27FC236}">
                <a16:creationId xmlns:a16="http://schemas.microsoft.com/office/drawing/2014/main" id="{632C303F-92B0-433C-AB5D-B7BA0E201792}"/>
              </a:ext>
            </a:extLst>
          </p:cNvPr>
          <p:cNvGrpSpPr>
            <a:grpSpLocks noChangeAspect="1"/>
          </p:cNvGrpSpPr>
          <p:nvPr/>
        </p:nvGrpSpPr>
        <p:grpSpPr>
          <a:xfrm>
            <a:off x="8505905" y="4348904"/>
            <a:ext cx="334368" cy="334367"/>
            <a:chOff x="7566731" y="2714365"/>
            <a:chExt cx="304800" cy="304800"/>
          </a:xfrm>
        </p:grpSpPr>
        <p:sp>
          <p:nvSpPr>
            <p:cNvPr id="65" name="Forme libre : forme 64">
              <a:extLst>
                <a:ext uri="{FF2B5EF4-FFF2-40B4-BE49-F238E27FC236}">
                  <a16:creationId xmlns:a16="http://schemas.microsoft.com/office/drawing/2014/main" id="{62CE5F72-8507-2565-8A1B-BC4667F0A354}"/>
                </a:ext>
              </a:extLst>
            </p:cNvPr>
            <p:cNvSpPr/>
            <p:nvPr/>
          </p:nvSpPr>
          <p:spPr>
            <a:xfrm>
              <a:off x="7614356" y="2866765"/>
              <a:ext cx="142875" cy="66675"/>
            </a:xfrm>
            <a:custGeom>
              <a:avLst/>
              <a:gdLst>
                <a:gd name="connsiteX0" fmla="*/ 0 w 142875"/>
                <a:gd name="connsiteY0" fmla="*/ 0 h 66675"/>
                <a:gd name="connsiteX1" fmla="*/ 9525 w 142875"/>
                <a:gd name="connsiteY1" fmla="*/ 0 h 66675"/>
                <a:gd name="connsiteX2" fmla="*/ 66675 w 142875"/>
                <a:gd name="connsiteY2" fmla="*/ 28575 h 66675"/>
                <a:gd name="connsiteX3" fmla="*/ 104775 w 142875"/>
                <a:gd name="connsiteY3" fmla="*/ 28575 h 66675"/>
                <a:gd name="connsiteX4" fmla="*/ 142875 w 142875"/>
                <a:gd name="connsiteY4" fmla="*/ 66675 h 66675"/>
                <a:gd name="connsiteX5" fmla="*/ 57150 w 142875"/>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66675">
                  <a:moveTo>
                    <a:pt x="0" y="0"/>
                  </a:moveTo>
                  <a:lnTo>
                    <a:pt x="9525" y="0"/>
                  </a:lnTo>
                  <a:cubicBezTo>
                    <a:pt x="31128" y="0"/>
                    <a:pt x="55493" y="11878"/>
                    <a:pt x="66675" y="28575"/>
                  </a:cubicBezTo>
                  <a:lnTo>
                    <a:pt x="104775" y="28575"/>
                  </a:lnTo>
                  <a:cubicBezTo>
                    <a:pt x="123892" y="28575"/>
                    <a:pt x="142875" y="47558"/>
                    <a:pt x="142875" y="66675"/>
                  </a:cubicBezTo>
                  <a:lnTo>
                    <a:pt x="57150" y="66675"/>
                  </a:lnTo>
                </a:path>
              </a:pathLst>
            </a:custGeom>
            <a:noFill/>
            <a:ln w="285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3C5A"/>
                </a:solidFill>
                <a:effectLst/>
                <a:uLnTx/>
                <a:uFillTx/>
                <a:latin typeface="Montserrat"/>
                <a:ea typeface="+mn-ea"/>
                <a:cs typeface="+mn-cs"/>
              </a:endParaRPr>
            </a:p>
          </p:txBody>
        </p:sp>
        <p:sp>
          <p:nvSpPr>
            <p:cNvPr id="66" name="Forme libre : forme 65">
              <a:extLst>
                <a:ext uri="{FF2B5EF4-FFF2-40B4-BE49-F238E27FC236}">
                  <a16:creationId xmlns:a16="http://schemas.microsoft.com/office/drawing/2014/main" id="{A83E7F31-5E71-64CD-C351-A01D5A722081}"/>
                </a:ext>
              </a:extLst>
            </p:cNvPr>
            <p:cNvSpPr/>
            <p:nvPr/>
          </p:nvSpPr>
          <p:spPr>
            <a:xfrm>
              <a:off x="7614356" y="2914390"/>
              <a:ext cx="238125" cy="76200"/>
            </a:xfrm>
            <a:custGeom>
              <a:avLst/>
              <a:gdLst>
                <a:gd name="connsiteX0" fmla="*/ 136789 w 238125"/>
                <a:gd name="connsiteY0" fmla="*/ 0 h 76200"/>
                <a:gd name="connsiteX1" fmla="*/ 200025 w 238125"/>
                <a:gd name="connsiteY1" fmla="*/ 0 h 76200"/>
                <a:gd name="connsiteX2" fmla="*/ 238125 w 238125"/>
                <a:gd name="connsiteY2" fmla="*/ 19050 h 76200"/>
                <a:gd name="connsiteX3" fmla="*/ 101727 w 238125"/>
                <a:gd name="connsiteY3" fmla="*/ 74447 h 76200"/>
                <a:gd name="connsiteX4" fmla="*/ 68228 w 238125"/>
                <a:gd name="connsiteY4" fmla="*/ 73057 h 76200"/>
                <a:gd name="connsiteX5" fmla="*/ 0 w 238125"/>
                <a:gd name="connsiteY5" fmla="*/ 3840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5" h="76200">
                  <a:moveTo>
                    <a:pt x="136789" y="0"/>
                  </a:moveTo>
                  <a:lnTo>
                    <a:pt x="200025" y="0"/>
                  </a:lnTo>
                  <a:cubicBezTo>
                    <a:pt x="234553" y="0"/>
                    <a:pt x="238125" y="19050"/>
                    <a:pt x="238125" y="19050"/>
                  </a:cubicBezTo>
                  <a:lnTo>
                    <a:pt x="101727" y="74447"/>
                  </a:lnTo>
                  <a:cubicBezTo>
                    <a:pt x="90878" y="78791"/>
                    <a:pt x="78686" y="78286"/>
                    <a:pt x="68228" y="73057"/>
                  </a:cubicBezTo>
                  <a:lnTo>
                    <a:pt x="0" y="38405"/>
                  </a:lnTo>
                </a:path>
              </a:pathLst>
            </a:custGeom>
            <a:noFill/>
            <a:ln w="285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3C5A"/>
                </a:solidFill>
                <a:effectLst/>
                <a:uLnTx/>
                <a:uFillTx/>
                <a:latin typeface="Montserrat"/>
                <a:ea typeface="+mn-ea"/>
                <a:cs typeface="+mn-cs"/>
              </a:endParaRPr>
            </a:p>
          </p:txBody>
        </p:sp>
        <p:sp>
          <p:nvSpPr>
            <p:cNvPr id="67" name="Forme libre : forme 66">
              <a:extLst>
                <a:ext uri="{FF2B5EF4-FFF2-40B4-BE49-F238E27FC236}">
                  <a16:creationId xmlns:a16="http://schemas.microsoft.com/office/drawing/2014/main" id="{DBB4DA49-7D90-69BD-D452-B7EDFC351F44}"/>
                </a:ext>
              </a:extLst>
            </p:cNvPr>
            <p:cNvSpPr/>
            <p:nvPr/>
          </p:nvSpPr>
          <p:spPr>
            <a:xfrm>
              <a:off x="7757231" y="279056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3C5A"/>
                </a:solidFill>
                <a:effectLst/>
                <a:uLnTx/>
                <a:uFillTx/>
                <a:latin typeface="Montserrat"/>
                <a:ea typeface="+mn-ea"/>
                <a:cs typeface="+mn-cs"/>
              </a:endParaRPr>
            </a:p>
          </p:txBody>
        </p:sp>
        <p:sp>
          <p:nvSpPr>
            <p:cNvPr id="68" name="Forme libre : forme 67">
              <a:extLst>
                <a:ext uri="{FF2B5EF4-FFF2-40B4-BE49-F238E27FC236}">
                  <a16:creationId xmlns:a16="http://schemas.microsoft.com/office/drawing/2014/main" id="{9A69EDB3-B43C-4BCD-B661-F09BD92E613E}"/>
                </a:ext>
              </a:extLst>
            </p:cNvPr>
            <p:cNvSpPr/>
            <p:nvPr/>
          </p:nvSpPr>
          <p:spPr>
            <a:xfrm>
              <a:off x="7576256" y="2847715"/>
              <a:ext cx="38100" cy="123825"/>
            </a:xfrm>
            <a:custGeom>
              <a:avLst/>
              <a:gdLst>
                <a:gd name="connsiteX0" fmla="*/ 0 w 38100"/>
                <a:gd name="connsiteY0" fmla="*/ 0 h 123825"/>
                <a:gd name="connsiteX1" fmla="*/ 38100 w 38100"/>
                <a:gd name="connsiteY1" fmla="*/ 0 h 123825"/>
                <a:gd name="connsiteX2" fmla="*/ 38100 w 38100"/>
                <a:gd name="connsiteY2" fmla="*/ 123825 h 123825"/>
                <a:gd name="connsiteX3" fmla="*/ 0 w 38100"/>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38100" h="123825">
                  <a:moveTo>
                    <a:pt x="0" y="0"/>
                  </a:moveTo>
                  <a:lnTo>
                    <a:pt x="38100" y="0"/>
                  </a:lnTo>
                  <a:lnTo>
                    <a:pt x="38100" y="123825"/>
                  </a:lnTo>
                  <a:lnTo>
                    <a:pt x="0" y="123825"/>
                  </a:lnTo>
                  <a:close/>
                </a:path>
              </a:pathLst>
            </a:custGeom>
            <a:noFill/>
            <a:ln w="28575"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3C5A"/>
                </a:solidFill>
                <a:effectLst/>
                <a:uLnTx/>
                <a:uFillTx/>
                <a:latin typeface="Montserrat"/>
                <a:ea typeface="+mn-ea"/>
                <a:cs typeface="+mn-cs"/>
              </a:endParaRPr>
            </a:p>
          </p:txBody>
        </p:sp>
        <p:sp>
          <p:nvSpPr>
            <p:cNvPr id="69" name="Forme libre : forme 68">
              <a:extLst>
                <a:ext uri="{FF2B5EF4-FFF2-40B4-BE49-F238E27FC236}">
                  <a16:creationId xmlns:a16="http://schemas.microsoft.com/office/drawing/2014/main" id="{D5D2FD7C-A13A-1281-15A8-3D0961937F02}"/>
                </a:ext>
              </a:extLst>
            </p:cNvPr>
            <p:cNvSpPr/>
            <p:nvPr/>
          </p:nvSpPr>
          <p:spPr>
            <a:xfrm>
              <a:off x="7642931" y="273341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003C5A"/>
                </a:solidFill>
                <a:effectLst/>
                <a:uLnTx/>
                <a:uFillTx/>
                <a:latin typeface="Montserrat"/>
                <a:ea typeface="+mn-ea"/>
                <a:cs typeface="+mn-cs"/>
              </a:endParaRPr>
            </a:p>
          </p:txBody>
        </p:sp>
      </p:grpSp>
      <p:sp>
        <p:nvSpPr>
          <p:cNvPr id="72" name="Flèche : chevron 71">
            <a:extLst>
              <a:ext uri="{FF2B5EF4-FFF2-40B4-BE49-F238E27FC236}">
                <a16:creationId xmlns:a16="http://schemas.microsoft.com/office/drawing/2014/main" id="{62263AB7-AEC0-65A7-E753-5140B3B0F464}"/>
              </a:ext>
            </a:extLst>
          </p:cNvPr>
          <p:cNvSpPr/>
          <p:nvPr/>
        </p:nvSpPr>
        <p:spPr>
          <a:xfrm>
            <a:off x="3636451" y="3214445"/>
            <a:ext cx="863600" cy="1591823"/>
          </a:xfrm>
          <a:prstGeom prst="chevron">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67" name="ZoneTexte 266">
            <a:extLst>
              <a:ext uri="{FF2B5EF4-FFF2-40B4-BE49-F238E27FC236}">
                <a16:creationId xmlns:a16="http://schemas.microsoft.com/office/drawing/2014/main" id="{BDAC46D5-B817-AE0A-FEE1-16896CEB025D}"/>
              </a:ext>
            </a:extLst>
          </p:cNvPr>
          <p:cNvSpPr txBox="1"/>
          <p:nvPr/>
        </p:nvSpPr>
        <p:spPr>
          <a:xfrm>
            <a:off x="294737" y="6409767"/>
            <a:ext cx="3365860" cy="184666"/>
          </a:xfrm>
          <a:prstGeom prst="rect">
            <a:avLst/>
          </a:prstGeom>
          <a:noFill/>
        </p:spPr>
        <p:txBody>
          <a:bodyPr wrap="square" lIns="36000" tIns="0" rIns="3600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a:ea typeface="+mn-ea"/>
                <a:cs typeface="+mn-cs"/>
              </a:rPr>
              <a:t>Countries :  UK, Switzerland, Australia, HK, France</a:t>
            </a:r>
          </a:p>
        </p:txBody>
      </p:sp>
      <p:sp>
        <p:nvSpPr>
          <p:cNvPr id="375" name="ZoneTexte 374">
            <a:extLst>
              <a:ext uri="{FF2B5EF4-FFF2-40B4-BE49-F238E27FC236}">
                <a16:creationId xmlns:a16="http://schemas.microsoft.com/office/drawing/2014/main" id="{CD25AB67-7F66-434F-F2CC-0BFB3F6E6B6F}"/>
              </a:ext>
            </a:extLst>
          </p:cNvPr>
          <p:cNvSpPr txBox="1"/>
          <p:nvPr/>
        </p:nvSpPr>
        <p:spPr>
          <a:xfrm>
            <a:off x="4936377" y="2284780"/>
            <a:ext cx="6894298" cy="215444"/>
          </a:xfrm>
          <a:prstGeom prst="rect">
            <a:avLst/>
          </a:prstGeom>
          <a:noFill/>
        </p:spPr>
        <p:txBody>
          <a:bodyPr wrap="square" lIns="36000" tIns="0" rIns="36000" bIns="0" rtlCol="0">
            <a:spAutoFit/>
          </a:bodyPr>
          <a:lstStyle/>
          <a:p>
            <a:r>
              <a:rPr lang="en-US" sz="1400"/>
              <a:t>Some issues must be highlighted</a:t>
            </a:r>
          </a:p>
        </p:txBody>
      </p:sp>
      <p:pic>
        <p:nvPicPr>
          <p:cNvPr id="7" name="Image 6">
            <a:extLst>
              <a:ext uri="{FF2B5EF4-FFF2-40B4-BE49-F238E27FC236}">
                <a16:creationId xmlns:a16="http://schemas.microsoft.com/office/drawing/2014/main" id="{2447AEFB-0C64-DE5F-7238-1528BE0E9B83}"/>
              </a:ext>
            </a:extLst>
          </p:cNvPr>
          <p:cNvPicPr>
            <a:picLocks noChangeAspect="1"/>
          </p:cNvPicPr>
          <p:nvPr/>
        </p:nvPicPr>
        <p:blipFill>
          <a:blip r:embed="rId3"/>
          <a:stretch>
            <a:fillRect/>
          </a:stretch>
        </p:blipFill>
        <p:spPr>
          <a:xfrm>
            <a:off x="36951" y="4077317"/>
            <a:ext cx="3557792" cy="2121673"/>
          </a:xfrm>
          <a:prstGeom prst="rect">
            <a:avLst/>
          </a:prstGeom>
        </p:spPr>
      </p:pic>
      <p:sp>
        <p:nvSpPr>
          <p:cNvPr id="10" name="Espace réservé du texte 2">
            <a:extLst>
              <a:ext uri="{FF2B5EF4-FFF2-40B4-BE49-F238E27FC236}">
                <a16:creationId xmlns:a16="http://schemas.microsoft.com/office/drawing/2014/main" id="{3EF5A89E-82BA-AD59-46DE-9D81769BE8DF}"/>
              </a:ext>
            </a:extLst>
          </p:cNvPr>
          <p:cNvSpPr>
            <a:spLocks noGrp="1"/>
          </p:cNvSpPr>
          <p:nvPr>
            <p:ph type="body" sz="quarter" idx="12"/>
          </p:nvPr>
        </p:nvSpPr>
        <p:spPr>
          <a:xfrm>
            <a:off x="269981" y="2241867"/>
            <a:ext cx="1188000" cy="252000"/>
          </a:xfrm>
          <a:prstGeom prst="roundRect">
            <a:avLst/>
          </a:prstGeom>
          <a:solidFill>
            <a:schemeClr val="bg1"/>
          </a:solidFill>
          <a:ln>
            <a:solidFill>
              <a:srgbClr val="6496BB"/>
            </a:solidFill>
          </a:ln>
        </p:spPr>
        <p:txBody>
          <a:bodyPr/>
          <a:lstStyle/>
          <a:p>
            <a:pPr algn="ctr"/>
            <a:r>
              <a:rPr lang="en-US" sz="1400">
                <a:solidFill>
                  <a:srgbClr val="6496BB"/>
                </a:solidFill>
              </a:rPr>
              <a:t>IT </a:t>
            </a:r>
          </a:p>
        </p:txBody>
      </p:sp>
      <p:sp>
        <p:nvSpPr>
          <p:cNvPr id="9" name="Espace réservé du texte 2">
            <a:extLst>
              <a:ext uri="{FF2B5EF4-FFF2-40B4-BE49-F238E27FC236}">
                <a16:creationId xmlns:a16="http://schemas.microsoft.com/office/drawing/2014/main" id="{B53AFEB3-6E2F-1D93-B870-C0A33240F41B}"/>
              </a:ext>
            </a:extLst>
          </p:cNvPr>
          <p:cNvSpPr txBox="1">
            <a:spLocks/>
          </p:cNvSpPr>
          <p:nvPr/>
        </p:nvSpPr>
        <p:spPr>
          <a:xfrm>
            <a:off x="269981" y="2569410"/>
            <a:ext cx="1188000" cy="252000"/>
          </a:xfrm>
          <a:prstGeom prst="roundRect">
            <a:avLst/>
          </a:prstGeom>
          <a:solidFill>
            <a:schemeClr val="bg1"/>
          </a:solidFill>
          <a:ln>
            <a:solidFill>
              <a:srgbClr val="6496BB"/>
            </a:solidFill>
          </a:ln>
        </p:spPr>
        <p:txBody>
          <a:bodyPr vert="horz" lIns="36000" tIns="0" rIns="36000" bIns="0" rtlCol="0">
            <a:noAutofit/>
          </a:bodyPr>
          <a:lstStyle>
            <a:lvl1pPr marL="0" indent="0" algn="l" defTabSz="914400" rtl="0" eaLnBrk="1" latinLnBrk="0" hangingPunct="1">
              <a:lnSpc>
                <a:spcPct val="100000"/>
              </a:lnSpc>
              <a:spcBef>
                <a:spcPts val="0"/>
              </a:spcBef>
              <a:buFontTx/>
              <a:buNone/>
              <a:defRPr sz="19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800" b="0" kern="1200">
                <a:solidFill>
                  <a:schemeClr val="tx1"/>
                </a:solidFill>
                <a:latin typeface="+mn-lt"/>
                <a:ea typeface="+mn-ea"/>
                <a:cs typeface="+mn-cs"/>
              </a:defRPr>
            </a:lvl2pPr>
            <a:lvl3pPr marL="180000" indent="-179388" algn="l" defTabSz="914400" rtl="0" eaLnBrk="1" latinLnBrk="0" hangingPunct="1">
              <a:lnSpc>
                <a:spcPct val="100000"/>
              </a:lnSpc>
              <a:spcBef>
                <a:spcPts val="600"/>
              </a:spcBef>
              <a:buClr>
                <a:schemeClr val="tx2"/>
              </a:buClr>
              <a:buFont typeface="Symbol" panose="05050102010706020507" pitchFamily="18" charset="2"/>
              <a:buChar char="·"/>
              <a:defRPr sz="1800" b="0" kern="1200">
                <a:solidFill>
                  <a:schemeClr val="tx1"/>
                </a:solidFill>
                <a:latin typeface="+mn-lt"/>
                <a:ea typeface="+mn-ea"/>
                <a:cs typeface="+mn-cs"/>
              </a:defRPr>
            </a:lvl3pPr>
            <a:lvl4pPr marL="324000" indent="-142875" algn="l" defTabSz="914400" rtl="0" eaLnBrk="1" latinLnBrk="0" hangingPunct="1">
              <a:lnSpc>
                <a:spcPct val="100000"/>
              </a:lnSpc>
              <a:spcBef>
                <a:spcPts val="300"/>
              </a:spcBef>
              <a:buFont typeface="Calibri" panose="020F050202020403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a:solidFill>
                  <a:srgbClr val="6496BB"/>
                </a:solidFill>
              </a:rPr>
              <a:t>HR</a:t>
            </a:r>
          </a:p>
        </p:txBody>
      </p:sp>
      <p:sp>
        <p:nvSpPr>
          <p:cNvPr id="20" name="Espace réservé du texte 2">
            <a:extLst>
              <a:ext uri="{FF2B5EF4-FFF2-40B4-BE49-F238E27FC236}">
                <a16:creationId xmlns:a16="http://schemas.microsoft.com/office/drawing/2014/main" id="{CAF45E1A-42E1-65FC-0FAD-884B483F8674}"/>
              </a:ext>
            </a:extLst>
          </p:cNvPr>
          <p:cNvSpPr txBox="1">
            <a:spLocks/>
          </p:cNvSpPr>
          <p:nvPr/>
        </p:nvSpPr>
        <p:spPr>
          <a:xfrm>
            <a:off x="2083145" y="2223706"/>
            <a:ext cx="1188000" cy="252000"/>
          </a:xfrm>
          <a:prstGeom prst="roundRect">
            <a:avLst/>
          </a:prstGeom>
          <a:solidFill>
            <a:schemeClr val="bg1"/>
          </a:solidFill>
          <a:ln>
            <a:solidFill>
              <a:srgbClr val="6496BB"/>
            </a:solidFill>
          </a:ln>
        </p:spPr>
        <p:txBody>
          <a:bodyPr vert="horz" lIns="36000" tIns="0" rIns="36000" bIns="0" rtlCol="0">
            <a:noAutofit/>
          </a:bodyPr>
          <a:lstStyle>
            <a:lvl1pPr marL="0" indent="0" algn="l" defTabSz="914400" rtl="0" eaLnBrk="1" latinLnBrk="0" hangingPunct="1">
              <a:lnSpc>
                <a:spcPct val="100000"/>
              </a:lnSpc>
              <a:spcBef>
                <a:spcPts val="0"/>
              </a:spcBef>
              <a:buFontTx/>
              <a:buNone/>
              <a:defRPr sz="19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800" b="0" kern="1200">
                <a:solidFill>
                  <a:schemeClr val="tx1"/>
                </a:solidFill>
                <a:latin typeface="+mn-lt"/>
                <a:ea typeface="+mn-ea"/>
                <a:cs typeface="+mn-cs"/>
              </a:defRPr>
            </a:lvl2pPr>
            <a:lvl3pPr marL="180000" indent="-179388" algn="l" defTabSz="914400" rtl="0" eaLnBrk="1" latinLnBrk="0" hangingPunct="1">
              <a:lnSpc>
                <a:spcPct val="100000"/>
              </a:lnSpc>
              <a:spcBef>
                <a:spcPts val="600"/>
              </a:spcBef>
              <a:buClr>
                <a:schemeClr val="tx2"/>
              </a:buClr>
              <a:buFont typeface="Symbol" panose="05050102010706020507" pitchFamily="18" charset="2"/>
              <a:buChar char="·"/>
              <a:defRPr sz="1800" b="0" kern="1200">
                <a:solidFill>
                  <a:schemeClr val="tx1"/>
                </a:solidFill>
                <a:latin typeface="+mn-lt"/>
                <a:ea typeface="+mn-ea"/>
                <a:cs typeface="+mn-cs"/>
              </a:defRPr>
            </a:lvl3pPr>
            <a:lvl4pPr marL="324000" indent="-142875" algn="l" defTabSz="914400" rtl="0" eaLnBrk="1" latinLnBrk="0" hangingPunct="1">
              <a:lnSpc>
                <a:spcPct val="100000"/>
              </a:lnSpc>
              <a:spcBef>
                <a:spcPts val="300"/>
              </a:spcBef>
              <a:buFont typeface="Calibri" panose="020F050202020403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a:solidFill>
                  <a:srgbClr val="6496BB"/>
                </a:solidFill>
              </a:rPr>
              <a:t>Process owner </a:t>
            </a:r>
          </a:p>
        </p:txBody>
      </p:sp>
      <p:sp>
        <p:nvSpPr>
          <p:cNvPr id="21" name="Espace réservé du texte 2">
            <a:extLst>
              <a:ext uri="{FF2B5EF4-FFF2-40B4-BE49-F238E27FC236}">
                <a16:creationId xmlns:a16="http://schemas.microsoft.com/office/drawing/2014/main" id="{1AFE301D-A263-789A-3872-9800C1DB74D7}"/>
              </a:ext>
            </a:extLst>
          </p:cNvPr>
          <p:cNvSpPr txBox="1">
            <a:spLocks/>
          </p:cNvSpPr>
          <p:nvPr/>
        </p:nvSpPr>
        <p:spPr>
          <a:xfrm>
            <a:off x="2083145" y="2569410"/>
            <a:ext cx="1188000" cy="252000"/>
          </a:xfrm>
          <a:prstGeom prst="roundRect">
            <a:avLst/>
          </a:prstGeom>
          <a:solidFill>
            <a:schemeClr val="bg1"/>
          </a:solidFill>
          <a:ln>
            <a:solidFill>
              <a:srgbClr val="6496BB"/>
            </a:solidFill>
          </a:ln>
        </p:spPr>
        <p:txBody>
          <a:bodyPr vert="horz" lIns="36000" tIns="0" rIns="36000" bIns="0" rtlCol="0">
            <a:noAutofit/>
          </a:bodyPr>
          <a:lstStyle>
            <a:lvl1pPr marL="0" indent="0" algn="l" defTabSz="914400" rtl="0" eaLnBrk="1" latinLnBrk="0" hangingPunct="1">
              <a:lnSpc>
                <a:spcPct val="100000"/>
              </a:lnSpc>
              <a:spcBef>
                <a:spcPts val="0"/>
              </a:spcBef>
              <a:buFontTx/>
              <a:buNone/>
              <a:defRPr sz="19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800" b="0" kern="1200">
                <a:solidFill>
                  <a:schemeClr val="tx1"/>
                </a:solidFill>
                <a:latin typeface="+mn-lt"/>
                <a:ea typeface="+mn-ea"/>
                <a:cs typeface="+mn-cs"/>
              </a:defRPr>
            </a:lvl2pPr>
            <a:lvl3pPr marL="180000" indent="-179388" algn="l" defTabSz="914400" rtl="0" eaLnBrk="1" latinLnBrk="0" hangingPunct="1">
              <a:lnSpc>
                <a:spcPct val="100000"/>
              </a:lnSpc>
              <a:spcBef>
                <a:spcPts val="600"/>
              </a:spcBef>
              <a:buClr>
                <a:schemeClr val="tx2"/>
              </a:buClr>
              <a:buFont typeface="Symbol" panose="05050102010706020507" pitchFamily="18" charset="2"/>
              <a:buChar char="·"/>
              <a:defRPr sz="1800" b="0" kern="1200">
                <a:solidFill>
                  <a:schemeClr val="tx1"/>
                </a:solidFill>
                <a:latin typeface="+mn-lt"/>
                <a:ea typeface="+mn-ea"/>
                <a:cs typeface="+mn-cs"/>
              </a:defRPr>
            </a:lvl3pPr>
            <a:lvl4pPr marL="324000" indent="-142875" algn="l" defTabSz="914400" rtl="0" eaLnBrk="1" latinLnBrk="0" hangingPunct="1">
              <a:lnSpc>
                <a:spcPct val="100000"/>
              </a:lnSpc>
              <a:spcBef>
                <a:spcPts val="300"/>
              </a:spcBef>
              <a:buFont typeface="Calibri" panose="020F050202020403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a:solidFill>
                  <a:srgbClr val="6496BB"/>
                </a:solidFill>
              </a:rPr>
              <a:t>Business</a:t>
            </a:r>
          </a:p>
        </p:txBody>
      </p:sp>
    </p:spTree>
    <p:extLst>
      <p:ext uri="{BB962C8B-B14F-4D97-AF65-F5344CB8AC3E}">
        <p14:creationId xmlns:p14="http://schemas.microsoft.com/office/powerpoint/2010/main" val="3023786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ctangle 319">
            <a:extLst>
              <a:ext uri="{FF2B5EF4-FFF2-40B4-BE49-F238E27FC236}">
                <a16:creationId xmlns:a16="http://schemas.microsoft.com/office/drawing/2014/main" id="{AA7FC625-1012-E3F8-8FB5-5EF4D651D3C0}"/>
              </a:ext>
            </a:extLst>
          </p:cNvPr>
          <p:cNvSpPr/>
          <p:nvPr/>
        </p:nvSpPr>
        <p:spPr>
          <a:xfrm>
            <a:off x="0" y="1193179"/>
            <a:ext cx="12192000" cy="5319229"/>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a:extLst>
              <a:ext uri="{FF2B5EF4-FFF2-40B4-BE49-F238E27FC236}">
                <a16:creationId xmlns:a16="http://schemas.microsoft.com/office/drawing/2014/main" id="{BDF74943-FC8C-163F-BE04-08CF12E689DF}"/>
              </a:ext>
            </a:extLst>
          </p:cNvPr>
          <p:cNvSpPr txBox="1"/>
          <p:nvPr/>
        </p:nvSpPr>
        <p:spPr>
          <a:xfrm>
            <a:off x="3705846" y="3771169"/>
            <a:ext cx="2700000" cy="646331"/>
          </a:xfrm>
          <a:prstGeom prst="rect">
            <a:avLst/>
          </a:prstGeom>
          <a:noFill/>
          <a:ln>
            <a:solidFill>
              <a:srgbClr val="512B1B"/>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0" dirty="0">
                <a:solidFill>
                  <a:srgbClr val="003C5A"/>
                </a:solidFill>
              </a:rPr>
              <a:t>Grant accesses with rules and roles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Implement workflows when needed</a:t>
            </a:r>
          </a:p>
        </p:txBody>
      </p:sp>
      <p:sp>
        <p:nvSpPr>
          <p:cNvPr id="4" name="Espace réservé du pied de page 3">
            <a:extLst>
              <a:ext uri="{FF2B5EF4-FFF2-40B4-BE49-F238E27FC236}">
                <a16:creationId xmlns:a16="http://schemas.microsoft.com/office/drawing/2014/main" id="{07BA8A4D-EFB0-072A-3372-C93DB2A55F0F}"/>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CB9776F5-C7F7-20C8-2A72-029DA1938857}"/>
              </a:ext>
            </a:extLst>
          </p:cNvPr>
          <p:cNvSpPr>
            <a:spLocks noGrp="1"/>
          </p:cNvSpPr>
          <p:nvPr>
            <p:ph type="sldNum" sz="quarter" idx="14"/>
          </p:nvPr>
        </p:nvSpPr>
        <p:spPr/>
        <p:txBody>
          <a:bodyPr/>
          <a:lstStyle/>
          <a:p>
            <a:r>
              <a:rPr lang="fr-FR"/>
              <a:t>| </a:t>
            </a:r>
            <a:fld id="{C2EBF694-A8F9-4F06-8F8E-D09447FAA2D5}" type="slidenum">
              <a:rPr smtClean="0"/>
              <a:pPr/>
              <a:t>11</a:t>
            </a:fld>
            <a:endParaRPr/>
          </a:p>
        </p:txBody>
      </p:sp>
      <p:sp>
        <p:nvSpPr>
          <p:cNvPr id="69" name="ZoneTexte 68">
            <a:extLst>
              <a:ext uri="{FF2B5EF4-FFF2-40B4-BE49-F238E27FC236}">
                <a16:creationId xmlns:a16="http://schemas.microsoft.com/office/drawing/2014/main" id="{2208C453-E906-7757-F3B8-12153118DF69}"/>
              </a:ext>
            </a:extLst>
          </p:cNvPr>
          <p:cNvSpPr txBox="1"/>
          <p:nvPr/>
        </p:nvSpPr>
        <p:spPr>
          <a:xfrm>
            <a:off x="658547" y="3771169"/>
            <a:ext cx="2700000" cy="646331"/>
          </a:xfrm>
          <a:prstGeom prst="rect">
            <a:avLst/>
          </a:prstGeom>
          <a:noFill/>
          <a:ln>
            <a:solidFill>
              <a:schemeClr val="tx1"/>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Integrate users and organization data</a:t>
            </a:r>
            <a:endParaRPr lang="en-US" sz="1200" kern="0" dirty="0">
              <a:solidFill>
                <a:srgbClr val="003C5A"/>
              </a:solidFill>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Keep users’ information up to date</a:t>
            </a:r>
          </a:p>
        </p:txBody>
      </p:sp>
      <p:sp>
        <p:nvSpPr>
          <p:cNvPr id="71" name="ZoneTexte 70">
            <a:extLst>
              <a:ext uri="{FF2B5EF4-FFF2-40B4-BE49-F238E27FC236}">
                <a16:creationId xmlns:a16="http://schemas.microsoft.com/office/drawing/2014/main" id="{2A48D257-A234-9368-5A85-9AB5857CAB50}"/>
              </a:ext>
            </a:extLst>
          </p:cNvPr>
          <p:cNvSpPr txBox="1"/>
          <p:nvPr/>
        </p:nvSpPr>
        <p:spPr>
          <a:xfrm>
            <a:off x="1485714" y="5044754"/>
            <a:ext cx="7200000" cy="276999"/>
          </a:xfrm>
          <a:prstGeom prst="rect">
            <a:avLst/>
          </a:prstGeom>
          <a:noFill/>
          <a:ln>
            <a:solidFill>
              <a:srgbClr val="512B1B"/>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3C5A"/>
                </a:solidFill>
                <a:effectLst/>
                <a:uLnTx/>
                <a:uFillTx/>
              </a:rPr>
              <a:t>Execute controls to validate accesses and provide KPIs</a:t>
            </a:r>
          </a:p>
        </p:txBody>
      </p:sp>
      <p:sp>
        <p:nvSpPr>
          <p:cNvPr id="72" name="ZoneTexte 71">
            <a:extLst>
              <a:ext uri="{FF2B5EF4-FFF2-40B4-BE49-F238E27FC236}">
                <a16:creationId xmlns:a16="http://schemas.microsoft.com/office/drawing/2014/main" id="{4D594AF1-72A9-9FEB-CB2C-F7B591C8A254}"/>
              </a:ext>
            </a:extLst>
          </p:cNvPr>
          <p:cNvSpPr txBox="1"/>
          <p:nvPr/>
        </p:nvSpPr>
        <p:spPr>
          <a:xfrm>
            <a:off x="6753146" y="3771169"/>
            <a:ext cx="2844000" cy="646331"/>
          </a:xfrm>
          <a:prstGeom prst="rect">
            <a:avLst/>
          </a:prstGeom>
          <a:noFill/>
          <a:ln>
            <a:solidFill>
              <a:srgbClr val="512B1B"/>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Get applications data</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(de)provision accounts &amp; accesses directly or via ticket</a:t>
            </a:r>
          </a:p>
        </p:txBody>
      </p:sp>
      <p:sp>
        <p:nvSpPr>
          <p:cNvPr id="11" name="Titre 1">
            <a:extLst>
              <a:ext uri="{FF2B5EF4-FFF2-40B4-BE49-F238E27FC236}">
                <a16:creationId xmlns:a16="http://schemas.microsoft.com/office/drawing/2014/main" id="{54D0032B-1B6B-1077-D009-93C3B7214069}"/>
              </a:ext>
            </a:extLst>
          </p:cNvPr>
          <p:cNvSpPr txBox="1">
            <a:spLocks/>
          </p:cNvSpPr>
          <p:nvPr/>
        </p:nvSpPr>
        <p:spPr>
          <a:xfrm>
            <a:off x="4226100" y="5720435"/>
            <a:ext cx="4473257" cy="287981"/>
          </a:xfrm>
          <a:prstGeom prst="rect">
            <a:avLst/>
          </a:prstGeom>
        </p:spPr>
        <p:txBody>
          <a:bodyPr vert="horz" lIns="36000" tIns="0" rIns="36000" bIns="0" rtlCol="0" anchor="ctr">
            <a:noAutofit/>
          </a:bodyPr>
          <a:lstStyle>
            <a:lvl1pPr algn="l" defTabSz="914400" rtl="0" eaLnBrk="1" latinLnBrk="0" hangingPunct="1">
              <a:lnSpc>
                <a:spcPct val="90000"/>
              </a:lnSpc>
              <a:spcBef>
                <a:spcPct val="0"/>
              </a:spcBef>
              <a:buNone/>
              <a:defRPr sz="4400" b="1" kern="1200" cap="all" baseline="0">
                <a:solidFill>
                  <a:schemeClr val="tx2"/>
                </a:solidFill>
                <a:latin typeface="+mj-lt"/>
                <a:ea typeface="+mj-ea"/>
                <a:cs typeface="+mj-cs"/>
              </a:defRPr>
            </a:lvl1pPr>
          </a:lstStyle>
          <a:p>
            <a:r>
              <a:rPr lang="en-US" sz="1800">
                <a:solidFill>
                  <a:schemeClr val="tx1"/>
                </a:solidFill>
              </a:rPr>
              <a:t>IGA main features</a:t>
            </a:r>
          </a:p>
        </p:txBody>
      </p:sp>
      <p:sp>
        <p:nvSpPr>
          <p:cNvPr id="36" name="Rectangle 35">
            <a:extLst>
              <a:ext uri="{FF2B5EF4-FFF2-40B4-BE49-F238E27FC236}">
                <a16:creationId xmlns:a16="http://schemas.microsoft.com/office/drawing/2014/main" id="{32961135-1BC1-30BF-29C4-537AE1C704BD}"/>
              </a:ext>
            </a:extLst>
          </p:cNvPr>
          <p:cNvSpPr/>
          <p:nvPr/>
        </p:nvSpPr>
        <p:spPr>
          <a:xfrm>
            <a:off x="3705846" y="3324703"/>
            <a:ext cx="2700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 Authorization</a:t>
            </a:r>
          </a:p>
          <a:p>
            <a:pPr algn="ctr"/>
            <a:r>
              <a:rPr lang="en-US" sz="1600" b="1" kern="0">
                <a:solidFill>
                  <a:prstClr val="white"/>
                </a:solidFill>
              </a:rPr>
              <a:t>M</a:t>
            </a:r>
            <a:r>
              <a:rPr kumimoji="0" lang="en-US" sz="1600" b="1" i="0" u="none" strike="noStrike" kern="0" cap="none" spc="0" normalizeH="0" baseline="0" noProof="0" err="1">
                <a:ln>
                  <a:noFill/>
                </a:ln>
                <a:solidFill>
                  <a:prstClr val="white"/>
                </a:solidFill>
                <a:effectLst/>
                <a:uLnTx/>
                <a:uFillTx/>
                <a:ea typeface="+mn-ea"/>
                <a:cs typeface="+mn-cs"/>
              </a:rPr>
              <a:t>anagement</a:t>
            </a:r>
            <a:endParaRPr lang="fr-FR" sz="1600" b="1" kern="0">
              <a:solidFill>
                <a:prstClr val="white"/>
              </a:solidFill>
            </a:endParaRPr>
          </a:p>
        </p:txBody>
      </p:sp>
      <p:sp>
        <p:nvSpPr>
          <p:cNvPr id="38" name="Rectangle 37">
            <a:extLst>
              <a:ext uri="{FF2B5EF4-FFF2-40B4-BE49-F238E27FC236}">
                <a16:creationId xmlns:a16="http://schemas.microsoft.com/office/drawing/2014/main" id="{9C4F80A5-A412-4B50-E780-AFBB1531BEE6}"/>
              </a:ext>
            </a:extLst>
          </p:cNvPr>
          <p:cNvSpPr/>
          <p:nvPr/>
        </p:nvSpPr>
        <p:spPr>
          <a:xfrm>
            <a:off x="6753146" y="3324703"/>
            <a:ext cx="2844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Applications integration</a:t>
            </a:r>
            <a:endParaRPr lang="fr-FR" sz="1600" b="1" kern="0">
              <a:solidFill>
                <a:prstClr val="white"/>
              </a:solidFill>
            </a:endParaRPr>
          </a:p>
        </p:txBody>
      </p:sp>
      <p:sp>
        <p:nvSpPr>
          <p:cNvPr id="39" name="Rectangle 38">
            <a:extLst>
              <a:ext uri="{FF2B5EF4-FFF2-40B4-BE49-F238E27FC236}">
                <a16:creationId xmlns:a16="http://schemas.microsoft.com/office/drawing/2014/main" id="{48D2F750-AA9B-F727-85F5-73542984F4B0}"/>
              </a:ext>
            </a:extLst>
          </p:cNvPr>
          <p:cNvSpPr/>
          <p:nvPr/>
        </p:nvSpPr>
        <p:spPr>
          <a:xfrm>
            <a:off x="1485714" y="4736885"/>
            <a:ext cx="7200000" cy="295543"/>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Governance</a:t>
            </a:r>
            <a:endParaRPr lang="fr-FR" sz="1600" b="1" kern="0">
              <a:solidFill>
                <a:prstClr val="white"/>
              </a:solidFill>
            </a:endParaRPr>
          </a:p>
        </p:txBody>
      </p:sp>
      <p:pic>
        <p:nvPicPr>
          <p:cNvPr id="27" name="Graphique 26" descr="Jouer avec un remplissage uni">
            <a:extLst>
              <a:ext uri="{FF2B5EF4-FFF2-40B4-BE49-F238E27FC236}">
                <a16:creationId xmlns:a16="http://schemas.microsoft.com/office/drawing/2014/main" id="{12A9B302-D2C1-E1D1-05D7-79319807FA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52991" y="3842860"/>
            <a:ext cx="396000" cy="396000"/>
          </a:xfrm>
          <a:prstGeom prst="rect">
            <a:avLst/>
          </a:prstGeom>
        </p:spPr>
      </p:pic>
      <p:sp>
        <p:nvSpPr>
          <p:cNvPr id="37" name="Rectangle 36">
            <a:extLst>
              <a:ext uri="{FF2B5EF4-FFF2-40B4-BE49-F238E27FC236}">
                <a16:creationId xmlns:a16="http://schemas.microsoft.com/office/drawing/2014/main" id="{17A9B921-6970-40D4-E7E4-6B2FA2BC3D14}"/>
              </a:ext>
            </a:extLst>
          </p:cNvPr>
          <p:cNvSpPr/>
          <p:nvPr/>
        </p:nvSpPr>
        <p:spPr>
          <a:xfrm>
            <a:off x="658547" y="3324703"/>
            <a:ext cx="2700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schemeClr val="bg1"/>
                </a:solidFill>
                <a:effectLst/>
                <a:uLnTx/>
                <a:uFillTx/>
                <a:ea typeface="+mn-ea"/>
                <a:cs typeface="+mn-cs"/>
              </a:rPr>
              <a:t>Identity</a:t>
            </a:r>
          </a:p>
          <a:p>
            <a:pPr algn="ctr"/>
            <a:r>
              <a:rPr lang="en-US" sz="1600" b="1" kern="0">
                <a:solidFill>
                  <a:schemeClr val="bg1"/>
                </a:solidFill>
              </a:rPr>
              <a:t>M</a:t>
            </a:r>
            <a:r>
              <a:rPr kumimoji="0" lang="en-US" sz="1600" b="1" i="0" u="none" strike="noStrike" kern="0" cap="none" spc="0" normalizeH="0" baseline="0" noProof="0" err="1">
                <a:ln>
                  <a:noFill/>
                </a:ln>
                <a:solidFill>
                  <a:schemeClr val="bg1"/>
                </a:solidFill>
                <a:effectLst/>
                <a:uLnTx/>
                <a:uFillTx/>
                <a:ea typeface="+mn-ea"/>
                <a:cs typeface="+mn-cs"/>
              </a:rPr>
              <a:t>anagement</a:t>
            </a:r>
            <a:endParaRPr lang="fr-FR" sz="1600" b="1" kern="0">
              <a:solidFill>
                <a:schemeClr val="bg1"/>
              </a:solidFill>
            </a:endParaRPr>
          </a:p>
        </p:txBody>
      </p:sp>
      <p:pic>
        <p:nvPicPr>
          <p:cNvPr id="28" name="Graphique 27" descr="Jouer avec un remplissage uni">
            <a:extLst>
              <a:ext uri="{FF2B5EF4-FFF2-40B4-BE49-F238E27FC236}">
                <a16:creationId xmlns:a16="http://schemas.microsoft.com/office/drawing/2014/main" id="{08B96BE9-B0DB-8B22-EBC9-43F2E4520A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89289" y="3842860"/>
            <a:ext cx="396000" cy="396000"/>
          </a:xfrm>
          <a:prstGeom prst="rect">
            <a:avLst/>
          </a:prstGeom>
        </p:spPr>
      </p:pic>
      <p:pic>
        <p:nvPicPr>
          <p:cNvPr id="121" name="Graphique 120" descr="Jouer avec un remplissage uni">
            <a:extLst>
              <a:ext uri="{FF2B5EF4-FFF2-40B4-BE49-F238E27FC236}">
                <a16:creationId xmlns:a16="http://schemas.microsoft.com/office/drawing/2014/main" id="{C48BF74E-2BCC-8DAA-7F0A-02BA02263C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2250764" y="4375044"/>
            <a:ext cx="396000" cy="396000"/>
          </a:xfrm>
          <a:prstGeom prst="rect">
            <a:avLst/>
          </a:prstGeom>
        </p:spPr>
      </p:pic>
      <p:pic>
        <p:nvPicPr>
          <p:cNvPr id="123" name="Graphique 122" descr="Jouer avec un remplissage uni">
            <a:extLst>
              <a:ext uri="{FF2B5EF4-FFF2-40B4-BE49-F238E27FC236}">
                <a16:creationId xmlns:a16="http://schemas.microsoft.com/office/drawing/2014/main" id="{822CA744-F905-8024-3FF5-87BFE3EE81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4779640" y="4375044"/>
            <a:ext cx="396000" cy="396000"/>
          </a:xfrm>
          <a:prstGeom prst="rect">
            <a:avLst/>
          </a:prstGeom>
        </p:spPr>
      </p:pic>
      <p:pic>
        <p:nvPicPr>
          <p:cNvPr id="124" name="Graphique 123" descr="Jouer avec un remplissage uni">
            <a:extLst>
              <a:ext uri="{FF2B5EF4-FFF2-40B4-BE49-F238E27FC236}">
                <a16:creationId xmlns:a16="http://schemas.microsoft.com/office/drawing/2014/main" id="{A029DC51-DDBD-418F-D833-87CABB3476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7937839" y="4375044"/>
            <a:ext cx="396000" cy="396000"/>
          </a:xfrm>
          <a:prstGeom prst="rect">
            <a:avLst/>
          </a:prstGeom>
        </p:spPr>
      </p:pic>
      <p:sp>
        <p:nvSpPr>
          <p:cNvPr id="57" name="Rectangle : coins arrondis 56">
            <a:extLst>
              <a:ext uri="{FF2B5EF4-FFF2-40B4-BE49-F238E27FC236}">
                <a16:creationId xmlns:a16="http://schemas.microsoft.com/office/drawing/2014/main" id="{30C85F7C-D53D-AA83-BC72-F03D4F6E60E9}"/>
              </a:ext>
            </a:extLst>
          </p:cNvPr>
          <p:cNvSpPr/>
          <p:nvPr/>
        </p:nvSpPr>
        <p:spPr>
          <a:xfrm>
            <a:off x="538200" y="3032409"/>
            <a:ext cx="9196348" cy="2570027"/>
          </a:xfrm>
          <a:prstGeom prst="roundRect">
            <a:avLst/>
          </a:prstGeom>
          <a:noFill/>
          <a:ln w="19050" cap="flat" cmpd="sng" algn="ctr">
            <a:solidFill>
              <a:srgbClr val="003C5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Montserrat"/>
                <a:ea typeface="+mn-ea"/>
                <a:cs typeface="+mn-cs"/>
              </a:rPr>
              <a:t> </a:t>
            </a:r>
          </a:p>
        </p:txBody>
      </p:sp>
      <p:sp>
        <p:nvSpPr>
          <p:cNvPr id="6" name="Titre 5">
            <a:extLst>
              <a:ext uri="{FF2B5EF4-FFF2-40B4-BE49-F238E27FC236}">
                <a16:creationId xmlns:a16="http://schemas.microsoft.com/office/drawing/2014/main" id="{EACC9B09-68D8-98B3-02FD-C4CB9506AA2C}"/>
              </a:ext>
            </a:extLst>
          </p:cNvPr>
          <p:cNvSpPr>
            <a:spLocks noGrp="1"/>
          </p:cNvSpPr>
          <p:nvPr>
            <p:ph type="title"/>
          </p:nvPr>
        </p:nvSpPr>
        <p:spPr>
          <a:xfrm>
            <a:off x="975736" y="512587"/>
            <a:ext cx="9145587" cy="609398"/>
          </a:xfrm>
        </p:spPr>
        <p:txBody>
          <a:bodyPr/>
          <a:lstStyle/>
          <a:p>
            <a:r>
              <a:rPr lang="fr-FR" sz="3600" dirty="0"/>
              <a:t>HOW IGA WORKS ?</a:t>
            </a:r>
            <a:br>
              <a:rPr lang="fr-FR"/>
            </a:br>
            <a:r>
              <a:rPr lang="fr-FR" sz="2000" dirty="0"/>
              <a:t>GLOBAL OVERVIEW</a:t>
            </a:r>
          </a:p>
        </p:txBody>
      </p:sp>
    </p:spTree>
    <p:extLst>
      <p:ext uri="{BB962C8B-B14F-4D97-AF65-F5344CB8AC3E}">
        <p14:creationId xmlns:p14="http://schemas.microsoft.com/office/powerpoint/2010/main" val="1851426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ctangle 319">
            <a:extLst>
              <a:ext uri="{FF2B5EF4-FFF2-40B4-BE49-F238E27FC236}">
                <a16:creationId xmlns:a16="http://schemas.microsoft.com/office/drawing/2014/main" id="{AA7FC625-1012-E3F8-8FB5-5EF4D651D3C0}"/>
              </a:ext>
            </a:extLst>
          </p:cNvPr>
          <p:cNvSpPr/>
          <p:nvPr/>
        </p:nvSpPr>
        <p:spPr>
          <a:xfrm>
            <a:off x="0" y="1193179"/>
            <a:ext cx="12192000" cy="5319229"/>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a:extLst>
              <a:ext uri="{FF2B5EF4-FFF2-40B4-BE49-F238E27FC236}">
                <a16:creationId xmlns:a16="http://schemas.microsoft.com/office/drawing/2014/main" id="{BDF74943-FC8C-163F-BE04-08CF12E689DF}"/>
              </a:ext>
            </a:extLst>
          </p:cNvPr>
          <p:cNvSpPr txBox="1"/>
          <p:nvPr/>
        </p:nvSpPr>
        <p:spPr>
          <a:xfrm>
            <a:off x="3705846" y="3771169"/>
            <a:ext cx="2700000" cy="646331"/>
          </a:xfrm>
          <a:prstGeom prst="rect">
            <a:avLst/>
          </a:prstGeom>
          <a:noFill/>
          <a:ln>
            <a:solidFill>
              <a:srgbClr val="512B1B"/>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0" dirty="0">
                <a:solidFill>
                  <a:srgbClr val="003C5A"/>
                </a:solidFill>
              </a:rPr>
              <a:t>Grant accesses with rules and roles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Implement workflows when needed</a:t>
            </a:r>
          </a:p>
        </p:txBody>
      </p:sp>
      <p:sp>
        <p:nvSpPr>
          <p:cNvPr id="4" name="Espace réservé du pied de page 3">
            <a:extLst>
              <a:ext uri="{FF2B5EF4-FFF2-40B4-BE49-F238E27FC236}">
                <a16:creationId xmlns:a16="http://schemas.microsoft.com/office/drawing/2014/main" id="{07BA8A4D-EFB0-072A-3372-C93DB2A55F0F}"/>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CB9776F5-C7F7-20C8-2A72-029DA1938857}"/>
              </a:ext>
            </a:extLst>
          </p:cNvPr>
          <p:cNvSpPr>
            <a:spLocks noGrp="1"/>
          </p:cNvSpPr>
          <p:nvPr>
            <p:ph type="sldNum" sz="quarter" idx="14"/>
          </p:nvPr>
        </p:nvSpPr>
        <p:spPr/>
        <p:txBody>
          <a:bodyPr/>
          <a:lstStyle/>
          <a:p>
            <a:r>
              <a:rPr lang="fr-FR"/>
              <a:t>| </a:t>
            </a:r>
            <a:fld id="{C2EBF694-A8F9-4F06-8F8E-D09447FAA2D5}" type="slidenum">
              <a:rPr smtClean="0"/>
              <a:pPr/>
              <a:t>10</a:t>
            </a:fld>
            <a:endParaRPr/>
          </a:p>
        </p:txBody>
      </p:sp>
      <p:sp>
        <p:nvSpPr>
          <p:cNvPr id="69" name="ZoneTexte 68">
            <a:extLst>
              <a:ext uri="{FF2B5EF4-FFF2-40B4-BE49-F238E27FC236}">
                <a16:creationId xmlns:a16="http://schemas.microsoft.com/office/drawing/2014/main" id="{2208C453-E906-7757-F3B8-12153118DF69}"/>
              </a:ext>
            </a:extLst>
          </p:cNvPr>
          <p:cNvSpPr txBox="1"/>
          <p:nvPr/>
        </p:nvSpPr>
        <p:spPr>
          <a:xfrm>
            <a:off x="658547" y="3771169"/>
            <a:ext cx="2700000" cy="646331"/>
          </a:xfrm>
          <a:prstGeom prst="rect">
            <a:avLst/>
          </a:prstGeom>
          <a:noFill/>
          <a:ln>
            <a:solidFill>
              <a:schemeClr val="tx1"/>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Integrate users and organization data</a:t>
            </a:r>
            <a:endParaRPr lang="en-US" sz="1200" kern="0" dirty="0">
              <a:solidFill>
                <a:srgbClr val="003C5A"/>
              </a:solidFill>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Keep users’ information up to date</a:t>
            </a:r>
          </a:p>
        </p:txBody>
      </p:sp>
      <p:sp>
        <p:nvSpPr>
          <p:cNvPr id="71" name="ZoneTexte 70">
            <a:extLst>
              <a:ext uri="{FF2B5EF4-FFF2-40B4-BE49-F238E27FC236}">
                <a16:creationId xmlns:a16="http://schemas.microsoft.com/office/drawing/2014/main" id="{2A48D257-A234-9368-5A85-9AB5857CAB50}"/>
              </a:ext>
            </a:extLst>
          </p:cNvPr>
          <p:cNvSpPr txBox="1"/>
          <p:nvPr/>
        </p:nvSpPr>
        <p:spPr>
          <a:xfrm>
            <a:off x="1485714" y="5044754"/>
            <a:ext cx="7200000" cy="276999"/>
          </a:xfrm>
          <a:prstGeom prst="rect">
            <a:avLst/>
          </a:prstGeom>
          <a:noFill/>
          <a:ln>
            <a:solidFill>
              <a:srgbClr val="512B1B"/>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3C5A"/>
                </a:solidFill>
                <a:effectLst/>
                <a:uLnTx/>
                <a:uFillTx/>
              </a:rPr>
              <a:t>Execute controls to validate accesses and provide KPIs</a:t>
            </a:r>
          </a:p>
        </p:txBody>
      </p:sp>
      <p:sp>
        <p:nvSpPr>
          <p:cNvPr id="72" name="ZoneTexte 71">
            <a:extLst>
              <a:ext uri="{FF2B5EF4-FFF2-40B4-BE49-F238E27FC236}">
                <a16:creationId xmlns:a16="http://schemas.microsoft.com/office/drawing/2014/main" id="{4D594AF1-72A9-9FEB-CB2C-F7B591C8A254}"/>
              </a:ext>
            </a:extLst>
          </p:cNvPr>
          <p:cNvSpPr txBox="1"/>
          <p:nvPr/>
        </p:nvSpPr>
        <p:spPr>
          <a:xfrm>
            <a:off x="6753146" y="3771169"/>
            <a:ext cx="2844000" cy="646331"/>
          </a:xfrm>
          <a:prstGeom prst="rect">
            <a:avLst/>
          </a:prstGeom>
          <a:noFill/>
          <a:ln>
            <a:solidFill>
              <a:srgbClr val="512B1B"/>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Get applications data</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(de)provision accounts &amp; accesses directly or via ticket</a:t>
            </a:r>
          </a:p>
        </p:txBody>
      </p:sp>
      <p:sp>
        <p:nvSpPr>
          <p:cNvPr id="11" name="Titre 1">
            <a:extLst>
              <a:ext uri="{FF2B5EF4-FFF2-40B4-BE49-F238E27FC236}">
                <a16:creationId xmlns:a16="http://schemas.microsoft.com/office/drawing/2014/main" id="{54D0032B-1B6B-1077-D009-93C3B7214069}"/>
              </a:ext>
            </a:extLst>
          </p:cNvPr>
          <p:cNvSpPr txBox="1">
            <a:spLocks/>
          </p:cNvSpPr>
          <p:nvPr/>
        </p:nvSpPr>
        <p:spPr>
          <a:xfrm>
            <a:off x="4226100" y="5720435"/>
            <a:ext cx="4473257" cy="287981"/>
          </a:xfrm>
          <a:prstGeom prst="rect">
            <a:avLst/>
          </a:prstGeom>
        </p:spPr>
        <p:txBody>
          <a:bodyPr vert="horz" lIns="36000" tIns="0" rIns="36000" bIns="0" rtlCol="0" anchor="ctr">
            <a:noAutofit/>
          </a:bodyPr>
          <a:lstStyle>
            <a:lvl1pPr algn="l" defTabSz="914400" rtl="0" eaLnBrk="1" latinLnBrk="0" hangingPunct="1">
              <a:lnSpc>
                <a:spcPct val="90000"/>
              </a:lnSpc>
              <a:spcBef>
                <a:spcPct val="0"/>
              </a:spcBef>
              <a:buNone/>
              <a:defRPr sz="4400" b="1" kern="1200" cap="all" baseline="0">
                <a:solidFill>
                  <a:schemeClr val="tx2"/>
                </a:solidFill>
                <a:latin typeface="+mj-lt"/>
                <a:ea typeface="+mj-ea"/>
                <a:cs typeface="+mj-cs"/>
              </a:defRPr>
            </a:lvl1pPr>
          </a:lstStyle>
          <a:p>
            <a:r>
              <a:rPr lang="en-US" sz="1800">
                <a:solidFill>
                  <a:schemeClr val="tx1"/>
                </a:solidFill>
              </a:rPr>
              <a:t>IGA main features</a:t>
            </a:r>
          </a:p>
        </p:txBody>
      </p:sp>
      <p:sp>
        <p:nvSpPr>
          <p:cNvPr id="25" name="Rectangle : coins arrondis 24">
            <a:extLst>
              <a:ext uri="{FF2B5EF4-FFF2-40B4-BE49-F238E27FC236}">
                <a16:creationId xmlns:a16="http://schemas.microsoft.com/office/drawing/2014/main" id="{854E8644-52C8-7478-BEFC-4F50107C1961}"/>
              </a:ext>
            </a:extLst>
          </p:cNvPr>
          <p:cNvSpPr/>
          <p:nvPr/>
        </p:nvSpPr>
        <p:spPr>
          <a:xfrm>
            <a:off x="538199" y="1485072"/>
            <a:ext cx="9196349" cy="1254670"/>
          </a:xfrm>
          <a:prstGeom prst="roundRect">
            <a:avLst/>
          </a:prstGeom>
          <a:noFill/>
          <a:ln w="19050" cap="flat" cmpd="sng" algn="ctr">
            <a:solidFill>
              <a:srgbClr val="003C5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Montserrat"/>
                <a:ea typeface="+mn-ea"/>
                <a:cs typeface="+mn-cs"/>
              </a:rPr>
              <a:t> </a:t>
            </a:r>
          </a:p>
        </p:txBody>
      </p:sp>
      <p:sp>
        <p:nvSpPr>
          <p:cNvPr id="26" name="Titre 1">
            <a:extLst>
              <a:ext uri="{FF2B5EF4-FFF2-40B4-BE49-F238E27FC236}">
                <a16:creationId xmlns:a16="http://schemas.microsoft.com/office/drawing/2014/main" id="{ED09CA2F-0A72-97B6-50A1-C0A01E559914}"/>
              </a:ext>
            </a:extLst>
          </p:cNvPr>
          <p:cNvSpPr txBox="1">
            <a:spLocks/>
          </p:cNvSpPr>
          <p:nvPr/>
        </p:nvSpPr>
        <p:spPr>
          <a:xfrm>
            <a:off x="4366472" y="1193179"/>
            <a:ext cx="4473257" cy="287981"/>
          </a:xfrm>
          <a:prstGeom prst="rect">
            <a:avLst/>
          </a:prstGeom>
        </p:spPr>
        <p:txBody>
          <a:bodyPr vert="horz" lIns="36000" tIns="0" rIns="36000" bIns="0" rtlCol="0" anchor="ctr">
            <a:noAutofit/>
          </a:bodyPr>
          <a:lstStyle>
            <a:lvl1pPr algn="l" defTabSz="914400" rtl="0" eaLnBrk="1" latinLnBrk="0" hangingPunct="1">
              <a:lnSpc>
                <a:spcPct val="90000"/>
              </a:lnSpc>
              <a:spcBef>
                <a:spcPct val="0"/>
              </a:spcBef>
              <a:buNone/>
              <a:defRPr sz="4400" b="1" kern="1200" cap="all" baseline="0">
                <a:solidFill>
                  <a:schemeClr val="tx2"/>
                </a:solidFill>
                <a:latin typeface="+mj-lt"/>
                <a:ea typeface="+mj-ea"/>
                <a:cs typeface="+mj-cs"/>
              </a:defRPr>
            </a:lvl1pPr>
          </a:lstStyle>
          <a:p>
            <a:r>
              <a:rPr lang="en-US" sz="1800">
                <a:solidFill>
                  <a:schemeClr val="tx1"/>
                </a:solidFill>
              </a:rPr>
              <a:t>Business View</a:t>
            </a:r>
          </a:p>
        </p:txBody>
      </p:sp>
      <p:sp>
        <p:nvSpPr>
          <p:cNvPr id="36" name="Rectangle 35">
            <a:extLst>
              <a:ext uri="{FF2B5EF4-FFF2-40B4-BE49-F238E27FC236}">
                <a16:creationId xmlns:a16="http://schemas.microsoft.com/office/drawing/2014/main" id="{32961135-1BC1-30BF-29C4-537AE1C704BD}"/>
              </a:ext>
            </a:extLst>
          </p:cNvPr>
          <p:cNvSpPr/>
          <p:nvPr/>
        </p:nvSpPr>
        <p:spPr>
          <a:xfrm>
            <a:off x="3705846" y="3324703"/>
            <a:ext cx="2700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 Authorization</a:t>
            </a:r>
          </a:p>
          <a:p>
            <a:pPr algn="ctr"/>
            <a:r>
              <a:rPr lang="en-US" sz="1600" b="1" kern="0">
                <a:solidFill>
                  <a:prstClr val="white"/>
                </a:solidFill>
              </a:rPr>
              <a:t>M</a:t>
            </a:r>
            <a:r>
              <a:rPr kumimoji="0" lang="en-US" sz="1600" b="1" i="0" u="none" strike="noStrike" kern="0" cap="none" spc="0" normalizeH="0" baseline="0" noProof="0" err="1">
                <a:ln>
                  <a:noFill/>
                </a:ln>
                <a:solidFill>
                  <a:prstClr val="white"/>
                </a:solidFill>
                <a:effectLst/>
                <a:uLnTx/>
                <a:uFillTx/>
                <a:ea typeface="+mn-ea"/>
                <a:cs typeface="+mn-cs"/>
              </a:rPr>
              <a:t>anagement</a:t>
            </a:r>
            <a:endParaRPr lang="fr-FR" sz="1600" b="1" kern="0">
              <a:solidFill>
                <a:prstClr val="white"/>
              </a:solidFill>
            </a:endParaRPr>
          </a:p>
        </p:txBody>
      </p:sp>
      <p:sp>
        <p:nvSpPr>
          <p:cNvPr id="38" name="Rectangle 37">
            <a:extLst>
              <a:ext uri="{FF2B5EF4-FFF2-40B4-BE49-F238E27FC236}">
                <a16:creationId xmlns:a16="http://schemas.microsoft.com/office/drawing/2014/main" id="{9C4F80A5-A412-4B50-E780-AFBB1531BEE6}"/>
              </a:ext>
            </a:extLst>
          </p:cNvPr>
          <p:cNvSpPr/>
          <p:nvPr/>
        </p:nvSpPr>
        <p:spPr>
          <a:xfrm>
            <a:off x="6753146" y="3324703"/>
            <a:ext cx="2844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Applications integration</a:t>
            </a:r>
            <a:endParaRPr lang="fr-FR" sz="1600" b="1" kern="0">
              <a:solidFill>
                <a:prstClr val="white"/>
              </a:solidFill>
            </a:endParaRPr>
          </a:p>
        </p:txBody>
      </p:sp>
      <p:sp>
        <p:nvSpPr>
          <p:cNvPr id="39" name="Rectangle 38">
            <a:extLst>
              <a:ext uri="{FF2B5EF4-FFF2-40B4-BE49-F238E27FC236}">
                <a16:creationId xmlns:a16="http://schemas.microsoft.com/office/drawing/2014/main" id="{48D2F750-AA9B-F727-85F5-73542984F4B0}"/>
              </a:ext>
            </a:extLst>
          </p:cNvPr>
          <p:cNvSpPr/>
          <p:nvPr/>
        </p:nvSpPr>
        <p:spPr>
          <a:xfrm>
            <a:off x="1485714" y="4736885"/>
            <a:ext cx="7200000" cy="295543"/>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Governance</a:t>
            </a:r>
            <a:endParaRPr lang="fr-FR" sz="1600" b="1" kern="0">
              <a:solidFill>
                <a:prstClr val="white"/>
              </a:solidFill>
            </a:endParaRPr>
          </a:p>
        </p:txBody>
      </p:sp>
      <p:grpSp>
        <p:nvGrpSpPr>
          <p:cNvPr id="48" name="Graphique 745">
            <a:extLst>
              <a:ext uri="{FF2B5EF4-FFF2-40B4-BE49-F238E27FC236}">
                <a16:creationId xmlns:a16="http://schemas.microsoft.com/office/drawing/2014/main" id="{862EB471-653A-8ACA-1E3E-8382BBA78AED}"/>
              </a:ext>
            </a:extLst>
          </p:cNvPr>
          <p:cNvGrpSpPr>
            <a:grpSpLocks noChangeAspect="1"/>
          </p:cNvGrpSpPr>
          <p:nvPr/>
        </p:nvGrpSpPr>
        <p:grpSpPr>
          <a:xfrm>
            <a:off x="1181556" y="1591381"/>
            <a:ext cx="388939" cy="396000"/>
            <a:chOff x="8660808" y="5477538"/>
            <a:chExt cx="304800" cy="304800"/>
          </a:xfrm>
        </p:grpSpPr>
        <p:sp>
          <p:nvSpPr>
            <p:cNvPr id="49" name="Forme libre : forme 48">
              <a:extLst>
                <a:ext uri="{FF2B5EF4-FFF2-40B4-BE49-F238E27FC236}">
                  <a16:creationId xmlns:a16="http://schemas.microsoft.com/office/drawing/2014/main" id="{7F2E355B-BBCF-2B32-10F2-292E8C543EF7}"/>
                </a:ext>
              </a:extLst>
            </p:cNvPr>
            <p:cNvSpPr/>
            <p:nvPr/>
          </p:nvSpPr>
          <p:spPr>
            <a:xfrm>
              <a:off x="8670333" y="5591838"/>
              <a:ext cx="85725" cy="142875"/>
            </a:xfrm>
            <a:custGeom>
              <a:avLst/>
              <a:gdLst>
                <a:gd name="connsiteX0" fmla="*/ 92516 w 85725"/>
                <a:gd name="connsiteY0" fmla="*/ 16373 h 142875"/>
                <a:gd name="connsiteX1" fmla="*/ 66675 w 85725"/>
                <a:gd name="connsiteY1" fmla="*/ 0 h 142875"/>
                <a:gd name="connsiteX2" fmla="*/ 28575 w 85725"/>
                <a:gd name="connsiteY2" fmla="*/ 0 h 142875"/>
                <a:gd name="connsiteX3" fmla="*/ 0 w 85725"/>
                <a:gd name="connsiteY3" fmla="*/ 28575 h 142875"/>
                <a:gd name="connsiteX4" fmla="*/ 0 w 85725"/>
                <a:gd name="connsiteY4" fmla="*/ 76200 h 142875"/>
                <a:gd name="connsiteX5" fmla="*/ 19050 w 85725"/>
                <a:gd name="connsiteY5" fmla="*/ 76200 h 142875"/>
                <a:gd name="connsiteX6" fmla="*/ 19050 w 85725"/>
                <a:gd name="connsiteY6" fmla="*/ 142875 h 142875"/>
                <a:gd name="connsiteX7" fmla="*/ 76200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92516" y="16373"/>
                  </a:moveTo>
                  <a:cubicBezTo>
                    <a:pt x="87935" y="6715"/>
                    <a:pt x="78076" y="0"/>
                    <a:pt x="66675" y="0"/>
                  </a:cubicBezTo>
                  <a:lnTo>
                    <a:pt x="28575" y="0"/>
                  </a:lnTo>
                  <a:cubicBezTo>
                    <a:pt x="12792" y="0"/>
                    <a:pt x="0" y="12792"/>
                    <a:pt x="0" y="28575"/>
                  </a:cubicBezTo>
                  <a:lnTo>
                    <a:pt x="0" y="76200"/>
                  </a:lnTo>
                  <a:lnTo>
                    <a:pt x="19050" y="76200"/>
                  </a:lnTo>
                  <a:lnTo>
                    <a:pt x="19050" y="142875"/>
                  </a:lnTo>
                  <a:lnTo>
                    <a:pt x="76200" y="14287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0" name="Forme libre : forme 49">
              <a:extLst>
                <a:ext uri="{FF2B5EF4-FFF2-40B4-BE49-F238E27FC236}">
                  <a16:creationId xmlns:a16="http://schemas.microsoft.com/office/drawing/2014/main" id="{3C6ECF2F-D1E0-657C-E2AB-900515EA7841}"/>
                </a:ext>
              </a:extLst>
            </p:cNvPr>
            <p:cNvSpPr/>
            <p:nvPr/>
          </p:nvSpPr>
          <p:spPr>
            <a:xfrm>
              <a:off x="86893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1" name="Forme libre : forme 50">
              <a:extLst>
                <a:ext uri="{FF2B5EF4-FFF2-40B4-BE49-F238E27FC236}">
                  <a16:creationId xmlns:a16="http://schemas.microsoft.com/office/drawing/2014/main" id="{D088DB0F-00B6-87F6-8DF2-4EAB3A2D3315}"/>
                </a:ext>
              </a:extLst>
            </p:cNvPr>
            <p:cNvSpPr/>
            <p:nvPr/>
          </p:nvSpPr>
          <p:spPr>
            <a:xfrm>
              <a:off x="8863567" y="5591838"/>
              <a:ext cx="85725" cy="142875"/>
            </a:xfrm>
            <a:custGeom>
              <a:avLst/>
              <a:gdLst>
                <a:gd name="connsiteX0" fmla="*/ 0 w 85725"/>
                <a:gd name="connsiteY0" fmla="*/ 16373 h 142875"/>
                <a:gd name="connsiteX1" fmla="*/ 25841 w 85725"/>
                <a:gd name="connsiteY1" fmla="*/ 0 h 142875"/>
                <a:gd name="connsiteX2" fmla="*/ 63941 w 85725"/>
                <a:gd name="connsiteY2" fmla="*/ 0 h 142875"/>
                <a:gd name="connsiteX3" fmla="*/ 92516 w 85725"/>
                <a:gd name="connsiteY3" fmla="*/ 28575 h 142875"/>
                <a:gd name="connsiteX4" fmla="*/ 92516 w 85725"/>
                <a:gd name="connsiteY4" fmla="*/ 76200 h 142875"/>
                <a:gd name="connsiteX5" fmla="*/ 73466 w 85725"/>
                <a:gd name="connsiteY5" fmla="*/ 76200 h 142875"/>
                <a:gd name="connsiteX6" fmla="*/ 73466 w 85725"/>
                <a:gd name="connsiteY6" fmla="*/ 142875 h 142875"/>
                <a:gd name="connsiteX7" fmla="*/ 16316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0" y="16373"/>
                  </a:moveTo>
                  <a:cubicBezTo>
                    <a:pt x="4582" y="6715"/>
                    <a:pt x="14440" y="0"/>
                    <a:pt x="25841" y="0"/>
                  </a:cubicBezTo>
                  <a:lnTo>
                    <a:pt x="63941" y="0"/>
                  </a:lnTo>
                  <a:cubicBezTo>
                    <a:pt x="79724" y="0"/>
                    <a:pt x="92516" y="12792"/>
                    <a:pt x="92516" y="28575"/>
                  </a:cubicBezTo>
                  <a:lnTo>
                    <a:pt x="92516" y="76200"/>
                  </a:lnTo>
                  <a:lnTo>
                    <a:pt x="73466" y="76200"/>
                  </a:lnTo>
                  <a:lnTo>
                    <a:pt x="73466" y="142875"/>
                  </a:lnTo>
                  <a:lnTo>
                    <a:pt x="16316" y="14287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2" name="Forme libre : forme 51">
              <a:extLst>
                <a:ext uri="{FF2B5EF4-FFF2-40B4-BE49-F238E27FC236}">
                  <a16:creationId xmlns:a16="http://schemas.microsoft.com/office/drawing/2014/main" id="{7E6BDA7A-F01E-3FFA-173F-EB83697AECB1}"/>
                </a:ext>
              </a:extLst>
            </p:cNvPr>
            <p:cNvSpPr/>
            <p:nvPr/>
          </p:nvSpPr>
          <p:spPr>
            <a:xfrm>
              <a:off x="88798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3" name="Forme libre : forme 52">
              <a:extLst>
                <a:ext uri="{FF2B5EF4-FFF2-40B4-BE49-F238E27FC236}">
                  <a16:creationId xmlns:a16="http://schemas.microsoft.com/office/drawing/2014/main" id="{83F36433-F628-1B1C-4C90-25B9652BABB2}"/>
                </a:ext>
              </a:extLst>
            </p:cNvPr>
            <p:cNvSpPr/>
            <p:nvPr/>
          </p:nvSpPr>
          <p:spPr>
            <a:xfrm>
              <a:off x="8756058" y="5591838"/>
              <a:ext cx="114300" cy="180975"/>
            </a:xfrm>
            <a:custGeom>
              <a:avLst/>
              <a:gdLst>
                <a:gd name="connsiteX0" fmla="*/ 85725 w 114300"/>
                <a:gd name="connsiteY0" fmla="*/ 180975 h 180975"/>
                <a:gd name="connsiteX1" fmla="*/ 28575 w 114300"/>
                <a:gd name="connsiteY1" fmla="*/ 180975 h 180975"/>
                <a:gd name="connsiteX2" fmla="*/ 28575 w 114300"/>
                <a:gd name="connsiteY2" fmla="*/ 104775 h 180975"/>
                <a:gd name="connsiteX3" fmla="*/ 0 w 114300"/>
                <a:gd name="connsiteY3" fmla="*/ 104775 h 180975"/>
                <a:gd name="connsiteX4" fmla="*/ 0 w 114300"/>
                <a:gd name="connsiteY4" fmla="*/ 38100 h 180975"/>
                <a:gd name="connsiteX5" fmla="*/ 38100 w 114300"/>
                <a:gd name="connsiteY5" fmla="*/ 0 h 180975"/>
                <a:gd name="connsiteX6" fmla="*/ 76200 w 114300"/>
                <a:gd name="connsiteY6" fmla="*/ 0 h 180975"/>
                <a:gd name="connsiteX7" fmla="*/ 114300 w 114300"/>
                <a:gd name="connsiteY7" fmla="*/ 38100 h 180975"/>
                <a:gd name="connsiteX8" fmla="*/ 114300 w 114300"/>
                <a:gd name="connsiteY8" fmla="*/ 104775 h 180975"/>
                <a:gd name="connsiteX9" fmla="*/ 85725 w 114300"/>
                <a:gd name="connsiteY9" fmla="*/ 104775 h 180975"/>
                <a:gd name="connsiteX10" fmla="*/ 85725 w 114300"/>
                <a:gd name="connsiteY10"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300" h="180975">
                  <a:moveTo>
                    <a:pt x="85725" y="180975"/>
                  </a:moveTo>
                  <a:lnTo>
                    <a:pt x="28575" y="180975"/>
                  </a:lnTo>
                  <a:lnTo>
                    <a:pt x="28575" y="104775"/>
                  </a:lnTo>
                  <a:lnTo>
                    <a:pt x="0" y="104775"/>
                  </a:lnTo>
                  <a:lnTo>
                    <a:pt x="0" y="38100"/>
                  </a:lnTo>
                  <a:cubicBezTo>
                    <a:pt x="0" y="17059"/>
                    <a:pt x="17059" y="0"/>
                    <a:pt x="38100" y="0"/>
                  </a:cubicBezTo>
                  <a:lnTo>
                    <a:pt x="76200" y="0"/>
                  </a:lnTo>
                  <a:cubicBezTo>
                    <a:pt x="97241" y="0"/>
                    <a:pt x="114300" y="17059"/>
                    <a:pt x="114300" y="38100"/>
                  </a:cubicBezTo>
                  <a:lnTo>
                    <a:pt x="114300" y="104775"/>
                  </a:lnTo>
                  <a:lnTo>
                    <a:pt x="85725" y="104775"/>
                  </a:lnTo>
                  <a:lnTo>
                    <a:pt x="85725" y="180975"/>
                  </a:ln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4" name="Forme libre : forme 53">
              <a:extLst>
                <a:ext uri="{FF2B5EF4-FFF2-40B4-BE49-F238E27FC236}">
                  <a16:creationId xmlns:a16="http://schemas.microsoft.com/office/drawing/2014/main" id="{30FBAADC-B646-8137-0EB2-409D3B1E9AC8}"/>
                </a:ext>
              </a:extLst>
            </p:cNvPr>
            <p:cNvSpPr/>
            <p:nvPr/>
          </p:nvSpPr>
          <p:spPr>
            <a:xfrm>
              <a:off x="8775108" y="548706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sp>
        <p:nvSpPr>
          <p:cNvPr id="55" name="ZoneTexte 54">
            <a:extLst>
              <a:ext uri="{FF2B5EF4-FFF2-40B4-BE49-F238E27FC236}">
                <a16:creationId xmlns:a16="http://schemas.microsoft.com/office/drawing/2014/main" id="{F1E543E7-552A-926B-A081-072B501D2084}"/>
              </a:ext>
            </a:extLst>
          </p:cNvPr>
          <p:cNvSpPr txBox="1"/>
          <p:nvPr/>
        </p:nvSpPr>
        <p:spPr>
          <a:xfrm>
            <a:off x="1657374" y="1665233"/>
            <a:ext cx="830677"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3C5A"/>
                </a:solidFill>
                <a:latin typeface="Montserrat"/>
              </a:rPr>
              <a:t>Persons</a:t>
            </a:r>
          </a:p>
        </p:txBody>
      </p:sp>
      <p:sp>
        <p:nvSpPr>
          <p:cNvPr id="56" name="ZoneTexte 55">
            <a:extLst>
              <a:ext uri="{FF2B5EF4-FFF2-40B4-BE49-F238E27FC236}">
                <a16:creationId xmlns:a16="http://schemas.microsoft.com/office/drawing/2014/main" id="{395302E9-72DD-EFAE-E979-1E38818B8810}"/>
              </a:ext>
            </a:extLst>
          </p:cNvPr>
          <p:cNvSpPr txBox="1"/>
          <p:nvPr/>
        </p:nvSpPr>
        <p:spPr>
          <a:xfrm>
            <a:off x="4686324" y="1608049"/>
            <a:ext cx="165301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C5A"/>
                </a:solidFill>
                <a:latin typeface="Montserrat"/>
              </a:rPr>
              <a:t>Business missions</a:t>
            </a:r>
            <a:endParaRPr kumimoji="0" lang="en-US" sz="1200" b="1" i="0" u="none" strike="noStrike" kern="1200" cap="none" spc="0" normalizeH="0" baseline="0">
              <a:ln>
                <a:noFill/>
              </a:ln>
              <a:solidFill>
                <a:srgbClr val="003C5A"/>
              </a:solidFill>
              <a:effectLst/>
              <a:uLnTx/>
              <a:uFillTx/>
              <a:latin typeface="Montserrat"/>
              <a:ea typeface="+mn-ea"/>
              <a:cs typeface="+mn-cs"/>
            </a:endParaRPr>
          </a:p>
        </p:txBody>
      </p:sp>
      <p:grpSp>
        <p:nvGrpSpPr>
          <p:cNvPr id="64" name="Graphique 207">
            <a:extLst>
              <a:ext uri="{FF2B5EF4-FFF2-40B4-BE49-F238E27FC236}">
                <a16:creationId xmlns:a16="http://schemas.microsoft.com/office/drawing/2014/main" id="{4EA1FE42-DAF8-C082-8D5B-C42C9FBE2320}"/>
              </a:ext>
            </a:extLst>
          </p:cNvPr>
          <p:cNvGrpSpPr>
            <a:grpSpLocks noChangeAspect="1"/>
          </p:cNvGrpSpPr>
          <p:nvPr/>
        </p:nvGrpSpPr>
        <p:grpSpPr>
          <a:xfrm>
            <a:off x="7589270" y="1543007"/>
            <a:ext cx="396001" cy="396000"/>
            <a:chOff x="7566731" y="2714365"/>
            <a:chExt cx="304800" cy="304800"/>
          </a:xfrm>
        </p:grpSpPr>
        <p:sp>
          <p:nvSpPr>
            <p:cNvPr id="73" name="Forme libre : forme 72">
              <a:extLst>
                <a:ext uri="{FF2B5EF4-FFF2-40B4-BE49-F238E27FC236}">
                  <a16:creationId xmlns:a16="http://schemas.microsoft.com/office/drawing/2014/main" id="{F8DF5E39-7472-B21A-936B-B04A7F7F296D}"/>
                </a:ext>
              </a:extLst>
            </p:cNvPr>
            <p:cNvSpPr/>
            <p:nvPr/>
          </p:nvSpPr>
          <p:spPr>
            <a:xfrm>
              <a:off x="7614356" y="2866765"/>
              <a:ext cx="142875" cy="66675"/>
            </a:xfrm>
            <a:custGeom>
              <a:avLst/>
              <a:gdLst>
                <a:gd name="connsiteX0" fmla="*/ 0 w 142875"/>
                <a:gd name="connsiteY0" fmla="*/ 0 h 66675"/>
                <a:gd name="connsiteX1" fmla="*/ 9525 w 142875"/>
                <a:gd name="connsiteY1" fmla="*/ 0 h 66675"/>
                <a:gd name="connsiteX2" fmla="*/ 66675 w 142875"/>
                <a:gd name="connsiteY2" fmla="*/ 28575 h 66675"/>
                <a:gd name="connsiteX3" fmla="*/ 104775 w 142875"/>
                <a:gd name="connsiteY3" fmla="*/ 28575 h 66675"/>
                <a:gd name="connsiteX4" fmla="*/ 142875 w 142875"/>
                <a:gd name="connsiteY4" fmla="*/ 66675 h 66675"/>
                <a:gd name="connsiteX5" fmla="*/ 57150 w 142875"/>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66675">
                  <a:moveTo>
                    <a:pt x="0" y="0"/>
                  </a:moveTo>
                  <a:lnTo>
                    <a:pt x="9525" y="0"/>
                  </a:lnTo>
                  <a:cubicBezTo>
                    <a:pt x="31128" y="0"/>
                    <a:pt x="55493" y="11878"/>
                    <a:pt x="66675" y="28575"/>
                  </a:cubicBezTo>
                  <a:lnTo>
                    <a:pt x="104775" y="28575"/>
                  </a:lnTo>
                  <a:cubicBezTo>
                    <a:pt x="123892" y="28575"/>
                    <a:pt x="142875" y="47558"/>
                    <a:pt x="142875" y="66675"/>
                  </a:cubicBezTo>
                  <a:lnTo>
                    <a:pt x="57150" y="6667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84" name="Forme libre : forme 83">
              <a:extLst>
                <a:ext uri="{FF2B5EF4-FFF2-40B4-BE49-F238E27FC236}">
                  <a16:creationId xmlns:a16="http://schemas.microsoft.com/office/drawing/2014/main" id="{55687BC6-FB01-CF11-2167-2ED3EE339E8B}"/>
                </a:ext>
              </a:extLst>
            </p:cNvPr>
            <p:cNvSpPr/>
            <p:nvPr/>
          </p:nvSpPr>
          <p:spPr>
            <a:xfrm>
              <a:off x="7614356" y="2914390"/>
              <a:ext cx="238125" cy="76200"/>
            </a:xfrm>
            <a:custGeom>
              <a:avLst/>
              <a:gdLst>
                <a:gd name="connsiteX0" fmla="*/ 136789 w 238125"/>
                <a:gd name="connsiteY0" fmla="*/ 0 h 76200"/>
                <a:gd name="connsiteX1" fmla="*/ 200025 w 238125"/>
                <a:gd name="connsiteY1" fmla="*/ 0 h 76200"/>
                <a:gd name="connsiteX2" fmla="*/ 238125 w 238125"/>
                <a:gd name="connsiteY2" fmla="*/ 19050 h 76200"/>
                <a:gd name="connsiteX3" fmla="*/ 101727 w 238125"/>
                <a:gd name="connsiteY3" fmla="*/ 74447 h 76200"/>
                <a:gd name="connsiteX4" fmla="*/ 68228 w 238125"/>
                <a:gd name="connsiteY4" fmla="*/ 73057 h 76200"/>
                <a:gd name="connsiteX5" fmla="*/ 0 w 238125"/>
                <a:gd name="connsiteY5" fmla="*/ 3840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5" h="76200">
                  <a:moveTo>
                    <a:pt x="136789" y="0"/>
                  </a:moveTo>
                  <a:lnTo>
                    <a:pt x="200025" y="0"/>
                  </a:lnTo>
                  <a:cubicBezTo>
                    <a:pt x="234553" y="0"/>
                    <a:pt x="238125" y="19050"/>
                    <a:pt x="238125" y="19050"/>
                  </a:cubicBezTo>
                  <a:lnTo>
                    <a:pt x="101727" y="74447"/>
                  </a:lnTo>
                  <a:cubicBezTo>
                    <a:pt x="90878" y="78791"/>
                    <a:pt x="78686" y="78286"/>
                    <a:pt x="68228" y="73057"/>
                  </a:cubicBezTo>
                  <a:lnTo>
                    <a:pt x="0" y="3840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08" name="Forme libre : forme 107">
              <a:extLst>
                <a:ext uri="{FF2B5EF4-FFF2-40B4-BE49-F238E27FC236}">
                  <a16:creationId xmlns:a16="http://schemas.microsoft.com/office/drawing/2014/main" id="{A3E72EC2-F917-DB21-B2D6-070743DAD1AE}"/>
                </a:ext>
              </a:extLst>
            </p:cNvPr>
            <p:cNvSpPr/>
            <p:nvPr/>
          </p:nvSpPr>
          <p:spPr>
            <a:xfrm>
              <a:off x="7757231" y="279056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09" name="Forme libre : forme 108">
              <a:extLst>
                <a:ext uri="{FF2B5EF4-FFF2-40B4-BE49-F238E27FC236}">
                  <a16:creationId xmlns:a16="http://schemas.microsoft.com/office/drawing/2014/main" id="{89C4BCF7-2CA5-F12C-7C1B-51BC4873CDDA}"/>
                </a:ext>
              </a:extLst>
            </p:cNvPr>
            <p:cNvSpPr/>
            <p:nvPr/>
          </p:nvSpPr>
          <p:spPr>
            <a:xfrm>
              <a:off x="7576256" y="2847715"/>
              <a:ext cx="38100" cy="123825"/>
            </a:xfrm>
            <a:custGeom>
              <a:avLst/>
              <a:gdLst>
                <a:gd name="connsiteX0" fmla="*/ 0 w 38100"/>
                <a:gd name="connsiteY0" fmla="*/ 0 h 123825"/>
                <a:gd name="connsiteX1" fmla="*/ 38100 w 38100"/>
                <a:gd name="connsiteY1" fmla="*/ 0 h 123825"/>
                <a:gd name="connsiteX2" fmla="*/ 38100 w 38100"/>
                <a:gd name="connsiteY2" fmla="*/ 123825 h 123825"/>
                <a:gd name="connsiteX3" fmla="*/ 0 w 38100"/>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38100" h="123825">
                  <a:moveTo>
                    <a:pt x="0" y="0"/>
                  </a:moveTo>
                  <a:lnTo>
                    <a:pt x="38100" y="0"/>
                  </a:lnTo>
                  <a:lnTo>
                    <a:pt x="38100" y="123825"/>
                  </a:lnTo>
                  <a:lnTo>
                    <a:pt x="0" y="123825"/>
                  </a:ln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10" name="Forme libre : forme 109">
              <a:extLst>
                <a:ext uri="{FF2B5EF4-FFF2-40B4-BE49-F238E27FC236}">
                  <a16:creationId xmlns:a16="http://schemas.microsoft.com/office/drawing/2014/main" id="{4CC0628E-9902-7972-9C74-352161357F60}"/>
                </a:ext>
              </a:extLst>
            </p:cNvPr>
            <p:cNvSpPr/>
            <p:nvPr/>
          </p:nvSpPr>
          <p:spPr>
            <a:xfrm>
              <a:off x="7642931" y="273341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sp>
        <p:nvSpPr>
          <p:cNvPr id="111" name="ZoneTexte 110">
            <a:extLst>
              <a:ext uri="{FF2B5EF4-FFF2-40B4-BE49-F238E27FC236}">
                <a16:creationId xmlns:a16="http://schemas.microsoft.com/office/drawing/2014/main" id="{8DD452FE-A260-B60B-7DAF-4CFDAA806784}"/>
              </a:ext>
            </a:extLst>
          </p:cNvPr>
          <p:cNvSpPr txBox="1"/>
          <p:nvPr/>
        </p:nvSpPr>
        <p:spPr>
          <a:xfrm>
            <a:off x="7980199" y="1665233"/>
            <a:ext cx="7665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C5A"/>
                </a:solidFill>
                <a:latin typeface="Montserrat"/>
              </a:rPr>
              <a:t>Project</a:t>
            </a:r>
            <a:endParaRPr kumimoji="0" lang="en-US" sz="1200" b="1" i="0" u="none" strike="noStrike" kern="1200" cap="none" spc="0" normalizeH="0" baseline="0">
              <a:ln>
                <a:noFill/>
              </a:ln>
              <a:solidFill>
                <a:srgbClr val="003C5A"/>
              </a:solidFill>
              <a:effectLst/>
              <a:uLnTx/>
              <a:uFillTx/>
              <a:latin typeface="Montserrat"/>
              <a:ea typeface="+mn-ea"/>
              <a:cs typeface="+mn-cs"/>
            </a:endParaRPr>
          </a:p>
        </p:txBody>
      </p:sp>
      <p:grpSp>
        <p:nvGrpSpPr>
          <p:cNvPr id="15" name="Graphique 17" descr="Hiérarchie contour">
            <a:extLst>
              <a:ext uri="{FF2B5EF4-FFF2-40B4-BE49-F238E27FC236}">
                <a16:creationId xmlns:a16="http://schemas.microsoft.com/office/drawing/2014/main" id="{A1A6E623-81BC-967F-C29A-DE15FEAA5F1B}"/>
              </a:ext>
            </a:extLst>
          </p:cNvPr>
          <p:cNvGrpSpPr/>
          <p:nvPr/>
        </p:nvGrpSpPr>
        <p:grpSpPr>
          <a:xfrm>
            <a:off x="4242569" y="1534197"/>
            <a:ext cx="406839" cy="396000"/>
            <a:chOff x="2732909" y="1980000"/>
            <a:chExt cx="486299" cy="413354"/>
          </a:xfrm>
          <a:solidFill>
            <a:srgbClr val="000000"/>
          </a:solidFill>
        </p:grpSpPr>
        <p:sp>
          <p:nvSpPr>
            <p:cNvPr id="16" name="Forme libre : forme 15">
              <a:extLst>
                <a:ext uri="{FF2B5EF4-FFF2-40B4-BE49-F238E27FC236}">
                  <a16:creationId xmlns:a16="http://schemas.microsoft.com/office/drawing/2014/main" id="{6587EE8C-04EE-00DE-EE80-007031FF7100}"/>
                </a:ext>
              </a:extLst>
            </p:cNvPr>
            <p:cNvSpPr/>
            <p:nvPr/>
          </p:nvSpPr>
          <p:spPr>
            <a:xfrm>
              <a:off x="2787618" y="2083338"/>
              <a:ext cx="376881" cy="206677"/>
            </a:xfrm>
            <a:custGeom>
              <a:avLst/>
              <a:gdLst>
                <a:gd name="connsiteX0" fmla="*/ 12157 w 376881"/>
                <a:gd name="connsiteY0" fmla="*/ 109417 h 206677"/>
                <a:gd name="connsiteX1" fmla="*/ 182362 w 376881"/>
                <a:gd name="connsiteY1" fmla="*/ 109417 h 206677"/>
                <a:gd name="connsiteX2" fmla="*/ 182362 w 376881"/>
                <a:gd name="connsiteY2" fmla="*/ 206677 h 206677"/>
                <a:gd name="connsiteX3" fmla="*/ 194520 w 376881"/>
                <a:gd name="connsiteY3" fmla="*/ 206677 h 206677"/>
                <a:gd name="connsiteX4" fmla="*/ 194520 w 376881"/>
                <a:gd name="connsiteY4" fmla="*/ 109417 h 206677"/>
                <a:gd name="connsiteX5" fmla="*/ 364724 w 376881"/>
                <a:gd name="connsiteY5" fmla="*/ 109417 h 206677"/>
                <a:gd name="connsiteX6" fmla="*/ 364724 w 376881"/>
                <a:gd name="connsiteY6" fmla="*/ 206677 h 206677"/>
                <a:gd name="connsiteX7" fmla="*/ 376882 w 376881"/>
                <a:gd name="connsiteY7" fmla="*/ 206677 h 206677"/>
                <a:gd name="connsiteX8" fmla="*/ 376882 w 376881"/>
                <a:gd name="connsiteY8" fmla="*/ 97260 h 206677"/>
                <a:gd name="connsiteX9" fmla="*/ 194520 w 376881"/>
                <a:gd name="connsiteY9" fmla="*/ 97260 h 206677"/>
                <a:gd name="connsiteX10" fmla="*/ 194520 w 376881"/>
                <a:gd name="connsiteY10" fmla="*/ 0 h 206677"/>
                <a:gd name="connsiteX11" fmla="*/ 182362 w 376881"/>
                <a:gd name="connsiteY11" fmla="*/ 0 h 206677"/>
                <a:gd name="connsiteX12" fmla="*/ 182362 w 376881"/>
                <a:gd name="connsiteY12" fmla="*/ 97260 h 206677"/>
                <a:gd name="connsiteX13" fmla="*/ 0 w 376881"/>
                <a:gd name="connsiteY13" fmla="*/ 97260 h 206677"/>
                <a:gd name="connsiteX14" fmla="*/ 0 w 376881"/>
                <a:gd name="connsiteY14" fmla="*/ 206677 h 206677"/>
                <a:gd name="connsiteX15" fmla="*/ 12157 w 376881"/>
                <a:gd name="connsiteY15" fmla="*/ 206677 h 206677"/>
                <a:gd name="connsiteX16" fmla="*/ 12157 w 376881"/>
                <a:gd name="connsiteY16" fmla="*/ 109417 h 20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6881" h="206677">
                  <a:moveTo>
                    <a:pt x="12157" y="109417"/>
                  </a:moveTo>
                  <a:lnTo>
                    <a:pt x="182362" y="109417"/>
                  </a:lnTo>
                  <a:lnTo>
                    <a:pt x="182362" y="206677"/>
                  </a:lnTo>
                  <a:lnTo>
                    <a:pt x="194520" y="206677"/>
                  </a:lnTo>
                  <a:lnTo>
                    <a:pt x="194520" y="109417"/>
                  </a:lnTo>
                  <a:lnTo>
                    <a:pt x="364724" y="109417"/>
                  </a:lnTo>
                  <a:lnTo>
                    <a:pt x="364724" y="206677"/>
                  </a:lnTo>
                  <a:lnTo>
                    <a:pt x="376882" y="206677"/>
                  </a:lnTo>
                  <a:lnTo>
                    <a:pt x="376882" y="97260"/>
                  </a:lnTo>
                  <a:lnTo>
                    <a:pt x="194520" y="97260"/>
                  </a:lnTo>
                  <a:lnTo>
                    <a:pt x="194520" y="0"/>
                  </a:lnTo>
                  <a:lnTo>
                    <a:pt x="182362" y="0"/>
                  </a:lnTo>
                  <a:lnTo>
                    <a:pt x="182362" y="97260"/>
                  </a:lnTo>
                  <a:lnTo>
                    <a:pt x="0" y="97260"/>
                  </a:lnTo>
                  <a:lnTo>
                    <a:pt x="0" y="206677"/>
                  </a:lnTo>
                  <a:lnTo>
                    <a:pt x="12157" y="206677"/>
                  </a:lnTo>
                  <a:lnTo>
                    <a:pt x="12157" y="109417"/>
                  </a:lnTo>
                  <a:close/>
                </a:path>
              </a:pathLst>
            </a:custGeom>
            <a:solidFill>
              <a:srgbClr val="000000"/>
            </a:solidFill>
            <a:ln w="6052" cap="flat">
              <a:solidFill>
                <a:srgbClr val="003C5A"/>
              </a:solid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6258698F-7E0B-CD99-3080-C75A576A5455}"/>
                </a:ext>
              </a:extLst>
            </p:cNvPr>
            <p:cNvSpPr/>
            <p:nvPr/>
          </p:nvSpPr>
          <p:spPr>
            <a:xfrm>
              <a:off x="2915272" y="1980000"/>
              <a:ext cx="121574" cy="85102"/>
            </a:xfrm>
            <a:custGeom>
              <a:avLst/>
              <a:gdLst>
                <a:gd name="connsiteX0" fmla="*/ 121575 w 121574"/>
                <a:gd name="connsiteY0" fmla="*/ 0 h 85102"/>
                <a:gd name="connsiteX1" fmla="*/ 0 w 121574"/>
                <a:gd name="connsiteY1" fmla="*/ 0 h 85102"/>
                <a:gd name="connsiteX2" fmla="*/ 0 w 121574"/>
                <a:gd name="connsiteY2" fmla="*/ 85102 h 85102"/>
                <a:gd name="connsiteX3" fmla="*/ 121575 w 121574"/>
                <a:gd name="connsiteY3" fmla="*/ 85102 h 85102"/>
                <a:gd name="connsiteX4" fmla="*/ 109417 w 121574"/>
                <a:gd name="connsiteY4" fmla="*/ 72945 h 85102"/>
                <a:gd name="connsiteX5" fmla="*/ 12157 w 121574"/>
                <a:gd name="connsiteY5" fmla="*/ 72945 h 85102"/>
                <a:gd name="connsiteX6" fmla="*/ 12157 w 121574"/>
                <a:gd name="connsiteY6" fmla="*/ 12157 h 85102"/>
                <a:gd name="connsiteX7" fmla="*/ 109417 w 121574"/>
                <a:gd name="connsiteY7" fmla="*/ 12157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121575" y="0"/>
                  </a:moveTo>
                  <a:lnTo>
                    <a:pt x="0" y="0"/>
                  </a:lnTo>
                  <a:lnTo>
                    <a:pt x="0" y="85102"/>
                  </a:lnTo>
                  <a:lnTo>
                    <a:pt x="121575" y="85102"/>
                  </a:lnTo>
                  <a:close/>
                  <a:moveTo>
                    <a:pt x="109417" y="72945"/>
                  </a:moveTo>
                  <a:lnTo>
                    <a:pt x="12157" y="72945"/>
                  </a:lnTo>
                  <a:lnTo>
                    <a:pt x="12157" y="12157"/>
                  </a:lnTo>
                  <a:lnTo>
                    <a:pt x="109417" y="12157"/>
                  </a:lnTo>
                  <a:close/>
                </a:path>
              </a:pathLst>
            </a:custGeom>
            <a:solidFill>
              <a:srgbClr val="000000"/>
            </a:solidFill>
            <a:ln w="6052" cap="flat">
              <a:solidFill>
                <a:srgbClr val="003C5A"/>
              </a:solid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12AD8A49-10D6-1F8F-012B-C124DBA990ED}"/>
                </a:ext>
              </a:extLst>
            </p:cNvPr>
            <p:cNvSpPr/>
            <p:nvPr/>
          </p:nvSpPr>
          <p:spPr>
            <a:xfrm>
              <a:off x="2915272" y="2308252"/>
              <a:ext cx="121574" cy="85102"/>
            </a:xfrm>
            <a:custGeom>
              <a:avLst/>
              <a:gdLst>
                <a:gd name="connsiteX0" fmla="*/ 0 w 121574"/>
                <a:gd name="connsiteY0" fmla="*/ 0 h 85102"/>
                <a:gd name="connsiteX1" fmla="*/ 0 w 121574"/>
                <a:gd name="connsiteY1" fmla="*/ 85102 h 85102"/>
                <a:gd name="connsiteX2" fmla="*/ 121575 w 121574"/>
                <a:gd name="connsiteY2" fmla="*/ 85102 h 85102"/>
                <a:gd name="connsiteX3" fmla="*/ 121575 w 121574"/>
                <a:gd name="connsiteY3" fmla="*/ 0 h 85102"/>
                <a:gd name="connsiteX4" fmla="*/ 109417 w 121574"/>
                <a:gd name="connsiteY4" fmla="*/ 72945 h 85102"/>
                <a:gd name="connsiteX5" fmla="*/ 12157 w 121574"/>
                <a:gd name="connsiteY5" fmla="*/ 72945 h 85102"/>
                <a:gd name="connsiteX6" fmla="*/ 12157 w 121574"/>
                <a:gd name="connsiteY6" fmla="*/ 12157 h 85102"/>
                <a:gd name="connsiteX7" fmla="*/ 109417 w 121574"/>
                <a:gd name="connsiteY7" fmla="*/ 12157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0" y="0"/>
                  </a:moveTo>
                  <a:lnTo>
                    <a:pt x="0" y="85102"/>
                  </a:lnTo>
                  <a:lnTo>
                    <a:pt x="121575" y="85102"/>
                  </a:lnTo>
                  <a:lnTo>
                    <a:pt x="121575" y="0"/>
                  </a:lnTo>
                  <a:close/>
                  <a:moveTo>
                    <a:pt x="109417" y="72945"/>
                  </a:moveTo>
                  <a:lnTo>
                    <a:pt x="12157" y="72945"/>
                  </a:lnTo>
                  <a:lnTo>
                    <a:pt x="12157" y="12157"/>
                  </a:lnTo>
                  <a:lnTo>
                    <a:pt x="109417" y="12157"/>
                  </a:lnTo>
                  <a:close/>
                </a:path>
              </a:pathLst>
            </a:custGeom>
            <a:solidFill>
              <a:srgbClr val="000000"/>
            </a:solidFill>
            <a:ln w="6052" cap="flat">
              <a:solidFill>
                <a:srgbClr val="003C5A"/>
              </a:solid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4F06D935-7650-637A-EBEA-4AF77A428732}"/>
                </a:ext>
              </a:extLst>
            </p:cNvPr>
            <p:cNvSpPr/>
            <p:nvPr/>
          </p:nvSpPr>
          <p:spPr>
            <a:xfrm>
              <a:off x="3097634" y="2308252"/>
              <a:ext cx="121574" cy="85102"/>
            </a:xfrm>
            <a:custGeom>
              <a:avLst/>
              <a:gdLst>
                <a:gd name="connsiteX0" fmla="*/ 0 w 121574"/>
                <a:gd name="connsiteY0" fmla="*/ 85102 h 85102"/>
                <a:gd name="connsiteX1" fmla="*/ 121575 w 121574"/>
                <a:gd name="connsiteY1" fmla="*/ 85102 h 85102"/>
                <a:gd name="connsiteX2" fmla="*/ 121575 w 121574"/>
                <a:gd name="connsiteY2" fmla="*/ 0 h 85102"/>
                <a:gd name="connsiteX3" fmla="*/ 0 w 121574"/>
                <a:gd name="connsiteY3" fmla="*/ 0 h 85102"/>
                <a:gd name="connsiteX4" fmla="*/ 12157 w 121574"/>
                <a:gd name="connsiteY4" fmla="*/ 12157 h 85102"/>
                <a:gd name="connsiteX5" fmla="*/ 109417 w 121574"/>
                <a:gd name="connsiteY5" fmla="*/ 12157 h 85102"/>
                <a:gd name="connsiteX6" fmla="*/ 109417 w 121574"/>
                <a:gd name="connsiteY6" fmla="*/ 72945 h 85102"/>
                <a:gd name="connsiteX7" fmla="*/ 12157 w 121574"/>
                <a:gd name="connsiteY7" fmla="*/ 72945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0" y="85102"/>
                  </a:moveTo>
                  <a:lnTo>
                    <a:pt x="121575" y="85102"/>
                  </a:lnTo>
                  <a:lnTo>
                    <a:pt x="121575" y="0"/>
                  </a:lnTo>
                  <a:lnTo>
                    <a:pt x="0" y="0"/>
                  </a:lnTo>
                  <a:close/>
                  <a:moveTo>
                    <a:pt x="12157" y="12157"/>
                  </a:moveTo>
                  <a:lnTo>
                    <a:pt x="109417" y="12157"/>
                  </a:lnTo>
                  <a:lnTo>
                    <a:pt x="109417" y="72945"/>
                  </a:lnTo>
                  <a:lnTo>
                    <a:pt x="12157" y="72945"/>
                  </a:lnTo>
                  <a:close/>
                </a:path>
              </a:pathLst>
            </a:custGeom>
            <a:solidFill>
              <a:srgbClr val="000000"/>
            </a:solidFill>
            <a:ln w="6052" cap="flat">
              <a:solidFill>
                <a:srgbClr val="003C5A"/>
              </a:solid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EF1BC461-2CEE-DE9B-E75C-641781BE41E5}"/>
                </a:ext>
              </a:extLst>
            </p:cNvPr>
            <p:cNvSpPr/>
            <p:nvPr/>
          </p:nvSpPr>
          <p:spPr>
            <a:xfrm>
              <a:off x="2732909" y="2308252"/>
              <a:ext cx="121574" cy="85102"/>
            </a:xfrm>
            <a:custGeom>
              <a:avLst/>
              <a:gdLst>
                <a:gd name="connsiteX0" fmla="*/ 121575 w 121574"/>
                <a:gd name="connsiteY0" fmla="*/ 0 h 85102"/>
                <a:gd name="connsiteX1" fmla="*/ 0 w 121574"/>
                <a:gd name="connsiteY1" fmla="*/ 0 h 85102"/>
                <a:gd name="connsiteX2" fmla="*/ 0 w 121574"/>
                <a:gd name="connsiteY2" fmla="*/ 85102 h 85102"/>
                <a:gd name="connsiteX3" fmla="*/ 121575 w 121574"/>
                <a:gd name="connsiteY3" fmla="*/ 85102 h 85102"/>
                <a:gd name="connsiteX4" fmla="*/ 109417 w 121574"/>
                <a:gd name="connsiteY4" fmla="*/ 72945 h 85102"/>
                <a:gd name="connsiteX5" fmla="*/ 12157 w 121574"/>
                <a:gd name="connsiteY5" fmla="*/ 72945 h 85102"/>
                <a:gd name="connsiteX6" fmla="*/ 12157 w 121574"/>
                <a:gd name="connsiteY6" fmla="*/ 12157 h 85102"/>
                <a:gd name="connsiteX7" fmla="*/ 109417 w 121574"/>
                <a:gd name="connsiteY7" fmla="*/ 12157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121575" y="0"/>
                  </a:moveTo>
                  <a:lnTo>
                    <a:pt x="0" y="0"/>
                  </a:lnTo>
                  <a:lnTo>
                    <a:pt x="0" y="85102"/>
                  </a:lnTo>
                  <a:lnTo>
                    <a:pt x="121575" y="85102"/>
                  </a:lnTo>
                  <a:close/>
                  <a:moveTo>
                    <a:pt x="109417" y="72945"/>
                  </a:moveTo>
                  <a:lnTo>
                    <a:pt x="12157" y="72945"/>
                  </a:lnTo>
                  <a:lnTo>
                    <a:pt x="12157" y="12157"/>
                  </a:lnTo>
                  <a:lnTo>
                    <a:pt x="109417" y="12157"/>
                  </a:lnTo>
                  <a:close/>
                </a:path>
              </a:pathLst>
            </a:custGeom>
            <a:solidFill>
              <a:srgbClr val="000000"/>
            </a:solidFill>
            <a:ln w="6052" cap="flat">
              <a:solidFill>
                <a:srgbClr val="003C5A"/>
              </a:solidFill>
              <a:prstDash val="solid"/>
              <a:miter/>
            </a:ln>
          </p:spPr>
          <p:txBody>
            <a:bodyPr rtlCol="0" anchor="ctr"/>
            <a:lstStyle/>
            <a:p>
              <a:endParaRPr lang="fr-FR"/>
            </a:p>
          </p:txBody>
        </p:sp>
      </p:grpSp>
      <p:sp>
        <p:nvSpPr>
          <p:cNvPr id="33" name="ZoneTexte 32">
            <a:extLst>
              <a:ext uri="{FF2B5EF4-FFF2-40B4-BE49-F238E27FC236}">
                <a16:creationId xmlns:a16="http://schemas.microsoft.com/office/drawing/2014/main" id="{54F16B32-9031-E8CF-DD18-B3BB3633CF53}"/>
              </a:ext>
            </a:extLst>
          </p:cNvPr>
          <p:cNvSpPr txBox="1"/>
          <p:nvPr/>
        </p:nvSpPr>
        <p:spPr>
          <a:xfrm>
            <a:off x="792722" y="2025050"/>
            <a:ext cx="1241102" cy="123111"/>
          </a:xfrm>
          <a:prstGeom prst="rect">
            <a:avLst/>
          </a:prstGeom>
          <a:noFill/>
        </p:spPr>
        <p:txBody>
          <a:bodyPr wrap="square" lIns="36000" tIns="0" rIns="36000" bIns="0" rtlCol="0">
            <a:spAutoFit/>
          </a:bodyPr>
          <a:lstStyle/>
          <a:p>
            <a:r>
              <a:rPr lang="en-US" sz="800"/>
              <a:t>Master sources </a:t>
            </a:r>
          </a:p>
        </p:txBody>
      </p:sp>
      <p:sp>
        <p:nvSpPr>
          <p:cNvPr id="34" name="ZoneTexte 33">
            <a:extLst>
              <a:ext uri="{FF2B5EF4-FFF2-40B4-BE49-F238E27FC236}">
                <a16:creationId xmlns:a16="http://schemas.microsoft.com/office/drawing/2014/main" id="{4BBE514C-0F9D-4038-6FA6-48049899A571}"/>
              </a:ext>
            </a:extLst>
          </p:cNvPr>
          <p:cNvSpPr txBox="1"/>
          <p:nvPr/>
        </p:nvSpPr>
        <p:spPr>
          <a:xfrm>
            <a:off x="2191809" y="2025050"/>
            <a:ext cx="698336" cy="123111"/>
          </a:xfrm>
          <a:prstGeom prst="rect">
            <a:avLst/>
          </a:prstGeom>
          <a:noFill/>
        </p:spPr>
        <p:txBody>
          <a:bodyPr wrap="square" lIns="36000" tIns="0" rIns="36000" bIns="0" rtlCol="0">
            <a:spAutoFit/>
          </a:bodyPr>
          <a:lstStyle/>
          <a:p>
            <a:r>
              <a:rPr lang="en-US" sz="800"/>
              <a:t>Unmanaged</a:t>
            </a:r>
          </a:p>
        </p:txBody>
      </p:sp>
      <p:pic>
        <p:nvPicPr>
          <p:cNvPr id="27" name="Graphique 26" descr="Jouer avec un remplissage uni">
            <a:extLst>
              <a:ext uri="{FF2B5EF4-FFF2-40B4-BE49-F238E27FC236}">
                <a16:creationId xmlns:a16="http://schemas.microsoft.com/office/drawing/2014/main" id="{12A9B302-D2C1-E1D1-05D7-79319807FA1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352991" y="3842860"/>
            <a:ext cx="396000" cy="396000"/>
          </a:xfrm>
          <a:prstGeom prst="rect">
            <a:avLst/>
          </a:prstGeom>
        </p:spPr>
      </p:pic>
      <p:sp>
        <p:nvSpPr>
          <p:cNvPr id="37" name="Rectangle 36">
            <a:extLst>
              <a:ext uri="{FF2B5EF4-FFF2-40B4-BE49-F238E27FC236}">
                <a16:creationId xmlns:a16="http://schemas.microsoft.com/office/drawing/2014/main" id="{17A9B921-6970-40D4-E7E4-6B2FA2BC3D14}"/>
              </a:ext>
            </a:extLst>
          </p:cNvPr>
          <p:cNvSpPr/>
          <p:nvPr/>
        </p:nvSpPr>
        <p:spPr>
          <a:xfrm>
            <a:off x="658547" y="3324703"/>
            <a:ext cx="2700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schemeClr val="bg1"/>
                </a:solidFill>
                <a:effectLst/>
                <a:uLnTx/>
                <a:uFillTx/>
                <a:ea typeface="+mn-ea"/>
                <a:cs typeface="+mn-cs"/>
              </a:rPr>
              <a:t>Identity</a:t>
            </a:r>
          </a:p>
          <a:p>
            <a:pPr algn="ctr"/>
            <a:r>
              <a:rPr lang="en-US" sz="1600" b="1" kern="0">
                <a:solidFill>
                  <a:schemeClr val="bg1"/>
                </a:solidFill>
              </a:rPr>
              <a:t>M</a:t>
            </a:r>
            <a:r>
              <a:rPr kumimoji="0" lang="en-US" sz="1600" b="1" i="0" u="none" strike="noStrike" kern="0" cap="none" spc="0" normalizeH="0" baseline="0" noProof="0" err="1">
                <a:ln>
                  <a:noFill/>
                </a:ln>
                <a:solidFill>
                  <a:schemeClr val="bg1"/>
                </a:solidFill>
                <a:effectLst/>
                <a:uLnTx/>
                <a:uFillTx/>
                <a:ea typeface="+mn-ea"/>
                <a:cs typeface="+mn-cs"/>
              </a:rPr>
              <a:t>anagement</a:t>
            </a:r>
            <a:endParaRPr lang="fr-FR" sz="1600" b="1" kern="0">
              <a:solidFill>
                <a:schemeClr val="bg1"/>
              </a:solidFill>
            </a:endParaRPr>
          </a:p>
        </p:txBody>
      </p:sp>
      <p:pic>
        <p:nvPicPr>
          <p:cNvPr id="28" name="Graphique 27" descr="Jouer avec un remplissage uni">
            <a:extLst>
              <a:ext uri="{FF2B5EF4-FFF2-40B4-BE49-F238E27FC236}">
                <a16:creationId xmlns:a16="http://schemas.microsoft.com/office/drawing/2014/main" id="{08B96BE9-B0DB-8B22-EBC9-43F2E4520A8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389289" y="3842860"/>
            <a:ext cx="396000" cy="396000"/>
          </a:xfrm>
          <a:prstGeom prst="rect">
            <a:avLst/>
          </a:prstGeom>
        </p:spPr>
      </p:pic>
      <p:sp>
        <p:nvSpPr>
          <p:cNvPr id="106" name="Flèche : bas 105">
            <a:extLst>
              <a:ext uri="{FF2B5EF4-FFF2-40B4-BE49-F238E27FC236}">
                <a16:creationId xmlns:a16="http://schemas.microsoft.com/office/drawing/2014/main" id="{9846E7F3-66B1-2655-8633-AF8722C4925D}"/>
              </a:ext>
            </a:extLst>
          </p:cNvPr>
          <p:cNvSpPr/>
          <p:nvPr/>
        </p:nvSpPr>
        <p:spPr>
          <a:xfrm>
            <a:off x="828462"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98" name="Process_automation" descr="{&quot;Key&quot;:&quot;POWER_USER_SHAPE_ICON&quot;,&quot;Value&quot;:&quot;POWER_USER_SHAPE_ICON_STYLE_1&quot;}">
            <a:extLst>
              <a:ext uri="{FF2B5EF4-FFF2-40B4-BE49-F238E27FC236}">
                <a16:creationId xmlns:a16="http://schemas.microsoft.com/office/drawing/2014/main" id="{E5B2A24B-6E40-27B4-1A6F-221FEAF0AAD3}"/>
              </a:ext>
            </a:extLst>
          </p:cNvPr>
          <p:cNvGrpSpPr>
            <a:grpSpLocks noChangeAspect="1"/>
          </p:cNvGrpSpPr>
          <p:nvPr>
            <p:custDataLst>
              <p:tags r:id="rId1"/>
            </p:custDataLst>
          </p:nvPr>
        </p:nvGrpSpPr>
        <p:grpSpPr>
          <a:xfrm rot="16200000">
            <a:off x="974628" y="2595156"/>
            <a:ext cx="288000" cy="288000"/>
            <a:chOff x="7174578" y="3191054"/>
            <a:chExt cx="656155" cy="653975"/>
          </a:xfrm>
          <a:noFill/>
        </p:grpSpPr>
        <p:grpSp>
          <p:nvGrpSpPr>
            <p:cNvPr id="99" name="Resource_allocation">
              <a:extLst>
                <a:ext uri="{FF2B5EF4-FFF2-40B4-BE49-F238E27FC236}">
                  <a16:creationId xmlns:a16="http://schemas.microsoft.com/office/drawing/2014/main" id="{A8E3068D-DFD3-D7F3-4365-C32BEEC27860}"/>
                </a:ext>
              </a:extLst>
            </p:cNvPr>
            <p:cNvGrpSpPr>
              <a:grpSpLocks noChangeAspect="1"/>
            </p:cNvGrpSpPr>
            <p:nvPr>
              <p:custDataLst>
                <p:tags r:id="rId14"/>
              </p:custDataLst>
            </p:nvPr>
          </p:nvGrpSpPr>
          <p:grpSpPr>
            <a:xfrm>
              <a:off x="7174578" y="3362978"/>
              <a:ext cx="656155" cy="309690"/>
              <a:chOff x="6249988" y="3989388"/>
              <a:chExt cx="1076325" cy="508000"/>
            </a:xfrm>
            <a:grpFill/>
          </p:grpSpPr>
          <p:sp>
            <p:nvSpPr>
              <p:cNvPr id="102" name="Freeform 90">
                <a:extLst>
                  <a:ext uri="{FF2B5EF4-FFF2-40B4-BE49-F238E27FC236}">
                    <a16:creationId xmlns:a16="http://schemas.microsoft.com/office/drawing/2014/main" id="{4D85F05C-B30E-3951-E0B6-D2F4FBE963CE}"/>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Freeform 91">
                <a:extLst>
                  <a:ext uri="{FF2B5EF4-FFF2-40B4-BE49-F238E27FC236}">
                    <a16:creationId xmlns:a16="http://schemas.microsoft.com/office/drawing/2014/main" id="{B088390B-9FC1-2073-54C4-381972A6D04E}"/>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Freeform 92">
                <a:extLst>
                  <a:ext uri="{FF2B5EF4-FFF2-40B4-BE49-F238E27FC236}">
                    <a16:creationId xmlns:a16="http://schemas.microsoft.com/office/drawing/2014/main" id="{4BE0F7C5-1269-6D48-8457-71F5678A65C7}"/>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Freeform 93">
                <a:extLst>
                  <a:ext uri="{FF2B5EF4-FFF2-40B4-BE49-F238E27FC236}">
                    <a16:creationId xmlns:a16="http://schemas.microsoft.com/office/drawing/2014/main" id="{F0DD6BDA-4702-1D0C-88A7-C386FE8E1BE8}"/>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0" name="Target">
              <a:extLst>
                <a:ext uri="{FF2B5EF4-FFF2-40B4-BE49-F238E27FC236}">
                  <a16:creationId xmlns:a16="http://schemas.microsoft.com/office/drawing/2014/main" id="{2AB8EFAB-E7C2-A869-D536-79183F477FC6}"/>
                </a:ext>
              </a:extLst>
            </p:cNvPr>
            <p:cNvSpPr>
              <a:spLocks noChangeAspect="1"/>
            </p:cNvSpPr>
            <p:nvPr>
              <p:custDataLst>
                <p:tags r:id="rId15"/>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Target">
              <a:extLst>
                <a:ext uri="{FF2B5EF4-FFF2-40B4-BE49-F238E27FC236}">
                  <a16:creationId xmlns:a16="http://schemas.microsoft.com/office/drawing/2014/main" id="{ADA8FF71-750F-3982-E570-550B87FE721F}"/>
                </a:ext>
              </a:extLst>
            </p:cNvPr>
            <p:cNvSpPr>
              <a:spLocks noChangeAspect="1"/>
            </p:cNvSpPr>
            <p:nvPr>
              <p:custDataLst>
                <p:tags r:id="rId16"/>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7" name="Flèche : bas 116">
            <a:extLst>
              <a:ext uri="{FF2B5EF4-FFF2-40B4-BE49-F238E27FC236}">
                <a16:creationId xmlns:a16="http://schemas.microsoft.com/office/drawing/2014/main" id="{0DA0B136-6569-D4BC-0D3A-465A5261FA81}"/>
              </a:ext>
            </a:extLst>
          </p:cNvPr>
          <p:cNvSpPr/>
          <p:nvPr/>
        </p:nvSpPr>
        <p:spPr>
          <a:xfrm>
            <a:off x="2133006"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1" name="Graphique 120" descr="Jouer avec un remplissage uni">
            <a:extLst>
              <a:ext uri="{FF2B5EF4-FFF2-40B4-BE49-F238E27FC236}">
                <a16:creationId xmlns:a16="http://schemas.microsoft.com/office/drawing/2014/main" id="{C48BF74E-2BCC-8DAA-7F0A-02BA02263CB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2250764" y="4375044"/>
            <a:ext cx="396000" cy="396000"/>
          </a:xfrm>
          <a:prstGeom prst="rect">
            <a:avLst/>
          </a:prstGeom>
        </p:spPr>
      </p:pic>
      <p:pic>
        <p:nvPicPr>
          <p:cNvPr id="123" name="Graphique 122" descr="Jouer avec un remplissage uni">
            <a:extLst>
              <a:ext uri="{FF2B5EF4-FFF2-40B4-BE49-F238E27FC236}">
                <a16:creationId xmlns:a16="http://schemas.microsoft.com/office/drawing/2014/main" id="{822CA744-F905-8024-3FF5-87BFE3EE810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4779640" y="4375044"/>
            <a:ext cx="396000" cy="396000"/>
          </a:xfrm>
          <a:prstGeom prst="rect">
            <a:avLst/>
          </a:prstGeom>
        </p:spPr>
      </p:pic>
      <p:pic>
        <p:nvPicPr>
          <p:cNvPr id="124" name="Graphique 123" descr="Jouer avec un remplissage uni">
            <a:extLst>
              <a:ext uri="{FF2B5EF4-FFF2-40B4-BE49-F238E27FC236}">
                <a16:creationId xmlns:a16="http://schemas.microsoft.com/office/drawing/2014/main" id="{A029DC51-DDBD-418F-D833-87CABB34769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7937839" y="4375044"/>
            <a:ext cx="396000" cy="396000"/>
          </a:xfrm>
          <a:prstGeom prst="rect">
            <a:avLst/>
          </a:prstGeom>
        </p:spPr>
      </p:pic>
      <p:sp>
        <p:nvSpPr>
          <p:cNvPr id="125" name="Flèche : bas 124">
            <a:extLst>
              <a:ext uri="{FF2B5EF4-FFF2-40B4-BE49-F238E27FC236}">
                <a16:creationId xmlns:a16="http://schemas.microsoft.com/office/drawing/2014/main" id="{F308FB42-8111-7CDE-94FC-051EC652FC1F}"/>
              </a:ext>
            </a:extLst>
          </p:cNvPr>
          <p:cNvSpPr/>
          <p:nvPr/>
        </p:nvSpPr>
        <p:spPr>
          <a:xfrm>
            <a:off x="3849218"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6" name="Process_automation" descr="{&quot;Key&quot;:&quot;POWER_USER_SHAPE_ICON&quot;,&quot;Value&quot;:&quot;POWER_USER_SHAPE_ICON_STYLE_1&quot;}">
            <a:extLst>
              <a:ext uri="{FF2B5EF4-FFF2-40B4-BE49-F238E27FC236}">
                <a16:creationId xmlns:a16="http://schemas.microsoft.com/office/drawing/2014/main" id="{E45E46B8-D850-E579-4E03-B2E287970277}"/>
              </a:ext>
            </a:extLst>
          </p:cNvPr>
          <p:cNvGrpSpPr>
            <a:grpSpLocks noChangeAspect="1"/>
          </p:cNvGrpSpPr>
          <p:nvPr>
            <p:custDataLst>
              <p:tags r:id="rId2"/>
            </p:custDataLst>
          </p:nvPr>
        </p:nvGrpSpPr>
        <p:grpSpPr>
          <a:xfrm rot="16200000">
            <a:off x="3995384" y="2595156"/>
            <a:ext cx="288000" cy="288000"/>
            <a:chOff x="7174578" y="3191054"/>
            <a:chExt cx="656155" cy="653975"/>
          </a:xfrm>
          <a:noFill/>
        </p:grpSpPr>
        <p:grpSp>
          <p:nvGrpSpPr>
            <p:cNvPr id="127" name="Resource_allocation">
              <a:extLst>
                <a:ext uri="{FF2B5EF4-FFF2-40B4-BE49-F238E27FC236}">
                  <a16:creationId xmlns:a16="http://schemas.microsoft.com/office/drawing/2014/main" id="{4D0BEC8C-FC6A-C23F-6349-DBA167021495}"/>
                </a:ext>
              </a:extLst>
            </p:cNvPr>
            <p:cNvGrpSpPr>
              <a:grpSpLocks noChangeAspect="1"/>
            </p:cNvGrpSpPr>
            <p:nvPr>
              <p:custDataLst>
                <p:tags r:id="rId11"/>
              </p:custDataLst>
            </p:nvPr>
          </p:nvGrpSpPr>
          <p:grpSpPr>
            <a:xfrm>
              <a:off x="7174578" y="3362978"/>
              <a:ext cx="656155" cy="309690"/>
              <a:chOff x="6249988" y="3989388"/>
              <a:chExt cx="1076325" cy="508000"/>
            </a:xfrm>
            <a:grpFill/>
          </p:grpSpPr>
          <p:sp>
            <p:nvSpPr>
              <p:cNvPr id="130" name="Freeform 90">
                <a:extLst>
                  <a:ext uri="{FF2B5EF4-FFF2-40B4-BE49-F238E27FC236}">
                    <a16:creationId xmlns:a16="http://schemas.microsoft.com/office/drawing/2014/main" id="{AFC52B6D-3B11-BDB2-F62E-BF83BD220D91}"/>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Freeform 91">
                <a:extLst>
                  <a:ext uri="{FF2B5EF4-FFF2-40B4-BE49-F238E27FC236}">
                    <a16:creationId xmlns:a16="http://schemas.microsoft.com/office/drawing/2014/main" id="{09869483-7635-5394-4077-E78050FD4E21}"/>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Freeform 92">
                <a:extLst>
                  <a:ext uri="{FF2B5EF4-FFF2-40B4-BE49-F238E27FC236}">
                    <a16:creationId xmlns:a16="http://schemas.microsoft.com/office/drawing/2014/main" id="{929A235E-7FA1-D578-879F-42F474DA4BCB}"/>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Freeform 93">
                <a:extLst>
                  <a:ext uri="{FF2B5EF4-FFF2-40B4-BE49-F238E27FC236}">
                    <a16:creationId xmlns:a16="http://schemas.microsoft.com/office/drawing/2014/main" id="{C192517B-514F-FEE5-E7F2-8AE659E11560}"/>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8" name="Target">
              <a:extLst>
                <a:ext uri="{FF2B5EF4-FFF2-40B4-BE49-F238E27FC236}">
                  <a16:creationId xmlns:a16="http://schemas.microsoft.com/office/drawing/2014/main" id="{42E3F284-D187-4389-EC63-AF7E96BFF7B5}"/>
                </a:ext>
              </a:extLst>
            </p:cNvPr>
            <p:cNvSpPr>
              <a:spLocks noChangeAspect="1"/>
            </p:cNvSpPr>
            <p:nvPr>
              <p:custDataLst>
                <p:tags r:id="rId12"/>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Target">
              <a:extLst>
                <a:ext uri="{FF2B5EF4-FFF2-40B4-BE49-F238E27FC236}">
                  <a16:creationId xmlns:a16="http://schemas.microsoft.com/office/drawing/2014/main" id="{894EC9C9-801E-C8B0-36BA-8B3030B8135B}"/>
                </a:ext>
              </a:extLst>
            </p:cNvPr>
            <p:cNvSpPr>
              <a:spLocks noChangeAspect="1"/>
            </p:cNvSpPr>
            <p:nvPr>
              <p:custDataLst>
                <p:tags r:id="rId13"/>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lèche : bas 133">
            <a:extLst>
              <a:ext uri="{FF2B5EF4-FFF2-40B4-BE49-F238E27FC236}">
                <a16:creationId xmlns:a16="http://schemas.microsoft.com/office/drawing/2014/main" id="{557462EA-D0E3-3879-EA45-58E49AC85452}"/>
              </a:ext>
            </a:extLst>
          </p:cNvPr>
          <p:cNvSpPr/>
          <p:nvPr/>
        </p:nvSpPr>
        <p:spPr>
          <a:xfrm>
            <a:off x="5340757"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Flèche : bas 137">
            <a:extLst>
              <a:ext uri="{FF2B5EF4-FFF2-40B4-BE49-F238E27FC236}">
                <a16:creationId xmlns:a16="http://schemas.microsoft.com/office/drawing/2014/main" id="{2DF812DA-EEA1-E8D9-F3B6-4AA254C77EC7}"/>
              </a:ext>
            </a:extLst>
          </p:cNvPr>
          <p:cNvSpPr/>
          <p:nvPr/>
        </p:nvSpPr>
        <p:spPr>
          <a:xfrm>
            <a:off x="7269793" y="2483488"/>
            <a:ext cx="567649" cy="503682"/>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39" name="Process_automation" descr="{&quot;Key&quot;:&quot;POWER_USER_SHAPE_ICON&quot;,&quot;Value&quot;:&quot;POWER_USER_SHAPE_ICON_STYLE_1&quot;}">
            <a:extLst>
              <a:ext uri="{FF2B5EF4-FFF2-40B4-BE49-F238E27FC236}">
                <a16:creationId xmlns:a16="http://schemas.microsoft.com/office/drawing/2014/main" id="{9147EB71-5FCE-162D-8AA5-EE2DF0F04D2A}"/>
              </a:ext>
            </a:extLst>
          </p:cNvPr>
          <p:cNvGrpSpPr>
            <a:grpSpLocks noChangeAspect="1"/>
          </p:cNvGrpSpPr>
          <p:nvPr>
            <p:custDataLst>
              <p:tags r:id="rId3"/>
            </p:custDataLst>
          </p:nvPr>
        </p:nvGrpSpPr>
        <p:grpSpPr>
          <a:xfrm rot="16200000">
            <a:off x="7415959" y="2595156"/>
            <a:ext cx="288000" cy="288000"/>
            <a:chOff x="7174578" y="3191054"/>
            <a:chExt cx="656155" cy="653975"/>
          </a:xfrm>
          <a:noFill/>
        </p:grpSpPr>
        <p:grpSp>
          <p:nvGrpSpPr>
            <p:cNvPr id="140" name="Resource_allocation">
              <a:extLst>
                <a:ext uri="{FF2B5EF4-FFF2-40B4-BE49-F238E27FC236}">
                  <a16:creationId xmlns:a16="http://schemas.microsoft.com/office/drawing/2014/main" id="{0177949C-6E96-8DD3-EC8F-D9D0D6424FAE}"/>
                </a:ext>
              </a:extLst>
            </p:cNvPr>
            <p:cNvGrpSpPr>
              <a:grpSpLocks noChangeAspect="1"/>
            </p:cNvGrpSpPr>
            <p:nvPr>
              <p:custDataLst>
                <p:tags r:id="rId8"/>
              </p:custDataLst>
            </p:nvPr>
          </p:nvGrpSpPr>
          <p:grpSpPr>
            <a:xfrm>
              <a:off x="7174578" y="3362978"/>
              <a:ext cx="656155" cy="309690"/>
              <a:chOff x="6249988" y="3989388"/>
              <a:chExt cx="1076325" cy="508000"/>
            </a:xfrm>
            <a:grpFill/>
          </p:grpSpPr>
          <p:sp>
            <p:nvSpPr>
              <p:cNvPr id="143" name="Freeform 90">
                <a:extLst>
                  <a:ext uri="{FF2B5EF4-FFF2-40B4-BE49-F238E27FC236}">
                    <a16:creationId xmlns:a16="http://schemas.microsoft.com/office/drawing/2014/main" id="{A78EE49F-4B4C-6703-5A7A-6FE6905C6588}"/>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Freeform 91">
                <a:extLst>
                  <a:ext uri="{FF2B5EF4-FFF2-40B4-BE49-F238E27FC236}">
                    <a16:creationId xmlns:a16="http://schemas.microsoft.com/office/drawing/2014/main" id="{2A646059-C8B4-FE25-0F59-88FAE61B39AC}"/>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Freeform 92">
                <a:extLst>
                  <a:ext uri="{FF2B5EF4-FFF2-40B4-BE49-F238E27FC236}">
                    <a16:creationId xmlns:a16="http://schemas.microsoft.com/office/drawing/2014/main" id="{6F0F6FD8-E39A-077A-8C59-A5163C41321C}"/>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Freeform 93">
                <a:extLst>
                  <a:ext uri="{FF2B5EF4-FFF2-40B4-BE49-F238E27FC236}">
                    <a16:creationId xmlns:a16="http://schemas.microsoft.com/office/drawing/2014/main" id="{BF7F6A94-81FF-3879-CDEA-2EB523EF5478}"/>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1" name="Target">
              <a:extLst>
                <a:ext uri="{FF2B5EF4-FFF2-40B4-BE49-F238E27FC236}">
                  <a16:creationId xmlns:a16="http://schemas.microsoft.com/office/drawing/2014/main" id="{30E14EC7-0858-5B51-6141-E90A16D47676}"/>
                </a:ext>
              </a:extLst>
            </p:cNvPr>
            <p:cNvSpPr>
              <a:spLocks noChangeAspect="1"/>
            </p:cNvSpPr>
            <p:nvPr>
              <p:custDataLst>
                <p:tags r:id="rId9"/>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Target">
              <a:extLst>
                <a:ext uri="{FF2B5EF4-FFF2-40B4-BE49-F238E27FC236}">
                  <a16:creationId xmlns:a16="http://schemas.microsoft.com/office/drawing/2014/main" id="{569ED519-94EC-F386-5D2F-D036B42ADCEC}"/>
                </a:ext>
              </a:extLst>
            </p:cNvPr>
            <p:cNvSpPr>
              <a:spLocks noChangeAspect="1"/>
            </p:cNvSpPr>
            <p:nvPr>
              <p:custDataLst>
                <p:tags r:id="rId10"/>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7" name="Flèche : bas 146">
            <a:extLst>
              <a:ext uri="{FF2B5EF4-FFF2-40B4-BE49-F238E27FC236}">
                <a16:creationId xmlns:a16="http://schemas.microsoft.com/office/drawing/2014/main" id="{10958819-8414-4EA8-7CC6-B866AB2B1E87}"/>
              </a:ext>
            </a:extLst>
          </p:cNvPr>
          <p:cNvSpPr/>
          <p:nvPr/>
        </p:nvSpPr>
        <p:spPr>
          <a:xfrm>
            <a:off x="8560361" y="2483488"/>
            <a:ext cx="567649" cy="503682"/>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10" name="Candidate" descr="{&quot;Key&quot;:&quot;POWER_USER_SHAPE_ICON&quot;,&quot;Value&quot;:&quot;POWER_USER_SHAPE_ICON_STYLE_1&quot;}">
            <a:extLst>
              <a:ext uri="{FF2B5EF4-FFF2-40B4-BE49-F238E27FC236}">
                <a16:creationId xmlns:a16="http://schemas.microsoft.com/office/drawing/2014/main" id="{7661D2CD-132F-92F8-7DA2-4F3E80C313F3}"/>
              </a:ext>
            </a:extLst>
          </p:cNvPr>
          <p:cNvGrpSpPr>
            <a:grpSpLocks noChangeAspect="1"/>
          </p:cNvGrpSpPr>
          <p:nvPr/>
        </p:nvGrpSpPr>
        <p:grpSpPr>
          <a:xfrm>
            <a:off x="2309255" y="2603918"/>
            <a:ext cx="215149" cy="252000"/>
            <a:chOff x="8482013" y="4622800"/>
            <a:chExt cx="574675" cy="673101"/>
          </a:xfrm>
        </p:grpSpPr>
        <p:sp>
          <p:nvSpPr>
            <p:cNvPr id="211" name="Freeform 2635">
              <a:extLst>
                <a:ext uri="{FF2B5EF4-FFF2-40B4-BE49-F238E27FC236}">
                  <a16:creationId xmlns:a16="http://schemas.microsoft.com/office/drawing/2014/main" id="{59CB09D3-4B57-B90E-218E-64DE0F32A36B}"/>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Oval 2636">
              <a:extLst>
                <a:ext uri="{FF2B5EF4-FFF2-40B4-BE49-F238E27FC236}">
                  <a16:creationId xmlns:a16="http://schemas.microsoft.com/office/drawing/2014/main" id="{327F956D-C31B-968A-CAF2-D9F28CEB9135}"/>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Line 2637">
              <a:extLst>
                <a:ext uri="{FF2B5EF4-FFF2-40B4-BE49-F238E27FC236}">
                  <a16:creationId xmlns:a16="http://schemas.microsoft.com/office/drawing/2014/main" id="{58D5E95D-9CB8-F4B4-99B2-9EEB0E501CAF}"/>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Line 2638">
              <a:extLst>
                <a:ext uri="{FF2B5EF4-FFF2-40B4-BE49-F238E27FC236}">
                  <a16:creationId xmlns:a16="http://schemas.microsoft.com/office/drawing/2014/main" id="{FEF70FFF-B3BC-883F-7575-3AF5E5E4BD72}"/>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Line 2639">
              <a:extLst>
                <a:ext uri="{FF2B5EF4-FFF2-40B4-BE49-F238E27FC236}">
                  <a16:creationId xmlns:a16="http://schemas.microsoft.com/office/drawing/2014/main" id="{5878D348-0F8E-6177-C826-98ABB1DA47C6}"/>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Freeform 2640">
              <a:extLst>
                <a:ext uri="{FF2B5EF4-FFF2-40B4-BE49-F238E27FC236}">
                  <a16:creationId xmlns:a16="http://schemas.microsoft.com/office/drawing/2014/main" id="{FFF20370-5CEE-C88D-9151-9209572BE47D}"/>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Freeform 2641">
              <a:extLst>
                <a:ext uri="{FF2B5EF4-FFF2-40B4-BE49-F238E27FC236}">
                  <a16:creationId xmlns:a16="http://schemas.microsoft.com/office/drawing/2014/main" id="{9C674E31-36B3-4530-FBF8-28BE4C32662B}"/>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Freeform 2642">
              <a:extLst>
                <a:ext uri="{FF2B5EF4-FFF2-40B4-BE49-F238E27FC236}">
                  <a16:creationId xmlns:a16="http://schemas.microsoft.com/office/drawing/2014/main" id="{8C85425F-A329-6DC4-C929-BDC6DC0D440D}"/>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Freeform 2643">
              <a:extLst>
                <a:ext uri="{FF2B5EF4-FFF2-40B4-BE49-F238E27FC236}">
                  <a16:creationId xmlns:a16="http://schemas.microsoft.com/office/drawing/2014/main" id="{09A0373D-BFF1-0596-F23E-8F19E8E6A92D}"/>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Freeform 2644">
              <a:extLst>
                <a:ext uri="{FF2B5EF4-FFF2-40B4-BE49-F238E27FC236}">
                  <a16:creationId xmlns:a16="http://schemas.microsoft.com/office/drawing/2014/main" id="{64A12E85-F6AD-675C-EBF8-6BBC7C4DD805}"/>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Freeform 2645">
              <a:extLst>
                <a:ext uri="{FF2B5EF4-FFF2-40B4-BE49-F238E27FC236}">
                  <a16:creationId xmlns:a16="http://schemas.microsoft.com/office/drawing/2014/main" id="{7361F553-535A-AFEA-11F1-C9E0B8F509D3}"/>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25" name="Candidate" descr="{&quot;Key&quot;:&quot;POWER_USER_SHAPE_ICON&quot;,&quot;Value&quot;:&quot;POWER_USER_SHAPE_ICON_STYLE_1&quot;}">
            <a:extLst>
              <a:ext uri="{FF2B5EF4-FFF2-40B4-BE49-F238E27FC236}">
                <a16:creationId xmlns:a16="http://schemas.microsoft.com/office/drawing/2014/main" id="{165AD746-3033-A1FB-298D-6918E01ED247}"/>
              </a:ext>
            </a:extLst>
          </p:cNvPr>
          <p:cNvGrpSpPr>
            <a:grpSpLocks noChangeAspect="1"/>
          </p:cNvGrpSpPr>
          <p:nvPr/>
        </p:nvGrpSpPr>
        <p:grpSpPr>
          <a:xfrm>
            <a:off x="5529066" y="2603918"/>
            <a:ext cx="215149" cy="252000"/>
            <a:chOff x="8482013" y="4622800"/>
            <a:chExt cx="574675" cy="673101"/>
          </a:xfrm>
        </p:grpSpPr>
        <p:sp>
          <p:nvSpPr>
            <p:cNvPr id="226" name="Freeform 2635">
              <a:extLst>
                <a:ext uri="{FF2B5EF4-FFF2-40B4-BE49-F238E27FC236}">
                  <a16:creationId xmlns:a16="http://schemas.microsoft.com/office/drawing/2014/main" id="{1D605EA4-EB34-4267-0461-7B8520EFFA1C}"/>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Oval 2636">
              <a:extLst>
                <a:ext uri="{FF2B5EF4-FFF2-40B4-BE49-F238E27FC236}">
                  <a16:creationId xmlns:a16="http://schemas.microsoft.com/office/drawing/2014/main" id="{7D91BB78-2ED9-73BA-2A1A-C29782F73D5D}"/>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Line 2637">
              <a:extLst>
                <a:ext uri="{FF2B5EF4-FFF2-40B4-BE49-F238E27FC236}">
                  <a16:creationId xmlns:a16="http://schemas.microsoft.com/office/drawing/2014/main" id="{CD4CC23B-CB40-B3E4-F497-5691EA8839CA}"/>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Line 2638">
              <a:extLst>
                <a:ext uri="{FF2B5EF4-FFF2-40B4-BE49-F238E27FC236}">
                  <a16:creationId xmlns:a16="http://schemas.microsoft.com/office/drawing/2014/main" id="{D05020A3-E524-EFA0-6B6F-E2440C82C48F}"/>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Line 2639">
              <a:extLst>
                <a:ext uri="{FF2B5EF4-FFF2-40B4-BE49-F238E27FC236}">
                  <a16:creationId xmlns:a16="http://schemas.microsoft.com/office/drawing/2014/main" id="{1EBF7648-933D-597E-B041-34C2E4258467}"/>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Freeform 2640">
              <a:extLst>
                <a:ext uri="{FF2B5EF4-FFF2-40B4-BE49-F238E27FC236}">
                  <a16:creationId xmlns:a16="http://schemas.microsoft.com/office/drawing/2014/main" id="{BEA38575-A7EE-1001-A089-040809FEE4B7}"/>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Freeform 2641">
              <a:extLst>
                <a:ext uri="{FF2B5EF4-FFF2-40B4-BE49-F238E27FC236}">
                  <a16:creationId xmlns:a16="http://schemas.microsoft.com/office/drawing/2014/main" id="{84949A1F-1804-A95E-B543-02CDEB8BD678}"/>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Freeform 2642">
              <a:extLst>
                <a:ext uri="{FF2B5EF4-FFF2-40B4-BE49-F238E27FC236}">
                  <a16:creationId xmlns:a16="http://schemas.microsoft.com/office/drawing/2014/main" id="{7A83286C-2B0D-9AF4-5393-4B0D7C79329D}"/>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Freeform 2643">
              <a:extLst>
                <a:ext uri="{FF2B5EF4-FFF2-40B4-BE49-F238E27FC236}">
                  <a16:creationId xmlns:a16="http://schemas.microsoft.com/office/drawing/2014/main" id="{29A8FAD3-C5CA-D52F-E43E-E90DB8666F19}"/>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Freeform 2644">
              <a:extLst>
                <a:ext uri="{FF2B5EF4-FFF2-40B4-BE49-F238E27FC236}">
                  <a16:creationId xmlns:a16="http://schemas.microsoft.com/office/drawing/2014/main" id="{66041FA4-E32A-ED41-FCD1-564DFDF5689B}"/>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Freeform 2645">
              <a:extLst>
                <a:ext uri="{FF2B5EF4-FFF2-40B4-BE49-F238E27FC236}">
                  <a16:creationId xmlns:a16="http://schemas.microsoft.com/office/drawing/2014/main" id="{FC812309-CCEC-C1F2-303E-2CC443EA3FC8}"/>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37" name="Candidate" descr="{&quot;Key&quot;:&quot;POWER_USER_SHAPE_ICON&quot;,&quot;Value&quot;:&quot;POWER_USER_SHAPE_ICON_STYLE_1&quot;}">
            <a:extLst>
              <a:ext uri="{FF2B5EF4-FFF2-40B4-BE49-F238E27FC236}">
                <a16:creationId xmlns:a16="http://schemas.microsoft.com/office/drawing/2014/main" id="{E46C2137-1A56-59BB-2737-3EE8C8A9A0F3}"/>
              </a:ext>
            </a:extLst>
          </p:cNvPr>
          <p:cNvGrpSpPr>
            <a:grpSpLocks noChangeAspect="1"/>
          </p:cNvGrpSpPr>
          <p:nvPr/>
        </p:nvGrpSpPr>
        <p:grpSpPr>
          <a:xfrm>
            <a:off x="8736610" y="2603918"/>
            <a:ext cx="215149" cy="252000"/>
            <a:chOff x="8482013" y="4622800"/>
            <a:chExt cx="574675" cy="673101"/>
          </a:xfrm>
        </p:grpSpPr>
        <p:sp>
          <p:nvSpPr>
            <p:cNvPr id="238" name="Freeform 2635">
              <a:extLst>
                <a:ext uri="{FF2B5EF4-FFF2-40B4-BE49-F238E27FC236}">
                  <a16:creationId xmlns:a16="http://schemas.microsoft.com/office/drawing/2014/main" id="{D1C9B5BF-4DC3-12E5-617B-15BCF4446D59}"/>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Oval 2636">
              <a:extLst>
                <a:ext uri="{FF2B5EF4-FFF2-40B4-BE49-F238E27FC236}">
                  <a16:creationId xmlns:a16="http://schemas.microsoft.com/office/drawing/2014/main" id="{E7E64BFB-FB19-3169-CF50-10A127BCE606}"/>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Line 2637">
              <a:extLst>
                <a:ext uri="{FF2B5EF4-FFF2-40B4-BE49-F238E27FC236}">
                  <a16:creationId xmlns:a16="http://schemas.microsoft.com/office/drawing/2014/main" id="{6FA76D03-7BA4-3D39-92F9-706603764C6D}"/>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Line 2638">
              <a:extLst>
                <a:ext uri="{FF2B5EF4-FFF2-40B4-BE49-F238E27FC236}">
                  <a16:creationId xmlns:a16="http://schemas.microsoft.com/office/drawing/2014/main" id="{F3EEB811-7138-A2E7-0033-4DEB790EF95E}"/>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Line 2639">
              <a:extLst>
                <a:ext uri="{FF2B5EF4-FFF2-40B4-BE49-F238E27FC236}">
                  <a16:creationId xmlns:a16="http://schemas.microsoft.com/office/drawing/2014/main" id="{E30D53F7-ECAB-AD7E-AADA-05ED6FD0C387}"/>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Freeform 2640">
              <a:extLst>
                <a:ext uri="{FF2B5EF4-FFF2-40B4-BE49-F238E27FC236}">
                  <a16:creationId xmlns:a16="http://schemas.microsoft.com/office/drawing/2014/main" id="{C3D832AF-666B-C32A-769F-B0B8853D299E}"/>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2641">
              <a:extLst>
                <a:ext uri="{FF2B5EF4-FFF2-40B4-BE49-F238E27FC236}">
                  <a16:creationId xmlns:a16="http://schemas.microsoft.com/office/drawing/2014/main" id="{63FECA66-9BD5-BE0E-10E1-160F5CAA07B7}"/>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Freeform 2642">
              <a:extLst>
                <a:ext uri="{FF2B5EF4-FFF2-40B4-BE49-F238E27FC236}">
                  <a16:creationId xmlns:a16="http://schemas.microsoft.com/office/drawing/2014/main" id="{F6DF7C4D-7741-6E13-75E0-D2C708767C7F}"/>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2643">
              <a:extLst>
                <a:ext uri="{FF2B5EF4-FFF2-40B4-BE49-F238E27FC236}">
                  <a16:creationId xmlns:a16="http://schemas.microsoft.com/office/drawing/2014/main" id="{6D746F6A-A4BA-5775-F946-4BD85F634629}"/>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2644">
              <a:extLst>
                <a:ext uri="{FF2B5EF4-FFF2-40B4-BE49-F238E27FC236}">
                  <a16:creationId xmlns:a16="http://schemas.microsoft.com/office/drawing/2014/main" id="{94757670-4DC1-7479-64D3-44DC1BC882EB}"/>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Freeform 2645">
              <a:extLst>
                <a:ext uri="{FF2B5EF4-FFF2-40B4-BE49-F238E27FC236}">
                  <a16:creationId xmlns:a16="http://schemas.microsoft.com/office/drawing/2014/main" id="{2C2F10AD-879D-7848-2BA6-9B23EE76F616}"/>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53" name="ZoneTexte 252">
            <a:extLst>
              <a:ext uri="{FF2B5EF4-FFF2-40B4-BE49-F238E27FC236}">
                <a16:creationId xmlns:a16="http://schemas.microsoft.com/office/drawing/2014/main" id="{4229A8B9-4C9E-5511-D299-9CFE22F8CE7A}"/>
              </a:ext>
            </a:extLst>
          </p:cNvPr>
          <p:cNvSpPr txBox="1"/>
          <p:nvPr/>
        </p:nvSpPr>
        <p:spPr>
          <a:xfrm>
            <a:off x="3818521" y="2025050"/>
            <a:ext cx="1241102" cy="123111"/>
          </a:xfrm>
          <a:prstGeom prst="rect">
            <a:avLst/>
          </a:prstGeom>
          <a:noFill/>
        </p:spPr>
        <p:txBody>
          <a:bodyPr wrap="square" lIns="36000" tIns="0" rIns="36000" bIns="0" rtlCol="0">
            <a:spAutoFit/>
          </a:bodyPr>
          <a:lstStyle/>
          <a:p>
            <a:r>
              <a:rPr lang="en-US" sz="800"/>
              <a:t>Master sources </a:t>
            </a:r>
          </a:p>
        </p:txBody>
      </p:sp>
      <p:sp>
        <p:nvSpPr>
          <p:cNvPr id="254" name="ZoneTexte 253">
            <a:extLst>
              <a:ext uri="{FF2B5EF4-FFF2-40B4-BE49-F238E27FC236}">
                <a16:creationId xmlns:a16="http://schemas.microsoft.com/office/drawing/2014/main" id="{9CD625D9-8D0E-EFD2-7C04-B1CC95CD452C}"/>
              </a:ext>
            </a:extLst>
          </p:cNvPr>
          <p:cNvSpPr txBox="1"/>
          <p:nvPr/>
        </p:nvSpPr>
        <p:spPr>
          <a:xfrm>
            <a:off x="5398768" y="2025050"/>
            <a:ext cx="698336" cy="123111"/>
          </a:xfrm>
          <a:prstGeom prst="rect">
            <a:avLst/>
          </a:prstGeom>
          <a:noFill/>
        </p:spPr>
        <p:txBody>
          <a:bodyPr wrap="square" lIns="36000" tIns="0" rIns="36000" bIns="0" rtlCol="0">
            <a:spAutoFit/>
          </a:bodyPr>
          <a:lstStyle/>
          <a:p>
            <a:r>
              <a:rPr lang="en-US" sz="800"/>
              <a:t>Unmanaged</a:t>
            </a:r>
          </a:p>
        </p:txBody>
      </p:sp>
      <p:sp>
        <p:nvSpPr>
          <p:cNvPr id="297" name="ZoneTexte 296">
            <a:extLst>
              <a:ext uri="{FF2B5EF4-FFF2-40B4-BE49-F238E27FC236}">
                <a16:creationId xmlns:a16="http://schemas.microsoft.com/office/drawing/2014/main" id="{68D953D9-1079-BA4E-D42A-17FDF7C7D2C6}"/>
              </a:ext>
            </a:extLst>
          </p:cNvPr>
          <p:cNvSpPr txBox="1"/>
          <p:nvPr/>
        </p:nvSpPr>
        <p:spPr>
          <a:xfrm>
            <a:off x="7223552" y="2025050"/>
            <a:ext cx="1241102" cy="123111"/>
          </a:xfrm>
          <a:prstGeom prst="rect">
            <a:avLst/>
          </a:prstGeom>
          <a:noFill/>
        </p:spPr>
        <p:txBody>
          <a:bodyPr wrap="square" lIns="36000" tIns="0" rIns="36000" bIns="0" rtlCol="0">
            <a:spAutoFit/>
          </a:bodyPr>
          <a:lstStyle/>
          <a:p>
            <a:r>
              <a:rPr lang="en-US" sz="800"/>
              <a:t>Master sources </a:t>
            </a:r>
          </a:p>
        </p:txBody>
      </p:sp>
      <p:sp>
        <p:nvSpPr>
          <p:cNvPr id="298" name="ZoneTexte 297">
            <a:extLst>
              <a:ext uri="{FF2B5EF4-FFF2-40B4-BE49-F238E27FC236}">
                <a16:creationId xmlns:a16="http://schemas.microsoft.com/office/drawing/2014/main" id="{2C07BFD3-FE9E-0155-50F7-98A64347AC2B}"/>
              </a:ext>
            </a:extLst>
          </p:cNvPr>
          <p:cNvSpPr txBox="1"/>
          <p:nvPr/>
        </p:nvSpPr>
        <p:spPr>
          <a:xfrm>
            <a:off x="8622639" y="2025050"/>
            <a:ext cx="698336" cy="123111"/>
          </a:xfrm>
          <a:prstGeom prst="rect">
            <a:avLst/>
          </a:prstGeom>
          <a:noFill/>
        </p:spPr>
        <p:txBody>
          <a:bodyPr wrap="square" lIns="36000" tIns="0" rIns="36000" bIns="0" rtlCol="0">
            <a:spAutoFit/>
          </a:bodyPr>
          <a:lstStyle/>
          <a:p>
            <a:r>
              <a:rPr lang="en-US" sz="800"/>
              <a:t>Unmanaged</a:t>
            </a:r>
          </a:p>
        </p:txBody>
      </p:sp>
      <p:grpSp>
        <p:nvGrpSpPr>
          <p:cNvPr id="61" name="Process_automation" descr="{&quot;Key&quot;:&quot;POWER_USER_SHAPE_ICON&quot;,&quot;Value&quot;:&quot;POWER_USER_SHAPE_ICON_STYLE_1&quot;}">
            <a:extLst>
              <a:ext uri="{FF2B5EF4-FFF2-40B4-BE49-F238E27FC236}">
                <a16:creationId xmlns:a16="http://schemas.microsoft.com/office/drawing/2014/main" id="{F6646526-A261-3C61-D859-6AD0F6951737}"/>
              </a:ext>
            </a:extLst>
          </p:cNvPr>
          <p:cNvGrpSpPr>
            <a:grpSpLocks noChangeAspect="1"/>
          </p:cNvGrpSpPr>
          <p:nvPr>
            <p:custDataLst>
              <p:tags r:id="rId4"/>
            </p:custDataLst>
          </p:nvPr>
        </p:nvGrpSpPr>
        <p:grpSpPr>
          <a:xfrm rot="16200000">
            <a:off x="937505" y="6614500"/>
            <a:ext cx="216000" cy="216000"/>
            <a:chOff x="7174578" y="3191054"/>
            <a:chExt cx="656155" cy="653975"/>
          </a:xfrm>
          <a:noFill/>
        </p:grpSpPr>
        <p:grpSp>
          <p:nvGrpSpPr>
            <p:cNvPr id="62" name="Resource_allocation">
              <a:extLst>
                <a:ext uri="{FF2B5EF4-FFF2-40B4-BE49-F238E27FC236}">
                  <a16:creationId xmlns:a16="http://schemas.microsoft.com/office/drawing/2014/main" id="{DC5D8CBD-A7AF-EBD9-39A0-2D90AA9A5122}"/>
                </a:ext>
              </a:extLst>
            </p:cNvPr>
            <p:cNvGrpSpPr>
              <a:grpSpLocks noChangeAspect="1"/>
            </p:cNvGrpSpPr>
            <p:nvPr>
              <p:custDataLst>
                <p:tags r:id="rId5"/>
              </p:custDataLst>
            </p:nvPr>
          </p:nvGrpSpPr>
          <p:grpSpPr>
            <a:xfrm>
              <a:off x="7174578" y="3362978"/>
              <a:ext cx="656155" cy="309690"/>
              <a:chOff x="6249988" y="3989388"/>
              <a:chExt cx="1076325" cy="508000"/>
            </a:xfrm>
            <a:grpFill/>
          </p:grpSpPr>
          <p:sp>
            <p:nvSpPr>
              <p:cNvPr id="66" name="Freeform 90">
                <a:extLst>
                  <a:ext uri="{FF2B5EF4-FFF2-40B4-BE49-F238E27FC236}">
                    <a16:creationId xmlns:a16="http://schemas.microsoft.com/office/drawing/2014/main" id="{921A4CCA-F1BD-71ED-CAC4-3CA211D14609}"/>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Freeform 91">
                <a:extLst>
                  <a:ext uri="{FF2B5EF4-FFF2-40B4-BE49-F238E27FC236}">
                    <a16:creationId xmlns:a16="http://schemas.microsoft.com/office/drawing/2014/main" id="{61A52252-8180-1FED-4D78-BF8881B2A93E}"/>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reeform 92">
                <a:extLst>
                  <a:ext uri="{FF2B5EF4-FFF2-40B4-BE49-F238E27FC236}">
                    <a16:creationId xmlns:a16="http://schemas.microsoft.com/office/drawing/2014/main" id="{E4256E71-5C40-8060-7D05-118B8118E17B}"/>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93">
                <a:extLst>
                  <a:ext uri="{FF2B5EF4-FFF2-40B4-BE49-F238E27FC236}">
                    <a16:creationId xmlns:a16="http://schemas.microsoft.com/office/drawing/2014/main" id="{FA356B6F-3F35-7CB8-5848-9D1EFC7C87B4}"/>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3" name="Target">
              <a:extLst>
                <a:ext uri="{FF2B5EF4-FFF2-40B4-BE49-F238E27FC236}">
                  <a16:creationId xmlns:a16="http://schemas.microsoft.com/office/drawing/2014/main" id="{DA898BD6-B9B3-90A3-7E70-49FBA5EDE3EC}"/>
                </a:ext>
              </a:extLst>
            </p:cNvPr>
            <p:cNvSpPr>
              <a:spLocks noChangeAspect="1"/>
            </p:cNvSpPr>
            <p:nvPr>
              <p:custDataLst>
                <p:tags r:id="rId6"/>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arget">
              <a:extLst>
                <a:ext uri="{FF2B5EF4-FFF2-40B4-BE49-F238E27FC236}">
                  <a16:creationId xmlns:a16="http://schemas.microsoft.com/office/drawing/2014/main" id="{3C3773C5-104A-DCE6-D38B-2DB1941E48CD}"/>
                </a:ext>
              </a:extLst>
            </p:cNvPr>
            <p:cNvSpPr>
              <a:spLocks noChangeAspect="1"/>
            </p:cNvSpPr>
            <p:nvPr>
              <p:custDataLst>
                <p:tags r:id="rId7"/>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5" name="Candidate" descr="{&quot;Key&quot;:&quot;POWER_USER_SHAPE_ICON&quot;,&quot;Value&quot;:&quot;POWER_USER_SHAPE_ICON_STYLE_1&quot;}">
            <a:extLst>
              <a:ext uri="{FF2B5EF4-FFF2-40B4-BE49-F238E27FC236}">
                <a16:creationId xmlns:a16="http://schemas.microsoft.com/office/drawing/2014/main" id="{2BFABC2F-2BA0-AC08-CC35-F905969D83CD}"/>
              </a:ext>
            </a:extLst>
          </p:cNvPr>
          <p:cNvGrpSpPr>
            <a:grpSpLocks noChangeAspect="1"/>
          </p:cNvGrpSpPr>
          <p:nvPr/>
        </p:nvGrpSpPr>
        <p:grpSpPr>
          <a:xfrm>
            <a:off x="2786555" y="6598003"/>
            <a:ext cx="153678" cy="180000"/>
            <a:chOff x="8482013" y="4622800"/>
            <a:chExt cx="574675" cy="673101"/>
          </a:xfrm>
        </p:grpSpPr>
        <p:sp>
          <p:nvSpPr>
            <p:cNvPr id="76" name="Freeform 2635">
              <a:extLst>
                <a:ext uri="{FF2B5EF4-FFF2-40B4-BE49-F238E27FC236}">
                  <a16:creationId xmlns:a16="http://schemas.microsoft.com/office/drawing/2014/main" id="{8111589F-0E0E-15B4-81BC-031884D44F32}"/>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Oval 2636">
              <a:extLst>
                <a:ext uri="{FF2B5EF4-FFF2-40B4-BE49-F238E27FC236}">
                  <a16:creationId xmlns:a16="http://schemas.microsoft.com/office/drawing/2014/main" id="{78A1C240-DC23-58F7-2F51-F0EED53DC90E}"/>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Line 2637">
              <a:extLst>
                <a:ext uri="{FF2B5EF4-FFF2-40B4-BE49-F238E27FC236}">
                  <a16:creationId xmlns:a16="http://schemas.microsoft.com/office/drawing/2014/main" id="{04F00F4E-BD1B-7639-192E-1CC0214A4E02}"/>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Line 2638">
              <a:extLst>
                <a:ext uri="{FF2B5EF4-FFF2-40B4-BE49-F238E27FC236}">
                  <a16:creationId xmlns:a16="http://schemas.microsoft.com/office/drawing/2014/main" id="{278F4265-0705-5726-8919-FE76FBC273C6}"/>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Line 2639">
              <a:extLst>
                <a:ext uri="{FF2B5EF4-FFF2-40B4-BE49-F238E27FC236}">
                  <a16:creationId xmlns:a16="http://schemas.microsoft.com/office/drawing/2014/main" id="{E41B8B18-3266-8C4C-93E3-201792CD04CD}"/>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2640">
              <a:extLst>
                <a:ext uri="{FF2B5EF4-FFF2-40B4-BE49-F238E27FC236}">
                  <a16:creationId xmlns:a16="http://schemas.microsoft.com/office/drawing/2014/main" id="{6BCCCD3C-E3DA-E4A8-AD15-EC94F22F0555}"/>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2641">
              <a:extLst>
                <a:ext uri="{FF2B5EF4-FFF2-40B4-BE49-F238E27FC236}">
                  <a16:creationId xmlns:a16="http://schemas.microsoft.com/office/drawing/2014/main" id="{888D46A9-401C-CD9B-791B-AAACA5B52F61}"/>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2642">
              <a:extLst>
                <a:ext uri="{FF2B5EF4-FFF2-40B4-BE49-F238E27FC236}">
                  <a16:creationId xmlns:a16="http://schemas.microsoft.com/office/drawing/2014/main" id="{63088622-1621-87B9-C745-147D28F78AA6}"/>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Freeform 2643">
              <a:extLst>
                <a:ext uri="{FF2B5EF4-FFF2-40B4-BE49-F238E27FC236}">
                  <a16:creationId xmlns:a16="http://schemas.microsoft.com/office/drawing/2014/main" id="{238158F9-BA08-BDF5-52B5-184FC319545C}"/>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2644">
              <a:extLst>
                <a:ext uri="{FF2B5EF4-FFF2-40B4-BE49-F238E27FC236}">
                  <a16:creationId xmlns:a16="http://schemas.microsoft.com/office/drawing/2014/main" id="{157B8484-34DF-6ABB-FDD0-33BAB5963126}"/>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2645">
              <a:extLst>
                <a:ext uri="{FF2B5EF4-FFF2-40B4-BE49-F238E27FC236}">
                  <a16:creationId xmlns:a16="http://schemas.microsoft.com/office/drawing/2014/main" id="{E842F82F-3A05-D4DB-A689-E61C309CF118}"/>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8" name="ZoneTexte 87">
            <a:extLst>
              <a:ext uri="{FF2B5EF4-FFF2-40B4-BE49-F238E27FC236}">
                <a16:creationId xmlns:a16="http://schemas.microsoft.com/office/drawing/2014/main" id="{C6ECC9BD-77E3-C3FD-1088-111B73113827}"/>
              </a:ext>
            </a:extLst>
          </p:cNvPr>
          <p:cNvSpPr txBox="1"/>
          <p:nvPr/>
        </p:nvSpPr>
        <p:spPr>
          <a:xfrm>
            <a:off x="1205774" y="6636229"/>
            <a:ext cx="1297761" cy="123111"/>
          </a:xfrm>
          <a:prstGeom prst="rect">
            <a:avLst/>
          </a:prstGeom>
          <a:noFill/>
        </p:spPr>
        <p:txBody>
          <a:bodyPr wrap="square" lIns="36000" tIns="0" rIns="36000" bIns="0" rtlCol="0">
            <a:spAutoFit/>
          </a:bodyPr>
          <a:lstStyle/>
          <a:p>
            <a:r>
              <a:rPr lang="en-US" sz="800"/>
              <a:t>Automatic synchronization</a:t>
            </a:r>
          </a:p>
        </p:txBody>
      </p:sp>
      <p:sp>
        <p:nvSpPr>
          <p:cNvPr id="89" name="ZoneTexte 88">
            <a:extLst>
              <a:ext uri="{FF2B5EF4-FFF2-40B4-BE49-F238E27FC236}">
                <a16:creationId xmlns:a16="http://schemas.microsoft.com/office/drawing/2014/main" id="{1DEF4312-A4E5-41DB-752D-85DC290ADE82}"/>
              </a:ext>
            </a:extLst>
          </p:cNvPr>
          <p:cNvSpPr txBox="1"/>
          <p:nvPr/>
        </p:nvSpPr>
        <p:spPr>
          <a:xfrm>
            <a:off x="185204" y="6639504"/>
            <a:ext cx="743652" cy="138499"/>
          </a:xfrm>
          <a:prstGeom prst="rect">
            <a:avLst/>
          </a:prstGeom>
          <a:noFill/>
        </p:spPr>
        <p:txBody>
          <a:bodyPr wrap="square" lIns="36000" tIns="0" rIns="36000" bIns="0" rtlCol="0">
            <a:spAutoFit/>
          </a:bodyPr>
          <a:lstStyle/>
          <a:p>
            <a:r>
              <a:rPr lang="en-US" sz="900"/>
              <a:t>Legend</a:t>
            </a:r>
          </a:p>
        </p:txBody>
      </p:sp>
      <p:sp>
        <p:nvSpPr>
          <p:cNvPr id="90" name="Rectangle 89">
            <a:extLst>
              <a:ext uri="{FF2B5EF4-FFF2-40B4-BE49-F238E27FC236}">
                <a16:creationId xmlns:a16="http://schemas.microsoft.com/office/drawing/2014/main" id="{6C22832E-DCCB-6CFC-7F80-9CBFC6C046F6}"/>
              </a:ext>
            </a:extLst>
          </p:cNvPr>
          <p:cNvSpPr/>
          <p:nvPr/>
        </p:nvSpPr>
        <p:spPr>
          <a:xfrm>
            <a:off x="142327" y="6569927"/>
            <a:ext cx="3766943" cy="288073"/>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ZoneTexte 90">
            <a:extLst>
              <a:ext uri="{FF2B5EF4-FFF2-40B4-BE49-F238E27FC236}">
                <a16:creationId xmlns:a16="http://schemas.microsoft.com/office/drawing/2014/main" id="{CDF6CF25-24EC-38FE-58E4-9CEE8C38B0ED}"/>
              </a:ext>
            </a:extLst>
          </p:cNvPr>
          <p:cNvSpPr txBox="1"/>
          <p:nvPr/>
        </p:nvSpPr>
        <p:spPr>
          <a:xfrm>
            <a:off x="2995134" y="6636229"/>
            <a:ext cx="1297761" cy="123111"/>
          </a:xfrm>
          <a:prstGeom prst="rect">
            <a:avLst/>
          </a:prstGeom>
          <a:noFill/>
        </p:spPr>
        <p:txBody>
          <a:bodyPr wrap="square" lIns="36000" tIns="0" rIns="36000" bIns="0" rtlCol="0">
            <a:spAutoFit/>
          </a:bodyPr>
          <a:lstStyle/>
          <a:p>
            <a:r>
              <a:rPr lang="en-US" sz="800"/>
              <a:t>Manual creation</a:t>
            </a:r>
          </a:p>
        </p:txBody>
      </p:sp>
      <p:sp>
        <p:nvSpPr>
          <p:cNvPr id="57" name="Rectangle : coins arrondis 56">
            <a:extLst>
              <a:ext uri="{FF2B5EF4-FFF2-40B4-BE49-F238E27FC236}">
                <a16:creationId xmlns:a16="http://schemas.microsoft.com/office/drawing/2014/main" id="{30C85F7C-D53D-AA83-BC72-F03D4F6E60E9}"/>
              </a:ext>
            </a:extLst>
          </p:cNvPr>
          <p:cNvSpPr/>
          <p:nvPr/>
        </p:nvSpPr>
        <p:spPr>
          <a:xfrm>
            <a:off x="538200" y="3032409"/>
            <a:ext cx="9196348" cy="2570027"/>
          </a:xfrm>
          <a:prstGeom prst="roundRect">
            <a:avLst/>
          </a:prstGeom>
          <a:noFill/>
          <a:ln w="19050" cap="flat" cmpd="sng" algn="ctr">
            <a:solidFill>
              <a:srgbClr val="003C5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Montserrat"/>
                <a:ea typeface="+mn-ea"/>
                <a:cs typeface="+mn-cs"/>
              </a:rPr>
              <a:t> </a:t>
            </a:r>
          </a:p>
        </p:txBody>
      </p:sp>
      <p:sp>
        <p:nvSpPr>
          <p:cNvPr id="6" name="Titre 5">
            <a:extLst>
              <a:ext uri="{FF2B5EF4-FFF2-40B4-BE49-F238E27FC236}">
                <a16:creationId xmlns:a16="http://schemas.microsoft.com/office/drawing/2014/main" id="{EACC9B09-68D8-98B3-02FD-C4CB9506AA2C}"/>
              </a:ext>
            </a:extLst>
          </p:cNvPr>
          <p:cNvSpPr>
            <a:spLocks noGrp="1"/>
          </p:cNvSpPr>
          <p:nvPr>
            <p:ph type="title"/>
          </p:nvPr>
        </p:nvSpPr>
        <p:spPr>
          <a:xfrm>
            <a:off x="975736" y="512587"/>
            <a:ext cx="9145587" cy="609398"/>
          </a:xfrm>
        </p:spPr>
        <p:txBody>
          <a:bodyPr/>
          <a:lstStyle/>
          <a:p>
            <a:r>
              <a:rPr lang="fr-FR" sz="3600" dirty="0"/>
              <a:t>HOW IGA WORKS ?</a:t>
            </a:r>
            <a:br>
              <a:rPr lang="fr-FR"/>
            </a:br>
            <a:r>
              <a:rPr lang="fr-FR" sz="2000" dirty="0"/>
              <a:t>GLOBAL OVERVIEW</a:t>
            </a:r>
          </a:p>
        </p:txBody>
      </p:sp>
      <p:pic>
        <p:nvPicPr>
          <p:cNvPr id="2" name="Image 2">
            <a:extLst>
              <a:ext uri="{FF2B5EF4-FFF2-40B4-BE49-F238E27FC236}">
                <a16:creationId xmlns:a16="http://schemas.microsoft.com/office/drawing/2014/main" id="{8181737C-6697-D33D-343F-314ECEFFFD84}"/>
              </a:ext>
            </a:extLst>
          </p:cNvPr>
          <p:cNvPicPr>
            <a:picLocks noChangeAspect="1"/>
          </p:cNvPicPr>
          <p:nvPr/>
        </p:nvPicPr>
        <p:blipFill>
          <a:blip r:embed="rId21"/>
          <a:stretch>
            <a:fillRect/>
          </a:stretch>
        </p:blipFill>
        <p:spPr>
          <a:xfrm>
            <a:off x="921946" y="2146650"/>
            <a:ext cx="372836" cy="308388"/>
          </a:xfrm>
          <a:prstGeom prst="rect">
            <a:avLst/>
          </a:prstGeom>
        </p:spPr>
      </p:pic>
      <p:pic>
        <p:nvPicPr>
          <p:cNvPr id="3" name="Image 6">
            <a:extLst>
              <a:ext uri="{FF2B5EF4-FFF2-40B4-BE49-F238E27FC236}">
                <a16:creationId xmlns:a16="http://schemas.microsoft.com/office/drawing/2014/main" id="{7812BDBE-F935-FEE3-FFCC-EF2AD60D982D}"/>
              </a:ext>
            </a:extLst>
          </p:cNvPr>
          <p:cNvPicPr>
            <a:picLocks noChangeAspect="1"/>
          </p:cNvPicPr>
          <p:nvPr/>
        </p:nvPicPr>
        <p:blipFill>
          <a:blip r:embed="rId22"/>
          <a:stretch>
            <a:fillRect/>
          </a:stretch>
        </p:blipFill>
        <p:spPr>
          <a:xfrm>
            <a:off x="2241034" y="2155434"/>
            <a:ext cx="347230" cy="280926"/>
          </a:xfrm>
          <a:prstGeom prst="rect">
            <a:avLst/>
          </a:prstGeom>
        </p:spPr>
      </p:pic>
      <p:pic>
        <p:nvPicPr>
          <p:cNvPr id="7" name="Image 7" descr="Une image contenant texte, clipart&#10;&#10;Description générée automatiquement">
            <a:extLst>
              <a:ext uri="{FF2B5EF4-FFF2-40B4-BE49-F238E27FC236}">
                <a16:creationId xmlns:a16="http://schemas.microsoft.com/office/drawing/2014/main" id="{3AFDED92-BBE7-3E67-4A5D-C09A8B1901E0}"/>
              </a:ext>
            </a:extLst>
          </p:cNvPr>
          <p:cNvPicPr>
            <a:picLocks noChangeAspect="1"/>
          </p:cNvPicPr>
          <p:nvPr/>
        </p:nvPicPr>
        <p:blipFill>
          <a:blip r:embed="rId23"/>
          <a:stretch>
            <a:fillRect/>
          </a:stretch>
        </p:blipFill>
        <p:spPr>
          <a:xfrm>
            <a:off x="3955287" y="2147764"/>
            <a:ext cx="382362" cy="306162"/>
          </a:xfrm>
          <a:prstGeom prst="rect">
            <a:avLst/>
          </a:prstGeom>
        </p:spPr>
      </p:pic>
      <p:pic>
        <p:nvPicPr>
          <p:cNvPr id="8" name="Image 8" descr="Une image contenant texte, clipart&#10;&#10;Description générée automatiquement">
            <a:extLst>
              <a:ext uri="{FF2B5EF4-FFF2-40B4-BE49-F238E27FC236}">
                <a16:creationId xmlns:a16="http://schemas.microsoft.com/office/drawing/2014/main" id="{B9AEFFB5-3807-35CA-CADE-2E0A387990B1}"/>
              </a:ext>
            </a:extLst>
          </p:cNvPr>
          <p:cNvPicPr>
            <a:picLocks noChangeAspect="1"/>
          </p:cNvPicPr>
          <p:nvPr/>
        </p:nvPicPr>
        <p:blipFill>
          <a:blip r:embed="rId24"/>
          <a:stretch>
            <a:fillRect/>
          </a:stretch>
        </p:blipFill>
        <p:spPr>
          <a:xfrm>
            <a:off x="5481823" y="2151784"/>
            <a:ext cx="288225" cy="308017"/>
          </a:xfrm>
          <a:prstGeom prst="rect">
            <a:avLst/>
          </a:prstGeom>
        </p:spPr>
      </p:pic>
      <p:pic>
        <p:nvPicPr>
          <p:cNvPr id="9" name="Image 9" descr="Une image contenant texte&#10;&#10;Description générée automatiquement">
            <a:extLst>
              <a:ext uri="{FF2B5EF4-FFF2-40B4-BE49-F238E27FC236}">
                <a16:creationId xmlns:a16="http://schemas.microsoft.com/office/drawing/2014/main" id="{12DCE008-B00B-0DDE-6651-B5C6416B202B}"/>
              </a:ext>
            </a:extLst>
          </p:cNvPr>
          <p:cNvPicPr>
            <a:picLocks noChangeAspect="1"/>
          </p:cNvPicPr>
          <p:nvPr/>
        </p:nvPicPr>
        <p:blipFill>
          <a:blip r:embed="rId25"/>
          <a:stretch>
            <a:fillRect/>
          </a:stretch>
        </p:blipFill>
        <p:spPr>
          <a:xfrm>
            <a:off x="7354413" y="2127229"/>
            <a:ext cx="392628" cy="327438"/>
          </a:xfrm>
          <a:prstGeom prst="rect">
            <a:avLst/>
          </a:prstGeom>
        </p:spPr>
      </p:pic>
      <p:pic>
        <p:nvPicPr>
          <p:cNvPr id="10" name="Image 11">
            <a:extLst>
              <a:ext uri="{FF2B5EF4-FFF2-40B4-BE49-F238E27FC236}">
                <a16:creationId xmlns:a16="http://schemas.microsoft.com/office/drawing/2014/main" id="{F9163210-AE2B-27F2-3C92-8CCDD8E5D953}"/>
              </a:ext>
            </a:extLst>
          </p:cNvPr>
          <p:cNvPicPr>
            <a:picLocks noChangeAspect="1"/>
          </p:cNvPicPr>
          <p:nvPr/>
        </p:nvPicPr>
        <p:blipFill>
          <a:blip r:embed="rId26"/>
          <a:stretch>
            <a:fillRect/>
          </a:stretch>
        </p:blipFill>
        <p:spPr>
          <a:xfrm>
            <a:off x="8691809" y="2136012"/>
            <a:ext cx="280926" cy="329664"/>
          </a:xfrm>
          <a:prstGeom prst="rect">
            <a:avLst/>
          </a:prstGeom>
        </p:spPr>
      </p:pic>
    </p:spTree>
    <p:extLst>
      <p:ext uri="{BB962C8B-B14F-4D97-AF65-F5344CB8AC3E}">
        <p14:creationId xmlns:p14="http://schemas.microsoft.com/office/powerpoint/2010/main" val="3282120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ctangle 319">
            <a:extLst>
              <a:ext uri="{FF2B5EF4-FFF2-40B4-BE49-F238E27FC236}">
                <a16:creationId xmlns:a16="http://schemas.microsoft.com/office/drawing/2014/main" id="{AA7FC625-1012-E3F8-8FB5-5EF4D651D3C0}"/>
              </a:ext>
            </a:extLst>
          </p:cNvPr>
          <p:cNvSpPr/>
          <p:nvPr/>
        </p:nvSpPr>
        <p:spPr>
          <a:xfrm>
            <a:off x="0" y="1193179"/>
            <a:ext cx="12192000" cy="5319229"/>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a:extLst>
              <a:ext uri="{FF2B5EF4-FFF2-40B4-BE49-F238E27FC236}">
                <a16:creationId xmlns:a16="http://schemas.microsoft.com/office/drawing/2014/main" id="{BDF74943-FC8C-163F-BE04-08CF12E689DF}"/>
              </a:ext>
            </a:extLst>
          </p:cNvPr>
          <p:cNvSpPr txBox="1"/>
          <p:nvPr/>
        </p:nvSpPr>
        <p:spPr>
          <a:xfrm>
            <a:off x="3705846" y="3771169"/>
            <a:ext cx="2700000" cy="646331"/>
          </a:xfrm>
          <a:prstGeom prst="rect">
            <a:avLst/>
          </a:prstGeom>
          <a:noFill/>
          <a:ln>
            <a:solidFill>
              <a:srgbClr val="512B1B"/>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0" dirty="0">
                <a:solidFill>
                  <a:srgbClr val="003C5A"/>
                </a:solidFill>
              </a:rPr>
              <a:t>Grant accesses with rules and roles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Implement workflows when needed</a:t>
            </a:r>
          </a:p>
        </p:txBody>
      </p:sp>
      <p:sp>
        <p:nvSpPr>
          <p:cNvPr id="4" name="Espace réservé du pied de page 3">
            <a:extLst>
              <a:ext uri="{FF2B5EF4-FFF2-40B4-BE49-F238E27FC236}">
                <a16:creationId xmlns:a16="http://schemas.microsoft.com/office/drawing/2014/main" id="{07BA8A4D-EFB0-072A-3372-C93DB2A55F0F}"/>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CB9776F5-C7F7-20C8-2A72-029DA1938857}"/>
              </a:ext>
            </a:extLst>
          </p:cNvPr>
          <p:cNvSpPr>
            <a:spLocks noGrp="1"/>
          </p:cNvSpPr>
          <p:nvPr>
            <p:ph type="sldNum" sz="quarter" idx="14"/>
          </p:nvPr>
        </p:nvSpPr>
        <p:spPr/>
        <p:txBody>
          <a:bodyPr/>
          <a:lstStyle/>
          <a:p>
            <a:r>
              <a:rPr lang="fr-FR"/>
              <a:t>| </a:t>
            </a:r>
            <a:fld id="{C2EBF694-A8F9-4F06-8F8E-D09447FAA2D5}" type="slidenum">
              <a:rPr smtClean="0"/>
              <a:pPr/>
              <a:t>12</a:t>
            </a:fld>
            <a:endParaRPr/>
          </a:p>
        </p:txBody>
      </p:sp>
      <p:sp>
        <p:nvSpPr>
          <p:cNvPr id="69" name="ZoneTexte 68">
            <a:extLst>
              <a:ext uri="{FF2B5EF4-FFF2-40B4-BE49-F238E27FC236}">
                <a16:creationId xmlns:a16="http://schemas.microsoft.com/office/drawing/2014/main" id="{2208C453-E906-7757-F3B8-12153118DF69}"/>
              </a:ext>
            </a:extLst>
          </p:cNvPr>
          <p:cNvSpPr txBox="1"/>
          <p:nvPr/>
        </p:nvSpPr>
        <p:spPr>
          <a:xfrm>
            <a:off x="658547" y="3771169"/>
            <a:ext cx="2700000" cy="646331"/>
          </a:xfrm>
          <a:prstGeom prst="rect">
            <a:avLst/>
          </a:prstGeom>
          <a:noFill/>
          <a:ln>
            <a:solidFill>
              <a:schemeClr val="tx1"/>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Integrate users and organization data</a:t>
            </a:r>
            <a:endParaRPr lang="en-US" sz="1200" kern="0" dirty="0">
              <a:solidFill>
                <a:srgbClr val="003C5A"/>
              </a:solidFill>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Keep users’ information up to date</a:t>
            </a:r>
          </a:p>
        </p:txBody>
      </p:sp>
      <p:sp>
        <p:nvSpPr>
          <p:cNvPr id="71" name="ZoneTexte 70">
            <a:extLst>
              <a:ext uri="{FF2B5EF4-FFF2-40B4-BE49-F238E27FC236}">
                <a16:creationId xmlns:a16="http://schemas.microsoft.com/office/drawing/2014/main" id="{2A48D257-A234-9368-5A85-9AB5857CAB50}"/>
              </a:ext>
            </a:extLst>
          </p:cNvPr>
          <p:cNvSpPr txBox="1"/>
          <p:nvPr/>
        </p:nvSpPr>
        <p:spPr>
          <a:xfrm>
            <a:off x="1485714" y="5044754"/>
            <a:ext cx="7200000" cy="276999"/>
          </a:xfrm>
          <a:prstGeom prst="rect">
            <a:avLst/>
          </a:prstGeom>
          <a:noFill/>
          <a:ln>
            <a:solidFill>
              <a:srgbClr val="512B1B"/>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3C5A"/>
                </a:solidFill>
                <a:effectLst/>
                <a:uLnTx/>
                <a:uFillTx/>
              </a:rPr>
              <a:t>Execute controls to validate accesses and provide KPIs</a:t>
            </a:r>
          </a:p>
        </p:txBody>
      </p:sp>
      <p:sp>
        <p:nvSpPr>
          <p:cNvPr id="72" name="ZoneTexte 71">
            <a:extLst>
              <a:ext uri="{FF2B5EF4-FFF2-40B4-BE49-F238E27FC236}">
                <a16:creationId xmlns:a16="http://schemas.microsoft.com/office/drawing/2014/main" id="{4D594AF1-72A9-9FEB-CB2C-F7B591C8A254}"/>
              </a:ext>
            </a:extLst>
          </p:cNvPr>
          <p:cNvSpPr txBox="1"/>
          <p:nvPr/>
        </p:nvSpPr>
        <p:spPr>
          <a:xfrm>
            <a:off x="6753146" y="3771169"/>
            <a:ext cx="2844000" cy="646331"/>
          </a:xfrm>
          <a:prstGeom prst="rect">
            <a:avLst/>
          </a:prstGeom>
          <a:noFill/>
          <a:ln>
            <a:solidFill>
              <a:srgbClr val="512B1B"/>
            </a:solidFill>
          </a:ln>
        </p:spPr>
        <p:txBody>
          <a:bodyPr wrap="square" rtlCol="0">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Get applications data</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3C5A"/>
                </a:solidFill>
                <a:effectLst/>
                <a:uLnTx/>
                <a:uFillTx/>
              </a:rPr>
              <a:t>(de)provision accounts &amp; accesses directly or via ticket</a:t>
            </a:r>
          </a:p>
        </p:txBody>
      </p:sp>
      <p:sp>
        <p:nvSpPr>
          <p:cNvPr id="11" name="Titre 1">
            <a:extLst>
              <a:ext uri="{FF2B5EF4-FFF2-40B4-BE49-F238E27FC236}">
                <a16:creationId xmlns:a16="http://schemas.microsoft.com/office/drawing/2014/main" id="{54D0032B-1B6B-1077-D009-93C3B7214069}"/>
              </a:ext>
            </a:extLst>
          </p:cNvPr>
          <p:cNvSpPr txBox="1">
            <a:spLocks/>
          </p:cNvSpPr>
          <p:nvPr/>
        </p:nvSpPr>
        <p:spPr>
          <a:xfrm>
            <a:off x="4226100" y="5720435"/>
            <a:ext cx="4473257" cy="287981"/>
          </a:xfrm>
          <a:prstGeom prst="rect">
            <a:avLst/>
          </a:prstGeom>
        </p:spPr>
        <p:txBody>
          <a:bodyPr vert="horz" lIns="36000" tIns="0" rIns="36000" bIns="0" rtlCol="0" anchor="ctr">
            <a:noAutofit/>
          </a:bodyPr>
          <a:lstStyle>
            <a:lvl1pPr algn="l" defTabSz="914400" rtl="0" eaLnBrk="1" latinLnBrk="0" hangingPunct="1">
              <a:lnSpc>
                <a:spcPct val="90000"/>
              </a:lnSpc>
              <a:spcBef>
                <a:spcPct val="0"/>
              </a:spcBef>
              <a:buNone/>
              <a:defRPr sz="4400" b="1" kern="1200" cap="all" baseline="0">
                <a:solidFill>
                  <a:schemeClr val="tx2"/>
                </a:solidFill>
                <a:latin typeface="+mj-lt"/>
                <a:ea typeface="+mj-ea"/>
                <a:cs typeface="+mj-cs"/>
              </a:defRPr>
            </a:lvl1pPr>
          </a:lstStyle>
          <a:p>
            <a:r>
              <a:rPr lang="en-US" sz="1800">
                <a:solidFill>
                  <a:schemeClr val="tx1"/>
                </a:solidFill>
              </a:rPr>
              <a:t>IGA main features</a:t>
            </a:r>
          </a:p>
        </p:txBody>
      </p:sp>
      <p:sp>
        <p:nvSpPr>
          <p:cNvPr id="25" name="Rectangle : coins arrondis 24">
            <a:extLst>
              <a:ext uri="{FF2B5EF4-FFF2-40B4-BE49-F238E27FC236}">
                <a16:creationId xmlns:a16="http://schemas.microsoft.com/office/drawing/2014/main" id="{854E8644-52C8-7478-BEFC-4F50107C1961}"/>
              </a:ext>
            </a:extLst>
          </p:cNvPr>
          <p:cNvSpPr/>
          <p:nvPr/>
        </p:nvSpPr>
        <p:spPr>
          <a:xfrm>
            <a:off x="538199" y="1485072"/>
            <a:ext cx="9196349" cy="1254670"/>
          </a:xfrm>
          <a:prstGeom prst="roundRect">
            <a:avLst/>
          </a:prstGeom>
          <a:noFill/>
          <a:ln w="19050" cap="flat" cmpd="sng" algn="ctr">
            <a:solidFill>
              <a:srgbClr val="003C5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Montserrat"/>
                <a:ea typeface="+mn-ea"/>
                <a:cs typeface="+mn-cs"/>
              </a:rPr>
              <a:t> </a:t>
            </a:r>
          </a:p>
        </p:txBody>
      </p:sp>
      <p:sp>
        <p:nvSpPr>
          <p:cNvPr id="26" name="Titre 1">
            <a:extLst>
              <a:ext uri="{FF2B5EF4-FFF2-40B4-BE49-F238E27FC236}">
                <a16:creationId xmlns:a16="http://schemas.microsoft.com/office/drawing/2014/main" id="{ED09CA2F-0A72-97B6-50A1-C0A01E559914}"/>
              </a:ext>
            </a:extLst>
          </p:cNvPr>
          <p:cNvSpPr txBox="1">
            <a:spLocks/>
          </p:cNvSpPr>
          <p:nvPr/>
        </p:nvSpPr>
        <p:spPr>
          <a:xfrm>
            <a:off x="4366472" y="1193179"/>
            <a:ext cx="4473257" cy="287981"/>
          </a:xfrm>
          <a:prstGeom prst="rect">
            <a:avLst/>
          </a:prstGeom>
        </p:spPr>
        <p:txBody>
          <a:bodyPr vert="horz" lIns="36000" tIns="0" rIns="36000" bIns="0" rtlCol="0" anchor="ctr">
            <a:noAutofit/>
          </a:bodyPr>
          <a:lstStyle>
            <a:lvl1pPr algn="l" defTabSz="914400" rtl="0" eaLnBrk="1" latinLnBrk="0" hangingPunct="1">
              <a:lnSpc>
                <a:spcPct val="90000"/>
              </a:lnSpc>
              <a:spcBef>
                <a:spcPct val="0"/>
              </a:spcBef>
              <a:buNone/>
              <a:defRPr sz="4400" b="1" kern="1200" cap="all" baseline="0">
                <a:solidFill>
                  <a:schemeClr val="tx2"/>
                </a:solidFill>
                <a:latin typeface="+mj-lt"/>
                <a:ea typeface="+mj-ea"/>
                <a:cs typeface="+mj-cs"/>
              </a:defRPr>
            </a:lvl1pPr>
          </a:lstStyle>
          <a:p>
            <a:r>
              <a:rPr lang="en-US" sz="1800">
                <a:solidFill>
                  <a:schemeClr val="tx1"/>
                </a:solidFill>
              </a:rPr>
              <a:t>Business View</a:t>
            </a:r>
          </a:p>
        </p:txBody>
      </p:sp>
      <p:sp>
        <p:nvSpPr>
          <p:cNvPr id="36" name="Rectangle 35">
            <a:extLst>
              <a:ext uri="{FF2B5EF4-FFF2-40B4-BE49-F238E27FC236}">
                <a16:creationId xmlns:a16="http://schemas.microsoft.com/office/drawing/2014/main" id="{32961135-1BC1-30BF-29C4-537AE1C704BD}"/>
              </a:ext>
            </a:extLst>
          </p:cNvPr>
          <p:cNvSpPr/>
          <p:nvPr/>
        </p:nvSpPr>
        <p:spPr>
          <a:xfrm>
            <a:off x="3705846" y="3324703"/>
            <a:ext cx="2700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 Authorization</a:t>
            </a:r>
          </a:p>
          <a:p>
            <a:pPr algn="ctr"/>
            <a:r>
              <a:rPr lang="en-US" sz="1600" b="1" kern="0">
                <a:solidFill>
                  <a:prstClr val="white"/>
                </a:solidFill>
              </a:rPr>
              <a:t>M</a:t>
            </a:r>
            <a:r>
              <a:rPr kumimoji="0" lang="en-US" sz="1600" b="1" i="0" u="none" strike="noStrike" kern="0" cap="none" spc="0" normalizeH="0" baseline="0" noProof="0" err="1">
                <a:ln>
                  <a:noFill/>
                </a:ln>
                <a:solidFill>
                  <a:prstClr val="white"/>
                </a:solidFill>
                <a:effectLst/>
                <a:uLnTx/>
                <a:uFillTx/>
                <a:ea typeface="+mn-ea"/>
                <a:cs typeface="+mn-cs"/>
              </a:rPr>
              <a:t>anagement</a:t>
            </a:r>
            <a:endParaRPr lang="fr-FR" sz="1600" b="1" kern="0">
              <a:solidFill>
                <a:prstClr val="white"/>
              </a:solidFill>
            </a:endParaRPr>
          </a:p>
        </p:txBody>
      </p:sp>
      <p:sp>
        <p:nvSpPr>
          <p:cNvPr id="38" name="Rectangle 37">
            <a:extLst>
              <a:ext uri="{FF2B5EF4-FFF2-40B4-BE49-F238E27FC236}">
                <a16:creationId xmlns:a16="http://schemas.microsoft.com/office/drawing/2014/main" id="{9C4F80A5-A412-4B50-E780-AFBB1531BEE6}"/>
              </a:ext>
            </a:extLst>
          </p:cNvPr>
          <p:cNvSpPr/>
          <p:nvPr/>
        </p:nvSpPr>
        <p:spPr>
          <a:xfrm>
            <a:off x="6753146" y="3324703"/>
            <a:ext cx="2844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Applications integration</a:t>
            </a:r>
            <a:endParaRPr lang="fr-FR" sz="1600" b="1" kern="0">
              <a:solidFill>
                <a:prstClr val="white"/>
              </a:solidFill>
            </a:endParaRPr>
          </a:p>
        </p:txBody>
      </p:sp>
      <p:sp>
        <p:nvSpPr>
          <p:cNvPr id="39" name="Rectangle 38">
            <a:extLst>
              <a:ext uri="{FF2B5EF4-FFF2-40B4-BE49-F238E27FC236}">
                <a16:creationId xmlns:a16="http://schemas.microsoft.com/office/drawing/2014/main" id="{48D2F750-AA9B-F727-85F5-73542984F4B0}"/>
              </a:ext>
            </a:extLst>
          </p:cNvPr>
          <p:cNvSpPr/>
          <p:nvPr/>
        </p:nvSpPr>
        <p:spPr>
          <a:xfrm>
            <a:off x="1485714" y="4736885"/>
            <a:ext cx="7200000" cy="295543"/>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prstClr val="white"/>
                </a:solidFill>
                <a:effectLst/>
                <a:uLnTx/>
                <a:uFillTx/>
                <a:ea typeface="+mn-ea"/>
                <a:cs typeface="+mn-cs"/>
              </a:rPr>
              <a:t>Governance</a:t>
            </a:r>
            <a:endParaRPr lang="fr-FR" sz="1600" b="1" kern="0">
              <a:solidFill>
                <a:prstClr val="white"/>
              </a:solidFill>
            </a:endParaRPr>
          </a:p>
        </p:txBody>
      </p:sp>
      <p:grpSp>
        <p:nvGrpSpPr>
          <p:cNvPr id="48" name="Graphique 745">
            <a:extLst>
              <a:ext uri="{FF2B5EF4-FFF2-40B4-BE49-F238E27FC236}">
                <a16:creationId xmlns:a16="http://schemas.microsoft.com/office/drawing/2014/main" id="{862EB471-653A-8ACA-1E3E-8382BBA78AED}"/>
              </a:ext>
            </a:extLst>
          </p:cNvPr>
          <p:cNvGrpSpPr>
            <a:grpSpLocks noChangeAspect="1"/>
          </p:cNvGrpSpPr>
          <p:nvPr/>
        </p:nvGrpSpPr>
        <p:grpSpPr>
          <a:xfrm>
            <a:off x="1181556" y="1591381"/>
            <a:ext cx="388939" cy="396000"/>
            <a:chOff x="8660808" y="5477538"/>
            <a:chExt cx="304800" cy="304800"/>
          </a:xfrm>
        </p:grpSpPr>
        <p:sp>
          <p:nvSpPr>
            <p:cNvPr id="49" name="Forme libre : forme 48">
              <a:extLst>
                <a:ext uri="{FF2B5EF4-FFF2-40B4-BE49-F238E27FC236}">
                  <a16:creationId xmlns:a16="http://schemas.microsoft.com/office/drawing/2014/main" id="{7F2E355B-BBCF-2B32-10F2-292E8C543EF7}"/>
                </a:ext>
              </a:extLst>
            </p:cNvPr>
            <p:cNvSpPr/>
            <p:nvPr/>
          </p:nvSpPr>
          <p:spPr>
            <a:xfrm>
              <a:off x="8670333" y="5591838"/>
              <a:ext cx="85725" cy="142875"/>
            </a:xfrm>
            <a:custGeom>
              <a:avLst/>
              <a:gdLst>
                <a:gd name="connsiteX0" fmla="*/ 92516 w 85725"/>
                <a:gd name="connsiteY0" fmla="*/ 16373 h 142875"/>
                <a:gd name="connsiteX1" fmla="*/ 66675 w 85725"/>
                <a:gd name="connsiteY1" fmla="*/ 0 h 142875"/>
                <a:gd name="connsiteX2" fmla="*/ 28575 w 85725"/>
                <a:gd name="connsiteY2" fmla="*/ 0 h 142875"/>
                <a:gd name="connsiteX3" fmla="*/ 0 w 85725"/>
                <a:gd name="connsiteY3" fmla="*/ 28575 h 142875"/>
                <a:gd name="connsiteX4" fmla="*/ 0 w 85725"/>
                <a:gd name="connsiteY4" fmla="*/ 76200 h 142875"/>
                <a:gd name="connsiteX5" fmla="*/ 19050 w 85725"/>
                <a:gd name="connsiteY5" fmla="*/ 76200 h 142875"/>
                <a:gd name="connsiteX6" fmla="*/ 19050 w 85725"/>
                <a:gd name="connsiteY6" fmla="*/ 142875 h 142875"/>
                <a:gd name="connsiteX7" fmla="*/ 76200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92516" y="16373"/>
                  </a:moveTo>
                  <a:cubicBezTo>
                    <a:pt x="87935" y="6715"/>
                    <a:pt x="78076" y="0"/>
                    <a:pt x="66675" y="0"/>
                  </a:cubicBezTo>
                  <a:lnTo>
                    <a:pt x="28575" y="0"/>
                  </a:lnTo>
                  <a:cubicBezTo>
                    <a:pt x="12792" y="0"/>
                    <a:pt x="0" y="12792"/>
                    <a:pt x="0" y="28575"/>
                  </a:cubicBezTo>
                  <a:lnTo>
                    <a:pt x="0" y="76200"/>
                  </a:lnTo>
                  <a:lnTo>
                    <a:pt x="19050" y="76200"/>
                  </a:lnTo>
                  <a:lnTo>
                    <a:pt x="19050" y="142875"/>
                  </a:lnTo>
                  <a:lnTo>
                    <a:pt x="76200" y="14287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0" name="Forme libre : forme 49">
              <a:extLst>
                <a:ext uri="{FF2B5EF4-FFF2-40B4-BE49-F238E27FC236}">
                  <a16:creationId xmlns:a16="http://schemas.microsoft.com/office/drawing/2014/main" id="{3C6ECF2F-D1E0-657C-E2AB-900515EA7841}"/>
                </a:ext>
              </a:extLst>
            </p:cNvPr>
            <p:cNvSpPr/>
            <p:nvPr/>
          </p:nvSpPr>
          <p:spPr>
            <a:xfrm>
              <a:off x="86893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1" name="Forme libre : forme 50">
              <a:extLst>
                <a:ext uri="{FF2B5EF4-FFF2-40B4-BE49-F238E27FC236}">
                  <a16:creationId xmlns:a16="http://schemas.microsoft.com/office/drawing/2014/main" id="{D088DB0F-00B6-87F6-8DF2-4EAB3A2D3315}"/>
                </a:ext>
              </a:extLst>
            </p:cNvPr>
            <p:cNvSpPr/>
            <p:nvPr/>
          </p:nvSpPr>
          <p:spPr>
            <a:xfrm>
              <a:off x="8863567" y="5591838"/>
              <a:ext cx="85725" cy="142875"/>
            </a:xfrm>
            <a:custGeom>
              <a:avLst/>
              <a:gdLst>
                <a:gd name="connsiteX0" fmla="*/ 0 w 85725"/>
                <a:gd name="connsiteY0" fmla="*/ 16373 h 142875"/>
                <a:gd name="connsiteX1" fmla="*/ 25841 w 85725"/>
                <a:gd name="connsiteY1" fmla="*/ 0 h 142875"/>
                <a:gd name="connsiteX2" fmla="*/ 63941 w 85725"/>
                <a:gd name="connsiteY2" fmla="*/ 0 h 142875"/>
                <a:gd name="connsiteX3" fmla="*/ 92516 w 85725"/>
                <a:gd name="connsiteY3" fmla="*/ 28575 h 142875"/>
                <a:gd name="connsiteX4" fmla="*/ 92516 w 85725"/>
                <a:gd name="connsiteY4" fmla="*/ 76200 h 142875"/>
                <a:gd name="connsiteX5" fmla="*/ 73466 w 85725"/>
                <a:gd name="connsiteY5" fmla="*/ 76200 h 142875"/>
                <a:gd name="connsiteX6" fmla="*/ 73466 w 85725"/>
                <a:gd name="connsiteY6" fmla="*/ 142875 h 142875"/>
                <a:gd name="connsiteX7" fmla="*/ 16316 w 85725"/>
                <a:gd name="connsiteY7"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142875">
                  <a:moveTo>
                    <a:pt x="0" y="16373"/>
                  </a:moveTo>
                  <a:cubicBezTo>
                    <a:pt x="4582" y="6715"/>
                    <a:pt x="14440" y="0"/>
                    <a:pt x="25841" y="0"/>
                  </a:cubicBezTo>
                  <a:lnTo>
                    <a:pt x="63941" y="0"/>
                  </a:lnTo>
                  <a:cubicBezTo>
                    <a:pt x="79724" y="0"/>
                    <a:pt x="92516" y="12792"/>
                    <a:pt x="92516" y="28575"/>
                  </a:cubicBezTo>
                  <a:lnTo>
                    <a:pt x="92516" y="76200"/>
                  </a:lnTo>
                  <a:lnTo>
                    <a:pt x="73466" y="76200"/>
                  </a:lnTo>
                  <a:lnTo>
                    <a:pt x="73466" y="142875"/>
                  </a:lnTo>
                  <a:lnTo>
                    <a:pt x="16316" y="14287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2" name="Forme libre : forme 51">
              <a:extLst>
                <a:ext uri="{FF2B5EF4-FFF2-40B4-BE49-F238E27FC236}">
                  <a16:creationId xmlns:a16="http://schemas.microsoft.com/office/drawing/2014/main" id="{7E6BDA7A-F01E-3FFA-173F-EB83697AECB1}"/>
                </a:ext>
              </a:extLst>
            </p:cNvPr>
            <p:cNvSpPr/>
            <p:nvPr/>
          </p:nvSpPr>
          <p:spPr>
            <a:xfrm>
              <a:off x="8879883" y="5506113"/>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3" name="Forme libre : forme 52">
              <a:extLst>
                <a:ext uri="{FF2B5EF4-FFF2-40B4-BE49-F238E27FC236}">
                  <a16:creationId xmlns:a16="http://schemas.microsoft.com/office/drawing/2014/main" id="{83F36433-F628-1B1C-4C90-25B9652BABB2}"/>
                </a:ext>
              </a:extLst>
            </p:cNvPr>
            <p:cNvSpPr/>
            <p:nvPr/>
          </p:nvSpPr>
          <p:spPr>
            <a:xfrm>
              <a:off x="8756058" y="5591838"/>
              <a:ext cx="114300" cy="180975"/>
            </a:xfrm>
            <a:custGeom>
              <a:avLst/>
              <a:gdLst>
                <a:gd name="connsiteX0" fmla="*/ 85725 w 114300"/>
                <a:gd name="connsiteY0" fmla="*/ 180975 h 180975"/>
                <a:gd name="connsiteX1" fmla="*/ 28575 w 114300"/>
                <a:gd name="connsiteY1" fmla="*/ 180975 h 180975"/>
                <a:gd name="connsiteX2" fmla="*/ 28575 w 114300"/>
                <a:gd name="connsiteY2" fmla="*/ 104775 h 180975"/>
                <a:gd name="connsiteX3" fmla="*/ 0 w 114300"/>
                <a:gd name="connsiteY3" fmla="*/ 104775 h 180975"/>
                <a:gd name="connsiteX4" fmla="*/ 0 w 114300"/>
                <a:gd name="connsiteY4" fmla="*/ 38100 h 180975"/>
                <a:gd name="connsiteX5" fmla="*/ 38100 w 114300"/>
                <a:gd name="connsiteY5" fmla="*/ 0 h 180975"/>
                <a:gd name="connsiteX6" fmla="*/ 76200 w 114300"/>
                <a:gd name="connsiteY6" fmla="*/ 0 h 180975"/>
                <a:gd name="connsiteX7" fmla="*/ 114300 w 114300"/>
                <a:gd name="connsiteY7" fmla="*/ 38100 h 180975"/>
                <a:gd name="connsiteX8" fmla="*/ 114300 w 114300"/>
                <a:gd name="connsiteY8" fmla="*/ 104775 h 180975"/>
                <a:gd name="connsiteX9" fmla="*/ 85725 w 114300"/>
                <a:gd name="connsiteY9" fmla="*/ 104775 h 180975"/>
                <a:gd name="connsiteX10" fmla="*/ 85725 w 114300"/>
                <a:gd name="connsiteY10"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300" h="180975">
                  <a:moveTo>
                    <a:pt x="85725" y="180975"/>
                  </a:moveTo>
                  <a:lnTo>
                    <a:pt x="28575" y="180975"/>
                  </a:lnTo>
                  <a:lnTo>
                    <a:pt x="28575" y="104775"/>
                  </a:lnTo>
                  <a:lnTo>
                    <a:pt x="0" y="104775"/>
                  </a:lnTo>
                  <a:lnTo>
                    <a:pt x="0" y="38100"/>
                  </a:lnTo>
                  <a:cubicBezTo>
                    <a:pt x="0" y="17059"/>
                    <a:pt x="17059" y="0"/>
                    <a:pt x="38100" y="0"/>
                  </a:cubicBezTo>
                  <a:lnTo>
                    <a:pt x="76200" y="0"/>
                  </a:lnTo>
                  <a:cubicBezTo>
                    <a:pt x="97241" y="0"/>
                    <a:pt x="114300" y="17059"/>
                    <a:pt x="114300" y="38100"/>
                  </a:cubicBezTo>
                  <a:lnTo>
                    <a:pt x="114300" y="104775"/>
                  </a:lnTo>
                  <a:lnTo>
                    <a:pt x="85725" y="104775"/>
                  </a:lnTo>
                  <a:lnTo>
                    <a:pt x="85725" y="180975"/>
                  </a:ln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54" name="Forme libre : forme 53">
              <a:extLst>
                <a:ext uri="{FF2B5EF4-FFF2-40B4-BE49-F238E27FC236}">
                  <a16:creationId xmlns:a16="http://schemas.microsoft.com/office/drawing/2014/main" id="{30FBAADC-B646-8137-0EB2-409D3B1E9AC8}"/>
                </a:ext>
              </a:extLst>
            </p:cNvPr>
            <p:cNvSpPr/>
            <p:nvPr/>
          </p:nvSpPr>
          <p:spPr>
            <a:xfrm>
              <a:off x="8775108" y="5487063"/>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sp>
        <p:nvSpPr>
          <p:cNvPr id="55" name="ZoneTexte 54">
            <a:extLst>
              <a:ext uri="{FF2B5EF4-FFF2-40B4-BE49-F238E27FC236}">
                <a16:creationId xmlns:a16="http://schemas.microsoft.com/office/drawing/2014/main" id="{F1E543E7-552A-926B-A081-072B501D2084}"/>
              </a:ext>
            </a:extLst>
          </p:cNvPr>
          <p:cNvSpPr txBox="1"/>
          <p:nvPr/>
        </p:nvSpPr>
        <p:spPr>
          <a:xfrm>
            <a:off x="1657374" y="1665233"/>
            <a:ext cx="830677"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3C5A"/>
                </a:solidFill>
                <a:latin typeface="Montserrat"/>
              </a:rPr>
              <a:t>Persons</a:t>
            </a:r>
          </a:p>
        </p:txBody>
      </p:sp>
      <p:sp>
        <p:nvSpPr>
          <p:cNvPr id="56" name="ZoneTexte 55">
            <a:extLst>
              <a:ext uri="{FF2B5EF4-FFF2-40B4-BE49-F238E27FC236}">
                <a16:creationId xmlns:a16="http://schemas.microsoft.com/office/drawing/2014/main" id="{395302E9-72DD-EFAE-E979-1E38818B8810}"/>
              </a:ext>
            </a:extLst>
          </p:cNvPr>
          <p:cNvSpPr txBox="1"/>
          <p:nvPr/>
        </p:nvSpPr>
        <p:spPr>
          <a:xfrm>
            <a:off x="4686324" y="1608049"/>
            <a:ext cx="165301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C5A"/>
                </a:solidFill>
                <a:latin typeface="Montserrat"/>
              </a:rPr>
              <a:t>Business missions</a:t>
            </a:r>
            <a:endParaRPr kumimoji="0" lang="en-US" sz="1200" b="1" i="0" u="none" strike="noStrike" kern="1200" cap="none" spc="0" normalizeH="0" baseline="0">
              <a:ln>
                <a:noFill/>
              </a:ln>
              <a:solidFill>
                <a:srgbClr val="003C5A"/>
              </a:solidFill>
              <a:effectLst/>
              <a:uLnTx/>
              <a:uFillTx/>
              <a:latin typeface="Montserrat"/>
              <a:ea typeface="+mn-ea"/>
              <a:cs typeface="+mn-cs"/>
            </a:endParaRPr>
          </a:p>
        </p:txBody>
      </p:sp>
      <p:grpSp>
        <p:nvGrpSpPr>
          <p:cNvPr id="64" name="Graphique 207">
            <a:extLst>
              <a:ext uri="{FF2B5EF4-FFF2-40B4-BE49-F238E27FC236}">
                <a16:creationId xmlns:a16="http://schemas.microsoft.com/office/drawing/2014/main" id="{4EA1FE42-DAF8-C082-8D5B-C42C9FBE2320}"/>
              </a:ext>
            </a:extLst>
          </p:cNvPr>
          <p:cNvGrpSpPr>
            <a:grpSpLocks noChangeAspect="1"/>
          </p:cNvGrpSpPr>
          <p:nvPr/>
        </p:nvGrpSpPr>
        <p:grpSpPr>
          <a:xfrm>
            <a:off x="7589270" y="1543007"/>
            <a:ext cx="396001" cy="396000"/>
            <a:chOff x="7566731" y="2714365"/>
            <a:chExt cx="304800" cy="304800"/>
          </a:xfrm>
        </p:grpSpPr>
        <p:sp>
          <p:nvSpPr>
            <p:cNvPr id="73" name="Forme libre : forme 72">
              <a:extLst>
                <a:ext uri="{FF2B5EF4-FFF2-40B4-BE49-F238E27FC236}">
                  <a16:creationId xmlns:a16="http://schemas.microsoft.com/office/drawing/2014/main" id="{F8DF5E39-7472-B21A-936B-B04A7F7F296D}"/>
                </a:ext>
              </a:extLst>
            </p:cNvPr>
            <p:cNvSpPr/>
            <p:nvPr/>
          </p:nvSpPr>
          <p:spPr>
            <a:xfrm>
              <a:off x="7614356" y="2866765"/>
              <a:ext cx="142875" cy="66675"/>
            </a:xfrm>
            <a:custGeom>
              <a:avLst/>
              <a:gdLst>
                <a:gd name="connsiteX0" fmla="*/ 0 w 142875"/>
                <a:gd name="connsiteY0" fmla="*/ 0 h 66675"/>
                <a:gd name="connsiteX1" fmla="*/ 9525 w 142875"/>
                <a:gd name="connsiteY1" fmla="*/ 0 h 66675"/>
                <a:gd name="connsiteX2" fmla="*/ 66675 w 142875"/>
                <a:gd name="connsiteY2" fmla="*/ 28575 h 66675"/>
                <a:gd name="connsiteX3" fmla="*/ 104775 w 142875"/>
                <a:gd name="connsiteY3" fmla="*/ 28575 h 66675"/>
                <a:gd name="connsiteX4" fmla="*/ 142875 w 142875"/>
                <a:gd name="connsiteY4" fmla="*/ 66675 h 66675"/>
                <a:gd name="connsiteX5" fmla="*/ 57150 w 142875"/>
                <a:gd name="connsiteY5" fmla="*/ 6667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66675">
                  <a:moveTo>
                    <a:pt x="0" y="0"/>
                  </a:moveTo>
                  <a:lnTo>
                    <a:pt x="9525" y="0"/>
                  </a:lnTo>
                  <a:cubicBezTo>
                    <a:pt x="31128" y="0"/>
                    <a:pt x="55493" y="11878"/>
                    <a:pt x="66675" y="28575"/>
                  </a:cubicBezTo>
                  <a:lnTo>
                    <a:pt x="104775" y="28575"/>
                  </a:lnTo>
                  <a:cubicBezTo>
                    <a:pt x="123892" y="28575"/>
                    <a:pt x="142875" y="47558"/>
                    <a:pt x="142875" y="66675"/>
                  </a:cubicBezTo>
                  <a:lnTo>
                    <a:pt x="57150" y="6667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84" name="Forme libre : forme 83">
              <a:extLst>
                <a:ext uri="{FF2B5EF4-FFF2-40B4-BE49-F238E27FC236}">
                  <a16:creationId xmlns:a16="http://schemas.microsoft.com/office/drawing/2014/main" id="{55687BC6-FB01-CF11-2167-2ED3EE339E8B}"/>
                </a:ext>
              </a:extLst>
            </p:cNvPr>
            <p:cNvSpPr/>
            <p:nvPr/>
          </p:nvSpPr>
          <p:spPr>
            <a:xfrm>
              <a:off x="7614356" y="2914390"/>
              <a:ext cx="238125" cy="76200"/>
            </a:xfrm>
            <a:custGeom>
              <a:avLst/>
              <a:gdLst>
                <a:gd name="connsiteX0" fmla="*/ 136789 w 238125"/>
                <a:gd name="connsiteY0" fmla="*/ 0 h 76200"/>
                <a:gd name="connsiteX1" fmla="*/ 200025 w 238125"/>
                <a:gd name="connsiteY1" fmla="*/ 0 h 76200"/>
                <a:gd name="connsiteX2" fmla="*/ 238125 w 238125"/>
                <a:gd name="connsiteY2" fmla="*/ 19050 h 76200"/>
                <a:gd name="connsiteX3" fmla="*/ 101727 w 238125"/>
                <a:gd name="connsiteY3" fmla="*/ 74447 h 76200"/>
                <a:gd name="connsiteX4" fmla="*/ 68228 w 238125"/>
                <a:gd name="connsiteY4" fmla="*/ 73057 h 76200"/>
                <a:gd name="connsiteX5" fmla="*/ 0 w 238125"/>
                <a:gd name="connsiteY5" fmla="*/ 3840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125" h="76200">
                  <a:moveTo>
                    <a:pt x="136789" y="0"/>
                  </a:moveTo>
                  <a:lnTo>
                    <a:pt x="200025" y="0"/>
                  </a:lnTo>
                  <a:cubicBezTo>
                    <a:pt x="234553" y="0"/>
                    <a:pt x="238125" y="19050"/>
                    <a:pt x="238125" y="19050"/>
                  </a:cubicBezTo>
                  <a:lnTo>
                    <a:pt x="101727" y="74447"/>
                  </a:lnTo>
                  <a:cubicBezTo>
                    <a:pt x="90878" y="78791"/>
                    <a:pt x="78686" y="78286"/>
                    <a:pt x="68228" y="73057"/>
                  </a:cubicBezTo>
                  <a:lnTo>
                    <a:pt x="0" y="38405"/>
                  </a:lnTo>
                </a:path>
              </a:pathLst>
            </a:custGeom>
            <a:noFill/>
            <a:ln w="28575" cap="flat">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08" name="Forme libre : forme 107">
              <a:extLst>
                <a:ext uri="{FF2B5EF4-FFF2-40B4-BE49-F238E27FC236}">
                  <a16:creationId xmlns:a16="http://schemas.microsoft.com/office/drawing/2014/main" id="{A3E72EC2-F917-DB21-B2D6-070743DAD1AE}"/>
                </a:ext>
              </a:extLst>
            </p:cNvPr>
            <p:cNvSpPr/>
            <p:nvPr/>
          </p:nvSpPr>
          <p:spPr>
            <a:xfrm>
              <a:off x="7757231" y="279056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09" name="Forme libre : forme 108">
              <a:extLst>
                <a:ext uri="{FF2B5EF4-FFF2-40B4-BE49-F238E27FC236}">
                  <a16:creationId xmlns:a16="http://schemas.microsoft.com/office/drawing/2014/main" id="{89C4BCF7-2CA5-F12C-7C1B-51BC4873CDDA}"/>
                </a:ext>
              </a:extLst>
            </p:cNvPr>
            <p:cNvSpPr/>
            <p:nvPr/>
          </p:nvSpPr>
          <p:spPr>
            <a:xfrm>
              <a:off x="7576256" y="2847715"/>
              <a:ext cx="38100" cy="123825"/>
            </a:xfrm>
            <a:custGeom>
              <a:avLst/>
              <a:gdLst>
                <a:gd name="connsiteX0" fmla="*/ 0 w 38100"/>
                <a:gd name="connsiteY0" fmla="*/ 0 h 123825"/>
                <a:gd name="connsiteX1" fmla="*/ 38100 w 38100"/>
                <a:gd name="connsiteY1" fmla="*/ 0 h 123825"/>
                <a:gd name="connsiteX2" fmla="*/ 38100 w 38100"/>
                <a:gd name="connsiteY2" fmla="*/ 123825 h 123825"/>
                <a:gd name="connsiteX3" fmla="*/ 0 w 38100"/>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38100" h="123825">
                  <a:moveTo>
                    <a:pt x="0" y="0"/>
                  </a:moveTo>
                  <a:lnTo>
                    <a:pt x="38100" y="0"/>
                  </a:lnTo>
                  <a:lnTo>
                    <a:pt x="38100" y="123825"/>
                  </a:lnTo>
                  <a:lnTo>
                    <a:pt x="0" y="123825"/>
                  </a:ln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110" name="Forme libre : forme 109">
              <a:extLst>
                <a:ext uri="{FF2B5EF4-FFF2-40B4-BE49-F238E27FC236}">
                  <a16:creationId xmlns:a16="http://schemas.microsoft.com/office/drawing/2014/main" id="{4CC0628E-9902-7972-9C74-352161357F60}"/>
                </a:ext>
              </a:extLst>
            </p:cNvPr>
            <p:cNvSpPr/>
            <p:nvPr/>
          </p:nvSpPr>
          <p:spPr>
            <a:xfrm>
              <a:off x="7642931" y="2733415"/>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8575" cap="sq">
              <a:solidFill>
                <a:srgbClr val="003C5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Montserrat"/>
                <a:ea typeface="+mn-ea"/>
                <a:cs typeface="+mn-cs"/>
              </a:endParaRPr>
            </a:p>
          </p:txBody>
        </p:sp>
      </p:grpSp>
      <p:sp>
        <p:nvSpPr>
          <p:cNvPr id="111" name="ZoneTexte 110">
            <a:extLst>
              <a:ext uri="{FF2B5EF4-FFF2-40B4-BE49-F238E27FC236}">
                <a16:creationId xmlns:a16="http://schemas.microsoft.com/office/drawing/2014/main" id="{8DD452FE-A260-B60B-7DAF-4CFDAA806784}"/>
              </a:ext>
            </a:extLst>
          </p:cNvPr>
          <p:cNvSpPr txBox="1"/>
          <p:nvPr/>
        </p:nvSpPr>
        <p:spPr>
          <a:xfrm>
            <a:off x="7980199" y="1665233"/>
            <a:ext cx="7665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C5A"/>
                </a:solidFill>
                <a:latin typeface="Montserrat"/>
              </a:rPr>
              <a:t>Project</a:t>
            </a:r>
            <a:endParaRPr kumimoji="0" lang="en-US" sz="1200" b="1" i="0" u="none" strike="noStrike" kern="1200" cap="none" spc="0" normalizeH="0" baseline="0">
              <a:ln>
                <a:noFill/>
              </a:ln>
              <a:solidFill>
                <a:srgbClr val="003C5A"/>
              </a:solidFill>
              <a:effectLst/>
              <a:uLnTx/>
              <a:uFillTx/>
              <a:latin typeface="Montserrat"/>
              <a:ea typeface="+mn-ea"/>
              <a:cs typeface="+mn-cs"/>
            </a:endParaRPr>
          </a:p>
        </p:txBody>
      </p:sp>
      <p:grpSp>
        <p:nvGrpSpPr>
          <p:cNvPr id="15" name="Graphique 17" descr="Hiérarchie contour">
            <a:extLst>
              <a:ext uri="{FF2B5EF4-FFF2-40B4-BE49-F238E27FC236}">
                <a16:creationId xmlns:a16="http://schemas.microsoft.com/office/drawing/2014/main" id="{A1A6E623-81BC-967F-C29A-DE15FEAA5F1B}"/>
              </a:ext>
            </a:extLst>
          </p:cNvPr>
          <p:cNvGrpSpPr/>
          <p:nvPr/>
        </p:nvGrpSpPr>
        <p:grpSpPr>
          <a:xfrm>
            <a:off x="4242569" y="1534197"/>
            <a:ext cx="406839" cy="396000"/>
            <a:chOff x="2732909" y="1980000"/>
            <a:chExt cx="486299" cy="413354"/>
          </a:xfrm>
          <a:solidFill>
            <a:srgbClr val="000000"/>
          </a:solidFill>
        </p:grpSpPr>
        <p:sp>
          <p:nvSpPr>
            <p:cNvPr id="16" name="Forme libre : forme 15">
              <a:extLst>
                <a:ext uri="{FF2B5EF4-FFF2-40B4-BE49-F238E27FC236}">
                  <a16:creationId xmlns:a16="http://schemas.microsoft.com/office/drawing/2014/main" id="{6587EE8C-04EE-00DE-EE80-007031FF7100}"/>
                </a:ext>
              </a:extLst>
            </p:cNvPr>
            <p:cNvSpPr/>
            <p:nvPr/>
          </p:nvSpPr>
          <p:spPr>
            <a:xfrm>
              <a:off x="2787618" y="2083338"/>
              <a:ext cx="376881" cy="206677"/>
            </a:xfrm>
            <a:custGeom>
              <a:avLst/>
              <a:gdLst>
                <a:gd name="connsiteX0" fmla="*/ 12157 w 376881"/>
                <a:gd name="connsiteY0" fmla="*/ 109417 h 206677"/>
                <a:gd name="connsiteX1" fmla="*/ 182362 w 376881"/>
                <a:gd name="connsiteY1" fmla="*/ 109417 h 206677"/>
                <a:gd name="connsiteX2" fmla="*/ 182362 w 376881"/>
                <a:gd name="connsiteY2" fmla="*/ 206677 h 206677"/>
                <a:gd name="connsiteX3" fmla="*/ 194520 w 376881"/>
                <a:gd name="connsiteY3" fmla="*/ 206677 h 206677"/>
                <a:gd name="connsiteX4" fmla="*/ 194520 w 376881"/>
                <a:gd name="connsiteY4" fmla="*/ 109417 h 206677"/>
                <a:gd name="connsiteX5" fmla="*/ 364724 w 376881"/>
                <a:gd name="connsiteY5" fmla="*/ 109417 h 206677"/>
                <a:gd name="connsiteX6" fmla="*/ 364724 w 376881"/>
                <a:gd name="connsiteY6" fmla="*/ 206677 h 206677"/>
                <a:gd name="connsiteX7" fmla="*/ 376882 w 376881"/>
                <a:gd name="connsiteY7" fmla="*/ 206677 h 206677"/>
                <a:gd name="connsiteX8" fmla="*/ 376882 w 376881"/>
                <a:gd name="connsiteY8" fmla="*/ 97260 h 206677"/>
                <a:gd name="connsiteX9" fmla="*/ 194520 w 376881"/>
                <a:gd name="connsiteY9" fmla="*/ 97260 h 206677"/>
                <a:gd name="connsiteX10" fmla="*/ 194520 w 376881"/>
                <a:gd name="connsiteY10" fmla="*/ 0 h 206677"/>
                <a:gd name="connsiteX11" fmla="*/ 182362 w 376881"/>
                <a:gd name="connsiteY11" fmla="*/ 0 h 206677"/>
                <a:gd name="connsiteX12" fmla="*/ 182362 w 376881"/>
                <a:gd name="connsiteY12" fmla="*/ 97260 h 206677"/>
                <a:gd name="connsiteX13" fmla="*/ 0 w 376881"/>
                <a:gd name="connsiteY13" fmla="*/ 97260 h 206677"/>
                <a:gd name="connsiteX14" fmla="*/ 0 w 376881"/>
                <a:gd name="connsiteY14" fmla="*/ 206677 h 206677"/>
                <a:gd name="connsiteX15" fmla="*/ 12157 w 376881"/>
                <a:gd name="connsiteY15" fmla="*/ 206677 h 206677"/>
                <a:gd name="connsiteX16" fmla="*/ 12157 w 376881"/>
                <a:gd name="connsiteY16" fmla="*/ 109417 h 20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6881" h="206677">
                  <a:moveTo>
                    <a:pt x="12157" y="109417"/>
                  </a:moveTo>
                  <a:lnTo>
                    <a:pt x="182362" y="109417"/>
                  </a:lnTo>
                  <a:lnTo>
                    <a:pt x="182362" y="206677"/>
                  </a:lnTo>
                  <a:lnTo>
                    <a:pt x="194520" y="206677"/>
                  </a:lnTo>
                  <a:lnTo>
                    <a:pt x="194520" y="109417"/>
                  </a:lnTo>
                  <a:lnTo>
                    <a:pt x="364724" y="109417"/>
                  </a:lnTo>
                  <a:lnTo>
                    <a:pt x="364724" y="206677"/>
                  </a:lnTo>
                  <a:lnTo>
                    <a:pt x="376882" y="206677"/>
                  </a:lnTo>
                  <a:lnTo>
                    <a:pt x="376882" y="97260"/>
                  </a:lnTo>
                  <a:lnTo>
                    <a:pt x="194520" y="97260"/>
                  </a:lnTo>
                  <a:lnTo>
                    <a:pt x="194520" y="0"/>
                  </a:lnTo>
                  <a:lnTo>
                    <a:pt x="182362" y="0"/>
                  </a:lnTo>
                  <a:lnTo>
                    <a:pt x="182362" y="97260"/>
                  </a:lnTo>
                  <a:lnTo>
                    <a:pt x="0" y="97260"/>
                  </a:lnTo>
                  <a:lnTo>
                    <a:pt x="0" y="206677"/>
                  </a:lnTo>
                  <a:lnTo>
                    <a:pt x="12157" y="206677"/>
                  </a:lnTo>
                  <a:lnTo>
                    <a:pt x="12157" y="109417"/>
                  </a:lnTo>
                  <a:close/>
                </a:path>
              </a:pathLst>
            </a:custGeom>
            <a:solidFill>
              <a:srgbClr val="000000"/>
            </a:solidFill>
            <a:ln w="6052" cap="flat">
              <a:solidFill>
                <a:srgbClr val="003C5A"/>
              </a:solid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6258698F-7E0B-CD99-3080-C75A576A5455}"/>
                </a:ext>
              </a:extLst>
            </p:cNvPr>
            <p:cNvSpPr/>
            <p:nvPr/>
          </p:nvSpPr>
          <p:spPr>
            <a:xfrm>
              <a:off x="2915272" y="1980000"/>
              <a:ext cx="121574" cy="85102"/>
            </a:xfrm>
            <a:custGeom>
              <a:avLst/>
              <a:gdLst>
                <a:gd name="connsiteX0" fmla="*/ 121575 w 121574"/>
                <a:gd name="connsiteY0" fmla="*/ 0 h 85102"/>
                <a:gd name="connsiteX1" fmla="*/ 0 w 121574"/>
                <a:gd name="connsiteY1" fmla="*/ 0 h 85102"/>
                <a:gd name="connsiteX2" fmla="*/ 0 w 121574"/>
                <a:gd name="connsiteY2" fmla="*/ 85102 h 85102"/>
                <a:gd name="connsiteX3" fmla="*/ 121575 w 121574"/>
                <a:gd name="connsiteY3" fmla="*/ 85102 h 85102"/>
                <a:gd name="connsiteX4" fmla="*/ 109417 w 121574"/>
                <a:gd name="connsiteY4" fmla="*/ 72945 h 85102"/>
                <a:gd name="connsiteX5" fmla="*/ 12157 w 121574"/>
                <a:gd name="connsiteY5" fmla="*/ 72945 h 85102"/>
                <a:gd name="connsiteX6" fmla="*/ 12157 w 121574"/>
                <a:gd name="connsiteY6" fmla="*/ 12157 h 85102"/>
                <a:gd name="connsiteX7" fmla="*/ 109417 w 121574"/>
                <a:gd name="connsiteY7" fmla="*/ 12157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121575" y="0"/>
                  </a:moveTo>
                  <a:lnTo>
                    <a:pt x="0" y="0"/>
                  </a:lnTo>
                  <a:lnTo>
                    <a:pt x="0" y="85102"/>
                  </a:lnTo>
                  <a:lnTo>
                    <a:pt x="121575" y="85102"/>
                  </a:lnTo>
                  <a:close/>
                  <a:moveTo>
                    <a:pt x="109417" y="72945"/>
                  </a:moveTo>
                  <a:lnTo>
                    <a:pt x="12157" y="72945"/>
                  </a:lnTo>
                  <a:lnTo>
                    <a:pt x="12157" y="12157"/>
                  </a:lnTo>
                  <a:lnTo>
                    <a:pt x="109417" y="12157"/>
                  </a:lnTo>
                  <a:close/>
                </a:path>
              </a:pathLst>
            </a:custGeom>
            <a:solidFill>
              <a:srgbClr val="000000"/>
            </a:solidFill>
            <a:ln w="6052" cap="flat">
              <a:solidFill>
                <a:srgbClr val="003C5A"/>
              </a:solid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12AD8A49-10D6-1F8F-012B-C124DBA990ED}"/>
                </a:ext>
              </a:extLst>
            </p:cNvPr>
            <p:cNvSpPr/>
            <p:nvPr/>
          </p:nvSpPr>
          <p:spPr>
            <a:xfrm>
              <a:off x="2915272" y="2308252"/>
              <a:ext cx="121574" cy="85102"/>
            </a:xfrm>
            <a:custGeom>
              <a:avLst/>
              <a:gdLst>
                <a:gd name="connsiteX0" fmla="*/ 0 w 121574"/>
                <a:gd name="connsiteY0" fmla="*/ 0 h 85102"/>
                <a:gd name="connsiteX1" fmla="*/ 0 w 121574"/>
                <a:gd name="connsiteY1" fmla="*/ 85102 h 85102"/>
                <a:gd name="connsiteX2" fmla="*/ 121575 w 121574"/>
                <a:gd name="connsiteY2" fmla="*/ 85102 h 85102"/>
                <a:gd name="connsiteX3" fmla="*/ 121575 w 121574"/>
                <a:gd name="connsiteY3" fmla="*/ 0 h 85102"/>
                <a:gd name="connsiteX4" fmla="*/ 109417 w 121574"/>
                <a:gd name="connsiteY4" fmla="*/ 72945 h 85102"/>
                <a:gd name="connsiteX5" fmla="*/ 12157 w 121574"/>
                <a:gd name="connsiteY5" fmla="*/ 72945 h 85102"/>
                <a:gd name="connsiteX6" fmla="*/ 12157 w 121574"/>
                <a:gd name="connsiteY6" fmla="*/ 12157 h 85102"/>
                <a:gd name="connsiteX7" fmla="*/ 109417 w 121574"/>
                <a:gd name="connsiteY7" fmla="*/ 12157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0" y="0"/>
                  </a:moveTo>
                  <a:lnTo>
                    <a:pt x="0" y="85102"/>
                  </a:lnTo>
                  <a:lnTo>
                    <a:pt x="121575" y="85102"/>
                  </a:lnTo>
                  <a:lnTo>
                    <a:pt x="121575" y="0"/>
                  </a:lnTo>
                  <a:close/>
                  <a:moveTo>
                    <a:pt x="109417" y="72945"/>
                  </a:moveTo>
                  <a:lnTo>
                    <a:pt x="12157" y="72945"/>
                  </a:lnTo>
                  <a:lnTo>
                    <a:pt x="12157" y="12157"/>
                  </a:lnTo>
                  <a:lnTo>
                    <a:pt x="109417" y="12157"/>
                  </a:lnTo>
                  <a:close/>
                </a:path>
              </a:pathLst>
            </a:custGeom>
            <a:solidFill>
              <a:srgbClr val="000000"/>
            </a:solidFill>
            <a:ln w="6052" cap="flat">
              <a:solidFill>
                <a:srgbClr val="003C5A"/>
              </a:solid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4F06D935-7650-637A-EBEA-4AF77A428732}"/>
                </a:ext>
              </a:extLst>
            </p:cNvPr>
            <p:cNvSpPr/>
            <p:nvPr/>
          </p:nvSpPr>
          <p:spPr>
            <a:xfrm>
              <a:off x="3097634" y="2308252"/>
              <a:ext cx="121574" cy="85102"/>
            </a:xfrm>
            <a:custGeom>
              <a:avLst/>
              <a:gdLst>
                <a:gd name="connsiteX0" fmla="*/ 0 w 121574"/>
                <a:gd name="connsiteY0" fmla="*/ 85102 h 85102"/>
                <a:gd name="connsiteX1" fmla="*/ 121575 w 121574"/>
                <a:gd name="connsiteY1" fmla="*/ 85102 h 85102"/>
                <a:gd name="connsiteX2" fmla="*/ 121575 w 121574"/>
                <a:gd name="connsiteY2" fmla="*/ 0 h 85102"/>
                <a:gd name="connsiteX3" fmla="*/ 0 w 121574"/>
                <a:gd name="connsiteY3" fmla="*/ 0 h 85102"/>
                <a:gd name="connsiteX4" fmla="*/ 12157 w 121574"/>
                <a:gd name="connsiteY4" fmla="*/ 12157 h 85102"/>
                <a:gd name="connsiteX5" fmla="*/ 109417 w 121574"/>
                <a:gd name="connsiteY5" fmla="*/ 12157 h 85102"/>
                <a:gd name="connsiteX6" fmla="*/ 109417 w 121574"/>
                <a:gd name="connsiteY6" fmla="*/ 72945 h 85102"/>
                <a:gd name="connsiteX7" fmla="*/ 12157 w 121574"/>
                <a:gd name="connsiteY7" fmla="*/ 72945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0" y="85102"/>
                  </a:moveTo>
                  <a:lnTo>
                    <a:pt x="121575" y="85102"/>
                  </a:lnTo>
                  <a:lnTo>
                    <a:pt x="121575" y="0"/>
                  </a:lnTo>
                  <a:lnTo>
                    <a:pt x="0" y="0"/>
                  </a:lnTo>
                  <a:close/>
                  <a:moveTo>
                    <a:pt x="12157" y="12157"/>
                  </a:moveTo>
                  <a:lnTo>
                    <a:pt x="109417" y="12157"/>
                  </a:lnTo>
                  <a:lnTo>
                    <a:pt x="109417" y="72945"/>
                  </a:lnTo>
                  <a:lnTo>
                    <a:pt x="12157" y="72945"/>
                  </a:lnTo>
                  <a:close/>
                </a:path>
              </a:pathLst>
            </a:custGeom>
            <a:solidFill>
              <a:srgbClr val="000000"/>
            </a:solidFill>
            <a:ln w="6052" cap="flat">
              <a:solidFill>
                <a:srgbClr val="003C5A"/>
              </a:solid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EF1BC461-2CEE-DE9B-E75C-641781BE41E5}"/>
                </a:ext>
              </a:extLst>
            </p:cNvPr>
            <p:cNvSpPr/>
            <p:nvPr/>
          </p:nvSpPr>
          <p:spPr>
            <a:xfrm>
              <a:off x="2732909" y="2308252"/>
              <a:ext cx="121574" cy="85102"/>
            </a:xfrm>
            <a:custGeom>
              <a:avLst/>
              <a:gdLst>
                <a:gd name="connsiteX0" fmla="*/ 121575 w 121574"/>
                <a:gd name="connsiteY0" fmla="*/ 0 h 85102"/>
                <a:gd name="connsiteX1" fmla="*/ 0 w 121574"/>
                <a:gd name="connsiteY1" fmla="*/ 0 h 85102"/>
                <a:gd name="connsiteX2" fmla="*/ 0 w 121574"/>
                <a:gd name="connsiteY2" fmla="*/ 85102 h 85102"/>
                <a:gd name="connsiteX3" fmla="*/ 121575 w 121574"/>
                <a:gd name="connsiteY3" fmla="*/ 85102 h 85102"/>
                <a:gd name="connsiteX4" fmla="*/ 109417 w 121574"/>
                <a:gd name="connsiteY4" fmla="*/ 72945 h 85102"/>
                <a:gd name="connsiteX5" fmla="*/ 12157 w 121574"/>
                <a:gd name="connsiteY5" fmla="*/ 72945 h 85102"/>
                <a:gd name="connsiteX6" fmla="*/ 12157 w 121574"/>
                <a:gd name="connsiteY6" fmla="*/ 12157 h 85102"/>
                <a:gd name="connsiteX7" fmla="*/ 109417 w 121574"/>
                <a:gd name="connsiteY7" fmla="*/ 12157 h 8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74" h="85102">
                  <a:moveTo>
                    <a:pt x="121575" y="0"/>
                  </a:moveTo>
                  <a:lnTo>
                    <a:pt x="0" y="0"/>
                  </a:lnTo>
                  <a:lnTo>
                    <a:pt x="0" y="85102"/>
                  </a:lnTo>
                  <a:lnTo>
                    <a:pt x="121575" y="85102"/>
                  </a:lnTo>
                  <a:close/>
                  <a:moveTo>
                    <a:pt x="109417" y="72945"/>
                  </a:moveTo>
                  <a:lnTo>
                    <a:pt x="12157" y="72945"/>
                  </a:lnTo>
                  <a:lnTo>
                    <a:pt x="12157" y="12157"/>
                  </a:lnTo>
                  <a:lnTo>
                    <a:pt x="109417" y="12157"/>
                  </a:lnTo>
                  <a:close/>
                </a:path>
              </a:pathLst>
            </a:custGeom>
            <a:solidFill>
              <a:srgbClr val="000000"/>
            </a:solidFill>
            <a:ln w="6052" cap="flat">
              <a:solidFill>
                <a:srgbClr val="003C5A"/>
              </a:solidFill>
              <a:prstDash val="solid"/>
              <a:miter/>
            </a:ln>
          </p:spPr>
          <p:txBody>
            <a:bodyPr rtlCol="0" anchor="ctr"/>
            <a:lstStyle/>
            <a:p>
              <a:endParaRPr lang="fr-FR"/>
            </a:p>
          </p:txBody>
        </p:sp>
      </p:grpSp>
      <p:sp>
        <p:nvSpPr>
          <p:cNvPr id="33" name="ZoneTexte 32">
            <a:extLst>
              <a:ext uri="{FF2B5EF4-FFF2-40B4-BE49-F238E27FC236}">
                <a16:creationId xmlns:a16="http://schemas.microsoft.com/office/drawing/2014/main" id="{54F16B32-9031-E8CF-DD18-B3BB3633CF53}"/>
              </a:ext>
            </a:extLst>
          </p:cNvPr>
          <p:cNvSpPr txBox="1"/>
          <p:nvPr/>
        </p:nvSpPr>
        <p:spPr>
          <a:xfrm>
            <a:off x="792722" y="2025050"/>
            <a:ext cx="1241102" cy="123111"/>
          </a:xfrm>
          <a:prstGeom prst="rect">
            <a:avLst/>
          </a:prstGeom>
          <a:noFill/>
        </p:spPr>
        <p:txBody>
          <a:bodyPr wrap="square" lIns="36000" tIns="0" rIns="36000" bIns="0" rtlCol="0">
            <a:spAutoFit/>
          </a:bodyPr>
          <a:lstStyle/>
          <a:p>
            <a:r>
              <a:rPr lang="en-US" sz="800"/>
              <a:t>Master sources </a:t>
            </a:r>
          </a:p>
        </p:txBody>
      </p:sp>
      <p:sp>
        <p:nvSpPr>
          <p:cNvPr id="34" name="ZoneTexte 33">
            <a:extLst>
              <a:ext uri="{FF2B5EF4-FFF2-40B4-BE49-F238E27FC236}">
                <a16:creationId xmlns:a16="http://schemas.microsoft.com/office/drawing/2014/main" id="{4BBE514C-0F9D-4038-6FA6-48049899A571}"/>
              </a:ext>
            </a:extLst>
          </p:cNvPr>
          <p:cNvSpPr txBox="1"/>
          <p:nvPr/>
        </p:nvSpPr>
        <p:spPr>
          <a:xfrm>
            <a:off x="2191809" y="2025050"/>
            <a:ext cx="698336" cy="123111"/>
          </a:xfrm>
          <a:prstGeom prst="rect">
            <a:avLst/>
          </a:prstGeom>
          <a:noFill/>
        </p:spPr>
        <p:txBody>
          <a:bodyPr wrap="square" lIns="36000" tIns="0" rIns="36000" bIns="0" rtlCol="0">
            <a:spAutoFit/>
          </a:bodyPr>
          <a:lstStyle/>
          <a:p>
            <a:r>
              <a:rPr lang="en-US" sz="800"/>
              <a:t>Unmanaged</a:t>
            </a:r>
          </a:p>
        </p:txBody>
      </p:sp>
      <p:pic>
        <p:nvPicPr>
          <p:cNvPr id="27" name="Graphique 26" descr="Jouer avec un remplissage uni">
            <a:extLst>
              <a:ext uri="{FF2B5EF4-FFF2-40B4-BE49-F238E27FC236}">
                <a16:creationId xmlns:a16="http://schemas.microsoft.com/office/drawing/2014/main" id="{12A9B302-D2C1-E1D1-05D7-79319807FA1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352991" y="3842860"/>
            <a:ext cx="396000" cy="396000"/>
          </a:xfrm>
          <a:prstGeom prst="rect">
            <a:avLst/>
          </a:prstGeom>
        </p:spPr>
      </p:pic>
      <p:sp>
        <p:nvSpPr>
          <p:cNvPr id="37" name="Rectangle 36">
            <a:extLst>
              <a:ext uri="{FF2B5EF4-FFF2-40B4-BE49-F238E27FC236}">
                <a16:creationId xmlns:a16="http://schemas.microsoft.com/office/drawing/2014/main" id="{17A9B921-6970-40D4-E7E4-6B2FA2BC3D14}"/>
              </a:ext>
            </a:extLst>
          </p:cNvPr>
          <p:cNvSpPr/>
          <p:nvPr/>
        </p:nvSpPr>
        <p:spPr>
          <a:xfrm>
            <a:off x="658547" y="3324703"/>
            <a:ext cx="2700000" cy="432000"/>
          </a:xfrm>
          <a:prstGeom prst="rect">
            <a:avLst/>
          </a:prstGeom>
          <a:solidFill>
            <a:schemeClr val="tx2"/>
          </a:solidFill>
          <a:ln w="12700" cap="flat" cmpd="sng" algn="ctr">
            <a:noFill/>
            <a:prstDash val="solid"/>
            <a:miter lim="800000"/>
          </a:ln>
          <a:effectLst/>
        </p:spPr>
        <p:txBody>
          <a:bodyPr rtlCol="0" anchor="ctr"/>
          <a:lstStyle/>
          <a:p>
            <a:pPr algn="ctr"/>
            <a:r>
              <a:rPr kumimoji="0" lang="en-US" sz="1600" b="1" i="0" u="none" strike="noStrike" kern="0" cap="none" spc="0" normalizeH="0" baseline="0" noProof="0">
                <a:ln>
                  <a:noFill/>
                </a:ln>
                <a:solidFill>
                  <a:schemeClr val="bg1"/>
                </a:solidFill>
                <a:effectLst/>
                <a:uLnTx/>
                <a:uFillTx/>
                <a:ea typeface="+mn-ea"/>
                <a:cs typeface="+mn-cs"/>
              </a:rPr>
              <a:t>Identity</a:t>
            </a:r>
          </a:p>
          <a:p>
            <a:pPr algn="ctr"/>
            <a:r>
              <a:rPr lang="en-US" sz="1600" b="1" kern="0">
                <a:solidFill>
                  <a:schemeClr val="bg1"/>
                </a:solidFill>
              </a:rPr>
              <a:t>M</a:t>
            </a:r>
            <a:r>
              <a:rPr kumimoji="0" lang="en-US" sz="1600" b="1" i="0" u="none" strike="noStrike" kern="0" cap="none" spc="0" normalizeH="0" baseline="0" noProof="0" err="1">
                <a:ln>
                  <a:noFill/>
                </a:ln>
                <a:solidFill>
                  <a:schemeClr val="bg1"/>
                </a:solidFill>
                <a:effectLst/>
                <a:uLnTx/>
                <a:uFillTx/>
                <a:ea typeface="+mn-ea"/>
                <a:cs typeface="+mn-cs"/>
              </a:rPr>
              <a:t>anagement</a:t>
            </a:r>
            <a:endParaRPr lang="fr-FR" sz="1600" b="1" kern="0">
              <a:solidFill>
                <a:schemeClr val="bg1"/>
              </a:solidFill>
            </a:endParaRPr>
          </a:p>
        </p:txBody>
      </p:sp>
      <p:pic>
        <p:nvPicPr>
          <p:cNvPr id="28" name="Graphique 27" descr="Jouer avec un remplissage uni">
            <a:extLst>
              <a:ext uri="{FF2B5EF4-FFF2-40B4-BE49-F238E27FC236}">
                <a16:creationId xmlns:a16="http://schemas.microsoft.com/office/drawing/2014/main" id="{08B96BE9-B0DB-8B22-EBC9-43F2E4520A8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389289" y="3842860"/>
            <a:ext cx="396000" cy="396000"/>
          </a:xfrm>
          <a:prstGeom prst="rect">
            <a:avLst/>
          </a:prstGeom>
        </p:spPr>
      </p:pic>
      <p:sp>
        <p:nvSpPr>
          <p:cNvPr id="106" name="Flèche : bas 105">
            <a:extLst>
              <a:ext uri="{FF2B5EF4-FFF2-40B4-BE49-F238E27FC236}">
                <a16:creationId xmlns:a16="http://schemas.microsoft.com/office/drawing/2014/main" id="{9846E7F3-66B1-2655-8633-AF8722C4925D}"/>
              </a:ext>
            </a:extLst>
          </p:cNvPr>
          <p:cNvSpPr/>
          <p:nvPr/>
        </p:nvSpPr>
        <p:spPr>
          <a:xfrm>
            <a:off x="828462"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98" name="Process_automation" descr="{&quot;Key&quot;:&quot;POWER_USER_SHAPE_ICON&quot;,&quot;Value&quot;:&quot;POWER_USER_SHAPE_ICON_STYLE_1&quot;}">
            <a:extLst>
              <a:ext uri="{FF2B5EF4-FFF2-40B4-BE49-F238E27FC236}">
                <a16:creationId xmlns:a16="http://schemas.microsoft.com/office/drawing/2014/main" id="{E5B2A24B-6E40-27B4-1A6F-221FEAF0AAD3}"/>
              </a:ext>
            </a:extLst>
          </p:cNvPr>
          <p:cNvGrpSpPr>
            <a:grpSpLocks noChangeAspect="1"/>
          </p:cNvGrpSpPr>
          <p:nvPr>
            <p:custDataLst>
              <p:tags r:id="rId1"/>
            </p:custDataLst>
          </p:nvPr>
        </p:nvGrpSpPr>
        <p:grpSpPr>
          <a:xfrm rot="16200000">
            <a:off x="974628" y="2595156"/>
            <a:ext cx="288000" cy="288000"/>
            <a:chOff x="7174578" y="3191054"/>
            <a:chExt cx="656155" cy="653975"/>
          </a:xfrm>
          <a:noFill/>
        </p:grpSpPr>
        <p:grpSp>
          <p:nvGrpSpPr>
            <p:cNvPr id="99" name="Resource_allocation">
              <a:extLst>
                <a:ext uri="{FF2B5EF4-FFF2-40B4-BE49-F238E27FC236}">
                  <a16:creationId xmlns:a16="http://schemas.microsoft.com/office/drawing/2014/main" id="{A8E3068D-DFD3-D7F3-4365-C32BEEC27860}"/>
                </a:ext>
              </a:extLst>
            </p:cNvPr>
            <p:cNvGrpSpPr>
              <a:grpSpLocks noChangeAspect="1"/>
            </p:cNvGrpSpPr>
            <p:nvPr>
              <p:custDataLst>
                <p:tags r:id="rId14"/>
              </p:custDataLst>
            </p:nvPr>
          </p:nvGrpSpPr>
          <p:grpSpPr>
            <a:xfrm>
              <a:off x="7174578" y="3362978"/>
              <a:ext cx="656155" cy="309690"/>
              <a:chOff x="6249988" y="3989388"/>
              <a:chExt cx="1076325" cy="508000"/>
            </a:xfrm>
            <a:grpFill/>
          </p:grpSpPr>
          <p:sp>
            <p:nvSpPr>
              <p:cNvPr id="102" name="Freeform 90">
                <a:extLst>
                  <a:ext uri="{FF2B5EF4-FFF2-40B4-BE49-F238E27FC236}">
                    <a16:creationId xmlns:a16="http://schemas.microsoft.com/office/drawing/2014/main" id="{4D85F05C-B30E-3951-E0B6-D2F4FBE963CE}"/>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Freeform 91">
                <a:extLst>
                  <a:ext uri="{FF2B5EF4-FFF2-40B4-BE49-F238E27FC236}">
                    <a16:creationId xmlns:a16="http://schemas.microsoft.com/office/drawing/2014/main" id="{B088390B-9FC1-2073-54C4-381972A6D04E}"/>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Freeform 92">
                <a:extLst>
                  <a:ext uri="{FF2B5EF4-FFF2-40B4-BE49-F238E27FC236}">
                    <a16:creationId xmlns:a16="http://schemas.microsoft.com/office/drawing/2014/main" id="{4BE0F7C5-1269-6D48-8457-71F5678A65C7}"/>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Freeform 93">
                <a:extLst>
                  <a:ext uri="{FF2B5EF4-FFF2-40B4-BE49-F238E27FC236}">
                    <a16:creationId xmlns:a16="http://schemas.microsoft.com/office/drawing/2014/main" id="{F0DD6BDA-4702-1D0C-88A7-C386FE8E1BE8}"/>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0" name="Target">
              <a:extLst>
                <a:ext uri="{FF2B5EF4-FFF2-40B4-BE49-F238E27FC236}">
                  <a16:creationId xmlns:a16="http://schemas.microsoft.com/office/drawing/2014/main" id="{2AB8EFAB-E7C2-A869-D536-79183F477FC6}"/>
                </a:ext>
              </a:extLst>
            </p:cNvPr>
            <p:cNvSpPr>
              <a:spLocks noChangeAspect="1"/>
            </p:cNvSpPr>
            <p:nvPr>
              <p:custDataLst>
                <p:tags r:id="rId15"/>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Target">
              <a:extLst>
                <a:ext uri="{FF2B5EF4-FFF2-40B4-BE49-F238E27FC236}">
                  <a16:creationId xmlns:a16="http://schemas.microsoft.com/office/drawing/2014/main" id="{ADA8FF71-750F-3982-E570-550B87FE721F}"/>
                </a:ext>
              </a:extLst>
            </p:cNvPr>
            <p:cNvSpPr>
              <a:spLocks noChangeAspect="1"/>
            </p:cNvSpPr>
            <p:nvPr>
              <p:custDataLst>
                <p:tags r:id="rId16"/>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7" name="Flèche : bas 116">
            <a:extLst>
              <a:ext uri="{FF2B5EF4-FFF2-40B4-BE49-F238E27FC236}">
                <a16:creationId xmlns:a16="http://schemas.microsoft.com/office/drawing/2014/main" id="{0DA0B136-6569-D4BC-0D3A-465A5261FA81}"/>
              </a:ext>
            </a:extLst>
          </p:cNvPr>
          <p:cNvSpPr/>
          <p:nvPr/>
        </p:nvSpPr>
        <p:spPr>
          <a:xfrm>
            <a:off x="2133006"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1" name="Graphique 120" descr="Jouer avec un remplissage uni">
            <a:extLst>
              <a:ext uri="{FF2B5EF4-FFF2-40B4-BE49-F238E27FC236}">
                <a16:creationId xmlns:a16="http://schemas.microsoft.com/office/drawing/2014/main" id="{C48BF74E-2BCC-8DAA-7F0A-02BA02263CB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2250764" y="4375044"/>
            <a:ext cx="396000" cy="396000"/>
          </a:xfrm>
          <a:prstGeom prst="rect">
            <a:avLst/>
          </a:prstGeom>
        </p:spPr>
      </p:pic>
      <p:pic>
        <p:nvPicPr>
          <p:cNvPr id="123" name="Graphique 122" descr="Jouer avec un remplissage uni">
            <a:extLst>
              <a:ext uri="{FF2B5EF4-FFF2-40B4-BE49-F238E27FC236}">
                <a16:creationId xmlns:a16="http://schemas.microsoft.com/office/drawing/2014/main" id="{822CA744-F905-8024-3FF5-87BFE3EE810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4779640" y="4375044"/>
            <a:ext cx="396000" cy="396000"/>
          </a:xfrm>
          <a:prstGeom prst="rect">
            <a:avLst/>
          </a:prstGeom>
        </p:spPr>
      </p:pic>
      <p:pic>
        <p:nvPicPr>
          <p:cNvPr id="124" name="Graphique 123" descr="Jouer avec un remplissage uni">
            <a:extLst>
              <a:ext uri="{FF2B5EF4-FFF2-40B4-BE49-F238E27FC236}">
                <a16:creationId xmlns:a16="http://schemas.microsoft.com/office/drawing/2014/main" id="{A029DC51-DDBD-418F-D833-87CABB34769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7937839" y="4375044"/>
            <a:ext cx="396000" cy="396000"/>
          </a:xfrm>
          <a:prstGeom prst="rect">
            <a:avLst/>
          </a:prstGeom>
        </p:spPr>
      </p:pic>
      <p:sp>
        <p:nvSpPr>
          <p:cNvPr id="125" name="Flèche : bas 124">
            <a:extLst>
              <a:ext uri="{FF2B5EF4-FFF2-40B4-BE49-F238E27FC236}">
                <a16:creationId xmlns:a16="http://schemas.microsoft.com/office/drawing/2014/main" id="{F308FB42-8111-7CDE-94FC-051EC652FC1F}"/>
              </a:ext>
            </a:extLst>
          </p:cNvPr>
          <p:cNvSpPr/>
          <p:nvPr/>
        </p:nvSpPr>
        <p:spPr>
          <a:xfrm>
            <a:off x="3849218"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6" name="Process_automation" descr="{&quot;Key&quot;:&quot;POWER_USER_SHAPE_ICON&quot;,&quot;Value&quot;:&quot;POWER_USER_SHAPE_ICON_STYLE_1&quot;}">
            <a:extLst>
              <a:ext uri="{FF2B5EF4-FFF2-40B4-BE49-F238E27FC236}">
                <a16:creationId xmlns:a16="http://schemas.microsoft.com/office/drawing/2014/main" id="{E45E46B8-D850-E579-4E03-B2E287970277}"/>
              </a:ext>
            </a:extLst>
          </p:cNvPr>
          <p:cNvGrpSpPr>
            <a:grpSpLocks noChangeAspect="1"/>
          </p:cNvGrpSpPr>
          <p:nvPr>
            <p:custDataLst>
              <p:tags r:id="rId2"/>
            </p:custDataLst>
          </p:nvPr>
        </p:nvGrpSpPr>
        <p:grpSpPr>
          <a:xfrm rot="16200000">
            <a:off x="3995384" y="2595156"/>
            <a:ext cx="288000" cy="288000"/>
            <a:chOff x="7174578" y="3191054"/>
            <a:chExt cx="656155" cy="653975"/>
          </a:xfrm>
          <a:noFill/>
        </p:grpSpPr>
        <p:grpSp>
          <p:nvGrpSpPr>
            <p:cNvPr id="127" name="Resource_allocation">
              <a:extLst>
                <a:ext uri="{FF2B5EF4-FFF2-40B4-BE49-F238E27FC236}">
                  <a16:creationId xmlns:a16="http://schemas.microsoft.com/office/drawing/2014/main" id="{4D0BEC8C-FC6A-C23F-6349-DBA167021495}"/>
                </a:ext>
              </a:extLst>
            </p:cNvPr>
            <p:cNvGrpSpPr>
              <a:grpSpLocks noChangeAspect="1"/>
            </p:cNvGrpSpPr>
            <p:nvPr>
              <p:custDataLst>
                <p:tags r:id="rId11"/>
              </p:custDataLst>
            </p:nvPr>
          </p:nvGrpSpPr>
          <p:grpSpPr>
            <a:xfrm>
              <a:off x="7174578" y="3362978"/>
              <a:ext cx="656155" cy="309690"/>
              <a:chOff x="6249988" y="3989388"/>
              <a:chExt cx="1076325" cy="508000"/>
            </a:xfrm>
            <a:grpFill/>
          </p:grpSpPr>
          <p:sp>
            <p:nvSpPr>
              <p:cNvPr id="130" name="Freeform 90">
                <a:extLst>
                  <a:ext uri="{FF2B5EF4-FFF2-40B4-BE49-F238E27FC236}">
                    <a16:creationId xmlns:a16="http://schemas.microsoft.com/office/drawing/2014/main" id="{AFC52B6D-3B11-BDB2-F62E-BF83BD220D91}"/>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Freeform 91">
                <a:extLst>
                  <a:ext uri="{FF2B5EF4-FFF2-40B4-BE49-F238E27FC236}">
                    <a16:creationId xmlns:a16="http://schemas.microsoft.com/office/drawing/2014/main" id="{09869483-7635-5394-4077-E78050FD4E21}"/>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Freeform 92">
                <a:extLst>
                  <a:ext uri="{FF2B5EF4-FFF2-40B4-BE49-F238E27FC236}">
                    <a16:creationId xmlns:a16="http://schemas.microsoft.com/office/drawing/2014/main" id="{929A235E-7FA1-D578-879F-42F474DA4BCB}"/>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Freeform 93">
                <a:extLst>
                  <a:ext uri="{FF2B5EF4-FFF2-40B4-BE49-F238E27FC236}">
                    <a16:creationId xmlns:a16="http://schemas.microsoft.com/office/drawing/2014/main" id="{C192517B-514F-FEE5-E7F2-8AE659E11560}"/>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8" name="Target">
              <a:extLst>
                <a:ext uri="{FF2B5EF4-FFF2-40B4-BE49-F238E27FC236}">
                  <a16:creationId xmlns:a16="http://schemas.microsoft.com/office/drawing/2014/main" id="{42E3F284-D187-4389-EC63-AF7E96BFF7B5}"/>
                </a:ext>
              </a:extLst>
            </p:cNvPr>
            <p:cNvSpPr>
              <a:spLocks noChangeAspect="1"/>
            </p:cNvSpPr>
            <p:nvPr>
              <p:custDataLst>
                <p:tags r:id="rId12"/>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Target">
              <a:extLst>
                <a:ext uri="{FF2B5EF4-FFF2-40B4-BE49-F238E27FC236}">
                  <a16:creationId xmlns:a16="http://schemas.microsoft.com/office/drawing/2014/main" id="{894EC9C9-801E-C8B0-36BA-8B3030B8135B}"/>
                </a:ext>
              </a:extLst>
            </p:cNvPr>
            <p:cNvSpPr>
              <a:spLocks noChangeAspect="1"/>
            </p:cNvSpPr>
            <p:nvPr>
              <p:custDataLst>
                <p:tags r:id="rId13"/>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lèche : bas 133">
            <a:extLst>
              <a:ext uri="{FF2B5EF4-FFF2-40B4-BE49-F238E27FC236}">
                <a16:creationId xmlns:a16="http://schemas.microsoft.com/office/drawing/2014/main" id="{557462EA-D0E3-3879-EA45-58E49AC85452}"/>
              </a:ext>
            </a:extLst>
          </p:cNvPr>
          <p:cNvSpPr/>
          <p:nvPr/>
        </p:nvSpPr>
        <p:spPr>
          <a:xfrm>
            <a:off x="5340757" y="2483487"/>
            <a:ext cx="567649" cy="503683"/>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Flèche : bas 137">
            <a:extLst>
              <a:ext uri="{FF2B5EF4-FFF2-40B4-BE49-F238E27FC236}">
                <a16:creationId xmlns:a16="http://schemas.microsoft.com/office/drawing/2014/main" id="{2DF812DA-EEA1-E8D9-F3B6-4AA254C77EC7}"/>
              </a:ext>
            </a:extLst>
          </p:cNvPr>
          <p:cNvSpPr/>
          <p:nvPr/>
        </p:nvSpPr>
        <p:spPr>
          <a:xfrm>
            <a:off x="7269793" y="2483488"/>
            <a:ext cx="567649" cy="503682"/>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39" name="Process_automation" descr="{&quot;Key&quot;:&quot;POWER_USER_SHAPE_ICON&quot;,&quot;Value&quot;:&quot;POWER_USER_SHAPE_ICON_STYLE_1&quot;}">
            <a:extLst>
              <a:ext uri="{FF2B5EF4-FFF2-40B4-BE49-F238E27FC236}">
                <a16:creationId xmlns:a16="http://schemas.microsoft.com/office/drawing/2014/main" id="{9147EB71-5FCE-162D-8AA5-EE2DF0F04D2A}"/>
              </a:ext>
            </a:extLst>
          </p:cNvPr>
          <p:cNvGrpSpPr>
            <a:grpSpLocks noChangeAspect="1"/>
          </p:cNvGrpSpPr>
          <p:nvPr>
            <p:custDataLst>
              <p:tags r:id="rId3"/>
            </p:custDataLst>
          </p:nvPr>
        </p:nvGrpSpPr>
        <p:grpSpPr>
          <a:xfrm rot="16200000">
            <a:off x="7415959" y="2595156"/>
            <a:ext cx="288000" cy="288000"/>
            <a:chOff x="7174578" y="3191054"/>
            <a:chExt cx="656155" cy="653975"/>
          </a:xfrm>
          <a:noFill/>
        </p:grpSpPr>
        <p:grpSp>
          <p:nvGrpSpPr>
            <p:cNvPr id="140" name="Resource_allocation">
              <a:extLst>
                <a:ext uri="{FF2B5EF4-FFF2-40B4-BE49-F238E27FC236}">
                  <a16:creationId xmlns:a16="http://schemas.microsoft.com/office/drawing/2014/main" id="{0177949C-6E96-8DD3-EC8F-D9D0D6424FAE}"/>
                </a:ext>
              </a:extLst>
            </p:cNvPr>
            <p:cNvGrpSpPr>
              <a:grpSpLocks noChangeAspect="1"/>
            </p:cNvGrpSpPr>
            <p:nvPr>
              <p:custDataLst>
                <p:tags r:id="rId8"/>
              </p:custDataLst>
            </p:nvPr>
          </p:nvGrpSpPr>
          <p:grpSpPr>
            <a:xfrm>
              <a:off x="7174578" y="3362978"/>
              <a:ext cx="656155" cy="309690"/>
              <a:chOff x="6249988" y="3989388"/>
              <a:chExt cx="1076325" cy="508000"/>
            </a:xfrm>
            <a:grpFill/>
          </p:grpSpPr>
          <p:sp>
            <p:nvSpPr>
              <p:cNvPr id="143" name="Freeform 90">
                <a:extLst>
                  <a:ext uri="{FF2B5EF4-FFF2-40B4-BE49-F238E27FC236}">
                    <a16:creationId xmlns:a16="http://schemas.microsoft.com/office/drawing/2014/main" id="{A78EE49F-4B4C-6703-5A7A-6FE6905C6588}"/>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Freeform 91">
                <a:extLst>
                  <a:ext uri="{FF2B5EF4-FFF2-40B4-BE49-F238E27FC236}">
                    <a16:creationId xmlns:a16="http://schemas.microsoft.com/office/drawing/2014/main" id="{2A646059-C8B4-FE25-0F59-88FAE61B39AC}"/>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Freeform 92">
                <a:extLst>
                  <a:ext uri="{FF2B5EF4-FFF2-40B4-BE49-F238E27FC236}">
                    <a16:creationId xmlns:a16="http://schemas.microsoft.com/office/drawing/2014/main" id="{6F0F6FD8-E39A-077A-8C59-A5163C41321C}"/>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Freeform 93">
                <a:extLst>
                  <a:ext uri="{FF2B5EF4-FFF2-40B4-BE49-F238E27FC236}">
                    <a16:creationId xmlns:a16="http://schemas.microsoft.com/office/drawing/2014/main" id="{BF7F6A94-81FF-3879-CDEA-2EB523EF5478}"/>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1" name="Target">
              <a:extLst>
                <a:ext uri="{FF2B5EF4-FFF2-40B4-BE49-F238E27FC236}">
                  <a16:creationId xmlns:a16="http://schemas.microsoft.com/office/drawing/2014/main" id="{30E14EC7-0858-5B51-6141-E90A16D47676}"/>
                </a:ext>
              </a:extLst>
            </p:cNvPr>
            <p:cNvSpPr>
              <a:spLocks noChangeAspect="1"/>
            </p:cNvSpPr>
            <p:nvPr>
              <p:custDataLst>
                <p:tags r:id="rId9"/>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Target">
              <a:extLst>
                <a:ext uri="{FF2B5EF4-FFF2-40B4-BE49-F238E27FC236}">
                  <a16:creationId xmlns:a16="http://schemas.microsoft.com/office/drawing/2014/main" id="{569ED519-94EC-F386-5D2F-D036B42ADCEC}"/>
                </a:ext>
              </a:extLst>
            </p:cNvPr>
            <p:cNvSpPr>
              <a:spLocks noChangeAspect="1"/>
            </p:cNvSpPr>
            <p:nvPr>
              <p:custDataLst>
                <p:tags r:id="rId10"/>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7" name="Flèche : bas 146">
            <a:extLst>
              <a:ext uri="{FF2B5EF4-FFF2-40B4-BE49-F238E27FC236}">
                <a16:creationId xmlns:a16="http://schemas.microsoft.com/office/drawing/2014/main" id="{10958819-8414-4EA8-7CC6-B866AB2B1E87}"/>
              </a:ext>
            </a:extLst>
          </p:cNvPr>
          <p:cNvSpPr/>
          <p:nvPr/>
        </p:nvSpPr>
        <p:spPr>
          <a:xfrm>
            <a:off x="8560361" y="2483488"/>
            <a:ext cx="567649" cy="503682"/>
          </a:xfrm>
          <a:prstGeom prst="downArrow">
            <a:avLst/>
          </a:prstGeom>
          <a:solidFill>
            <a:schemeClr val="bg1"/>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10" name="Candidate" descr="{&quot;Key&quot;:&quot;POWER_USER_SHAPE_ICON&quot;,&quot;Value&quot;:&quot;POWER_USER_SHAPE_ICON_STYLE_1&quot;}">
            <a:extLst>
              <a:ext uri="{FF2B5EF4-FFF2-40B4-BE49-F238E27FC236}">
                <a16:creationId xmlns:a16="http://schemas.microsoft.com/office/drawing/2014/main" id="{7661D2CD-132F-92F8-7DA2-4F3E80C313F3}"/>
              </a:ext>
            </a:extLst>
          </p:cNvPr>
          <p:cNvGrpSpPr>
            <a:grpSpLocks noChangeAspect="1"/>
          </p:cNvGrpSpPr>
          <p:nvPr/>
        </p:nvGrpSpPr>
        <p:grpSpPr>
          <a:xfrm>
            <a:off x="2309255" y="2603918"/>
            <a:ext cx="215149" cy="252000"/>
            <a:chOff x="8482013" y="4622800"/>
            <a:chExt cx="574675" cy="673101"/>
          </a:xfrm>
        </p:grpSpPr>
        <p:sp>
          <p:nvSpPr>
            <p:cNvPr id="211" name="Freeform 2635">
              <a:extLst>
                <a:ext uri="{FF2B5EF4-FFF2-40B4-BE49-F238E27FC236}">
                  <a16:creationId xmlns:a16="http://schemas.microsoft.com/office/drawing/2014/main" id="{59CB09D3-4B57-B90E-218E-64DE0F32A36B}"/>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Oval 2636">
              <a:extLst>
                <a:ext uri="{FF2B5EF4-FFF2-40B4-BE49-F238E27FC236}">
                  <a16:creationId xmlns:a16="http://schemas.microsoft.com/office/drawing/2014/main" id="{327F956D-C31B-968A-CAF2-D9F28CEB9135}"/>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Line 2637">
              <a:extLst>
                <a:ext uri="{FF2B5EF4-FFF2-40B4-BE49-F238E27FC236}">
                  <a16:creationId xmlns:a16="http://schemas.microsoft.com/office/drawing/2014/main" id="{58D5E95D-9CB8-F4B4-99B2-9EEB0E501CAF}"/>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Line 2638">
              <a:extLst>
                <a:ext uri="{FF2B5EF4-FFF2-40B4-BE49-F238E27FC236}">
                  <a16:creationId xmlns:a16="http://schemas.microsoft.com/office/drawing/2014/main" id="{FEF70FFF-B3BC-883F-7575-3AF5E5E4BD72}"/>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Line 2639">
              <a:extLst>
                <a:ext uri="{FF2B5EF4-FFF2-40B4-BE49-F238E27FC236}">
                  <a16:creationId xmlns:a16="http://schemas.microsoft.com/office/drawing/2014/main" id="{5878D348-0F8E-6177-C826-98ABB1DA47C6}"/>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Freeform 2640">
              <a:extLst>
                <a:ext uri="{FF2B5EF4-FFF2-40B4-BE49-F238E27FC236}">
                  <a16:creationId xmlns:a16="http://schemas.microsoft.com/office/drawing/2014/main" id="{FFF20370-5CEE-C88D-9151-9209572BE47D}"/>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Freeform 2641">
              <a:extLst>
                <a:ext uri="{FF2B5EF4-FFF2-40B4-BE49-F238E27FC236}">
                  <a16:creationId xmlns:a16="http://schemas.microsoft.com/office/drawing/2014/main" id="{9C674E31-36B3-4530-FBF8-28BE4C32662B}"/>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Freeform 2642">
              <a:extLst>
                <a:ext uri="{FF2B5EF4-FFF2-40B4-BE49-F238E27FC236}">
                  <a16:creationId xmlns:a16="http://schemas.microsoft.com/office/drawing/2014/main" id="{8C85425F-A329-6DC4-C929-BDC6DC0D440D}"/>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Freeform 2643">
              <a:extLst>
                <a:ext uri="{FF2B5EF4-FFF2-40B4-BE49-F238E27FC236}">
                  <a16:creationId xmlns:a16="http://schemas.microsoft.com/office/drawing/2014/main" id="{09A0373D-BFF1-0596-F23E-8F19E8E6A92D}"/>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Freeform 2644">
              <a:extLst>
                <a:ext uri="{FF2B5EF4-FFF2-40B4-BE49-F238E27FC236}">
                  <a16:creationId xmlns:a16="http://schemas.microsoft.com/office/drawing/2014/main" id="{64A12E85-F6AD-675C-EBF8-6BBC7C4DD805}"/>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Freeform 2645">
              <a:extLst>
                <a:ext uri="{FF2B5EF4-FFF2-40B4-BE49-F238E27FC236}">
                  <a16:creationId xmlns:a16="http://schemas.microsoft.com/office/drawing/2014/main" id="{7361F553-535A-AFEA-11F1-C9E0B8F509D3}"/>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25" name="Candidate" descr="{&quot;Key&quot;:&quot;POWER_USER_SHAPE_ICON&quot;,&quot;Value&quot;:&quot;POWER_USER_SHAPE_ICON_STYLE_1&quot;}">
            <a:extLst>
              <a:ext uri="{FF2B5EF4-FFF2-40B4-BE49-F238E27FC236}">
                <a16:creationId xmlns:a16="http://schemas.microsoft.com/office/drawing/2014/main" id="{165AD746-3033-A1FB-298D-6918E01ED247}"/>
              </a:ext>
            </a:extLst>
          </p:cNvPr>
          <p:cNvGrpSpPr>
            <a:grpSpLocks noChangeAspect="1"/>
          </p:cNvGrpSpPr>
          <p:nvPr/>
        </p:nvGrpSpPr>
        <p:grpSpPr>
          <a:xfrm>
            <a:off x="5529066" y="2603918"/>
            <a:ext cx="215149" cy="252000"/>
            <a:chOff x="8482013" y="4622800"/>
            <a:chExt cx="574675" cy="673101"/>
          </a:xfrm>
        </p:grpSpPr>
        <p:sp>
          <p:nvSpPr>
            <p:cNvPr id="226" name="Freeform 2635">
              <a:extLst>
                <a:ext uri="{FF2B5EF4-FFF2-40B4-BE49-F238E27FC236}">
                  <a16:creationId xmlns:a16="http://schemas.microsoft.com/office/drawing/2014/main" id="{1D605EA4-EB34-4267-0461-7B8520EFFA1C}"/>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Oval 2636">
              <a:extLst>
                <a:ext uri="{FF2B5EF4-FFF2-40B4-BE49-F238E27FC236}">
                  <a16:creationId xmlns:a16="http://schemas.microsoft.com/office/drawing/2014/main" id="{7D91BB78-2ED9-73BA-2A1A-C29782F73D5D}"/>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Line 2637">
              <a:extLst>
                <a:ext uri="{FF2B5EF4-FFF2-40B4-BE49-F238E27FC236}">
                  <a16:creationId xmlns:a16="http://schemas.microsoft.com/office/drawing/2014/main" id="{CD4CC23B-CB40-B3E4-F497-5691EA8839CA}"/>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Line 2638">
              <a:extLst>
                <a:ext uri="{FF2B5EF4-FFF2-40B4-BE49-F238E27FC236}">
                  <a16:creationId xmlns:a16="http://schemas.microsoft.com/office/drawing/2014/main" id="{D05020A3-E524-EFA0-6B6F-E2440C82C48F}"/>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Line 2639">
              <a:extLst>
                <a:ext uri="{FF2B5EF4-FFF2-40B4-BE49-F238E27FC236}">
                  <a16:creationId xmlns:a16="http://schemas.microsoft.com/office/drawing/2014/main" id="{1EBF7648-933D-597E-B041-34C2E4258467}"/>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Freeform 2640">
              <a:extLst>
                <a:ext uri="{FF2B5EF4-FFF2-40B4-BE49-F238E27FC236}">
                  <a16:creationId xmlns:a16="http://schemas.microsoft.com/office/drawing/2014/main" id="{BEA38575-A7EE-1001-A089-040809FEE4B7}"/>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Freeform 2641">
              <a:extLst>
                <a:ext uri="{FF2B5EF4-FFF2-40B4-BE49-F238E27FC236}">
                  <a16:creationId xmlns:a16="http://schemas.microsoft.com/office/drawing/2014/main" id="{84949A1F-1804-A95E-B543-02CDEB8BD678}"/>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Freeform 2642">
              <a:extLst>
                <a:ext uri="{FF2B5EF4-FFF2-40B4-BE49-F238E27FC236}">
                  <a16:creationId xmlns:a16="http://schemas.microsoft.com/office/drawing/2014/main" id="{7A83286C-2B0D-9AF4-5393-4B0D7C79329D}"/>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Freeform 2643">
              <a:extLst>
                <a:ext uri="{FF2B5EF4-FFF2-40B4-BE49-F238E27FC236}">
                  <a16:creationId xmlns:a16="http://schemas.microsoft.com/office/drawing/2014/main" id="{29A8FAD3-C5CA-D52F-E43E-E90DB8666F19}"/>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Freeform 2644">
              <a:extLst>
                <a:ext uri="{FF2B5EF4-FFF2-40B4-BE49-F238E27FC236}">
                  <a16:creationId xmlns:a16="http://schemas.microsoft.com/office/drawing/2014/main" id="{66041FA4-E32A-ED41-FCD1-564DFDF5689B}"/>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Freeform 2645">
              <a:extLst>
                <a:ext uri="{FF2B5EF4-FFF2-40B4-BE49-F238E27FC236}">
                  <a16:creationId xmlns:a16="http://schemas.microsoft.com/office/drawing/2014/main" id="{FC812309-CCEC-C1F2-303E-2CC443EA3FC8}"/>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37" name="Candidate" descr="{&quot;Key&quot;:&quot;POWER_USER_SHAPE_ICON&quot;,&quot;Value&quot;:&quot;POWER_USER_SHAPE_ICON_STYLE_1&quot;}">
            <a:extLst>
              <a:ext uri="{FF2B5EF4-FFF2-40B4-BE49-F238E27FC236}">
                <a16:creationId xmlns:a16="http://schemas.microsoft.com/office/drawing/2014/main" id="{E46C2137-1A56-59BB-2737-3EE8C8A9A0F3}"/>
              </a:ext>
            </a:extLst>
          </p:cNvPr>
          <p:cNvGrpSpPr>
            <a:grpSpLocks noChangeAspect="1"/>
          </p:cNvGrpSpPr>
          <p:nvPr/>
        </p:nvGrpSpPr>
        <p:grpSpPr>
          <a:xfrm>
            <a:off x="8736610" y="2603918"/>
            <a:ext cx="215149" cy="252000"/>
            <a:chOff x="8482013" y="4622800"/>
            <a:chExt cx="574675" cy="673101"/>
          </a:xfrm>
        </p:grpSpPr>
        <p:sp>
          <p:nvSpPr>
            <p:cNvPr id="238" name="Freeform 2635">
              <a:extLst>
                <a:ext uri="{FF2B5EF4-FFF2-40B4-BE49-F238E27FC236}">
                  <a16:creationId xmlns:a16="http://schemas.microsoft.com/office/drawing/2014/main" id="{D1C9B5BF-4DC3-12E5-617B-15BCF4446D59}"/>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Oval 2636">
              <a:extLst>
                <a:ext uri="{FF2B5EF4-FFF2-40B4-BE49-F238E27FC236}">
                  <a16:creationId xmlns:a16="http://schemas.microsoft.com/office/drawing/2014/main" id="{E7E64BFB-FB19-3169-CF50-10A127BCE606}"/>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Line 2637">
              <a:extLst>
                <a:ext uri="{FF2B5EF4-FFF2-40B4-BE49-F238E27FC236}">
                  <a16:creationId xmlns:a16="http://schemas.microsoft.com/office/drawing/2014/main" id="{6FA76D03-7BA4-3D39-92F9-706603764C6D}"/>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Line 2638">
              <a:extLst>
                <a:ext uri="{FF2B5EF4-FFF2-40B4-BE49-F238E27FC236}">
                  <a16:creationId xmlns:a16="http://schemas.microsoft.com/office/drawing/2014/main" id="{F3EEB811-7138-A2E7-0033-4DEB790EF95E}"/>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Line 2639">
              <a:extLst>
                <a:ext uri="{FF2B5EF4-FFF2-40B4-BE49-F238E27FC236}">
                  <a16:creationId xmlns:a16="http://schemas.microsoft.com/office/drawing/2014/main" id="{E30D53F7-ECAB-AD7E-AADA-05ED6FD0C387}"/>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Freeform 2640">
              <a:extLst>
                <a:ext uri="{FF2B5EF4-FFF2-40B4-BE49-F238E27FC236}">
                  <a16:creationId xmlns:a16="http://schemas.microsoft.com/office/drawing/2014/main" id="{C3D832AF-666B-C32A-769F-B0B8853D299E}"/>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2641">
              <a:extLst>
                <a:ext uri="{FF2B5EF4-FFF2-40B4-BE49-F238E27FC236}">
                  <a16:creationId xmlns:a16="http://schemas.microsoft.com/office/drawing/2014/main" id="{63FECA66-9BD5-BE0E-10E1-160F5CAA07B7}"/>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Freeform 2642">
              <a:extLst>
                <a:ext uri="{FF2B5EF4-FFF2-40B4-BE49-F238E27FC236}">
                  <a16:creationId xmlns:a16="http://schemas.microsoft.com/office/drawing/2014/main" id="{F6DF7C4D-7741-6E13-75E0-D2C708767C7F}"/>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2643">
              <a:extLst>
                <a:ext uri="{FF2B5EF4-FFF2-40B4-BE49-F238E27FC236}">
                  <a16:creationId xmlns:a16="http://schemas.microsoft.com/office/drawing/2014/main" id="{6D746F6A-A4BA-5775-F946-4BD85F634629}"/>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2644">
              <a:extLst>
                <a:ext uri="{FF2B5EF4-FFF2-40B4-BE49-F238E27FC236}">
                  <a16:creationId xmlns:a16="http://schemas.microsoft.com/office/drawing/2014/main" id="{94757670-4DC1-7479-64D3-44DC1BC882EB}"/>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Freeform 2645">
              <a:extLst>
                <a:ext uri="{FF2B5EF4-FFF2-40B4-BE49-F238E27FC236}">
                  <a16:creationId xmlns:a16="http://schemas.microsoft.com/office/drawing/2014/main" id="{2C2F10AD-879D-7848-2BA6-9B23EE76F616}"/>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53" name="ZoneTexte 252">
            <a:extLst>
              <a:ext uri="{FF2B5EF4-FFF2-40B4-BE49-F238E27FC236}">
                <a16:creationId xmlns:a16="http://schemas.microsoft.com/office/drawing/2014/main" id="{4229A8B9-4C9E-5511-D299-9CFE22F8CE7A}"/>
              </a:ext>
            </a:extLst>
          </p:cNvPr>
          <p:cNvSpPr txBox="1"/>
          <p:nvPr/>
        </p:nvSpPr>
        <p:spPr>
          <a:xfrm>
            <a:off x="3818521" y="2025050"/>
            <a:ext cx="1241102" cy="123111"/>
          </a:xfrm>
          <a:prstGeom prst="rect">
            <a:avLst/>
          </a:prstGeom>
          <a:noFill/>
        </p:spPr>
        <p:txBody>
          <a:bodyPr wrap="square" lIns="36000" tIns="0" rIns="36000" bIns="0" rtlCol="0">
            <a:spAutoFit/>
          </a:bodyPr>
          <a:lstStyle/>
          <a:p>
            <a:r>
              <a:rPr lang="en-US" sz="800"/>
              <a:t>Master sources </a:t>
            </a:r>
          </a:p>
        </p:txBody>
      </p:sp>
      <p:sp>
        <p:nvSpPr>
          <p:cNvPr id="254" name="ZoneTexte 253">
            <a:extLst>
              <a:ext uri="{FF2B5EF4-FFF2-40B4-BE49-F238E27FC236}">
                <a16:creationId xmlns:a16="http://schemas.microsoft.com/office/drawing/2014/main" id="{9CD625D9-8D0E-EFD2-7C04-B1CC95CD452C}"/>
              </a:ext>
            </a:extLst>
          </p:cNvPr>
          <p:cNvSpPr txBox="1"/>
          <p:nvPr/>
        </p:nvSpPr>
        <p:spPr>
          <a:xfrm>
            <a:off x="5398768" y="2025050"/>
            <a:ext cx="698336" cy="123111"/>
          </a:xfrm>
          <a:prstGeom prst="rect">
            <a:avLst/>
          </a:prstGeom>
          <a:noFill/>
        </p:spPr>
        <p:txBody>
          <a:bodyPr wrap="square" lIns="36000" tIns="0" rIns="36000" bIns="0" rtlCol="0">
            <a:spAutoFit/>
          </a:bodyPr>
          <a:lstStyle/>
          <a:p>
            <a:r>
              <a:rPr lang="en-US" sz="800"/>
              <a:t>Unmanaged</a:t>
            </a:r>
          </a:p>
        </p:txBody>
      </p:sp>
      <p:sp>
        <p:nvSpPr>
          <p:cNvPr id="297" name="ZoneTexte 296">
            <a:extLst>
              <a:ext uri="{FF2B5EF4-FFF2-40B4-BE49-F238E27FC236}">
                <a16:creationId xmlns:a16="http://schemas.microsoft.com/office/drawing/2014/main" id="{68D953D9-1079-BA4E-D42A-17FDF7C7D2C6}"/>
              </a:ext>
            </a:extLst>
          </p:cNvPr>
          <p:cNvSpPr txBox="1"/>
          <p:nvPr/>
        </p:nvSpPr>
        <p:spPr>
          <a:xfrm>
            <a:off x="7223552" y="2025050"/>
            <a:ext cx="1241102" cy="123111"/>
          </a:xfrm>
          <a:prstGeom prst="rect">
            <a:avLst/>
          </a:prstGeom>
          <a:noFill/>
        </p:spPr>
        <p:txBody>
          <a:bodyPr wrap="square" lIns="36000" tIns="0" rIns="36000" bIns="0" rtlCol="0">
            <a:spAutoFit/>
          </a:bodyPr>
          <a:lstStyle/>
          <a:p>
            <a:r>
              <a:rPr lang="en-US" sz="800"/>
              <a:t>Master sources </a:t>
            </a:r>
          </a:p>
        </p:txBody>
      </p:sp>
      <p:sp>
        <p:nvSpPr>
          <p:cNvPr id="298" name="ZoneTexte 297">
            <a:extLst>
              <a:ext uri="{FF2B5EF4-FFF2-40B4-BE49-F238E27FC236}">
                <a16:creationId xmlns:a16="http://schemas.microsoft.com/office/drawing/2014/main" id="{2C07BFD3-FE9E-0155-50F7-98A64347AC2B}"/>
              </a:ext>
            </a:extLst>
          </p:cNvPr>
          <p:cNvSpPr txBox="1"/>
          <p:nvPr/>
        </p:nvSpPr>
        <p:spPr>
          <a:xfrm>
            <a:off x="8622639" y="2025050"/>
            <a:ext cx="698336" cy="123111"/>
          </a:xfrm>
          <a:prstGeom prst="rect">
            <a:avLst/>
          </a:prstGeom>
          <a:noFill/>
        </p:spPr>
        <p:txBody>
          <a:bodyPr wrap="square" lIns="36000" tIns="0" rIns="36000" bIns="0" rtlCol="0">
            <a:spAutoFit/>
          </a:bodyPr>
          <a:lstStyle/>
          <a:p>
            <a:r>
              <a:rPr lang="en-US" sz="800"/>
              <a:t>Unmanaged</a:t>
            </a:r>
          </a:p>
        </p:txBody>
      </p:sp>
      <p:grpSp>
        <p:nvGrpSpPr>
          <p:cNvPr id="61" name="Process_automation" descr="{&quot;Key&quot;:&quot;POWER_USER_SHAPE_ICON&quot;,&quot;Value&quot;:&quot;POWER_USER_SHAPE_ICON_STYLE_1&quot;}">
            <a:extLst>
              <a:ext uri="{FF2B5EF4-FFF2-40B4-BE49-F238E27FC236}">
                <a16:creationId xmlns:a16="http://schemas.microsoft.com/office/drawing/2014/main" id="{F6646526-A261-3C61-D859-6AD0F6951737}"/>
              </a:ext>
            </a:extLst>
          </p:cNvPr>
          <p:cNvGrpSpPr>
            <a:grpSpLocks noChangeAspect="1"/>
          </p:cNvGrpSpPr>
          <p:nvPr>
            <p:custDataLst>
              <p:tags r:id="rId4"/>
            </p:custDataLst>
          </p:nvPr>
        </p:nvGrpSpPr>
        <p:grpSpPr>
          <a:xfrm rot="16200000">
            <a:off x="937505" y="6614500"/>
            <a:ext cx="216000" cy="216000"/>
            <a:chOff x="7174578" y="3191054"/>
            <a:chExt cx="656155" cy="653975"/>
          </a:xfrm>
          <a:noFill/>
        </p:grpSpPr>
        <p:grpSp>
          <p:nvGrpSpPr>
            <p:cNvPr id="62" name="Resource_allocation">
              <a:extLst>
                <a:ext uri="{FF2B5EF4-FFF2-40B4-BE49-F238E27FC236}">
                  <a16:creationId xmlns:a16="http://schemas.microsoft.com/office/drawing/2014/main" id="{DC5D8CBD-A7AF-EBD9-39A0-2D90AA9A5122}"/>
                </a:ext>
              </a:extLst>
            </p:cNvPr>
            <p:cNvGrpSpPr>
              <a:grpSpLocks noChangeAspect="1"/>
            </p:cNvGrpSpPr>
            <p:nvPr>
              <p:custDataLst>
                <p:tags r:id="rId5"/>
              </p:custDataLst>
            </p:nvPr>
          </p:nvGrpSpPr>
          <p:grpSpPr>
            <a:xfrm>
              <a:off x="7174578" y="3362978"/>
              <a:ext cx="656155" cy="309690"/>
              <a:chOff x="6249988" y="3989388"/>
              <a:chExt cx="1076325" cy="508000"/>
            </a:xfrm>
            <a:grpFill/>
          </p:grpSpPr>
          <p:sp>
            <p:nvSpPr>
              <p:cNvPr id="66" name="Freeform 90">
                <a:extLst>
                  <a:ext uri="{FF2B5EF4-FFF2-40B4-BE49-F238E27FC236}">
                    <a16:creationId xmlns:a16="http://schemas.microsoft.com/office/drawing/2014/main" id="{921A4CCA-F1BD-71ED-CAC4-3CA211D14609}"/>
                  </a:ext>
                </a:extLst>
              </p:cNvPr>
              <p:cNvSpPr>
                <a:spLocks noEditPoints="1"/>
              </p:cNvSpPr>
              <p:nvPr/>
            </p:nvSpPr>
            <p:spPr bwMode="auto">
              <a:xfrm>
                <a:off x="6475413" y="4159250"/>
                <a:ext cx="338138" cy="338138"/>
              </a:xfrm>
              <a:custGeom>
                <a:avLst/>
                <a:gdLst>
                  <a:gd name="T0" fmla="*/ 274 w 560"/>
                  <a:gd name="T1" fmla="*/ 395 h 560"/>
                  <a:gd name="T2" fmla="*/ 175 w 560"/>
                  <a:gd name="T3" fmla="*/ 328 h 560"/>
                  <a:gd name="T4" fmla="*/ 365 w 560"/>
                  <a:gd name="T5" fmla="*/ 204 h 560"/>
                  <a:gd name="T6" fmla="*/ 357 w 560"/>
                  <a:gd name="T7" fmla="*/ 366 h 560"/>
                  <a:gd name="T8" fmla="*/ 510 w 560"/>
                  <a:gd name="T9" fmla="*/ 237 h 560"/>
                  <a:gd name="T10" fmla="*/ 483 w 560"/>
                  <a:gd name="T11" fmla="*/ 191 h 560"/>
                  <a:gd name="T12" fmla="*/ 486 w 560"/>
                  <a:gd name="T13" fmla="*/ 169 h 560"/>
                  <a:gd name="T14" fmla="*/ 504 w 560"/>
                  <a:gd name="T15" fmla="*/ 113 h 560"/>
                  <a:gd name="T16" fmla="*/ 469 w 560"/>
                  <a:gd name="T17" fmla="*/ 74 h 560"/>
                  <a:gd name="T18" fmla="*/ 411 w 560"/>
                  <a:gd name="T19" fmla="*/ 87 h 560"/>
                  <a:gd name="T20" fmla="*/ 364 w 560"/>
                  <a:gd name="T21" fmla="*/ 76 h 560"/>
                  <a:gd name="T22" fmla="*/ 338 w 560"/>
                  <a:gd name="T23" fmla="*/ 20 h 560"/>
                  <a:gd name="T24" fmla="*/ 293 w 560"/>
                  <a:gd name="T25" fmla="*/ 1 h 560"/>
                  <a:gd name="T26" fmla="*/ 248 w 560"/>
                  <a:gd name="T27" fmla="*/ 15 h 560"/>
                  <a:gd name="T28" fmla="*/ 217 w 560"/>
                  <a:gd name="T29" fmla="*/ 68 h 560"/>
                  <a:gd name="T30" fmla="*/ 169 w 560"/>
                  <a:gd name="T31" fmla="*/ 74 h 560"/>
                  <a:gd name="T32" fmla="*/ 113 w 560"/>
                  <a:gd name="T33" fmla="*/ 56 h 560"/>
                  <a:gd name="T34" fmla="*/ 74 w 560"/>
                  <a:gd name="T35" fmla="*/ 91 h 560"/>
                  <a:gd name="T36" fmla="*/ 86 w 560"/>
                  <a:gd name="T37" fmla="*/ 148 h 560"/>
                  <a:gd name="T38" fmla="*/ 75 w 560"/>
                  <a:gd name="T39" fmla="*/ 196 h 560"/>
                  <a:gd name="T40" fmla="*/ 20 w 560"/>
                  <a:gd name="T41" fmla="*/ 222 h 560"/>
                  <a:gd name="T42" fmla="*/ 6 w 560"/>
                  <a:gd name="T43" fmla="*/ 232 h 560"/>
                  <a:gd name="T44" fmla="*/ 5 w 560"/>
                  <a:gd name="T45" fmla="*/ 235 h 560"/>
                  <a:gd name="T46" fmla="*/ 3 w 560"/>
                  <a:gd name="T47" fmla="*/ 240 h 560"/>
                  <a:gd name="T48" fmla="*/ 1 w 560"/>
                  <a:gd name="T49" fmla="*/ 292 h 560"/>
                  <a:gd name="T50" fmla="*/ 49 w 560"/>
                  <a:gd name="T51" fmla="*/ 324 h 560"/>
                  <a:gd name="T52" fmla="*/ 77 w 560"/>
                  <a:gd name="T53" fmla="*/ 371 h 560"/>
                  <a:gd name="T54" fmla="*/ 73 w 560"/>
                  <a:gd name="T55" fmla="*/ 392 h 560"/>
                  <a:gd name="T56" fmla="*/ 56 w 560"/>
                  <a:gd name="T57" fmla="*/ 447 h 560"/>
                  <a:gd name="T58" fmla="*/ 91 w 560"/>
                  <a:gd name="T59" fmla="*/ 486 h 560"/>
                  <a:gd name="T60" fmla="*/ 147 w 560"/>
                  <a:gd name="T61" fmla="*/ 474 h 560"/>
                  <a:gd name="T62" fmla="*/ 196 w 560"/>
                  <a:gd name="T63" fmla="*/ 487 h 560"/>
                  <a:gd name="T64" fmla="*/ 222 w 560"/>
                  <a:gd name="T65" fmla="*/ 540 h 560"/>
                  <a:gd name="T66" fmla="*/ 265 w 560"/>
                  <a:gd name="T67" fmla="*/ 559 h 560"/>
                  <a:gd name="T68" fmla="*/ 312 w 560"/>
                  <a:gd name="T69" fmla="*/ 544 h 560"/>
                  <a:gd name="T70" fmla="*/ 342 w 560"/>
                  <a:gd name="T71" fmla="*/ 494 h 560"/>
                  <a:gd name="T72" fmla="*/ 393 w 560"/>
                  <a:gd name="T73" fmla="*/ 487 h 560"/>
                  <a:gd name="T74" fmla="*/ 447 w 560"/>
                  <a:gd name="T75" fmla="*/ 504 h 560"/>
                  <a:gd name="T76" fmla="*/ 486 w 560"/>
                  <a:gd name="T77" fmla="*/ 469 h 560"/>
                  <a:gd name="T78" fmla="*/ 474 w 560"/>
                  <a:gd name="T79" fmla="*/ 413 h 560"/>
                  <a:gd name="T80" fmla="*/ 486 w 560"/>
                  <a:gd name="T81" fmla="*/ 364 h 560"/>
                  <a:gd name="T82" fmla="*/ 539 w 560"/>
                  <a:gd name="T83" fmla="*/ 338 h 560"/>
                  <a:gd name="T84" fmla="*/ 555 w 560"/>
                  <a:gd name="T85" fmla="*/ 326 h 560"/>
                  <a:gd name="T86" fmla="*/ 556 w 560"/>
                  <a:gd name="T87" fmla="*/ 320 h 560"/>
                  <a:gd name="T88" fmla="*/ 559 w 560"/>
                  <a:gd name="T89" fmla="*/ 293 h 560"/>
                  <a:gd name="T90" fmla="*/ 544 w 560"/>
                  <a:gd name="T91" fmla="*/ 2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7" y="366"/>
                    </a:moveTo>
                    <a:cubicBezTo>
                      <a:pt x="334" y="386"/>
                      <a:pt x="305" y="397"/>
                      <a:pt x="274" y="395"/>
                    </a:cubicBezTo>
                    <a:cubicBezTo>
                      <a:pt x="244" y="394"/>
                      <a:pt x="216" y="380"/>
                      <a:pt x="195" y="358"/>
                    </a:cubicBezTo>
                    <a:cubicBezTo>
                      <a:pt x="187" y="349"/>
                      <a:pt x="180" y="338"/>
                      <a:pt x="175" y="328"/>
                    </a:cubicBezTo>
                    <a:cubicBezTo>
                      <a:pt x="155" y="282"/>
                      <a:pt x="167" y="229"/>
                      <a:pt x="203" y="196"/>
                    </a:cubicBezTo>
                    <a:cubicBezTo>
                      <a:pt x="250" y="154"/>
                      <a:pt x="323" y="158"/>
                      <a:pt x="365" y="204"/>
                    </a:cubicBezTo>
                    <a:cubicBezTo>
                      <a:pt x="373" y="213"/>
                      <a:pt x="380" y="224"/>
                      <a:pt x="384" y="234"/>
                    </a:cubicBezTo>
                    <a:cubicBezTo>
                      <a:pt x="405" y="280"/>
                      <a:pt x="393" y="333"/>
                      <a:pt x="357" y="366"/>
                    </a:cubicBezTo>
                    <a:close/>
                    <a:moveTo>
                      <a:pt x="544" y="248"/>
                    </a:moveTo>
                    <a:lnTo>
                      <a:pt x="510" y="237"/>
                    </a:lnTo>
                    <a:cubicBezTo>
                      <a:pt x="503" y="234"/>
                      <a:pt x="495" y="225"/>
                      <a:pt x="493" y="217"/>
                    </a:cubicBezTo>
                    <a:cubicBezTo>
                      <a:pt x="490" y="208"/>
                      <a:pt x="487" y="199"/>
                      <a:pt x="483" y="191"/>
                    </a:cubicBezTo>
                    <a:cubicBezTo>
                      <a:pt x="482" y="189"/>
                      <a:pt x="481" y="187"/>
                      <a:pt x="481" y="186"/>
                    </a:cubicBezTo>
                    <a:cubicBezTo>
                      <a:pt x="479" y="183"/>
                      <a:pt x="482" y="175"/>
                      <a:pt x="486" y="169"/>
                    </a:cubicBezTo>
                    <a:lnTo>
                      <a:pt x="505" y="138"/>
                    </a:lnTo>
                    <a:cubicBezTo>
                      <a:pt x="509" y="131"/>
                      <a:pt x="509" y="119"/>
                      <a:pt x="504" y="113"/>
                    </a:cubicBezTo>
                    <a:cubicBezTo>
                      <a:pt x="499" y="106"/>
                      <a:pt x="494" y="100"/>
                      <a:pt x="488" y="93"/>
                    </a:cubicBezTo>
                    <a:cubicBezTo>
                      <a:pt x="482" y="86"/>
                      <a:pt x="475" y="80"/>
                      <a:pt x="469" y="74"/>
                    </a:cubicBezTo>
                    <a:cubicBezTo>
                      <a:pt x="463" y="69"/>
                      <a:pt x="452" y="67"/>
                      <a:pt x="444" y="71"/>
                    </a:cubicBezTo>
                    <a:lnTo>
                      <a:pt x="411" y="87"/>
                    </a:lnTo>
                    <a:cubicBezTo>
                      <a:pt x="404" y="90"/>
                      <a:pt x="393" y="89"/>
                      <a:pt x="385" y="86"/>
                    </a:cubicBezTo>
                    <a:cubicBezTo>
                      <a:pt x="378" y="82"/>
                      <a:pt x="371" y="79"/>
                      <a:pt x="364" y="76"/>
                    </a:cubicBezTo>
                    <a:cubicBezTo>
                      <a:pt x="357" y="72"/>
                      <a:pt x="349" y="64"/>
                      <a:pt x="347" y="56"/>
                    </a:cubicBezTo>
                    <a:lnTo>
                      <a:pt x="338" y="20"/>
                    </a:lnTo>
                    <a:cubicBezTo>
                      <a:pt x="336" y="13"/>
                      <a:pt x="328" y="5"/>
                      <a:pt x="320" y="3"/>
                    </a:cubicBezTo>
                    <a:cubicBezTo>
                      <a:pt x="312" y="2"/>
                      <a:pt x="302" y="1"/>
                      <a:pt x="293" y="1"/>
                    </a:cubicBezTo>
                    <a:cubicBezTo>
                      <a:pt x="285" y="0"/>
                      <a:pt x="276" y="0"/>
                      <a:pt x="268" y="0"/>
                    </a:cubicBezTo>
                    <a:cubicBezTo>
                      <a:pt x="260" y="1"/>
                      <a:pt x="251" y="8"/>
                      <a:pt x="248" y="15"/>
                    </a:cubicBezTo>
                    <a:lnTo>
                      <a:pt x="236" y="51"/>
                    </a:lnTo>
                    <a:cubicBezTo>
                      <a:pt x="233" y="58"/>
                      <a:pt x="225" y="66"/>
                      <a:pt x="217" y="68"/>
                    </a:cubicBezTo>
                    <a:cubicBezTo>
                      <a:pt x="209" y="70"/>
                      <a:pt x="202" y="73"/>
                      <a:pt x="195" y="76"/>
                    </a:cubicBezTo>
                    <a:cubicBezTo>
                      <a:pt x="187" y="79"/>
                      <a:pt x="176" y="79"/>
                      <a:pt x="169" y="74"/>
                    </a:cubicBezTo>
                    <a:lnTo>
                      <a:pt x="137" y="55"/>
                    </a:lnTo>
                    <a:cubicBezTo>
                      <a:pt x="130" y="51"/>
                      <a:pt x="119" y="51"/>
                      <a:pt x="113" y="56"/>
                    </a:cubicBezTo>
                    <a:cubicBezTo>
                      <a:pt x="106" y="61"/>
                      <a:pt x="99" y="66"/>
                      <a:pt x="93" y="72"/>
                    </a:cubicBezTo>
                    <a:cubicBezTo>
                      <a:pt x="86" y="78"/>
                      <a:pt x="80" y="84"/>
                      <a:pt x="74" y="91"/>
                    </a:cubicBezTo>
                    <a:cubicBezTo>
                      <a:pt x="68" y="97"/>
                      <a:pt x="67" y="108"/>
                      <a:pt x="71" y="116"/>
                    </a:cubicBezTo>
                    <a:lnTo>
                      <a:pt x="86" y="148"/>
                    </a:lnTo>
                    <a:cubicBezTo>
                      <a:pt x="90" y="156"/>
                      <a:pt x="89" y="167"/>
                      <a:pt x="85" y="174"/>
                    </a:cubicBezTo>
                    <a:cubicBezTo>
                      <a:pt x="81" y="181"/>
                      <a:pt x="78" y="189"/>
                      <a:pt x="75" y="196"/>
                    </a:cubicBezTo>
                    <a:cubicBezTo>
                      <a:pt x="72" y="203"/>
                      <a:pt x="63" y="211"/>
                      <a:pt x="55" y="213"/>
                    </a:cubicBezTo>
                    <a:lnTo>
                      <a:pt x="20" y="222"/>
                    </a:lnTo>
                    <a:cubicBezTo>
                      <a:pt x="15" y="223"/>
                      <a:pt x="10" y="227"/>
                      <a:pt x="6" y="232"/>
                    </a:cubicBezTo>
                    <a:lnTo>
                      <a:pt x="6" y="232"/>
                    </a:lnTo>
                    <a:cubicBezTo>
                      <a:pt x="6" y="232"/>
                      <a:pt x="5" y="233"/>
                      <a:pt x="5" y="234"/>
                    </a:cubicBezTo>
                    <a:cubicBezTo>
                      <a:pt x="5" y="234"/>
                      <a:pt x="5" y="235"/>
                      <a:pt x="5" y="235"/>
                    </a:cubicBezTo>
                    <a:cubicBezTo>
                      <a:pt x="4" y="236"/>
                      <a:pt x="4" y="236"/>
                      <a:pt x="4" y="237"/>
                    </a:cubicBezTo>
                    <a:cubicBezTo>
                      <a:pt x="3" y="238"/>
                      <a:pt x="3" y="239"/>
                      <a:pt x="3" y="240"/>
                    </a:cubicBezTo>
                    <a:cubicBezTo>
                      <a:pt x="2" y="248"/>
                      <a:pt x="1" y="256"/>
                      <a:pt x="0" y="265"/>
                    </a:cubicBezTo>
                    <a:cubicBezTo>
                      <a:pt x="0" y="274"/>
                      <a:pt x="0" y="283"/>
                      <a:pt x="1" y="292"/>
                    </a:cubicBezTo>
                    <a:cubicBezTo>
                      <a:pt x="1" y="300"/>
                      <a:pt x="8" y="309"/>
                      <a:pt x="16" y="312"/>
                    </a:cubicBezTo>
                    <a:lnTo>
                      <a:pt x="49" y="324"/>
                    </a:lnTo>
                    <a:cubicBezTo>
                      <a:pt x="57" y="326"/>
                      <a:pt x="64" y="335"/>
                      <a:pt x="67" y="343"/>
                    </a:cubicBezTo>
                    <a:cubicBezTo>
                      <a:pt x="69" y="352"/>
                      <a:pt x="73" y="362"/>
                      <a:pt x="77" y="371"/>
                    </a:cubicBezTo>
                    <a:cubicBezTo>
                      <a:pt x="78" y="373"/>
                      <a:pt x="78" y="374"/>
                      <a:pt x="79" y="376"/>
                    </a:cubicBezTo>
                    <a:cubicBezTo>
                      <a:pt x="80" y="378"/>
                      <a:pt x="78" y="385"/>
                      <a:pt x="73" y="392"/>
                    </a:cubicBezTo>
                    <a:lnTo>
                      <a:pt x="55" y="422"/>
                    </a:lnTo>
                    <a:cubicBezTo>
                      <a:pt x="51" y="429"/>
                      <a:pt x="51" y="440"/>
                      <a:pt x="56" y="447"/>
                    </a:cubicBezTo>
                    <a:cubicBezTo>
                      <a:pt x="61" y="454"/>
                      <a:pt x="67" y="461"/>
                      <a:pt x="73" y="468"/>
                    </a:cubicBezTo>
                    <a:cubicBezTo>
                      <a:pt x="78" y="475"/>
                      <a:pt x="84" y="481"/>
                      <a:pt x="91" y="486"/>
                    </a:cubicBezTo>
                    <a:cubicBezTo>
                      <a:pt x="97" y="492"/>
                      <a:pt x="108" y="493"/>
                      <a:pt x="115" y="489"/>
                    </a:cubicBezTo>
                    <a:lnTo>
                      <a:pt x="147" y="474"/>
                    </a:lnTo>
                    <a:cubicBezTo>
                      <a:pt x="154" y="471"/>
                      <a:pt x="165" y="472"/>
                      <a:pt x="173" y="475"/>
                    </a:cubicBezTo>
                    <a:cubicBezTo>
                      <a:pt x="180" y="480"/>
                      <a:pt x="188" y="483"/>
                      <a:pt x="196" y="487"/>
                    </a:cubicBezTo>
                    <a:cubicBezTo>
                      <a:pt x="204" y="490"/>
                      <a:pt x="212" y="498"/>
                      <a:pt x="213" y="506"/>
                    </a:cubicBezTo>
                    <a:lnTo>
                      <a:pt x="222" y="540"/>
                    </a:lnTo>
                    <a:cubicBezTo>
                      <a:pt x="224" y="548"/>
                      <a:pt x="232" y="556"/>
                      <a:pt x="240" y="557"/>
                    </a:cubicBezTo>
                    <a:cubicBezTo>
                      <a:pt x="248" y="558"/>
                      <a:pt x="256" y="559"/>
                      <a:pt x="265" y="559"/>
                    </a:cubicBezTo>
                    <a:cubicBezTo>
                      <a:pt x="274" y="560"/>
                      <a:pt x="283" y="560"/>
                      <a:pt x="292" y="559"/>
                    </a:cubicBezTo>
                    <a:cubicBezTo>
                      <a:pt x="300" y="559"/>
                      <a:pt x="309" y="552"/>
                      <a:pt x="312" y="544"/>
                    </a:cubicBezTo>
                    <a:lnTo>
                      <a:pt x="323" y="512"/>
                    </a:lnTo>
                    <a:cubicBezTo>
                      <a:pt x="326" y="504"/>
                      <a:pt x="334" y="497"/>
                      <a:pt x="342" y="494"/>
                    </a:cubicBezTo>
                    <a:cubicBezTo>
                      <a:pt x="351" y="492"/>
                      <a:pt x="359" y="489"/>
                      <a:pt x="367" y="486"/>
                    </a:cubicBezTo>
                    <a:cubicBezTo>
                      <a:pt x="374" y="482"/>
                      <a:pt x="386" y="483"/>
                      <a:pt x="393" y="487"/>
                    </a:cubicBezTo>
                    <a:lnTo>
                      <a:pt x="422" y="505"/>
                    </a:lnTo>
                    <a:cubicBezTo>
                      <a:pt x="429" y="509"/>
                      <a:pt x="440" y="509"/>
                      <a:pt x="447" y="504"/>
                    </a:cubicBezTo>
                    <a:cubicBezTo>
                      <a:pt x="454" y="499"/>
                      <a:pt x="461" y="493"/>
                      <a:pt x="468" y="487"/>
                    </a:cubicBezTo>
                    <a:cubicBezTo>
                      <a:pt x="474" y="481"/>
                      <a:pt x="480" y="475"/>
                      <a:pt x="486" y="469"/>
                    </a:cubicBezTo>
                    <a:cubicBezTo>
                      <a:pt x="491" y="463"/>
                      <a:pt x="493" y="452"/>
                      <a:pt x="489" y="445"/>
                    </a:cubicBezTo>
                    <a:lnTo>
                      <a:pt x="474" y="413"/>
                    </a:lnTo>
                    <a:cubicBezTo>
                      <a:pt x="470" y="406"/>
                      <a:pt x="471" y="394"/>
                      <a:pt x="475" y="387"/>
                    </a:cubicBezTo>
                    <a:cubicBezTo>
                      <a:pt x="479" y="380"/>
                      <a:pt x="483" y="372"/>
                      <a:pt x="486" y="364"/>
                    </a:cubicBezTo>
                    <a:cubicBezTo>
                      <a:pt x="489" y="356"/>
                      <a:pt x="497" y="349"/>
                      <a:pt x="505" y="347"/>
                    </a:cubicBezTo>
                    <a:lnTo>
                      <a:pt x="539" y="338"/>
                    </a:lnTo>
                    <a:cubicBezTo>
                      <a:pt x="545" y="337"/>
                      <a:pt x="551" y="332"/>
                      <a:pt x="554" y="326"/>
                    </a:cubicBezTo>
                    <a:cubicBezTo>
                      <a:pt x="554" y="326"/>
                      <a:pt x="555" y="326"/>
                      <a:pt x="555" y="326"/>
                    </a:cubicBezTo>
                    <a:cubicBezTo>
                      <a:pt x="555" y="325"/>
                      <a:pt x="555" y="324"/>
                      <a:pt x="556" y="323"/>
                    </a:cubicBezTo>
                    <a:cubicBezTo>
                      <a:pt x="556" y="323"/>
                      <a:pt x="556" y="321"/>
                      <a:pt x="556" y="320"/>
                    </a:cubicBezTo>
                    <a:cubicBezTo>
                      <a:pt x="557" y="318"/>
                      <a:pt x="557" y="316"/>
                      <a:pt x="557" y="314"/>
                    </a:cubicBezTo>
                    <a:cubicBezTo>
                      <a:pt x="558" y="307"/>
                      <a:pt x="559" y="300"/>
                      <a:pt x="559" y="293"/>
                    </a:cubicBezTo>
                    <a:cubicBezTo>
                      <a:pt x="560" y="285"/>
                      <a:pt x="560" y="276"/>
                      <a:pt x="559" y="268"/>
                    </a:cubicBezTo>
                    <a:cubicBezTo>
                      <a:pt x="559" y="260"/>
                      <a:pt x="552" y="251"/>
                      <a:pt x="544" y="24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Freeform 91">
                <a:extLst>
                  <a:ext uri="{FF2B5EF4-FFF2-40B4-BE49-F238E27FC236}">
                    <a16:creationId xmlns:a16="http://schemas.microsoft.com/office/drawing/2014/main" id="{61A52252-8180-1FED-4D78-BF8881B2A93E}"/>
                  </a:ext>
                </a:extLst>
              </p:cNvPr>
              <p:cNvSpPr>
                <a:spLocks noEditPoints="1"/>
              </p:cNvSpPr>
              <p:nvPr/>
            </p:nvSpPr>
            <p:spPr bwMode="auto">
              <a:xfrm>
                <a:off x="6249988" y="4084638"/>
                <a:ext cx="244475" cy="247650"/>
              </a:xfrm>
              <a:custGeom>
                <a:avLst/>
                <a:gdLst>
                  <a:gd name="T0" fmla="*/ 148 w 405"/>
                  <a:gd name="T1" fmla="*/ 254 h 410"/>
                  <a:gd name="T2" fmla="*/ 154 w 405"/>
                  <a:gd name="T3" fmla="*/ 149 h 410"/>
                  <a:gd name="T4" fmla="*/ 259 w 405"/>
                  <a:gd name="T5" fmla="*/ 155 h 410"/>
                  <a:gd name="T6" fmla="*/ 253 w 405"/>
                  <a:gd name="T7" fmla="*/ 260 h 410"/>
                  <a:gd name="T8" fmla="*/ 383 w 405"/>
                  <a:gd name="T9" fmla="*/ 300 h 410"/>
                  <a:gd name="T10" fmla="*/ 385 w 405"/>
                  <a:gd name="T11" fmla="*/ 297 h 410"/>
                  <a:gd name="T12" fmla="*/ 388 w 405"/>
                  <a:gd name="T13" fmla="*/ 293 h 410"/>
                  <a:gd name="T14" fmla="*/ 404 w 405"/>
                  <a:gd name="T15" fmla="*/ 243 h 410"/>
                  <a:gd name="T16" fmla="*/ 404 w 405"/>
                  <a:gd name="T17" fmla="*/ 239 h 410"/>
                  <a:gd name="T18" fmla="*/ 404 w 405"/>
                  <a:gd name="T19" fmla="*/ 235 h 410"/>
                  <a:gd name="T20" fmla="*/ 403 w 405"/>
                  <a:gd name="T21" fmla="*/ 232 h 410"/>
                  <a:gd name="T22" fmla="*/ 373 w 405"/>
                  <a:gd name="T23" fmla="*/ 205 h 410"/>
                  <a:gd name="T24" fmla="*/ 355 w 405"/>
                  <a:gd name="T25" fmla="*/ 162 h 410"/>
                  <a:gd name="T26" fmla="*/ 372 w 405"/>
                  <a:gd name="T27" fmla="*/ 113 h 410"/>
                  <a:gd name="T28" fmla="*/ 355 w 405"/>
                  <a:gd name="T29" fmla="*/ 69 h 410"/>
                  <a:gd name="T30" fmla="*/ 311 w 405"/>
                  <a:gd name="T31" fmla="*/ 47 h 410"/>
                  <a:gd name="T32" fmla="*/ 261 w 405"/>
                  <a:gd name="T33" fmla="*/ 58 h 410"/>
                  <a:gd name="T34" fmla="*/ 220 w 405"/>
                  <a:gd name="T35" fmla="*/ 36 h 410"/>
                  <a:gd name="T36" fmla="*/ 186 w 405"/>
                  <a:gd name="T37" fmla="*/ 1 h 410"/>
                  <a:gd name="T38" fmla="*/ 134 w 405"/>
                  <a:gd name="T39" fmla="*/ 12 h 410"/>
                  <a:gd name="T40" fmla="*/ 117 w 405"/>
                  <a:gd name="T41" fmla="*/ 59 h 410"/>
                  <a:gd name="T42" fmla="*/ 98 w 405"/>
                  <a:gd name="T43" fmla="*/ 88 h 410"/>
                  <a:gd name="T44" fmla="*/ 66 w 405"/>
                  <a:gd name="T45" fmla="*/ 106 h 410"/>
                  <a:gd name="T46" fmla="*/ 22 w 405"/>
                  <a:gd name="T47" fmla="*/ 111 h 410"/>
                  <a:gd name="T48" fmla="*/ 20 w 405"/>
                  <a:gd name="T49" fmla="*/ 113 h 410"/>
                  <a:gd name="T50" fmla="*/ 19 w 405"/>
                  <a:gd name="T51" fmla="*/ 116 h 410"/>
                  <a:gd name="T52" fmla="*/ 8 w 405"/>
                  <a:gd name="T53" fmla="*/ 142 h 410"/>
                  <a:gd name="T54" fmla="*/ 11 w 405"/>
                  <a:gd name="T55" fmla="*/ 191 h 410"/>
                  <a:gd name="T56" fmla="*/ 48 w 405"/>
                  <a:gd name="T57" fmla="*/ 230 h 410"/>
                  <a:gd name="T58" fmla="*/ 48 w 405"/>
                  <a:gd name="T59" fmla="*/ 273 h 410"/>
                  <a:gd name="T60" fmla="*/ 34 w 405"/>
                  <a:gd name="T61" fmla="*/ 322 h 410"/>
                  <a:gd name="T62" fmla="*/ 69 w 405"/>
                  <a:gd name="T63" fmla="*/ 361 h 410"/>
                  <a:gd name="T64" fmla="*/ 120 w 405"/>
                  <a:gd name="T65" fmla="*/ 352 h 410"/>
                  <a:gd name="T66" fmla="*/ 163 w 405"/>
                  <a:gd name="T67" fmla="*/ 357 h 410"/>
                  <a:gd name="T68" fmla="*/ 198 w 405"/>
                  <a:gd name="T69" fmla="*/ 398 h 410"/>
                  <a:gd name="T70" fmla="*/ 246 w 405"/>
                  <a:gd name="T71" fmla="*/ 405 h 410"/>
                  <a:gd name="T72" fmla="*/ 286 w 405"/>
                  <a:gd name="T73" fmla="*/ 379 h 410"/>
                  <a:gd name="T74" fmla="*/ 299 w 405"/>
                  <a:gd name="T75" fmla="*/ 330 h 410"/>
                  <a:gd name="T76" fmla="*/ 317 w 405"/>
                  <a:gd name="T77" fmla="*/ 314 h 410"/>
                  <a:gd name="T78" fmla="*/ 367 w 405"/>
                  <a:gd name="T79" fmla="*/ 306 h 410"/>
                  <a:gd name="T80" fmla="*/ 376 w 405"/>
                  <a:gd name="T81" fmla="*/ 30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3" y="260"/>
                    </a:moveTo>
                    <a:cubicBezTo>
                      <a:pt x="223" y="287"/>
                      <a:pt x="176" y="285"/>
                      <a:pt x="148" y="254"/>
                    </a:cubicBezTo>
                    <a:cubicBezTo>
                      <a:pt x="143" y="249"/>
                      <a:pt x="139" y="242"/>
                      <a:pt x="136" y="235"/>
                    </a:cubicBezTo>
                    <a:cubicBezTo>
                      <a:pt x="122" y="205"/>
                      <a:pt x="130" y="171"/>
                      <a:pt x="154" y="149"/>
                    </a:cubicBezTo>
                    <a:cubicBezTo>
                      <a:pt x="168" y="136"/>
                      <a:pt x="187" y="129"/>
                      <a:pt x="207" y="130"/>
                    </a:cubicBezTo>
                    <a:cubicBezTo>
                      <a:pt x="227" y="131"/>
                      <a:pt x="245" y="140"/>
                      <a:pt x="259" y="155"/>
                    </a:cubicBezTo>
                    <a:cubicBezTo>
                      <a:pt x="264" y="161"/>
                      <a:pt x="268" y="167"/>
                      <a:pt x="271" y="174"/>
                    </a:cubicBezTo>
                    <a:cubicBezTo>
                      <a:pt x="284" y="204"/>
                      <a:pt x="277" y="238"/>
                      <a:pt x="253" y="260"/>
                    </a:cubicBezTo>
                    <a:close/>
                    <a:moveTo>
                      <a:pt x="376" y="304"/>
                    </a:moveTo>
                    <a:cubicBezTo>
                      <a:pt x="378" y="303"/>
                      <a:pt x="380" y="302"/>
                      <a:pt x="383" y="300"/>
                    </a:cubicBezTo>
                    <a:cubicBezTo>
                      <a:pt x="383" y="300"/>
                      <a:pt x="383" y="299"/>
                      <a:pt x="383" y="299"/>
                    </a:cubicBezTo>
                    <a:cubicBezTo>
                      <a:pt x="384" y="299"/>
                      <a:pt x="385" y="298"/>
                      <a:pt x="385" y="297"/>
                    </a:cubicBezTo>
                    <a:cubicBezTo>
                      <a:pt x="386" y="297"/>
                      <a:pt x="386" y="297"/>
                      <a:pt x="386" y="296"/>
                    </a:cubicBezTo>
                    <a:cubicBezTo>
                      <a:pt x="387" y="295"/>
                      <a:pt x="387" y="294"/>
                      <a:pt x="388" y="293"/>
                    </a:cubicBezTo>
                    <a:cubicBezTo>
                      <a:pt x="392" y="285"/>
                      <a:pt x="395" y="276"/>
                      <a:pt x="398" y="268"/>
                    </a:cubicBezTo>
                    <a:cubicBezTo>
                      <a:pt x="400" y="260"/>
                      <a:pt x="402" y="251"/>
                      <a:pt x="404" y="243"/>
                    </a:cubicBezTo>
                    <a:cubicBezTo>
                      <a:pt x="404" y="242"/>
                      <a:pt x="404" y="241"/>
                      <a:pt x="405" y="240"/>
                    </a:cubicBezTo>
                    <a:cubicBezTo>
                      <a:pt x="405" y="240"/>
                      <a:pt x="405" y="239"/>
                      <a:pt x="404" y="239"/>
                    </a:cubicBezTo>
                    <a:cubicBezTo>
                      <a:pt x="404" y="238"/>
                      <a:pt x="404" y="238"/>
                      <a:pt x="404" y="237"/>
                    </a:cubicBezTo>
                    <a:cubicBezTo>
                      <a:pt x="404" y="237"/>
                      <a:pt x="404" y="236"/>
                      <a:pt x="404" y="235"/>
                    </a:cubicBezTo>
                    <a:cubicBezTo>
                      <a:pt x="404" y="235"/>
                      <a:pt x="404" y="235"/>
                      <a:pt x="404" y="235"/>
                    </a:cubicBezTo>
                    <a:cubicBezTo>
                      <a:pt x="404" y="234"/>
                      <a:pt x="403" y="233"/>
                      <a:pt x="403" y="232"/>
                    </a:cubicBezTo>
                    <a:cubicBezTo>
                      <a:pt x="401" y="227"/>
                      <a:pt x="398" y="223"/>
                      <a:pt x="395" y="220"/>
                    </a:cubicBezTo>
                    <a:lnTo>
                      <a:pt x="373" y="205"/>
                    </a:lnTo>
                    <a:cubicBezTo>
                      <a:pt x="366" y="201"/>
                      <a:pt x="361" y="190"/>
                      <a:pt x="359" y="182"/>
                    </a:cubicBezTo>
                    <a:cubicBezTo>
                      <a:pt x="358" y="176"/>
                      <a:pt x="357" y="169"/>
                      <a:pt x="355" y="162"/>
                    </a:cubicBezTo>
                    <a:cubicBezTo>
                      <a:pt x="353" y="154"/>
                      <a:pt x="354" y="143"/>
                      <a:pt x="358" y="136"/>
                    </a:cubicBezTo>
                    <a:lnTo>
                      <a:pt x="372" y="113"/>
                    </a:lnTo>
                    <a:cubicBezTo>
                      <a:pt x="376" y="106"/>
                      <a:pt x="376" y="95"/>
                      <a:pt x="371" y="89"/>
                    </a:cubicBezTo>
                    <a:cubicBezTo>
                      <a:pt x="366" y="82"/>
                      <a:pt x="361" y="75"/>
                      <a:pt x="355" y="69"/>
                    </a:cubicBezTo>
                    <a:cubicBezTo>
                      <a:pt x="349" y="62"/>
                      <a:pt x="342" y="56"/>
                      <a:pt x="336" y="50"/>
                    </a:cubicBezTo>
                    <a:cubicBezTo>
                      <a:pt x="330" y="44"/>
                      <a:pt x="319" y="43"/>
                      <a:pt x="311" y="47"/>
                    </a:cubicBezTo>
                    <a:lnTo>
                      <a:pt x="288" y="58"/>
                    </a:lnTo>
                    <a:cubicBezTo>
                      <a:pt x="281" y="61"/>
                      <a:pt x="269" y="61"/>
                      <a:pt x="261" y="58"/>
                    </a:cubicBezTo>
                    <a:cubicBezTo>
                      <a:pt x="255" y="55"/>
                      <a:pt x="248" y="53"/>
                      <a:pt x="241" y="52"/>
                    </a:cubicBezTo>
                    <a:cubicBezTo>
                      <a:pt x="234" y="50"/>
                      <a:pt x="224" y="43"/>
                      <a:pt x="220" y="36"/>
                    </a:cubicBezTo>
                    <a:lnTo>
                      <a:pt x="207" y="13"/>
                    </a:lnTo>
                    <a:cubicBezTo>
                      <a:pt x="203" y="6"/>
                      <a:pt x="194" y="0"/>
                      <a:pt x="186" y="1"/>
                    </a:cubicBezTo>
                    <a:cubicBezTo>
                      <a:pt x="177" y="2"/>
                      <a:pt x="169" y="3"/>
                      <a:pt x="161" y="5"/>
                    </a:cubicBezTo>
                    <a:cubicBezTo>
                      <a:pt x="152" y="7"/>
                      <a:pt x="143" y="9"/>
                      <a:pt x="134" y="12"/>
                    </a:cubicBezTo>
                    <a:cubicBezTo>
                      <a:pt x="127" y="15"/>
                      <a:pt x="120" y="24"/>
                      <a:pt x="119" y="32"/>
                    </a:cubicBezTo>
                    <a:lnTo>
                      <a:pt x="117" y="59"/>
                    </a:lnTo>
                    <a:cubicBezTo>
                      <a:pt x="117" y="67"/>
                      <a:pt x="112" y="76"/>
                      <a:pt x="107" y="80"/>
                    </a:cubicBezTo>
                    <a:cubicBezTo>
                      <a:pt x="104" y="83"/>
                      <a:pt x="101" y="85"/>
                      <a:pt x="98" y="88"/>
                    </a:cubicBezTo>
                    <a:cubicBezTo>
                      <a:pt x="95" y="90"/>
                      <a:pt x="92" y="93"/>
                      <a:pt x="89" y="96"/>
                    </a:cubicBezTo>
                    <a:cubicBezTo>
                      <a:pt x="84" y="102"/>
                      <a:pt x="74" y="106"/>
                      <a:pt x="66" y="106"/>
                    </a:cubicBezTo>
                    <a:lnTo>
                      <a:pt x="38" y="105"/>
                    </a:lnTo>
                    <a:cubicBezTo>
                      <a:pt x="33" y="105"/>
                      <a:pt x="27" y="107"/>
                      <a:pt x="22" y="111"/>
                    </a:cubicBezTo>
                    <a:cubicBezTo>
                      <a:pt x="22" y="112"/>
                      <a:pt x="22" y="112"/>
                      <a:pt x="21" y="112"/>
                    </a:cubicBezTo>
                    <a:cubicBezTo>
                      <a:pt x="21" y="113"/>
                      <a:pt x="21" y="113"/>
                      <a:pt x="20" y="113"/>
                    </a:cubicBezTo>
                    <a:cubicBezTo>
                      <a:pt x="20" y="114"/>
                      <a:pt x="20" y="114"/>
                      <a:pt x="19" y="115"/>
                    </a:cubicBezTo>
                    <a:cubicBezTo>
                      <a:pt x="19" y="115"/>
                      <a:pt x="19" y="115"/>
                      <a:pt x="19" y="116"/>
                    </a:cubicBezTo>
                    <a:cubicBezTo>
                      <a:pt x="18" y="116"/>
                      <a:pt x="18" y="117"/>
                      <a:pt x="17" y="118"/>
                    </a:cubicBezTo>
                    <a:cubicBezTo>
                      <a:pt x="14" y="126"/>
                      <a:pt x="11" y="134"/>
                      <a:pt x="8" y="142"/>
                    </a:cubicBezTo>
                    <a:cubicBezTo>
                      <a:pt x="5" y="150"/>
                      <a:pt x="3" y="159"/>
                      <a:pt x="1" y="168"/>
                    </a:cubicBezTo>
                    <a:cubicBezTo>
                      <a:pt x="0" y="176"/>
                      <a:pt x="4" y="186"/>
                      <a:pt x="11" y="191"/>
                    </a:cubicBezTo>
                    <a:lnTo>
                      <a:pt x="34" y="207"/>
                    </a:lnTo>
                    <a:cubicBezTo>
                      <a:pt x="41" y="211"/>
                      <a:pt x="47" y="222"/>
                      <a:pt x="48" y="230"/>
                    </a:cubicBezTo>
                    <a:cubicBezTo>
                      <a:pt x="49" y="235"/>
                      <a:pt x="50" y="241"/>
                      <a:pt x="51" y="246"/>
                    </a:cubicBezTo>
                    <a:cubicBezTo>
                      <a:pt x="54" y="254"/>
                      <a:pt x="53" y="266"/>
                      <a:pt x="48" y="273"/>
                    </a:cubicBezTo>
                    <a:lnTo>
                      <a:pt x="34" y="297"/>
                    </a:lnTo>
                    <a:cubicBezTo>
                      <a:pt x="29" y="304"/>
                      <a:pt x="29" y="315"/>
                      <a:pt x="34" y="322"/>
                    </a:cubicBezTo>
                    <a:cubicBezTo>
                      <a:pt x="39" y="329"/>
                      <a:pt x="45" y="336"/>
                      <a:pt x="51" y="343"/>
                    </a:cubicBezTo>
                    <a:cubicBezTo>
                      <a:pt x="57" y="349"/>
                      <a:pt x="63" y="355"/>
                      <a:pt x="69" y="361"/>
                    </a:cubicBezTo>
                    <a:cubicBezTo>
                      <a:pt x="75" y="367"/>
                      <a:pt x="86" y="368"/>
                      <a:pt x="94" y="364"/>
                    </a:cubicBezTo>
                    <a:lnTo>
                      <a:pt x="120" y="352"/>
                    </a:lnTo>
                    <a:cubicBezTo>
                      <a:pt x="127" y="348"/>
                      <a:pt x="139" y="349"/>
                      <a:pt x="146" y="352"/>
                    </a:cubicBezTo>
                    <a:cubicBezTo>
                      <a:pt x="152" y="354"/>
                      <a:pt x="157" y="355"/>
                      <a:pt x="163" y="357"/>
                    </a:cubicBezTo>
                    <a:cubicBezTo>
                      <a:pt x="170" y="359"/>
                      <a:pt x="180" y="366"/>
                      <a:pt x="184" y="373"/>
                    </a:cubicBezTo>
                    <a:lnTo>
                      <a:pt x="198" y="398"/>
                    </a:lnTo>
                    <a:cubicBezTo>
                      <a:pt x="202" y="405"/>
                      <a:pt x="211" y="410"/>
                      <a:pt x="219" y="410"/>
                    </a:cubicBezTo>
                    <a:cubicBezTo>
                      <a:pt x="228" y="409"/>
                      <a:pt x="237" y="407"/>
                      <a:pt x="246" y="405"/>
                    </a:cubicBezTo>
                    <a:cubicBezTo>
                      <a:pt x="255" y="404"/>
                      <a:pt x="263" y="401"/>
                      <a:pt x="271" y="399"/>
                    </a:cubicBezTo>
                    <a:cubicBezTo>
                      <a:pt x="279" y="396"/>
                      <a:pt x="285" y="387"/>
                      <a:pt x="286" y="379"/>
                    </a:cubicBezTo>
                    <a:lnTo>
                      <a:pt x="288" y="352"/>
                    </a:lnTo>
                    <a:cubicBezTo>
                      <a:pt x="289" y="343"/>
                      <a:pt x="294" y="334"/>
                      <a:pt x="299" y="330"/>
                    </a:cubicBezTo>
                    <a:cubicBezTo>
                      <a:pt x="303" y="327"/>
                      <a:pt x="306" y="324"/>
                      <a:pt x="309" y="322"/>
                    </a:cubicBezTo>
                    <a:cubicBezTo>
                      <a:pt x="312" y="319"/>
                      <a:pt x="315" y="316"/>
                      <a:pt x="317" y="314"/>
                    </a:cubicBezTo>
                    <a:cubicBezTo>
                      <a:pt x="322" y="309"/>
                      <a:pt x="331" y="305"/>
                      <a:pt x="340" y="305"/>
                    </a:cubicBezTo>
                    <a:lnTo>
                      <a:pt x="367" y="306"/>
                    </a:lnTo>
                    <a:cubicBezTo>
                      <a:pt x="370" y="306"/>
                      <a:pt x="373" y="305"/>
                      <a:pt x="375" y="304"/>
                    </a:cubicBezTo>
                    <a:lnTo>
                      <a:pt x="376" y="304"/>
                    </a:ln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reeform 92">
                <a:extLst>
                  <a:ext uri="{FF2B5EF4-FFF2-40B4-BE49-F238E27FC236}">
                    <a16:creationId xmlns:a16="http://schemas.microsoft.com/office/drawing/2014/main" id="{E4256E71-5C40-8060-7D05-118B8118E17B}"/>
                  </a:ext>
                </a:extLst>
              </p:cNvPr>
              <p:cNvSpPr>
                <a:spLocks noEditPoints="1"/>
              </p:cNvSpPr>
              <p:nvPr/>
            </p:nvSpPr>
            <p:spPr bwMode="auto">
              <a:xfrm>
                <a:off x="6764338" y="3989388"/>
                <a:ext cx="336550" cy="336550"/>
              </a:xfrm>
              <a:custGeom>
                <a:avLst/>
                <a:gdLst>
                  <a:gd name="T0" fmla="*/ 195 w 560"/>
                  <a:gd name="T1" fmla="*/ 355 h 560"/>
                  <a:gd name="T2" fmla="*/ 203 w 560"/>
                  <a:gd name="T3" fmla="*/ 194 h 560"/>
                  <a:gd name="T4" fmla="*/ 364 w 560"/>
                  <a:gd name="T5" fmla="*/ 202 h 560"/>
                  <a:gd name="T6" fmla="*/ 356 w 560"/>
                  <a:gd name="T7" fmla="*/ 364 h 560"/>
                  <a:gd name="T8" fmla="*/ 553 w 560"/>
                  <a:gd name="T9" fmla="*/ 328 h 560"/>
                  <a:gd name="T10" fmla="*/ 555 w 560"/>
                  <a:gd name="T11" fmla="*/ 325 h 560"/>
                  <a:gd name="T12" fmla="*/ 557 w 560"/>
                  <a:gd name="T13" fmla="*/ 320 h 560"/>
                  <a:gd name="T14" fmla="*/ 559 w 560"/>
                  <a:gd name="T15" fmla="*/ 267 h 560"/>
                  <a:gd name="T16" fmla="*/ 510 w 560"/>
                  <a:gd name="T17" fmla="*/ 236 h 560"/>
                  <a:gd name="T18" fmla="*/ 482 w 560"/>
                  <a:gd name="T19" fmla="*/ 188 h 560"/>
                  <a:gd name="T20" fmla="*/ 486 w 560"/>
                  <a:gd name="T21" fmla="*/ 167 h 560"/>
                  <a:gd name="T22" fmla="*/ 504 w 560"/>
                  <a:gd name="T23" fmla="*/ 113 h 560"/>
                  <a:gd name="T24" fmla="*/ 469 w 560"/>
                  <a:gd name="T25" fmla="*/ 73 h 560"/>
                  <a:gd name="T26" fmla="*/ 413 w 560"/>
                  <a:gd name="T27" fmla="*/ 85 h 560"/>
                  <a:gd name="T28" fmla="*/ 363 w 560"/>
                  <a:gd name="T29" fmla="*/ 73 h 560"/>
                  <a:gd name="T30" fmla="*/ 338 w 560"/>
                  <a:gd name="T31" fmla="*/ 20 h 560"/>
                  <a:gd name="T32" fmla="*/ 295 w 560"/>
                  <a:gd name="T33" fmla="*/ 0 h 560"/>
                  <a:gd name="T34" fmla="*/ 248 w 560"/>
                  <a:gd name="T35" fmla="*/ 16 h 560"/>
                  <a:gd name="T36" fmla="*/ 217 w 560"/>
                  <a:gd name="T37" fmla="*/ 65 h 560"/>
                  <a:gd name="T38" fmla="*/ 167 w 560"/>
                  <a:gd name="T39" fmla="*/ 73 h 560"/>
                  <a:gd name="T40" fmla="*/ 113 w 560"/>
                  <a:gd name="T41" fmla="*/ 55 h 560"/>
                  <a:gd name="T42" fmla="*/ 74 w 560"/>
                  <a:gd name="T43" fmla="*/ 90 h 560"/>
                  <a:gd name="T44" fmla="*/ 86 w 560"/>
                  <a:gd name="T45" fmla="*/ 147 h 560"/>
                  <a:gd name="T46" fmla="*/ 74 w 560"/>
                  <a:gd name="T47" fmla="*/ 196 h 560"/>
                  <a:gd name="T48" fmla="*/ 20 w 560"/>
                  <a:gd name="T49" fmla="*/ 221 h 560"/>
                  <a:gd name="T50" fmla="*/ 5 w 560"/>
                  <a:gd name="T51" fmla="*/ 234 h 560"/>
                  <a:gd name="T52" fmla="*/ 3 w 560"/>
                  <a:gd name="T53" fmla="*/ 239 h 560"/>
                  <a:gd name="T54" fmla="*/ 0 w 560"/>
                  <a:gd name="T55" fmla="*/ 266 h 560"/>
                  <a:gd name="T56" fmla="*/ 15 w 560"/>
                  <a:gd name="T57" fmla="*/ 311 h 560"/>
                  <a:gd name="T58" fmla="*/ 67 w 560"/>
                  <a:gd name="T59" fmla="*/ 342 h 560"/>
                  <a:gd name="T60" fmla="*/ 79 w 560"/>
                  <a:gd name="T61" fmla="*/ 374 h 560"/>
                  <a:gd name="T62" fmla="*/ 55 w 560"/>
                  <a:gd name="T63" fmla="*/ 422 h 560"/>
                  <a:gd name="T64" fmla="*/ 71 w 560"/>
                  <a:gd name="T65" fmla="*/ 466 h 560"/>
                  <a:gd name="T66" fmla="*/ 115 w 560"/>
                  <a:gd name="T67" fmla="*/ 489 h 560"/>
                  <a:gd name="T68" fmla="*/ 174 w 560"/>
                  <a:gd name="T69" fmla="*/ 474 h 560"/>
                  <a:gd name="T70" fmla="*/ 213 w 560"/>
                  <a:gd name="T71" fmla="*/ 503 h 560"/>
                  <a:gd name="T72" fmla="*/ 239 w 560"/>
                  <a:gd name="T73" fmla="*/ 556 h 560"/>
                  <a:gd name="T74" fmla="*/ 292 w 560"/>
                  <a:gd name="T75" fmla="*/ 559 h 560"/>
                  <a:gd name="T76" fmla="*/ 323 w 560"/>
                  <a:gd name="T77" fmla="*/ 509 h 560"/>
                  <a:gd name="T78" fmla="*/ 365 w 560"/>
                  <a:gd name="T79" fmla="*/ 484 h 560"/>
                  <a:gd name="T80" fmla="*/ 422 w 560"/>
                  <a:gd name="T81" fmla="*/ 505 h 560"/>
                  <a:gd name="T82" fmla="*/ 467 w 560"/>
                  <a:gd name="T83" fmla="*/ 488 h 560"/>
                  <a:gd name="T84" fmla="*/ 489 w 560"/>
                  <a:gd name="T85" fmla="*/ 444 h 560"/>
                  <a:gd name="T86" fmla="*/ 474 w 560"/>
                  <a:gd name="T87" fmla="*/ 385 h 560"/>
                  <a:gd name="T88" fmla="*/ 504 w 560"/>
                  <a:gd name="T89" fmla="*/ 346 h 560"/>
                  <a:gd name="T90" fmla="*/ 553 w 560"/>
                  <a:gd name="T91" fmla="*/ 32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0" h="560">
                    <a:moveTo>
                      <a:pt x="356" y="364"/>
                    </a:moveTo>
                    <a:cubicBezTo>
                      <a:pt x="309" y="406"/>
                      <a:pt x="237" y="402"/>
                      <a:pt x="195" y="355"/>
                    </a:cubicBezTo>
                    <a:cubicBezTo>
                      <a:pt x="186" y="346"/>
                      <a:pt x="180" y="336"/>
                      <a:pt x="175" y="325"/>
                    </a:cubicBezTo>
                    <a:cubicBezTo>
                      <a:pt x="155" y="280"/>
                      <a:pt x="166" y="227"/>
                      <a:pt x="203" y="194"/>
                    </a:cubicBezTo>
                    <a:cubicBezTo>
                      <a:pt x="226" y="173"/>
                      <a:pt x="255" y="163"/>
                      <a:pt x="285" y="164"/>
                    </a:cubicBezTo>
                    <a:cubicBezTo>
                      <a:pt x="316" y="166"/>
                      <a:pt x="344" y="179"/>
                      <a:pt x="364" y="202"/>
                    </a:cubicBezTo>
                    <a:cubicBezTo>
                      <a:pt x="372" y="211"/>
                      <a:pt x="379" y="221"/>
                      <a:pt x="384" y="232"/>
                    </a:cubicBezTo>
                    <a:cubicBezTo>
                      <a:pt x="404" y="277"/>
                      <a:pt x="393" y="330"/>
                      <a:pt x="356" y="364"/>
                    </a:cubicBezTo>
                    <a:close/>
                    <a:moveTo>
                      <a:pt x="553" y="328"/>
                    </a:moveTo>
                    <a:lnTo>
                      <a:pt x="553" y="328"/>
                    </a:lnTo>
                    <a:cubicBezTo>
                      <a:pt x="554" y="327"/>
                      <a:pt x="554" y="326"/>
                      <a:pt x="555" y="326"/>
                    </a:cubicBezTo>
                    <a:cubicBezTo>
                      <a:pt x="555" y="325"/>
                      <a:pt x="555" y="325"/>
                      <a:pt x="555" y="325"/>
                    </a:cubicBezTo>
                    <a:cubicBezTo>
                      <a:pt x="555" y="324"/>
                      <a:pt x="556" y="323"/>
                      <a:pt x="556" y="323"/>
                    </a:cubicBezTo>
                    <a:cubicBezTo>
                      <a:pt x="556" y="322"/>
                      <a:pt x="556" y="321"/>
                      <a:pt x="557" y="320"/>
                    </a:cubicBezTo>
                    <a:cubicBezTo>
                      <a:pt x="558" y="312"/>
                      <a:pt x="559" y="303"/>
                      <a:pt x="559" y="295"/>
                    </a:cubicBezTo>
                    <a:cubicBezTo>
                      <a:pt x="560" y="286"/>
                      <a:pt x="559" y="276"/>
                      <a:pt x="559" y="267"/>
                    </a:cubicBezTo>
                    <a:cubicBezTo>
                      <a:pt x="559" y="259"/>
                      <a:pt x="552" y="251"/>
                      <a:pt x="544" y="248"/>
                    </a:cubicBezTo>
                    <a:lnTo>
                      <a:pt x="510" y="236"/>
                    </a:lnTo>
                    <a:cubicBezTo>
                      <a:pt x="503" y="233"/>
                      <a:pt x="495" y="225"/>
                      <a:pt x="493" y="217"/>
                    </a:cubicBezTo>
                    <a:cubicBezTo>
                      <a:pt x="490" y="207"/>
                      <a:pt x="487" y="198"/>
                      <a:pt x="482" y="188"/>
                    </a:cubicBezTo>
                    <a:cubicBezTo>
                      <a:pt x="482" y="187"/>
                      <a:pt x="481" y="185"/>
                      <a:pt x="480" y="184"/>
                    </a:cubicBezTo>
                    <a:cubicBezTo>
                      <a:pt x="479" y="182"/>
                      <a:pt x="482" y="174"/>
                      <a:pt x="486" y="167"/>
                    </a:cubicBezTo>
                    <a:lnTo>
                      <a:pt x="504" y="137"/>
                    </a:lnTo>
                    <a:cubicBezTo>
                      <a:pt x="509" y="130"/>
                      <a:pt x="509" y="119"/>
                      <a:pt x="504" y="113"/>
                    </a:cubicBezTo>
                    <a:cubicBezTo>
                      <a:pt x="499" y="105"/>
                      <a:pt x="493" y="98"/>
                      <a:pt x="487" y="91"/>
                    </a:cubicBezTo>
                    <a:cubicBezTo>
                      <a:pt x="481" y="85"/>
                      <a:pt x="475" y="79"/>
                      <a:pt x="469" y="73"/>
                    </a:cubicBezTo>
                    <a:cubicBezTo>
                      <a:pt x="463" y="68"/>
                      <a:pt x="452" y="67"/>
                      <a:pt x="444" y="70"/>
                    </a:cubicBezTo>
                    <a:lnTo>
                      <a:pt x="413" y="85"/>
                    </a:lnTo>
                    <a:cubicBezTo>
                      <a:pt x="406" y="89"/>
                      <a:pt x="394" y="88"/>
                      <a:pt x="387" y="84"/>
                    </a:cubicBezTo>
                    <a:cubicBezTo>
                      <a:pt x="379" y="80"/>
                      <a:pt x="371" y="76"/>
                      <a:pt x="363" y="73"/>
                    </a:cubicBezTo>
                    <a:cubicBezTo>
                      <a:pt x="356" y="70"/>
                      <a:pt x="348" y="61"/>
                      <a:pt x="346" y="53"/>
                    </a:cubicBezTo>
                    <a:lnTo>
                      <a:pt x="338" y="20"/>
                    </a:lnTo>
                    <a:cubicBezTo>
                      <a:pt x="336" y="12"/>
                      <a:pt x="328" y="4"/>
                      <a:pt x="320" y="3"/>
                    </a:cubicBezTo>
                    <a:cubicBezTo>
                      <a:pt x="312" y="2"/>
                      <a:pt x="303" y="1"/>
                      <a:pt x="295" y="0"/>
                    </a:cubicBezTo>
                    <a:cubicBezTo>
                      <a:pt x="285" y="0"/>
                      <a:pt x="276" y="0"/>
                      <a:pt x="267" y="0"/>
                    </a:cubicBezTo>
                    <a:cubicBezTo>
                      <a:pt x="259" y="1"/>
                      <a:pt x="251" y="8"/>
                      <a:pt x="248" y="16"/>
                    </a:cubicBezTo>
                    <a:lnTo>
                      <a:pt x="236" y="48"/>
                    </a:lnTo>
                    <a:cubicBezTo>
                      <a:pt x="234" y="55"/>
                      <a:pt x="225" y="63"/>
                      <a:pt x="217" y="65"/>
                    </a:cubicBezTo>
                    <a:cubicBezTo>
                      <a:pt x="209" y="68"/>
                      <a:pt x="201" y="71"/>
                      <a:pt x="193" y="74"/>
                    </a:cubicBezTo>
                    <a:cubicBezTo>
                      <a:pt x="185" y="77"/>
                      <a:pt x="174" y="77"/>
                      <a:pt x="167" y="73"/>
                    </a:cubicBezTo>
                    <a:lnTo>
                      <a:pt x="137" y="55"/>
                    </a:lnTo>
                    <a:cubicBezTo>
                      <a:pt x="130" y="50"/>
                      <a:pt x="119" y="51"/>
                      <a:pt x="113" y="55"/>
                    </a:cubicBezTo>
                    <a:cubicBezTo>
                      <a:pt x="105" y="61"/>
                      <a:pt x="98" y="66"/>
                      <a:pt x="92" y="72"/>
                    </a:cubicBezTo>
                    <a:cubicBezTo>
                      <a:pt x="85" y="78"/>
                      <a:pt x="79" y="84"/>
                      <a:pt x="74" y="90"/>
                    </a:cubicBezTo>
                    <a:cubicBezTo>
                      <a:pt x="68" y="96"/>
                      <a:pt x="67" y="108"/>
                      <a:pt x="70" y="115"/>
                    </a:cubicBezTo>
                    <a:lnTo>
                      <a:pt x="86" y="147"/>
                    </a:lnTo>
                    <a:cubicBezTo>
                      <a:pt x="89" y="154"/>
                      <a:pt x="88" y="165"/>
                      <a:pt x="84" y="173"/>
                    </a:cubicBezTo>
                    <a:cubicBezTo>
                      <a:pt x="80" y="180"/>
                      <a:pt x="77" y="188"/>
                      <a:pt x="74" y="196"/>
                    </a:cubicBezTo>
                    <a:cubicBezTo>
                      <a:pt x="70" y="203"/>
                      <a:pt x="62" y="211"/>
                      <a:pt x="54" y="213"/>
                    </a:cubicBezTo>
                    <a:lnTo>
                      <a:pt x="20" y="221"/>
                    </a:lnTo>
                    <a:cubicBezTo>
                      <a:pt x="14" y="223"/>
                      <a:pt x="8" y="228"/>
                      <a:pt x="5" y="233"/>
                    </a:cubicBezTo>
                    <a:cubicBezTo>
                      <a:pt x="5" y="234"/>
                      <a:pt x="5" y="234"/>
                      <a:pt x="5" y="234"/>
                    </a:cubicBezTo>
                    <a:cubicBezTo>
                      <a:pt x="4" y="235"/>
                      <a:pt x="4" y="235"/>
                      <a:pt x="4" y="236"/>
                    </a:cubicBezTo>
                    <a:cubicBezTo>
                      <a:pt x="3" y="237"/>
                      <a:pt x="3" y="238"/>
                      <a:pt x="3" y="239"/>
                    </a:cubicBezTo>
                    <a:cubicBezTo>
                      <a:pt x="3" y="241"/>
                      <a:pt x="2" y="243"/>
                      <a:pt x="2" y="245"/>
                    </a:cubicBezTo>
                    <a:cubicBezTo>
                      <a:pt x="1" y="252"/>
                      <a:pt x="1" y="259"/>
                      <a:pt x="0" y="266"/>
                    </a:cubicBezTo>
                    <a:cubicBezTo>
                      <a:pt x="0" y="275"/>
                      <a:pt x="0" y="283"/>
                      <a:pt x="0" y="292"/>
                    </a:cubicBezTo>
                    <a:cubicBezTo>
                      <a:pt x="1" y="300"/>
                      <a:pt x="8" y="308"/>
                      <a:pt x="15" y="311"/>
                    </a:cubicBezTo>
                    <a:lnTo>
                      <a:pt x="49" y="323"/>
                    </a:lnTo>
                    <a:cubicBezTo>
                      <a:pt x="57" y="326"/>
                      <a:pt x="64" y="334"/>
                      <a:pt x="67" y="342"/>
                    </a:cubicBezTo>
                    <a:cubicBezTo>
                      <a:pt x="69" y="351"/>
                      <a:pt x="73" y="360"/>
                      <a:pt x="77" y="369"/>
                    </a:cubicBezTo>
                    <a:cubicBezTo>
                      <a:pt x="77" y="371"/>
                      <a:pt x="78" y="372"/>
                      <a:pt x="79" y="374"/>
                    </a:cubicBezTo>
                    <a:cubicBezTo>
                      <a:pt x="80" y="376"/>
                      <a:pt x="78" y="384"/>
                      <a:pt x="74" y="391"/>
                    </a:cubicBezTo>
                    <a:lnTo>
                      <a:pt x="55" y="422"/>
                    </a:lnTo>
                    <a:cubicBezTo>
                      <a:pt x="50" y="429"/>
                      <a:pt x="51" y="440"/>
                      <a:pt x="55" y="447"/>
                    </a:cubicBezTo>
                    <a:cubicBezTo>
                      <a:pt x="60" y="453"/>
                      <a:pt x="66" y="460"/>
                      <a:pt x="71" y="466"/>
                    </a:cubicBezTo>
                    <a:cubicBezTo>
                      <a:pt x="78" y="473"/>
                      <a:pt x="84" y="480"/>
                      <a:pt x="91" y="486"/>
                    </a:cubicBezTo>
                    <a:cubicBezTo>
                      <a:pt x="97" y="491"/>
                      <a:pt x="108" y="492"/>
                      <a:pt x="115" y="489"/>
                    </a:cubicBezTo>
                    <a:lnTo>
                      <a:pt x="148" y="473"/>
                    </a:lnTo>
                    <a:cubicBezTo>
                      <a:pt x="155" y="469"/>
                      <a:pt x="167" y="470"/>
                      <a:pt x="174" y="474"/>
                    </a:cubicBezTo>
                    <a:cubicBezTo>
                      <a:pt x="181" y="478"/>
                      <a:pt x="188" y="481"/>
                      <a:pt x="195" y="484"/>
                    </a:cubicBezTo>
                    <a:cubicBezTo>
                      <a:pt x="203" y="487"/>
                      <a:pt x="211" y="496"/>
                      <a:pt x="213" y="503"/>
                    </a:cubicBezTo>
                    <a:lnTo>
                      <a:pt x="221" y="539"/>
                    </a:lnTo>
                    <a:cubicBezTo>
                      <a:pt x="223" y="547"/>
                      <a:pt x="231" y="555"/>
                      <a:pt x="239" y="556"/>
                    </a:cubicBezTo>
                    <a:cubicBezTo>
                      <a:pt x="248" y="558"/>
                      <a:pt x="257" y="559"/>
                      <a:pt x="266" y="559"/>
                    </a:cubicBezTo>
                    <a:cubicBezTo>
                      <a:pt x="275" y="560"/>
                      <a:pt x="283" y="560"/>
                      <a:pt x="292" y="559"/>
                    </a:cubicBezTo>
                    <a:cubicBezTo>
                      <a:pt x="300" y="559"/>
                      <a:pt x="308" y="552"/>
                      <a:pt x="311" y="544"/>
                    </a:cubicBezTo>
                    <a:lnTo>
                      <a:pt x="323" y="509"/>
                    </a:lnTo>
                    <a:cubicBezTo>
                      <a:pt x="326" y="501"/>
                      <a:pt x="335" y="494"/>
                      <a:pt x="343" y="492"/>
                    </a:cubicBezTo>
                    <a:cubicBezTo>
                      <a:pt x="350" y="489"/>
                      <a:pt x="357" y="487"/>
                      <a:pt x="365" y="484"/>
                    </a:cubicBezTo>
                    <a:cubicBezTo>
                      <a:pt x="372" y="481"/>
                      <a:pt x="384" y="481"/>
                      <a:pt x="391" y="485"/>
                    </a:cubicBezTo>
                    <a:lnTo>
                      <a:pt x="422" y="505"/>
                    </a:lnTo>
                    <a:cubicBezTo>
                      <a:pt x="429" y="509"/>
                      <a:pt x="440" y="509"/>
                      <a:pt x="447" y="504"/>
                    </a:cubicBezTo>
                    <a:cubicBezTo>
                      <a:pt x="454" y="499"/>
                      <a:pt x="460" y="494"/>
                      <a:pt x="467" y="488"/>
                    </a:cubicBezTo>
                    <a:cubicBezTo>
                      <a:pt x="473" y="482"/>
                      <a:pt x="480" y="475"/>
                      <a:pt x="486" y="468"/>
                    </a:cubicBezTo>
                    <a:cubicBezTo>
                      <a:pt x="491" y="462"/>
                      <a:pt x="492" y="451"/>
                      <a:pt x="489" y="444"/>
                    </a:cubicBezTo>
                    <a:lnTo>
                      <a:pt x="473" y="411"/>
                    </a:lnTo>
                    <a:cubicBezTo>
                      <a:pt x="470" y="404"/>
                      <a:pt x="470" y="392"/>
                      <a:pt x="474" y="385"/>
                    </a:cubicBezTo>
                    <a:cubicBezTo>
                      <a:pt x="478" y="378"/>
                      <a:pt x="482" y="371"/>
                      <a:pt x="485" y="364"/>
                    </a:cubicBezTo>
                    <a:cubicBezTo>
                      <a:pt x="488" y="356"/>
                      <a:pt x="496" y="348"/>
                      <a:pt x="504" y="346"/>
                    </a:cubicBezTo>
                    <a:lnTo>
                      <a:pt x="540" y="338"/>
                    </a:lnTo>
                    <a:cubicBezTo>
                      <a:pt x="545" y="337"/>
                      <a:pt x="550" y="333"/>
                      <a:pt x="553" y="328"/>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93">
                <a:extLst>
                  <a:ext uri="{FF2B5EF4-FFF2-40B4-BE49-F238E27FC236}">
                    <a16:creationId xmlns:a16="http://schemas.microsoft.com/office/drawing/2014/main" id="{FA356B6F-3F35-7CB8-5848-9D1EFC7C87B4}"/>
                  </a:ext>
                </a:extLst>
              </p:cNvPr>
              <p:cNvSpPr>
                <a:spLocks noEditPoints="1"/>
              </p:cNvSpPr>
              <p:nvPr/>
            </p:nvSpPr>
            <p:spPr bwMode="auto">
              <a:xfrm>
                <a:off x="7083425" y="4152900"/>
                <a:ext cx="242888" cy="246063"/>
              </a:xfrm>
              <a:custGeom>
                <a:avLst/>
                <a:gdLst>
                  <a:gd name="T0" fmla="*/ 197 w 405"/>
                  <a:gd name="T1" fmla="*/ 280 h 410"/>
                  <a:gd name="T2" fmla="*/ 133 w 405"/>
                  <a:gd name="T3" fmla="*/ 236 h 410"/>
                  <a:gd name="T4" fmla="*/ 256 w 405"/>
                  <a:gd name="T5" fmla="*/ 156 h 410"/>
                  <a:gd name="T6" fmla="*/ 251 w 405"/>
                  <a:gd name="T7" fmla="*/ 261 h 410"/>
                  <a:gd name="T8" fmla="*/ 370 w 405"/>
                  <a:gd name="T9" fmla="*/ 204 h 410"/>
                  <a:gd name="T10" fmla="*/ 353 w 405"/>
                  <a:gd name="T11" fmla="*/ 164 h 410"/>
                  <a:gd name="T12" fmla="*/ 371 w 405"/>
                  <a:gd name="T13" fmla="*/ 113 h 410"/>
                  <a:gd name="T14" fmla="*/ 353 w 405"/>
                  <a:gd name="T15" fmla="*/ 67 h 410"/>
                  <a:gd name="T16" fmla="*/ 311 w 405"/>
                  <a:gd name="T17" fmla="*/ 46 h 410"/>
                  <a:gd name="T18" fmla="*/ 258 w 405"/>
                  <a:gd name="T19" fmla="*/ 59 h 410"/>
                  <a:gd name="T20" fmla="*/ 220 w 405"/>
                  <a:gd name="T21" fmla="*/ 38 h 410"/>
                  <a:gd name="T22" fmla="*/ 185 w 405"/>
                  <a:gd name="T23" fmla="*/ 1 h 410"/>
                  <a:gd name="T24" fmla="*/ 134 w 405"/>
                  <a:gd name="T25" fmla="*/ 12 h 410"/>
                  <a:gd name="T26" fmla="*/ 117 w 405"/>
                  <a:gd name="T27" fmla="*/ 59 h 410"/>
                  <a:gd name="T28" fmla="*/ 95 w 405"/>
                  <a:gd name="T29" fmla="*/ 89 h 410"/>
                  <a:gd name="T30" fmla="*/ 65 w 405"/>
                  <a:gd name="T31" fmla="*/ 105 h 410"/>
                  <a:gd name="T32" fmla="*/ 29 w 405"/>
                  <a:gd name="T33" fmla="*/ 106 h 410"/>
                  <a:gd name="T34" fmla="*/ 22 w 405"/>
                  <a:gd name="T35" fmla="*/ 111 h 410"/>
                  <a:gd name="T36" fmla="*/ 19 w 405"/>
                  <a:gd name="T37" fmla="*/ 114 h 410"/>
                  <a:gd name="T38" fmla="*/ 17 w 405"/>
                  <a:gd name="T39" fmla="*/ 118 h 410"/>
                  <a:gd name="T40" fmla="*/ 0 w 405"/>
                  <a:gd name="T41" fmla="*/ 167 h 410"/>
                  <a:gd name="T42" fmla="*/ 0 w 405"/>
                  <a:gd name="T43" fmla="*/ 172 h 410"/>
                  <a:gd name="T44" fmla="*/ 0 w 405"/>
                  <a:gd name="T45" fmla="*/ 176 h 410"/>
                  <a:gd name="T46" fmla="*/ 1 w 405"/>
                  <a:gd name="T47" fmla="*/ 179 h 410"/>
                  <a:gd name="T48" fmla="*/ 31 w 405"/>
                  <a:gd name="T49" fmla="*/ 205 h 410"/>
                  <a:gd name="T50" fmla="*/ 49 w 405"/>
                  <a:gd name="T51" fmla="*/ 249 h 410"/>
                  <a:gd name="T52" fmla="*/ 33 w 405"/>
                  <a:gd name="T53" fmla="*/ 297 h 410"/>
                  <a:gd name="T54" fmla="*/ 49 w 405"/>
                  <a:gd name="T55" fmla="*/ 342 h 410"/>
                  <a:gd name="T56" fmla="*/ 93 w 405"/>
                  <a:gd name="T57" fmla="*/ 364 h 410"/>
                  <a:gd name="T58" fmla="*/ 143 w 405"/>
                  <a:gd name="T59" fmla="*/ 353 h 410"/>
                  <a:gd name="T60" fmla="*/ 185 w 405"/>
                  <a:gd name="T61" fmla="*/ 375 h 410"/>
                  <a:gd name="T62" fmla="*/ 219 w 405"/>
                  <a:gd name="T63" fmla="*/ 410 h 410"/>
                  <a:gd name="T64" fmla="*/ 270 w 405"/>
                  <a:gd name="T65" fmla="*/ 398 h 410"/>
                  <a:gd name="T66" fmla="*/ 287 w 405"/>
                  <a:gd name="T67" fmla="*/ 352 h 410"/>
                  <a:gd name="T68" fmla="*/ 307 w 405"/>
                  <a:gd name="T69" fmla="*/ 323 h 410"/>
                  <a:gd name="T70" fmla="*/ 339 w 405"/>
                  <a:gd name="T71" fmla="*/ 305 h 410"/>
                  <a:gd name="T72" fmla="*/ 382 w 405"/>
                  <a:gd name="T73" fmla="*/ 299 h 410"/>
                  <a:gd name="T74" fmla="*/ 384 w 405"/>
                  <a:gd name="T75" fmla="*/ 297 h 410"/>
                  <a:gd name="T76" fmla="*/ 386 w 405"/>
                  <a:gd name="T77" fmla="*/ 295 h 410"/>
                  <a:gd name="T78" fmla="*/ 396 w 405"/>
                  <a:gd name="T79" fmla="*/ 269 h 410"/>
                  <a:gd name="T80" fmla="*/ 394 w 405"/>
                  <a:gd name="T81" fmla="*/ 22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5" h="410">
                    <a:moveTo>
                      <a:pt x="251" y="261"/>
                    </a:moveTo>
                    <a:cubicBezTo>
                      <a:pt x="236" y="274"/>
                      <a:pt x="217" y="281"/>
                      <a:pt x="197" y="280"/>
                    </a:cubicBezTo>
                    <a:cubicBezTo>
                      <a:pt x="177" y="279"/>
                      <a:pt x="159" y="271"/>
                      <a:pt x="146" y="256"/>
                    </a:cubicBezTo>
                    <a:cubicBezTo>
                      <a:pt x="141" y="250"/>
                      <a:pt x="136" y="243"/>
                      <a:pt x="133" y="236"/>
                    </a:cubicBezTo>
                    <a:cubicBezTo>
                      <a:pt x="120" y="207"/>
                      <a:pt x="127" y="172"/>
                      <a:pt x="151" y="151"/>
                    </a:cubicBezTo>
                    <a:cubicBezTo>
                      <a:pt x="182" y="123"/>
                      <a:pt x="229" y="126"/>
                      <a:pt x="256" y="156"/>
                    </a:cubicBezTo>
                    <a:cubicBezTo>
                      <a:pt x="261" y="162"/>
                      <a:pt x="266" y="169"/>
                      <a:pt x="269" y="176"/>
                    </a:cubicBezTo>
                    <a:cubicBezTo>
                      <a:pt x="282" y="205"/>
                      <a:pt x="275" y="240"/>
                      <a:pt x="251" y="261"/>
                    </a:cubicBezTo>
                    <a:close/>
                    <a:moveTo>
                      <a:pt x="394" y="220"/>
                    </a:moveTo>
                    <a:lnTo>
                      <a:pt x="370" y="204"/>
                    </a:lnTo>
                    <a:cubicBezTo>
                      <a:pt x="364" y="199"/>
                      <a:pt x="358" y="189"/>
                      <a:pt x="357" y="181"/>
                    </a:cubicBezTo>
                    <a:cubicBezTo>
                      <a:pt x="356" y="175"/>
                      <a:pt x="355" y="170"/>
                      <a:pt x="353" y="164"/>
                    </a:cubicBezTo>
                    <a:cubicBezTo>
                      <a:pt x="351" y="156"/>
                      <a:pt x="352" y="145"/>
                      <a:pt x="356" y="138"/>
                    </a:cubicBezTo>
                    <a:lnTo>
                      <a:pt x="371" y="113"/>
                    </a:lnTo>
                    <a:cubicBezTo>
                      <a:pt x="375" y="106"/>
                      <a:pt x="375" y="95"/>
                      <a:pt x="370" y="89"/>
                    </a:cubicBezTo>
                    <a:cubicBezTo>
                      <a:pt x="365" y="81"/>
                      <a:pt x="359" y="74"/>
                      <a:pt x="353" y="67"/>
                    </a:cubicBezTo>
                    <a:cubicBezTo>
                      <a:pt x="347" y="61"/>
                      <a:pt x="341" y="55"/>
                      <a:pt x="335" y="49"/>
                    </a:cubicBezTo>
                    <a:cubicBezTo>
                      <a:pt x="329" y="44"/>
                      <a:pt x="318" y="43"/>
                      <a:pt x="311" y="46"/>
                    </a:cubicBezTo>
                    <a:lnTo>
                      <a:pt x="285" y="59"/>
                    </a:lnTo>
                    <a:cubicBezTo>
                      <a:pt x="277" y="62"/>
                      <a:pt x="266" y="62"/>
                      <a:pt x="258" y="59"/>
                    </a:cubicBezTo>
                    <a:cubicBezTo>
                      <a:pt x="253" y="57"/>
                      <a:pt x="247" y="55"/>
                      <a:pt x="242" y="54"/>
                    </a:cubicBezTo>
                    <a:cubicBezTo>
                      <a:pt x="234" y="52"/>
                      <a:pt x="224" y="45"/>
                      <a:pt x="220" y="38"/>
                    </a:cubicBezTo>
                    <a:lnTo>
                      <a:pt x="207" y="13"/>
                    </a:lnTo>
                    <a:cubicBezTo>
                      <a:pt x="203" y="6"/>
                      <a:pt x="193" y="0"/>
                      <a:pt x="185" y="1"/>
                    </a:cubicBezTo>
                    <a:cubicBezTo>
                      <a:pt x="176" y="2"/>
                      <a:pt x="167" y="3"/>
                      <a:pt x="158" y="5"/>
                    </a:cubicBezTo>
                    <a:cubicBezTo>
                      <a:pt x="150" y="7"/>
                      <a:pt x="142" y="9"/>
                      <a:pt x="134" y="12"/>
                    </a:cubicBezTo>
                    <a:cubicBezTo>
                      <a:pt x="126" y="14"/>
                      <a:pt x="119" y="23"/>
                      <a:pt x="119" y="31"/>
                    </a:cubicBezTo>
                    <a:lnTo>
                      <a:pt x="117" y="59"/>
                    </a:lnTo>
                    <a:cubicBezTo>
                      <a:pt x="116" y="67"/>
                      <a:pt x="111" y="77"/>
                      <a:pt x="105" y="81"/>
                    </a:cubicBezTo>
                    <a:cubicBezTo>
                      <a:pt x="102" y="83"/>
                      <a:pt x="99" y="86"/>
                      <a:pt x="95" y="89"/>
                    </a:cubicBezTo>
                    <a:cubicBezTo>
                      <a:pt x="93" y="92"/>
                      <a:pt x="90" y="94"/>
                      <a:pt x="87" y="97"/>
                    </a:cubicBezTo>
                    <a:cubicBezTo>
                      <a:pt x="83" y="102"/>
                      <a:pt x="73" y="105"/>
                      <a:pt x="65" y="105"/>
                    </a:cubicBezTo>
                    <a:lnTo>
                      <a:pt x="38" y="105"/>
                    </a:lnTo>
                    <a:cubicBezTo>
                      <a:pt x="35" y="105"/>
                      <a:pt x="32" y="105"/>
                      <a:pt x="29" y="106"/>
                    </a:cubicBezTo>
                    <a:lnTo>
                      <a:pt x="29" y="106"/>
                    </a:lnTo>
                    <a:cubicBezTo>
                      <a:pt x="26" y="107"/>
                      <a:pt x="24" y="109"/>
                      <a:pt x="22" y="111"/>
                    </a:cubicBezTo>
                    <a:cubicBezTo>
                      <a:pt x="22" y="111"/>
                      <a:pt x="22" y="111"/>
                      <a:pt x="21" y="111"/>
                    </a:cubicBezTo>
                    <a:cubicBezTo>
                      <a:pt x="21" y="112"/>
                      <a:pt x="20" y="113"/>
                      <a:pt x="19" y="114"/>
                    </a:cubicBezTo>
                    <a:cubicBezTo>
                      <a:pt x="19" y="114"/>
                      <a:pt x="19" y="114"/>
                      <a:pt x="19" y="114"/>
                    </a:cubicBezTo>
                    <a:cubicBezTo>
                      <a:pt x="18" y="115"/>
                      <a:pt x="17" y="116"/>
                      <a:pt x="17" y="118"/>
                    </a:cubicBezTo>
                    <a:cubicBezTo>
                      <a:pt x="13" y="126"/>
                      <a:pt x="10" y="134"/>
                      <a:pt x="7" y="143"/>
                    </a:cubicBezTo>
                    <a:cubicBezTo>
                      <a:pt x="4" y="151"/>
                      <a:pt x="2" y="159"/>
                      <a:pt x="0" y="167"/>
                    </a:cubicBezTo>
                    <a:cubicBezTo>
                      <a:pt x="0" y="168"/>
                      <a:pt x="0" y="169"/>
                      <a:pt x="0" y="170"/>
                    </a:cubicBezTo>
                    <a:cubicBezTo>
                      <a:pt x="0" y="171"/>
                      <a:pt x="0" y="171"/>
                      <a:pt x="0" y="172"/>
                    </a:cubicBezTo>
                    <a:cubicBezTo>
                      <a:pt x="0" y="172"/>
                      <a:pt x="0" y="173"/>
                      <a:pt x="0" y="173"/>
                    </a:cubicBezTo>
                    <a:cubicBezTo>
                      <a:pt x="0" y="174"/>
                      <a:pt x="0" y="175"/>
                      <a:pt x="0" y="176"/>
                    </a:cubicBezTo>
                    <a:cubicBezTo>
                      <a:pt x="0" y="176"/>
                      <a:pt x="0" y="176"/>
                      <a:pt x="0" y="176"/>
                    </a:cubicBezTo>
                    <a:cubicBezTo>
                      <a:pt x="1" y="177"/>
                      <a:pt x="1" y="178"/>
                      <a:pt x="1" y="179"/>
                    </a:cubicBezTo>
                    <a:cubicBezTo>
                      <a:pt x="3" y="183"/>
                      <a:pt x="6" y="188"/>
                      <a:pt x="10" y="190"/>
                    </a:cubicBezTo>
                    <a:lnTo>
                      <a:pt x="31" y="205"/>
                    </a:lnTo>
                    <a:cubicBezTo>
                      <a:pt x="38" y="210"/>
                      <a:pt x="44" y="220"/>
                      <a:pt x="45" y="228"/>
                    </a:cubicBezTo>
                    <a:cubicBezTo>
                      <a:pt x="46" y="235"/>
                      <a:pt x="47" y="242"/>
                      <a:pt x="49" y="249"/>
                    </a:cubicBezTo>
                    <a:cubicBezTo>
                      <a:pt x="52" y="256"/>
                      <a:pt x="51" y="268"/>
                      <a:pt x="46" y="275"/>
                    </a:cubicBezTo>
                    <a:lnTo>
                      <a:pt x="33" y="297"/>
                    </a:lnTo>
                    <a:cubicBezTo>
                      <a:pt x="28" y="304"/>
                      <a:pt x="29" y="316"/>
                      <a:pt x="33" y="322"/>
                    </a:cubicBezTo>
                    <a:cubicBezTo>
                      <a:pt x="38" y="329"/>
                      <a:pt x="44" y="335"/>
                      <a:pt x="49" y="342"/>
                    </a:cubicBezTo>
                    <a:cubicBezTo>
                      <a:pt x="56" y="349"/>
                      <a:pt x="62" y="355"/>
                      <a:pt x="69" y="361"/>
                    </a:cubicBezTo>
                    <a:cubicBezTo>
                      <a:pt x="75" y="366"/>
                      <a:pt x="86" y="368"/>
                      <a:pt x="93" y="364"/>
                    </a:cubicBezTo>
                    <a:lnTo>
                      <a:pt x="117" y="353"/>
                    </a:lnTo>
                    <a:cubicBezTo>
                      <a:pt x="124" y="349"/>
                      <a:pt x="136" y="350"/>
                      <a:pt x="143" y="353"/>
                    </a:cubicBezTo>
                    <a:cubicBezTo>
                      <a:pt x="150" y="355"/>
                      <a:pt x="156" y="357"/>
                      <a:pt x="163" y="359"/>
                    </a:cubicBezTo>
                    <a:cubicBezTo>
                      <a:pt x="171" y="361"/>
                      <a:pt x="181" y="368"/>
                      <a:pt x="185" y="375"/>
                    </a:cubicBezTo>
                    <a:lnTo>
                      <a:pt x="197" y="398"/>
                    </a:lnTo>
                    <a:cubicBezTo>
                      <a:pt x="201" y="405"/>
                      <a:pt x="211" y="410"/>
                      <a:pt x="219" y="410"/>
                    </a:cubicBezTo>
                    <a:cubicBezTo>
                      <a:pt x="227" y="409"/>
                      <a:pt x="235" y="407"/>
                      <a:pt x="244" y="406"/>
                    </a:cubicBezTo>
                    <a:cubicBezTo>
                      <a:pt x="253" y="404"/>
                      <a:pt x="262" y="401"/>
                      <a:pt x="270" y="398"/>
                    </a:cubicBezTo>
                    <a:cubicBezTo>
                      <a:pt x="278" y="396"/>
                      <a:pt x="284" y="387"/>
                      <a:pt x="285" y="379"/>
                    </a:cubicBezTo>
                    <a:lnTo>
                      <a:pt x="287" y="352"/>
                    </a:lnTo>
                    <a:cubicBezTo>
                      <a:pt x="288" y="344"/>
                      <a:pt x="293" y="334"/>
                      <a:pt x="298" y="330"/>
                    </a:cubicBezTo>
                    <a:cubicBezTo>
                      <a:pt x="301" y="328"/>
                      <a:pt x="304" y="326"/>
                      <a:pt x="307" y="323"/>
                    </a:cubicBezTo>
                    <a:cubicBezTo>
                      <a:pt x="310" y="320"/>
                      <a:pt x="313" y="317"/>
                      <a:pt x="316" y="314"/>
                    </a:cubicBezTo>
                    <a:cubicBezTo>
                      <a:pt x="321" y="309"/>
                      <a:pt x="331" y="305"/>
                      <a:pt x="339" y="305"/>
                    </a:cubicBezTo>
                    <a:lnTo>
                      <a:pt x="366" y="306"/>
                    </a:lnTo>
                    <a:cubicBezTo>
                      <a:pt x="372" y="306"/>
                      <a:pt x="378" y="303"/>
                      <a:pt x="382" y="299"/>
                    </a:cubicBezTo>
                    <a:cubicBezTo>
                      <a:pt x="383" y="299"/>
                      <a:pt x="383" y="299"/>
                      <a:pt x="383" y="298"/>
                    </a:cubicBezTo>
                    <a:cubicBezTo>
                      <a:pt x="384" y="298"/>
                      <a:pt x="384" y="298"/>
                      <a:pt x="384" y="297"/>
                    </a:cubicBezTo>
                    <a:cubicBezTo>
                      <a:pt x="385" y="297"/>
                      <a:pt x="385" y="296"/>
                      <a:pt x="385" y="296"/>
                    </a:cubicBezTo>
                    <a:cubicBezTo>
                      <a:pt x="386" y="296"/>
                      <a:pt x="386" y="295"/>
                      <a:pt x="386" y="295"/>
                    </a:cubicBezTo>
                    <a:cubicBezTo>
                      <a:pt x="386" y="294"/>
                      <a:pt x="387" y="293"/>
                      <a:pt x="387" y="293"/>
                    </a:cubicBezTo>
                    <a:cubicBezTo>
                      <a:pt x="391" y="285"/>
                      <a:pt x="394" y="277"/>
                      <a:pt x="396" y="269"/>
                    </a:cubicBezTo>
                    <a:cubicBezTo>
                      <a:pt x="399" y="260"/>
                      <a:pt x="401" y="251"/>
                      <a:pt x="403" y="243"/>
                    </a:cubicBezTo>
                    <a:cubicBezTo>
                      <a:pt x="405" y="235"/>
                      <a:pt x="400" y="224"/>
                      <a:pt x="394" y="220"/>
                    </a:cubicBezTo>
                  </a:path>
                </a:pathLst>
              </a:custGeom>
              <a:grpFill/>
              <a:ln w="12700">
                <a:solidFill>
                  <a:srgbClr val="BFBFB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3" name="Target">
              <a:extLst>
                <a:ext uri="{FF2B5EF4-FFF2-40B4-BE49-F238E27FC236}">
                  <a16:creationId xmlns:a16="http://schemas.microsoft.com/office/drawing/2014/main" id="{DA898BD6-B9B3-90A3-7E70-49FBA5EDE3EC}"/>
                </a:ext>
              </a:extLst>
            </p:cNvPr>
            <p:cNvSpPr>
              <a:spLocks noChangeAspect="1"/>
            </p:cNvSpPr>
            <p:nvPr>
              <p:custDataLst>
                <p:tags r:id="rId6"/>
              </p:custDataLst>
            </p:nvPr>
          </p:nvSpPr>
          <p:spPr bwMode="auto">
            <a:xfrm rot="17488574">
              <a:off x="7480821" y="3161012"/>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arget">
              <a:extLst>
                <a:ext uri="{FF2B5EF4-FFF2-40B4-BE49-F238E27FC236}">
                  <a16:creationId xmlns:a16="http://schemas.microsoft.com/office/drawing/2014/main" id="{3C3773C5-104A-DCE6-D38B-2DB1941E48CD}"/>
                </a:ext>
              </a:extLst>
            </p:cNvPr>
            <p:cNvSpPr>
              <a:spLocks noChangeAspect="1"/>
            </p:cNvSpPr>
            <p:nvPr>
              <p:custDataLst>
                <p:tags r:id="rId7"/>
              </p:custDataLst>
            </p:nvPr>
          </p:nvSpPr>
          <p:spPr bwMode="auto">
            <a:xfrm rot="14911426" flipH="1">
              <a:off x="7266265" y="3556787"/>
              <a:ext cx="258200" cy="318283"/>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grpFill/>
            <a:ln w="12700">
              <a:solidFill>
                <a:srgbClr val="BFBFB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5" name="Candidate" descr="{&quot;Key&quot;:&quot;POWER_USER_SHAPE_ICON&quot;,&quot;Value&quot;:&quot;POWER_USER_SHAPE_ICON_STYLE_1&quot;}">
            <a:extLst>
              <a:ext uri="{FF2B5EF4-FFF2-40B4-BE49-F238E27FC236}">
                <a16:creationId xmlns:a16="http://schemas.microsoft.com/office/drawing/2014/main" id="{2BFABC2F-2BA0-AC08-CC35-F905969D83CD}"/>
              </a:ext>
            </a:extLst>
          </p:cNvPr>
          <p:cNvGrpSpPr>
            <a:grpSpLocks noChangeAspect="1"/>
          </p:cNvGrpSpPr>
          <p:nvPr/>
        </p:nvGrpSpPr>
        <p:grpSpPr>
          <a:xfrm>
            <a:off x="2786555" y="6598003"/>
            <a:ext cx="153678" cy="180000"/>
            <a:chOff x="8482013" y="4622800"/>
            <a:chExt cx="574675" cy="673101"/>
          </a:xfrm>
        </p:grpSpPr>
        <p:sp>
          <p:nvSpPr>
            <p:cNvPr id="76" name="Freeform 2635">
              <a:extLst>
                <a:ext uri="{FF2B5EF4-FFF2-40B4-BE49-F238E27FC236}">
                  <a16:creationId xmlns:a16="http://schemas.microsoft.com/office/drawing/2014/main" id="{8111589F-0E0E-15B4-81BC-031884D44F32}"/>
                </a:ext>
              </a:extLst>
            </p:cNvPr>
            <p:cNvSpPr>
              <a:spLocks/>
            </p:cNvSpPr>
            <p:nvPr/>
          </p:nvSpPr>
          <p:spPr bwMode="auto">
            <a:xfrm>
              <a:off x="8763000" y="4773613"/>
              <a:ext cx="293688" cy="522288"/>
            </a:xfrm>
            <a:custGeom>
              <a:avLst/>
              <a:gdLst>
                <a:gd name="T0" fmla="*/ 263 w 263"/>
                <a:gd name="T1" fmla="*/ 56 h 467"/>
                <a:gd name="T2" fmla="*/ 252 w 263"/>
                <a:gd name="T3" fmla="*/ 210 h 467"/>
                <a:gd name="T4" fmla="*/ 205 w 263"/>
                <a:gd name="T5" fmla="*/ 247 h 467"/>
                <a:gd name="T6" fmla="*/ 203 w 263"/>
                <a:gd name="T7" fmla="*/ 247 h 467"/>
                <a:gd name="T8" fmla="*/ 188 w 263"/>
                <a:gd name="T9" fmla="*/ 452 h 467"/>
                <a:gd name="T10" fmla="*/ 172 w 263"/>
                <a:gd name="T11" fmla="*/ 467 h 467"/>
                <a:gd name="T12" fmla="*/ 91 w 263"/>
                <a:gd name="T13" fmla="*/ 467 h 467"/>
                <a:gd name="T14" fmla="*/ 75 w 263"/>
                <a:gd name="T15" fmla="*/ 452 h 467"/>
                <a:gd name="T16" fmla="*/ 60 w 263"/>
                <a:gd name="T17" fmla="*/ 247 h 467"/>
                <a:gd name="T18" fmla="*/ 58 w 263"/>
                <a:gd name="T19" fmla="*/ 247 h 467"/>
                <a:gd name="T20" fmla="*/ 11 w 263"/>
                <a:gd name="T21" fmla="*/ 210 h 467"/>
                <a:gd name="T22" fmla="*/ 0 w 263"/>
                <a:gd name="T23" fmla="*/ 58 h 467"/>
                <a:gd name="T24" fmla="*/ 0 w 263"/>
                <a:gd name="T25" fmla="*/ 56 h 467"/>
                <a:gd name="T26" fmla="*/ 53 w 263"/>
                <a:gd name="T27" fmla="*/ 0 h 467"/>
                <a:gd name="T28" fmla="*/ 210 w 263"/>
                <a:gd name="T29" fmla="*/ 0 h 467"/>
                <a:gd name="T30" fmla="*/ 263 w 263"/>
                <a:gd name="T31" fmla="*/ 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467">
                  <a:moveTo>
                    <a:pt x="263" y="56"/>
                  </a:moveTo>
                  <a:lnTo>
                    <a:pt x="252" y="210"/>
                  </a:lnTo>
                  <a:cubicBezTo>
                    <a:pt x="250" y="228"/>
                    <a:pt x="225" y="244"/>
                    <a:pt x="205" y="247"/>
                  </a:cubicBezTo>
                  <a:cubicBezTo>
                    <a:pt x="204" y="247"/>
                    <a:pt x="204" y="247"/>
                    <a:pt x="203" y="247"/>
                  </a:cubicBezTo>
                  <a:lnTo>
                    <a:pt x="188" y="452"/>
                  </a:lnTo>
                  <a:cubicBezTo>
                    <a:pt x="187" y="460"/>
                    <a:pt x="180" y="467"/>
                    <a:pt x="172" y="467"/>
                  </a:cubicBezTo>
                  <a:lnTo>
                    <a:pt x="91" y="467"/>
                  </a:lnTo>
                  <a:cubicBezTo>
                    <a:pt x="83" y="467"/>
                    <a:pt x="76" y="460"/>
                    <a:pt x="75" y="452"/>
                  </a:cubicBezTo>
                  <a:lnTo>
                    <a:pt x="60" y="247"/>
                  </a:lnTo>
                  <a:cubicBezTo>
                    <a:pt x="59" y="247"/>
                    <a:pt x="58" y="247"/>
                    <a:pt x="58" y="247"/>
                  </a:cubicBezTo>
                  <a:cubicBezTo>
                    <a:pt x="38" y="244"/>
                    <a:pt x="13" y="228"/>
                    <a:pt x="11" y="210"/>
                  </a:cubicBezTo>
                  <a:lnTo>
                    <a:pt x="0" y="58"/>
                  </a:lnTo>
                  <a:cubicBezTo>
                    <a:pt x="0" y="57"/>
                    <a:pt x="0" y="56"/>
                    <a:pt x="0" y="56"/>
                  </a:cubicBezTo>
                  <a:cubicBezTo>
                    <a:pt x="0" y="26"/>
                    <a:pt x="24" y="1"/>
                    <a:pt x="53" y="0"/>
                  </a:cubicBezTo>
                  <a:lnTo>
                    <a:pt x="210" y="0"/>
                  </a:lnTo>
                  <a:cubicBezTo>
                    <a:pt x="239" y="1"/>
                    <a:pt x="263" y="26"/>
                    <a:pt x="263" y="56"/>
                  </a:cubicBezTo>
                  <a:close/>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Oval 2636">
              <a:extLst>
                <a:ext uri="{FF2B5EF4-FFF2-40B4-BE49-F238E27FC236}">
                  <a16:creationId xmlns:a16="http://schemas.microsoft.com/office/drawing/2014/main" id="{78A1C240-DC23-58F7-2F51-F0EED53DC90E}"/>
                </a:ext>
              </a:extLst>
            </p:cNvPr>
            <p:cNvSpPr>
              <a:spLocks noChangeArrowheads="1"/>
            </p:cNvSpPr>
            <p:nvPr/>
          </p:nvSpPr>
          <p:spPr bwMode="auto">
            <a:xfrm>
              <a:off x="8853488" y="4622800"/>
              <a:ext cx="111125" cy="112713"/>
            </a:xfrm>
            <a:prstGeom prst="ellipse">
              <a:avLst/>
            </a:pr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Line 2637">
              <a:extLst>
                <a:ext uri="{FF2B5EF4-FFF2-40B4-BE49-F238E27FC236}">
                  <a16:creationId xmlns:a16="http://schemas.microsoft.com/office/drawing/2014/main" id="{04F00F4E-BD1B-7639-192E-1CC0214A4E02}"/>
                </a:ext>
              </a:extLst>
            </p:cNvPr>
            <p:cNvSpPr>
              <a:spLocks noChangeShapeType="1"/>
            </p:cNvSpPr>
            <p:nvPr/>
          </p:nvSpPr>
          <p:spPr bwMode="auto">
            <a:xfrm>
              <a:off x="8909050" y="5033963"/>
              <a:ext cx="0" cy="261938"/>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Line 2638">
              <a:extLst>
                <a:ext uri="{FF2B5EF4-FFF2-40B4-BE49-F238E27FC236}">
                  <a16:creationId xmlns:a16="http://schemas.microsoft.com/office/drawing/2014/main" id="{278F4265-0705-5726-8919-FE76FBC273C6}"/>
                </a:ext>
              </a:extLst>
            </p:cNvPr>
            <p:cNvSpPr>
              <a:spLocks noChangeShapeType="1"/>
            </p:cNvSpPr>
            <p:nvPr/>
          </p:nvSpPr>
          <p:spPr bwMode="auto">
            <a:xfrm flipH="1" flipV="1">
              <a:off x="8816975"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Line 2639">
              <a:extLst>
                <a:ext uri="{FF2B5EF4-FFF2-40B4-BE49-F238E27FC236}">
                  <a16:creationId xmlns:a16="http://schemas.microsoft.com/office/drawing/2014/main" id="{E41B8B18-3266-8C4C-93E3-201792CD04CD}"/>
                </a:ext>
              </a:extLst>
            </p:cNvPr>
            <p:cNvSpPr>
              <a:spLocks noChangeShapeType="1"/>
            </p:cNvSpPr>
            <p:nvPr/>
          </p:nvSpPr>
          <p:spPr bwMode="auto">
            <a:xfrm flipV="1">
              <a:off x="8990013" y="4859338"/>
              <a:ext cx="12700" cy="190500"/>
            </a:xfrm>
            <a:prstGeom prst="line">
              <a:avLst/>
            </a:prstGeom>
            <a:noFill/>
            <a:ln w="19050" cap="rnd">
              <a:solidFill>
                <a:srgbClr val="CFCFC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2640">
              <a:extLst>
                <a:ext uri="{FF2B5EF4-FFF2-40B4-BE49-F238E27FC236}">
                  <a16:creationId xmlns:a16="http://schemas.microsoft.com/office/drawing/2014/main" id="{6BCCCD3C-E3DA-E4A8-AD15-EC94F22F0555}"/>
                </a:ext>
              </a:extLst>
            </p:cNvPr>
            <p:cNvSpPr>
              <a:spLocks/>
            </p:cNvSpPr>
            <p:nvPr/>
          </p:nvSpPr>
          <p:spPr bwMode="auto">
            <a:xfrm>
              <a:off x="8482013" y="4627563"/>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2641">
              <a:extLst>
                <a:ext uri="{FF2B5EF4-FFF2-40B4-BE49-F238E27FC236}">
                  <a16:creationId xmlns:a16="http://schemas.microsoft.com/office/drawing/2014/main" id="{888D46A9-401C-CD9B-791B-AAACA5B52F61}"/>
                </a:ext>
              </a:extLst>
            </p:cNvPr>
            <p:cNvSpPr>
              <a:spLocks/>
            </p:cNvSpPr>
            <p:nvPr/>
          </p:nvSpPr>
          <p:spPr bwMode="auto">
            <a:xfrm>
              <a:off x="8528050" y="4679950"/>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2642">
              <a:extLst>
                <a:ext uri="{FF2B5EF4-FFF2-40B4-BE49-F238E27FC236}">
                  <a16:creationId xmlns:a16="http://schemas.microsoft.com/office/drawing/2014/main" id="{63088622-1621-87B9-C745-147D28F78AA6}"/>
                </a:ext>
              </a:extLst>
            </p:cNvPr>
            <p:cNvSpPr>
              <a:spLocks/>
            </p:cNvSpPr>
            <p:nvPr/>
          </p:nvSpPr>
          <p:spPr bwMode="auto">
            <a:xfrm>
              <a:off x="8482013" y="4875213"/>
              <a:ext cx="176213" cy="173038"/>
            </a:xfrm>
            <a:custGeom>
              <a:avLst/>
              <a:gdLst>
                <a:gd name="T0" fmla="*/ 20 w 157"/>
                <a:gd name="T1" fmla="*/ 156 h 156"/>
                <a:gd name="T2" fmla="*/ 137 w 157"/>
                <a:gd name="T3" fmla="*/ 156 h 156"/>
                <a:gd name="T4" fmla="*/ 157 w 157"/>
                <a:gd name="T5" fmla="*/ 136 h 156"/>
                <a:gd name="T6" fmla="*/ 157 w 157"/>
                <a:gd name="T7" fmla="*/ 19 h 156"/>
                <a:gd name="T8" fmla="*/ 137 w 157"/>
                <a:gd name="T9" fmla="*/ 0 h 156"/>
                <a:gd name="T10" fmla="*/ 20 w 157"/>
                <a:gd name="T11" fmla="*/ 0 h 156"/>
                <a:gd name="T12" fmla="*/ 0 w 157"/>
                <a:gd name="T13" fmla="*/ 19 h 156"/>
                <a:gd name="T14" fmla="*/ 0 w 157"/>
                <a:gd name="T15" fmla="*/ 136 h 156"/>
                <a:gd name="T16" fmla="*/ 20 w 157"/>
                <a:gd name="T17"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6">
                  <a:moveTo>
                    <a:pt x="20" y="156"/>
                  </a:moveTo>
                  <a:lnTo>
                    <a:pt x="137" y="156"/>
                  </a:lnTo>
                  <a:cubicBezTo>
                    <a:pt x="148" y="156"/>
                    <a:pt x="157" y="147"/>
                    <a:pt x="157" y="136"/>
                  </a:cubicBezTo>
                  <a:lnTo>
                    <a:pt x="157" y="19"/>
                  </a:lnTo>
                  <a:cubicBezTo>
                    <a:pt x="157" y="9"/>
                    <a:pt x="148" y="0"/>
                    <a:pt x="137" y="0"/>
                  </a:cubicBezTo>
                  <a:lnTo>
                    <a:pt x="20" y="0"/>
                  </a:lnTo>
                  <a:cubicBezTo>
                    <a:pt x="9" y="0"/>
                    <a:pt x="0" y="9"/>
                    <a:pt x="0" y="19"/>
                  </a:cubicBezTo>
                  <a:lnTo>
                    <a:pt x="0" y="136"/>
                  </a:lnTo>
                  <a:cubicBezTo>
                    <a:pt x="0" y="147"/>
                    <a:pt x="9" y="156"/>
                    <a:pt x="20" y="156"/>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Freeform 2643">
              <a:extLst>
                <a:ext uri="{FF2B5EF4-FFF2-40B4-BE49-F238E27FC236}">
                  <a16:creationId xmlns:a16="http://schemas.microsoft.com/office/drawing/2014/main" id="{238158F9-BA08-BDF5-52B5-184FC319545C}"/>
                </a:ext>
              </a:extLst>
            </p:cNvPr>
            <p:cNvSpPr>
              <a:spLocks/>
            </p:cNvSpPr>
            <p:nvPr/>
          </p:nvSpPr>
          <p:spPr bwMode="auto">
            <a:xfrm>
              <a:off x="8528050" y="4926013"/>
              <a:ext cx="85725" cy="79375"/>
            </a:xfrm>
            <a:custGeom>
              <a:avLst/>
              <a:gdLst>
                <a:gd name="T0" fmla="*/ 0 w 76"/>
                <a:gd name="T1" fmla="*/ 29 h 71"/>
                <a:gd name="T2" fmla="*/ 29 w 76"/>
                <a:gd name="T3" fmla="*/ 71 h 71"/>
                <a:gd name="T4" fmla="*/ 76 w 76"/>
                <a:gd name="T5" fmla="*/ 0 h 71"/>
              </a:gdLst>
              <a:ahLst/>
              <a:cxnLst>
                <a:cxn ang="0">
                  <a:pos x="T0" y="T1"/>
                </a:cxn>
                <a:cxn ang="0">
                  <a:pos x="T2" y="T3"/>
                </a:cxn>
                <a:cxn ang="0">
                  <a:pos x="T4" y="T5"/>
                </a:cxn>
              </a:cxnLst>
              <a:rect l="0" t="0" r="r" b="b"/>
              <a:pathLst>
                <a:path w="76" h="71">
                  <a:moveTo>
                    <a:pt x="0" y="29"/>
                  </a:moveTo>
                  <a:lnTo>
                    <a:pt x="29" y="71"/>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2644">
              <a:extLst>
                <a:ext uri="{FF2B5EF4-FFF2-40B4-BE49-F238E27FC236}">
                  <a16:creationId xmlns:a16="http://schemas.microsoft.com/office/drawing/2014/main" id="{157B8484-34DF-6ABB-FDD0-33BAB5963126}"/>
                </a:ext>
              </a:extLst>
            </p:cNvPr>
            <p:cNvSpPr>
              <a:spLocks/>
            </p:cNvSpPr>
            <p:nvPr/>
          </p:nvSpPr>
          <p:spPr bwMode="auto">
            <a:xfrm>
              <a:off x="8482013" y="5119688"/>
              <a:ext cx="176213" cy="176213"/>
            </a:xfrm>
            <a:custGeom>
              <a:avLst/>
              <a:gdLst>
                <a:gd name="T0" fmla="*/ 20 w 157"/>
                <a:gd name="T1" fmla="*/ 157 h 157"/>
                <a:gd name="T2" fmla="*/ 137 w 157"/>
                <a:gd name="T3" fmla="*/ 157 h 157"/>
                <a:gd name="T4" fmla="*/ 157 w 157"/>
                <a:gd name="T5" fmla="*/ 137 h 157"/>
                <a:gd name="T6" fmla="*/ 157 w 157"/>
                <a:gd name="T7" fmla="*/ 20 h 157"/>
                <a:gd name="T8" fmla="*/ 137 w 157"/>
                <a:gd name="T9" fmla="*/ 0 h 157"/>
                <a:gd name="T10" fmla="*/ 20 w 157"/>
                <a:gd name="T11" fmla="*/ 0 h 157"/>
                <a:gd name="T12" fmla="*/ 0 w 157"/>
                <a:gd name="T13" fmla="*/ 20 h 157"/>
                <a:gd name="T14" fmla="*/ 0 w 157"/>
                <a:gd name="T15" fmla="*/ 137 h 157"/>
                <a:gd name="T16" fmla="*/ 20 w 157"/>
                <a:gd name="T17"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20" y="157"/>
                  </a:moveTo>
                  <a:lnTo>
                    <a:pt x="137" y="157"/>
                  </a:lnTo>
                  <a:cubicBezTo>
                    <a:pt x="148" y="157"/>
                    <a:pt x="157" y="148"/>
                    <a:pt x="157" y="137"/>
                  </a:cubicBezTo>
                  <a:lnTo>
                    <a:pt x="157" y="20"/>
                  </a:lnTo>
                  <a:cubicBezTo>
                    <a:pt x="157" y="9"/>
                    <a:pt x="148" y="0"/>
                    <a:pt x="137" y="0"/>
                  </a:cubicBezTo>
                  <a:lnTo>
                    <a:pt x="20" y="0"/>
                  </a:lnTo>
                  <a:cubicBezTo>
                    <a:pt x="9" y="0"/>
                    <a:pt x="0" y="9"/>
                    <a:pt x="0" y="20"/>
                  </a:cubicBezTo>
                  <a:lnTo>
                    <a:pt x="0" y="137"/>
                  </a:lnTo>
                  <a:cubicBezTo>
                    <a:pt x="0" y="148"/>
                    <a:pt x="9" y="157"/>
                    <a:pt x="20" y="157"/>
                  </a:cubicBezTo>
                  <a:close/>
                </a:path>
              </a:pathLst>
            </a:custGeom>
            <a:noFill/>
            <a:ln w="19050" cap="flat">
              <a:solidFill>
                <a:srgbClr val="CFCFC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2645">
              <a:extLst>
                <a:ext uri="{FF2B5EF4-FFF2-40B4-BE49-F238E27FC236}">
                  <a16:creationId xmlns:a16="http://schemas.microsoft.com/office/drawing/2014/main" id="{E842F82F-3A05-D4DB-A689-E61C309CF118}"/>
                </a:ext>
              </a:extLst>
            </p:cNvPr>
            <p:cNvSpPr>
              <a:spLocks/>
            </p:cNvSpPr>
            <p:nvPr/>
          </p:nvSpPr>
          <p:spPr bwMode="auto">
            <a:xfrm>
              <a:off x="8528050" y="5172075"/>
              <a:ext cx="85725" cy="79375"/>
            </a:xfrm>
            <a:custGeom>
              <a:avLst/>
              <a:gdLst>
                <a:gd name="T0" fmla="*/ 0 w 76"/>
                <a:gd name="T1" fmla="*/ 28 h 70"/>
                <a:gd name="T2" fmla="*/ 29 w 76"/>
                <a:gd name="T3" fmla="*/ 70 h 70"/>
                <a:gd name="T4" fmla="*/ 76 w 76"/>
                <a:gd name="T5" fmla="*/ 0 h 70"/>
              </a:gdLst>
              <a:ahLst/>
              <a:cxnLst>
                <a:cxn ang="0">
                  <a:pos x="T0" y="T1"/>
                </a:cxn>
                <a:cxn ang="0">
                  <a:pos x="T2" y="T3"/>
                </a:cxn>
                <a:cxn ang="0">
                  <a:pos x="T4" y="T5"/>
                </a:cxn>
              </a:cxnLst>
              <a:rect l="0" t="0" r="r" b="b"/>
              <a:pathLst>
                <a:path w="76" h="70">
                  <a:moveTo>
                    <a:pt x="0" y="28"/>
                  </a:moveTo>
                  <a:lnTo>
                    <a:pt x="29" y="70"/>
                  </a:lnTo>
                  <a:lnTo>
                    <a:pt x="76" y="0"/>
                  </a:lnTo>
                </a:path>
              </a:pathLst>
            </a:custGeom>
            <a:noFill/>
            <a:ln w="1905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8" name="ZoneTexte 87">
            <a:extLst>
              <a:ext uri="{FF2B5EF4-FFF2-40B4-BE49-F238E27FC236}">
                <a16:creationId xmlns:a16="http://schemas.microsoft.com/office/drawing/2014/main" id="{C6ECC9BD-77E3-C3FD-1088-111B73113827}"/>
              </a:ext>
            </a:extLst>
          </p:cNvPr>
          <p:cNvSpPr txBox="1"/>
          <p:nvPr/>
        </p:nvSpPr>
        <p:spPr>
          <a:xfrm>
            <a:off x="1205774" y="6636229"/>
            <a:ext cx="1297761" cy="123111"/>
          </a:xfrm>
          <a:prstGeom prst="rect">
            <a:avLst/>
          </a:prstGeom>
          <a:noFill/>
        </p:spPr>
        <p:txBody>
          <a:bodyPr wrap="square" lIns="36000" tIns="0" rIns="36000" bIns="0" rtlCol="0">
            <a:spAutoFit/>
          </a:bodyPr>
          <a:lstStyle/>
          <a:p>
            <a:r>
              <a:rPr lang="en-US" sz="800"/>
              <a:t>Automatic synchronization</a:t>
            </a:r>
          </a:p>
        </p:txBody>
      </p:sp>
      <p:sp>
        <p:nvSpPr>
          <p:cNvPr id="89" name="ZoneTexte 88">
            <a:extLst>
              <a:ext uri="{FF2B5EF4-FFF2-40B4-BE49-F238E27FC236}">
                <a16:creationId xmlns:a16="http://schemas.microsoft.com/office/drawing/2014/main" id="{1DEF4312-A4E5-41DB-752D-85DC290ADE82}"/>
              </a:ext>
            </a:extLst>
          </p:cNvPr>
          <p:cNvSpPr txBox="1"/>
          <p:nvPr/>
        </p:nvSpPr>
        <p:spPr>
          <a:xfrm>
            <a:off x="185204" y="6639504"/>
            <a:ext cx="743652" cy="138499"/>
          </a:xfrm>
          <a:prstGeom prst="rect">
            <a:avLst/>
          </a:prstGeom>
          <a:noFill/>
        </p:spPr>
        <p:txBody>
          <a:bodyPr wrap="square" lIns="36000" tIns="0" rIns="36000" bIns="0" rtlCol="0">
            <a:spAutoFit/>
          </a:bodyPr>
          <a:lstStyle/>
          <a:p>
            <a:r>
              <a:rPr lang="en-US" sz="900"/>
              <a:t>Legend</a:t>
            </a:r>
          </a:p>
        </p:txBody>
      </p:sp>
      <p:sp>
        <p:nvSpPr>
          <p:cNvPr id="90" name="Rectangle 89">
            <a:extLst>
              <a:ext uri="{FF2B5EF4-FFF2-40B4-BE49-F238E27FC236}">
                <a16:creationId xmlns:a16="http://schemas.microsoft.com/office/drawing/2014/main" id="{6C22832E-DCCB-6CFC-7F80-9CBFC6C046F6}"/>
              </a:ext>
            </a:extLst>
          </p:cNvPr>
          <p:cNvSpPr/>
          <p:nvPr/>
        </p:nvSpPr>
        <p:spPr>
          <a:xfrm>
            <a:off x="142327" y="6569927"/>
            <a:ext cx="3766943" cy="288073"/>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ZoneTexte 90">
            <a:extLst>
              <a:ext uri="{FF2B5EF4-FFF2-40B4-BE49-F238E27FC236}">
                <a16:creationId xmlns:a16="http://schemas.microsoft.com/office/drawing/2014/main" id="{CDF6CF25-24EC-38FE-58E4-9CEE8C38B0ED}"/>
              </a:ext>
            </a:extLst>
          </p:cNvPr>
          <p:cNvSpPr txBox="1"/>
          <p:nvPr/>
        </p:nvSpPr>
        <p:spPr>
          <a:xfrm>
            <a:off x="2995134" y="6636229"/>
            <a:ext cx="1297761" cy="123111"/>
          </a:xfrm>
          <a:prstGeom prst="rect">
            <a:avLst/>
          </a:prstGeom>
          <a:noFill/>
        </p:spPr>
        <p:txBody>
          <a:bodyPr wrap="square" lIns="36000" tIns="0" rIns="36000" bIns="0" rtlCol="0">
            <a:spAutoFit/>
          </a:bodyPr>
          <a:lstStyle/>
          <a:p>
            <a:r>
              <a:rPr lang="en-US" sz="800"/>
              <a:t>Manual creation</a:t>
            </a:r>
          </a:p>
        </p:txBody>
      </p:sp>
      <p:sp>
        <p:nvSpPr>
          <p:cNvPr id="57" name="Rectangle : coins arrondis 56">
            <a:extLst>
              <a:ext uri="{FF2B5EF4-FFF2-40B4-BE49-F238E27FC236}">
                <a16:creationId xmlns:a16="http://schemas.microsoft.com/office/drawing/2014/main" id="{30C85F7C-D53D-AA83-BC72-F03D4F6E60E9}"/>
              </a:ext>
            </a:extLst>
          </p:cNvPr>
          <p:cNvSpPr/>
          <p:nvPr/>
        </p:nvSpPr>
        <p:spPr>
          <a:xfrm>
            <a:off x="538200" y="3032409"/>
            <a:ext cx="9196348" cy="2570027"/>
          </a:xfrm>
          <a:prstGeom prst="roundRect">
            <a:avLst/>
          </a:prstGeom>
          <a:noFill/>
          <a:ln w="19050" cap="flat" cmpd="sng" algn="ctr">
            <a:solidFill>
              <a:srgbClr val="003C5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Montserrat"/>
                <a:ea typeface="+mn-ea"/>
                <a:cs typeface="+mn-cs"/>
              </a:rPr>
              <a:t> </a:t>
            </a:r>
          </a:p>
        </p:txBody>
      </p:sp>
      <p:sp>
        <p:nvSpPr>
          <p:cNvPr id="6" name="Titre 5">
            <a:extLst>
              <a:ext uri="{FF2B5EF4-FFF2-40B4-BE49-F238E27FC236}">
                <a16:creationId xmlns:a16="http://schemas.microsoft.com/office/drawing/2014/main" id="{EACC9B09-68D8-98B3-02FD-C4CB9506AA2C}"/>
              </a:ext>
            </a:extLst>
          </p:cNvPr>
          <p:cNvSpPr>
            <a:spLocks noGrp="1"/>
          </p:cNvSpPr>
          <p:nvPr>
            <p:ph type="title"/>
          </p:nvPr>
        </p:nvSpPr>
        <p:spPr>
          <a:xfrm>
            <a:off x="975736" y="512587"/>
            <a:ext cx="9145587" cy="609398"/>
          </a:xfrm>
        </p:spPr>
        <p:txBody>
          <a:bodyPr/>
          <a:lstStyle/>
          <a:p>
            <a:r>
              <a:rPr lang="fr-FR" sz="3600" dirty="0"/>
              <a:t>HOW IGA WORKS ?</a:t>
            </a:r>
            <a:br>
              <a:rPr lang="fr-FR"/>
            </a:br>
            <a:r>
              <a:rPr lang="fr-FR" sz="2000" dirty="0"/>
              <a:t>GLOBAL OVERVIEW</a:t>
            </a:r>
          </a:p>
        </p:txBody>
      </p:sp>
      <p:pic>
        <p:nvPicPr>
          <p:cNvPr id="2" name="Image 2">
            <a:extLst>
              <a:ext uri="{FF2B5EF4-FFF2-40B4-BE49-F238E27FC236}">
                <a16:creationId xmlns:a16="http://schemas.microsoft.com/office/drawing/2014/main" id="{8181737C-6697-D33D-343F-314ECEFFFD84}"/>
              </a:ext>
            </a:extLst>
          </p:cNvPr>
          <p:cNvPicPr>
            <a:picLocks noChangeAspect="1"/>
          </p:cNvPicPr>
          <p:nvPr/>
        </p:nvPicPr>
        <p:blipFill>
          <a:blip r:embed="rId21"/>
          <a:stretch>
            <a:fillRect/>
          </a:stretch>
        </p:blipFill>
        <p:spPr>
          <a:xfrm>
            <a:off x="921946" y="2146650"/>
            <a:ext cx="372836" cy="308388"/>
          </a:xfrm>
          <a:prstGeom prst="rect">
            <a:avLst/>
          </a:prstGeom>
        </p:spPr>
      </p:pic>
      <p:pic>
        <p:nvPicPr>
          <p:cNvPr id="3" name="Image 6">
            <a:extLst>
              <a:ext uri="{FF2B5EF4-FFF2-40B4-BE49-F238E27FC236}">
                <a16:creationId xmlns:a16="http://schemas.microsoft.com/office/drawing/2014/main" id="{7812BDBE-F935-FEE3-FFCC-EF2AD60D982D}"/>
              </a:ext>
            </a:extLst>
          </p:cNvPr>
          <p:cNvPicPr>
            <a:picLocks noChangeAspect="1"/>
          </p:cNvPicPr>
          <p:nvPr/>
        </p:nvPicPr>
        <p:blipFill>
          <a:blip r:embed="rId22"/>
          <a:stretch>
            <a:fillRect/>
          </a:stretch>
        </p:blipFill>
        <p:spPr>
          <a:xfrm>
            <a:off x="2241034" y="2155434"/>
            <a:ext cx="347230" cy="280926"/>
          </a:xfrm>
          <a:prstGeom prst="rect">
            <a:avLst/>
          </a:prstGeom>
        </p:spPr>
      </p:pic>
      <p:pic>
        <p:nvPicPr>
          <p:cNvPr id="7" name="Image 7" descr="Une image contenant texte, clipart&#10;&#10;Description générée automatiquement">
            <a:extLst>
              <a:ext uri="{FF2B5EF4-FFF2-40B4-BE49-F238E27FC236}">
                <a16:creationId xmlns:a16="http://schemas.microsoft.com/office/drawing/2014/main" id="{3AFDED92-BBE7-3E67-4A5D-C09A8B1901E0}"/>
              </a:ext>
            </a:extLst>
          </p:cNvPr>
          <p:cNvPicPr>
            <a:picLocks noChangeAspect="1"/>
          </p:cNvPicPr>
          <p:nvPr/>
        </p:nvPicPr>
        <p:blipFill>
          <a:blip r:embed="rId23"/>
          <a:stretch>
            <a:fillRect/>
          </a:stretch>
        </p:blipFill>
        <p:spPr>
          <a:xfrm>
            <a:off x="3955287" y="2147764"/>
            <a:ext cx="382362" cy="306162"/>
          </a:xfrm>
          <a:prstGeom prst="rect">
            <a:avLst/>
          </a:prstGeom>
        </p:spPr>
      </p:pic>
      <p:pic>
        <p:nvPicPr>
          <p:cNvPr id="8" name="Image 8" descr="Une image contenant texte, clipart&#10;&#10;Description générée automatiquement">
            <a:extLst>
              <a:ext uri="{FF2B5EF4-FFF2-40B4-BE49-F238E27FC236}">
                <a16:creationId xmlns:a16="http://schemas.microsoft.com/office/drawing/2014/main" id="{B9AEFFB5-3807-35CA-CADE-2E0A387990B1}"/>
              </a:ext>
            </a:extLst>
          </p:cNvPr>
          <p:cNvPicPr>
            <a:picLocks noChangeAspect="1"/>
          </p:cNvPicPr>
          <p:nvPr/>
        </p:nvPicPr>
        <p:blipFill>
          <a:blip r:embed="rId24"/>
          <a:stretch>
            <a:fillRect/>
          </a:stretch>
        </p:blipFill>
        <p:spPr>
          <a:xfrm>
            <a:off x="5481823" y="2151784"/>
            <a:ext cx="288225" cy="308017"/>
          </a:xfrm>
          <a:prstGeom prst="rect">
            <a:avLst/>
          </a:prstGeom>
        </p:spPr>
      </p:pic>
      <p:pic>
        <p:nvPicPr>
          <p:cNvPr id="9" name="Image 9" descr="Une image contenant texte&#10;&#10;Description générée automatiquement">
            <a:extLst>
              <a:ext uri="{FF2B5EF4-FFF2-40B4-BE49-F238E27FC236}">
                <a16:creationId xmlns:a16="http://schemas.microsoft.com/office/drawing/2014/main" id="{12DCE008-B00B-0DDE-6651-B5C6416B202B}"/>
              </a:ext>
            </a:extLst>
          </p:cNvPr>
          <p:cNvPicPr>
            <a:picLocks noChangeAspect="1"/>
          </p:cNvPicPr>
          <p:nvPr/>
        </p:nvPicPr>
        <p:blipFill>
          <a:blip r:embed="rId25"/>
          <a:stretch>
            <a:fillRect/>
          </a:stretch>
        </p:blipFill>
        <p:spPr>
          <a:xfrm>
            <a:off x="7354413" y="2127229"/>
            <a:ext cx="392628" cy="327438"/>
          </a:xfrm>
          <a:prstGeom prst="rect">
            <a:avLst/>
          </a:prstGeom>
        </p:spPr>
      </p:pic>
      <p:pic>
        <p:nvPicPr>
          <p:cNvPr id="10" name="Image 11">
            <a:extLst>
              <a:ext uri="{FF2B5EF4-FFF2-40B4-BE49-F238E27FC236}">
                <a16:creationId xmlns:a16="http://schemas.microsoft.com/office/drawing/2014/main" id="{F9163210-AE2B-27F2-3C92-8CCDD8E5D953}"/>
              </a:ext>
            </a:extLst>
          </p:cNvPr>
          <p:cNvPicPr>
            <a:picLocks noChangeAspect="1"/>
          </p:cNvPicPr>
          <p:nvPr/>
        </p:nvPicPr>
        <p:blipFill>
          <a:blip r:embed="rId26"/>
          <a:stretch>
            <a:fillRect/>
          </a:stretch>
        </p:blipFill>
        <p:spPr>
          <a:xfrm>
            <a:off x="8691809" y="2136012"/>
            <a:ext cx="280926" cy="329664"/>
          </a:xfrm>
          <a:prstGeom prst="rect">
            <a:avLst/>
          </a:prstGeom>
        </p:spPr>
      </p:pic>
      <p:cxnSp>
        <p:nvCxnSpPr>
          <p:cNvPr id="13" name="Connecteur droit avec flèche 12">
            <a:extLst>
              <a:ext uri="{FF2B5EF4-FFF2-40B4-BE49-F238E27FC236}">
                <a16:creationId xmlns:a16="http://schemas.microsoft.com/office/drawing/2014/main" id="{6A576FA3-698A-3F03-B86A-C6294A6644E9}"/>
              </a:ext>
            </a:extLst>
          </p:cNvPr>
          <p:cNvCxnSpPr>
            <a:cxnSpLocks/>
          </p:cNvCxnSpPr>
          <p:nvPr/>
        </p:nvCxnSpPr>
        <p:spPr>
          <a:xfrm>
            <a:off x="9794875" y="4493365"/>
            <a:ext cx="690343" cy="0"/>
          </a:xfrm>
          <a:prstGeom prst="straightConnector1">
            <a:avLst/>
          </a:prstGeom>
          <a:ln w="5715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Rectangle : coins arrondis 20">
            <a:extLst>
              <a:ext uri="{FF2B5EF4-FFF2-40B4-BE49-F238E27FC236}">
                <a16:creationId xmlns:a16="http://schemas.microsoft.com/office/drawing/2014/main" id="{59E8BA37-00A5-178A-B919-03B0286A3E40}"/>
              </a:ext>
            </a:extLst>
          </p:cNvPr>
          <p:cNvSpPr>
            <a:spLocks/>
          </p:cNvSpPr>
          <p:nvPr/>
        </p:nvSpPr>
        <p:spPr>
          <a:xfrm>
            <a:off x="10713293" y="4227579"/>
            <a:ext cx="1188000" cy="367400"/>
          </a:xfrm>
          <a:prstGeom prst="roundRect">
            <a:avLst>
              <a:gd name="adj" fmla="val 11161"/>
            </a:avLst>
          </a:prstGeom>
          <a:solidFill>
            <a:srgbClr val="006B8D"/>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Technical Directories</a:t>
            </a:r>
          </a:p>
        </p:txBody>
      </p:sp>
      <p:sp>
        <p:nvSpPr>
          <p:cNvPr id="23" name="Rectangle : coins arrondis 22">
            <a:extLst>
              <a:ext uri="{FF2B5EF4-FFF2-40B4-BE49-F238E27FC236}">
                <a16:creationId xmlns:a16="http://schemas.microsoft.com/office/drawing/2014/main" id="{E0AD66E6-2D3A-B0CE-3CA0-57ADB68D58AC}"/>
              </a:ext>
            </a:extLst>
          </p:cNvPr>
          <p:cNvSpPr/>
          <p:nvPr/>
        </p:nvSpPr>
        <p:spPr>
          <a:xfrm>
            <a:off x="10712489" y="3478819"/>
            <a:ext cx="1188000" cy="427721"/>
          </a:xfrm>
          <a:prstGeom prst="roundRect">
            <a:avLst>
              <a:gd name="adj" fmla="val 11161"/>
            </a:avLst>
          </a:prstGeom>
          <a:solidFill>
            <a:schemeClr val="accent1">
              <a:lumMod val="75000"/>
            </a:schemeClr>
          </a:solidFill>
          <a:ln w="19050" cap="flat" cmpd="sng" algn="ctr">
            <a:solidFill>
              <a:sysClr val="window" lastClr="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Business Applications</a:t>
            </a:r>
          </a:p>
        </p:txBody>
      </p:sp>
      <p:sp>
        <p:nvSpPr>
          <p:cNvPr id="29" name="ZoneTexte 28">
            <a:extLst>
              <a:ext uri="{FF2B5EF4-FFF2-40B4-BE49-F238E27FC236}">
                <a16:creationId xmlns:a16="http://schemas.microsoft.com/office/drawing/2014/main" id="{1783D3FC-0D70-BA93-65C3-ABD11B2C864C}"/>
              </a:ext>
            </a:extLst>
          </p:cNvPr>
          <p:cNvSpPr txBox="1"/>
          <p:nvPr/>
        </p:nvSpPr>
        <p:spPr>
          <a:xfrm>
            <a:off x="10847403" y="2795236"/>
            <a:ext cx="952877" cy="369332"/>
          </a:xfrm>
          <a:prstGeom prst="rect">
            <a:avLst/>
          </a:prstGeom>
          <a:noFill/>
        </p:spPr>
        <p:txBody>
          <a:bodyPr wrap="square" rtlCol="0">
            <a:spAutoFit/>
          </a:bodyPr>
          <a:lstStyle/>
          <a:p>
            <a:r>
              <a:rPr lang="en-US" b="1" cap="all">
                <a:latin typeface="+mj-lt"/>
                <a:ea typeface="+mj-ea"/>
                <a:cs typeface="+mj-cs"/>
              </a:rPr>
              <a:t>IT</a:t>
            </a:r>
            <a:r>
              <a:rPr lang="en-US" sz="1400"/>
              <a:t> </a:t>
            </a:r>
            <a:r>
              <a:rPr lang="en-US" b="1" cap="all">
                <a:latin typeface="+mj-lt"/>
                <a:ea typeface="+mj-ea"/>
                <a:cs typeface="+mj-cs"/>
              </a:rPr>
              <a:t>View</a:t>
            </a:r>
          </a:p>
        </p:txBody>
      </p:sp>
      <p:sp>
        <p:nvSpPr>
          <p:cNvPr id="31" name="Rectangle : coins arrondis 30">
            <a:extLst>
              <a:ext uri="{FF2B5EF4-FFF2-40B4-BE49-F238E27FC236}">
                <a16:creationId xmlns:a16="http://schemas.microsoft.com/office/drawing/2014/main" id="{1CD3F9FB-2247-34F1-F115-5FA50986EEBF}"/>
              </a:ext>
            </a:extLst>
          </p:cNvPr>
          <p:cNvSpPr/>
          <p:nvPr/>
        </p:nvSpPr>
        <p:spPr>
          <a:xfrm>
            <a:off x="10712489" y="4992800"/>
            <a:ext cx="1188000" cy="367400"/>
          </a:xfrm>
          <a:prstGeom prst="roundRect">
            <a:avLst>
              <a:gd name="adj" fmla="val 11161"/>
            </a:avLst>
          </a:prstGeom>
          <a:solidFill>
            <a:srgbClr val="009581">
              <a:lumMod val="75000"/>
            </a:srgbClr>
          </a:solidFill>
          <a:ln>
            <a:noFill/>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a:ln>
                  <a:noFill/>
                </a:ln>
                <a:solidFill>
                  <a:prstClr val="white"/>
                </a:solidFill>
                <a:effectLst/>
                <a:uLnTx/>
                <a:uFillTx/>
                <a:latin typeface="Montserrat"/>
                <a:ea typeface="+mn-ea"/>
                <a:cs typeface="+mn-cs"/>
              </a:rPr>
              <a:t>ITSM</a:t>
            </a:r>
          </a:p>
        </p:txBody>
      </p:sp>
      <p:sp>
        <p:nvSpPr>
          <p:cNvPr id="35" name="Rectangle : coins arrondis 34">
            <a:extLst>
              <a:ext uri="{FF2B5EF4-FFF2-40B4-BE49-F238E27FC236}">
                <a16:creationId xmlns:a16="http://schemas.microsoft.com/office/drawing/2014/main" id="{963CD0A5-4C50-8981-A64D-6A4022170421}"/>
              </a:ext>
            </a:extLst>
          </p:cNvPr>
          <p:cNvSpPr/>
          <p:nvPr/>
        </p:nvSpPr>
        <p:spPr>
          <a:xfrm>
            <a:off x="10570214" y="3151966"/>
            <a:ext cx="1483027" cy="2570026"/>
          </a:xfrm>
          <a:prstGeom prst="roundRect">
            <a:avLst/>
          </a:prstGeom>
          <a:noFill/>
          <a:ln w="19050" cap="flat" cmpd="sng" algn="ctr">
            <a:solidFill>
              <a:srgbClr val="003C5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prstClr val="white"/>
                </a:solidFill>
                <a:effectLst/>
                <a:uLnTx/>
                <a:uFillTx/>
                <a:latin typeface="Montserrat"/>
                <a:ea typeface="+mn-ea"/>
                <a:cs typeface="+mn-cs"/>
              </a:rPr>
              <a:t> </a:t>
            </a:r>
          </a:p>
        </p:txBody>
      </p:sp>
    </p:spTree>
    <p:extLst>
      <p:ext uri="{BB962C8B-B14F-4D97-AF65-F5344CB8AC3E}">
        <p14:creationId xmlns:p14="http://schemas.microsoft.com/office/powerpoint/2010/main" val="2013329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A51413-9C25-3894-3C25-17F1FBB41DD6}"/>
              </a:ext>
            </a:extLst>
          </p:cNvPr>
          <p:cNvSpPr>
            <a:spLocks noGrp="1"/>
          </p:cNvSpPr>
          <p:nvPr>
            <p:ph type="title"/>
          </p:nvPr>
        </p:nvSpPr>
        <p:spPr>
          <a:xfrm>
            <a:off x="982663" y="574932"/>
            <a:ext cx="9145587" cy="609398"/>
          </a:xfrm>
        </p:spPr>
        <p:txBody>
          <a:bodyPr/>
          <a:lstStyle/>
          <a:p>
            <a:r>
              <a:rPr lang="en-US" sz="3600"/>
              <a:t>How IGA works ? </a:t>
            </a:r>
            <a:br>
              <a:rPr lang="en-US" sz="3600"/>
            </a:br>
            <a:r>
              <a:rPr lang="en-US" sz="2000"/>
              <a:t>More detailed view </a:t>
            </a:r>
            <a:endParaRPr lang="fr-FR" sz="2000"/>
          </a:p>
        </p:txBody>
      </p:sp>
      <p:sp>
        <p:nvSpPr>
          <p:cNvPr id="113" name="Rectangle : coins arrondis 112">
            <a:extLst>
              <a:ext uri="{FF2B5EF4-FFF2-40B4-BE49-F238E27FC236}">
                <a16:creationId xmlns:a16="http://schemas.microsoft.com/office/drawing/2014/main" id="{1224D303-0A93-04DA-DAEF-8963D1AB91CC}"/>
              </a:ext>
            </a:extLst>
          </p:cNvPr>
          <p:cNvSpPr/>
          <p:nvPr/>
        </p:nvSpPr>
        <p:spPr>
          <a:xfrm>
            <a:off x="5235803" y="2843057"/>
            <a:ext cx="1893442" cy="2094419"/>
          </a:xfrm>
          <a:prstGeom prst="roundRect">
            <a:avLst>
              <a:gd name="adj" fmla="val 2331"/>
            </a:avLst>
          </a:prstGeom>
          <a:solidFill>
            <a:srgbClr val="003C5A"/>
          </a:solidFill>
          <a:ln w="28575" cap="flat" cmpd="sng" algn="ctr">
            <a:solidFill>
              <a:schemeClr val="accent1">
                <a:lumMod val="60000"/>
                <a:lumOff val="40000"/>
              </a:scheme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400" b="0" i="0" u="none" strike="noStrike" kern="0" cap="none" spc="0" normalizeH="0" baseline="0" noProof="0">
              <a:ln>
                <a:noFill/>
              </a:ln>
              <a:solidFill>
                <a:prstClr val="white"/>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400" b="0" i="0" u="none" strike="noStrike" kern="0" cap="none" spc="0" normalizeH="0" baseline="0" noProof="0">
              <a:ln>
                <a:noFill/>
              </a:ln>
              <a:solidFill>
                <a:prstClr val="white"/>
              </a:solidFill>
              <a:effectLst/>
              <a:uLnTx/>
              <a:uFillTx/>
              <a:latin typeface="Montserrat"/>
              <a:ea typeface="+mn-ea"/>
              <a:cs typeface="+mn-cs"/>
            </a:endParaRPr>
          </a:p>
        </p:txBody>
      </p:sp>
      <p:sp>
        <p:nvSpPr>
          <p:cNvPr id="114" name="Rectangle : coins arrondis 113">
            <a:extLst>
              <a:ext uri="{FF2B5EF4-FFF2-40B4-BE49-F238E27FC236}">
                <a16:creationId xmlns:a16="http://schemas.microsoft.com/office/drawing/2014/main" id="{8D474889-0429-1303-FFAF-C53E12FDEB3E}"/>
              </a:ext>
            </a:extLst>
          </p:cNvPr>
          <p:cNvSpPr/>
          <p:nvPr/>
        </p:nvSpPr>
        <p:spPr>
          <a:xfrm>
            <a:off x="4496347" y="2253753"/>
            <a:ext cx="2821603" cy="2963917"/>
          </a:xfrm>
          <a:prstGeom prst="roundRect">
            <a:avLst>
              <a:gd name="adj" fmla="val 4061"/>
            </a:avLst>
          </a:prstGeom>
          <a:noFill/>
          <a:ln w="12700" cap="flat" cmpd="sng" algn="ctr">
            <a:solidFill>
              <a:srgbClr val="003C5A"/>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p:txBody>
      </p:sp>
      <p:sp>
        <p:nvSpPr>
          <p:cNvPr id="115" name="Rectangle 114">
            <a:extLst>
              <a:ext uri="{FF2B5EF4-FFF2-40B4-BE49-F238E27FC236}">
                <a16:creationId xmlns:a16="http://schemas.microsoft.com/office/drawing/2014/main" id="{0EC8F4F0-CDEC-DE28-3D51-B1FD1AFB14E0}"/>
              </a:ext>
            </a:extLst>
          </p:cNvPr>
          <p:cNvSpPr/>
          <p:nvPr/>
        </p:nvSpPr>
        <p:spPr>
          <a:xfrm>
            <a:off x="1949714" y="3991090"/>
            <a:ext cx="607480" cy="122242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16" name="Rectangle 115">
            <a:extLst>
              <a:ext uri="{FF2B5EF4-FFF2-40B4-BE49-F238E27FC236}">
                <a16:creationId xmlns:a16="http://schemas.microsoft.com/office/drawing/2014/main" id="{F56B3336-5CC1-6CEF-3A88-34D88BC6E5F3}"/>
              </a:ext>
            </a:extLst>
          </p:cNvPr>
          <p:cNvSpPr/>
          <p:nvPr/>
        </p:nvSpPr>
        <p:spPr>
          <a:xfrm>
            <a:off x="1847642" y="4045932"/>
            <a:ext cx="607480" cy="122242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17" name="Rectangle : coins arrondis 116">
            <a:extLst>
              <a:ext uri="{FF2B5EF4-FFF2-40B4-BE49-F238E27FC236}">
                <a16:creationId xmlns:a16="http://schemas.microsoft.com/office/drawing/2014/main" id="{2BF26EBF-56ED-3B74-03BA-0D9323C3621F}"/>
              </a:ext>
            </a:extLst>
          </p:cNvPr>
          <p:cNvSpPr/>
          <p:nvPr/>
        </p:nvSpPr>
        <p:spPr>
          <a:xfrm>
            <a:off x="8449918" y="2016480"/>
            <a:ext cx="1476950" cy="1821457"/>
          </a:xfrm>
          <a:prstGeom prst="roundRect">
            <a:avLst>
              <a:gd name="adj" fmla="val 4982"/>
            </a:avLst>
          </a:prstGeom>
          <a:noFill/>
          <a:ln w="12700" cap="flat" cmpd="sng" algn="ctr">
            <a:solidFill>
              <a:srgbClr val="003C5A"/>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p:txBody>
      </p:sp>
      <p:sp>
        <p:nvSpPr>
          <p:cNvPr id="118" name="Rectangle : coins arrondis 117">
            <a:extLst>
              <a:ext uri="{FF2B5EF4-FFF2-40B4-BE49-F238E27FC236}">
                <a16:creationId xmlns:a16="http://schemas.microsoft.com/office/drawing/2014/main" id="{AB30F714-832C-4D07-EB13-B9E8DE6DD8BD}"/>
              </a:ext>
            </a:extLst>
          </p:cNvPr>
          <p:cNvSpPr/>
          <p:nvPr/>
        </p:nvSpPr>
        <p:spPr>
          <a:xfrm>
            <a:off x="8516312" y="3132993"/>
            <a:ext cx="1355964" cy="432000"/>
          </a:xfrm>
          <a:prstGeom prst="roundRect">
            <a:avLst>
              <a:gd name="adj" fmla="val 8502"/>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Provisioners</a:t>
            </a:r>
          </a:p>
        </p:txBody>
      </p:sp>
      <p:sp>
        <p:nvSpPr>
          <p:cNvPr id="119" name="Rectangle : coins arrondis 118">
            <a:extLst>
              <a:ext uri="{FF2B5EF4-FFF2-40B4-BE49-F238E27FC236}">
                <a16:creationId xmlns:a16="http://schemas.microsoft.com/office/drawing/2014/main" id="{EC65993D-B92B-7303-4695-D4C8AEC63833}"/>
              </a:ext>
            </a:extLst>
          </p:cNvPr>
          <p:cNvSpPr/>
          <p:nvPr/>
        </p:nvSpPr>
        <p:spPr>
          <a:xfrm>
            <a:off x="8516312" y="2535500"/>
            <a:ext cx="1355964" cy="432000"/>
          </a:xfrm>
          <a:prstGeom prst="roundRect">
            <a:avLst>
              <a:gd name="adj" fmla="val 7686"/>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Collectors</a:t>
            </a:r>
          </a:p>
        </p:txBody>
      </p:sp>
      <p:sp>
        <p:nvSpPr>
          <p:cNvPr id="120" name="Rectangle : coins arrondis 119">
            <a:extLst>
              <a:ext uri="{FF2B5EF4-FFF2-40B4-BE49-F238E27FC236}">
                <a16:creationId xmlns:a16="http://schemas.microsoft.com/office/drawing/2014/main" id="{AE83D909-2692-DDEC-D819-D090928CD415}"/>
              </a:ext>
            </a:extLst>
          </p:cNvPr>
          <p:cNvSpPr/>
          <p:nvPr/>
        </p:nvSpPr>
        <p:spPr>
          <a:xfrm>
            <a:off x="5274528" y="2897135"/>
            <a:ext cx="964800" cy="29160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Reconciliation</a:t>
            </a:r>
          </a:p>
        </p:txBody>
      </p:sp>
      <p:sp>
        <p:nvSpPr>
          <p:cNvPr id="121" name="Rectangle : coins arrondis 120">
            <a:extLst>
              <a:ext uri="{FF2B5EF4-FFF2-40B4-BE49-F238E27FC236}">
                <a16:creationId xmlns:a16="http://schemas.microsoft.com/office/drawing/2014/main" id="{FEF6651C-D0C8-5031-E15B-0E947B05AC52}"/>
              </a:ext>
            </a:extLst>
          </p:cNvPr>
          <p:cNvSpPr/>
          <p:nvPr/>
        </p:nvSpPr>
        <p:spPr>
          <a:xfrm>
            <a:off x="2041849" y="2847001"/>
            <a:ext cx="1924198" cy="2090165"/>
          </a:xfrm>
          <a:prstGeom prst="roundRect">
            <a:avLst>
              <a:gd name="adj" fmla="val 7686"/>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400" b="0" i="0" u="none" strike="noStrike" kern="0" cap="none" spc="0" normalizeH="0" baseline="0" noProof="0">
              <a:ln>
                <a:noFill/>
              </a:ln>
              <a:solidFill>
                <a:prstClr val="white"/>
              </a:solidFill>
              <a:effectLst/>
              <a:uLnTx/>
              <a:uFillTx/>
              <a:latin typeface="Montserrat"/>
              <a:ea typeface="+mn-ea"/>
              <a:cs typeface="+mn-cs"/>
            </a:endParaRPr>
          </a:p>
        </p:txBody>
      </p:sp>
      <p:sp>
        <p:nvSpPr>
          <p:cNvPr id="122" name="Rectangle : coins arrondis 121">
            <a:extLst>
              <a:ext uri="{FF2B5EF4-FFF2-40B4-BE49-F238E27FC236}">
                <a16:creationId xmlns:a16="http://schemas.microsoft.com/office/drawing/2014/main" id="{BA3EB2A6-0AFF-67C8-2B38-D6F1AC0D5B2B}"/>
              </a:ext>
            </a:extLst>
          </p:cNvPr>
          <p:cNvSpPr/>
          <p:nvPr/>
        </p:nvSpPr>
        <p:spPr>
          <a:xfrm>
            <a:off x="8543392" y="1886173"/>
            <a:ext cx="1287891" cy="466454"/>
          </a:xfrm>
          <a:prstGeom prst="round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Applications</a:t>
            </a:r>
          </a:p>
          <a:p>
            <a:pPr marL="0" marR="0" lvl="0" indent="0" algn="ctr" defTabSz="914400" eaLnBrk="1" fontAlgn="auto" latinLnBrk="0" hangingPunct="1">
              <a:lnSpc>
                <a:spcPct val="100000"/>
              </a:lnSpc>
              <a:spcBef>
                <a:spcPts val="0"/>
              </a:spcBef>
              <a:spcAft>
                <a:spcPts val="0"/>
              </a:spcAft>
              <a:buClrTx/>
              <a:buSzTx/>
              <a:buFontTx/>
              <a:buNone/>
              <a:tabLst/>
              <a:defRPr/>
            </a:pPr>
            <a:r>
              <a:rPr lang="en-US" sz="1000" kern="0">
                <a:solidFill>
                  <a:prstClr val="white"/>
                </a:solidFill>
                <a:latin typeface="Montserrat"/>
              </a:rPr>
              <a:t>Integration</a:t>
            </a:r>
            <a:endParaRPr kumimoji="0" lang="en-US" sz="1000" b="0" i="0" u="none" strike="noStrike" kern="0" cap="none" spc="0" normalizeH="0" baseline="0" noProof="0">
              <a:ln>
                <a:noFill/>
              </a:ln>
              <a:solidFill>
                <a:prstClr val="white"/>
              </a:solidFill>
              <a:effectLst/>
              <a:uLnTx/>
              <a:uFillTx/>
              <a:latin typeface="Montserrat"/>
              <a:ea typeface="+mn-ea"/>
              <a:cs typeface="+mn-cs"/>
            </a:endParaRPr>
          </a:p>
        </p:txBody>
      </p:sp>
      <p:sp>
        <p:nvSpPr>
          <p:cNvPr id="123" name="Rectangle : coins arrondis 122">
            <a:extLst>
              <a:ext uri="{FF2B5EF4-FFF2-40B4-BE49-F238E27FC236}">
                <a16:creationId xmlns:a16="http://schemas.microsoft.com/office/drawing/2014/main" id="{F06F3D2A-2A57-227E-4700-530FCCF6A982}"/>
              </a:ext>
            </a:extLst>
          </p:cNvPr>
          <p:cNvSpPr/>
          <p:nvPr/>
        </p:nvSpPr>
        <p:spPr>
          <a:xfrm>
            <a:off x="5304230" y="4564559"/>
            <a:ext cx="996892" cy="29160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244976"/>
                </a:solidFill>
                <a:effectLst/>
                <a:uLnTx/>
                <a:uFillTx/>
                <a:latin typeface="Montserrat"/>
                <a:ea typeface="+mn-ea"/>
                <a:cs typeface="+mn-cs"/>
              </a:rPr>
              <a:t>Manual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244976"/>
                </a:solidFill>
                <a:effectLst/>
                <a:uLnTx/>
                <a:uFillTx/>
                <a:latin typeface="Montserrat"/>
                <a:ea typeface="+mn-ea"/>
                <a:cs typeface="+mn-cs"/>
              </a:rPr>
              <a:t>Exemption</a:t>
            </a:r>
          </a:p>
        </p:txBody>
      </p:sp>
      <p:grpSp>
        <p:nvGrpSpPr>
          <p:cNvPr id="124" name="Groupe 123">
            <a:extLst>
              <a:ext uri="{FF2B5EF4-FFF2-40B4-BE49-F238E27FC236}">
                <a16:creationId xmlns:a16="http://schemas.microsoft.com/office/drawing/2014/main" id="{4B3587BE-4D37-4CD7-F71A-B1FCCDF2E245}"/>
              </a:ext>
            </a:extLst>
          </p:cNvPr>
          <p:cNvGrpSpPr/>
          <p:nvPr/>
        </p:nvGrpSpPr>
        <p:grpSpPr>
          <a:xfrm>
            <a:off x="7477439" y="4341506"/>
            <a:ext cx="1441907" cy="948850"/>
            <a:chOff x="3179782" y="4535572"/>
            <a:chExt cx="1582627" cy="1088464"/>
          </a:xfrm>
        </p:grpSpPr>
        <p:sp>
          <p:nvSpPr>
            <p:cNvPr id="125" name="Rectangle : coins arrondis 124">
              <a:extLst>
                <a:ext uri="{FF2B5EF4-FFF2-40B4-BE49-F238E27FC236}">
                  <a16:creationId xmlns:a16="http://schemas.microsoft.com/office/drawing/2014/main" id="{ECFC2676-8754-A571-8EDD-A05C875CBDD2}"/>
                </a:ext>
              </a:extLst>
            </p:cNvPr>
            <p:cNvSpPr/>
            <p:nvPr/>
          </p:nvSpPr>
          <p:spPr>
            <a:xfrm>
              <a:off x="3179782" y="4535572"/>
              <a:ext cx="1582627" cy="1088464"/>
            </a:xfrm>
            <a:prstGeom prst="roundRect">
              <a:avLst>
                <a:gd name="adj" fmla="val 4061"/>
              </a:avLst>
            </a:prstGeom>
            <a:noFill/>
            <a:ln w="12700" cap="flat" cmpd="sng" algn="ctr">
              <a:solidFill>
                <a:srgbClr val="003C5A"/>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p:txBody>
        </p:sp>
        <p:sp>
          <p:nvSpPr>
            <p:cNvPr id="126" name="Rectangle : coins arrondis 125">
              <a:extLst>
                <a:ext uri="{FF2B5EF4-FFF2-40B4-BE49-F238E27FC236}">
                  <a16:creationId xmlns:a16="http://schemas.microsoft.com/office/drawing/2014/main" id="{E04C30C2-C716-6727-5FB1-FE272EF791BB}"/>
                </a:ext>
              </a:extLst>
            </p:cNvPr>
            <p:cNvSpPr/>
            <p:nvPr/>
          </p:nvSpPr>
          <p:spPr>
            <a:xfrm>
              <a:off x="3303955" y="4616493"/>
              <a:ext cx="1344314" cy="420245"/>
            </a:xfrm>
            <a:prstGeom prst="roundRect">
              <a:avLst/>
            </a:prstGeom>
            <a:solidFill>
              <a:srgbClr val="003C5A"/>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Approbation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Exemption</a:t>
              </a:r>
            </a:p>
          </p:txBody>
        </p:sp>
        <p:sp>
          <p:nvSpPr>
            <p:cNvPr id="127" name="Rectangle 126">
              <a:extLst>
                <a:ext uri="{FF2B5EF4-FFF2-40B4-BE49-F238E27FC236}">
                  <a16:creationId xmlns:a16="http://schemas.microsoft.com/office/drawing/2014/main" id="{4B4ACF3A-7BB5-33AF-9920-FBAFDA668059}"/>
                </a:ext>
              </a:extLst>
            </p:cNvPr>
            <p:cNvSpPr/>
            <p:nvPr/>
          </p:nvSpPr>
          <p:spPr>
            <a:xfrm>
              <a:off x="3856903" y="5108495"/>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28" name="Rectangle 127">
              <a:extLst>
                <a:ext uri="{FF2B5EF4-FFF2-40B4-BE49-F238E27FC236}">
                  <a16:creationId xmlns:a16="http://schemas.microsoft.com/office/drawing/2014/main" id="{635DE9DC-FCF6-D9B2-EB48-D3498CD2DC9E}"/>
                </a:ext>
              </a:extLst>
            </p:cNvPr>
            <p:cNvSpPr/>
            <p:nvPr/>
          </p:nvSpPr>
          <p:spPr>
            <a:xfrm>
              <a:off x="4267560" y="5108495"/>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29" name="Flèche : droite 128">
              <a:extLst>
                <a:ext uri="{FF2B5EF4-FFF2-40B4-BE49-F238E27FC236}">
                  <a16:creationId xmlns:a16="http://schemas.microsoft.com/office/drawing/2014/main" id="{C205A6E9-1C9C-9C47-4BBD-C72E1EE6A35F}"/>
                </a:ext>
              </a:extLst>
            </p:cNvPr>
            <p:cNvSpPr/>
            <p:nvPr/>
          </p:nvSpPr>
          <p:spPr>
            <a:xfrm>
              <a:off x="4076623" y="5103802"/>
              <a:ext cx="190937" cy="219534"/>
            </a:xfrm>
            <a:prstGeom prst="rightArrow">
              <a:avLst/>
            </a:prstGeom>
            <a:solidFill>
              <a:srgbClr val="003C5A"/>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30" name="Rectangle 129">
              <a:extLst>
                <a:ext uri="{FF2B5EF4-FFF2-40B4-BE49-F238E27FC236}">
                  <a16:creationId xmlns:a16="http://schemas.microsoft.com/office/drawing/2014/main" id="{C12A739E-2B7F-7934-D36E-0E7E8AA3C038}"/>
                </a:ext>
              </a:extLst>
            </p:cNvPr>
            <p:cNvSpPr/>
            <p:nvPr/>
          </p:nvSpPr>
          <p:spPr>
            <a:xfrm>
              <a:off x="3446246" y="5108495"/>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31" name="Flèche : droite 130">
              <a:extLst>
                <a:ext uri="{FF2B5EF4-FFF2-40B4-BE49-F238E27FC236}">
                  <a16:creationId xmlns:a16="http://schemas.microsoft.com/office/drawing/2014/main" id="{DBD5867A-EE91-8F76-5890-10484E046B9E}"/>
                </a:ext>
              </a:extLst>
            </p:cNvPr>
            <p:cNvSpPr/>
            <p:nvPr/>
          </p:nvSpPr>
          <p:spPr>
            <a:xfrm>
              <a:off x="3665966" y="5103802"/>
              <a:ext cx="190937" cy="219534"/>
            </a:xfrm>
            <a:prstGeom prst="rightArrow">
              <a:avLst/>
            </a:prstGeom>
            <a:solidFill>
              <a:srgbClr val="003C5A"/>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pic>
          <p:nvPicPr>
            <p:cNvPr id="132" name="Image 131" descr="XP_Man">
              <a:extLst>
                <a:ext uri="{FF2B5EF4-FFF2-40B4-BE49-F238E27FC236}">
                  <a16:creationId xmlns:a16="http://schemas.microsoft.com/office/drawing/2014/main" id="{3D64AF72-A01E-33BC-4590-2DB3684ED8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6508" y="5243347"/>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 name="Image 132" descr="XP_Man">
              <a:extLst>
                <a:ext uri="{FF2B5EF4-FFF2-40B4-BE49-F238E27FC236}">
                  <a16:creationId xmlns:a16="http://schemas.microsoft.com/office/drawing/2014/main" id="{250C39A4-57BF-E8FB-AE4C-28934EA269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3377" y="5243347"/>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 name="Image 133" descr="XP_Man">
              <a:extLst>
                <a:ext uri="{FF2B5EF4-FFF2-40B4-BE49-F238E27FC236}">
                  <a16:creationId xmlns:a16="http://schemas.microsoft.com/office/drawing/2014/main" id="{836194DA-6126-86C3-4DD2-30E480995C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657" y="5243347"/>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5" name="Rectangle 134">
            <a:extLst>
              <a:ext uri="{FF2B5EF4-FFF2-40B4-BE49-F238E27FC236}">
                <a16:creationId xmlns:a16="http://schemas.microsoft.com/office/drawing/2014/main" id="{D1E8AED1-235A-36FA-8EEA-A684444DDB1A}"/>
              </a:ext>
            </a:extLst>
          </p:cNvPr>
          <p:cNvSpPr/>
          <p:nvPr/>
        </p:nvSpPr>
        <p:spPr>
          <a:xfrm>
            <a:off x="5633684" y="6085139"/>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pic>
        <p:nvPicPr>
          <p:cNvPr id="136" name="Image 135" descr="XP_Man">
            <a:extLst>
              <a:ext uri="{FF2B5EF4-FFF2-40B4-BE49-F238E27FC236}">
                <a16:creationId xmlns:a16="http://schemas.microsoft.com/office/drawing/2014/main" id="{D3CABDC5-46D8-C432-3A30-E82FD15FD4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9501" y="6219991"/>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 name="Rectangle : coins arrondis 136">
            <a:extLst>
              <a:ext uri="{FF2B5EF4-FFF2-40B4-BE49-F238E27FC236}">
                <a16:creationId xmlns:a16="http://schemas.microsoft.com/office/drawing/2014/main" id="{397B1510-87BC-DF58-6AD7-E3022388BD23}"/>
              </a:ext>
            </a:extLst>
          </p:cNvPr>
          <p:cNvSpPr/>
          <p:nvPr/>
        </p:nvSpPr>
        <p:spPr>
          <a:xfrm>
            <a:off x="5308614" y="5594427"/>
            <a:ext cx="984394" cy="432492"/>
          </a:xfrm>
          <a:prstGeom prst="roundRect">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a:ln>
                  <a:noFill/>
                </a:ln>
                <a:solidFill>
                  <a:prstClr val="white"/>
                </a:solidFill>
                <a:effectLst/>
                <a:uLnTx/>
                <a:uFillTx/>
                <a:latin typeface="Montserrat"/>
                <a:ea typeface="+mn-ea"/>
                <a:cs typeface="+mn-cs"/>
              </a:rPr>
              <a:t>Gap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err="1">
                <a:ln>
                  <a:noFill/>
                </a:ln>
                <a:solidFill>
                  <a:prstClr val="white"/>
                </a:solidFill>
                <a:effectLst/>
                <a:uLnTx/>
                <a:uFillTx/>
                <a:latin typeface="Montserrat"/>
                <a:ea typeface="+mn-ea"/>
                <a:cs typeface="+mn-cs"/>
              </a:rPr>
              <a:t>mngt</a:t>
            </a:r>
            <a:endParaRPr kumimoji="0" lang="fr-FR" sz="1000" b="0" i="0" u="none" strike="noStrike" kern="0" cap="none" spc="0" normalizeH="0" baseline="0" noProof="0">
              <a:ln>
                <a:noFill/>
              </a:ln>
              <a:solidFill>
                <a:prstClr val="white"/>
              </a:solidFill>
              <a:effectLst/>
              <a:uLnTx/>
              <a:uFillTx/>
              <a:latin typeface="Montserrat"/>
              <a:ea typeface="+mn-ea"/>
              <a:cs typeface="+mn-cs"/>
            </a:endParaRPr>
          </a:p>
        </p:txBody>
      </p:sp>
      <p:sp>
        <p:nvSpPr>
          <p:cNvPr id="138" name="Rectangle 137">
            <a:extLst>
              <a:ext uri="{FF2B5EF4-FFF2-40B4-BE49-F238E27FC236}">
                <a16:creationId xmlns:a16="http://schemas.microsoft.com/office/drawing/2014/main" id="{291734D5-D4FB-F7D5-B639-68DF2E330A36}"/>
              </a:ext>
            </a:extLst>
          </p:cNvPr>
          <p:cNvSpPr/>
          <p:nvPr/>
        </p:nvSpPr>
        <p:spPr>
          <a:xfrm>
            <a:off x="4590843" y="6085139"/>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pic>
        <p:nvPicPr>
          <p:cNvPr id="139" name="Image 138" descr="XP_Man">
            <a:extLst>
              <a:ext uri="{FF2B5EF4-FFF2-40B4-BE49-F238E27FC236}">
                <a16:creationId xmlns:a16="http://schemas.microsoft.com/office/drawing/2014/main" id="{DC346FC3-3DF3-6E46-1698-718F6D5BA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6660" y="6219991"/>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 name="Rectangle : coins arrondis 139">
            <a:extLst>
              <a:ext uri="{FF2B5EF4-FFF2-40B4-BE49-F238E27FC236}">
                <a16:creationId xmlns:a16="http://schemas.microsoft.com/office/drawing/2014/main" id="{C91F4FA4-7BD5-8565-2EF1-FBE114CD24B5}"/>
              </a:ext>
            </a:extLst>
          </p:cNvPr>
          <p:cNvSpPr/>
          <p:nvPr/>
        </p:nvSpPr>
        <p:spPr>
          <a:xfrm>
            <a:off x="4250117" y="5594427"/>
            <a:ext cx="984394" cy="432492"/>
          </a:xfrm>
          <a:prstGeom prst="roundRect">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Access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re-certif.</a:t>
            </a:r>
          </a:p>
        </p:txBody>
      </p:sp>
      <p:sp>
        <p:nvSpPr>
          <p:cNvPr id="141" name="Rectangle : coins arrondis 140">
            <a:extLst>
              <a:ext uri="{FF2B5EF4-FFF2-40B4-BE49-F238E27FC236}">
                <a16:creationId xmlns:a16="http://schemas.microsoft.com/office/drawing/2014/main" id="{93709B59-A60A-1295-C02D-B91EA2814358}"/>
              </a:ext>
            </a:extLst>
          </p:cNvPr>
          <p:cNvSpPr/>
          <p:nvPr/>
        </p:nvSpPr>
        <p:spPr>
          <a:xfrm>
            <a:off x="6367112" y="5594427"/>
            <a:ext cx="984394" cy="432492"/>
          </a:xfrm>
          <a:prstGeom prst="roundRect">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Reporting</a:t>
            </a:r>
          </a:p>
        </p:txBody>
      </p:sp>
      <p:sp>
        <p:nvSpPr>
          <p:cNvPr id="142" name="Rectangle 141">
            <a:extLst>
              <a:ext uri="{FF2B5EF4-FFF2-40B4-BE49-F238E27FC236}">
                <a16:creationId xmlns:a16="http://schemas.microsoft.com/office/drawing/2014/main" id="{FFBC0CA3-34C4-83DF-B23E-3AFC07B22842}"/>
              </a:ext>
            </a:extLst>
          </p:cNvPr>
          <p:cNvSpPr/>
          <p:nvPr/>
        </p:nvSpPr>
        <p:spPr>
          <a:xfrm>
            <a:off x="6751055" y="6077395"/>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pic>
        <p:nvPicPr>
          <p:cNvPr id="143" name="Image 142" descr="XP_Man">
            <a:extLst>
              <a:ext uri="{FF2B5EF4-FFF2-40B4-BE49-F238E27FC236}">
                <a16:creationId xmlns:a16="http://schemas.microsoft.com/office/drawing/2014/main" id="{FDBF2FB0-D827-4648-619B-BA9DA5B5C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6872" y="6212247"/>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4" name="Groupe 143">
            <a:extLst>
              <a:ext uri="{FF2B5EF4-FFF2-40B4-BE49-F238E27FC236}">
                <a16:creationId xmlns:a16="http://schemas.microsoft.com/office/drawing/2014/main" id="{ABF55FC1-F39E-42E2-BECD-EB51F7EF327A}"/>
              </a:ext>
            </a:extLst>
          </p:cNvPr>
          <p:cNvGrpSpPr/>
          <p:nvPr/>
        </p:nvGrpSpPr>
        <p:grpSpPr>
          <a:xfrm>
            <a:off x="1876911" y="5512216"/>
            <a:ext cx="5545695" cy="1293248"/>
            <a:chOff x="5219252" y="4810129"/>
            <a:chExt cx="4253609" cy="1293248"/>
          </a:xfrm>
        </p:grpSpPr>
        <p:sp>
          <p:nvSpPr>
            <p:cNvPr id="145" name="Rectangle : coins arrondis 144">
              <a:extLst>
                <a:ext uri="{FF2B5EF4-FFF2-40B4-BE49-F238E27FC236}">
                  <a16:creationId xmlns:a16="http://schemas.microsoft.com/office/drawing/2014/main" id="{9CB700AB-A8E8-300E-A34C-B9290A5472A8}"/>
                </a:ext>
              </a:extLst>
            </p:cNvPr>
            <p:cNvSpPr/>
            <p:nvPr/>
          </p:nvSpPr>
          <p:spPr>
            <a:xfrm>
              <a:off x="5219252" y="4810129"/>
              <a:ext cx="4240156" cy="1088464"/>
            </a:xfrm>
            <a:prstGeom prst="roundRect">
              <a:avLst>
                <a:gd name="adj" fmla="val 4982"/>
              </a:avLst>
            </a:prstGeom>
            <a:noFill/>
            <a:ln w="12700" cap="flat" cmpd="sng" algn="ctr">
              <a:solidFill>
                <a:srgbClr val="003C5A"/>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p:txBody>
        </p:sp>
        <p:sp>
          <p:nvSpPr>
            <p:cNvPr id="146" name="Rectangle : coins arrondis 145">
              <a:extLst>
                <a:ext uri="{FF2B5EF4-FFF2-40B4-BE49-F238E27FC236}">
                  <a16:creationId xmlns:a16="http://schemas.microsoft.com/office/drawing/2014/main" id="{E38E469F-7E6A-7014-742F-2E7875485A64}"/>
                </a:ext>
              </a:extLst>
            </p:cNvPr>
            <p:cNvSpPr/>
            <p:nvPr/>
          </p:nvSpPr>
          <p:spPr>
            <a:xfrm>
              <a:off x="7951683" y="5822804"/>
              <a:ext cx="1521178" cy="280573"/>
            </a:xfrm>
            <a:prstGeom prst="round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Montserrat"/>
                  <a:ea typeface="+mn-ea"/>
                  <a:cs typeface="+mn-cs"/>
                </a:rPr>
                <a:t>Governance</a:t>
              </a:r>
            </a:p>
          </p:txBody>
        </p:sp>
      </p:grpSp>
      <p:sp>
        <p:nvSpPr>
          <p:cNvPr id="147" name="Rectangle : coins arrondis 146">
            <a:extLst>
              <a:ext uri="{FF2B5EF4-FFF2-40B4-BE49-F238E27FC236}">
                <a16:creationId xmlns:a16="http://schemas.microsoft.com/office/drawing/2014/main" id="{14C3FE7A-0FDE-5B0B-19C9-845B13215ECD}"/>
              </a:ext>
            </a:extLst>
          </p:cNvPr>
          <p:cNvSpPr/>
          <p:nvPr/>
        </p:nvSpPr>
        <p:spPr>
          <a:xfrm>
            <a:off x="3191620" y="5587002"/>
            <a:ext cx="984394" cy="432492"/>
          </a:xfrm>
          <a:prstGeom prst="roundRect">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Accounts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re-certif.</a:t>
            </a:r>
          </a:p>
        </p:txBody>
      </p:sp>
      <p:sp>
        <p:nvSpPr>
          <p:cNvPr id="148" name="Rectangle 147">
            <a:extLst>
              <a:ext uri="{FF2B5EF4-FFF2-40B4-BE49-F238E27FC236}">
                <a16:creationId xmlns:a16="http://schemas.microsoft.com/office/drawing/2014/main" id="{5278C94E-3396-59BB-8D05-242CB44D83CA}"/>
              </a:ext>
            </a:extLst>
          </p:cNvPr>
          <p:cNvSpPr/>
          <p:nvPr/>
        </p:nvSpPr>
        <p:spPr>
          <a:xfrm>
            <a:off x="3513816" y="6077066"/>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pic>
        <p:nvPicPr>
          <p:cNvPr id="149" name="Image 148" descr="XP_Man">
            <a:extLst>
              <a:ext uri="{FF2B5EF4-FFF2-40B4-BE49-F238E27FC236}">
                <a16:creationId xmlns:a16="http://schemas.microsoft.com/office/drawing/2014/main" id="{0C7A1513-E037-ADB4-74D3-AEBEE299C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9633" y="6211918"/>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Rectangle : coins arrondis 149">
            <a:extLst>
              <a:ext uri="{FF2B5EF4-FFF2-40B4-BE49-F238E27FC236}">
                <a16:creationId xmlns:a16="http://schemas.microsoft.com/office/drawing/2014/main" id="{42F01925-24F3-864D-CA48-B4F6F3C1C530}"/>
              </a:ext>
            </a:extLst>
          </p:cNvPr>
          <p:cNvSpPr/>
          <p:nvPr/>
        </p:nvSpPr>
        <p:spPr>
          <a:xfrm>
            <a:off x="10675365" y="4723107"/>
            <a:ext cx="1088626" cy="324000"/>
          </a:xfrm>
          <a:prstGeom prst="roundRect">
            <a:avLst>
              <a:gd name="adj" fmla="val 11161"/>
            </a:avLst>
          </a:prstGeom>
          <a:solidFill>
            <a:srgbClr val="009581">
              <a:lumMod val="75000"/>
            </a:srgbClr>
          </a:solidFill>
          <a:ln>
            <a:noFill/>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a:ln>
                  <a:noFill/>
                </a:ln>
                <a:solidFill>
                  <a:prstClr val="white"/>
                </a:solidFill>
                <a:effectLst/>
                <a:uLnTx/>
                <a:uFillTx/>
                <a:latin typeface="Montserrat"/>
                <a:ea typeface="+mn-ea"/>
                <a:cs typeface="+mn-cs"/>
              </a:rPr>
              <a:t>ITSM</a:t>
            </a:r>
          </a:p>
        </p:txBody>
      </p:sp>
      <p:sp>
        <p:nvSpPr>
          <p:cNvPr id="151" name="Rectangle : coins arrondis 150">
            <a:extLst>
              <a:ext uri="{FF2B5EF4-FFF2-40B4-BE49-F238E27FC236}">
                <a16:creationId xmlns:a16="http://schemas.microsoft.com/office/drawing/2014/main" id="{2C259CB1-70F3-60CC-DE33-3856D15FC4BA}"/>
              </a:ext>
            </a:extLst>
          </p:cNvPr>
          <p:cNvSpPr/>
          <p:nvPr/>
        </p:nvSpPr>
        <p:spPr>
          <a:xfrm>
            <a:off x="6026572" y="3744093"/>
            <a:ext cx="964800" cy="292042"/>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Roles based rules</a:t>
            </a:r>
          </a:p>
        </p:txBody>
      </p:sp>
      <p:cxnSp>
        <p:nvCxnSpPr>
          <p:cNvPr id="152" name="Connecteur : en angle 151">
            <a:extLst>
              <a:ext uri="{FF2B5EF4-FFF2-40B4-BE49-F238E27FC236}">
                <a16:creationId xmlns:a16="http://schemas.microsoft.com/office/drawing/2014/main" id="{FE674475-99FA-7BD3-001E-8CA41FBA8CE1}"/>
              </a:ext>
            </a:extLst>
          </p:cNvPr>
          <p:cNvCxnSpPr>
            <a:cxnSpLocks/>
            <a:stCxn id="123" idx="0"/>
            <a:endCxn id="151" idx="2"/>
          </p:cNvCxnSpPr>
          <p:nvPr/>
        </p:nvCxnSpPr>
        <p:spPr>
          <a:xfrm rot="5400000" flipH="1" flipV="1">
            <a:off x="5891612" y="3947199"/>
            <a:ext cx="528424" cy="706296"/>
          </a:xfrm>
          <a:prstGeom prst="bentConnector3">
            <a:avLst>
              <a:gd name="adj1" fmla="val 50000"/>
            </a:avLst>
          </a:prstGeom>
          <a:noFill/>
          <a:ln w="57150" cap="flat" cmpd="sng" algn="ctr">
            <a:solidFill>
              <a:sysClr val="window" lastClr="FFFFFF">
                <a:lumMod val="75000"/>
              </a:sysClr>
            </a:solidFill>
            <a:prstDash val="solid"/>
            <a:miter lim="800000"/>
            <a:tailEnd type="triangle"/>
          </a:ln>
          <a:effectLst/>
        </p:spPr>
      </p:cxnSp>
      <p:cxnSp>
        <p:nvCxnSpPr>
          <p:cNvPr id="153" name="Connecteur : en angle 152">
            <a:extLst>
              <a:ext uri="{FF2B5EF4-FFF2-40B4-BE49-F238E27FC236}">
                <a16:creationId xmlns:a16="http://schemas.microsoft.com/office/drawing/2014/main" id="{DC817B5B-3E61-E51E-6109-6C8821F0C462}"/>
              </a:ext>
            </a:extLst>
          </p:cNvPr>
          <p:cNvCxnSpPr>
            <a:cxnSpLocks/>
            <a:stCxn id="119" idx="0"/>
            <a:endCxn id="120" idx="0"/>
          </p:cNvCxnSpPr>
          <p:nvPr/>
        </p:nvCxnSpPr>
        <p:spPr>
          <a:xfrm rot="16200000" flipH="1" flipV="1">
            <a:off x="7294793" y="997634"/>
            <a:ext cx="361635" cy="3437366"/>
          </a:xfrm>
          <a:prstGeom prst="bentConnector3">
            <a:avLst>
              <a:gd name="adj1" fmla="val -11079"/>
            </a:avLst>
          </a:prstGeom>
          <a:noFill/>
          <a:ln w="38100" cap="flat" cmpd="sng" algn="ctr">
            <a:solidFill>
              <a:sysClr val="window" lastClr="FFFFFF">
                <a:lumMod val="75000"/>
              </a:sysClr>
            </a:solidFill>
            <a:prstDash val="solid"/>
            <a:miter lim="800000"/>
            <a:tailEnd type="triangle"/>
          </a:ln>
          <a:effectLst/>
        </p:spPr>
      </p:cxnSp>
      <p:cxnSp>
        <p:nvCxnSpPr>
          <p:cNvPr id="154" name="Connecteur : en angle 153">
            <a:extLst>
              <a:ext uri="{FF2B5EF4-FFF2-40B4-BE49-F238E27FC236}">
                <a16:creationId xmlns:a16="http://schemas.microsoft.com/office/drawing/2014/main" id="{D8748C51-3D90-681C-32A3-4496CDD61FBC}"/>
              </a:ext>
            </a:extLst>
          </p:cNvPr>
          <p:cNvCxnSpPr>
            <a:cxnSpLocks/>
            <a:stCxn id="151" idx="3"/>
            <a:endCxn id="118" idx="1"/>
          </p:cNvCxnSpPr>
          <p:nvPr/>
        </p:nvCxnSpPr>
        <p:spPr>
          <a:xfrm flipV="1">
            <a:off x="6991372" y="3348993"/>
            <a:ext cx="1524940" cy="541121"/>
          </a:xfrm>
          <a:prstGeom prst="bentConnector3">
            <a:avLst>
              <a:gd name="adj1" fmla="val 50000"/>
            </a:avLst>
          </a:prstGeom>
          <a:noFill/>
          <a:ln w="57150" cap="flat" cmpd="sng" algn="ctr">
            <a:solidFill>
              <a:sysClr val="window" lastClr="FFFFFF">
                <a:lumMod val="75000"/>
              </a:sysClr>
            </a:solidFill>
            <a:prstDash val="solid"/>
            <a:miter lim="800000"/>
            <a:tailEnd type="triangle"/>
          </a:ln>
          <a:effectLst/>
        </p:spPr>
      </p:cxnSp>
      <p:cxnSp>
        <p:nvCxnSpPr>
          <p:cNvPr id="155" name="Connecteur : en angle 154">
            <a:extLst>
              <a:ext uri="{FF2B5EF4-FFF2-40B4-BE49-F238E27FC236}">
                <a16:creationId xmlns:a16="http://schemas.microsoft.com/office/drawing/2014/main" id="{4C26AC38-B319-7AAA-D51D-E395A5021267}"/>
              </a:ext>
            </a:extLst>
          </p:cNvPr>
          <p:cNvCxnSpPr>
            <a:cxnSpLocks/>
            <a:stCxn id="182" idx="3"/>
            <a:endCxn id="118" idx="1"/>
          </p:cNvCxnSpPr>
          <p:nvPr/>
        </p:nvCxnSpPr>
        <p:spPr>
          <a:xfrm flipV="1">
            <a:off x="7003980" y="3348993"/>
            <a:ext cx="1512332" cy="87895"/>
          </a:xfrm>
          <a:prstGeom prst="bentConnector3">
            <a:avLst/>
          </a:prstGeom>
          <a:noFill/>
          <a:ln w="57150" cap="flat" cmpd="sng" algn="ctr">
            <a:solidFill>
              <a:sysClr val="window" lastClr="FFFFFF">
                <a:lumMod val="75000"/>
              </a:sysClr>
            </a:solidFill>
            <a:prstDash val="solid"/>
            <a:miter lim="800000"/>
            <a:tailEnd type="triangle"/>
          </a:ln>
          <a:effectLst/>
        </p:spPr>
      </p:cxnSp>
      <p:sp>
        <p:nvSpPr>
          <p:cNvPr id="156" name="Rectangle : coins arrondis 155">
            <a:extLst>
              <a:ext uri="{FF2B5EF4-FFF2-40B4-BE49-F238E27FC236}">
                <a16:creationId xmlns:a16="http://schemas.microsoft.com/office/drawing/2014/main" id="{D9D251FB-4C72-F57A-2719-E945A03B968E}"/>
              </a:ext>
            </a:extLst>
          </p:cNvPr>
          <p:cNvSpPr>
            <a:spLocks/>
          </p:cNvSpPr>
          <p:nvPr/>
        </p:nvSpPr>
        <p:spPr>
          <a:xfrm>
            <a:off x="10676169" y="1922543"/>
            <a:ext cx="1188000" cy="288000"/>
          </a:xfrm>
          <a:prstGeom prst="roundRect">
            <a:avLst>
              <a:gd name="adj" fmla="val 11161"/>
            </a:avLst>
          </a:prstGeom>
          <a:solidFill>
            <a:srgbClr val="006B8D"/>
          </a:solidFill>
          <a:ln w="19050" cap="flat" cmpd="sng" algn="ctr">
            <a:solidFill>
              <a:sysClr val="window" lastClr="FFFFFF"/>
            </a:solidFill>
            <a:prstDash val="solid"/>
            <a:miter lim="800000"/>
          </a:ln>
          <a:effectLst/>
        </p:spPr>
        <p:txBody>
          <a:bodyPr rtlCol="0" anchor="ctr"/>
          <a:lstStyle/>
          <a:p>
            <a:pPr algn="ctr"/>
            <a:r>
              <a:rPr lang="en-US" sz="800" kern="0">
                <a:solidFill>
                  <a:prstClr val="white"/>
                </a:solidFill>
                <a:latin typeface="Montserrat"/>
              </a:rPr>
              <a:t>Technical Directory</a:t>
            </a:r>
          </a:p>
        </p:txBody>
      </p:sp>
      <p:sp>
        <p:nvSpPr>
          <p:cNvPr id="157" name="Rectangle : coins arrondis 156">
            <a:extLst>
              <a:ext uri="{FF2B5EF4-FFF2-40B4-BE49-F238E27FC236}">
                <a16:creationId xmlns:a16="http://schemas.microsoft.com/office/drawing/2014/main" id="{C810CDCE-748A-64CB-F961-BC4A9296DC83}"/>
              </a:ext>
            </a:extLst>
          </p:cNvPr>
          <p:cNvSpPr/>
          <p:nvPr/>
        </p:nvSpPr>
        <p:spPr>
          <a:xfrm>
            <a:off x="10675365" y="2585614"/>
            <a:ext cx="1188000" cy="288000"/>
          </a:xfrm>
          <a:prstGeom prst="roundRect">
            <a:avLst>
              <a:gd name="adj" fmla="val 11161"/>
            </a:avLst>
          </a:prstGeom>
          <a:solidFill>
            <a:schemeClr val="accent1">
              <a:lumMod val="75000"/>
            </a:schemeClr>
          </a:solidFill>
          <a:ln w="19050" cap="flat" cmpd="sng" algn="ctr">
            <a:solidFill>
              <a:sysClr val="window" lastClr="FFFFFF"/>
            </a:solidFill>
            <a:prstDash val="solid"/>
            <a:miter lim="800000"/>
          </a:ln>
          <a:effectLst/>
        </p:spPr>
        <p:txBody>
          <a:bodyPr rtlCol="0" anchor="t"/>
          <a:lstStyle/>
          <a:p>
            <a:pPr algn="ctr"/>
            <a:r>
              <a:rPr lang="fr-FR" sz="800" kern="0">
                <a:solidFill>
                  <a:prstClr val="white"/>
                </a:solidFill>
                <a:latin typeface="Montserrat"/>
              </a:rPr>
              <a:t>ERP</a:t>
            </a:r>
          </a:p>
        </p:txBody>
      </p:sp>
      <p:sp>
        <p:nvSpPr>
          <p:cNvPr id="158" name="Rectangle : coins arrondis 157">
            <a:extLst>
              <a:ext uri="{FF2B5EF4-FFF2-40B4-BE49-F238E27FC236}">
                <a16:creationId xmlns:a16="http://schemas.microsoft.com/office/drawing/2014/main" id="{4FA173E3-8134-17F5-EC40-22B441F12C29}"/>
              </a:ext>
            </a:extLst>
          </p:cNvPr>
          <p:cNvSpPr/>
          <p:nvPr/>
        </p:nvSpPr>
        <p:spPr>
          <a:xfrm>
            <a:off x="10675365" y="2925249"/>
            <a:ext cx="1188000" cy="288000"/>
          </a:xfrm>
          <a:prstGeom prst="roundRect">
            <a:avLst>
              <a:gd name="adj" fmla="val 11161"/>
            </a:avLst>
          </a:prstGeom>
          <a:solidFill>
            <a:schemeClr val="accent1">
              <a:lumMod val="75000"/>
            </a:schemeClr>
          </a:solidFill>
          <a:ln w="19050" cap="flat" cmpd="sng" algn="ctr">
            <a:solidFill>
              <a:sysClr val="window" lastClr="FFFFFF"/>
            </a:solidFill>
            <a:prstDash val="solid"/>
            <a:miter lim="800000"/>
          </a:ln>
          <a:effectLst/>
        </p:spPr>
        <p:txBody>
          <a:bodyPr rtlCol="0" anchor="t"/>
          <a:lstStyle/>
          <a:p>
            <a:pPr algn="ctr"/>
            <a:r>
              <a:rPr lang="en-US" sz="800" kern="0">
                <a:solidFill>
                  <a:prstClr val="white"/>
                </a:solidFill>
                <a:latin typeface="Montserrat"/>
              </a:rPr>
              <a:t>Other global apps</a:t>
            </a:r>
          </a:p>
        </p:txBody>
      </p:sp>
      <p:sp>
        <p:nvSpPr>
          <p:cNvPr id="159" name="Rectangle : coins arrondis 158">
            <a:extLst>
              <a:ext uri="{FF2B5EF4-FFF2-40B4-BE49-F238E27FC236}">
                <a16:creationId xmlns:a16="http://schemas.microsoft.com/office/drawing/2014/main" id="{9178EA43-DE9C-CC1B-8BB7-DBEA3AF58F77}"/>
              </a:ext>
            </a:extLst>
          </p:cNvPr>
          <p:cNvSpPr/>
          <p:nvPr/>
        </p:nvSpPr>
        <p:spPr>
          <a:xfrm>
            <a:off x="10675365" y="3263364"/>
            <a:ext cx="1188000" cy="288000"/>
          </a:xfrm>
          <a:prstGeom prst="roundRect">
            <a:avLst>
              <a:gd name="adj" fmla="val 11161"/>
            </a:avLst>
          </a:prstGeom>
          <a:solidFill>
            <a:schemeClr val="accent1">
              <a:lumMod val="75000"/>
            </a:schemeClr>
          </a:solidFill>
          <a:ln w="19050" cap="flat" cmpd="sng" algn="ctr">
            <a:solidFill>
              <a:sysClr val="window" lastClr="FFFFFF"/>
            </a:solidFill>
            <a:prstDash val="solid"/>
            <a:miter lim="800000"/>
          </a:ln>
          <a:effectLst/>
        </p:spPr>
        <p:txBody>
          <a:bodyPr rtlCol="0" anchor="t"/>
          <a:lstStyle/>
          <a:p>
            <a:pPr algn="ctr"/>
            <a:r>
              <a:rPr lang="en-US" sz="800" kern="0">
                <a:solidFill>
                  <a:prstClr val="white"/>
                </a:solidFill>
                <a:latin typeface="Montserrat"/>
              </a:rPr>
              <a:t>Local apps</a:t>
            </a:r>
          </a:p>
        </p:txBody>
      </p:sp>
      <p:sp>
        <p:nvSpPr>
          <p:cNvPr id="160" name="Rectangle : coins arrondis 159">
            <a:extLst>
              <a:ext uri="{FF2B5EF4-FFF2-40B4-BE49-F238E27FC236}">
                <a16:creationId xmlns:a16="http://schemas.microsoft.com/office/drawing/2014/main" id="{BE97063F-D5BE-5950-1D5D-E656A87C0137}"/>
              </a:ext>
            </a:extLst>
          </p:cNvPr>
          <p:cNvSpPr/>
          <p:nvPr/>
        </p:nvSpPr>
        <p:spPr>
          <a:xfrm>
            <a:off x="10675365" y="2247499"/>
            <a:ext cx="1188000" cy="288000"/>
          </a:xfrm>
          <a:prstGeom prst="roundRect">
            <a:avLst>
              <a:gd name="adj" fmla="val 11161"/>
            </a:avLst>
          </a:prstGeom>
          <a:solidFill>
            <a:schemeClr val="accent1">
              <a:lumMod val="75000"/>
            </a:schemeClr>
          </a:solidFill>
          <a:ln w="19050" cap="flat" cmpd="sng" algn="ctr">
            <a:solidFill>
              <a:sysClr val="window" lastClr="FFFFFF"/>
            </a:solidFill>
            <a:prstDash val="solid"/>
            <a:miter lim="800000"/>
          </a:ln>
          <a:effectLst/>
        </p:spPr>
        <p:txBody>
          <a:bodyPr rtlCol="0" anchor="t"/>
          <a:lstStyle/>
          <a:p>
            <a:pPr algn="ctr"/>
            <a:r>
              <a:rPr lang="fr-FR" sz="800" kern="0">
                <a:solidFill>
                  <a:prstClr val="white"/>
                </a:solidFill>
                <a:latin typeface="Montserrat"/>
              </a:rPr>
              <a:t>Office 365</a:t>
            </a:r>
          </a:p>
        </p:txBody>
      </p:sp>
      <p:sp>
        <p:nvSpPr>
          <p:cNvPr id="161" name="Rectangle : coins arrondis 160">
            <a:extLst>
              <a:ext uri="{FF2B5EF4-FFF2-40B4-BE49-F238E27FC236}">
                <a16:creationId xmlns:a16="http://schemas.microsoft.com/office/drawing/2014/main" id="{8F4D6771-E9D6-B98F-2C1C-4788A3C4B003}"/>
              </a:ext>
            </a:extLst>
          </p:cNvPr>
          <p:cNvSpPr/>
          <p:nvPr/>
        </p:nvSpPr>
        <p:spPr>
          <a:xfrm>
            <a:off x="10675365" y="4000830"/>
            <a:ext cx="1188000" cy="363495"/>
          </a:xfrm>
          <a:prstGeom prst="roundRect">
            <a:avLst>
              <a:gd name="adj" fmla="val 11161"/>
            </a:avLst>
          </a:prstGeom>
          <a:solidFill>
            <a:srgbClr val="FFC000"/>
          </a:solidFill>
          <a:ln w="19050" cap="flat" cmpd="sng" algn="ctr">
            <a:solidFill>
              <a:sysClr val="window" lastClr="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White-page directory</a:t>
            </a:r>
          </a:p>
        </p:txBody>
      </p:sp>
      <p:cxnSp>
        <p:nvCxnSpPr>
          <p:cNvPr id="162" name="Connecteur : en angle 161">
            <a:extLst>
              <a:ext uri="{FF2B5EF4-FFF2-40B4-BE49-F238E27FC236}">
                <a16:creationId xmlns:a16="http://schemas.microsoft.com/office/drawing/2014/main" id="{DA2D66B6-32BA-5C48-C027-5C6DF8DA9F6B}"/>
              </a:ext>
            </a:extLst>
          </p:cNvPr>
          <p:cNvCxnSpPr>
            <a:stCxn id="118" idx="2"/>
            <a:endCxn id="161" idx="1"/>
          </p:cNvCxnSpPr>
          <p:nvPr/>
        </p:nvCxnSpPr>
        <p:spPr>
          <a:xfrm rot="16200000" flipH="1">
            <a:off x="9626037" y="3133249"/>
            <a:ext cx="617585" cy="1481071"/>
          </a:xfrm>
          <a:prstGeom prst="bentConnector2">
            <a:avLst/>
          </a:prstGeom>
          <a:noFill/>
          <a:ln w="57150" cap="flat" cmpd="sng" algn="ctr">
            <a:solidFill>
              <a:sysClr val="window" lastClr="FFFFFF">
                <a:lumMod val="75000"/>
              </a:sysClr>
            </a:solidFill>
            <a:prstDash val="solid"/>
            <a:miter lim="800000"/>
            <a:tailEnd type="triangle"/>
          </a:ln>
          <a:effectLst/>
        </p:spPr>
      </p:cxnSp>
      <p:cxnSp>
        <p:nvCxnSpPr>
          <p:cNvPr id="163" name="Connecteur : en angle 162">
            <a:extLst>
              <a:ext uri="{FF2B5EF4-FFF2-40B4-BE49-F238E27FC236}">
                <a16:creationId xmlns:a16="http://schemas.microsoft.com/office/drawing/2014/main" id="{B7A96F46-D568-AC61-0850-F3CA612B62E1}"/>
              </a:ext>
            </a:extLst>
          </p:cNvPr>
          <p:cNvCxnSpPr>
            <a:stCxn id="118" idx="2"/>
            <a:endCxn id="150" idx="1"/>
          </p:cNvCxnSpPr>
          <p:nvPr/>
        </p:nvCxnSpPr>
        <p:spPr>
          <a:xfrm rot="16200000" flipH="1">
            <a:off x="9274772" y="3484514"/>
            <a:ext cx="1320114" cy="1481071"/>
          </a:xfrm>
          <a:prstGeom prst="bentConnector2">
            <a:avLst/>
          </a:prstGeom>
          <a:noFill/>
          <a:ln w="57150" cap="flat" cmpd="sng" algn="ctr">
            <a:solidFill>
              <a:sysClr val="window" lastClr="FFFFFF">
                <a:lumMod val="75000"/>
              </a:sysClr>
            </a:solidFill>
            <a:prstDash val="solid"/>
            <a:miter lim="800000"/>
            <a:tailEnd type="triangle"/>
          </a:ln>
          <a:effectLst/>
        </p:spPr>
      </p:cxnSp>
      <p:sp>
        <p:nvSpPr>
          <p:cNvPr id="164" name="Rectangle : coins arrondis 163">
            <a:extLst>
              <a:ext uri="{FF2B5EF4-FFF2-40B4-BE49-F238E27FC236}">
                <a16:creationId xmlns:a16="http://schemas.microsoft.com/office/drawing/2014/main" id="{E2C20275-EE67-648F-E548-DDEFD5C7FAB6}"/>
              </a:ext>
            </a:extLst>
          </p:cNvPr>
          <p:cNvSpPr/>
          <p:nvPr/>
        </p:nvSpPr>
        <p:spPr>
          <a:xfrm>
            <a:off x="10672646" y="5418102"/>
            <a:ext cx="1188000" cy="288000"/>
          </a:xfrm>
          <a:prstGeom prst="roundRect">
            <a:avLst>
              <a:gd name="adj" fmla="val 11161"/>
            </a:avLst>
          </a:prstGeom>
          <a:solidFill>
            <a:srgbClr val="009581"/>
          </a:solidFill>
          <a:ln w="190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Other global apps</a:t>
            </a:r>
          </a:p>
        </p:txBody>
      </p:sp>
      <p:sp>
        <p:nvSpPr>
          <p:cNvPr id="165" name="Rectangle : coins arrondis 164">
            <a:extLst>
              <a:ext uri="{FF2B5EF4-FFF2-40B4-BE49-F238E27FC236}">
                <a16:creationId xmlns:a16="http://schemas.microsoft.com/office/drawing/2014/main" id="{76FAC786-07E9-50E4-16CD-B4FC973973B8}"/>
              </a:ext>
            </a:extLst>
          </p:cNvPr>
          <p:cNvSpPr/>
          <p:nvPr/>
        </p:nvSpPr>
        <p:spPr>
          <a:xfrm>
            <a:off x="10672646" y="5737211"/>
            <a:ext cx="1188000" cy="288000"/>
          </a:xfrm>
          <a:prstGeom prst="roundRect">
            <a:avLst>
              <a:gd name="adj" fmla="val 11161"/>
            </a:avLst>
          </a:prstGeom>
          <a:solidFill>
            <a:srgbClr val="009581"/>
          </a:solidFill>
          <a:ln w="19050" cap="flat" cmpd="sng" algn="ctr">
            <a:solidFill>
              <a:sysClr val="window" lastClr="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Local apps</a:t>
            </a:r>
          </a:p>
        </p:txBody>
      </p:sp>
      <p:sp>
        <p:nvSpPr>
          <p:cNvPr id="166" name="Rectangle : coins arrondis 165">
            <a:extLst>
              <a:ext uri="{FF2B5EF4-FFF2-40B4-BE49-F238E27FC236}">
                <a16:creationId xmlns:a16="http://schemas.microsoft.com/office/drawing/2014/main" id="{BD687591-6077-F811-8179-33329315E431}"/>
              </a:ext>
            </a:extLst>
          </p:cNvPr>
          <p:cNvSpPr/>
          <p:nvPr/>
        </p:nvSpPr>
        <p:spPr>
          <a:xfrm>
            <a:off x="10615590" y="5360035"/>
            <a:ext cx="1323920" cy="689642"/>
          </a:xfrm>
          <a:prstGeom prst="roundRect">
            <a:avLst/>
          </a:prstGeom>
          <a:noFill/>
          <a:ln w="12700" cap="flat" cmpd="sng" algn="ctr">
            <a:solidFill>
              <a:srgbClr val="00958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67" name="Rectangle : coins arrondis 166">
            <a:extLst>
              <a:ext uri="{FF2B5EF4-FFF2-40B4-BE49-F238E27FC236}">
                <a16:creationId xmlns:a16="http://schemas.microsoft.com/office/drawing/2014/main" id="{0D57EED0-644D-5D46-3EB8-2B39C2322991}"/>
              </a:ext>
            </a:extLst>
          </p:cNvPr>
          <p:cNvSpPr/>
          <p:nvPr/>
        </p:nvSpPr>
        <p:spPr>
          <a:xfrm>
            <a:off x="10615590" y="1809808"/>
            <a:ext cx="1323920" cy="1824565"/>
          </a:xfrm>
          <a:prstGeom prst="roundRect">
            <a:avLst/>
          </a:prstGeom>
          <a:noFill/>
          <a:ln w="38100" cap="flat" cmpd="sng" algn="ctr">
            <a:solidFill>
              <a:schemeClr val="accent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68" name="Rectangle : coins arrondis 167">
            <a:extLst>
              <a:ext uri="{FF2B5EF4-FFF2-40B4-BE49-F238E27FC236}">
                <a16:creationId xmlns:a16="http://schemas.microsoft.com/office/drawing/2014/main" id="{0FF22F8E-C9EE-E19D-A004-F30F2C98C8A3}"/>
              </a:ext>
            </a:extLst>
          </p:cNvPr>
          <p:cNvSpPr/>
          <p:nvPr/>
        </p:nvSpPr>
        <p:spPr>
          <a:xfrm>
            <a:off x="2421803" y="3854076"/>
            <a:ext cx="1188000" cy="29160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HR Managed User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directory</a:t>
            </a:r>
          </a:p>
        </p:txBody>
      </p:sp>
      <p:sp>
        <p:nvSpPr>
          <p:cNvPr id="169" name="Rectangle : coins arrondis 168">
            <a:extLst>
              <a:ext uri="{FF2B5EF4-FFF2-40B4-BE49-F238E27FC236}">
                <a16:creationId xmlns:a16="http://schemas.microsoft.com/office/drawing/2014/main" id="{7E1E432B-3F3C-4D84-5938-9E3B99271E58}"/>
              </a:ext>
            </a:extLst>
          </p:cNvPr>
          <p:cNvSpPr/>
          <p:nvPr/>
        </p:nvSpPr>
        <p:spPr>
          <a:xfrm>
            <a:off x="2391261" y="2975903"/>
            <a:ext cx="1188000" cy="29160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Organization directory</a:t>
            </a:r>
          </a:p>
        </p:txBody>
      </p:sp>
      <p:sp>
        <p:nvSpPr>
          <p:cNvPr id="170" name="Rectangle : coins arrondis 169">
            <a:extLst>
              <a:ext uri="{FF2B5EF4-FFF2-40B4-BE49-F238E27FC236}">
                <a16:creationId xmlns:a16="http://schemas.microsoft.com/office/drawing/2014/main" id="{4038AEE1-AE0B-DE43-C3C7-6BEFCA00F8A2}"/>
              </a:ext>
            </a:extLst>
          </p:cNvPr>
          <p:cNvSpPr/>
          <p:nvPr/>
        </p:nvSpPr>
        <p:spPr>
          <a:xfrm>
            <a:off x="2391261" y="3400153"/>
            <a:ext cx="1188000" cy="29160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Project &amp; Worksite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directory</a:t>
            </a:r>
          </a:p>
        </p:txBody>
      </p:sp>
      <p:grpSp>
        <p:nvGrpSpPr>
          <p:cNvPr id="171" name="Groupe 170">
            <a:extLst>
              <a:ext uri="{FF2B5EF4-FFF2-40B4-BE49-F238E27FC236}">
                <a16:creationId xmlns:a16="http://schemas.microsoft.com/office/drawing/2014/main" id="{A968A0E4-4BED-1046-B2A8-040AF091782B}"/>
              </a:ext>
            </a:extLst>
          </p:cNvPr>
          <p:cNvGrpSpPr/>
          <p:nvPr/>
        </p:nvGrpSpPr>
        <p:grpSpPr>
          <a:xfrm>
            <a:off x="1942791" y="2147855"/>
            <a:ext cx="4911102" cy="3069812"/>
            <a:chOff x="1930001" y="1173611"/>
            <a:chExt cx="4911102" cy="3069812"/>
          </a:xfrm>
        </p:grpSpPr>
        <p:sp>
          <p:nvSpPr>
            <p:cNvPr id="172" name="Rectangle : coins arrondis 171">
              <a:extLst>
                <a:ext uri="{FF2B5EF4-FFF2-40B4-BE49-F238E27FC236}">
                  <a16:creationId xmlns:a16="http://schemas.microsoft.com/office/drawing/2014/main" id="{13DBA1EF-CC08-9D5B-AED6-550709D7EC4B}"/>
                </a:ext>
              </a:extLst>
            </p:cNvPr>
            <p:cNvSpPr/>
            <p:nvPr/>
          </p:nvSpPr>
          <p:spPr>
            <a:xfrm>
              <a:off x="1930001" y="1280211"/>
              <a:ext cx="2361742" cy="2963212"/>
            </a:xfrm>
            <a:prstGeom prst="roundRect">
              <a:avLst>
                <a:gd name="adj" fmla="val 4982"/>
              </a:avLst>
            </a:prstGeom>
            <a:noFill/>
            <a:ln w="12700" cap="flat" cmpd="sng" algn="ctr">
              <a:solidFill>
                <a:srgbClr val="003C5A"/>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p:txBody>
        </p:sp>
        <p:sp>
          <p:nvSpPr>
            <p:cNvPr id="173" name="Rectangle : coins arrondis 172">
              <a:extLst>
                <a:ext uri="{FF2B5EF4-FFF2-40B4-BE49-F238E27FC236}">
                  <a16:creationId xmlns:a16="http://schemas.microsoft.com/office/drawing/2014/main" id="{9B00126C-4E79-DF7F-1CF4-CB99EC517B98}"/>
                </a:ext>
              </a:extLst>
            </p:cNvPr>
            <p:cNvSpPr/>
            <p:nvPr/>
          </p:nvSpPr>
          <p:spPr>
            <a:xfrm>
              <a:off x="2595325" y="1173611"/>
              <a:ext cx="1712421" cy="289524"/>
            </a:xfrm>
            <a:prstGeom prst="round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Identities management</a:t>
              </a:r>
            </a:p>
          </p:txBody>
        </p:sp>
        <p:sp>
          <p:nvSpPr>
            <p:cNvPr id="174" name="Rectangle : coins arrondis 173">
              <a:extLst>
                <a:ext uri="{FF2B5EF4-FFF2-40B4-BE49-F238E27FC236}">
                  <a16:creationId xmlns:a16="http://schemas.microsoft.com/office/drawing/2014/main" id="{D848FCC3-1EBB-A987-FE28-2642D5D09248}"/>
                </a:ext>
              </a:extLst>
            </p:cNvPr>
            <p:cNvSpPr/>
            <p:nvPr/>
          </p:nvSpPr>
          <p:spPr>
            <a:xfrm>
              <a:off x="5128682" y="1173611"/>
              <a:ext cx="1712421" cy="289524"/>
            </a:xfrm>
            <a:prstGeom prst="round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Authorization management</a:t>
              </a:r>
            </a:p>
          </p:txBody>
        </p:sp>
      </p:grpSp>
      <p:cxnSp>
        <p:nvCxnSpPr>
          <p:cNvPr id="175" name="Connecteur droit avec flèche 174">
            <a:extLst>
              <a:ext uri="{FF2B5EF4-FFF2-40B4-BE49-F238E27FC236}">
                <a16:creationId xmlns:a16="http://schemas.microsoft.com/office/drawing/2014/main" id="{DD370142-4341-A44A-9767-02055893F4DC}"/>
              </a:ext>
            </a:extLst>
          </p:cNvPr>
          <p:cNvCxnSpPr>
            <a:cxnSpLocks/>
          </p:cNvCxnSpPr>
          <p:nvPr/>
        </p:nvCxnSpPr>
        <p:spPr>
          <a:xfrm flipH="1" flipV="1">
            <a:off x="6390804" y="4766034"/>
            <a:ext cx="982801" cy="171132"/>
          </a:xfrm>
          <a:prstGeom prst="straightConnector1">
            <a:avLst/>
          </a:prstGeom>
          <a:noFill/>
          <a:ln w="57150" cap="flat" cmpd="sng" algn="ctr">
            <a:solidFill>
              <a:sysClr val="window" lastClr="FFFFFF">
                <a:lumMod val="75000"/>
              </a:sysClr>
            </a:solidFill>
            <a:prstDash val="solid"/>
            <a:miter lim="800000"/>
            <a:tailEnd type="triangle"/>
          </a:ln>
          <a:effectLst/>
        </p:spPr>
      </p:cxnSp>
      <p:cxnSp>
        <p:nvCxnSpPr>
          <p:cNvPr id="177" name="Connecteur droit avec flèche 176">
            <a:extLst>
              <a:ext uri="{FF2B5EF4-FFF2-40B4-BE49-F238E27FC236}">
                <a16:creationId xmlns:a16="http://schemas.microsoft.com/office/drawing/2014/main" id="{7787EF3E-3CE0-8317-74AF-8557CD36A557}"/>
              </a:ext>
            </a:extLst>
          </p:cNvPr>
          <p:cNvCxnSpPr>
            <a:cxnSpLocks/>
          </p:cNvCxnSpPr>
          <p:nvPr/>
        </p:nvCxnSpPr>
        <p:spPr>
          <a:xfrm flipH="1">
            <a:off x="9793817" y="2710064"/>
            <a:ext cx="711482" cy="0"/>
          </a:xfrm>
          <a:prstGeom prst="straightConnector1">
            <a:avLst/>
          </a:prstGeom>
          <a:noFill/>
          <a:ln w="57150" cap="flat" cmpd="sng" algn="ctr">
            <a:solidFill>
              <a:sysClr val="window" lastClr="FFFFFF">
                <a:lumMod val="65000"/>
              </a:sysClr>
            </a:solidFill>
            <a:prstDash val="solid"/>
            <a:miter lim="800000"/>
            <a:tailEnd type="triangle"/>
          </a:ln>
          <a:effectLst/>
        </p:spPr>
      </p:cxnSp>
      <p:cxnSp>
        <p:nvCxnSpPr>
          <p:cNvPr id="178" name="Connecteur droit avec flèche 177">
            <a:extLst>
              <a:ext uri="{FF2B5EF4-FFF2-40B4-BE49-F238E27FC236}">
                <a16:creationId xmlns:a16="http://schemas.microsoft.com/office/drawing/2014/main" id="{BEC016AC-6BC8-77D1-C08E-CEFB8CE7DBDB}"/>
              </a:ext>
            </a:extLst>
          </p:cNvPr>
          <p:cNvCxnSpPr>
            <a:cxnSpLocks/>
          </p:cNvCxnSpPr>
          <p:nvPr/>
        </p:nvCxnSpPr>
        <p:spPr>
          <a:xfrm rot="10800000" flipH="1">
            <a:off x="9793817" y="3342147"/>
            <a:ext cx="711482" cy="0"/>
          </a:xfrm>
          <a:prstGeom prst="straightConnector1">
            <a:avLst/>
          </a:prstGeom>
          <a:noFill/>
          <a:ln w="57150" cap="flat" cmpd="sng" algn="ctr">
            <a:solidFill>
              <a:sysClr val="window" lastClr="FFFFFF">
                <a:lumMod val="65000"/>
              </a:sysClr>
            </a:solidFill>
            <a:prstDash val="solid"/>
            <a:miter lim="800000"/>
            <a:tailEnd type="triangle"/>
          </a:ln>
          <a:effectLst/>
        </p:spPr>
      </p:cxnSp>
      <p:cxnSp>
        <p:nvCxnSpPr>
          <p:cNvPr id="179" name="Connecteur : en angle 178">
            <a:extLst>
              <a:ext uri="{FF2B5EF4-FFF2-40B4-BE49-F238E27FC236}">
                <a16:creationId xmlns:a16="http://schemas.microsoft.com/office/drawing/2014/main" id="{48529EB6-C380-3F68-D6FB-BF2FF5DDDB0F}"/>
              </a:ext>
            </a:extLst>
          </p:cNvPr>
          <p:cNvCxnSpPr>
            <a:cxnSpLocks/>
            <a:stCxn id="181" idx="2"/>
            <a:endCxn id="182" idx="1"/>
          </p:cNvCxnSpPr>
          <p:nvPr/>
        </p:nvCxnSpPr>
        <p:spPr>
          <a:xfrm flipV="1">
            <a:off x="5067180" y="3436888"/>
            <a:ext cx="972000" cy="453071"/>
          </a:xfrm>
          <a:prstGeom prst="bentConnector3">
            <a:avLst/>
          </a:prstGeom>
          <a:noFill/>
          <a:ln w="57150" cap="flat" cmpd="sng" algn="ctr">
            <a:solidFill>
              <a:sysClr val="window" lastClr="FFFFFF">
                <a:lumMod val="65000"/>
              </a:sysClr>
            </a:solidFill>
            <a:prstDash val="solid"/>
            <a:miter lim="800000"/>
            <a:tailEnd type="triangle"/>
          </a:ln>
          <a:effectLst/>
        </p:spPr>
      </p:cxnSp>
      <p:sp>
        <p:nvSpPr>
          <p:cNvPr id="181" name="Rectangle : coins arrondis 180">
            <a:extLst>
              <a:ext uri="{FF2B5EF4-FFF2-40B4-BE49-F238E27FC236}">
                <a16:creationId xmlns:a16="http://schemas.microsoft.com/office/drawing/2014/main" id="{F029772E-55B5-E0D0-A080-1E854DF31B9F}"/>
              </a:ext>
            </a:extLst>
          </p:cNvPr>
          <p:cNvSpPr/>
          <p:nvPr/>
        </p:nvSpPr>
        <p:spPr>
          <a:xfrm rot="16200000">
            <a:off x="3828156" y="3698145"/>
            <a:ext cx="2094420" cy="383628"/>
          </a:xfrm>
          <a:prstGeom prst="roundRect">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Montserrat"/>
                <a:ea typeface="+mn-ea"/>
                <a:cs typeface="+mn-cs"/>
              </a:rPr>
              <a:t>Role model</a:t>
            </a:r>
          </a:p>
        </p:txBody>
      </p:sp>
      <p:sp>
        <p:nvSpPr>
          <p:cNvPr id="182" name="Rectangle : coins arrondis 181">
            <a:extLst>
              <a:ext uri="{FF2B5EF4-FFF2-40B4-BE49-F238E27FC236}">
                <a16:creationId xmlns:a16="http://schemas.microsoft.com/office/drawing/2014/main" id="{CC460D6B-790B-CE3D-6A97-9BD70BDD8971}"/>
              </a:ext>
            </a:extLst>
          </p:cNvPr>
          <p:cNvSpPr/>
          <p:nvPr/>
        </p:nvSpPr>
        <p:spPr>
          <a:xfrm>
            <a:off x="6039180" y="3290867"/>
            <a:ext cx="964800" cy="292042"/>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Automatic rules</a:t>
            </a:r>
          </a:p>
        </p:txBody>
      </p:sp>
      <p:sp>
        <p:nvSpPr>
          <p:cNvPr id="183" name="Flèche : droite 182">
            <a:extLst>
              <a:ext uri="{FF2B5EF4-FFF2-40B4-BE49-F238E27FC236}">
                <a16:creationId xmlns:a16="http://schemas.microsoft.com/office/drawing/2014/main" id="{B53BA25F-F6E7-D31A-C9E7-9C896C93CFE7}"/>
              </a:ext>
            </a:extLst>
          </p:cNvPr>
          <p:cNvSpPr/>
          <p:nvPr/>
        </p:nvSpPr>
        <p:spPr>
          <a:xfrm>
            <a:off x="3717133" y="3687862"/>
            <a:ext cx="1098188" cy="292042"/>
          </a:xfrm>
          <a:prstGeom prst="rightArrow">
            <a:avLst/>
          </a:prstGeom>
          <a:solidFill>
            <a:sysClr val="window" lastClr="FFFFFF">
              <a:lumMod val="75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cxnSp>
        <p:nvCxnSpPr>
          <p:cNvPr id="184" name="Connecteur : en angle 183">
            <a:extLst>
              <a:ext uri="{FF2B5EF4-FFF2-40B4-BE49-F238E27FC236}">
                <a16:creationId xmlns:a16="http://schemas.microsoft.com/office/drawing/2014/main" id="{2418711D-4CEB-9F31-1F79-8E7F8903C00A}"/>
              </a:ext>
            </a:extLst>
          </p:cNvPr>
          <p:cNvCxnSpPr>
            <a:cxnSpLocks/>
            <a:stCxn id="181" idx="2"/>
            <a:endCxn id="151" idx="1"/>
          </p:cNvCxnSpPr>
          <p:nvPr/>
        </p:nvCxnSpPr>
        <p:spPr>
          <a:xfrm>
            <a:off x="5067180" y="3889959"/>
            <a:ext cx="959392" cy="155"/>
          </a:xfrm>
          <a:prstGeom prst="bentConnector3">
            <a:avLst/>
          </a:prstGeom>
          <a:noFill/>
          <a:ln w="57150" cap="flat" cmpd="sng" algn="ctr">
            <a:solidFill>
              <a:sysClr val="window" lastClr="FFFFFF">
                <a:lumMod val="65000"/>
              </a:sysClr>
            </a:solidFill>
            <a:prstDash val="solid"/>
            <a:miter lim="800000"/>
            <a:tailEnd type="triangle"/>
          </a:ln>
          <a:effectLst/>
        </p:spPr>
      </p:cxnSp>
      <p:sp>
        <p:nvSpPr>
          <p:cNvPr id="187" name="Rectangle : coins arrondis 186">
            <a:extLst>
              <a:ext uri="{FF2B5EF4-FFF2-40B4-BE49-F238E27FC236}">
                <a16:creationId xmlns:a16="http://schemas.microsoft.com/office/drawing/2014/main" id="{07BFA979-0C1C-2AEE-1CBB-F2DFCDD9D690}"/>
              </a:ext>
            </a:extLst>
          </p:cNvPr>
          <p:cNvSpPr/>
          <p:nvPr/>
        </p:nvSpPr>
        <p:spPr>
          <a:xfrm>
            <a:off x="2420110" y="4235350"/>
            <a:ext cx="1188000" cy="291600"/>
          </a:xfrm>
          <a:prstGeom prst="roundRect">
            <a:avLst/>
          </a:prstGeom>
          <a:solidFill>
            <a:srgbClr val="FF99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HR unmanaged user directory</a:t>
            </a:r>
          </a:p>
        </p:txBody>
      </p:sp>
      <p:cxnSp>
        <p:nvCxnSpPr>
          <p:cNvPr id="188" name="Connecteur : en angle 187">
            <a:extLst>
              <a:ext uri="{FF2B5EF4-FFF2-40B4-BE49-F238E27FC236}">
                <a16:creationId xmlns:a16="http://schemas.microsoft.com/office/drawing/2014/main" id="{4F488F8E-6E58-DEA1-290E-1214C4DA5B7D}"/>
              </a:ext>
            </a:extLst>
          </p:cNvPr>
          <p:cNvCxnSpPr>
            <a:cxnSpLocks/>
            <a:stCxn id="219" idx="3"/>
            <a:endCxn id="187" idx="1"/>
          </p:cNvCxnSpPr>
          <p:nvPr/>
        </p:nvCxnSpPr>
        <p:spPr>
          <a:xfrm flipV="1">
            <a:off x="1406578" y="4381150"/>
            <a:ext cx="1013532" cy="744363"/>
          </a:xfrm>
          <a:prstGeom prst="bentConnector3">
            <a:avLst>
              <a:gd name="adj1" fmla="val 42482"/>
            </a:avLst>
          </a:prstGeom>
          <a:noFill/>
          <a:ln w="57150" cap="flat" cmpd="sng" algn="ctr">
            <a:solidFill>
              <a:sysClr val="window" lastClr="FFFFFF">
                <a:lumMod val="50000"/>
              </a:sysClr>
            </a:solidFill>
            <a:prstDash val="solid"/>
            <a:miter lim="800000"/>
            <a:tailEnd type="triangle"/>
          </a:ln>
          <a:effectLst/>
        </p:spPr>
      </p:cxnSp>
      <p:sp>
        <p:nvSpPr>
          <p:cNvPr id="189" name="Rectangle 188">
            <a:extLst>
              <a:ext uri="{FF2B5EF4-FFF2-40B4-BE49-F238E27FC236}">
                <a16:creationId xmlns:a16="http://schemas.microsoft.com/office/drawing/2014/main" id="{4FE811D5-E74F-DF85-10D4-EDB889627B3A}"/>
              </a:ext>
            </a:extLst>
          </p:cNvPr>
          <p:cNvSpPr/>
          <p:nvPr/>
        </p:nvSpPr>
        <p:spPr>
          <a:xfrm>
            <a:off x="2513863" y="6085139"/>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pic>
        <p:nvPicPr>
          <p:cNvPr id="190" name="Image 189" descr="XP_Man">
            <a:extLst>
              <a:ext uri="{FF2B5EF4-FFF2-40B4-BE49-F238E27FC236}">
                <a16:creationId xmlns:a16="http://schemas.microsoft.com/office/drawing/2014/main" id="{B6B5845D-8E58-87DA-CA22-3743662B6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9680" y="6219991"/>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 name="Rectangle : coins arrondis 190">
            <a:extLst>
              <a:ext uri="{FF2B5EF4-FFF2-40B4-BE49-F238E27FC236}">
                <a16:creationId xmlns:a16="http://schemas.microsoft.com/office/drawing/2014/main" id="{9BE704F3-6B09-F6E9-98D8-7DB017D9B2F1}"/>
              </a:ext>
            </a:extLst>
          </p:cNvPr>
          <p:cNvSpPr/>
          <p:nvPr/>
        </p:nvSpPr>
        <p:spPr>
          <a:xfrm>
            <a:off x="2133123" y="5594427"/>
            <a:ext cx="984394" cy="432492"/>
          </a:xfrm>
          <a:prstGeom prst="roundRect">
            <a:avLst/>
          </a:prstGeom>
          <a:solidFill>
            <a:srgbClr val="003C5A"/>
          </a:solidFill>
          <a:ln w="28575" cap="flat" cmpd="sng" algn="ctr">
            <a:solidFill>
              <a:schemeClr val="accent1">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Identities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re-certif.</a:t>
            </a:r>
          </a:p>
        </p:txBody>
      </p:sp>
      <p:cxnSp>
        <p:nvCxnSpPr>
          <p:cNvPr id="192" name="Connecteur droit avec flèche 191">
            <a:extLst>
              <a:ext uri="{FF2B5EF4-FFF2-40B4-BE49-F238E27FC236}">
                <a16:creationId xmlns:a16="http://schemas.microsoft.com/office/drawing/2014/main" id="{8F674849-16D8-CF00-64C5-D6DB7C72CF12}"/>
              </a:ext>
            </a:extLst>
          </p:cNvPr>
          <p:cNvCxnSpPr>
            <a:cxnSpLocks/>
          </p:cNvCxnSpPr>
          <p:nvPr/>
        </p:nvCxnSpPr>
        <p:spPr>
          <a:xfrm flipV="1">
            <a:off x="2957076" y="4973176"/>
            <a:ext cx="0" cy="539040"/>
          </a:xfrm>
          <a:prstGeom prst="straightConnector1">
            <a:avLst/>
          </a:prstGeom>
          <a:noFill/>
          <a:ln w="57150" cap="flat" cmpd="sng" algn="ctr">
            <a:solidFill>
              <a:sysClr val="window" lastClr="FFFFFF">
                <a:lumMod val="50000"/>
              </a:sysClr>
            </a:solidFill>
            <a:prstDash val="solid"/>
            <a:miter lim="800000"/>
            <a:tailEnd type="triangle"/>
          </a:ln>
          <a:effectLst/>
        </p:spPr>
      </p:cxnSp>
      <p:cxnSp>
        <p:nvCxnSpPr>
          <p:cNvPr id="193" name="Connecteur droit avec flèche 192">
            <a:extLst>
              <a:ext uri="{FF2B5EF4-FFF2-40B4-BE49-F238E27FC236}">
                <a16:creationId xmlns:a16="http://schemas.microsoft.com/office/drawing/2014/main" id="{C06832FD-D8C4-0962-E0BE-3FB522F8B3FB}"/>
              </a:ext>
            </a:extLst>
          </p:cNvPr>
          <p:cNvCxnSpPr>
            <a:cxnSpLocks/>
            <a:endCxn id="181" idx="1"/>
          </p:cNvCxnSpPr>
          <p:nvPr/>
        </p:nvCxnSpPr>
        <p:spPr>
          <a:xfrm flipV="1">
            <a:off x="4875366" y="4937169"/>
            <a:ext cx="0" cy="575047"/>
          </a:xfrm>
          <a:prstGeom prst="straightConnector1">
            <a:avLst/>
          </a:prstGeom>
          <a:noFill/>
          <a:ln w="57150" cap="flat" cmpd="sng" algn="ctr">
            <a:solidFill>
              <a:sysClr val="window" lastClr="FFFFFF">
                <a:lumMod val="50000"/>
              </a:sysClr>
            </a:solidFill>
            <a:prstDash val="solid"/>
            <a:miter lim="800000"/>
            <a:tailEnd type="triangle"/>
          </a:ln>
          <a:effectLst/>
        </p:spPr>
      </p:cxnSp>
      <p:cxnSp>
        <p:nvCxnSpPr>
          <p:cNvPr id="194" name="Connecteur : en angle 193">
            <a:extLst>
              <a:ext uri="{FF2B5EF4-FFF2-40B4-BE49-F238E27FC236}">
                <a16:creationId xmlns:a16="http://schemas.microsoft.com/office/drawing/2014/main" id="{9280F4B3-3B88-75C7-D89B-FBDED09FC68A}"/>
              </a:ext>
            </a:extLst>
          </p:cNvPr>
          <p:cNvCxnSpPr>
            <a:cxnSpLocks/>
            <a:stCxn id="215" idx="0"/>
            <a:endCxn id="168" idx="1"/>
          </p:cNvCxnSpPr>
          <p:nvPr/>
        </p:nvCxnSpPr>
        <p:spPr>
          <a:xfrm rot="5400000" flipH="1" flipV="1">
            <a:off x="1437757" y="3365300"/>
            <a:ext cx="349469" cy="1618623"/>
          </a:xfrm>
          <a:prstGeom prst="bentConnector2">
            <a:avLst/>
          </a:prstGeom>
          <a:noFill/>
          <a:ln w="57150" cap="flat" cmpd="sng" algn="ctr">
            <a:solidFill>
              <a:sysClr val="window" lastClr="FFFFFF">
                <a:lumMod val="50000"/>
              </a:sysClr>
            </a:solidFill>
            <a:prstDash val="solid"/>
            <a:miter lim="800000"/>
            <a:tailEnd type="triangle"/>
          </a:ln>
          <a:effectLst/>
        </p:spPr>
      </p:cxnSp>
      <p:cxnSp>
        <p:nvCxnSpPr>
          <p:cNvPr id="197" name="Connecteur droit avec flèche 196">
            <a:extLst>
              <a:ext uri="{FF2B5EF4-FFF2-40B4-BE49-F238E27FC236}">
                <a16:creationId xmlns:a16="http://schemas.microsoft.com/office/drawing/2014/main" id="{D633DBE7-EC5C-452A-3923-FB09EFBD535F}"/>
              </a:ext>
            </a:extLst>
          </p:cNvPr>
          <p:cNvCxnSpPr/>
          <p:nvPr/>
        </p:nvCxnSpPr>
        <p:spPr>
          <a:xfrm>
            <a:off x="11224149" y="5077621"/>
            <a:ext cx="0" cy="309372"/>
          </a:xfrm>
          <a:prstGeom prst="straightConnector1">
            <a:avLst/>
          </a:prstGeom>
          <a:noFill/>
          <a:ln w="38100" cap="flat" cmpd="sng" algn="ctr">
            <a:solidFill>
              <a:sysClr val="window" lastClr="FFFFFF">
                <a:lumMod val="50000"/>
              </a:sysClr>
            </a:solidFill>
            <a:prstDash val="solid"/>
            <a:miter lim="800000"/>
            <a:tailEnd type="triangle"/>
          </a:ln>
          <a:effectLst/>
        </p:spPr>
      </p:cxnSp>
      <p:sp>
        <p:nvSpPr>
          <p:cNvPr id="198" name="Rectangle : coins arrondis 197">
            <a:extLst>
              <a:ext uri="{FF2B5EF4-FFF2-40B4-BE49-F238E27FC236}">
                <a16:creationId xmlns:a16="http://schemas.microsoft.com/office/drawing/2014/main" id="{9D2E2282-E412-DF03-A09E-8D75E87889F6}"/>
              </a:ext>
            </a:extLst>
          </p:cNvPr>
          <p:cNvSpPr/>
          <p:nvPr/>
        </p:nvSpPr>
        <p:spPr>
          <a:xfrm>
            <a:off x="10631887" y="6292165"/>
            <a:ext cx="159773" cy="185614"/>
          </a:xfrm>
          <a:prstGeom prst="roundRect">
            <a:avLst/>
          </a:prstGeom>
          <a:solidFill>
            <a:schemeClr val="accent1">
              <a:lumMod val="75000"/>
            </a:schemeClr>
          </a:solidFill>
          <a:ln w="19050" cap="flat" cmpd="sng" algn="ctr">
            <a:solidFill>
              <a:sysClr val="window" lastClr="FFFFFF"/>
            </a:solidFill>
            <a:prstDash val="solid"/>
            <a:miter lim="800000"/>
          </a:ln>
          <a:effectLst/>
        </p:spPr>
        <p:txBody>
          <a:bodyPr rtlCol="0" anchor="t"/>
          <a:lstStyle/>
          <a:p>
            <a:pPr algn="ctr"/>
            <a:endParaRPr lang="fr-FR" sz="800" kern="0">
              <a:solidFill>
                <a:prstClr val="white"/>
              </a:solidFill>
              <a:latin typeface="Montserrat"/>
            </a:endParaRPr>
          </a:p>
        </p:txBody>
      </p:sp>
      <p:sp>
        <p:nvSpPr>
          <p:cNvPr id="199" name="ZoneTexte 198">
            <a:extLst>
              <a:ext uri="{FF2B5EF4-FFF2-40B4-BE49-F238E27FC236}">
                <a16:creationId xmlns:a16="http://schemas.microsoft.com/office/drawing/2014/main" id="{4891014A-15C2-6DFA-DC81-73118407F1DD}"/>
              </a:ext>
            </a:extLst>
          </p:cNvPr>
          <p:cNvSpPr txBox="1"/>
          <p:nvPr/>
        </p:nvSpPr>
        <p:spPr>
          <a:xfrm>
            <a:off x="10883372" y="6296845"/>
            <a:ext cx="1152822" cy="200055"/>
          </a:xfrm>
          <a:prstGeom prst="rect">
            <a:avLst/>
          </a:prstGeom>
          <a:noFill/>
        </p:spPr>
        <p:txBody>
          <a:bodyPr wrap="square" rtlCol="0">
            <a:spAutoFit/>
          </a:bodyPr>
          <a:lstStyle/>
          <a:p>
            <a:pPr>
              <a:defRPr/>
            </a:pPr>
            <a:r>
              <a:rPr lang="en-US" sz="700">
                <a:solidFill>
                  <a:srgbClr val="003C5A"/>
                </a:solidFill>
                <a:latin typeface="Montserrat"/>
              </a:rPr>
              <a:t>Applications</a:t>
            </a:r>
          </a:p>
        </p:txBody>
      </p:sp>
      <p:sp>
        <p:nvSpPr>
          <p:cNvPr id="200" name="Rectangle 199">
            <a:extLst>
              <a:ext uri="{FF2B5EF4-FFF2-40B4-BE49-F238E27FC236}">
                <a16:creationId xmlns:a16="http://schemas.microsoft.com/office/drawing/2014/main" id="{7C5435C7-7136-971E-1770-CCE0F19F5FD6}"/>
              </a:ext>
            </a:extLst>
          </p:cNvPr>
          <p:cNvSpPr/>
          <p:nvPr/>
        </p:nvSpPr>
        <p:spPr>
          <a:xfrm>
            <a:off x="8569355" y="6235991"/>
            <a:ext cx="3390194" cy="579306"/>
          </a:xfrm>
          <a:prstGeom prst="rect">
            <a:avLst/>
          </a:prstGeom>
          <a:no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201" name="ZoneTexte 200">
            <a:extLst>
              <a:ext uri="{FF2B5EF4-FFF2-40B4-BE49-F238E27FC236}">
                <a16:creationId xmlns:a16="http://schemas.microsoft.com/office/drawing/2014/main" id="{57926524-9DCA-95E4-CE51-260FA8A409A4}"/>
              </a:ext>
            </a:extLst>
          </p:cNvPr>
          <p:cNvSpPr txBox="1"/>
          <p:nvPr/>
        </p:nvSpPr>
        <p:spPr>
          <a:xfrm>
            <a:off x="8492710" y="6077339"/>
            <a:ext cx="1373565" cy="200055"/>
          </a:xfrm>
          <a:prstGeom prst="rect">
            <a:avLst/>
          </a:prstGeom>
          <a:noFill/>
        </p:spPr>
        <p:txBody>
          <a:bodyPr wrap="square" rtlCol="0">
            <a:spAutoFit/>
          </a:bodyPr>
          <a:lstStyle/>
          <a:p>
            <a:pPr>
              <a:defRPr/>
            </a:pPr>
            <a:r>
              <a:rPr lang="en-US" sz="700">
                <a:solidFill>
                  <a:srgbClr val="003C5A"/>
                </a:solidFill>
                <a:latin typeface="Montserrat"/>
              </a:rPr>
              <a:t>Legend</a:t>
            </a:r>
          </a:p>
        </p:txBody>
      </p:sp>
      <p:sp>
        <p:nvSpPr>
          <p:cNvPr id="202" name="Rectangle : coins arrondis 201">
            <a:extLst>
              <a:ext uri="{FF2B5EF4-FFF2-40B4-BE49-F238E27FC236}">
                <a16:creationId xmlns:a16="http://schemas.microsoft.com/office/drawing/2014/main" id="{AB904372-8D00-774C-EA30-C42F745530AE}"/>
              </a:ext>
            </a:extLst>
          </p:cNvPr>
          <p:cNvSpPr/>
          <p:nvPr/>
        </p:nvSpPr>
        <p:spPr>
          <a:xfrm>
            <a:off x="8646064" y="6315571"/>
            <a:ext cx="159773" cy="185614"/>
          </a:xfrm>
          <a:prstGeom prst="roundRect">
            <a:avLst/>
          </a:prstGeom>
          <a:solidFill>
            <a:schemeClr val="tx2">
              <a:lumMod val="60000"/>
              <a:lumOff val="40000"/>
            </a:schemeClr>
          </a:solidFill>
          <a:ln w="19050" cap="flat" cmpd="sng" algn="ctr">
            <a:solidFill>
              <a:srgbClr val="003C5A">
                <a:lumMod val="75000"/>
                <a:lumOff val="25000"/>
              </a:srgbClr>
            </a:solidFill>
            <a:prstDash val="dash"/>
            <a:miter lim="800000"/>
          </a:ln>
          <a:effectLst/>
        </p:spPr>
        <p:txBody>
          <a:bodyPr rtlCol="0" anchor="ctr"/>
          <a:lstStyle/>
          <a:p>
            <a:pPr algn="ctr"/>
            <a:endParaRPr lang="fr-FR" sz="800" kern="0">
              <a:solidFill>
                <a:prstClr val="white"/>
              </a:solidFill>
              <a:latin typeface="Montserrat"/>
            </a:endParaRPr>
          </a:p>
        </p:txBody>
      </p:sp>
      <p:sp>
        <p:nvSpPr>
          <p:cNvPr id="203" name="ZoneTexte 202">
            <a:extLst>
              <a:ext uri="{FF2B5EF4-FFF2-40B4-BE49-F238E27FC236}">
                <a16:creationId xmlns:a16="http://schemas.microsoft.com/office/drawing/2014/main" id="{B55D477F-8166-029F-92C3-9B785AA055A2}"/>
              </a:ext>
            </a:extLst>
          </p:cNvPr>
          <p:cNvSpPr txBox="1"/>
          <p:nvPr/>
        </p:nvSpPr>
        <p:spPr>
          <a:xfrm>
            <a:off x="8897549" y="6305153"/>
            <a:ext cx="1152822" cy="200055"/>
          </a:xfrm>
          <a:prstGeom prst="rect">
            <a:avLst/>
          </a:prstGeom>
          <a:noFill/>
        </p:spPr>
        <p:txBody>
          <a:bodyPr wrap="square" rtlCol="0">
            <a:spAutoFit/>
          </a:bodyPr>
          <a:lstStyle/>
          <a:p>
            <a:pPr>
              <a:defRPr/>
            </a:pPr>
            <a:r>
              <a:rPr lang="en-US" sz="700">
                <a:solidFill>
                  <a:srgbClr val="003C5A"/>
                </a:solidFill>
                <a:latin typeface="Montserrat"/>
              </a:rPr>
              <a:t>Master source</a:t>
            </a:r>
          </a:p>
        </p:txBody>
      </p:sp>
      <p:sp>
        <p:nvSpPr>
          <p:cNvPr id="204" name="Rectangle : coins arrondis 203">
            <a:extLst>
              <a:ext uri="{FF2B5EF4-FFF2-40B4-BE49-F238E27FC236}">
                <a16:creationId xmlns:a16="http://schemas.microsoft.com/office/drawing/2014/main" id="{52165B19-7727-C3F0-54D7-D4329C63FAD1}"/>
              </a:ext>
            </a:extLst>
          </p:cNvPr>
          <p:cNvSpPr/>
          <p:nvPr/>
        </p:nvSpPr>
        <p:spPr>
          <a:xfrm>
            <a:off x="10631887" y="6553075"/>
            <a:ext cx="159773" cy="185614"/>
          </a:xfrm>
          <a:prstGeom prst="roundRect">
            <a:avLst/>
          </a:prstGeom>
          <a:solidFill>
            <a:srgbClr val="009581">
              <a:lumMod val="75000"/>
            </a:srgbClr>
          </a:solidFill>
          <a:ln>
            <a:noFill/>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Montserrat"/>
              <a:ea typeface="+mn-ea"/>
              <a:cs typeface="+mn-cs"/>
            </a:endParaRPr>
          </a:p>
        </p:txBody>
      </p:sp>
      <p:sp>
        <p:nvSpPr>
          <p:cNvPr id="205" name="ZoneTexte 204">
            <a:extLst>
              <a:ext uri="{FF2B5EF4-FFF2-40B4-BE49-F238E27FC236}">
                <a16:creationId xmlns:a16="http://schemas.microsoft.com/office/drawing/2014/main" id="{82827797-90CD-4F67-5552-F623D500BC67}"/>
              </a:ext>
            </a:extLst>
          </p:cNvPr>
          <p:cNvSpPr txBox="1"/>
          <p:nvPr/>
        </p:nvSpPr>
        <p:spPr>
          <a:xfrm>
            <a:off x="10819489" y="6537822"/>
            <a:ext cx="1152822" cy="200055"/>
          </a:xfrm>
          <a:prstGeom prst="rect">
            <a:avLst/>
          </a:prstGeom>
          <a:noFill/>
        </p:spPr>
        <p:txBody>
          <a:bodyPr wrap="square" rtlCol="0">
            <a:spAutoFit/>
          </a:bodyPr>
          <a:lstStyle/>
          <a:p>
            <a:pPr>
              <a:defRPr/>
            </a:pPr>
            <a:r>
              <a:rPr lang="en-US" sz="700">
                <a:solidFill>
                  <a:srgbClr val="003C5A"/>
                </a:solidFill>
                <a:latin typeface="Montserrat"/>
              </a:rPr>
              <a:t>Support application</a:t>
            </a:r>
          </a:p>
        </p:txBody>
      </p:sp>
      <p:sp>
        <p:nvSpPr>
          <p:cNvPr id="206" name="Rectangle : coins arrondis 205">
            <a:extLst>
              <a:ext uri="{FF2B5EF4-FFF2-40B4-BE49-F238E27FC236}">
                <a16:creationId xmlns:a16="http://schemas.microsoft.com/office/drawing/2014/main" id="{A090FB1F-15F6-D07D-40E7-2CBD7993951B}"/>
              </a:ext>
            </a:extLst>
          </p:cNvPr>
          <p:cNvSpPr/>
          <p:nvPr/>
        </p:nvSpPr>
        <p:spPr>
          <a:xfrm>
            <a:off x="8646064" y="6568173"/>
            <a:ext cx="159773" cy="185614"/>
          </a:xfrm>
          <a:prstGeom prst="roundRect">
            <a:avLst/>
          </a:prstGeom>
          <a:solidFill>
            <a:schemeClr val="tx2"/>
          </a:solidFill>
          <a:ln w="12700" cap="flat" cmpd="sng" algn="ctr">
            <a:noFill/>
            <a:prstDash val="solid"/>
            <a:miter lim="800000"/>
          </a:ln>
          <a:effectLst/>
        </p:spPr>
        <p:txBody>
          <a:bodyPr rtlCol="0" anchor="ctr"/>
          <a:lstStyle/>
          <a:p>
            <a:pPr algn="ctr"/>
            <a:endParaRPr lang="fr-FR" sz="1200" kern="0">
              <a:solidFill>
                <a:prstClr val="white"/>
              </a:solidFill>
              <a:latin typeface="Montserrat"/>
            </a:endParaRPr>
          </a:p>
        </p:txBody>
      </p:sp>
      <p:sp>
        <p:nvSpPr>
          <p:cNvPr id="207" name="ZoneTexte 206">
            <a:extLst>
              <a:ext uri="{FF2B5EF4-FFF2-40B4-BE49-F238E27FC236}">
                <a16:creationId xmlns:a16="http://schemas.microsoft.com/office/drawing/2014/main" id="{A8D83328-5A25-4B7D-2112-3CCE31312BDD}"/>
              </a:ext>
            </a:extLst>
          </p:cNvPr>
          <p:cNvSpPr txBox="1"/>
          <p:nvPr/>
        </p:nvSpPr>
        <p:spPr>
          <a:xfrm>
            <a:off x="8897549" y="6557755"/>
            <a:ext cx="1152822" cy="200055"/>
          </a:xfrm>
          <a:prstGeom prst="rect">
            <a:avLst/>
          </a:prstGeom>
          <a:noFill/>
        </p:spPr>
        <p:txBody>
          <a:bodyPr wrap="square" rtlCol="0">
            <a:spAutoFit/>
          </a:bodyPr>
          <a:lstStyle/>
          <a:p>
            <a:pPr>
              <a:defRPr/>
            </a:pPr>
            <a:r>
              <a:rPr lang="en-US" sz="700">
                <a:solidFill>
                  <a:srgbClr val="003C5A"/>
                </a:solidFill>
                <a:latin typeface="Montserrat"/>
              </a:rPr>
              <a:t>IGA capabilities</a:t>
            </a:r>
          </a:p>
        </p:txBody>
      </p:sp>
      <p:cxnSp>
        <p:nvCxnSpPr>
          <p:cNvPr id="209" name="Connecteur : en angle 208">
            <a:extLst>
              <a:ext uri="{FF2B5EF4-FFF2-40B4-BE49-F238E27FC236}">
                <a16:creationId xmlns:a16="http://schemas.microsoft.com/office/drawing/2014/main" id="{7D43E199-9379-74F8-5DA3-8B4A7E42CB50}"/>
              </a:ext>
            </a:extLst>
          </p:cNvPr>
          <p:cNvCxnSpPr>
            <a:cxnSpLocks/>
            <a:endCxn id="172" idx="1"/>
          </p:cNvCxnSpPr>
          <p:nvPr/>
        </p:nvCxnSpPr>
        <p:spPr>
          <a:xfrm rot="16200000" flipH="1">
            <a:off x="494494" y="2287764"/>
            <a:ext cx="1738466" cy="1158128"/>
          </a:xfrm>
          <a:prstGeom prst="bentConnector2">
            <a:avLst/>
          </a:prstGeom>
          <a:noFill/>
          <a:ln w="76200" cap="flat" cmpd="sng" algn="ctr">
            <a:solidFill>
              <a:sysClr val="window" lastClr="FFFFFF">
                <a:lumMod val="75000"/>
              </a:sysClr>
            </a:solidFill>
            <a:prstDash val="solid"/>
            <a:miter lim="800000"/>
            <a:tailEnd type="triangle"/>
          </a:ln>
          <a:effectLst/>
        </p:spPr>
      </p:cxnSp>
      <p:sp>
        <p:nvSpPr>
          <p:cNvPr id="210" name="Rectangle : coins arrondis 209">
            <a:extLst>
              <a:ext uri="{FF2B5EF4-FFF2-40B4-BE49-F238E27FC236}">
                <a16:creationId xmlns:a16="http://schemas.microsoft.com/office/drawing/2014/main" id="{907CE21C-7E8D-C4EC-2195-EB6E0BA7EFAF}"/>
              </a:ext>
            </a:extLst>
          </p:cNvPr>
          <p:cNvSpPr/>
          <p:nvPr/>
        </p:nvSpPr>
        <p:spPr>
          <a:xfrm>
            <a:off x="2409442" y="4603010"/>
            <a:ext cx="1188000" cy="291600"/>
          </a:xfrm>
          <a:prstGeom prst="roundRect">
            <a:avLst/>
          </a:prstGeom>
          <a:solidFill>
            <a:srgbClr val="FF99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44976"/>
                </a:solidFill>
                <a:effectLst/>
                <a:uLnTx/>
                <a:uFillTx/>
                <a:latin typeface="Montserrat"/>
                <a:ea typeface="+mn-ea"/>
                <a:cs typeface="+mn-cs"/>
              </a:rPr>
              <a:t>Non-HR</a:t>
            </a:r>
            <a:br>
              <a:rPr kumimoji="0" lang="en-US" sz="800" b="0" i="0" u="none" strike="noStrike" kern="0" cap="none" spc="0" normalizeH="0" baseline="0" noProof="0">
                <a:ln>
                  <a:noFill/>
                </a:ln>
                <a:solidFill>
                  <a:srgbClr val="244976"/>
                </a:solidFill>
                <a:effectLst/>
                <a:uLnTx/>
                <a:uFillTx/>
                <a:latin typeface="Montserrat"/>
                <a:ea typeface="+mn-ea"/>
                <a:cs typeface="+mn-cs"/>
              </a:rPr>
            </a:br>
            <a:r>
              <a:rPr kumimoji="0" lang="en-US" sz="800" b="0" i="0" u="none" strike="noStrike" kern="0" cap="none" spc="0" normalizeH="0" baseline="0" noProof="0">
                <a:ln>
                  <a:noFill/>
                </a:ln>
                <a:solidFill>
                  <a:srgbClr val="244976"/>
                </a:solidFill>
                <a:effectLst/>
                <a:uLnTx/>
                <a:uFillTx/>
                <a:latin typeface="Montserrat"/>
                <a:ea typeface="+mn-ea"/>
                <a:cs typeface="+mn-cs"/>
              </a:rPr>
              <a:t>user directory</a:t>
            </a:r>
          </a:p>
        </p:txBody>
      </p:sp>
      <p:cxnSp>
        <p:nvCxnSpPr>
          <p:cNvPr id="211" name="Connecteur : en angle 210">
            <a:extLst>
              <a:ext uri="{FF2B5EF4-FFF2-40B4-BE49-F238E27FC236}">
                <a16:creationId xmlns:a16="http://schemas.microsoft.com/office/drawing/2014/main" id="{0ED37B09-398C-B0A6-DEDE-F74CDCC3C666}"/>
              </a:ext>
            </a:extLst>
          </p:cNvPr>
          <p:cNvCxnSpPr>
            <a:cxnSpLocks/>
            <a:endCxn id="210" idx="1"/>
          </p:cNvCxnSpPr>
          <p:nvPr/>
        </p:nvCxnSpPr>
        <p:spPr>
          <a:xfrm flipV="1">
            <a:off x="1259494" y="4748810"/>
            <a:ext cx="1149948" cy="355923"/>
          </a:xfrm>
          <a:prstGeom prst="bentConnector3">
            <a:avLst/>
          </a:prstGeom>
          <a:noFill/>
          <a:ln w="57150" cap="flat" cmpd="sng" algn="ctr">
            <a:solidFill>
              <a:sysClr val="window" lastClr="FFFFFF">
                <a:lumMod val="50000"/>
              </a:sysClr>
            </a:solidFill>
            <a:prstDash val="solid"/>
            <a:miter lim="800000"/>
            <a:tailEnd type="triangle"/>
          </a:ln>
          <a:effectLst/>
        </p:spPr>
      </p:cxnSp>
      <p:cxnSp>
        <p:nvCxnSpPr>
          <p:cNvPr id="212" name="Connecteur droit avec flèche 211">
            <a:extLst>
              <a:ext uri="{FF2B5EF4-FFF2-40B4-BE49-F238E27FC236}">
                <a16:creationId xmlns:a16="http://schemas.microsoft.com/office/drawing/2014/main" id="{D0807492-CC09-6A2A-BEC0-1D9E34585C56}"/>
              </a:ext>
            </a:extLst>
          </p:cNvPr>
          <p:cNvCxnSpPr/>
          <p:nvPr/>
        </p:nvCxnSpPr>
        <p:spPr>
          <a:xfrm>
            <a:off x="2287542" y="1953107"/>
            <a:ext cx="0" cy="756957"/>
          </a:xfrm>
          <a:prstGeom prst="straightConnector1">
            <a:avLst/>
          </a:prstGeom>
          <a:noFill/>
          <a:ln w="76200" cap="flat" cmpd="sng" algn="ctr">
            <a:solidFill>
              <a:sysClr val="window" lastClr="FFFFFF">
                <a:lumMod val="75000"/>
              </a:sysClr>
            </a:solidFill>
            <a:prstDash val="solid"/>
            <a:miter lim="800000"/>
            <a:tailEnd type="triangle"/>
          </a:ln>
          <a:effectLst/>
        </p:spPr>
      </p:cxnSp>
      <p:cxnSp>
        <p:nvCxnSpPr>
          <p:cNvPr id="213" name="Connecteur droit avec flèche 212">
            <a:extLst>
              <a:ext uri="{FF2B5EF4-FFF2-40B4-BE49-F238E27FC236}">
                <a16:creationId xmlns:a16="http://schemas.microsoft.com/office/drawing/2014/main" id="{72840604-CEE1-E766-5EB3-F1DB26CC7ABE}"/>
              </a:ext>
            </a:extLst>
          </p:cNvPr>
          <p:cNvCxnSpPr/>
          <p:nvPr/>
        </p:nvCxnSpPr>
        <p:spPr>
          <a:xfrm>
            <a:off x="4831003" y="1953107"/>
            <a:ext cx="0" cy="756957"/>
          </a:xfrm>
          <a:prstGeom prst="straightConnector1">
            <a:avLst/>
          </a:prstGeom>
          <a:noFill/>
          <a:ln w="76200" cap="flat" cmpd="sng" algn="ctr">
            <a:solidFill>
              <a:sysClr val="window" lastClr="FFFFFF">
                <a:lumMod val="75000"/>
              </a:sysClr>
            </a:solidFill>
            <a:prstDash val="solid"/>
            <a:miter lim="800000"/>
            <a:tailEnd type="triangle"/>
          </a:ln>
          <a:effectLst/>
        </p:spPr>
      </p:cxnSp>
      <p:grpSp>
        <p:nvGrpSpPr>
          <p:cNvPr id="214" name="Groupe 213">
            <a:extLst>
              <a:ext uri="{FF2B5EF4-FFF2-40B4-BE49-F238E27FC236}">
                <a16:creationId xmlns:a16="http://schemas.microsoft.com/office/drawing/2014/main" id="{C82DD034-E7D5-A501-0715-7821E09148F3}"/>
              </a:ext>
            </a:extLst>
          </p:cNvPr>
          <p:cNvGrpSpPr/>
          <p:nvPr/>
        </p:nvGrpSpPr>
        <p:grpSpPr>
          <a:xfrm>
            <a:off x="199782" y="4349345"/>
            <a:ext cx="1206796" cy="1502079"/>
            <a:chOff x="1536181" y="4508987"/>
            <a:chExt cx="1206796" cy="1502079"/>
          </a:xfrm>
        </p:grpSpPr>
        <p:sp>
          <p:nvSpPr>
            <p:cNvPr id="215" name="Rectangle : coins arrondis 214">
              <a:extLst>
                <a:ext uri="{FF2B5EF4-FFF2-40B4-BE49-F238E27FC236}">
                  <a16:creationId xmlns:a16="http://schemas.microsoft.com/office/drawing/2014/main" id="{8C69E6C0-6771-3CC0-6B7A-49A979186718}"/>
                </a:ext>
              </a:extLst>
            </p:cNvPr>
            <p:cNvSpPr/>
            <p:nvPr/>
          </p:nvSpPr>
          <p:spPr>
            <a:xfrm>
              <a:off x="1536181" y="4508987"/>
              <a:ext cx="1206796" cy="420245"/>
            </a:xfrm>
            <a:prstGeom prst="roundRect">
              <a:avLst/>
            </a:prstGeom>
            <a:solidFill>
              <a:srgbClr val="003C5A"/>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Exemptions</a:t>
              </a:r>
            </a:p>
          </p:txBody>
        </p:sp>
        <p:sp>
          <p:nvSpPr>
            <p:cNvPr id="216" name="Rectangle 215">
              <a:extLst>
                <a:ext uri="{FF2B5EF4-FFF2-40B4-BE49-F238E27FC236}">
                  <a16:creationId xmlns:a16="http://schemas.microsoft.com/office/drawing/2014/main" id="{0603ABFA-703E-AAA8-4D78-34CAB41F4F2B}"/>
                </a:ext>
              </a:extLst>
            </p:cNvPr>
            <p:cNvSpPr/>
            <p:nvPr/>
          </p:nvSpPr>
          <p:spPr>
            <a:xfrm>
              <a:off x="2024006" y="5598524"/>
              <a:ext cx="222914" cy="222914"/>
            </a:xfrm>
            <a:prstGeom prst="rect">
              <a:avLst/>
            </a:prstGeom>
            <a:solidFill>
              <a:srgbClr val="003C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pic>
          <p:nvPicPr>
            <p:cNvPr id="217" name="Image 216" descr="XP_Man">
              <a:extLst>
                <a:ext uri="{FF2B5EF4-FFF2-40B4-BE49-F238E27FC236}">
                  <a16:creationId xmlns:a16="http://schemas.microsoft.com/office/drawing/2014/main" id="{9F245635-064A-152E-0239-5FD87CDE0A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4314" y="5727821"/>
              <a:ext cx="213083" cy="28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8" name="Rectangle : coins arrondis 217">
            <a:extLst>
              <a:ext uri="{FF2B5EF4-FFF2-40B4-BE49-F238E27FC236}">
                <a16:creationId xmlns:a16="http://schemas.microsoft.com/office/drawing/2014/main" id="{8B4BD643-789A-0B63-924D-7C17F5A62E59}"/>
              </a:ext>
            </a:extLst>
          </p:cNvPr>
          <p:cNvSpPr/>
          <p:nvPr/>
        </p:nvSpPr>
        <p:spPr>
          <a:xfrm>
            <a:off x="54268" y="4256130"/>
            <a:ext cx="1582627" cy="1586746"/>
          </a:xfrm>
          <a:prstGeom prst="roundRect">
            <a:avLst>
              <a:gd name="adj" fmla="val 4061"/>
            </a:avLst>
          </a:prstGeom>
          <a:noFill/>
          <a:ln w="12700" cap="flat" cmpd="sng" algn="ctr">
            <a:solidFill>
              <a:srgbClr val="003C5A"/>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244976"/>
              </a:solidFill>
              <a:effectLst/>
              <a:uLnTx/>
              <a:uFillTx/>
              <a:latin typeface="Montserra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44976"/>
              </a:solidFill>
              <a:effectLst/>
              <a:uLnTx/>
              <a:uFillTx/>
              <a:latin typeface="Montserrat"/>
              <a:ea typeface="+mn-ea"/>
              <a:cs typeface="+mn-cs"/>
            </a:endParaRPr>
          </a:p>
        </p:txBody>
      </p:sp>
      <p:sp>
        <p:nvSpPr>
          <p:cNvPr id="219" name="Rectangle : coins arrondis 218">
            <a:extLst>
              <a:ext uri="{FF2B5EF4-FFF2-40B4-BE49-F238E27FC236}">
                <a16:creationId xmlns:a16="http://schemas.microsoft.com/office/drawing/2014/main" id="{FCF58408-46DB-0CB5-D93F-440A8B2859AF}"/>
              </a:ext>
            </a:extLst>
          </p:cNvPr>
          <p:cNvSpPr/>
          <p:nvPr/>
        </p:nvSpPr>
        <p:spPr>
          <a:xfrm>
            <a:off x="199782" y="4915390"/>
            <a:ext cx="1206796" cy="420245"/>
          </a:xfrm>
          <a:prstGeom prst="roundRect">
            <a:avLst/>
          </a:prstGeom>
          <a:solidFill>
            <a:srgbClr val="003C5A"/>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Montserrat"/>
                <a:ea typeface="+mn-ea"/>
                <a:cs typeface="+mn-cs"/>
              </a:rPr>
              <a:t>manual entries</a:t>
            </a:r>
          </a:p>
        </p:txBody>
      </p:sp>
      <p:sp>
        <p:nvSpPr>
          <p:cNvPr id="3" name="Rectangle : coins arrondis 2">
            <a:extLst>
              <a:ext uri="{FF2B5EF4-FFF2-40B4-BE49-F238E27FC236}">
                <a16:creationId xmlns:a16="http://schemas.microsoft.com/office/drawing/2014/main" id="{BFC260CF-F182-C7B8-3DCF-12C315844FC3}"/>
              </a:ext>
            </a:extLst>
          </p:cNvPr>
          <p:cNvSpPr/>
          <p:nvPr/>
        </p:nvSpPr>
        <p:spPr>
          <a:xfrm>
            <a:off x="3265648" y="1505576"/>
            <a:ext cx="982800" cy="270000"/>
          </a:xfrm>
          <a:prstGeom prst="roundRect">
            <a:avLst/>
          </a:prstGeom>
          <a:solidFill>
            <a:schemeClr val="tx2">
              <a:lumMod val="60000"/>
              <a:lumOff val="40000"/>
            </a:schemeClr>
          </a:solidFill>
          <a:ln w="19050" cap="flat" cmpd="sng" algn="ctr">
            <a:solidFill>
              <a:srgbClr val="003C5A">
                <a:lumMod val="75000"/>
                <a:lumOff val="25000"/>
              </a:srgbClr>
            </a:solidFill>
            <a:prstDash val="dash"/>
            <a:miter lim="800000"/>
          </a:ln>
          <a:effectLst/>
        </p:spPr>
        <p:txBody>
          <a:bodyPr rtlCol="0" anchor="ctr"/>
          <a:lstStyle/>
          <a:p>
            <a:pPr algn="ctr"/>
            <a:r>
              <a:rPr lang="en-US" sz="800" kern="0">
                <a:solidFill>
                  <a:prstClr val="white"/>
                </a:solidFill>
                <a:latin typeface="Montserrat"/>
              </a:rPr>
              <a:t>Organization</a:t>
            </a:r>
          </a:p>
          <a:p>
            <a:pPr algn="ctr"/>
            <a:r>
              <a:rPr lang="en-US" sz="800" kern="0">
                <a:solidFill>
                  <a:prstClr val="white"/>
                </a:solidFill>
                <a:latin typeface="Montserrat"/>
              </a:rPr>
              <a:t>sources</a:t>
            </a:r>
          </a:p>
        </p:txBody>
      </p:sp>
      <p:sp>
        <p:nvSpPr>
          <p:cNvPr id="6" name="Rectangle 5">
            <a:extLst>
              <a:ext uri="{FF2B5EF4-FFF2-40B4-BE49-F238E27FC236}">
                <a16:creationId xmlns:a16="http://schemas.microsoft.com/office/drawing/2014/main" id="{3BCD9AA1-E68F-7616-5BF4-8CF0EAA9E302}"/>
              </a:ext>
            </a:extLst>
          </p:cNvPr>
          <p:cNvSpPr/>
          <p:nvPr/>
        </p:nvSpPr>
        <p:spPr>
          <a:xfrm>
            <a:off x="4630582" y="1399139"/>
            <a:ext cx="1287891" cy="469667"/>
          </a:xfrm>
          <a:prstGeom prst="rect">
            <a:avLst/>
          </a:prstGeom>
          <a:noFill/>
          <a:ln w="28575"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7" name="Rectangle : coins arrondis 6">
            <a:extLst>
              <a:ext uri="{FF2B5EF4-FFF2-40B4-BE49-F238E27FC236}">
                <a16:creationId xmlns:a16="http://schemas.microsoft.com/office/drawing/2014/main" id="{13A300FA-A892-3957-4C11-78353F958C8C}"/>
              </a:ext>
            </a:extLst>
          </p:cNvPr>
          <p:cNvSpPr/>
          <p:nvPr/>
        </p:nvSpPr>
        <p:spPr>
          <a:xfrm>
            <a:off x="1896981" y="1507521"/>
            <a:ext cx="982800" cy="270000"/>
          </a:xfrm>
          <a:prstGeom prst="roundRect">
            <a:avLst/>
          </a:prstGeom>
          <a:solidFill>
            <a:schemeClr val="tx2">
              <a:lumMod val="60000"/>
              <a:lumOff val="40000"/>
            </a:schemeClr>
          </a:solidFill>
          <a:ln w="19050" cap="flat" cmpd="sng" algn="ctr">
            <a:solidFill>
              <a:srgbClr val="003C5A">
                <a:lumMod val="75000"/>
                <a:lumOff val="2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Project &amp; Worksite</a:t>
            </a:r>
          </a:p>
        </p:txBody>
      </p:sp>
      <p:sp>
        <p:nvSpPr>
          <p:cNvPr id="8" name="Rectangle : coins arrondis 7">
            <a:extLst>
              <a:ext uri="{FF2B5EF4-FFF2-40B4-BE49-F238E27FC236}">
                <a16:creationId xmlns:a16="http://schemas.microsoft.com/office/drawing/2014/main" id="{936D3BCF-3A1B-BB25-1D0F-6F47B82AABB3}"/>
              </a:ext>
            </a:extLst>
          </p:cNvPr>
          <p:cNvSpPr/>
          <p:nvPr/>
        </p:nvSpPr>
        <p:spPr>
          <a:xfrm>
            <a:off x="249577" y="1517193"/>
            <a:ext cx="982800" cy="270000"/>
          </a:xfrm>
          <a:prstGeom prst="roundRect">
            <a:avLst/>
          </a:prstGeom>
          <a:solidFill>
            <a:schemeClr val="tx2">
              <a:lumMod val="60000"/>
              <a:lumOff val="40000"/>
            </a:schemeClr>
          </a:solidFill>
          <a:ln w="19050" cap="flat" cmpd="sng" algn="ctr">
            <a:solidFill>
              <a:srgbClr val="003C5A">
                <a:lumMod val="75000"/>
                <a:lumOff val="2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Employees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repository</a:t>
            </a:r>
          </a:p>
        </p:txBody>
      </p:sp>
      <p:sp>
        <p:nvSpPr>
          <p:cNvPr id="9" name="Rectangle : coins arrondis 8">
            <a:extLst>
              <a:ext uri="{FF2B5EF4-FFF2-40B4-BE49-F238E27FC236}">
                <a16:creationId xmlns:a16="http://schemas.microsoft.com/office/drawing/2014/main" id="{5C7C648B-98FC-9F79-DB77-D201D11A7BF8}"/>
              </a:ext>
            </a:extLst>
          </p:cNvPr>
          <p:cNvSpPr/>
          <p:nvPr/>
        </p:nvSpPr>
        <p:spPr>
          <a:xfrm>
            <a:off x="4789370" y="1517193"/>
            <a:ext cx="982830" cy="270742"/>
          </a:xfrm>
          <a:prstGeom prst="roundRect">
            <a:avLst/>
          </a:prstGeom>
          <a:solidFill>
            <a:schemeClr val="tx2">
              <a:lumMod val="60000"/>
              <a:lumOff val="40000"/>
            </a:schemeClr>
          </a:solidFill>
          <a:ln w="19050" cap="flat" cmpd="sng" algn="ctr">
            <a:solidFill>
              <a:srgbClr val="003C5A">
                <a:lumMod val="75000"/>
                <a:lumOff val="2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Montserrat"/>
                <a:ea typeface="+mn-ea"/>
                <a:cs typeface="+mn-cs"/>
              </a:rPr>
              <a:t>Business role catalog</a:t>
            </a:r>
          </a:p>
        </p:txBody>
      </p:sp>
      <p:sp>
        <p:nvSpPr>
          <p:cNvPr id="10" name="Rectangle 9">
            <a:extLst>
              <a:ext uri="{FF2B5EF4-FFF2-40B4-BE49-F238E27FC236}">
                <a16:creationId xmlns:a16="http://schemas.microsoft.com/office/drawing/2014/main" id="{A74B0EE0-299F-171D-19DE-C782965A7494}"/>
              </a:ext>
            </a:extLst>
          </p:cNvPr>
          <p:cNvSpPr/>
          <p:nvPr/>
        </p:nvSpPr>
        <p:spPr>
          <a:xfrm>
            <a:off x="150481" y="1416822"/>
            <a:ext cx="1216404" cy="439982"/>
          </a:xfrm>
          <a:prstGeom prst="rect">
            <a:avLst/>
          </a:prstGeom>
          <a:noFill/>
          <a:ln w="28575"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3D539A02-65D5-3D26-58FA-EABD9370BF0B}"/>
              </a:ext>
            </a:extLst>
          </p:cNvPr>
          <p:cNvSpPr/>
          <p:nvPr/>
        </p:nvSpPr>
        <p:spPr>
          <a:xfrm>
            <a:off x="1717881" y="1416822"/>
            <a:ext cx="2565645" cy="439982"/>
          </a:xfrm>
          <a:prstGeom prst="rect">
            <a:avLst/>
          </a:prstGeom>
          <a:noFill/>
          <a:ln w="28575"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Montserrat"/>
              <a:ea typeface="+mn-ea"/>
              <a:cs typeface="+mn-cs"/>
            </a:endParaRPr>
          </a:p>
        </p:txBody>
      </p:sp>
    </p:spTree>
    <p:extLst>
      <p:ext uri="{BB962C8B-B14F-4D97-AF65-F5344CB8AC3E}">
        <p14:creationId xmlns:p14="http://schemas.microsoft.com/office/powerpoint/2010/main" val="3440199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E4A593-C208-75E1-7D04-5084B2E0451D}"/>
              </a:ext>
            </a:extLst>
          </p:cNvPr>
          <p:cNvSpPr>
            <a:spLocks noGrp="1"/>
          </p:cNvSpPr>
          <p:nvPr>
            <p:ph type="title"/>
          </p:nvPr>
        </p:nvSpPr>
        <p:spPr>
          <a:xfrm>
            <a:off x="982663" y="692696"/>
            <a:ext cx="10851563" cy="609398"/>
          </a:xfrm>
        </p:spPr>
        <p:txBody>
          <a:bodyPr/>
          <a:lstStyle/>
          <a:p>
            <a:r>
              <a:rPr lang="en-US" sz="2400"/>
              <a:t>To be efficient an IGA program must include evolutions for joiner/Mover/leaver processes</a:t>
            </a:r>
          </a:p>
        </p:txBody>
      </p:sp>
      <p:sp>
        <p:nvSpPr>
          <p:cNvPr id="4" name="Espace réservé du pied de page 3">
            <a:extLst>
              <a:ext uri="{FF2B5EF4-FFF2-40B4-BE49-F238E27FC236}">
                <a16:creationId xmlns:a16="http://schemas.microsoft.com/office/drawing/2014/main" id="{F3C00B91-8292-5BCF-2447-5AE5D7F559E6}"/>
              </a:ext>
            </a:extLst>
          </p:cNvPr>
          <p:cNvSpPr>
            <a:spLocks noGrp="1"/>
          </p:cNvSpPr>
          <p:nvPr>
            <p:ph type="ftr" sz="quarter" idx="13"/>
          </p:nvPr>
        </p:nvSpPr>
        <p:spPr/>
        <p:txBody>
          <a:bodyPr/>
          <a:lstStyle/>
          <a:p>
            <a:r>
              <a:rPr lang="fr-FR"/>
              <a:t>Bouygues Construction  |  Mois Année</a:t>
            </a:r>
          </a:p>
        </p:txBody>
      </p:sp>
      <p:sp>
        <p:nvSpPr>
          <p:cNvPr id="5" name="Espace réservé du numéro de diapositive 4">
            <a:extLst>
              <a:ext uri="{FF2B5EF4-FFF2-40B4-BE49-F238E27FC236}">
                <a16:creationId xmlns:a16="http://schemas.microsoft.com/office/drawing/2014/main" id="{DF3A75C5-D69E-14FA-9814-0DAE8B4BBC1A}"/>
              </a:ext>
            </a:extLst>
          </p:cNvPr>
          <p:cNvSpPr>
            <a:spLocks noGrp="1"/>
          </p:cNvSpPr>
          <p:nvPr>
            <p:ph type="sldNum" sz="quarter" idx="14"/>
          </p:nvPr>
        </p:nvSpPr>
        <p:spPr/>
        <p:txBody>
          <a:bodyPr/>
          <a:lstStyle/>
          <a:p>
            <a:r>
              <a:rPr lang="fr-FR"/>
              <a:t>| </a:t>
            </a:r>
            <a:fld id="{C2EBF694-A8F9-4F06-8F8E-D09447FAA2D5}" type="slidenum">
              <a:rPr smtClean="0"/>
              <a:pPr/>
              <a:t>14</a:t>
            </a:fld>
            <a:endParaRPr/>
          </a:p>
        </p:txBody>
      </p:sp>
      <p:sp>
        <p:nvSpPr>
          <p:cNvPr id="6" name="Rectangle : coins arrondis 5">
            <a:extLst>
              <a:ext uri="{FF2B5EF4-FFF2-40B4-BE49-F238E27FC236}">
                <a16:creationId xmlns:a16="http://schemas.microsoft.com/office/drawing/2014/main" id="{98414919-2797-9DA7-94BD-A2A6F15CCDA3}"/>
              </a:ext>
            </a:extLst>
          </p:cNvPr>
          <p:cNvSpPr/>
          <p:nvPr/>
        </p:nvSpPr>
        <p:spPr>
          <a:xfrm>
            <a:off x="306690" y="2170904"/>
            <a:ext cx="2421044" cy="906878"/>
          </a:xfrm>
          <a:prstGeom prst="roundRect">
            <a:avLst/>
          </a:prstGeom>
          <a:solidFill>
            <a:schemeClr val="bg1"/>
          </a:solidFill>
          <a:ln>
            <a:solidFill>
              <a:srgbClr val="CC66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b"/>
          <a:lstStyle/>
          <a:p>
            <a:pPr algn="ctr"/>
            <a:r>
              <a:rPr lang="en-US" sz="1400" b="1">
                <a:solidFill>
                  <a:srgbClr val="C75744"/>
                </a:solidFill>
              </a:rPr>
              <a:t>Joiner process</a:t>
            </a:r>
          </a:p>
        </p:txBody>
      </p:sp>
      <p:sp>
        <p:nvSpPr>
          <p:cNvPr id="7" name="Espace réservé du texte 2">
            <a:extLst>
              <a:ext uri="{FF2B5EF4-FFF2-40B4-BE49-F238E27FC236}">
                <a16:creationId xmlns:a16="http://schemas.microsoft.com/office/drawing/2014/main" id="{F87D03B5-ECEF-DEB9-363E-B362CD650021}"/>
              </a:ext>
            </a:extLst>
          </p:cNvPr>
          <p:cNvSpPr txBox="1">
            <a:spLocks/>
          </p:cNvSpPr>
          <p:nvPr/>
        </p:nvSpPr>
        <p:spPr>
          <a:xfrm>
            <a:off x="334969" y="5842099"/>
            <a:ext cx="2392764" cy="215444"/>
          </a:xfrm>
          <a:prstGeom prst="rect">
            <a:avLst/>
          </a:prstGeom>
        </p:spPr>
        <p:txBody>
          <a:bodyPr wrap="square" lIns="0" tIns="0" rIns="0" bIns="0" anchor="t">
            <a:spAutoFit/>
          </a:bodyPr>
          <a:lstStyle>
            <a:lvl1pPr marL="0" indent="0" algn="l" defTabSz="914400" rtl="0" eaLnBrk="1" latinLnBrk="0" hangingPunct="1">
              <a:lnSpc>
                <a:spcPct val="80000"/>
              </a:lnSpc>
              <a:spcBef>
                <a:spcPts val="0"/>
              </a:spcBef>
              <a:buFont typeface="Arial" panose="020B0604020202020204" pitchFamily="34" charset="0"/>
              <a:buNone/>
              <a:defRPr sz="1600" b="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gn="just">
              <a:lnSpc>
                <a:spcPct val="100000"/>
              </a:lnSpc>
              <a:spcBef>
                <a:spcPts val="0"/>
              </a:spcBef>
            </a:pPr>
            <a:r>
              <a:rPr lang="en-US" sz="1400"/>
              <a:t>Population to consider</a:t>
            </a:r>
          </a:p>
        </p:txBody>
      </p:sp>
      <p:sp>
        <p:nvSpPr>
          <p:cNvPr id="8" name="Rectangle : coins arrondis 7">
            <a:extLst>
              <a:ext uri="{FF2B5EF4-FFF2-40B4-BE49-F238E27FC236}">
                <a16:creationId xmlns:a16="http://schemas.microsoft.com/office/drawing/2014/main" id="{23AC302F-2430-80DC-3861-0FE02A98ACB0}"/>
              </a:ext>
            </a:extLst>
          </p:cNvPr>
          <p:cNvSpPr/>
          <p:nvPr/>
        </p:nvSpPr>
        <p:spPr>
          <a:xfrm>
            <a:off x="3128428" y="2170904"/>
            <a:ext cx="7236661" cy="906878"/>
          </a:xfrm>
          <a:prstGeom prst="roundRect">
            <a:avLst>
              <a:gd name="adj" fmla="val 7496"/>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r>
              <a:rPr lang="en-US" sz="1200">
                <a:solidFill>
                  <a:schemeClr val="tx1"/>
                </a:solidFill>
              </a:rPr>
              <a:t>Enable HR sources to pilot IAM actions for internal populations  </a:t>
            </a:r>
            <a:endParaRPr lang="en-US" sz="1200" b="1">
              <a:solidFill>
                <a:schemeClr val="tx1"/>
              </a:solidFill>
            </a:endParaRPr>
          </a:p>
        </p:txBody>
      </p:sp>
      <p:sp>
        <p:nvSpPr>
          <p:cNvPr id="9" name="Espace réservé du texte 2">
            <a:extLst>
              <a:ext uri="{FF2B5EF4-FFF2-40B4-BE49-F238E27FC236}">
                <a16:creationId xmlns:a16="http://schemas.microsoft.com/office/drawing/2014/main" id="{659F7D8E-0000-9C7E-E518-907E6FE2C16F}"/>
              </a:ext>
            </a:extLst>
          </p:cNvPr>
          <p:cNvSpPr txBox="1">
            <a:spLocks/>
          </p:cNvSpPr>
          <p:nvPr/>
        </p:nvSpPr>
        <p:spPr>
          <a:xfrm>
            <a:off x="414400" y="1553036"/>
            <a:ext cx="10286960" cy="430887"/>
          </a:xfrm>
          <a:prstGeom prst="rect">
            <a:avLst/>
          </a:prstGeom>
        </p:spPr>
        <p:txBody>
          <a:bodyPr wrap="square" lIns="0" tIns="0" rIns="0" bIns="0" anchor="t">
            <a:spAutoFit/>
          </a:bodyPr>
          <a:lstStyle>
            <a:lvl1pPr marL="0" indent="0" algn="l" defTabSz="914400" rtl="0" eaLnBrk="1" latinLnBrk="0" hangingPunct="1">
              <a:lnSpc>
                <a:spcPct val="80000"/>
              </a:lnSpc>
              <a:spcBef>
                <a:spcPts val="0"/>
              </a:spcBef>
              <a:buFont typeface="Arial" panose="020B0604020202020204" pitchFamily="34" charset="0"/>
              <a:buNone/>
              <a:defRPr sz="1600" b="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gn="just">
              <a:lnSpc>
                <a:spcPct val="100000"/>
              </a:lnSpc>
            </a:pPr>
            <a:r>
              <a:rPr lang="en-US" sz="1400" dirty="0"/>
              <a:t>In order to enable the IGA program to meet its expected goals joiner / mover / leavers must be reviewed to place master sources as entry point for the IGA and complete their respective scope to ensure on-time access provisioning and removal.</a:t>
            </a:r>
          </a:p>
        </p:txBody>
      </p:sp>
      <p:grpSp>
        <p:nvGrpSpPr>
          <p:cNvPr id="10" name="Alternatives2" descr="{&quot;Key&quot;:&quot;POWER_USER_SHAPE_ICON&quot;,&quot;Value&quot;:&quot;POWER_USER_SHAPE_ICON_STYLE_1&quot;}">
            <a:extLst>
              <a:ext uri="{FF2B5EF4-FFF2-40B4-BE49-F238E27FC236}">
                <a16:creationId xmlns:a16="http://schemas.microsoft.com/office/drawing/2014/main" id="{DB9EF3C4-6DCA-4035-F90F-21D8D1AD4309}"/>
              </a:ext>
            </a:extLst>
          </p:cNvPr>
          <p:cNvGrpSpPr>
            <a:grpSpLocks noChangeAspect="1"/>
          </p:cNvGrpSpPr>
          <p:nvPr>
            <p:custDataLst>
              <p:tags r:id="rId1"/>
            </p:custDataLst>
          </p:nvPr>
        </p:nvGrpSpPr>
        <p:grpSpPr>
          <a:xfrm>
            <a:off x="1245309" y="2235946"/>
            <a:ext cx="543807" cy="416749"/>
            <a:chOff x="3806826" y="4710113"/>
            <a:chExt cx="1019175" cy="781050"/>
          </a:xfrm>
          <a:solidFill>
            <a:srgbClr val="C75744"/>
          </a:solidFill>
        </p:grpSpPr>
        <p:sp>
          <p:nvSpPr>
            <p:cNvPr id="11" name="Freeform 217">
              <a:extLst>
                <a:ext uri="{FF2B5EF4-FFF2-40B4-BE49-F238E27FC236}">
                  <a16:creationId xmlns:a16="http://schemas.microsoft.com/office/drawing/2014/main" id="{E09F8571-0A7F-10FB-5D7E-83E214F4ACA5}"/>
                </a:ext>
              </a:extLst>
            </p:cNvPr>
            <p:cNvSpPr>
              <a:spLocks/>
            </p:cNvSpPr>
            <p:nvPr/>
          </p:nvSpPr>
          <p:spPr bwMode="auto">
            <a:xfrm>
              <a:off x="4389438" y="5035550"/>
              <a:ext cx="436563" cy="379413"/>
            </a:xfrm>
            <a:custGeom>
              <a:avLst/>
              <a:gdLst>
                <a:gd name="T0" fmla="*/ 487 w 573"/>
                <a:gd name="T1" fmla="*/ 399 h 498"/>
                <a:gd name="T2" fmla="*/ 193 w 573"/>
                <a:gd name="T3" fmla="*/ 297 h 498"/>
                <a:gd name="T4" fmla="*/ 297 w 573"/>
                <a:gd name="T5" fmla="*/ 104 h 498"/>
                <a:gd name="T6" fmla="*/ 371 w 573"/>
                <a:gd name="T7" fmla="*/ 120 h 498"/>
                <a:gd name="T8" fmla="*/ 277 w 573"/>
                <a:gd name="T9" fmla="*/ 0 h 498"/>
                <a:gd name="T10" fmla="*/ 159 w 573"/>
                <a:gd name="T11" fmla="*/ 77 h 498"/>
                <a:gd name="T12" fmla="*/ 225 w 573"/>
                <a:gd name="T13" fmla="*/ 91 h 498"/>
                <a:gd name="T14" fmla="*/ 0 w 573"/>
                <a:gd name="T15" fmla="*/ 311 h 498"/>
                <a:gd name="T16" fmla="*/ 25 w 573"/>
                <a:gd name="T17" fmla="*/ 386 h 498"/>
                <a:gd name="T18" fmla="*/ 440 w 573"/>
                <a:gd name="T19" fmla="*/ 452 h 498"/>
                <a:gd name="T20" fmla="*/ 405 w 573"/>
                <a:gd name="T21" fmla="*/ 490 h 498"/>
                <a:gd name="T22" fmla="*/ 573 w 573"/>
                <a:gd name="T23" fmla="*/ 498 h 498"/>
                <a:gd name="T24" fmla="*/ 522 w 573"/>
                <a:gd name="T25" fmla="*/ 360 h 498"/>
                <a:gd name="T26" fmla="*/ 487 w 573"/>
                <a:gd name="T27" fmla="*/ 39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3" h="498">
                  <a:moveTo>
                    <a:pt x="487" y="399"/>
                  </a:moveTo>
                  <a:cubicBezTo>
                    <a:pt x="401" y="346"/>
                    <a:pt x="292" y="309"/>
                    <a:pt x="193" y="297"/>
                  </a:cubicBezTo>
                  <a:cubicBezTo>
                    <a:pt x="256" y="247"/>
                    <a:pt x="287" y="180"/>
                    <a:pt x="297" y="104"/>
                  </a:cubicBezTo>
                  <a:lnTo>
                    <a:pt x="371" y="120"/>
                  </a:lnTo>
                  <a:lnTo>
                    <a:pt x="277" y="0"/>
                  </a:lnTo>
                  <a:lnTo>
                    <a:pt x="159" y="77"/>
                  </a:lnTo>
                  <a:lnTo>
                    <a:pt x="225" y="91"/>
                  </a:lnTo>
                  <a:cubicBezTo>
                    <a:pt x="210" y="199"/>
                    <a:pt x="127" y="280"/>
                    <a:pt x="0" y="311"/>
                  </a:cubicBezTo>
                  <a:lnTo>
                    <a:pt x="25" y="386"/>
                  </a:lnTo>
                  <a:cubicBezTo>
                    <a:pt x="163" y="353"/>
                    <a:pt x="316" y="377"/>
                    <a:pt x="440" y="452"/>
                  </a:cubicBezTo>
                  <a:lnTo>
                    <a:pt x="405" y="490"/>
                  </a:lnTo>
                  <a:lnTo>
                    <a:pt x="573" y="498"/>
                  </a:lnTo>
                  <a:lnTo>
                    <a:pt x="522" y="360"/>
                  </a:lnTo>
                  <a:lnTo>
                    <a:pt x="487" y="399"/>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218">
              <a:extLst>
                <a:ext uri="{FF2B5EF4-FFF2-40B4-BE49-F238E27FC236}">
                  <a16:creationId xmlns:a16="http://schemas.microsoft.com/office/drawing/2014/main" id="{90B9A409-DFB5-2D06-DE7F-205E33ABA468}"/>
                </a:ext>
              </a:extLst>
            </p:cNvPr>
            <p:cNvSpPr>
              <a:spLocks/>
            </p:cNvSpPr>
            <p:nvPr/>
          </p:nvSpPr>
          <p:spPr bwMode="auto">
            <a:xfrm>
              <a:off x="3951288" y="4865688"/>
              <a:ext cx="536575" cy="625475"/>
            </a:xfrm>
            <a:custGeom>
              <a:avLst/>
              <a:gdLst>
                <a:gd name="T0" fmla="*/ 353 w 703"/>
                <a:gd name="T1" fmla="*/ 393 h 820"/>
                <a:gd name="T2" fmla="*/ 411 w 703"/>
                <a:gd name="T3" fmla="*/ 264 h 820"/>
                <a:gd name="T4" fmla="*/ 424 w 703"/>
                <a:gd name="T5" fmla="*/ 310 h 820"/>
                <a:gd name="T6" fmla="*/ 441 w 703"/>
                <a:gd name="T7" fmla="*/ 330 h 820"/>
                <a:gd name="T8" fmla="*/ 649 w 703"/>
                <a:gd name="T9" fmla="*/ 394 h 820"/>
                <a:gd name="T10" fmla="*/ 692 w 703"/>
                <a:gd name="T11" fmla="*/ 366 h 820"/>
                <a:gd name="T12" fmla="*/ 683 w 703"/>
                <a:gd name="T13" fmla="*/ 318 h 820"/>
                <a:gd name="T14" fmla="*/ 520 w 703"/>
                <a:gd name="T15" fmla="*/ 236 h 820"/>
                <a:gd name="T16" fmla="*/ 489 w 703"/>
                <a:gd name="T17" fmla="*/ 88 h 820"/>
                <a:gd name="T18" fmla="*/ 364 w 703"/>
                <a:gd name="T19" fmla="*/ 8 h 820"/>
                <a:gd name="T20" fmla="*/ 125 w 703"/>
                <a:gd name="T21" fmla="*/ 49 h 820"/>
                <a:gd name="T22" fmla="*/ 90 w 703"/>
                <a:gd name="T23" fmla="*/ 82 h 820"/>
                <a:gd name="T24" fmla="*/ 12 w 703"/>
                <a:gd name="T25" fmla="*/ 234 h 820"/>
                <a:gd name="T26" fmla="*/ 36 w 703"/>
                <a:gd name="T27" fmla="*/ 285 h 820"/>
                <a:gd name="T28" fmla="*/ 85 w 703"/>
                <a:gd name="T29" fmla="*/ 277 h 820"/>
                <a:gd name="T30" fmla="*/ 172 w 703"/>
                <a:gd name="T31" fmla="*/ 143 h 820"/>
                <a:gd name="T32" fmla="*/ 272 w 703"/>
                <a:gd name="T33" fmla="*/ 148 h 820"/>
                <a:gd name="T34" fmla="*/ 197 w 703"/>
                <a:gd name="T35" fmla="*/ 327 h 820"/>
                <a:gd name="T36" fmla="*/ 200 w 703"/>
                <a:gd name="T37" fmla="*/ 445 h 820"/>
                <a:gd name="T38" fmla="*/ 358 w 703"/>
                <a:gd name="T39" fmla="*/ 590 h 820"/>
                <a:gd name="T40" fmla="*/ 346 w 703"/>
                <a:gd name="T41" fmla="*/ 762 h 820"/>
                <a:gd name="T42" fmla="*/ 391 w 703"/>
                <a:gd name="T43" fmla="*/ 816 h 820"/>
                <a:gd name="T44" fmla="*/ 448 w 703"/>
                <a:gd name="T45" fmla="*/ 763 h 820"/>
                <a:gd name="T46" fmla="*/ 480 w 703"/>
                <a:gd name="T47" fmla="*/ 538 h 820"/>
                <a:gd name="T48" fmla="*/ 468 w 703"/>
                <a:gd name="T49" fmla="*/ 505 h 820"/>
                <a:gd name="T50" fmla="*/ 353 w 703"/>
                <a:gd name="T51" fmla="*/ 393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3" h="820">
                  <a:moveTo>
                    <a:pt x="353" y="393"/>
                  </a:moveTo>
                  <a:lnTo>
                    <a:pt x="411" y="264"/>
                  </a:lnTo>
                  <a:lnTo>
                    <a:pt x="424" y="310"/>
                  </a:lnTo>
                  <a:cubicBezTo>
                    <a:pt x="427" y="317"/>
                    <a:pt x="432" y="327"/>
                    <a:pt x="441" y="330"/>
                  </a:cubicBezTo>
                  <a:cubicBezTo>
                    <a:pt x="497" y="350"/>
                    <a:pt x="649" y="394"/>
                    <a:pt x="649" y="394"/>
                  </a:cubicBezTo>
                  <a:cubicBezTo>
                    <a:pt x="663" y="397"/>
                    <a:pt x="683" y="388"/>
                    <a:pt x="692" y="366"/>
                  </a:cubicBezTo>
                  <a:cubicBezTo>
                    <a:pt x="703" y="338"/>
                    <a:pt x="683" y="318"/>
                    <a:pt x="683" y="318"/>
                  </a:cubicBezTo>
                  <a:lnTo>
                    <a:pt x="520" y="236"/>
                  </a:lnTo>
                  <a:cubicBezTo>
                    <a:pt x="520" y="236"/>
                    <a:pt x="500" y="130"/>
                    <a:pt x="489" y="88"/>
                  </a:cubicBezTo>
                  <a:cubicBezTo>
                    <a:pt x="473" y="28"/>
                    <a:pt x="401" y="0"/>
                    <a:pt x="364" y="8"/>
                  </a:cubicBezTo>
                  <a:lnTo>
                    <a:pt x="125" y="49"/>
                  </a:lnTo>
                  <a:cubicBezTo>
                    <a:pt x="107" y="53"/>
                    <a:pt x="98" y="67"/>
                    <a:pt x="90" y="82"/>
                  </a:cubicBezTo>
                  <a:lnTo>
                    <a:pt x="12" y="234"/>
                  </a:lnTo>
                  <a:cubicBezTo>
                    <a:pt x="12" y="234"/>
                    <a:pt x="0" y="266"/>
                    <a:pt x="36" y="285"/>
                  </a:cubicBezTo>
                  <a:cubicBezTo>
                    <a:pt x="54" y="295"/>
                    <a:pt x="76" y="292"/>
                    <a:pt x="85" y="277"/>
                  </a:cubicBezTo>
                  <a:lnTo>
                    <a:pt x="172" y="143"/>
                  </a:lnTo>
                  <a:lnTo>
                    <a:pt x="272" y="148"/>
                  </a:lnTo>
                  <a:lnTo>
                    <a:pt x="197" y="327"/>
                  </a:lnTo>
                  <a:cubicBezTo>
                    <a:pt x="188" y="355"/>
                    <a:pt x="169" y="409"/>
                    <a:pt x="200" y="445"/>
                  </a:cubicBezTo>
                  <a:lnTo>
                    <a:pt x="358" y="590"/>
                  </a:lnTo>
                  <a:lnTo>
                    <a:pt x="346" y="762"/>
                  </a:lnTo>
                  <a:cubicBezTo>
                    <a:pt x="342" y="803"/>
                    <a:pt x="367" y="814"/>
                    <a:pt x="391" y="816"/>
                  </a:cubicBezTo>
                  <a:cubicBezTo>
                    <a:pt x="427" y="820"/>
                    <a:pt x="443" y="805"/>
                    <a:pt x="448" y="763"/>
                  </a:cubicBezTo>
                  <a:lnTo>
                    <a:pt x="480" y="538"/>
                  </a:lnTo>
                  <a:cubicBezTo>
                    <a:pt x="482" y="527"/>
                    <a:pt x="477" y="512"/>
                    <a:pt x="468" y="505"/>
                  </a:cubicBezTo>
                  <a:lnTo>
                    <a:pt x="353" y="393"/>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219">
              <a:extLst>
                <a:ext uri="{FF2B5EF4-FFF2-40B4-BE49-F238E27FC236}">
                  <a16:creationId xmlns:a16="http://schemas.microsoft.com/office/drawing/2014/main" id="{523AC498-D2EF-96B9-2459-E159FAFFEE47}"/>
                </a:ext>
              </a:extLst>
            </p:cNvPr>
            <p:cNvSpPr>
              <a:spLocks/>
            </p:cNvSpPr>
            <p:nvPr/>
          </p:nvSpPr>
          <p:spPr bwMode="auto">
            <a:xfrm>
              <a:off x="3910013" y="5238750"/>
              <a:ext cx="265113" cy="169863"/>
            </a:xfrm>
            <a:custGeom>
              <a:avLst/>
              <a:gdLst>
                <a:gd name="T0" fmla="*/ 220 w 348"/>
                <a:gd name="T1" fmla="*/ 70 h 222"/>
                <a:gd name="T2" fmla="*/ 32 w 348"/>
                <a:gd name="T3" fmla="*/ 130 h 222"/>
                <a:gd name="T4" fmla="*/ 10 w 348"/>
                <a:gd name="T5" fmla="*/ 183 h 222"/>
                <a:gd name="T6" fmla="*/ 53 w 348"/>
                <a:gd name="T7" fmla="*/ 221 h 222"/>
                <a:gd name="T8" fmla="*/ 307 w 348"/>
                <a:gd name="T9" fmla="*/ 165 h 222"/>
                <a:gd name="T10" fmla="*/ 333 w 348"/>
                <a:gd name="T11" fmla="*/ 142 h 222"/>
                <a:gd name="T12" fmla="*/ 348 w 348"/>
                <a:gd name="T13" fmla="*/ 104 h 222"/>
                <a:gd name="T14" fmla="*/ 235 w 348"/>
                <a:gd name="T15" fmla="*/ 0 h 222"/>
                <a:gd name="T16" fmla="*/ 220 w 348"/>
                <a:gd name="T17" fmla="*/ 7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8" h="222">
                  <a:moveTo>
                    <a:pt x="220" y="70"/>
                  </a:moveTo>
                  <a:lnTo>
                    <a:pt x="32" y="130"/>
                  </a:lnTo>
                  <a:cubicBezTo>
                    <a:pt x="32" y="130"/>
                    <a:pt x="0" y="143"/>
                    <a:pt x="10" y="183"/>
                  </a:cubicBezTo>
                  <a:cubicBezTo>
                    <a:pt x="19" y="219"/>
                    <a:pt x="45" y="222"/>
                    <a:pt x="53" y="221"/>
                  </a:cubicBezTo>
                  <a:lnTo>
                    <a:pt x="307" y="165"/>
                  </a:lnTo>
                  <a:cubicBezTo>
                    <a:pt x="318" y="163"/>
                    <a:pt x="330" y="153"/>
                    <a:pt x="333" y="142"/>
                  </a:cubicBezTo>
                  <a:lnTo>
                    <a:pt x="348" y="104"/>
                  </a:lnTo>
                  <a:lnTo>
                    <a:pt x="235" y="0"/>
                  </a:lnTo>
                  <a:lnTo>
                    <a:pt x="220" y="7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220">
              <a:extLst>
                <a:ext uri="{FF2B5EF4-FFF2-40B4-BE49-F238E27FC236}">
                  <a16:creationId xmlns:a16="http://schemas.microsoft.com/office/drawing/2014/main" id="{02D34C2E-DA95-D1C5-AD27-30764A0B3EB6}"/>
                </a:ext>
              </a:extLst>
            </p:cNvPr>
            <p:cNvSpPr>
              <a:spLocks/>
            </p:cNvSpPr>
            <p:nvPr/>
          </p:nvSpPr>
          <p:spPr bwMode="auto">
            <a:xfrm>
              <a:off x="3806826" y="5060950"/>
              <a:ext cx="266700" cy="227013"/>
            </a:xfrm>
            <a:custGeom>
              <a:avLst/>
              <a:gdLst>
                <a:gd name="T0" fmla="*/ 282 w 350"/>
                <a:gd name="T1" fmla="*/ 291 h 299"/>
                <a:gd name="T2" fmla="*/ 348 w 350"/>
                <a:gd name="T3" fmla="*/ 112 h 299"/>
                <a:gd name="T4" fmla="*/ 341 w 350"/>
                <a:gd name="T5" fmla="*/ 98 h 299"/>
                <a:gd name="T6" fmla="*/ 82 w 350"/>
                <a:gd name="T7" fmla="*/ 2 h 299"/>
                <a:gd name="T8" fmla="*/ 68 w 350"/>
                <a:gd name="T9" fmla="*/ 8 h 299"/>
                <a:gd name="T10" fmla="*/ 2 w 350"/>
                <a:gd name="T11" fmla="*/ 187 h 299"/>
                <a:gd name="T12" fmla="*/ 9 w 350"/>
                <a:gd name="T13" fmla="*/ 201 h 299"/>
                <a:gd name="T14" fmla="*/ 268 w 350"/>
                <a:gd name="T15" fmla="*/ 297 h 299"/>
                <a:gd name="T16" fmla="*/ 282 w 350"/>
                <a:gd name="T17" fmla="*/ 29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299">
                  <a:moveTo>
                    <a:pt x="282" y="291"/>
                  </a:moveTo>
                  <a:lnTo>
                    <a:pt x="348" y="112"/>
                  </a:lnTo>
                  <a:cubicBezTo>
                    <a:pt x="350" y="106"/>
                    <a:pt x="347" y="100"/>
                    <a:pt x="341" y="98"/>
                  </a:cubicBezTo>
                  <a:lnTo>
                    <a:pt x="82" y="2"/>
                  </a:lnTo>
                  <a:cubicBezTo>
                    <a:pt x="76" y="0"/>
                    <a:pt x="70" y="3"/>
                    <a:pt x="68" y="8"/>
                  </a:cubicBezTo>
                  <a:lnTo>
                    <a:pt x="2" y="187"/>
                  </a:lnTo>
                  <a:cubicBezTo>
                    <a:pt x="0" y="193"/>
                    <a:pt x="3" y="199"/>
                    <a:pt x="9" y="201"/>
                  </a:cubicBezTo>
                  <a:lnTo>
                    <a:pt x="268" y="297"/>
                  </a:lnTo>
                  <a:cubicBezTo>
                    <a:pt x="274" y="299"/>
                    <a:pt x="280" y="297"/>
                    <a:pt x="282" y="29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val 221">
              <a:extLst>
                <a:ext uri="{FF2B5EF4-FFF2-40B4-BE49-F238E27FC236}">
                  <a16:creationId xmlns:a16="http://schemas.microsoft.com/office/drawing/2014/main" id="{64544519-FDB3-B9E6-C1BB-F994CE9A788D}"/>
                </a:ext>
              </a:extLst>
            </p:cNvPr>
            <p:cNvSpPr>
              <a:spLocks noChangeArrowheads="1"/>
            </p:cNvSpPr>
            <p:nvPr/>
          </p:nvSpPr>
          <p:spPr bwMode="auto">
            <a:xfrm>
              <a:off x="4252913" y="4710113"/>
              <a:ext cx="171450" cy="169863"/>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Rectangle : coins arrondis 15">
            <a:extLst>
              <a:ext uri="{FF2B5EF4-FFF2-40B4-BE49-F238E27FC236}">
                <a16:creationId xmlns:a16="http://schemas.microsoft.com/office/drawing/2014/main" id="{2925636D-A781-BB49-C479-BAE2CBE05E39}"/>
              </a:ext>
            </a:extLst>
          </p:cNvPr>
          <p:cNvSpPr/>
          <p:nvPr/>
        </p:nvSpPr>
        <p:spPr>
          <a:xfrm>
            <a:off x="306690" y="3237346"/>
            <a:ext cx="2421044" cy="906878"/>
          </a:xfrm>
          <a:prstGeom prst="roundRect">
            <a:avLst/>
          </a:prstGeom>
          <a:solidFill>
            <a:schemeClr val="bg1"/>
          </a:solidFill>
          <a:ln>
            <a:solidFill>
              <a:srgbClr val="C7574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300" b="1"/>
          </a:p>
          <a:p>
            <a:pPr algn="ctr"/>
            <a:endParaRPr lang="en-US" sz="1300" b="1"/>
          </a:p>
          <a:p>
            <a:pPr algn="ctr"/>
            <a:r>
              <a:rPr lang="en-US" sz="1400" b="1">
                <a:solidFill>
                  <a:srgbClr val="C75744"/>
                </a:solidFill>
              </a:rPr>
              <a:t>Mover process</a:t>
            </a:r>
          </a:p>
        </p:txBody>
      </p:sp>
      <p:sp>
        <p:nvSpPr>
          <p:cNvPr id="17" name="Rectangle : coins arrondis 16">
            <a:extLst>
              <a:ext uri="{FF2B5EF4-FFF2-40B4-BE49-F238E27FC236}">
                <a16:creationId xmlns:a16="http://schemas.microsoft.com/office/drawing/2014/main" id="{D84621EE-E0FD-AAB9-89EC-44517CD3D287}"/>
              </a:ext>
            </a:extLst>
          </p:cNvPr>
          <p:cNvSpPr/>
          <p:nvPr/>
        </p:nvSpPr>
        <p:spPr>
          <a:xfrm>
            <a:off x="3128428" y="3220762"/>
            <a:ext cx="7236661" cy="906878"/>
          </a:xfrm>
          <a:prstGeom prst="roundRect">
            <a:avLst>
              <a:gd name="adj" fmla="val 7496"/>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r>
              <a:rPr lang="en-US" sz="1200">
                <a:solidFill>
                  <a:schemeClr val="tx1"/>
                </a:solidFill>
              </a:rPr>
              <a:t>Process evolution in order to limit accesses accumulation by </a:t>
            </a:r>
            <a:r>
              <a:rPr lang="en-US" sz="1200" b="1">
                <a:solidFill>
                  <a:schemeClr val="tx1"/>
                </a:solidFill>
              </a:rPr>
              <a:t>removing access linked to previous job and/or scope. </a:t>
            </a:r>
          </a:p>
        </p:txBody>
      </p:sp>
      <p:sp>
        <p:nvSpPr>
          <p:cNvPr id="18" name="Rectangle : coins arrondis 17">
            <a:extLst>
              <a:ext uri="{FF2B5EF4-FFF2-40B4-BE49-F238E27FC236}">
                <a16:creationId xmlns:a16="http://schemas.microsoft.com/office/drawing/2014/main" id="{0680FD8A-3E2B-518D-F862-5BF77FFE38E2}"/>
              </a:ext>
            </a:extLst>
          </p:cNvPr>
          <p:cNvSpPr/>
          <p:nvPr/>
        </p:nvSpPr>
        <p:spPr>
          <a:xfrm>
            <a:off x="306690" y="4269725"/>
            <a:ext cx="2421044" cy="906878"/>
          </a:xfrm>
          <a:prstGeom prst="roundRect">
            <a:avLst/>
          </a:prstGeom>
          <a:solidFill>
            <a:schemeClr val="bg1"/>
          </a:solidFill>
          <a:ln>
            <a:solidFill>
              <a:srgbClr val="C7574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300" b="1">
              <a:solidFill>
                <a:srgbClr val="C75744"/>
              </a:solidFill>
            </a:endParaRPr>
          </a:p>
          <a:p>
            <a:pPr algn="ctr"/>
            <a:endParaRPr lang="en-US" sz="1300" b="1">
              <a:solidFill>
                <a:srgbClr val="C75744"/>
              </a:solidFill>
            </a:endParaRPr>
          </a:p>
          <a:p>
            <a:pPr algn="ctr"/>
            <a:r>
              <a:rPr lang="en-US" sz="1400" b="1">
                <a:solidFill>
                  <a:srgbClr val="C75744"/>
                </a:solidFill>
              </a:rPr>
              <a:t>Leaver process</a:t>
            </a:r>
          </a:p>
        </p:txBody>
      </p:sp>
      <p:sp>
        <p:nvSpPr>
          <p:cNvPr id="19" name="Rectangle : coins arrondis 18">
            <a:extLst>
              <a:ext uri="{FF2B5EF4-FFF2-40B4-BE49-F238E27FC236}">
                <a16:creationId xmlns:a16="http://schemas.microsoft.com/office/drawing/2014/main" id="{C9ECD3AC-0C97-F426-F96D-43FD425AF08B}"/>
              </a:ext>
            </a:extLst>
          </p:cNvPr>
          <p:cNvSpPr/>
          <p:nvPr/>
        </p:nvSpPr>
        <p:spPr>
          <a:xfrm>
            <a:off x="3128428" y="4269725"/>
            <a:ext cx="7236661" cy="906878"/>
          </a:xfrm>
          <a:prstGeom prst="roundRect">
            <a:avLst>
              <a:gd name="adj" fmla="val 7496"/>
            </a:avLst>
          </a:prstGeom>
          <a:solidFill>
            <a:schemeClr val="bg1"/>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r>
              <a:rPr lang="en-US" sz="1200">
                <a:solidFill>
                  <a:schemeClr val="tx1"/>
                </a:solidFill>
              </a:rPr>
              <a:t>Process evolution to remove all </a:t>
            </a:r>
            <a:r>
              <a:rPr lang="en-US" sz="1200" b="1">
                <a:solidFill>
                  <a:schemeClr val="tx1"/>
                </a:solidFill>
              </a:rPr>
              <a:t>accesses and devices at time of user’s departure</a:t>
            </a:r>
          </a:p>
        </p:txBody>
      </p:sp>
      <p:sp>
        <p:nvSpPr>
          <p:cNvPr id="22" name="Travel" descr="{&quot;Key&quot;:&quot;POWER_USER_SHAPE_ICON&quot;,&quot;Value&quot;:&quot;POWER_USER_SHAPE_ICON_STYLE_1&quot;}">
            <a:extLst>
              <a:ext uri="{FF2B5EF4-FFF2-40B4-BE49-F238E27FC236}">
                <a16:creationId xmlns:a16="http://schemas.microsoft.com/office/drawing/2014/main" id="{CE4BD370-7BBF-FB46-FA58-9ED9DD878E7C}"/>
              </a:ext>
            </a:extLst>
          </p:cNvPr>
          <p:cNvSpPr>
            <a:spLocks noChangeAspect="1" noEditPoints="1"/>
          </p:cNvSpPr>
          <p:nvPr>
            <p:custDataLst>
              <p:tags r:id="rId2"/>
            </p:custDataLst>
          </p:nvPr>
        </p:nvSpPr>
        <p:spPr bwMode="auto">
          <a:xfrm flipH="1">
            <a:off x="1282005" y="4333612"/>
            <a:ext cx="470415" cy="447805"/>
          </a:xfrm>
          <a:custGeom>
            <a:avLst/>
            <a:gdLst>
              <a:gd name="T0" fmla="*/ 9624 w 12035"/>
              <a:gd name="T1" fmla="*/ 4132 h 11455"/>
              <a:gd name="T2" fmla="*/ 8136 w 12035"/>
              <a:gd name="T3" fmla="*/ 2169 h 11455"/>
              <a:gd name="T4" fmla="*/ 7395 w 12035"/>
              <a:gd name="T5" fmla="*/ 2554 h 11455"/>
              <a:gd name="T6" fmla="*/ 4802 w 12035"/>
              <a:gd name="T7" fmla="*/ 6515 h 11455"/>
              <a:gd name="T8" fmla="*/ 3666 w 12035"/>
              <a:gd name="T9" fmla="*/ 7974 h 11455"/>
              <a:gd name="T10" fmla="*/ 1460 w 12035"/>
              <a:gd name="T11" fmla="*/ 7272 h 11455"/>
              <a:gd name="T12" fmla="*/ 319 w 12035"/>
              <a:gd name="T13" fmla="*/ 10237 h 11455"/>
              <a:gd name="T14" fmla="*/ 1056 w 12035"/>
              <a:gd name="T15" fmla="*/ 10647 h 11455"/>
              <a:gd name="T16" fmla="*/ 2198 w 12035"/>
              <a:gd name="T17" fmla="*/ 11175 h 11455"/>
              <a:gd name="T18" fmla="*/ 3699 w 12035"/>
              <a:gd name="T19" fmla="*/ 8909 h 11455"/>
              <a:gd name="T20" fmla="*/ 5147 w 12035"/>
              <a:gd name="T21" fmla="*/ 6645 h 11455"/>
              <a:gd name="T22" fmla="*/ 6756 w 12035"/>
              <a:gd name="T23" fmla="*/ 4989 h 11455"/>
              <a:gd name="T24" fmla="*/ 6463 w 12035"/>
              <a:gd name="T25" fmla="*/ 8075 h 11455"/>
              <a:gd name="T26" fmla="*/ 5229 w 12035"/>
              <a:gd name="T27" fmla="*/ 10574 h 11455"/>
              <a:gd name="T28" fmla="*/ 5736 w 12035"/>
              <a:gd name="T29" fmla="*/ 11444 h 11455"/>
              <a:gd name="T30" fmla="*/ 7475 w 12035"/>
              <a:gd name="T31" fmla="*/ 8970 h 11455"/>
              <a:gd name="T32" fmla="*/ 7638 w 12035"/>
              <a:gd name="T33" fmla="*/ 8095 h 11455"/>
              <a:gd name="T34" fmla="*/ 9425 w 12035"/>
              <a:gd name="T35" fmla="*/ 11428 h 11455"/>
              <a:gd name="T36" fmla="*/ 9962 w 12035"/>
              <a:gd name="T37" fmla="*/ 10620 h 11455"/>
              <a:gd name="T38" fmla="*/ 9225 w 12035"/>
              <a:gd name="T39" fmla="*/ 8075 h 11455"/>
              <a:gd name="T40" fmla="*/ 8711 w 12035"/>
              <a:gd name="T41" fmla="*/ 4650 h 11455"/>
              <a:gd name="T42" fmla="*/ 9187 w 12035"/>
              <a:gd name="T43" fmla="*/ 5115 h 11455"/>
              <a:gd name="T44" fmla="*/ 11465 w 12035"/>
              <a:gd name="T45" fmla="*/ 5553 h 11455"/>
              <a:gd name="T46" fmla="*/ 11565 w 12035"/>
              <a:gd name="T47" fmla="*/ 4513 h 11455"/>
              <a:gd name="T48" fmla="*/ 9704 w 12035"/>
              <a:gd name="T49" fmla="*/ 1011 h 11455"/>
              <a:gd name="T50" fmla="*/ 7683 w 12035"/>
              <a:gd name="T51" fmla="*/ 1011 h 11455"/>
              <a:gd name="T52" fmla="*/ 6171 w 12035"/>
              <a:gd name="T53" fmla="*/ 1867 h 11455"/>
              <a:gd name="T54" fmla="*/ 7087 w 12035"/>
              <a:gd name="T55" fmla="*/ 855 h 11455"/>
              <a:gd name="T56" fmla="*/ 7519 w 12035"/>
              <a:gd name="T57" fmla="*/ 707 h 11455"/>
              <a:gd name="T58" fmla="*/ 7617 w 12035"/>
              <a:gd name="T59" fmla="*/ 444 h 11455"/>
              <a:gd name="T60" fmla="*/ 6798 w 12035"/>
              <a:gd name="T61" fmla="*/ 379 h 11455"/>
              <a:gd name="T62" fmla="*/ 6147 w 12035"/>
              <a:gd name="T63" fmla="*/ 1662 h 11455"/>
              <a:gd name="T64" fmla="*/ 6171 w 12035"/>
              <a:gd name="T65" fmla="*/ 1867 h 11455"/>
              <a:gd name="T66" fmla="*/ 1231 w 12035"/>
              <a:gd name="T67" fmla="*/ 10749 h 11455"/>
              <a:gd name="T68" fmla="*/ 1388 w 12035"/>
              <a:gd name="T69" fmla="*/ 11336 h 11455"/>
              <a:gd name="T70" fmla="*/ 1979 w 12035"/>
              <a:gd name="T71" fmla="*/ 11172 h 1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035" h="11455">
                <a:moveTo>
                  <a:pt x="11565" y="4513"/>
                </a:moveTo>
                <a:lnTo>
                  <a:pt x="9624" y="4132"/>
                </a:lnTo>
                <a:lnTo>
                  <a:pt x="8979" y="3010"/>
                </a:lnTo>
                <a:cubicBezTo>
                  <a:pt x="8766" y="2590"/>
                  <a:pt x="8542" y="2169"/>
                  <a:pt x="8136" y="2169"/>
                </a:cubicBezTo>
                <a:lnTo>
                  <a:pt x="8083" y="2168"/>
                </a:lnTo>
                <a:cubicBezTo>
                  <a:pt x="7819" y="2168"/>
                  <a:pt x="7571" y="2273"/>
                  <a:pt x="7395" y="2554"/>
                </a:cubicBezTo>
                <a:lnTo>
                  <a:pt x="4741" y="5785"/>
                </a:lnTo>
                <a:cubicBezTo>
                  <a:pt x="4559" y="6005"/>
                  <a:pt x="4589" y="6328"/>
                  <a:pt x="4802" y="6515"/>
                </a:cubicBezTo>
                <a:cubicBezTo>
                  <a:pt x="4376" y="7235"/>
                  <a:pt x="3840" y="8143"/>
                  <a:pt x="3840" y="8143"/>
                </a:cubicBezTo>
                <a:cubicBezTo>
                  <a:pt x="3798" y="8075"/>
                  <a:pt x="3740" y="8017"/>
                  <a:pt x="3666" y="7974"/>
                </a:cubicBezTo>
                <a:lnTo>
                  <a:pt x="2138" y="7090"/>
                </a:lnTo>
                <a:cubicBezTo>
                  <a:pt x="1901" y="6953"/>
                  <a:pt x="1597" y="7034"/>
                  <a:pt x="1460" y="7272"/>
                </a:cubicBezTo>
                <a:lnTo>
                  <a:pt x="138" y="9558"/>
                </a:lnTo>
                <a:cubicBezTo>
                  <a:pt x="0" y="9795"/>
                  <a:pt x="81" y="10099"/>
                  <a:pt x="319" y="10237"/>
                </a:cubicBezTo>
                <a:lnTo>
                  <a:pt x="1050" y="10659"/>
                </a:lnTo>
                <a:cubicBezTo>
                  <a:pt x="1052" y="10655"/>
                  <a:pt x="1053" y="10651"/>
                  <a:pt x="1056" y="10647"/>
                </a:cubicBezTo>
                <a:cubicBezTo>
                  <a:pt x="1230" y="10345"/>
                  <a:pt x="1618" y="10242"/>
                  <a:pt x="1919" y="10417"/>
                </a:cubicBezTo>
                <a:cubicBezTo>
                  <a:pt x="2187" y="10571"/>
                  <a:pt x="2298" y="10894"/>
                  <a:pt x="2198" y="11175"/>
                </a:cubicBezTo>
                <a:cubicBezTo>
                  <a:pt x="2331" y="11147"/>
                  <a:pt x="2452" y="11065"/>
                  <a:pt x="2525" y="10938"/>
                </a:cubicBezTo>
                <a:cubicBezTo>
                  <a:pt x="2525" y="10938"/>
                  <a:pt x="3699" y="8909"/>
                  <a:pt x="3699" y="8909"/>
                </a:cubicBezTo>
                <a:cubicBezTo>
                  <a:pt x="3699" y="8909"/>
                  <a:pt x="4478" y="7591"/>
                  <a:pt x="5044" y="6634"/>
                </a:cubicBezTo>
                <a:cubicBezTo>
                  <a:pt x="5078" y="6640"/>
                  <a:pt x="5112" y="6645"/>
                  <a:pt x="5147" y="6645"/>
                </a:cubicBezTo>
                <a:cubicBezTo>
                  <a:pt x="5299" y="6645"/>
                  <a:pt x="5450" y="6579"/>
                  <a:pt x="5554" y="6453"/>
                </a:cubicBezTo>
                <a:lnTo>
                  <a:pt x="6756" y="4989"/>
                </a:lnTo>
                <a:lnTo>
                  <a:pt x="6040" y="8075"/>
                </a:lnTo>
                <a:lnTo>
                  <a:pt x="6463" y="8075"/>
                </a:lnTo>
                <a:lnTo>
                  <a:pt x="6405" y="8493"/>
                </a:lnTo>
                <a:lnTo>
                  <a:pt x="5229" y="10574"/>
                </a:lnTo>
                <a:cubicBezTo>
                  <a:pt x="5070" y="10854"/>
                  <a:pt x="5169" y="11210"/>
                  <a:pt x="5449" y="11368"/>
                </a:cubicBezTo>
                <a:cubicBezTo>
                  <a:pt x="5540" y="11419"/>
                  <a:pt x="5638" y="11444"/>
                  <a:pt x="5736" y="11444"/>
                </a:cubicBezTo>
                <a:cubicBezTo>
                  <a:pt x="5939" y="11444"/>
                  <a:pt x="6136" y="11337"/>
                  <a:pt x="6243" y="11148"/>
                </a:cubicBezTo>
                <a:lnTo>
                  <a:pt x="7475" y="8970"/>
                </a:lnTo>
                <a:cubicBezTo>
                  <a:pt x="7511" y="8906"/>
                  <a:pt x="7535" y="8836"/>
                  <a:pt x="7545" y="8763"/>
                </a:cubicBezTo>
                <a:lnTo>
                  <a:pt x="7638" y="8095"/>
                </a:lnTo>
                <a:lnTo>
                  <a:pt x="8887" y="11071"/>
                </a:lnTo>
                <a:cubicBezTo>
                  <a:pt x="8980" y="11294"/>
                  <a:pt x="9197" y="11428"/>
                  <a:pt x="9425" y="11428"/>
                </a:cubicBezTo>
                <a:cubicBezTo>
                  <a:pt x="9500" y="11428"/>
                  <a:pt x="9576" y="11414"/>
                  <a:pt x="9650" y="11383"/>
                </a:cubicBezTo>
                <a:cubicBezTo>
                  <a:pt x="9947" y="11258"/>
                  <a:pt x="10086" y="10916"/>
                  <a:pt x="9962" y="10620"/>
                </a:cubicBezTo>
                <a:lnTo>
                  <a:pt x="8894" y="8075"/>
                </a:lnTo>
                <a:lnTo>
                  <a:pt x="9225" y="8075"/>
                </a:lnTo>
                <a:lnTo>
                  <a:pt x="8435" y="5674"/>
                </a:lnTo>
                <a:lnTo>
                  <a:pt x="8711" y="4650"/>
                </a:lnTo>
                <a:lnTo>
                  <a:pt x="8833" y="4862"/>
                </a:lnTo>
                <a:cubicBezTo>
                  <a:pt x="8908" y="4994"/>
                  <a:pt x="9037" y="5086"/>
                  <a:pt x="9187" y="5115"/>
                </a:cubicBezTo>
                <a:lnTo>
                  <a:pt x="11363" y="5543"/>
                </a:lnTo>
                <a:cubicBezTo>
                  <a:pt x="11397" y="5550"/>
                  <a:pt x="11431" y="5553"/>
                  <a:pt x="11465" y="5553"/>
                </a:cubicBezTo>
                <a:cubicBezTo>
                  <a:pt x="11710" y="5553"/>
                  <a:pt x="11930" y="5379"/>
                  <a:pt x="11979" y="5129"/>
                </a:cubicBezTo>
                <a:cubicBezTo>
                  <a:pt x="12035" y="4845"/>
                  <a:pt x="11849" y="4569"/>
                  <a:pt x="11565" y="4513"/>
                </a:cubicBezTo>
                <a:close/>
                <a:moveTo>
                  <a:pt x="8694" y="2021"/>
                </a:moveTo>
                <a:cubicBezTo>
                  <a:pt x="9252" y="2021"/>
                  <a:pt x="9704" y="1569"/>
                  <a:pt x="9704" y="1011"/>
                </a:cubicBezTo>
                <a:cubicBezTo>
                  <a:pt x="9704" y="453"/>
                  <a:pt x="9252" y="0"/>
                  <a:pt x="8694" y="0"/>
                </a:cubicBezTo>
                <a:cubicBezTo>
                  <a:pt x="8136" y="0"/>
                  <a:pt x="7683" y="453"/>
                  <a:pt x="7683" y="1011"/>
                </a:cubicBezTo>
                <a:cubicBezTo>
                  <a:pt x="7683" y="1569"/>
                  <a:pt x="8136" y="2021"/>
                  <a:pt x="8694" y="2021"/>
                </a:cubicBezTo>
                <a:close/>
                <a:moveTo>
                  <a:pt x="6171" y="1867"/>
                </a:moveTo>
                <a:cubicBezTo>
                  <a:pt x="6352" y="1810"/>
                  <a:pt x="6535" y="1647"/>
                  <a:pt x="6652" y="1501"/>
                </a:cubicBezTo>
                <a:cubicBezTo>
                  <a:pt x="6814" y="1300"/>
                  <a:pt x="6898" y="1034"/>
                  <a:pt x="7087" y="855"/>
                </a:cubicBezTo>
                <a:cubicBezTo>
                  <a:pt x="7217" y="731"/>
                  <a:pt x="7366" y="687"/>
                  <a:pt x="7518" y="709"/>
                </a:cubicBezTo>
                <a:cubicBezTo>
                  <a:pt x="7519" y="708"/>
                  <a:pt x="7519" y="708"/>
                  <a:pt x="7519" y="707"/>
                </a:cubicBezTo>
                <a:cubicBezTo>
                  <a:pt x="7539" y="616"/>
                  <a:pt x="7571" y="529"/>
                  <a:pt x="7616" y="447"/>
                </a:cubicBezTo>
                <a:cubicBezTo>
                  <a:pt x="7616" y="446"/>
                  <a:pt x="7616" y="445"/>
                  <a:pt x="7617" y="444"/>
                </a:cubicBezTo>
                <a:cubicBezTo>
                  <a:pt x="7526" y="392"/>
                  <a:pt x="7421" y="343"/>
                  <a:pt x="7343" y="323"/>
                </a:cubicBezTo>
                <a:cubicBezTo>
                  <a:pt x="7166" y="278"/>
                  <a:pt x="6955" y="278"/>
                  <a:pt x="6798" y="379"/>
                </a:cubicBezTo>
                <a:cubicBezTo>
                  <a:pt x="6456" y="601"/>
                  <a:pt x="6426" y="1075"/>
                  <a:pt x="6282" y="1420"/>
                </a:cubicBezTo>
                <a:cubicBezTo>
                  <a:pt x="6247" y="1505"/>
                  <a:pt x="6203" y="1588"/>
                  <a:pt x="6147" y="1662"/>
                </a:cubicBezTo>
                <a:cubicBezTo>
                  <a:pt x="6117" y="1702"/>
                  <a:pt x="5994" y="1779"/>
                  <a:pt x="5982" y="1815"/>
                </a:cubicBezTo>
                <a:cubicBezTo>
                  <a:pt x="5949" y="1911"/>
                  <a:pt x="6107" y="1888"/>
                  <a:pt x="6171" y="1867"/>
                </a:cubicBezTo>
                <a:close/>
                <a:moveTo>
                  <a:pt x="1818" y="10591"/>
                </a:moveTo>
                <a:cubicBezTo>
                  <a:pt x="1613" y="10473"/>
                  <a:pt x="1350" y="10543"/>
                  <a:pt x="1231" y="10749"/>
                </a:cubicBezTo>
                <a:cubicBezTo>
                  <a:pt x="1228" y="10752"/>
                  <a:pt x="1227" y="10756"/>
                  <a:pt x="1225" y="10760"/>
                </a:cubicBezTo>
                <a:cubicBezTo>
                  <a:pt x="1115" y="10964"/>
                  <a:pt x="1186" y="11219"/>
                  <a:pt x="1388" y="11336"/>
                </a:cubicBezTo>
                <a:cubicBezTo>
                  <a:pt x="1593" y="11455"/>
                  <a:pt x="1856" y="11385"/>
                  <a:pt x="1975" y="11179"/>
                </a:cubicBezTo>
                <a:cubicBezTo>
                  <a:pt x="1976" y="11177"/>
                  <a:pt x="1977" y="11174"/>
                  <a:pt x="1979" y="11172"/>
                </a:cubicBezTo>
                <a:cubicBezTo>
                  <a:pt x="2092" y="10968"/>
                  <a:pt x="2022" y="10709"/>
                  <a:pt x="1818" y="10591"/>
                </a:cubicBezTo>
                <a:close/>
              </a:path>
            </a:pathLst>
          </a:custGeom>
          <a:solidFill>
            <a:srgbClr val="C7574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C75744"/>
              </a:solidFill>
              <a:effectLst/>
              <a:uLnTx/>
              <a:uFillTx/>
              <a:latin typeface="Calibri" panose="020F0502020204030204"/>
              <a:ea typeface="+mn-ea"/>
              <a:cs typeface="+mn-cs"/>
            </a:endParaRPr>
          </a:p>
        </p:txBody>
      </p:sp>
      <p:grpSp>
        <p:nvGrpSpPr>
          <p:cNvPr id="23" name="Escalator" descr="{&quot;Key&quot;:&quot;POWER_USER_SHAPE_ICON&quot;,&quot;Value&quot;:&quot;POWER_USER_SHAPE_ICON_STYLE_1&quot;}">
            <a:extLst>
              <a:ext uri="{FF2B5EF4-FFF2-40B4-BE49-F238E27FC236}">
                <a16:creationId xmlns:a16="http://schemas.microsoft.com/office/drawing/2014/main" id="{25F966F5-250B-BC45-5D72-FA2E0921CF3B}"/>
              </a:ext>
            </a:extLst>
          </p:cNvPr>
          <p:cNvGrpSpPr>
            <a:grpSpLocks noChangeAspect="1"/>
          </p:cNvGrpSpPr>
          <p:nvPr/>
        </p:nvGrpSpPr>
        <p:grpSpPr bwMode="auto">
          <a:xfrm>
            <a:off x="1362361" y="3247206"/>
            <a:ext cx="309703" cy="482811"/>
            <a:chOff x="827" y="-450"/>
            <a:chExt cx="950" cy="1481"/>
          </a:xfrm>
          <a:solidFill>
            <a:srgbClr val="C75744"/>
          </a:solidFill>
        </p:grpSpPr>
        <p:sp>
          <p:nvSpPr>
            <p:cNvPr id="24" name="Freeform 10">
              <a:extLst>
                <a:ext uri="{FF2B5EF4-FFF2-40B4-BE49-F238E27FC236}">
                  <a16:creationId xmlns:a16="http://schemas.microsoft.com/office/drawing/2014/main" id="{D3C0C2D6-9790-1580-3E43-B43DA9144B34}"/>
                </a:ext>
              </a:extLst>
            </p:cNvPr>
            <p:cNvSpPr>
              <a:spLocks noEditPoints="1"/>
            </p:cNvSpPr>
            <p:nvPr/>
          </p:nvSpPr>
          <p:spPr bwMode="auto">
            <a:xfrm>
              <a:off x="1047" y="649"/>
              <a:ext cx="512" cy="251"/>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Freeform 933">
              <a:extLst>
                <a:ext uri="{FF2B5EF4-FFF2-40B4-BE49-F238E27FC236}">
                  <a16:creationId xmlns:a16="http://schemas.microsoft.com/office/drawing/2014/main" id="{CE8B6F4D-0614-8170-3E33-9326159EE79E}"/>
                </a:ext>
              </a:extLst>
            </p:cNvPr>
            <p:cNvSpPr>
              <a:spLocks noEditPoints="1"/>
            </p:cNvSpPr>
            <p:nvPr/>
          </p:nvSpPr>
          <p:spPr bwMode="auto">
            <a:xfrm>
              <a:off x="827" y="-450"/>
              <a:ext cx="950" cy="1481"/>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934">
              <a:extLst>
                <a:ext uri="{FF2B5EF4-FFF2-40B4-BE49-F238E27FC236}">
                  <a16:creationId xmlns:a16="http://schemas.microsoft.com/office/drawing/2014/main" id="{8480E876-1249-DE7E-815C-88F72B97750C}"/>
                </a:ext>
              </a:extLst>
            </p:cNvPr>
            <p:cNvSpPr>
              <a:spLocks noEditPoints="1"/>
            </p:cNvSpPr>
            <p:nvPr/>
          </p:nvSpPr>
          <p:spPr bwMode="auto">
            <a:xfrm>
              <a:off x="1012" y="350"/>
              <a:ext cx="582" cy="305"/>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8" name="Ellipse 27">
            <a:extLst>
              <a:ext uri="{FF2B5EF4-FFF2-40B4-BE49-F238E27FC236}">
                <a16:creationId xmlns:a16="http://schemas.microsoft.com/office/drawing/2014/main" id="{C18A8B0A-C735-80C1-EA16-466D16F884D7}"/>
              </a:ext>
            </a:extLst>
          </p:cNvPr>
          <p:cNvSpPr/>
          <p:nvPr/>
        </p:nvSpPr>
        <p:spPr>
          <a:xfrm>
            <a:off x="2534461" y="5842099"/>
            <a:ext cx="216000" cy="216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space réservé du texte 2">
            <a:extLst>
              <a:ext uri="{FF2B5EF4-FFF2-40B4-BE49-F238E27FC236}">
                <a16:creationId xmlns:a16="http://schemas.microsoft.com/office/drawing/2014/main" id="{2C46B7F5-7F16-5AEF-A03D-A2152C81ED3A}"/>
              </a:ext>
            </a:extLst>
          </p:cNvPr>
          <p:cNvSpPr txBox="1">
            <a:spLocks/>
          </p:cNvSpPr>
          <p:nvPr/>
        </p:nvSpPr>
        <p:spPr>
          <a:xfrm>
            <a:off x="3078831" y="5842099"/>
            <a:ext cx="1017919" cy="215444"/>
          </a:xfrm>
          <a:prstGeom prst="rect">
            <a:avLst/>
          </a:prstGeom>
        </p:spPr>
        <p:txBody>
          <a:bodyPr wrap="square" lIns="0" tIns="0" rIns="0" bIns="0" anchor="t">
            <a:spAutoFit/>
          </a:bodyPr>
          <a:lstStyle>
            <a:lvl1pPr marL="0" indent="0" algn="l" defTabSz="914400" rtl="0" eaLnBrk="1" latinLnBrk="0" hangingPunct="1">
              <a:lnSpc>
                <a:spcPct val="80000"/>
              </a:lnSpc>
              <a:spcBef>
                <a:spcPts val="0"/>
              </a:spcBef>
              <a:buFont typeface="Arial" panose="020B0604020202020204" pitchFamily="34" charset="0"/>
              <a:buNone/>
              <a:defRPr sz="1600" b="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gn="just">
              <a:lnSpc>
                <a:spcPct val="100000"/>
              </a:lnSpc>
              <a:spcBef>
                <a:spcPts val="0"/>
              </a:spcBef>
            </a:pPr>
            <a:r>
              <a:rPr lang="en-US" sz="1400"/>
              <a:t>Staff</a:t>
            </a:r>
            <a:endParaRPr lang="fr-FR"/>
          </a:p>
        </p:txBody>
      </p:sp>
      <p:sp>
        <p:nvSpPr>
          <p:cNvPr id="30" name="Ellipse 29">
            <a:extLst>
              <a:ext uri="{FF2B5EF4-FFF2-40B4-BE49-F238E27FC236}">
                <a16:creationId xmlns:a16="http://schemas.microsoft.com/office/drawing/2014/main" id="{474266E0-4A66-B4AF-96D1-2EF396721FC8}"/>
              </a:ext>
            </a:extLst>
          </p:cNvPr>
          <p:cNvSpPr/>
          <p:nvPr/>
        </p:nvSpPr>
        <p:spPr>
          <a:xfrm>
            <a:off x="4367243" y="5842099"/>
            <a:ext cx="216000" cy="216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Espace réservé du texte 2">
            <a:extLst>
              <a:ext uri="{FF2B5EF4-FFF2-40B4-BE49-F238E27FC236}">
                <a16:creationId xmlns:a16="http://schemas.microsoft.com/office/drawing/2014/main" id="{D10856C9-A346-2C46-D1E1-3B87B5430572}"/>
              </a:ext>
            </a:extLst>
          </p:cNvPr>
          <p:cNvSpPr txBox="1">
            <a:spLocks/>
          </p:cNvSpPr>
          <p:nvPr/>
        </p:nvSpPr>
        <p:spPr>
          <a:xfrm>
            <a:off x="4911613" y="5842099"/>
            <a:ext cx="1288411" cy="215444"/>
          </a:xfrm>
          <a:prstGeom prst="rect">
            <a:avLst/>
          </a:prstGeom>
        </p:spPr>
        <p:txBody>
          <a:bodyPr wrap="square" lIns="0" tIns="0" rIns="0" bIns="0" anchor="t">
            <a:spAutoFit/>
          </a:bodyPr>
          <a:lstStyle>
            <a:lvl1pPr marL="0" indent="0" algn="l" defTabSz="914400" rtl="0" eaLnBrk="1" latinLnBrk="0" hangingPunct="1">
              <a:lnSpc>
                <a:spcPct val="80000"/>
              </a:lnSpc>
              <a:spcBef>
                <a:spcPts val="0"/>
              </a:spcBef>
              <a:buFont typeface="Arial" panose="020B0604020202020204" pitchFamily="34" charset="0"/>
              <a:buNone/>
              <a:defRPr sz="1600" b="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gn="just">
              <a:lnSpc>
                <a:spcPct val="100000"/>
              </a:lnSpc>
              <a:spcBef>
                <a:spcPts val="0"/>
              </a:spcBef>
            </a:pPr>
            <a:r>
              <a:rPr lang="en-US" sz="1400"/>
              <a:t>Workers</a:t>
            </a:r>
            <a:endParaRPr lang="fr-FR"/>
          </a:p>
        </p:txBody>
      </p:sp>
      <p:sp>
        <p:nvSpPr>
          <p:cNvPr id="32" name="Ellipse 31">
            <a:extLst>
              <a:ext uri="{FF2B5EF4-FFF2-40B4-BE49-F238E27FC236}">
                <a16:creationId xmlns:a16="http://schemas.microsoft.com/office/drawing/2014/main" id="{6F94FA56-7C25-5F87-ED42-B7438947F5AF}"/>
              </a:ext>
            </a:extLst>
          </p:cNvPr>
          <p:cNvSpPr/>
          <p:nvPr/>
        </p:nvSpPr>
        <p:spPr>
          <a:xfrm>
            <a:off x="6470516" y="5842099"/>
            <a:ext cx="216000" cy="216000"/>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space réservé du texte 2">
            <a:extLst>
              <a:ext uri="{FF2B5EF4-FFF2-40B4-BE49-F238E27FC236}">
                <a16:creationId xmlns:a16="http://schemas.microsoft.com/office/drawing/2014/main" id="{4B47218B-EEEF-AA37-6307-5B3BB46A62F5}"/>
              </a:ext>
            </a:extLst>
          </p:cNvPr>
          <p:cNvSpPr txBox="1">
            <a:spLocks/>
          </p:cNvSpPr>
          <p:nvPr/>
        </p:nvSpPr>
        <p:spPr>
          <a:xfrm>
            <a:off x="7014887" y="5842099"/>
            <a:ext cx="2711004" cy="215444"/>
          </a:xfrm>
          <a:prstGeom prst="rect">
            <a:avLst/>
          </a:prstGeom>
        </p:spPr>
        <p:txBody>
          <a:bodyPr wrap="square" lIns="0" tIns="0" rIns="0" bIns="0" anchor="t">
            <a:spAutoFit/>
          </a:bodyPr>
          <a:lstStyle>
            <a:lvl1pPr marL="0" indent="0" algn="l" defTabSz="914400" rtl="0" eaLnBrk="1" latinLnBrk="0" hangingPunct="1">
              <a:lnSpc>
                <a:spcPct val="80000"/>
              </a:lnSpc>
              <a:spcBef>
                <a:spcPts val="0"/>
              </a:spcBef>
              <a:buFont typeface="Arial" panose="020B0604020202020204" pitchFamily="34" charset="0"/>
              <a:buNone/>
              <a:defRPr sz="1600" b="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gn="just">
              <a:lnSpc>
                <a:spcPct val="100000"/>
              </a:lnSpc>
              <a:spcBef>
                <a:spcPts val="0"/>
              </a:spcBef>
            </a:pPr>
            <a:r>
              <a:rPr lang="fr-FR" sz="1400"/>
              <a:t>On-site </a:t>
            </a:r>
            <a:r>
              <a:rPr lang="fr-FR" sz="1400" err="1"/>
              <a:t>externals</a:t>
            </a:r>
            <a:r>
              <a:rPr lang="fr-FR" sz="1400"/>
              <a:t> &amp; Co-</a:t>
            </a:r>
            <a:r>
              <a:rPr lang="fr-FR" sz="1400" err="1"/>
              <a:t>contractors</a:t>
            </a:r>
            <a:endParaRPr lang="fr-FR" sz="1400"/>
          </a:p>
        </p:txBody>
      </p:sp>
      <p:sp>
        <p:nvSpPr>
          <p:cNvPr id="34" name="Ellipse 33">
            <a:extLst>
              <a:ext uri="{FF2B5EF4-FFF2-40B4-BE49-F238E27FC236}">
                <a16:creationId xmlns:a16="http://schemas.microsoft.com/office/drawing/2014/main" id="{4372FFBE-A2B0-461E-A2CF-B8F12DE90589}"/>
              </a:ext>
            </a:extLst>
          </p:cNvPr>
          <p:cNvSpPr/>
          <p:nvPr/>
        </p:nvSpPr>
        <p:spPr>
          <a:xfrm>
            <a:off x="10450280" y="2265003"/>
            <a:ext cx="180000" cy="18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a:extLst>
              <a:ext uri="{FF2B5EF4-FFF2-40B4-BE49-F238E27FC236}">
                <a16:creationId xmlns:a16="http://schemas.microsoft.com/office/drawing/2014/main" id="{F0F460BD-64F0-526F-327C-B0D80C079ADD}"/>
              </a:ext>
            </a:extLst>
          </p:cNvPr>
          <p:cNvSpPr/>
          <p:nvPr/>
        </p:nvSpPr>
        <p:spPr>
          <a:xfrm>
            <a:off x="10450280" y="2551827"/>
            <a:ext cx="180000" cy="180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Triangle isocèle 36">
            <a:extLst>
              <a:ext uri="{FF2B5EF4-FFF2-40B4-BE49-F238E27FC236}">
                <a16:creationId xmlns:a16="http://schemas.microsoft.com/office/drawing/2014/main" id="{587BF69D-E46C-616D-9238-93961F9B469F}"/>
              </a:ext>
            </a:extLst>
          </p:cNvPr>
          <p:cNvSpPr/>
          <p:nvPr/>
        </p:nvSpPr>
        <p:spPr>
          <a:xfrm rot="5400000">
            <a:off x="2665555" y="2516858"/>
            <a:ext cx="318307" cy="178728"/>
          </a:xfrm>
          <a:prstGeom prst="triangle">
            <a:avLst/>
          </a:prstGeom>
          <a:solidFill>
            <a:srgbClr val="C757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llipse 37">
            <a:extLst>
              <a:ext uri="{FF2B5EF4-FFF2-40B4-BE49-F238E27FC236}">
                <a16:creationId xmlns:a16="http://schemas.microsoft.com/office/drawing/2014/main" id="{CC1767F2-800B-15B5-0CF7-2B1611AE07E3}"/>
              </a:ext>
            </a:extLst>
          </p:cNvPr>
          <p:cNvSpPr/>
          <p:nvPr/>
        </p:nvSpPr>
        <p:spPr>
          <a:xfrm>
            <a:off x="10450280" y="3302040"/>
            <a:ext cx="180000" cy="18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Triangle isocèle 38">
            <a:extLst>
              <a:ext uri="{FF2B5EF4-FFF2-40B4-BE49-F238E27FC236}">
                <a16:creationId xmlns:a16="http://schemas.microsoft.com/office/drawing/2014/main" id="{629CC822-EDD2-49BB-16A1-1B1FD4438941}"/>
              </a:ext>
            </a:extLst>
          </p:cNvPr>
          <p:cNvSpPr/>
          <p:nvPr/>
        </p:nvSpPr>
        <p:spPr>
          <a:xfrm rot="5400000">
            <a:off x="2665555" y="3601421"/>
            <a:ext cx="318307" cy="178728"/>
          </a:xfrm>
          <a:prstGeom prst="triangle">
            <a:avLst/>
          </a:prstGeom>
          <a:solidFill>
            <a:srgbClr val="C757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Triangle isocèle 39">
            <a:extLst>
              <a:ext uri="{FF2B5EF4-FFF2-40B4-BE49-F238E27FC236}">
                <a16:creationId xmlns:a16="http://schemas.microsoft.com/office/drawing/2014/main" id="{7DC420E7-99CF-9E7F-E0E6-C0F8E795B6F3}"/>
              </a:ext>
            </a:extLst>
          </p:cNvPr>
          <p:cNvSpPr/>
          <p:nvPr/>
        </p:nvSpPr>
        <p:spPr>
          <a:xfrm rot="5400000">
            <a:off x="2657944" y="4642092"/>
            <a:ext cx="318307" cy="178728"/>
          </a:xfrm>
          <a:prstGeom prst="triangle">
            <a:avLst/>
          </a:prstGeom>
          <a:solidFill>
            <a:srgbClr val="C757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Ellipse 41">
            <a:extLst>
              <a:ext uri="{FF2B5EF4-FFF2-40B4-BE49-F238E27FC236}">
                <a16:creationId xmlns:a16="http://schemas.microsoft.com/office/drawing/2014/main" id="{FF3AF9D2-2ACF-C1D9-2B11-7C1FAB8F04B0}"/>
              </a:ext>
            </a:extLst>
          </p:cNvPr>
          <p:cNvSpPr/>
          <p:nvPr/>
        </p:nvSpPr>
        <p:spPr>
          <a:xfrm>
            <a:off x="10446902" y="4360482"/>
            <a:ext cx="180000" cy="18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llipse 42">
            <a:extLst>
              <a:ext uri="{FF2B5EF4-FFF2-40B4-BE49-F238E27FC236}">
                <a16:creationId xmlns:a16="http://schemas.microsoft.com/office/drawing/2014/main" id="{4E4B4241-2211-7E04-0CD3-B85D7F4D5349}"/>
              </a:ext>
            </a:extLst>
          </p:cNvPr>
          <p:cNvSpPr/>
          <p:nvPr/>
        </p:nvSpPr>
        <p:spPr>
          <a:xfrm>
            <a:off x="10446902" y="4647306"/>
            <a:ext cx="180000" cy="180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Ellipse 43">
            <a:extLst>
              <a:ext uri="{FF2B5EF4-FFF2-40B4-BE49-F238E27FC236}">
                <a16:creationId xmlns:a16="http://schemas.microsoft.com/office/drawing/2014/main" id="{7DCD8182-3EDA-C42F-1B9F-EEF7DCA5CA10}"/>
              </a:ext>
            </a:extLst>
          </p:cNvPr>
          <p:cNvSpPr/>
          <p:nvPr/>
        </p:nvSpPr>
        <p:spPr>
          <a:xfrm>
            <a:off x="10446902" y="4914394"/>
            <a:ext cx="180000" cy="180000"/>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llipse 49">
            <a:extLst>
              <a:ext uri="{FF2B5EF4-FFF2-40B4-BE49-F238E27FC236}">
                <a16:creationId xmlns:a16="http://schemas.microsoft.com/office/drawing/2014/main" id="{FE366661-BBAE-D092-A07F-246D4CD333A3}"/>
              </a:ext>
            </a:extLst>
          </p:cNvPr>
          <p:cNvSpPr/>
          <p:nvPr/>
        </p:nvSpPr>
        <p:spPr>
          <a:xfrm>
            <a:off x="10450280" y="3615196"/>
            <a:ext cx="180000" cy="180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5E7E9DC6-84E2-0040-1304-069ADADE8E1B}"/>
              </a:ext>
            </a:extLst>
          </p:cNvPr>
          <p:cNvSpPr/>
          <p:nvPr/>
        </p:nvSpPr>
        <p:spPr>
          <a:xfrm>
            <a:off x="10450280" y="3882284"/>
            <a:ext cx="180000" cy="180000"/>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47644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71A48F-6374-85FE-E91A-90E2F1A25BE5}"/>
              </a:ext>
            </a:extLst>
          </p:cNvPr>
          <p:cNvSpPr>
            <a:spLocks noGrp="1"/>
          </p:cNvSpPr>
          <p:nvPr>
            <p:ph type="title"/>
          </p:nvPr>
        </p:nvSpPr>
        <p:spPr>
          <a:xfrm>
            <a:off x="982664" y="692696"/>
            <a:ext cx="7268452" cy="609398"/>
          </a:xfrm>
        </p:spPr>
        <p:txBody>
          <a:bodyPr/>
          <a:lstStyle/>
          <a:p>
            <a:r>
              <a:rPr lang="en-US" sz="2800"/>
              <a:t>FoUR scenarios identified to implement IGA in BYCN</a:t>
            </a:r>
          </a:p>
        </p:txBody>
      </p:sp>
      <p:sp>
        <p:nvSpPr>
          <p:cNvPr id="4" name="Espace réservé du pied de page 3">
            <a:extLst>
              <a:ext uri="{FF2B5EF4-FFF2-40B4-BE49-F238E27FC236}">
                <a16:creationId xmlns:a16="http://schemas.microsoft.com/office/drawing/2014/main" id="{F4056EEA-FDEB-D89D-BF9A-76F3EEC33497}"/>
              </a:ext>
            </a:extLst>
          </p:cNvPr>
          <p:cNvSpPr>
            <a:spLocks noGrp="1"/>
          </p:cNvSpPr>
          <p:nvPr>
            <p:ph type="ftr" sz="quarter" idx="13"/>
          </p:nvPr>
        </p:nvSpPr>
        <p:spPr/>
        <p:txBody>
          <a:bodyPr/>
          <a:lstStyle/>
          <a:p>
            <a:r>
              <a:rPr lang="en-US"/>
              <a:t>Bouygues Construction  |  Mois Année</a:t>
            </a:r>
          </a:p>
        </p:txBody>
      </p:sp>
      <p:sp>
        <p:nvSpPr>
          <p:cNvPr id="5" name="Espace réservé du numéro de diapositive 4">
            <a:extLst>
              <a:ext uri="{FF2B5EF4-FFF2-40B4-BE49-F238E27FC236}">
                <a16:creationId xmlns:a16="http://schemas.microsoft.com/office/drawing/2014/main" id="{A098BAD2-5438-2F4C-C9C5-EF3F000092DA}"/>
              </a:ext>
            </a:extLst>
          </p:cNvPr>
          <p:cNvSpPr>
            <a:spLocks noGrp="1"/>
          </p:cNvSpPr>
          <p:nvPr>
            <p:ph type="sldNum" sz="quarter" idx="14"/>
          </p:nvPr>
        </p:nvSpPr>
        <p:spPr>
          <a:xfrm>
            <a:off x="11805565" y="6594433"/>
            <a:ext cx="171522" cy="123111"/>
          </a:xfrm>
        </p:spPr>
        <p:txBody>
          <a:bodyPr/>
          <a:lstStyle/>
          <a:p>
            <a:r>
              <a:rPr lang="en-US"/>
              <a:t>| </a:t>
            </a:r>
            <a:fld id="{C2EBF694-A8F9-4F06-8F8E-D09447FAA2D5}" type="slidenum">
              <a:rPr lang="en-US" smtClean="0"/>
              <a:pPr/>
              <a:t>15</a:t>
            </a:fld>
            <a:endParaRPr lang="en-US"/>
          </a:p>
        </p:txBody>
      </p:sp>
      <p:sp>
        <p:nvSpPr>
          <p:cNvPr id="6" name="Forme libre : forme 5">
            <a:extLst>
              <a:ext uri="{FF2B5EF4-FFF2-40B4-BE49-F238E27FC236}">
                <a16:creationId xmlns:a16="http://schemas.microsoft.com/office/drawing/2014/main" id="{717A5030-B41F-D57A-00FC-DFAE78A25A40}"/>
              </a:ext>
            </a:extLst>
          </p:cNvPr>
          <p:cNvSpPr/>
          <p:nvPr/>
        </p:nvSpPr>
        <p:spPr>
          <a:xfrm>
            <a:off x="9296035" y="0"/>
            <a:ext cx="2895966" cy="6858000"/>
          </a:xfrm>
          <a:custGeom>
            <a:avLst/>
            <a:gdLst>
              <a:gd name="connsiteX0" fmla="*/ 228253 w 2532592"/>
              <a:gd name="connsiteY0" fmla="*/ 0 h 6858000"/>
              <a:gd name="connsiteX1" fmla="*/ 2532592 w 2532592"/>
              <a:gd name="connsiteY1" fmla="*/ 0 h 6858000"/>
              <a:gd name="connsiteX2" fmla="*/ 2532592 w 2532592"/>
              <a:gd name="connsiteY2" fmla="*/ 6858000 h 6858000"/>
              <a:gd name="connsiteX3" fmla="*/ 0 w 2532592"/>
              <a:gd name="connsiteY3" fmla="*/ 6858000 h 6858000"/>
              <a:gd name="connsiteX4" fmla="*/ 14591 w 2532592"/>
              <a:gd name="connsiteY4" fmla="*/ 6367282 h 6858000"/>
              <a:gd name="connsiteX5" fmla="*/ 121837 w 2532592"/>
              <a:gd name="connsiteY5" fmla="*/ 30953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2592" h="6858000">
                <a:moveTo>
                  <a:pt x="228253" y="0"/>
                </a:moveTo>
                <a:lnTo>
                  <a:pt x="2532592" y="0"/>
                </a:lnTo>
                <a:lnTo>
                  <a:pt x="2532592" y="6858000"/>
                </a:lnTo>
                <a:lnTo>
                  <a:pt x="0" y="6858000"/>
                </a:lnTo>
                <a:lnTo>
                  <a:pt x="14591" y="6367282"/>
                </a:lnTo>
                <a:cubicBezTo>
                  <a:pt x="48450" y="5282510"/>
                  <a:pt x="84654" y="4190457"/>
                  <a:pt x="121837" y="3095371"/>
                </a:cubicBezTo>
                <a:close/>
              </a:path>
            </a:pathLst>
          </a:cu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2" name="Rectangle : coins arrondis 31">
            <a:extLst>
              <a:ext uri="{FF2B5EF4-FFF2-40B4-BE49-F238E27FC236}">
                <a16:creationId xmlns:a16="http://schemas.microsoft.com/office/drawing/2014/main" id="{C98DBA97-9B0E-61EE-8520-38BE25011D3F}"/>
              </a:ext>
            </a:extLst>
          </p:cNvPr>
          <p:cNvSpPr/>
          <p:nvPr/>
        </p:nvSpPr>
        <p:spPr>
          <a:xfrm>
            <a:off x="9710579" y="1411516"/>
            <a:ext cx="2328489" cy="4836905"/>
          </a:xfrm>
          <a:prstGeom prst="roundRect">
            <a:avLst>
              <a:gd name="adj" fmla="val 5249"/>
            </a:avLst>
          </a:prstGeom>
          <a:solidFill>
            <a:schemeClr val="bg1"/>
          </a:solidFill>
          <a:ln>
            <a:solidFill>
              <a:schemeClr val="tx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3" name="Rectangle : coins arrondis 3">
            <a:extLst>
              <a:ext uri="{FF2B5EF4-FFF2-40B4-BE49-F238E27FC236}">
                <a16:creationId xmlns:a16="http://schemas.microsoft.com/office/drawing/2014/main" id="{144CED15-322E-0CA5-3847-7C25D20CD470}"/>
              </a:ext>
            </a:extLst>
          </p:cNvPr>
          <p:cNvSpPr/>
          <p:nvPr/>
        </p:nvSpPr>
        <p:spPr>
          <a:xfrm>
            <a:off x="9923340" y="1615354"/>
            <a:ext cx="1875440" cy="17410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B9FF"/>
                </a:solidFill>
                <a:effectLst/>
                <a:uLnTx/>
                <a:uFillTx/>
                <a:latin typeface="Montserrat" panose="00000500000000000000" pitchFamily="2" charset="0"/>
                <a:ea typeface="+mn-ea"/>
                <a:cs typeface="+mn-cs"/>
              </a:rPr>
              <a:t>Assessment</a:t>
            </a:r>
            <a:r>
              <a:rPr lang="en-US" sz="1300" b="1">
                <a:solidFill>
                  <a:srgbClr val="00B9FF"/>
                </a:solidFill>
                <a:latin typeface="Montserrat" panose="00000500000000000000" pitchFamily="2" charset="0"/>
              </a:rPr>
              <a:t> criteria</a:t>
            </a:r>
            <a:endParaRPr kumimoji="0" lang="en-US" sz="1300" b="1" i="0" u="none" strike="noStrike" kern="1200" cap="none" spc="0" normalizeH="0" baseline="0" noProof="0">
              <a:ln>
                <a:noFill/>
              </a:ln>
              <a:solidFill>
                <a:srgbClr val="00B9FF"/>
              </a:solidFill>
              <a:effectLst/>
              <a:uLnTx/>
              <a:uFillTx/>
              <a:latin typeface="Montserrat" panose="00000500000000000000" pitchFamily="2" charset="0"/>
              <a:ea typeface="+mn-ea"/>
              <a:cs typeface="+mn-cs"/>
            </a:endParaRPr>
          </a:p>
        </p:txBody>
      </p:sp>
      <p:cxnSp>
        <p:nvCxnSpPr>
          <p:cNvPr id="34" name="Connecteur droit 33">
            <a:extLst>
              <a:ext uri="{FF2B5EF4-FFF2-40B4-BE49-F238E27FC236}">
                <a16:creationId xmlns:a16="http://schemas.microsoft.com/office/drawing/2014/main" id="{2D8A031D-89E7-E882-AA34-6665316EBDD0}"/>
              </a:ext>
            </a:extLst>
          </p:cNvPr>
          <p:cNvCxnSpPr>
            <a:cxnSpLocks/>
          </p:cNvCxnSpPr>
          <p:nvPr/>
        </p:nvCxnSpPr>
        <p:spPr>
          <a:xfrm>
            <a:off x="9811505" y="1412581"/>
            <a:ext cx="309402" cy="0"/>
          </a:xfrm>
          <a:prstGeom prst="line">
            <a:avLst/>
          </a:prstGeom>
          <a:ln w="539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TextBox 16">
            <a:extLst>
              <a:ext uri="{FF2B5EF4-FFF2-40B4-BE49-F238E27FC236}">
                <a16:creationId xmlns:a16="http://schemas.microsoft.com/office/drawing/2014/main" id="{17211236-C2F8-1251-0AA3-238A803227CC}"/>
              </a:ext>
            </a:extLst>
          </p:cNvPr>
          <p:cNvSpPr txBox="1"/>
          <p:nvPr/>
        </p:nvSpPr>
        <p:spPr>
          <a:xfrm>
            <a:off x="9863449" y="2009092"/>
            <a:ext cx="2074943" cy="3246466"/>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20000"/>
              </a:lnSpc>
              <a:spcBef>
                <a:spcPts val="0"/>
              </a:spcBef>
              <a:spcAft>
                <a:spcPts val="1600"/>
              </a:spcAft>
              <a:buClr>
                <a:srgbClr val="00B0F0"/>
              </a:buClr>
              <a:buSzTx/>
              <a:buFont typeface="Wingdings" panose="05000000000000000000" pitchFamily="2" charset="2"/>
              <a:buChar char="ü"/>
              <a:tabLst/>
              <a:defRPr/>
            </a:pPr>
            <a:r>
              <a:rPr lang="en-US" sz="1100">
                <a:solidFill>
                  <a:srgbClr val="003C5A"/>
                </a:solidFill>
                <a:latin typeface="Montserrat"/>
              </a:rPr>
              <a:t>Identity Management capabilities</a:t>
            </a:r>
            <a:endParaRPr kumimoji="0" lang="en-US" sz="1100" b="0" i="0" u="none" strike="noStrike" kern="1200" cap="none" spc="0" normalizeH="0" baseline="0" noProof="0">
              <a:ln>
                <a:noFill/>
              </a:ln>
              <a:solidFill>
                <a:srgbClr val="003C5A"/>
              </a:solidFill>
              <a:effectLst/>
              <a:uLnTx/>
              <a:uFillTx/>
              <a:latin typeface="Montserrat"/>
              <a:ea typeface="+mn-ea"/>
              <a:cs typeface="+mn-cs"/>
            </a:endParaRPr>
          </a:p>
          <a:p>
            <a:pPr marL="228600" marR="0" lvl="0" indent="-228600" algn="l" defTabSz="914400" rtl="0" eaLnBrk="1" fontAlgn="auto" latinLnBrk="0" hangingPunct="1">
              <a:lnSpc>
                <a:spcPct val="120000"/>
              </a:lnSpc>
              <a:spcBef>
                <a:spcPts val="0"/>
              </a:spcBef>
              <a:spcAft>
                <a:spcPts val="1600"/>
              </a:spcAft>
              <a:buClr>
                <a:srgbClr val="00B0F0"/>
              </a:buClr>
              <a:buSzTx/>
              <a:buFont typeface="Wingdings" panose="05000000000000000000" pitchFamily="2" charset="2"/>
              <a:buChar char="ü"/>
              <a:tabLst/>
              <a:defRPr/>
            </a:pPr>
            <a:r>
              <a:rPr lang="en-US" sz="1100">
                <a:solidFill>
                  <a:srgbClr val="003C5A"/>
                </a:solidFill>
                <a:latin typeface="Montserrat"/>
              </a:rPr>
              <a:t>Authorization Management capabilities</a:t>
            </a:r>
            <a:endParaRPr kumimoji="0" lang="en-US" sz="1100" b="0" i="0" u="none" strike="noStrike" kern="1200" cap="none" spc="0" normalizeH="0" baseline="0" noProof="0">
              <a:ln>
                <a:noFill/>
              </a:ln>
              <a:solidFill>
                <a:srgbClr val="003C5A"/>
              </a:solidFill>
              <a:effectLst/>
              <a:uLnTx/>
              <a:uFillTx/>
              <a:latin typeface="Montserrat"/>
              <a:ea typeface="+mn-ea"/>
              <a:cs typeface="+mn-cs"/>
            </a:endParaRPr>
          </a:p>
          <a:p>
            <a:pPr marL="228600" marR="0" lvl="0" indent="-228600" algn="l" defTabSz="914400" rtl="0" eaLnBrk="1" fontAlgn="auto" latinLnBrk="0" hangingPunct="1">
              <a:lnSpc>
                <a:spcPct val="120000"/>
              </a:lnSpc>
              <a:spcBef>
                <a:spcPts val="0"/>
              </a:spcBef>
              <a:spcAft>
                <a:spcPts val="1600"/>
              </a:spcAft>
              <a:buClr>
                <a:srgbClr val="00B0F0"/>
              </a:buClr>
              <a:buSzTx/>
              <a:buFont typeface="Wingdings" panose="05000000000000000000" pitchFamily="2" charset="2"/>
              <a:buChar char="ü"/>
              <a:tabLst/>
              <a:defRPr/>
            </a:pPr>
            <a:r>
              <a:rPr lang="en-US" sz="1100">
                <a:solidFill>
                  <a:srgbClr val="003C5A"/>
                </a:solidFill>
                <a:latin typeface="Montserrat"/>
              </a:rPr>
              <a:t>Synchronization &amp; Provisioning</a:t>
            </a:r>
            <a:endParaRPr kumimoji="0" lang="en-US" sz="1100" b="0" i="0" u="none" strike="noStrike" kern="1200" cap="none" spc="0" normalizeH="0" baseline="0" noProof="0">
              <a:ln>
                <a:noFill/>
              </a:ln>
              <a:solidFill>
                <a:srgbClr val="003C5A"/>
              </a:solidFill>
              <a:effectLst/>
              <a:uLnTx/>
              <a:uFillTx/>
              <a:latin typeface="Montserrat"/>
              <a:ea typeface="+mn-ea"/>
              <a:cs typeface="+mn-cs"/>
            </a:endParaRPr>
          </a:p>
          <a:p>
            <a:pPr marL="228600" marR="0" lvl="0" indent="-228600" algn="l" defTabSz="914400" rtl="0" eaLnBrk="1" fontAlgn="auto" latinLnBrk="0" hangingPunct="1">
              <a:lnSpc>
                <a:spcPct val="120000"/>
              </a:lnSpc>
              <a:spcBef>
                <a:spcPts val="0"/>
              </a:spcBef>
              <a:spcAft>
                <a:spcPts val="1600"/>
              </a:spcAft>
              <a:buClr>
                <a:srgbClr val="00B0F0"/>
              </a:buClr>
              <a:buSzTx/>
              <a:buFont typeface="Wingdings" panose="05000000000000000000" pitchFamily="2" charset="2"/>
              <a:buChar char="ü"/>
              <a:tabLst/>
              <a:defRPr/>
            </a:pPr>
            <a:r>
              <a:rPr lang="en-US" sz="1100">
                <a:solidFill>
                  <a:srgbClr val="003C5A"/>
                </a:solidFill>
                <a:latin typeface="Montserrat"/>
              </a:rPr>
              <a:t>Governance</a:t>
            </a:r>
            <a:endParaRPr kumimoji="0" lang="en-US" sz="1100" b="0" i="0" u="none" strike="noStrike" kern="1200" cap="none" spc="0" normalizeH="0" baseline="0" noProof="0">
              <a:ln>
                <a:noFill/>
              </a:ln>
              <a:solidFill>
                <a:srgbClr val="003C5A"/>
              </a:solidFill>
              <a:effectLst/>
              <a:uLnTx/>
              <a:uFillTx/>
              <a:latin typeface="Montserrat"/>
              <a:ea typeface="+mn-ea"/>
              <a:cs typeface="+mn-cs"/>
            </a:endParaRPr>
          </a:p>
          <a:p>
            <a:pPr marL="228600" marR="0" lvl="0" indent="-228600" algn="l" defTabSz="914400" rtl="0" eaLnBrk="1" fontAlgn="auto" latinLnBrk="0" hangingPunct="1">
              <a:lnSpc>
                <a:spcPct val="120000"/>
              </a:lnSpc>
              <a:spcBef>
                <a:spcPts val="0"/>
              </a:spcBef>
              <a:spcAft>
                <a:spcPts val="1600"/>
              </a:spcAft>
              <a:buClr>
                <a:srgbClr val="00B0F0"/>
              </a:buClr>
              <a:buSzTx/>
              <a:buFont typeface="Wingdings" panose="05000000000000000000" pitchFamily="2" charset="2"/>
              <a:buChar char="ü"/>
              <a:tabLst/>
              <a:defRPr/>
            </a:pPr>
            <a:r>
              <a:rPr lang="en-US" sz="1100">
                <a:solidFill>
                  <a:srgbClr val="003C5A"/>
                </a:solidFill>
                <a:latin typeface="Montserrat"/>
              </a:rPr>
              <a:t>Security</a:t>
            </a:r>
            <a:endParaRPr kumimoji="0" lang="en-US" sz="1100" b="0" i="0" u="none" strike="noStrike" kern="1200" cap="none" spc="0" normalizeH="0" baseline="0" noProof="0">
              <a:ln>
                <a:noFill/>
              </a:ln>
              <a:solidFill>
                <a:srgbClr val="003C5A"/>
              </a:solidFill>
              <a:effectLst/>
              <a:uLnTx/>
              <a:uFillTx/>
              <a:latin typeface="Montserrat"/>
              <a:ea typeface="+mn-ea"/>
              <a:cs typeface="+mn-cs"/>
            </a:endParaRPr>
          </a:p>
          <a:p>
            <a:pPr marL="228600" marR="0" lvl="0" indent="-228600" algn="l" defTabSz="914400" rtl="0" eaLnBrk="1" fontAlgn="auto" latinLnBrk="0" hangingPunct="1">
              <a:lnSpc>
                <a:spcPct val="120000"/>
              </a:lnSpc>
              <a:spcBef>
                <a:spcPts val="0"/>
              </a:spcBef>
              <a:spcAft>
                <a:spcPts val="1600"/>
              </a:spcAft>
              <a:buClr>
                <a:srgbClr val="00B0F0"/>
              </a:buClr>
              <a:buSzTx/>
              <a:buFont typeface="Wingdings" panose="05000000000000000000" pitchFamily="2" charset="2"/>
              <a:buChar char="ü"/>
              <a:tabLst/>
              <a:defRPr/>
            </a:pPr>
            <a:r>
              <a:rPr lang="en-US" sz="1100">
                <a:solidFill>
                  <a:srgbClr val="003C5A"/>
                </a:solidFill>
                <a:latin typeface="Montserrat"/>
              </a:rPr>
              <a:t>Cost Build</a:t>
            </a:r>
            <a:endParaRPr kumimoji="0" lang="en-US" sz="1100" b="0" i="0" u="none" strike="noStrike" kern="1200" cap="none" spc="0" normalizeH="0" baseline="0" noProof="0">
              <a:ln>
                <a:noFill/>
              </a:ln>
              <a:solidFill>
                <a:srgbClr val="003C5A"/>
              </a:solidFill>
              <a:effectLst/>
              <a:uLnTx/>
              <a:uFillTx/>
              <a:latin typeface="Montserrat"/>
              <a:ea typeface="+mn-ea"/>
              <a:cs typeface="+mn-cs"/>
            </a:endParaRPr>
          </a:p>
          <a:p>
            <a:pPr marL="228600" marR="0" lvl="0" indent="-228600" algn="l" defTabSz="914400" rtl="0" eaLnBrk="1" fontAlgn="auto" latinLnBrk="0" hangingPunct="1">
              <a:lnSpc>
                <a:spcPct val="120000"/>
              </a:lnSpc>
              <a:spcBef>
                <a:spcPts val="0"/>
              </a:spcBef>
              <a:spcAft>
                <a:spcPts val="1600"/>
              </a:spcAft>
              <a:buClr>
                <a:srgbClr val="00B0F0"/>
              </a:buClr>
              <a:buSzTx/>
              <a:buFont typeface="Wingdings" panose="05000000000000000000" pitchFamily="2" charset="2"/>
              <a:buChar char="ü"/>
              <a:tabLst/>
              <a:defRPr/>
            </a:pPr>
            <a:r>
              <a:rPr lang="en-US" sz="1100">
                <a:solidFill>
                  <a:srgbClr val="003C5A"/>
                </a:solidFill>
                <a:latin typeface="Montserrat"/>
              </a:rPr>
              <a:t>Cost Run</a:t>
            </a:r>
            <a:r>
              <a:rPr kumimoji="0" lang="en-US" sz="1100" b="0" i="0" u="none" strike="noStrike" kern="1200" cap="none" spc="0" normalizeH="0" baseline="0" noProof="0">
                <a:ln>
                  <a:noFill/>
                </a:ln>
                <a:solidFill>
                  <a:srgbClr val="003C5A"/>
                </a:solidFill>
                <a:effectLst/>
                <a:uLnTx/>
                <a:uFillTx/>
                <a:latin typeface="Montserrat"/>
                <a:ea typeface="+mn-ea"/>
                <a:cs typeface="+mn-cs"/>
              </a:rPr>
              <a:t>	</a:t>
            </a:r>
          </a:p>
        </p:txBody>
      </p:sp>
      <p:sp>
        <p:nvSpPr>
          <p:cNvPr id="3" name="Rectangle : coins arrondis 2">
            <a:extLst>
              <a:ext uri="{FF2B5EF4-FFF2-40B4-BE49-F238E27FC236}">
                <a16:creationId xmlns:a16="http://schemas.microsoft.com/office/drawing/2014/main" id="{A5FF531A-AB4C-4F18-1BEB-23A56DC8BF40}"/>
              </a:ext>
            </a:extLst>
          </p:cNvPr>
          <p:cNvSpPr/>
          <p:nvPr/>
        </p:nvSpPr>
        <p:spPr>
          <a:xfrm>
            <a:off x="1241067" y="2144974"/>
            <a:ext cx="3600000" cy="361910"/>
          </a:xfrm>
          <a:prstGeom prst="roundRect">
            <a:avLst>
              <a:gd name="adj" fmla="val 50000"/>
            </a:avLst>
          </a:prstGeom>
          <a:solidFill>
            <a:schemeClr val="accent2"/>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a:solidFill>
                  <a:schemeClr val="bg1"/>
                </a:solidFill>
                <a:latin typeface="Montserrat" panose="00000500000000000000" pitchFamily="2" charset="0"/>
              </a:rPr>
              <a:t>#1.A	 DEDICATED IGA</a:t>
            </a:r>
            <a:r>
              <a:rPr kumimoji="0" lang="en-US" sz="1200" b="1" i="0" u="none" strike="noStrike" kern="1200" cap="none" spc="0" normalizeH="0" baseline="0" noProof="0">
                <a:ln>
                  <a:noFill/>
                </a:ln>
                <a:solidFill>
                  <a:schemeClr val="bg1"/>
                </a:solidFill>
                <a:effectLst/>
                <a:uLnTx/>
                <a:uFillTx/>
                <a:latin typeface="Montserrat" panose="00000500000000000000" pitchFamily="2" charset="0"/>
                <a:ea typeface="+mn-ea"/>
                <a:cs typeface="+mn-cs"/>
              </a:rPr>
              <a:t> SOLUTION</a:t>
            </a:r>
            <a:r>
              <a:rPr lang="fr-FR" sz="1200">
                <a:solidFill>
                  <a:schemeClr val="bg1"/>
                </a:solidFill>
                <a:latin typeface="Montserrat" panose="020B0604020202020204" charset="0"/>
              </a:rPr>
              <a:t> </a:t>
            </a:r>
          </a:p>
        </p:txBody>
      </p:sp>
      <p:sp>
        <p:nvSpPr>
          <p:cNvPr id="40" name="Rectangle : coins arrondis 39">
            <a:extLst>
              <a:ext uri="{FF2B5EF4-FFF2-40B4-BE49-F238E27FC236}">
                <a16:creationId xmlns:a16="http://schemas.microsoft.com/office/drawing/2014/main" id="{5E0359DB-7A0A-1702-C812-0AB46B715745}"/>
              </a:ext>
            </a:extLst>
          </p:cNvPr>
          <p:cNvSpPr/>
          <p:nvPr/>
        </p:nvSpPr>
        <p:spPr>
          <a:xfrm>
            <a:off x="1241067" y="4461043"/>
            <a:ext cx="3600000" cy="361910"/>
          </a:xfrm>
          <a:prstGeom prst="roundRect">
            <a:avLst>
              <a:gd name="adj" fmla="val 50000"/>
            </a:avLst>
          </a:prstGeom>
          <a:solidFill>
            <a:schemeClr val="accent2"/>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kern="1300" cap="all" spc="70">
                <a:solidFill>
                  <a:schemeClr val="bg1"/>
                </a:solidFill>
                <a:latin typeface="Montserrat" panose="00000500000000000000" pitchFamily="2" charset="0"/>
              </a:rPr>
              <a:t>#2.A	 CPEOPLE Evolution</a:t>
            </a:r>
          </a:p>
        </p:txBody>
      </p:sp>
      <p:sp>
        <p:nvSpPr>
          <p:cNvPr id="41" name="Rectangle : coins arrondis 40">
            <a:extLst>
              <a:ext uri="{FF2B5EF4-FFF2-40B4-BE49-F238E27FC236}">
                <a16:creationId xmlns:a16="http://schemas.microsoft.com/office/drawing/2014/main" id="{D200689F-397B-8D95-58C0-8D69B89FFA80}"/>
              </a:ext>
            </a:extLst>
          </p:cNvPr>
          <p:cNvSpPr/>
          <p:nvPr/>
        </p:nvSpPr>
        <p:spPr>
          <a:xfrm>
            <a:off x="5383776" y="2144415"/>
            <a:ext cx="3600000" cy="361910"/>
          </a:xfrm>
          <a:prstGeom prst="roundRect">
            <a:avLst>
              <a:gd name="adj" fmla="val 50000"/>
            </a:avLst>
          </a:prstGeom>
          <a:solidFill>
            <a:schemeClr val="accent2"/>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kern="1300" cap="all" spc="70">
                <a:solidFill>
                  <a:schemeClr val="bg1"/>
                </a:solidFill>
                <a:latin typeface="Montserrat" panose="00000500000000000000" pitchFamily="2" charset="0"/>
              </a:rPr>
              <a:t># 1.B	 Specific module</a:t>
            </a:r>
          </a:p>
        </p:txBody>
      </p:sp>
      <p:sp>
        <p:nvSpPr>
          <p:cNvPr id="42" name="Rectangle : coins arrondis 41">
            <a:extLst>
              <a:ext uri="{FF2B5EF4-FFF2-40B4-BE49-F238E27FC236}">
                <a16:creationId xmlns:a16="http://schemas.microsoft.com/office/drawing/2014/main" id="{149D75CC-7147-6542-FF90-D5F693D16E0C}"/>
              </a:ext>
            </a:extLst>
          </p:cNvPr>
          <p:cNvSpPr/>
          <p:nvPr/>
        </p:nvSpPr>
        <p:spPr>
          <a:xfrm>
            <a:off x="5382855" y="4460483"/>
            <a:ext cx="3600000" cy="361910"/>
          </a:xfrm>
          <a:prstGeom prst="roundRect">
            <a:avLst>
              <a:gd name="adj" fmla="val 50000"/>
            </a:avLst>
          </a:prstGeom>
          <a:solidFill>
            <a:schemeClr val="accent2"/>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kern="1300" cap="all" spc="70">
                <a:solidFill>
                  <a:schemeClr val="bg1"/>
                </a:solidFill>
                <a:latin typeface="Montserrat"/>
              </a:rPr>
              <a:t>#2.B	New Development</a:t>
            </a:r>
            <a:endParaRPr lang="en-US" sz="1200" b="1" kern="1300" cap="all" spc="70">
              <a:solidFill>
                <a:schemeClr val="bg1"/>
              </a:solidFill>
              <a:latin typeface="Montserrat" panose="00000500000000000000" pitchFamily="2" charset="0"/>
            </a:endParaRPr>
          </a:p>
        </p:txBody>
      </p:sp>
      <p:sp>
        <p:nvSpPr>
          <p:cNvPr id="43" name="TextBox 16">
            <a:extLst>
              <a:ext uri="{FF2B5EF4-FFF2-40B4-BE49-F238E27FC236}">
                <a16:creationId xmlns:a16="http://schemas.microsoft.com/office/drawing/2014/main" id="{C87D766B-0457-A4AE-0094-D995CF23F587}"/>
              </a:ext>
            </a:extLst>
          </p:cNvPr>
          <p:cNvSpPr txBox="1"/>
          <p:nvPr/>
        </p:nvSpPr>
        <p:spPr>
          <a:xfrm>
            <a:off x="1363302" y="2842495"/>
            <a:ext cx="3574622" cy="338554"/>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3C5A"/>
                </a:solidFill>
                <a:effectLst/>
                <a:uLnTx/>
                <a:uFillTx/>
                <a:latin typeface="Montserrat"/>
                <a:ea typeface="+mn-ea"/>
                <a:cs typeface="+mn-cs"/>
              </a:rPr>
              <a:t>Leverage a </a:t>
            </a:r>
            <a:r>
              <a:rPr kumimoji="0" lang="en-US" sz="1100" b="1" i="0" u="none" strike="noStrike" kern="1200" cap="none" spc="0" normalizeH="0" baseline="0" noProof="0">
                <a:ln>
                  <a:noFill/>
                </a:ln>
                <a:solidFill>
                  <a:srgbClr val="003C5A"/>
                </a:solidFill>
                <a:effectLst/>
                <a:uLnTx/>
                <a:uFillTx/>
                <a:latin typeface="Montserrat"/>
                <a:ea typeface="+mn-ea"/>
                <a:cs typeface="+mn-cs"/>
              </a:rPr>
              <a:t>tool specialized</a:t>
            </a:r>
            <a:r>
              <a:rPr kumimoji="0" lang="en-US" sz="1100" b="0" i="0" u="none" strike="noStrike" kern="1200" cap="none" spc="0" normalizeH="0" baseline="0" noProof="0">
                <a:ln>
                  <a:noFill/>
                </a:ln>
                <a:solidFill>
                  <a:srgbClr val="003C5A"/>
                </a:solidFill>
                <a:effectLst/>
                <a:uLnTx/>
                <a:uFillTx/>
                <a:latin typeface="Montserrat"/>
                <a:ea typeface="+mn-ea"/>
                <a:cs typeface="+mn-cs"/>
              </a:rPr>
              <a:t> in all </a:t>
            </a:r>
            <a:r>
              <a:rPr kumimoji="0" lang="en-US" sz="1100" b="1" i="0" u="none" strike="noStrike" kern="1200" cap="none" spc="0" normalizeH="0" baseline="0" noProof="0">
                <a:ln>
                  <a:noFill/>
                </a:ln>
                <a:solidFill>
                  <a:srgbClr val="003C5A"/>
                </a:solidFill>
                <a:effectLst/>
                <a:uLnTx/>
                <a:uFillTx/>
                <a:latin typeface="Montserrat"/>
                <a:ea typeface="+mn-ea"/>
                <a:cs typeface="+mn-cs"/>
              </a:rPr>
              <a:t>four functional aspect of IGA</a:t>
            </a:r>
            <a:r>
              <a:rPr kumimoji="0" lang="en-US" sz="1100" b="0" i="0" u="none" strike="noStrike" kern="1200" cap="none" spc="0" normalizeH="0" baseline="0" noProof="0">
                <a:ln>
                  <a:noFill/>
                </a:ln>
                <a:solidFill>
                  <a:srgbClr val="003C5A"/>
                </a:solidFill>
                <a:effectLst/>
                <a:uLnTx/>
                <a:uFillTx/>
                <a:latin typeface="Montserrat"/>
                <a:ea typeface="+mn-ea"/>
                <a:cs typeface="+mn-cs"/>
              </a:rPr>
              <a:t> to implement the program</a:t>
            </a:r>
          </a:p>
        </p:txBody>
      </p:sp>
      <p:sp>
        <p:nvSpPr>
          <p:cNvPr id="44" name="TextBox 16">
            <a:extLst>
              <a:ext uri="{FF2B5EF4-FFF2-40B4-BE49-F238E27FC236}">
                <a16:creationId xmlns:a16="http://schemas.microsoft.com/office/drawing/2014/main" id="{A769F896-EB9A-9651-2314-DB53B1643DB5}"/>
              </a:ext>
            </a:extLst>
          </p:cNvPr>
          <p:cNvSpPr txBox="1"/>
          <p:nvPr/>
        </p:nvSpPr>
        <p:spPr>
          <a:xfrm>
            <a:off x="5430343" y="2808589"/>
            <a:ext cx="3600000" cy="593432"/>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0"/>
              </a:spcAft>
              <a:buClr>
                <a:schemeClr val="accent2"/>
              </a:buClr>
            </a:pPr>
            <a:r>
              <a:rPr kumimoji="0" lang="en-US" sz="1100" b="0" i="0" u="none" strike="noStrike" kern="1200" cap="none" spc="0" normalizeH="0" baseline="0" noProof="0">
                <a:ln>
                  <a:noFill/>
                </a:ln>
                <a:solidFill>
                  <a:srgbClr val="003C5A"/>
                </a:solidFill>
                <a:effectLst/>
                <a:uLnTx/>
                <a:uFillTx/>
                <a:latin typeface="Montserrat"/>
                <a:ea typeface="+mn-ea"/>
                <a:cs typeface="+mn-cs"/>
              </a:rPr>
              <a:t>Leverage a </a:t>
            </a:r>
            <a:r>
              <a:rPr kumimoji="0" lang="en-US" sz="1100" b="1" i="0" u="none" strike="noStrike" kern="1200" cap="none" spc="0" normalizeH="0" baseline="0" noProof="0">
                <a:ln>
                  <a:noFill/>
                </a:ln>
                <a:solidFill>
                  <a:srgbClr val="003C5A"/>
                </a:solidFill>
                <a:effectLst/>
                <a:uLnTx/>
                <a:uFillTx/>
                <a:latin typeface="Montserrat"/>
                <a:ea typeface="+mn-ea"/>
                <a:cs typeface="+mn-cs"/>
              </a:rPr>
              <a:t>module</a:t>
            </a:r>
            <a:r>
              <a:rPr kumimoji="0" lang="en-US" sz="1100" b="0" i="0" u="none" strike="noStrike" kern="1200" cap="none" spc="0" normalizeH="0" baseline="0" noProof="0">
                <a:ln>
                  <a:noFill/>
                </a:ln>
                <a:solidFill>
                  <a:srgbClr val="003C5A"/>
                </a:solidFill>
                <a:effectLst/>
                <a:uLnTx/>
                <a:uFillTx/>
                <a:latin typeface="Montserrat"/>
                <a:ea typeface="+mn-ea"/>
                <a:cs typeface="+mn-cs"/>
              </a:rPr>
              <a:t> from </a:t>
            </a:r>
            <a:r>
              <a:rPr kumimoji="0" lang="en-US" sz="1100" b="1" i="0" u="none" strike="noStrike" kern="1200" cap="none" spc="0" normalizeH="0" baseline="0" noProof="0">
                <a:ln>
                  <a:noFill/>
                </a:ln>
                <a:solidFill>
                  <a:srgbClr val="003C5A"/>
                </a:solidFill>
                <a:effectLst/>
                <a:uLnTx/>
                <a:uFillTx/>
                <a:latin typeface="Montserrat"/>
                <a:ea typeface="+mn-ea"/>
                <a:cs typeface="+mn-cs"/>
              </a:rPr>
              <a:t>existing solution</a:t>
            </a:r>
            <a:r>
              <a:rPr kumimoji="0" lang="en-US" sz="1100" b="0" i="0" u="none" strike="noStrike" kern="1200" cap="none" spc="0" normalizeH="0" baseline="0" noProof="0">
                <a:ln>
                  <a:noFill/>
                </a:ln>
                <a:solidFill>
                  <a:srgbClr val="003C5A"/>
                </a:solidFill>
                <a:effectLst/>
                <a:uLnTx/>
                <a:uFillTx/>
                <a:latin typeface="Montserrat"/>
                <a:ea typeface="+mn-ea"/>
                <a:cs typeface="+mn-cs"/>
              </a:rPr>
              <a:t> in BYCN to implement part or the entire program</a:t>
            </a:r>
            <a:r>
              <a:rPr lang="fr-FR" sz="1100">
                <a:solidFill>
                  <a:schemeClr val="accent1"/>
                </a:solidFill>
                <a:latin typeface="Montserrat" panose="020B0604020202020204" charset="0"/>
              </a:rPr>
              <a:t>. </a:t>
            </a:r>
          </a:p>
        </p:txBody>
      </p:sp>
      <p:sp>
        <p:nvSpPr>
          <p:cNvPr id="45" name="TextBox 16">
            <a:extLst>
              <a:ext uri="{FF2B5EF4-FFF2-40B4-BE49-F238E27FC236}">
                <a16:creationId xmlns:a16="http://schemas.microsoft.com/office/drawing/2014/main" id="{E93B75AE-25B0-E89C-52D9-BBEAFB5F0684}"/>
              </a:ext>
            </a:extLst>
          </p:cNvPr>
          <p:cNvSpPr txBox="1"/>
          <p:nvPr/>
        </p:nvSpPr>
        <p:spPr>
          <a:xfrm>
            <a:off x="1363302" y="5143880"/>
            <a:ext cx="3273322" cy="338554"/>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400"/>
              </a:spcAft>
              <a:defRPr/>
            </a:pPr>
            <a:r>
              <a:rPr kumimoji="0" lang="en-US" sz="1100" b="1" i="0" u="none" strike="noStrike" kern="1200" cap="none" spc="0" normalizeH="0" baseline="0" noProof="0">
                <a:ln>
                  <a:noFill/>
                </a:ln>
                <a:solidFill>
                  <a:srgbClr val="003C5A"/>
                </a:solidFill>
                <a:effectLst/>
                <a:uLnTx/>
                <a:uFillTx/>
                <a:latin typeface="Montserrat"/>
                <a:ea typeface="+mn-ea"/>
                <a:cs typeface="+mn-cs"/>
              </a:rPr>
              <a:t>Increase CPEOPLE</a:t>
            </a:r>
            <a:r>
              <a:rPr kumimoji="0" lang="en-US" sz="1100" b="0" i="0" u="none" strike="noStrike" kern="1200" cap="none" spc="0" normalizeH="0" baseline="0" noProof="0">
                <a:ln>
                  <a:noFill/>
                </a:ln>
                <a:solidFill>
                  <a:srgbClr val="003C5A"/>
                </a:solidFill>
                <a:effectLst/>
                <a:uLnTx/>
                <a:uFillTx/>
                <a:latin typeface="Montserrat"/>
                <a:ea typeface="+mn-ea"/>
                <a:cs typeface="+mn-cs"/>
              </a:rPr>
              <a:t> capabilities in </a:t>
            </a:r>
            <a:r>
              <a:rPr kumimoji="0" lang="en-US" sz="1100" b="1" i="0" u="none" strike="noStrike" kern="1200" cap="none" spc="0" normalizeH="0" baseline="0" noProof="0">
                <a:ln>
                  <a:noFill/>
                </a:ln>
                <a:solidFill>
                  <a:srgbClr val="003C5A"/>
                </a:solidFill>
                <a:effectLst/>
                <a:uLnTx/>
                <a:uFillTx/>
                <a:latin typeface="Montserrat"/>
                <a:ea typeface="+mn-ea"/>
                <a:cs typeface="+mn-cs"/>
              </a:rPr>
              <a:t>Identity</a:t>
            </a:r>
            <a:r>
              <a:rPr kumimoji="0" lang="en-US" sz="1100" b="0" i="0" u="none" strike="noStrike" kern="1200" cap="none" spc="0" normalizeH="0" baseline="0" noProof="0">
                <a:ln>
                  <a:noFill/>
                </a:ln>
                <a:solidFill>
                  <a:srgbClr val="003C5A"/>
                </a:solidFill>
                <a:effectLst/>
                <a:uLnTx/>
                <a:uFillTx/>
                <a:latin typeface="Montserrat"/>
                <a:ea typeface="+mn-ea"/>
                <a:cs typeface="+mn-cs"/>
              </a:rPr>
              <a:t> </a:t>
            </a:r>
            <a:r>
              <a:rPr kumimoji="0" lang="en-US" sz="1100" b="1" i="0" u="none" strike="noStrike" kern="1200" cap="none" spc="0" normalizeH="0" baseline="0" noProof="0">
                <a:ln>
                  <a:noFill/>
                </a:ln>
                <a:solidFill>
                  <a:srgbClr val="003C5A"/>
                </a:solidFill>
                <a:effectLst/>
                <a:uLnTx/>
                <a:uFillTx/>
                <a:latin typeface="Montserrat"/>
                <a:ea typeface="+mn-ea"/>
                <a:cs typeface="+mn-cs"/>
              </a:rPr>
              <a:t>management</a:t>
            </a:r>
            <a:r>
              <a:rPr kumimoji="0" lang="en-US" sz="1100" b="0" i="0" u="none" strike="noStrike" kern="1200" cap="none" spc="0" normalizeH="0" baseline="0" noProof="0">
                <a:ln>
                  <a:noFill/>
                </a:ln>
                <a:solidFill>
                  <a:srgbClr val="003C5A"/>
                </a:solidFill>
                <a:effectLst/>
                <a:uLnTx/>
                <a:uFillTx/>
                <a:latin typeface="Montserrat"/>
                <a:ea typeface="+mn-ea"/>
                <a:cs typeface="+mn-cs"/>
              </a:rPr>
              <a:t> and </a:t>
            </a:r>
            <a:r>
              <a:rPr kumimoji="0" lang="en-US" sz="1100" b="1" i="0" u="none" strike="noStrike" kern="1200" cap="none" spc="0" normalizeH="0" baseline="0" noProof="0">
                <a:ln>
                  <a:noFill/>
                </a:ln>
                <a:solidFill>
                  <a:srgbClr val="003C5A"/>
                </a:solidFill>
                <a:effectLst/>
                <a:uLnTx/>
                <a:uFillTx/>
                <a:latin typeface="Montserrat"/>
                <a:ea typeface="+mn-ea"/>
                <a:cs typeface="+mn-cs"/>
              </a:rPr>
              <a:t>process technical debt</a:t>
            </a:r>
          </a:p>
        </p:txBody>
      </p:sp>
      <p:sp>
        <p:nvSpPr>
          <p:cNvPr id="46" name="TextBox 16">
            <a:extLst>
              <a:ext uri="{FF2B5EF4-FFF2-40B4-BE49-F238E27FC236}">
                <a16:creationId xmlns:a16="http://schemas.microsoft.com/office/drawing/2014/main" id="{1A7C8A17-2EB8-6C07-ED6A-6405B7BB5A6E}"/>
              </a:ext>
            </a:extLst>
          </p:cNvPr>
          <p:cNvSpPr txBox="1"/>
          <p:nvPr/>
        </p:nvSpPr>
        <p:spPr>
          <a:xfrm>
            <a:off x="5430343" y="5143880"/>
            <a:ext cx="3273322" cy="593432"/>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0"/>
              </a:spcAft>
              <a:buClr>
                <a:schemeClr val="accent2"/>
              </a:buClr>
            </a:pPr>
            <a:r>
              <a:rPr lang="en-US" sz="1100">
                <a:solidFill>
                  <a:srgbClr val="003C5A"/>
                </a:solidFill>
                <a:latin typeface="Montserrat" panose="00000500000000000000" pitchFamily="2" charset="0"/>
              </a:rPr>
              <a:t>Develop a </a:t>
            </a:r>
            <a:r>
              <a:rPr lang="en-US" sz="1100" b="1">
                <a:solidFill>
                  <a:srgbClr val="003C5A"/>
                </a:solidFill>
                <a:latin typeface="Montserrat" panose="00000500000000000000" pitchFamily="2" charset="0"/>
              </a:rPr>
              <a:t>new tool</a:t>
            </a:r>
            <a:r>
              <a:rPr lang="en-US" sz="1100">
                <a:solidFill>
                  <a:srgbClr val="003C5A"/>
                </a:solidFill>
                <a:latin typeface="Montserrat" panose="00000500000000000000" pitchFamily="2" charset="0"/>
              </a:rPr>
              <a:t> up-to-date with </a:t>
            </a:r>
            <a:r>
              <a:rPr lang="en-US" sz="1100" b="1">
                <a:solidFill>
                  <a:srgbClr val="003C5A"/>
                </a:solidFill>
                <a:latin typeface="Montserrat" panose="00000500000000000000" pitchFamily="2" charset="0"/>
              </a:rPr>
              <a:t>security</a:t>
            </a:r>
            <a:r>
              <a:rPr lang="en-US" sz="1100">
                <a:solidFill>
                  <a:srgbClr val="003C5A"/>
                </a:solidFill>
                <a:latin typeface="Montserrat" panose="00000500000000000000" pitchFamily="2" charset="0"/>
              </a:rPr>
              <a:t> standards to </a:t>
            </a:r>
            <a:r>
              <a:rPr lang="en-US" sz="1100" b="1">
                <a:solidFill>
                  <a:srgbClr val="003C5A"/>
                </a:solidFill>
                <a:latin typeface="Montserrat" panose="00000500000000000000" pitchFamily="2" charset="0"/>
              </a:rPr>
              <a:t>manage identities</a:t>
            </a:r>
            <a:r>
              <a:rPr lang="en-US" sz="1100">
                <a:solidFill>
                  <a:srgbClr val="003C5A"/>
                </a:solidFill>
                <a:latin typeface="Montserrat" panose="00000500000000000000" pitchFamily="2" charset="0"/>
              </a:rPr>
              <a:t> in the IGA program </a:t>
            </a:r>
            <a:endParaRPr kumimoji="0" lang="en-US" sz="1100" b="0" i="0" u="none" strike="noStrike" kern="1200" cap="none" spc="0" normalizeH="0" baseline="0" noProof="0">
              <a:ln>
                <a:noFill/>
              </a:ln>
              <a:solidFill>
                <a:srgbClr val="003C5A"/>
              </a:solidFill>
              <a:effectLst/>
              <a:uLnTx/>
              <a:uFillTx/>
              <a:latin typeface="Montserrat" panose="00000500000000000000" pitchFamily="2" charset="0"/>
              <a:ea typeface="+mn-ea"/>
              <a:cs typeface="+mn-cs"/>
            </a:endParaRPr>
          </a:p>
        </p:txBody>
      </p:sp>
      <p:cxnSp>
        <p:nvCxnSpPr>
          <p:cNvPr id="15" name="Connecteur droit 14">
            <a:extLst>
              <a:ext uri="{FF2B5EF4-FFF2-40B4-BE49-F238E27FC236}">
                <a16:creationId xmlns:a16="http://schemas.microsoft.com/office/drawing/2014/main" id="{ED6A4A9D-C703-3338-57A4-359DD856F7AD}"/>
              </a:ext>
            </a:extLst>
          </p:cNvPr>
          <p:cNvCxnSpPr>
            <a:cxnSpLocks/>
          </p:cNvCxnSpPr>
          <p:nvPr/>
        </p:nvCxnSpPr>
        <p:spPr>
          <a:xfrm>
            <a:off x="5135707" y="2144415"/>
            <a:ext cx="0" cy="3691812"/>
          </a:xfrm>
          <a:prstGeom prst="line">
            <a:avLst/>
          </a:prstGeom>
          <a:ln w="190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829FBF30-A64D-F9BB-F6B3-6A947591473D}"/>
              </a:ext>
            </a:extLst>
          </p:cNvPr>
          <p:cNvCxnSpPr>
            <a:cxnSpLocks/>
          </p:cNvCxnSpPr>
          <p:nvPr/>
        </p:nvCxnSpPr>
        <p:spPr>
          <a:xfrm flipH="1">
            <a:off x="1363302" y="3859480"/>
            <a:ext cx="7524919" cy="0"/>
          </a:xfrm>
          <a:prstGeom prst="line">
            <a:avLst/>
          </a:prstGeom>
          <a:ln w="190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76131ED-D6DD-3657-8508-8C94D04BE356}"/>
              </a:ext>
            </a:extLst>
          </p:cNvPr>
          <p:cNvSpPr/>
          <p:nvPr/>
        </p:nvSpPr>
        <p:spPr>
          <a:xfrm rot="-5400000">
            <a:off x="-308262" y="2594264"/>
            <a:ext cx="1572490" cy="498764"/>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err="1">
                <a:solidFill>
                  <a:schemeClr val="tx2"/>
                </a:solidFill>
                <a:cs typeface="Calibri"/>
              </a:rPr>
              <a:t>Market-based</a:t>
            </a:r>
            <a:r>
              <a:rPr lang="fr-FR" sz="1400">
                <a:solidFill>
                  <a:schemeClr val="tx2"/>
                </a:solidFill>
                <a:cs typeface="Calibri"/>
              </a:rPr>
              <a:t> solutions</a:t>
            </a:r>
          </a:p>
        </p:txBody>
      </p:sp>
      <p:sp>
        <p:nvSpPr>
          <p:cNvPr id="10" name="Rectangle 9">
            <a:extLst>
              <a:ext uri="{FF2B5EF4-FFF2-40B4-BE49-F238E27FC236}">
                <a16:creationId xmlns:a16="http://schemas.microsoft.com/office/drawing/2014/main" id="{37E384F2-6ABF-77EF-8261-39D394BFCA0B}"/>
              </a:ext>
            </a:extLst>
          </p:cNvPr>
          <p:cNvSpPr/>
          <p:nvPr/>
        </p:nvSpPr>
        <p:spPr>
          <a:xfrm rot="-5400000">
            <a:off x="-266698" y="4824845"/>
            <a:ext cx="1572490" cy="498764"/>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2"/>
                </a:solidFill>
                <a:cs typeface="Calibri"/>
              </a:rPr>
              <a:t>BYCN-</a:t>
            </a:r>
            <a:r>
              <a:rPr lang="fr-FR" sz="1400" err="1">
                <a:solidFill>
                  <a:schemeClr val="tx2"/>
                </a:solidFill>
                <a:cs typeface="Calibri"/>
              </a:rPr>
              <a:t>developed</a:t>
            </a:r>
            <a:r>
              <a:rPr lang="fr-FR" sz="1400">
                <a:solidFill>
                  <a:schemeClr val="tx2"/>
                </a:solidFill>
                <a:cs typeface="Calibri"/>
              </a:rPr>
              <a:t> solutions</a:t>
            </a:r>
          </a:p>
        </p:txBody>
      </p:sp>
    </p:spTree>
    <p:extLst>
      <p:ext uri="{BB962C8B-B14F-4D97-AF65-F5344CB8AC3E}">
        <p14:creationId xmlns:p14="http://schemas.microsoft.com/office/powerpoint/2010/main" val="1551074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71A48F-6374-85FE-E91A-90E2F1A25BE5}"/>
              </a:ext>
            </a:extLst>
          </p:cNvPr>
          <p:cNvSpPr>
            <a:spLocks noGrp="1"/>
          </p:cNvSpPr>
          <p:nvPr>
            <p:ph type="title"/>
          </p:nvPr>
        </p:nvSpPr>
        <p:spPr>
          <a:xfrm>
            <a:off x="982664" y="692696"/>
            <a:ext cx="7268452" cy="609398"/>
          </a:xfrm>
        </p:spPr>
        <p:txBody>
          <a:bodyPr/>
          <a:lstStyle/>
          <a:p>
            <a:r>
              <a:rPr lang="en-US" sz="2800">
                <a:ea typeface="+mj-lt"/>
                <a:cs typeface="+mj-lt"/>
              </a:rPr>
              <a:t>EXCLUSION OF TWO SCENARIOS DUE TO LIMITATIONS</a:t>
            </a:r>
            <a:endParaRPr lang="en-US" sz="2800" b="0">
              <a:ea typeface="+mj-lt"/>
              <a:cs typeface="+mj-lt"/>
            </a:endParaRPr>
          </a:p>
        </p:txBody>
      </p:sp>
      <p:sp>
        <p:nvSpPr>
          <p:cNvPr id="3" name="Rectangle : coins arrondis 2">
            <a:extLst>
              <a:ext uri="{FF2B5EF4-FFF2-40B4-BE49-F238E27FC236}">
                <a16:creationId xmlns:a16="http://schemas.microsoft.com/office/drawing/2014/main" id="{A5FF531A-AB4C-4F18-1BEB-23A56DC8BF40}"/>
              </a:ext>
            </a:extLst>
          </p:cNvPr>
          <p:cNvSpPr/>
          <p:nvPr/>
        </p:nvSpPr>
        <p:spPr>
          <a:xfrm>
            <a:off x="1241067" y="2144974"/>
            <a:ext cx="3600000" cy="361910"/>
          </a:xfrm>
          <a:prstGeom prst="roundRect">
            <a:avLst>
              <a:gd name="adj" fmla="val 50000"/>
            </a:avLst>
          </a:prstGeom>
          <a:solidFill>
            <a:schemeClr val="accent2"/>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a:solidFill>
                  <a:schemeClr val="bg1"/>
                </a:solidFill>
                <a:latin typeface="Montserrat" panose="00000500000000000000" pitchFamily="2" charset="0"/>
              </a:rPr>
              <a:t>#1.A	 DEDICATED IGA</a:t>
            </a:r>
            <a:r>
              <a:rPr kumimoji="0" lang="en-US" sz="1200" b="1" i="0" u="none" strike="noStrike" kern="1200" cap="none" spc="0" normalizeH="0" baseline="0" noProof="0">
                <a:ln>
                  <a:noFill/>
                </a:ln>
                <a:solidFill>
                  <a:schemeClr val="bg1"/>
                </a:solidFill>
                <a:effectLst/>
                <a:uLnTx/>
                <a:uFillTx/>
                <a:latin typeface="Montserrat" panose="00000500000000000000" pitchFamily="2" charset="0"/>
                <a:ea typeface="+mn-ea"/>
                <a:cs typeface="+mn-cs"/>
              </a:rPr>
              <a:t> SOLUTION</a:t>
            </a:r>
            <a:r>
              <a:rPr lang="fr-FR" sz="1200">
                <a:solidFill>
                  <a:schemeClr val="bg1"/>
                </a:solidFill>
                <a:latin typeface="Montserrat" panose="020B0604020202020204" charset="0"/>
              </a:rPr>
              <a:t> </a:t>
            </a:r>
          </a:p>
        </p:txBody>
      </p:sp>
      <p:sp>
        <p:nvSpPr>
          <p:cNvPr id="40" name="Rectangle : coins arrondis 39">
            <a:extLst>
              <a:ext uri="{FF2B5EF4-FFF2-40B4-BE49-F238E27FC236}">
                <a16:creationId xmlns:a16="http://schemas.microsoft.com/office/drawing/2014/main" id="{5E0359DB-7A0A-1702-C812-0AB46B715745}"/>
              </a:ext>
            </a:extLst>
          </p:cNvPr>
          <p:cNvSpPr/>
          <p:nvPr/>
        </p:nvSpPr>
        <p:spPr>
          <a:xfrm>
            <a:off x="1241067" y="4461043"/>
            <a:ext cx="3600000" cy="361910"/>
          </a:xfrm>
          <a:prstGeom prst="roundRect">
            <a:avLst>
              <a:gd name="adj" fmla="val 50000"/>
            </a:avLst>
          </a:prstGeom>
          <a:solidFill>
            <a:srgbClr val="C00000"/>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kern="1300" cap="all" spc="70">
                <a:solidFill>
                  <a:schemeClr val="bg1"/>
                </a:solidFill>
                <a:latin typeface="Montserrat" panose="00000500000000000000" pitchFamily="2" charset="0"/>
              </a:rPr>
              <a:t>#2.A	 CPEOPLE Evolution</a:t>
            </a:r>
          </a:p>
        </p:txBody>
      </p:sp>
      <p:sp>
        <p:nvSpPr>
          <p:cNvPr id="41" name="Rectangle : coins arrondis 40">
            <a:extLst>
              <a:ext uri="{FF2B5EF4-FFF2-40B4-BE49-F238E27FC236}">
                <a16:creationId xmlns:a16="http://schemas.microsoft.com/office/drawing/2014/main" id="{D200689F-397B-8D95-58C0-8D69B89FFA80}"/>
              </a:ext>
            </a:extLst>
          </p:cNvPr>
          <p:cNvSpPr/>
          <p:nvPr/>
        </p:nvSpPr>
        <p:spPr>
          <a:xfrm>
            <a:off x="5383776" y="2144415"/>
            <a:ext cx="3600000" cy="361910"/>
          </a:xfrm>
          <a:prstGeom prst="roundRect">
            <a:avLst>
              <a:gd name="adj" fmla="val 50000"/>
            </a:avLst>
          </a:prstGeom>
          <a:solidFill>
            <a:srgbClr val="C00000"/>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kern="1300" cap="all" spc="70">
                <a:solidFill>
                  <a:schemeClr val="bg1"/>
                </a:solidFill>
                <a:latin typeface="Montserrat" panose="00000500000000000000" pitchFamily="2" charset="0"/>
              </a:rPr>
              <a:t># 1.B	 Specific module</a:t>
            </a:r>
          </a:p>
        </p:txBody>
      </p:sp>
      <p:sp>
        <p:nvSpPr>
          <p:cNvPr id="42" name="Rectangle : coins arrondis 41">
            <a:extLst>
              <a:ext uri="{FF2B5EF4-FFF2-40B4-BE49-F238E27FC236}">
                <a16:creationId xmlns:a16="http://schemas.microsoft.com/office/drawing/2014/main" id="{149D75CC-7147-6542-FF90-D5F693D16E0C}"/>
              </a:ext>
            </a:extLst>
          </p:cNvPr>
          <p:cNvSpPr/>
          <p:nvPr/>
        </p:nvSpPr>
        <p:spPr>
          <a:xfrm>
            <a:off x="5382855" y="4460483"/>
            <a:ext cx="3600000" cy="361910"/>
          </a:xfrm>
          <a:prstGeom prst="roundRect">
            <a:avLst>
              <a:gd name="adj" fmla="val 50000"/>
            </a:avLst>
          </a:prstGeom>
          <a:solidFill>
            <a:schemeClr val="accent2"/>
          </a:solidFill>
          <a:ln w="28575">
            <a:noFill/>
          </a:ln>
          <a:effectLst>
            <a:outerShdw blurRad="177800" dist="165100" dir="4680000" sx="93000" sy="93000" algn="ctr" rotWithShape="0">
              <a:schemeClr val="accent2">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kern="1300" cap="all" spc="70">
                <a:solidFill>
                  <a:schemeClr val="bg1"/>
                </a:solidFill>
                <a:latin typeface="Montserrat" panose="00000500000000000000" pitchFamily="2" charset="0"/>
              </a:rPr>
              <a:t>#2.B	New Development</a:t>
            </a:r>
          </a:p>
        </p:txBody>
      </p:sp>
      <p:sp>
        <p:nvSpPr>
          <p:cNvPr id="43" name="TextBox 16">
            <a:extLst>
              <a:ext uri="{FF2B5EF4-FFF2-40B4-BE49-F238E27FC236}">
                <a16:creationId xmlns:a16="http://schemas.microsoft.com/office/drawing/2014/main" id="{C87D766B-0457-A4AE-0094-D995CF23F587}"/>
              </a:ext>
            </a:extLst>
          </p:cNvPr>
          <p:cNvSpPr txBox="1"/>
          <p:nvPr/>
        </p:nvSpPr>
        <p:spPr>
          <a:xfrm>
            <a:off x="1363302" y="2842495"/>
            <a:ext cx="3574622" cy="338554"/>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3C5A"/>
                </a:solidFill>
                <a:effectLst/>
                <a:uLnTx/>
                <a:uFillTx/>
                <a:latin typeface="Montserrat"/>
                <a:ea typeface="+mn-ea"/>
                <a:cs typeface="+mn-cs"/>
              </a:rPr>
              <a:t>Leverage a </a:t>
            </a:r>
            <a:r>
              <a:rPr kumimoji="0" lang="en-US" sz="1100" b="1" i="0" u="none" strike="noStrike" kern="1200" cap="none" spc="0" normalizeH="0" baseline="0" noProof="0">
                <a:ln>
                  <a:noFill/>
                </a:ln>
                <a:solidFill>
                  <a:srgbClr val="003C5A"/>
                </a:solidFill>
                <a:effectLst/>
                <a:uLnTx/>
                <a:uFillTx/>
                <a:latin typeface="Montserrat"/>
                <a:ea typeface="+mn-ea"/>
                <a:cs typeface="+mn-cs"/>
              </a:rPr>
              <a:t>tool specialized</a:t>
            </a:r>
            <a:r>
              <a:rPr kumimoji="0" lang="en-US" sz="1100" b="0" i="0" u="none" strike="noStrike" kern="1200" cap="none" spc="0" normalizeH="0" baseline="0" noProof="0">
                <a:ln>
                  <a:noFill/>
                </a:ln>
                <a:solidFill>
                  <a:srgbClr val="003C5A"/>
                </a:solidFill>
                <a:effectLst/>
                <a:uLnTx/>
                <a:uFillTx/>
                <a:latin typeface="Montserrat"/>
                <a:ea typeface="+mn-ea"/>
                <a:cs typeface="+mn-cs"/>
              </a:rPr>
              <a:t> in all </a:t>
            </a:r>
            <a:r>
              <a:rPr kumimoji="0" lang="en-US" sz="1100" b="1" i="0" u="none" strike="noStrike" kern="1200" cap="none" spc="0" normalizeH="0" baseline="0" noProof="0">
                <a:ln>
                  <a:noFill/>
                </a:ln>
                <a:solidFill>
                  <a:srgbClr val="003C5A"/>
                </a:solidFill>
                <a:effectLst/>
                <a:uLnTx/>
                <a:uFillTx/>
                <a:latin typeface="Montserrat"/>
                <a:ea typeface="+mn-ea"/>
                <a:cs typeface="+mn-cs"/>
              </a:rPr>
              <a:t>four functional aspect of IGA</a:t>
            </a:r>
            <a:r>
              <a:rPr kumimoji="0" lang="en-US" sz="1100" b="0" i="0" u="none" strike="noStrike" kern="1200" cap="none" spc="0" normalizeH="0" baseline="0" noProof="0">
                <a:ln>
                  <a:noFill/>
                </a:ln>
                <a:solidFill>
                  <a:srgbClr val="003C5A"/>
                </a:solidFill>
                <a:effectLst/>
                <a:uLnTx/>
                <a:uFillTx/>
                <a:latin typeface="Montserrat"/>
                <a:ea typeface="+mn-ea"/>
                <a:cs typeface="+mn-cs"/>
              </a:rPr>
              <a:t> to implement the program</a:t>
            </a:r>
          </a:p>
        </p:txBody>
      </p:sp>
      <p:sp>
        <p:nvSpPr>
          <p:cNvPr id="44" name="TextBox 16">
            <a:extLst>
              <a:ext uri="{FF2B5EF4-FFF2-40B4-BE49-F238E27FC236}">
                <a16:creationId xmlns:a16="http://schemas.microsoft.com/office/drawing/2014/main" id="{A769F896-EB9A-9651-2314-DB53B1643DB5}"/>
              </a:ext>
            </a:extLst>
          </p:cNvPr>
          <p:cNvSpPr txBox="1"/>
          <p:nvPr/>
        </p:nvSpPr>
        <p:spPr>
          <a:xfrm>
            <a:off x="5430343" y="2808589"/>
            <a:ext cx="3600000" cy="593432"/>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0"/>
              </a:spcAft>
              <a:buClr>
                <a:schemeClr val="accent2"/>
              </a:buClr>
            </a:pPr>
            <a:r>
              <a:rPr kumimoji="0" lang="en-US" sz="1100" b="0" i="0" u="none" strike="noStrike" kern="1200" cap="none" spc="0" normalizeH="0" baseline="0" noProof="0">
                <a:ln>
                  <a:noFill/>
                </a:ln>
                <a:solidFill>
                  <a:srgbClr val="003C5A"/>
                </a:solidFill>
                <a:effectLst/>
                <a:uLnTx/>
                <a:uFillTx/>
                <a:latin typeface="Montserrat"/>
                <a:ea typeface="+mn-ea"/>
                <a:cs typeface="+mn-cs"/>
              </a:rPr>
              <a:t>Leverage a </a:t>
            </a:r>
            <a:r>
              <a:rPr kumimoji="0" lang="en-US" sz="1100" b="1" i="0" u="none" strike="noStrike" kern="1200" cap="none" spc="0" normalizeH="0" baseline="0" noProof="0">
                <a:ln>
                  <a:noFill/>
                </a:ln>
                <a:solidFill>
                  <a:srgbClr val="003C5A"/>
                </a:solidFill>
                <a:effectLst/>
                <a:uLnTx/>
                <a:uFillTx/>
                <a:latin typeface="Montserrat"/>
                <a:ea typeface="+mn-ea"/>
                <a:cs typeface="+mn-cs"/>
              </a:rPr>
              <a:t>module</a:t>
            </a:r>
            <a:r>
              <a:rPr kumimoji="0" lang="en-US" sz="1100" b="0" i="0" u="none" strike="noStrike" kern="1200" cap="none" spc="0" normalizeH="0" baseline="0" noProof="0">
                <a:ln>
                  <a:noFill/>
                </a:ln>
                <a:solidFill>
                  <a:srgbClr val="003C5A"/>
                </a:solidFill>
                <a:effectLst/>
                <a:uLnTx/>
                <a:uFillTx/>
                <a:latin typeface="Montserrat"/>
                <a:ea typeface="+mn-ea"/>
                <a:cs typeface="+mn-cs"/>
              </a:rPr>
              <a:t> from </a:t>
            </a:r>
            <a:r>
              <a:rPr kumimoji="0" lang="en-US" sz="1100" b="1" i="0" u="none" strike="noStrike" kern="1200" cap="none" spc="0" normalizeH="0" baseline="0" noProof="0">
                <a:ln>
                  <a:noFill/>
                </a:ln>
                <a:solidFill>
                  <a:srgbClr val="003C5A"/>
                </a:solidFill>
                <a:effectLst/>
                <a:uLnTx/>
                <a:uFillTx/>
                <a:latin typeface="Montserrat"/>
                <a:ea typeface="+mn-ea"/>
                <a:cs typeface="+mn-cs"/>
              </a:rPr>
              <a:t>existing solution</a:t>
            </a:r>
            <a:r>
              <a:rPr kumimoji="0" lang="en-US" sz="1100" b="0" i="0" u="none" strike="noStrike" kern="1200" cap="none" spc="0" normalizeH="0" baseline="0" noProof="0">
                <a:ln>
                  <a:noFill/>
                </a:ln>
                <a:solidFill>
                  <a:srgbClr val="003C5A"/>
                </a:solidFill>
                <a:effectLst/>
                <a:uLnTx/>
                <a:uFillTx/>
                <a:latin typeface="Montserrat"/>
                <a:ea typeface="+mn-ea"/>
                <a:cs typeface="+mn-cs"/>
              </a:rPr>
              <a:t> in BYCN to implement part or the entire program</a:t>
            </a:r>
            <a:r>
              <a:rPr lang="fr-FR" sz="1100">
                <a:solidFill>
                  <a:schemeClr val="accent1"/>
                </a:solidFill>
                <a:latin typeface="Montserrat" panose="020B0604020202020204" charset="0"/>
              </a:rPr>
              <a:t>. </a:t>
            </a:r>
          </a:p>
        </p:txBody>
      </p:sp>
      <p:sp>
        <p:nvSpPr>
          <p:cNvPr id="45" name="TextBox 16">
            <a:extLst>
              <a:ext uri="{FF2B5EF4-FFF2-40B4-BE49-F238E27FC236}">
                <a16:creationId xmlns:a16="http://schemas.microsoft.com/office/drawing/2014/main" id="{E93B75AE-25B0-E89C-52D9-BBEAFB5F0684}"/>
              </a:ext>
            </a:extLst>
          </p:cNvPr>
          <p:cNvSpPr txBox="1"/>
          <p:nvPr/>
        </p:nvSpPr>
        <p:spPr>
          <a:xfrm>
            <a:off x="1363302" y="5143880"/>
            <a:ext cx="3273322" cy="338554"/>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400"/>
              </a:spcAft>
              <a:defRPr/>
            </a:pPr>
            <a:r>
              <a:rPr kumimoji="0" lang="en-US" sz="1100" b="1" i="0" u="none" strike="noStrike" kern="1200" cap="none" spc="0" normalizeH="0" baseline="0" noProof="0">
                <a:ln>
                  <a:noFill/>
                </a:ln>
                <a:solidFill>
                  <a:srgbClr val="003C5A"/>
                </a:solidFill>
                <a:effectLst/>
                <a:uLnTx/>
                <a:uFillTx/>
                <a:latin typeface="Montserrat"/>
                <a:ea typeface="+mn-ea"/>
                <a:cs typeface="+mn-cs"/>
              </a:rPr>
              <a:t>Increase CPEOPLE</a:t>
            </a:r>
            <a:r>
              <a:rPr kumimoji="0" lang="en-US" sz="1100" b="0" i="0" u="none" strike="noStrike" kern="1200" cap="none" spc="0" normalizeH="0" baseline="0" noProof="0">
                <a:ln>
                  <a:noFill/>
                </a:ln>
                <a:solidFill>
                  <a:srgbClr val="003C5A"/>
                </a:solidFill>
                <a:effectLst/>
                <a:uLnTx/>
                <a:uFillTx/>
                <a:latin typeface="Montserrat"/>
                <a:ea typeface="+mn-ea"/>
                <a:cs typeface="+mn-cs"/>
              </a:rPr>
              <a:t> capabilities in </a:t>
            </a:r>
            <a:r>
              <a:rPr kumimoji="0" lang="en-US" sz="1100" b="1" i="0" u="none" strike="noStrike" kern="1200" cap="none" spc="0" normalizeH="0" baseline="0" noProof="0">
                <a:ln>
                  <a:noFill/>
                </a:ln>
                <a:solidFill>
                  <a:srgbClr val="003C5A"/>
                </a:solidFill>
                <a:effectLst/>
                <a:uLnTx/>
                <a:uFillTx/>
                <a:latin typeface="Montserrat"/>
                <a:ea typeface="+mn-ea"/>
                <a:cs typeface="+mn-cs"/>
              </a:rPr>
              <a:t>Identity</a:t>
            </a:r>
            <a:r>
              <a:rPr kumimoji="0" lang="en-US" sz="1100" b="0" i="0" u="none" strike="noStrike" kern="1200" cap="none" spc="0" normalizeH="0" baseline="0" noProof="0">
                <a:ln>
                  <a:noFill/>
                </a:ln>
                <a:solidFill>
                  <a:srgbClr val="003C5A"/>
                </a:solidFill>
                <a:effectLst/>
                <a:uLnTx/>
                <a:uFillTx/>
                <a:latin typeface="Montserrat"/>
                <a:ea typeface="+mn-ea"/>
                <a:cs typeface="+mn-cs"/>
              </a:rPr>
              <a:t> </a:t>
            </a:r>
            <a:r>
              <a:rPr kumimoji="0" lang="en-US" sz="1100" b="1" i="0" u="none" strike="noStrike" kern="1200" cap="none" spc="0" normalizeH="0" baseline="0" noProof="0">
                <a:ln>
                  <a:noFill/>
                </a:ln>
                <a:solidFill>
                  <a:srgbClr val="003C5A"/>
                </a:solidFill>
                <a:effectLst/>
                <a:uLnTx/>
                <a:uFillTx/>
                <a:latin typeface="Montserrat"/>
                <a:ea typeface="+mn-ea"/>
                <a:cs typeface="+mn-cs"/>
              </a:rPr>
              <a:t>management</a:t>
            </a:r>
            <a:r>
              <a:rPr kumimoji="0" lang="en-US" sz="1100" b="0" i="0" u="none" strike="noStrike" kern="1200" cap="none" spc="0" normalizeH="0" baseline="0" noProof="0">
                <a:ln>
                  <a:noFill/>
                </a:ln>
                <a:solidFill>
                  <a:srgbClr val="003C5A"/>
                </a:solidFill>
                <a:effectLst/>
                <a:uLnTx/>
                <a:uFillTx/>
                <a:latin typeface="Montserrat"/>
                <a:ea typeface="+mn-ea"/>
                <a:cs typeface="+mn-cs"/>
              </a:rPr>
              <a:t> and </a:t>
            </a:r>
            <a:r>
              <a:rPr kumimoji="0" lang="en-US" sz="1100" b="1" i="0" u="none" strike="noStrike" kern="1200" cap="none" spc="0" normalizeH="0" baseline="0" noProof="0">
                <a:ln>
                  <a:noFill/>
                </a:ln>
                <a:solidFill>
                  <a:srgbClr val="003C5A"/>
                </a:solidFill>
                <a:effectLst/>
                <a:uLnTx/>
                <a:uFillTx/>
                <a:latin typeface="Montserrat"/>
                <a:ea typeface="+mn-ea"/>
                <a:cs typeface="+mn-cs"/>
              </a:rPr>
              <a:t>process technical debt</a:t>
            </a:r>
          </a:p>
        </p:txBody>
      </p:sp>
      <p:sp>
        <p:nvSpPr>
          <p:cNvPr id="46" name="TextBox 16">
            <a:extLst>
              <a:ext uri="{FF2B5EF4-FFF2-40B4-BE49-F238E27FC236}">
                <a16:creationId xmlns:a16="http://schemas.microsoft.com/office/drawing/2014/main" id="{1A7C8A17-2EB8-6C07-ED6A-6405B7BB5A6E}"/>
              </a:ext>
            </a:extLst>
          </p:cNvPr>
          <p:cNvSpPr txBox="1"/>
          <p:nvPr/>
        </p:nvSpPr>
        <p:spPr>
          <a:xfrm>
            <a:off x="5430343" y="5143880"/>
            <a:ext cx="3273322" cy="593432"/>
          </a:xfrm>
          <a:prstGeom prst="rect">
            <a:avLst/>
          </a:prstGeom>
          <a:noFill/>
        </p:spPr>
        <p:txBody>
          <a:bodyPr wrap="square" lIns="0" tIns="0" rIns="0" bIns="0"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0"/>
              </a:spcAft>
              <a:buClr>
                <a:schemeClr val="accent2"/>
              </a:buClr>
            </a:pPr>
            <a:r>
              <a:rPr lang="en-US" sz="1100">
                <a:solidFill>
                  <a:srgbClr val="003C5A"/>
                </a:solidFill>
                <a:latin typeface="Montserrat" panose="00000500000000000000" pitchFamily="2" charset="0"/>
              </a:rPr>
              <a:t>Develop a </a:t>
            </a:r>
            <a:r>
              <a:rPr lang="en-US" sz="1100" b="1">
                <a:solidFill>
                  <a:srgbClr val="003C5A"/>
                </a:solidFill>
                <a:latin typeface="Montserrat" panose="00000500000000000000" pitchFamily="2" charset="0"/>
              </a:rPr>
              <a:t>new tool</a:t>
            </a:r>
            <a:r>
              <a:rPr lang="en-US" sz="1100">
                <a:solidFill>
                  <a:srgbClr val="003C5A"/>
                </a:solidFill>
                <a:latin typeface="Montserrat" panose="00000500000000000000" pitchFamily="2" charset="0"/>
              </a:rPr>
              <a:t> up-to-date with </a:t>
            </a:r>
            <a:r>
              <a:rPr lang="en-US" sz="1100" b="1">
                <a:solidFill>
                  <a:srgbClr val="003C5A"/>
                </a:solidFill>
                <a:latin typeface="Montserrat" panose="00000500000000000000" pitchFamily="2" charset="0"/>
              </a:rPr>
              <a:t>security</a:t>
            </a:r>
            <a:r>
              <a:rPr lang="en-US" sz="1100">
                <a:solidFill>
                  <a:srgbClr val="003C5A"/>
                </a:solidFill>
                <a:latin typeface="Montserrat" panose="00000500000000000000" pitchFamily="2" charset="0"/>
              </a:rPr>
              <a:t> standards to </a:t>
            </a:r>
            <a:r>
              <a:rPr lang="en-US" sz="1100" b="1">
                <a:solidFill>
                  <a:srgbClr val="003C5A"/>
                </a:solidFill>
                <a:latin typeface="Montserrat" panose="00000500000000000000" pitchFamily="2" charset="0"/>
              </a:rPr>
              <a:t>manage identities</a:t>
            </a:r>
            <a:r>
              <a:rPr lang="en-US" sz="1100">
                <a:solidFill>
                  <a:srgbClr val="003C5A"/>
                </a:solidFill>
                <a:latin typeface="Montserrat" panose="00000500000000000000" pitchFamily="2" charset="0"/>
              </a:rPr>
              <a:t> in the IGA program </a:t>
            </a:r>
            <a:endParaRPr kumimoji="0" lang="en-US" sz="1100" b="0" i="0" u="none" strike="noStrike" kern="1200" cap="none" spc="0" normalizeH="0" baseline="0" noProof="0">
              <a:ln>
                <a:noFill/>
              </a:ln>
              <a:solidFill>
                <a:srgbClr val="003C5A"/>
              </a:solidFill>
              <a:effectLst/>
              <a:uLnTx/>
              <a:uFillTx/>
              <a:latin typeface="Montserrat" panose="00000500000000000000" pitchFamily="2" charset="0"/>
              <a:ea typeface="+mn-ea"/>
              <a:cs typeface="+mn-cs"/>
            </a:endParaRPr>
          </a:p>
        </p:txBody>
      </p:sp>
      <p:cxnSp>
        <p:nvCxnSpPr>
          <p:cNvPr id="15" name="Connecteur droit 14">
            <a:extLst>
              <a:ext uri="{FF2B5EF4-FFF2-40B4-BE49-F238E27FC236}">
                <a16:creationId xmlns:a16="http://schemas.microsoft.com/office/drawing/2014/main" id="{ED6A4A9D-C703-3338-57A4-359DD856F7AD}"/>
              </a:ext>
            </a:extLst>
          </p:cNvPr>
          <p:cNvCxnSpPr>
            <a:cxnSpLocks/>
          </p:cNvCxnSpPr>
          <p:nvPr/>
        </p:nvCxnSpPr>
        <p:spPr>
          <a:xfrm>
            <a:off x="5135707" y="2144415"/>
            <a:ext cx="0" cy="3691812"/>
          </a:xfrm>
          <a:prstGeom prst="line">
            <a:avLst/>
          </a:prstGeom>
          <a:ln w="190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829FBF30-A64D-F9BB-F6B3-6A947591473D}"/>
              </a:ext>
            </a:extLst>
          </p:cNvPr>
          <p:cNvCxnSpPr>
            <a:cxnSpLocks/>
          </p:cNvCxnSpPr>
          <p:nvPr/>
        </p:nvCxnSpPr>
        <p:spPr>
          <a:xfrm flipH="1">
            <a:off x="1363302" y="3859480"/>
            <a:ext cx="7524919" cy="0"/>
          </a:xfrm>
          <a:prstGeom prst="line">
            <a:avLst/>
          </a:prstGeom>
          <a:ln w="190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76131ED-D6DD-3657-8508-8C94D04BE356}"/>
              </a:ext>
            </a:extLst>
          </p:cNvPr>
          <p:cNvSpPr/>
          <p:nvPr/>
        </p:nvSpPr>
        <p:spPr>
          <a:xfrm rot="-5400000">
            <a:off x="-308262" y="2594264"/>
            <a:ext cx="1572490" cy="498764"/>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err="1">
                <a:solidFill>
                  <a:schemeClr val="tx2"/>
                </a:solidFill>
                <a:cs typeface="Calibri"/>
              </a:rPr>
              <a:t>Market-based</a:t>
            </a:r>
            <a:r>
              <a:rPr lang="fr-FR" sz="1400">
                <a:solidFill>
                  <a:schemeClr val="tx2"/>
                </a:solidFill>
                <a:cs typeface="Calibri"/>
              </a:rPr>
              <a:t> solutions</a:t>
            </a:r>
          </a:p>
        </p:txBody>
      </p:sp>
      <p:sp>
        <p:nvSpPr>
          <p:cNvPr id="10" name="Rectangle 9">
            <a:extLst>
              <a:ext uri="{FF2B5EF4-FFF2-40B4-BE49-F238E27FC236}">
                <a16:creationId xmlns:a16="http://schemas.microsoft.com/office/drawing/2014/main" id="{37E384F2-6ABF-77EF-8261-39D394BFCA0B}"/>
              </a:ext>
            </a:extLst>
          </p:cNvPr>
          <p:cNvSpPr/>
          <p:nvPr/>
        </p:nvSpPr>
        <p:spPr>
          <a:xfrm rot="-5400000">
            <a:off x="-266698" y="4824845"/>
            <a:ext cx="1572490" cy="498764"/>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2"/>
                </a:solidFill>
                <a:cs typeface="Calibri"/>
              </a:rPr>
              <a:t>BYCN-</a:t>
            </a:r>
            <a:r>
              <a:rPr lang="fr-FR" sz="1400" err="1">
                <a:solidFill>
                  <a:schemeClr val="tx2"/>
                </a:solidFill>
                <a:cs typeface="Calibri"/>
              </a:rPr>
              <a:t>developed</a:t>
            </a:r>
            <a:r>
              <a:rPr lang="fr-FR" sz="1400">
                <a:solidFill>
                  <a:schemeClr val="tx2"/>
                </a:solidFill>
                <a:cs typeface="Calibri"/>
              </a:rPr>
              <a:t> solutions</a:t>
            </a:r>
          </a:p>
        </p:txBody>
      </p:sp>
      <p:sp>
        <p:nvSpPr>
          <p:cNvPr id="8" name="Rectangle : coins arrondis 7">
            <a:extLst>
              <a:ext uri="{FF2B5EF4-FFF2-40B4-BE49-F238E27FC236}">
                <a16:creationId xmlns:a16="http://schemas.microsoft.com/office/drawing/2014/main" id="{13923B0D-76F6-631E-BB96-3132B38D0A0E}"/>
              </a:ext>
            </a:extLst>
          </p:cNvPr>
          <p:cNvSpPr/>
          <p:nvPr/>
        </p:nvSpPr>
        <p:spPr>
          <a:xfrm>
            <a:off x="9407239" y="4200709"/>
            <a:ext cx="2651224" cy="1824076"/>
          </a:xfrm>
          <a:prstGeom prst="roundRect">
            <a:avLst/>
          </a:prstGeom>
          <a:solidFill>
            <a:schemeClr val="tx2">
              <a:lumMod val="40000"/>
              <a:lumOff val="60000"/>
              <a:alpha val="30000"/>
            </a:schemeClr>
          </a:solid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D46E96BF-A484-DF10-E2E0-9B4386DD0ED3}"/>
              </a:ext>
            </a:extLst>
          </p:cNvPr>
          <p:cNvSpPr txBox="1"/>
          <p:nvPr/>
        </p:nvSpPr>
        <p:spPr>
          <a:xfrm>
            <a:off x="9490366" y="4305189"/>
            <a:ext cx="2625434" cy="1323439"/>
          </a:xfrm>
          <a:prstGeom prst="rect">
            <a:avLst/>
          </a:prstGeom>
          <a:noFill/>
        </p:spPr>
        <p:txBody>
          <a:bodyPr wrap="square" lIns="36000" tIns="0" rIns="36000" bIns="0" rtlCol="0">
            <a:spAutoFit/>
          </a:bodyPr>
          <a:lstStyle/>
          <a:p>
            <a:r>
              <a:rPr lang="en-US" sz="1100" b="1" u="sng" dirty="0">
                <a:solidFill>
                  <a:srgbClr val="FF7A51"/>
                </a:solidFill>
                <a:latin typeface="Montserrat"/>
              </a:rPr>
              <a:t>Heavy investment with limited benefits</a:t>
            </a:r>
          </a:p>
          <a:p>
            <a:endParaRPr lang="en-US" sz="800" dirty="0">
              <a:solidFill>
                <a:srgbClr val="003C5A"/>
              </a:solidFill>
              <a:latin typeface="Montserrat"/>
            </a:endParaRPr>
          </a:p>
          <a:p>
            <a:r>
              <a:rPr lang="en-US" sz="800" b="1" dirty="0">
                <a:solidFill>
                  <a:srgbClr val="003C5A"/>
                </a:solidFill>
                <a:latin typeface="Montserrat"/>
              </a:rPr>
              <a:t>The investment to process the technical debt </a:t>
            </a:r>
            <a:r>
              <a:rPr lang="en-US" sz="800" dirty="0">
                <a:solidFill>
                  <a:srgbClr val="003C5A"/>
                </a:solidFill>
                <a:latin typeface="Montserrat"/>
              </a:rPr>
              <a:t>of CPEOPLE and develop new functionalities </a:t>
            </a:r>
            <a:r>
              <a:rPr lang="en-US" sz="800" b="1" dirty="0">
                <a:solidFill>
                  <a:srgbClr val="003C5A"/>
                </a:solidFill>
                <a:latin typeface="Montserrat"/>
              </a:rPr>
              <a:t>is too important</a:t>
            </a:r>
            <a:r>
              <a:rPr lang="en-US" sz="800" dirty="0">
                <a:solidFill>
                  <a:srgbClr val="003C5A"/>
                </a:solidFill>
                <a:latin typeface="Montserrat"/>
              </a:rPr>
              <a:t> in regard of the IGA benefits for a temporary solution</a:t>
            </a:r>
          </a:p>
          <a:p>
            <a:r>
              <a:rPr lang="en-US" sz="800" b="1" dirty="0">
                <a:solidFill>
                  <a:srgbClr val="003C5A"/>
                </a:solidFill>
                <a:latin typeface="Montserrat"/>
              </a:rPr>
              <a:t>Estimation around 890 K€ </a:t>
            </a:r>
          </a:p>
          <a:p>
            <a:r>
              <a:rPr lang="en-US" sz="800" dirty="0">
                <a:solidFill>
                  <a:srgbClr val="003C5A"/>
                </a:solidFill>
                <a:latin typeface="Montserrat"/>
              </a:rPr>
              <a:t>    Process technical debt = 500K€</a:t>
            </a:r>
            <a:br>
              <a:rPr lang="en-US" sz="800" dirty="0">
                <a:solidFill>
                  <a:srgbClr val="003C5A"/>
                </a:solidFill>
                <a:latin typeface="Montserrat"/>
              </a:rPr>
            </a:br>
            <a:r>
              <a:rPr lang="en-US" sz="800" dirty="0">
                <a:solidFill>
                  <a:srgbClr val="003C5A"/>
                </a:solidFill>
                <a:latin typeface="Montserrat"/>
              </a:rPr>
              <a:t>    Development &amp; processes evolution = 390K€ </a:t>
            </a:r>
          </a:p>
        </p:txBody>
      </p:sp>
      <p:sp>
        <p:nvSpPr>
          <p:cNvPr id="14" name="Rectangle : coins arrondis 13">
            <a:extLst>
              <a:ext uri="{FF2B5EF4-FFF2-40B4-BE49-F238E27FC236}">
                <a16:creationId xmlns:a16="http://schemas.microsoft.com/office/drawing/2014/main" id="{C20F6A95-E939-DDE8-F37F-681EC3986733}"/>
              </a:ext>
            </a:extLst>
          </p:cNvPr>
          <p:cNvSpPr/>
          <p:nvPr/>
        </p:nvSpPr>
        <p:spPr>
          <a:xfrm>
            <a:off x="9421927" y="1987557"/>
            <a:ext cx="2644297" cy="1831003"/>
          </a:xfrm>
          <a:prstGeom prst="roundRect">
            <a:avLst/>
          </a:prstGeom>
          <a:solidFill>
            <a:schemeClr val="tx2">
              <a:lumMod val="40000"/>
              <a:lumOff val="60000"/>
              <a:alpha val="30000"/>
            </a:schemeClr>
          </a:solid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9FD39EF9-4D6F-D9F4-741A-43F007E505A2}"/>
              </a:ext>
            </a:extLst>
          </p:cNvPr>
          <p:cNvSpPr txBox="1"/>
          <p:nvPr/>
        </p:nvSpPr>
        <p:spPr>
          <a:xfrm>
            <a:off x="9560472" y="2226942"/>
            <a:ext cx="2479962" cy="830997"/>
          </a:xfrm>
          <a:prstGeom prst="rect">
            <a:avLst/>
          </a:prstGeom>
          <a:noFill/>
        </p:spPr>
        <p:txBody>
          <a:bodyPr wrap="square" lIns="36000" tIns="0" rIns="36000" bIns="0" rtlCol="0" anchor="t">
            <a:spAutoFit/>
          </a:bodyPr>
          <a:lstStyle/>
          <a:p>
            <a:r>
              <a:rPr lang="en-US" sz="1100" b="1" u="sng" dirty="0">
                <a:solidFill>
                  <a:srgbClr val="FF7A51"/>
                </a:solidFill>
                <a:latin typeface="Montserrat"/>
              </a:rPr>
              <a:t>Limited coverage</a:t>
            </a:r>
          </a:p>
          <a:p>
            <a:endParaRPr lang="en-US" sz="1100" dirty="0">
              <a:solidFill>
                <a:srgbClr val="003C5A"/>
              </a:solidFill>
              <a:latin typeface="Montserrat"/>
            </a:endParaRPr>
          </a:p>
          <a:p>
            <a:r>
              <a:rPr lang="en-US" sz="800" b="1" dirty="0">
                <a:solidFill>
                  <a:srgbClr val="003C5A"/>
                </a:solidFill>
                <a:latin typeface="Montserrat"/>
              </a:rPr>
              <a:t>Only two tools</a:t>
            </a:r>
            <a:r>
              <a:rPr lang="en-US" sz="800" dirty="0">
                <a:solidFill>
                  <a:srgbClr val="003C5A"/>
                </a:solidFill>
                <a:latin typeface="Montserrat"/>
              </a:rPr>
              <a:t> have been identified with capabilities in all 4 four aspects of IGA but they are </a:t>
            </a:r>
            <a:r>
              <a:rPr lang="en-US" sz="800" b="1" dirty="0">
                <a:solidFill>
                  <a:srgbClr val="003C5A"/>
                </a:solidFill>
                <a:latin typeface="Montserrat"/>
              </a:rPr>
              <a:t>only covering their technical scope (Microsoft, SAP)</a:t>
            </a:r>
          </a:p>
        </p:txBody>
      </p:sp>
      <p:sp>
        <p:nvSpPr>
          <p:cNvPr id="19" name="Rectangle 18">
            <a:extLst>
              <a:ext uri="{FF2B5EF4-FFF2-40B4-BE49-F238E27FC236}">
                <a16:creationId xmlns:a16="http://schemas.microsoft.com/office/drawing/2014/main" id="{EF59863F-2D21-7D51-1D6E-8CCD4C878CD4}"/>
              </a:ext>
            </a:extLst>
          </p:cNvPr>
          <p:cNvSpPr/>
          <p:nvPr/>
        </p:nvSpPr>
        <p:spPr>
          <a:xfrm>
            <a:off x="1094510" y="1787237"/>
            <a:ext cx="4038599" cy="2071254"/>
          </a:xfrm>
          <a:prstGeom prst="rect">
            <a:avLst/>
          </a:prstGeom>
          <a:solidFill>
            <a:srgbClr val="F2F2F2">
              <a:alpha val="50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827130FA-4F52-80B3-1C46-EE51B7592D8D}"/>
              </a:ext>
            </a:extLst>
          </p:cNvPr>
          <p:cNvSpPr/>
          <p:nvPr/>
        </p:nvSpPr>
        <p:spPr>
          <a:xfrm>
            <a:off x="5167745" y="3858491"/>
            <a:ext cx="3893127" cy="1925781"/>
          </a:xfrm>
          <a:prstGeom prst="rect">
            <a:avLst/>
          </a:prstGeom>
          <a:solidFill>
            <a:srgbClr val="F2F2F2">
              <a:alpha val="50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lèche : droite 20">
            <a:extLst>
              <a:ext uri="{FF2B5EF4-FFF2-40B4-BE49-F238E27FC236}">
                <a16:creationId xmlns:a16="http://schemas.microsoft.com/office/drawing/2014/main" id="{CC3AE9CF-1322-193D-14E9-BC85DD0DED3F}"/>
              </a:ext>
            </a:extLst>
          </p:cNvPr>
          <p:cNvSpPr/>
          <p:nvPr/>
        </p:nvSpPr>
        <p:spPr>
          <a:xfrm>
            <a:off x="9033198" y="2255831"/>
            <a:ext cx="361880" cy="138269"/>
          </a:xfrm>
          <a:prstGeom prst="right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Flèche : droite 21">
            <a:extLst>
              <a:ext uri="{FF2B5EF4-FFF2-40B4-BE49-F238E27FC236}">
                <a16:creationId xmlns:a16="http://schemas.microsoft.com/office/drawing/2014/main" id="{85B75136-1F5F-2DF4-1377-8FA7032C17EF}"/>
              </a:ext>
            </a:extLst>
          </p:cNvPr>
          <p:cNvSpPr/>
          <p:nvPr/>
        </p:nvSpPr>
        <p:spPr>
          <a:xfrm>
            <a:off x="4883761" y="4569539"/>
            <a:ext cx="4469752" cy="138269"/>
          </a:xfrm>
          <a:prstGeom prst="right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62165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87378A-E497-6EAF-6B71-3A17596C32F7}"/>
              </a:ext>
            </a:extLst>
          </p:cNvPr>
          <p:cNvSpPr>
            <a:spLocks noGrp="1"/>
          </p:cNvSpPr>
          <p:nvPr>
            <p:ph type="title"/>
          </p:nvPr>
        </p:nvSpPr>
        <p:spPr>
          <a:xfrm>
            <a:off x="982195" y="649659"/>
            <a:ext cx="11126787" cy="609398"/>
          </a:xfrm>
        </p:spPr>
        <p:txBody>
          <a:bodyPr/>
          <a:lstStyle/>
          <a:p>
            <a:r>
              <a:rPr lang="en-US"/>
              <a:t>Focus on scenario #1.A : Dedicated IGA solution</a:t>
            </a:r>
          </a:p>
        </p:txBody>
      </p:sp>
      <p:grpSp>
        <p:nvGrpSpPr>
          <p:cNvPr id="51" name="Groupe 50">
            <a:extLst>
              <a:ext uri="{FF2B5EF4-FFF2-40B4-BE49-F238E27FC236}">
                <a16:creationId xmlns:a16="http://schemas.microsoft.com/office/drawing/2014/main" id="{E7589872-82C9-11C5-EC3D-99FD960CB6A1}"/>
              </a:ext>
            </a:extLst>
          </p:cNvPr>
          <p:cNvGrpSpPr/>
          <p:nvPr/>
        </p:nvGrpSpPr>
        <p:grpSpPr>
          <a:xfrm>
            <a:off x="154773" y="3660300"/>
            <a:ext cx="3480580" cy="1385376"/>
            <a:chOff x="1094529" y="1718464"/>
            <a:chExt cx="3480580" cy="1385376"/>
          </a:xfrm>
        </p:grpSpPr>
        <p:sp>
          <p:nvSpPr>
            <p:cNvPr id="52" name="Rectangle : coins arrondis 51">
              <a:extLst>
                <a:ext uri="{FF2B5EF4-FFF2-40B4-BE49-F238E27FC236}">
                  <a16:creationId xmlns:a16="http://schemas.microsoft.com/office/drawing/2014/main" id="{1ACE75D3-A825-1E8A-EFDF-C43B80ED2D39}"/>
                </a:ext>
              </a:extLst>
            </p:cNvPr>
            <p:cNvSpPr/>
            <p:nvPr/>
          </p:nvSpPr>
          <p:spPr>
            <a:xfrm>
              <a:off x="1306309" y="1933840"/>
              <a:ext cx="3268800" cy="1170000"/>
            </a:xfrm>
            <a:prstGeom prst="roundRect">
              <a:avLst/>
            </a:prstGeom>
            <a:noFill/>
            <a:ln w="19050" cap="flat" cmpd="sng" algn="ctr">
              <a:solidFill>
                <a:srgbClr val="003C5A"/>
              </a:solidFill>
              <a:prstDash val="solid"/>
              <a:miter lim="800000"/>
            </a:ln>
            <a:effectLst/>
          </p:spPr>
          <p:txBody>
            <a:bodyPr rtlCol="0" anchor="t"/>
            <a:lstStyle/>
            <a:p>
              <a:pPr marR="0" lvl="0" defTabSz="914400" eaLnBrk="1" fontAlgn="auto" latinLnBrk="0" hangingPunct="1">
                <a:lnSpc>
                  <a:spcPct val="120000"/>
                </a:lnSpc>
                <a:spcBef>
                  <a:spcPts val="0"/>
                </a:spcBef>
                <a:spcAft>
                  <a:spcPts val="0"/>
                </a:spcAft>
                <a:buClrTx/>
                <a:buSzTx/>
                <a:tabLst/>
                <a:defRPr/>
              </a:pPr>
              <a:endParaRPr kumimoji="0" lang="en-US" sz="1000" b="0" i="0" u="none" strike="noStrike" kern="0" cap="none" spc="0" normalizeH="0" baseline="0" noProof="0">
                <a:ln>
                  <a:noFill/>
                </a:ln>
                <a:solidFill>
                  <a:srgbClr val="003C5A"/>
                </a:solidFill>
                <a:effectLst/>
                <a:uLnTx/>
                <a:uFillTx/>
                <a:latin typeface="Montserrat"/>
                <a:ea typeface="+mn-ea"/>
                <a:cs typeface="+mn-cs"/>
              </a:endParaRPr>
            </a:p>
            <a:p>
              <a:pPr marL="171450" marR="0" lvl="0" indent="-171450"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3C5A"/>
                  </a:solidFill>
                  <a:effectLst/>
                  <a:uLnTx/>
                  <a:uFillTx/>
                  <a:latin typeface="Montserrat"/>
                  <a:ea typeface="+mn-ea"/>
                  <a:cs typeface="+mn-cs"/>
                </a:rPr>
                <a:t>Integrate identities from master source automatically </a:t>
              </a:r>
            </a:p>
            <a:p>
              <a:pPr marR="0" lvl="0" defTabSz="914400" eaLnBrk="1" fontAlgn="auto" latinLnBrk="0" hangingPunct="1">
                <a:lnSpc>
                  <a:spcPct val="120000"/>
                </a:lnSpc>
                <a:spcBef>
                  <a:spcPts val="0"/>
                </a:spcBef>
                <a:spcAft>
                  <a:spcPts val="0"/>
                </a:spcAft>
                <a:buClrTx/>
                <a:buSzTx/>
                <a:tabLst/>
                <a:defRPr/>
              </a:pPr>
              <a:endParaRPr kumimoji="0" lang="en-US" sz="1000" b="0" i="0" u="none" strike="noStrike" kern="0" cap="none" spc="0" normalizeH="0" baseline="0" noProof="0">
                <a:ln>
                  <a:noFill/>
                </a:ln>
                <a:solidFill>
                  <a:srgbClr val="003C5A"/>
                </a:solidFill>
                <a:effectLst/>
                <a:uLnTx/>
                <a:uFillTx/>
                <a:latin typeface="Montserrat"/>
                <a:ea typeface="+mn-ea"/>
                <a:cs typeface="+mn-cs"/>
              </a:endParaRPr>
            </a:p>
            <a:p>
              <a:pPr marL="171450" marR="0" lvl="0" indent="-171450"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3C5A"/>
                  </a:solidFill>
                  <a:effectLst/>
                  <a:uLnTx/>
                  <a:uFillTx/>
                  <a:latin typeface="Montserrat"/>
                  <a:ea typeface="+mn-ea"/>
                  <a:cs typeface="+mn-cs"/>
                </a:rPr>
                <a:t>Integrate identities manually for unmanaged populations</a:t>
              </a:r>
            </a:p>
          </p:txBody>
        </p:sp>
        <p:sp>
          <p:nvSpPr>
            <p:cNvPr id="53" name="ZoneTexte 52">
              <a:extLst>
                <a:ext uri="{FF2B5EF4-FFF2-40B4-BE49-F238E27FC236}">
                  <a16:creationId xmlns:a16="http://schemas.microsoft.com/office/drawing/2014/main" id="{07D3CFDB-97DC-DC3A-F49F-9DE8A2507FBF}"/>
                </a:ext>
              </a:extLst>
            </p:cNvPr>
            <p:cNvSpPr txBox="1"/>
            <p:nvPr/>
          </p:nvSpPr>
          <p:spPr>
            <a:xfrm>
              <a:off x="1489845" y="1803034"/>
              <a:ext cx="2979692" cy="261610"/>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3C5A"/>
                  </a:solidFill>
                  <a:effectLst/>
                  <a:uLnTx/>
                  <a:uFillTx/>
                  <a:latin typeface="Montserrat"/>
                </a:rPr>
                <a:t>Identity Management</a:t>
              </a:r>
            </a:p>
          </p:txBody>
        </p:sp>
        <p:sp>
          <p:nvSpPr>
            <p:cNvPr id="54" name="Ellipse 53">
              <a:extLst>
                <a:ext uri="{FF2B5EF4-FFF2-40B4-BE49-F238E27FC236}">
                  <a16:creationId xmlns:a16="http://schemas.microsoft.com/office/drawing/2014/main" id="{7C945E41-D434-A1CA-4798-EEFFDEA591A1}"/>
                </a:ext>
              </a:extLst>
            </p:cNvPr>
            <p:cNvSpPr/>
            <p:nvPr/>
          </p:nvSpPr>
          <p:spPr>
            <a:xfrm>
              <a:off x="1094529" y="1718464"/>
              <a:ext cx="423202" cy="430751"/>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grpSp>
        <p:nvGrpSpPr>
          <p:cNvPr id="56" name="Groupe 55">
            <a:extLst>
              <a:ext uri="{FF2B5EF4-FFF2-40B4-BE49-F238E27FC236}">
                <a16:creationId xmlns:a16="http://schemas.microsoft.com/office/drawing/2014/main" id="{7606CA8A-A115-3912-3F52-33A1F24C4774}"/>
              </a:ext>
            </a:extLst>
          </p:cNvPr>
          <p:cNvGrpSpPr/>
          <p:nvPr/>
        </p:nvGrpSpPr>
        <p:grpSpPr>
          <a:xfrm>
            <a:off x="3993556" y="3654122"/>
            <a:ext cx="3478960" cy="1384252"/>
            <a:chOff x="1094529" y="1718464"/>
            <a:chExt cx="3478960" cy="1384252"/>
          </a:xfrm>
        </p:grpSpPr>
        <p:sp>
          <p:nvSpPr>
            <p:cNvPr id="57" name="Rectangle : coins arrondis 56">
              <a:extLst>
                <a:ext uri="{FF2B5EF4-FFF2-40B4-BE49-F238E27FC236}">
                  <a16:creationId xmlns:a16="http://schemas.microsoft.com/office/drawing/2014/main" id="{BAC3229C-258A-8486-09D0-1ADC05CE66DE}"/>
                </a:ext>
              </a:extLst>
            </p:cNvPr>
            <p:cNvSpPr/>
            <p:nvPr/>
          </p:nvSpPr>
          <p:spPr>
            <a:xfrm>
              <a:off x="1306309" y="1933840"/>
              <a:ext cx="3267180" cy="1168876"/>
            </a:xfrm>
            <a:prstGeom prst="roundRect">
              <a:avLst/>
            </a:prstGeom>
            <a:noFill/>
            <a:ln w="19050" cap="flat" cmpd="sng" algn="ctr">
              <a:solidFill>
                <a:srgbClr val="003C5A"/>
              </a:solidFill>
              <a:prstDash val="solid"/>
              <a:miter lim="800000"/>
            </a:ln>
            <a:effectLst/>
          </p:spPr>
          <p:txBody>
            <a:bodyPr rtlCol="0" anchor="t"/>
            <a:lstStyle/>
            <a:p>
              <a:pPr marR="0" lvl="0" defTabSz="914400" eaLnBrk="1" fontAlgn="auto" latinLnBrk="0" hangingPunct="1">
                <a:lnSpc>
                  <a:spcPct val="120000"/>
                </a:lnSpc>
                <a:spcBef>
                  <a:spcPts val="0"/>
                </a:spcBef>
                <a:spcAft>
                  <a:spcPts val="0"/>
                </a:spcAft>
                <a:buClrTx/>
                <a:buSzTx/>
                <a:tabLst/>
                <a:defRPr/>
              </a:pPr>
              <a:endParaRPr kumimoji="0" lang="en-US" sz="1000" b="0" i="0" u="none" strike="noStrike" kern="0" cap="none" spc="0" normalizeH="0" baseline="0" noProof="0" dirty="0">
                <a:ln>
                  <a:noFill/>
                </a:ln>
                <a:solidFill>
                  <a:srgbClr val="003C5A"/>
                </a:solidFill>
                <a:effectLst/>
                <a:uLnTx/>
                <a:uFillTx/>
                <a:latin typeface="Montserrat"/>
                <a:ea typeface="+mn-ea"/>
                <a:cs typeface="+mn-cs"/>
              </a:endParaRPr>
            </a:p>
            <a:p>
              <a:pPr marL="171450" marR="0" lvl="0" indent="-171450"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3C5A"/>
                  </a:solidFill>
                  <a:effectLst/>
                  <a:uLnTx/>
                  <a:uFillTx/>
                  <a:latin typeface="Montserrat"/>
                  <a:ea typeface="+mn-ea"/>
                  <a:cs typeface="+mn-cs"/>
                </a:rPr>
                <a:t>Define rules and roles to automatically grant accesses</a:t>
              </a:r>
              <a:br>
                <a:rPr kumimoji="0" lang="en-US" sz="1000" b="0" i="0" u="none" strike="noStrike" kern="0" cap="none" spc="0" normalizeH="0" baseline="0" noProof="0" dirty="0">
                  <a:ln>
                    <a:noFill/>
                  </a:ln>
                  <a:solidFill>
                    <a:srgbClr val="003C5A"/>
                  </a:solidFill>
                  <a:effectLst/>
                  <a:uLnTx/>
                  <a:uFillTx/>
                  <a:latin typeface="Montserrat"/>
                  <a:ea typeface="+mn-ea"/>
                  <a:cs typeface="+mn-cs"/>
                </a:rPr>
              </a:br>
              <a:endParaRPr kumimoji="0" lang="en-US" sz="1000" b="0" i="0" u="none" strike="noStrike" kern="0" cap="none" spc="0" normalizeH="0" baseline="0" noProof="0" dirty="0">
                <a:ln>
                  <a:noFill/>
                </a:ln>
                <a:solidFill>
                  <a:srgbClr val="003C5A"/>
                </a:solidFill>
                <a:effectLst/>
                <a:uLnTx/>
                <a:uFillTx/>
                <a:latin typeface="Montserrat"/>
                <a:ea typeface="+mn-ea"/>
                <a:cs typeface="+mn-cs"/>
              </a:endParaRPr>
            </a:p>
            <a:p>
              <a:pPr marL="171450" marR="0" lvl="0" indent="-171450"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3C5A"/>
                  </a:solidFill>
                  <a:effectLst/>
                  <a:uLnTx/>
                  <a:uFillTx/>
                  <a:latin typeface="Montserrat"/>
                  <a:ea typeface="+mn-ea"/>
                  <a:cs typeface="+mn-cs"/>
                </a:rPr>
                <a:t>Simplify user access request </a:t>
              </a:r>
            </a:p>
          </p:txBody>
        </p:sp>
        <p:sp>
          <p:nvSpPr>
            <p:cNvPr id="58" name="ZoneTexte 57">
              <a:extLst>
                <a:ext uri="{FF2B5EF4-FFF2-40B4-BE49-F238E27FC236}">
                  <a16:creationId xmlns:a16="http://schemas.microsoft.com/office/drawing/2014/main" id="{8075C691-93AC-82B5-A791-37BF8B9D6A65}"/>
                </a:ext>
              </a:extLst>
            </p:cNvPr>
            <p:cNvSpPr txBox="1"/>
            <p:nvPr/>
          </p:nvSpPr>
          <p:spPr>
            <a:xfrm>
              <a:off x="1517731" y="1786174"/>
              <a:ext cx="2984448" cy="261610"/>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3C5A"/>
                  </a:solidFill>
                  <a:effectLst/>
                  <a:uLnTx/>
                  <a:uFillTx/>
                  <a:latin typeface="Montserrat"/>
                </a:rPr>
                <a:t>Authorization Management</a:t>
              </a:r>
            </a:p>
          </p:txBody>
        </p:sp>
        <p:sp>
          <p:nvSpPr>
            <p:cNvPr id="59" name="Ellipse 58">
              <a:extLst>
                <a:ext uri="{FF2B5EF4-FFF2-40B4-BE49-F238E27FC236}">
                  <a16:creationId xmlns:a16="http://schemas.microsoft.com/office/drawing/2014/main" id="{595E0BAC-B0CB-F798-7D30-CAF6EB47AF02}"/>
                </a:ext>
              </a:extLst>
            </p:cNvPr>
            <p:cNvSpPr/>
            <p:nvPr/>
          </p:nvSpPr>
          <p:spPr>
            <a:xfrm>
              <a:off x="1094529" y="1718464"/>
              <a:ext cx="423202" cy="430751"/>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grpSp>
        <p:nvGrpSpPr>
          <p:cNvPr id="60" name="Groupe 59">
            <a:extLst>
              <a:ext uri="{FF2B5EF4-FFF2-40B4-BE49-F238E27FC236}">
                <a16:creationId xmlns:a16="http://schemas.microsoft.com/office/drawing/2014/main" id="{2FB83289-3691-89A7-3468-64237576E3C4}"/>
              </a:ext>
            </a:extLst>
          </p:cNvPr>
          <p:cNvGrpSpPr/>
          <p:nvPr/>
        </p:nvGrpSpPr>
        <p:grpSpPr>
          <a:xfrm>
            <a:off x="3993556" y="5283512"/>
            <a:ext cx="3478960" cy="1385376"/>
            <a:chOff x="1094529" y="1718464"/>
            <a:chExt cx="3478960" cy="1385376"/>
          </a:xfrm>
        </p:grpSpPr>
        <p:sp>
          <p:nvSpPr>
            <p:cNvPr id="61" name="Rectangle : coins arrondis 60">
              <a:extLst>
                <a:ext uri="{FF2B5EF4-FFF2-40B4-BE49-F238E27FC236}">
                  <a16:creationId xmlns:a16="http://schemas.microsoft.com/office/drawing/2014/main" id="{14483FFB-670F-85E3-B4B2-F2B1731F3386}"/>
                </a:ext>
              </a:extLst>
            </p:cNvPr>
            <p:cNvSpPr/>
            <p:nvPr/>
          </p:nvSpPr>
          <p:spPr>
            <a:xfrm>
              <a:off x="1306309" y="1933840"/>
              <a:ext cx="3267180" cy="1170000"/>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R="0" lvl="0" defTabSz="914400" eaLnBrk="1" fontAlgn="auto" latinLnBrk="0" hangingPunct="1">
                <a:lnSpc>
                  <a:spcPct val="120000"/>
                </a:lnSpc>
                <a:spcBef>
                  <a:spcPts val="0"/>
                </a:spcBef>
                <a:spcAft>
                  <a:spcPts val="0"/>
                </a:spcAft>
                <a:buClrTx/>
                <a:buSzTx/>
                <a:tabLst/>
                <a:defRPr/>
              </a:pPr>
              <a:endParaRPr lang="en-US" sz="1000" kern="0">
                <a:solidFill>
                  <a:srgbClr val="003C5A"/>
                </a:solidFill>
                <a:latin typeface="Montserrat"/>
              </a:endParaRPr>
            </a:p>
            <a:p>
              <a:pPr marL="171450" indent="-171450">
                <a:lnSpc>
                  <a:spcPct val="120000"/>
                </a:lnSpc>
                <a:buFont typeface="Arial" panose="020B0604020202020204" pitchFamily="34" charset="0"/>
                <a:buChar char="•"/>
                <a:defRPr/>
              </a:pPr>
              <a:r>
                <a:rPr lang="en-US" sz="1000" kern="0" dirty="0">
                  <a:solidFill>
                    <a:srgbClr val="003C5A"/>
                  </a:solidFill>
                  <a:latin typeface="Montserrat"/>
                </a:rPr>
                <a:t>Controls identities and accesses with campaign certification and tool assistance</a:t>
              </a:r>
            </a:p>
            <a:p>
              <a:pPr marR="0" lvl="0" defTabSz="914400" eaLnBrk="1" fontAlgn="auto" latinLnBrk="0" hangingPunct="1">
                <a:lnSpc>
                  <a:spcPct val="120000"/>
                </a:lnSpc>
                <a:spcBef>
                  <a:spcPts val="0"/>
                </a:spcBef>
                <a:spcAft>
                  <a:spcPts val="0"/>
                </a:spcAft>
                <a:buClrTx/>
                <a:buSzTx/>
                <a:tabLst/>
                <a:defRPr/>
              </a:pPr>
              <a:endParaRPr lang="en-US" sz="1000" kern="0">
                <a:solidFill>
                  <a:srgbClr val="003C5A"/>
                </a:solidFill>
                <a:latin typeface="Montserrat"/>
              </a:endParaRPr>
            </a:p>
            <a:p>
              <a:pPr marL="171450" marR="0" lvl="0" indent="-171450"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1000" kern="0" dirty="0">
                  <a:solidFill>
                    <a:srgbClr val="003C5A"/>
                  </a:solidFill>
                  <a:latin typeface="Montserrat"/>
                </a:rPr>
                <a:t>Centralized view of users’ accounts</a:t>
              </a:r>
            </a:p>
          </p:txBody>
        </p:sp>
        <p:sp>
          <p:nvSpPr>
            <p:cNvPr id="62" name="ZoneTexte 61">
              <a:extLst>
                <a:ext uri="{FF2B5EF4-FFF2-40B4-BE49-F238E27FC236}">
                  <a16:creationId xmlns:a16="http://schemas.microsoft.com/office/drawing/2014/main" id="{286B8CAA-6AD8-B740-8DD9-B2F8684BDF41}"/>
                </a:ext>
              </a:extLst>
            </p:cNvPr>
            <p:cNvSpPr txBox="1"/>
            <p:nvPr/>
          </p:nvSpPr>
          <p:spPr>
            <a:xfrm>
              <a:off x="1515055" y="1771936"/>
              <a:ext cx="2987124" cy="261610"/>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3C5A"/>
                  </a:solidFill>
                  <a:effectLst/>
                  <a:uLnTx/>
                  <a:uFillTx/>
                  <a:latin typeface="Montserrat"/>
                </a:rPr>
                <a:t>Governance </a:t>
              </a:r>
            </a:p>
          </p:txBody>
        </p:sp>
        <p:sp>
          <p:nvSpPr>
            <p:cNvPr id="63" name="Ellipse 62">
              <a:extLst>
                <a:ext uri="{FF2B5EF4-FFF2-40B4-BE49-F238E27FC236}">
                  <a16:creationId xmlns:a16="http://schemas.microsoft.com/office/drawing/2014/main" id="{99BF722E-04F9-F89B-CFC7-862921EAC767}"/>
                </a:ext>
              </a:extLst>
            </p:cNvPr>
            <p:cNvSpPr/>
            <p:nvPr/>
          </p:nvSpPr>
          <p:spPr>
            <a:xfrm>
              <a:off x="1094529" y="1718464"/>
              <a:ext cx="423202" cy="430751"/>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grpSp>
        <p:nvGrpSpPr>
          <p:cNvPr id="65" name="Groupe 64">
            <a:extLst>
              <a:ext uri="{FF2B5EF4-FFF2-40B4-BE49-F238E27FC236}">
                <a16:creationId xmlns:a16="http://schemas.microsoft.com/office/drawing/2014/main" id="{467F14BA-E568-89CA-58F4-588B007E21BB}"/>
              </a:ext>
            </a:extLst>
          </p:cNvPr>
          <p:cNvGrpSpPr/>
          <p:nvPr/>
        </p:nvGrpSpPr>
        <p:grpSpPr>
          <a:xfrm>
            <a:off x="197174" y="5359712"/>
            <a:ext cx="3480580" cy="1359887"/>
            <a:chOff x="1094529" y="1718464"/>
            <a:chExt cx="3480580" cy="1542431"/>
          </a:xfrm>
        </p:grpSpPr>
        <p:sp>
          <p:nvSpPr>
            <p:cNvPr id="66" name="Rectangle : coins arrondis 65">
              <a:extLst>
                <a:ext uri="{FF2B5EF4-FFF2-40B4-BE49-F238E27FC236}">
                  <a16:creationId xmlns:a16="http://schemas.microsoft.com/office/drawing/2014/main" id="{3B9920E9-0FE3-8331-1099-F87E6D3848C4}"/>
                </a:ext>
              </a:extLst>
            </p:cNvPr>
            <p:cNvSpPr/>
            <p:nvPr/>
          </p:nvSpPr>
          <p:spPr>
            <a:xfrm>
              <a:off x="1306309" y="1933840"/>
              <a:ext cx="3268800" cy="1327055"/>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3C5A"/>
                </a:solidFill>
                <a:effectLst/>
                <a:uLnTx/>
                <a:uFillTx/>
                <a:latin typeface="Montserrat"/>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3C5A"/>
                  </a:solidFill>
                  <a:effectLst/>
                  <a:uLnTx/>
                  <a:uFillTx/>
                  <a:latin typeface="Montserrat"/>
                </a:rPr>
                <a:t>Connect applications to collect data</a:t>
              </a:r>
              <a:br>
                <a:rPr kumimoji="0" lang="en-US" sz="1000" b="0" i="0" u="none" strike="noStrike" kern="0" cap="none" spc="0" normalizeH="0" baseline="0" noProof="0" dirty="0">
                  <a:ln>
                    <a:noFill/>
                  </a:ln>
                  <a:solidFill>
                    <a:srgbClr val="003C5A"/>
                  </a:solidFill>
                  <a:effectLst/>
                  <a:uLnTx/>
                  <a:uFillTx/>
                  <a:latin typeface="Montserrat"/>
                </a:rPr>
              </a:br>
              <a:endParaRPr kumimoji="0" lang="en-US" sz="1000" b="0" i="0" u="none" strike="noStrike" kern="0" cap="none" spc="0" normalizeH="0" baseline="0" noProof="0" dirty="0">
                <a:ln>
                  <a:noFill/>
                </a:ln>
                <a:solidFill>
                  <a:srgbClr val="003C5A"/>
                </a:solidFill>
                <a:effectLst/>
                <a:uLnTx/>
                <a:uFillTx/>
                <a:latin typeface="Montserrat"/>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0" dirty="0">
                  <a:solidFill>
                    <a:srgbClr val="003C5A"/>
                  </a:solidFill>
                  <a:latin typeface="Montserrat"/>
                </a:rPr>
                <a:t>Create / update / delete accounts according to users’ lifecycle</a:t>
              </a:r>
            </a:p>
          </p:txBody>
        </p:sp>
        <p:sp>
          <p:nvSpPr>
            <p:cNvPr id="67" name="ZoneTexte 66">
              <a:extLst>
                <a:ext uri="{FF2B5EF4-FFF2-40B4-BE49-F238E27FC236}">
                  <a16:creationId xmlns:a16="http://schemas.microsoft.com/office/drawing/2014/main" id="{6F0CCD04-051D-71E3-1F26-7109F564D1E3}"/>
                </a:ext>
              </a:extLst>
            </p:cNvPr>
            <p:cNvSpPr txBox="1"/>
            <p:nvPr/>
          </p:nvSpPr>
          <p:spPr>
            <a:xfrm>
              <a:off x="1517731" y="1803034"/>
              <a:ext cx="3022410" cy="296727"/>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b="1" kern="0">
                  <a:solidFill>
                    <a:srgbClr val="003C5A"/>
                  </a:solidFill>
                  <a:latin typeface="Montserrat"/>
                </a:rPr>
                <a:t>Applications integration</a:t>
              </a:r>
              <a:endParaRPr kumimoji="0" lang="en-US" sz="1100" b="1" i="0" u="none" strike="noStrike" kern="0" cap="none" spc="0" normalizeH="0" baseline="0" noProof="0">
                <a:ln>
                  <a:noFill/>
                </a:ln>
                <a:solidFill>
                  <a:srgbClr val="003C5A"/>
                </a:solidFill>
                <a:effectLst/>
                <a:uLnTx/>
                <a:uFillTx/>
                <a:latin typeface="Montserrat"/>
              </a:endParaRPr>
            </a:p>
          </p:txBody>
        </p:sp>
        <p:sp>
          <p:nvSpPr>
            <p:cNvPr id="68" name="Ellipse 67">
              <a:extLst>
                <a:ext uri="{FF2B5EF4-FFF2-40B4-BE49-F238E27FC236}">
                  <a16:creationId xmlns:a16="http://schemas.microsoft.com/office/drawing/2014/main" id="{01020EA2-4AFD-298B-BA2D-27F93C4D0840}"/>
                </a:ext>
              </a:extLst>
            </p:cNvPr>
            <p:cNvSpPr/>
            <p:nvPr/>
          </p:nvSpPr>
          <p:spPr>
            <a:xfrm>
              <a:off x="1094529" y="1718464"/>
              <a:ext cx="423202" cy="489989"/>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pic>
        <p:nvPicPr>
          <p:cNvPr id="22" name="Image 21">
            <a:extLst>
              <a:ext uri="{FF2B5EF4-FFF2-40B4-BE49-F238E27FC236}">
                <a16:creationId xmlns:a16="http://schemas.microsoft.com/office/drawing/2014/main" id="{6FD6D37D-203B-3407-CC52-D6D04F65E98C}"/>
              </a:ext>
            </a:extLst>
          </p:cNvPr>
          <p:cNvPicPr>
            <a:picLocks noChangeAspect="1"/>
          </p:cNvPicPr>
          <p:nvPr>
            <p:custDataLst>
              <p:tags r:id="rId1"/>
            </p:custDataLst>
          </p:nvPr>
        </p:nvPicPr>
        <p:blipFill>
          <a:blip r:embed="rId5"/>
          <a:stretch>
            <a:fillRect/>
          </a:stretch>
        </p:blipFill>
        <p:spPr>
          <a:xfrm>
            <a:off x="183012" y="3672319"/>
            <a:ext cx="324000" cy="324000"/>
          </a:xfrm>
          <a:prstGeom prst="rect">
            <a:avLst/>
          </a:prstGeom>
        </p:spPr>
      </p:pic>
      <p:pic>
        <p:nvPicPr>
          <p:cNvPr id="23" name="Image 22">
            <a:extLst>
              <a:ext uri="{FF2B5EF4-FFF2-40B4-BE49-F238E27FC236}">
                <a16:creationId xmlns:a16="http://schemas.microsoft.com/office/drawing/2014/main" id="{E153610D-E606-07F8-2C9E-444F8B8F95C9}"/>
              </a:ext>
            </a:extLst>
          </p:cNvPr>
          <p:cNvPicPr>
            <a:picLocks noChangeAspect="1"/>
          </p:cNvPicPr>
          <p:nvPr>
            <p:custDataLst>
              <p:tags r:id="rId2"/>
            </p:custDataLst>
          </p:nvPr>
        </p:nvPicPr>
        <p:blipFill>
          <a:blip r:embed="rId6"/>
          <a:stretch>
            <a:fillRect/>
          </a:stretch>
        </p:blipFill>
        <p:spPr>
          <a:xfrm>
            <a:off x="4031690" y="3676703"/>
            <a:ext cx="324000" cy="324000"/>
          </a:xfrm>
          <a:prstGeom prst="rect">
            <a:avLst/>
          </a:prstGeom>
        </p:spPr>
      </p:pic>
      <p:pic>
        <p:nvPicPr>
          <p:cNvPr id="24" name="Image 23" descr="Une image contenant texte, équipement électronique, afficher&#10;&#10;Description générée automatiquement">
            <a:extLst>
              <a:ext uri="{FF2B5EF4-FFF2-40B4-BE49-F238E27FC236}">
                <a16:creationId xmlns:a16="http://schemas.microsoft.com/office/drawing/2014/main" id="{CD912CC2-2281-14E0-A194-D433A6C6D731}"/>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246775" y="5403078"/>
            <a:ext cx="324000" cy="324000"/>
          </a:xfrm>
          <a:prstGeom prst="rect">
            <a:avLst/>
          </a:prstGeom>
        </p:spPr>
      </p:pic>
      <p:pic>
        <p:nvPicPr>
          <p:cNvPr id="25" name="Picture 2" descr="Bad review free icon">
            <a:extLst>
              <a:ext uri="{FF2B5EF4-FFF2-40B4-BE49-F238E27FC236}">
                <a16:creationId xmlns:a16="http://schemas.microsoft.com/office/drawing/2014/main" id="{498B24EB-A92C-6712-97F8-8DAFCC82B6B6}"/>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4064389" y="5371883"/>
            <a:ext cx="278860" cy="288000"/>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e 25">
            <a:extLst>
              <a:ext uri="{FF2B5EF4-FFF2-40B4-BE49-F238E27FC236}">
                <a16:creationId xmlns:a16="http://schemas.microsoft.com/office/drawing/2014/main" id="{127D6DF8-938D-3EFB-6E35-32E77D98B553}"/>
              </a:ext>
            </a:extLst>
          </p:cNvPr>
          <p:cNvGrpSpPr/>
          <p:nvPr/>
        </p:nvGrpSpPr>
        <p:grpSpPr>
          <a:xfrm>
            <a:off x="6563526" y="3758725"/>
            <a:ext cx="837680" cy="180000"/>
            <a:chOff x="4883133" y="1619442"/>
            <a:chExt cx="837680" cy="180000"/>
          </a:xfrm>
        </p:grpSpPr>
        <p:sp>
          <p:nvSpPr>
            <p:cNvPr id="27" name="Étoile : 5 branches 26">
              <a:extLst>
                <a:ext uri="{FF2B5EF4-FFF2-40B4-BE49-F238E27FC236}">
                  <a16:creationId xmlns:a16="http://schemas.microsoft.com/office/drawing/2014/main" id="{C4DDC525-1685-F3B1-5A8C-7100D04D2A5F}"/>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Étoile : 5 branches 27">
              <a:extLst>
                <a:ext uri="{FF2B5EF4-FFF2-40B4-BE49-F238E27FC236}">
                  <a16:creationId xmlns:a16="http://schemas.microsoft.com/office/drawing/2014/main" id="{251032A5-3C56-2D6A-0F16-FBE7AA057BD7}"/>
                </a:ext>
              </a:extLst>
            </p:cNvPr>
            <p:cNvSpPr/>
            <p:nvPr/>
          </p:nvSpPr>
          <p:spPr>
            <a:xfrm>
              <a:off x="5106087"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Étoile : 5 branches 28">
              <a:extLst>
                <a:ext uri="{FF2B5EF4-FFF2-40B4-BE49-F238E27FC236}">
                  <a16:creationId xmlns:a16="http://schemas.microsoft.com/office/drawing/2014/main" id="{77D3C6E2-553E-8444-1895-504FC2420BC6}"/>
                </a:ext>
              </a:extLst>
            </p:cNvPr>
            <p:cNvSpPr/>
            <p:nvPr/>
          </p:nvSpPr>
          <p:spPr>
            <a:xfrm>
              <a:off x="5317859"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Étoile : 5 branches 29">
              <a:extLst>
                <a:ext uri="{FF2B5EF4-FFF2-40B4-BE49-F238E27FC236}">
                  <a16:creationId xmlns:a16="http://schemas.microsoft.com/office/drawing/2014/main" id="{363A96C7-B3E2-34AA-71D4-45F635AC1020}"/>
                </a:ext>
              </a:extLst>
            </p:cNvPr>
            <p:cNvSpPr/>
            <p:nvPr/>
          </p:nvSpPr>
          <p:spPr>
            <a:xfrm>
              <a:off x="554081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e 30">
            <a:extLst>
              <a:ext uri="{FF2B5EF4-FFF2-40B4-BE49-F238E27FC236}">
                <a16:creationId xmlns:a16="http://schemas.microsoft.com/office/drawing/2014/main" id="{EF774EC9-0F9D-39F1-C9DE-DA97D5FA673A}"/>
              </a:ext>
            </a:extLst>
          </p:cNvPr>
          <p:cNvGrpSpPr/>
          <p:nvPr/>
        </p:nvGrpSpPr>
        <p:grpSpPr>
          <a:xfrm>
            <a:off x="6563526" y="5371883"/>
            <a:ext cx="837680" cy="180000"/>
            <a:chOff x="4883133" y="1619442"/>
            <a:chExt cx="837680" cy="180000"/>
          </a:xfrm>
        </p:grpSpPr>
        <p:sp>
          <p:nvSpPr>
            <p:cNvPr id="32" name="Étoile : 5 branches 31">
              <a:extLst>
                <a:ext uri="{FF2B5EF4-FFF2-40B4-BE49-F238E27FC236}">
                  <a16:creationId xmlns:a16="http://schemas.microsoft.com/office/drawing/2014/main" id="{36C42D78-B27C-7EF9-1CFD-6BA219A30B2C}"/>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Étoile : 5 branches 32">
              <a:extLst>
                <a:ext uri="{FF2B5EF4-FFF2-40B4-BE49-F238E27FC236}">
                  <a16:creationId xmlns:a16="http://schemas.microsoft.com/office/drawing/2014/main" id="{D41EDE61-1CEB-B975-0310-A4E356121FC2}"/>
                </a:ext>
              </a:extLst>
            </p:cNvPr>
            <p:cNvSpPr/>
            <p:nvPr/>
          </p:nvSpPr>
          <p:spPr>
            <a:xfrm>
              <a:off x="5106087"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Étoile : 5 branches 33">
              <a:extLst>
                <a:ext uri="{FF2B5EF4-FFF2-40B4-BE49-F238E27FC236}">
                  <a16:creationId xmlns:a16="http://schemas.microsoft.com/office/drawing/2014/main" id="{EBB4709C-253E-8931-79F5-F9FE7CEBF2FD}"/>
                </a:ext>
              </a:extLst>
            </p:cNvPr>
            <p:cNvSpPr/>
            <p:nvPr/>
          </p:nvSpPr>
          <p:spPr>
            <a:xfrm>
              <a:off x="5317859"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Étoile : 5 branches 34">
              <a:extLst>
                <a:ext uri="{FF2B5EF4-FFF2-40B4-BE49-F238E27FC236}">
                  <a16:creationId xmlns:a16="http://schemas.microsoft.com/office/drawing/2014/main" id="{94AAF843-D937-59AA-D16B-867D9968233C}"/>
                </a:ext>
              </a:extLst>
            </p:cNvPr>
            <p:cNvSpPr/>
            <p:nvPr/>
          </p:nvSpPr>
          <p:spPr>
            <a:xfrm>
              <a:off x="554081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e 44">
            <a:extLst>
              <a:ext uri="{FF2B5EF4-FFF2-40B4-BE49-F238E27FC236}">
                <a16:creationId xmlns:a16="http://schemas.microsoft.com/office/drawing/2014/main" id="{8EEE10B3-83CF-B759-EDA1-B4E381FAF65B}"/>
              </a:ext>
            </a:extLst>
          </p:cNvPr>
          <p:cNvGrpSpPr/>
          <p:nvPr/>
        </p:nvGrpSpPr>
        <p:grpSpPr>
          <a:xfrm>
            <a:off x="2684241" y="5475078"/>
            <a:ext cx="837680" cy="180000"/>
            <a:chOff x="4883133" y="1619442"/>
            <a:chExt cx="837680" cy="180000"/>
          </a:xfrm>
        </p:grpSpPr>
        <p:sp>
          <p:nvSpPr>
            <p:cNvPr id="46" name="Étoile : 5 branches 45">
              <a:extLst>
                <a:ext uri="{FF2B5EF4-FFF2-40B4-BE49-F238E27FC236}">
                  <a16:creationId xmlns:a16="http://schemas.microsoft.com/office/drawing/2014/main" id="{CED1399B-CAA2-57DD-ED21-66B2ABE8236B}"/>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Étoile : 5 branches 46">
              <a:extLst>
                <a:ext uri="{FF2B5EF4-FFF2-40B4-BE49-F238E27FC236}">
                  <a16:creationId xmlns:a16="http://schemas.microsoft.com/office/drawing/2014/main" id="{EDDDEC9D-7C97-0EDC-B6E4-C0EFDDF47146}"/>
                </a:ext>
              </a:extLst>
            </p:cNvPr>
            <p:cNvSpPr/>
            <p:nvPr/>
          </p:nvSpPr>
          <p:spPr>
            <a:xfrm>
              <a:off x="5106087"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Étoile : 5 branches 47">
              <a:extLst>
                <a:ext uri="{FF2B5EF4-FFF2-40B4-BE49-F238E27FC236}">
                  <a16:creationId xmlns:a16="http://schemas.microsoft.com/office/drawing/2014/main" id="{691DF85E-AB56-C602-96AD-E68400845BC3}"/>
                </a:ext>
              </a:extLst>
            </p:cNvPr>
            <p:cNvSpPr/>
            <p:nvPr/>
          </p:nvSpPr>
          <p:spPr>
            <a:xfrm>
              <a:off x="5317859"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Étoile : 5 branches 48">
              <a:extLst>
                <a:ext uri="{FF2B5EF4-FFF2-40B4-BE49-F238E27FC236}">
                  <a16:creationId xmlns:a16="http://schemas.microsoft.com/office/drawing/2014/main" id="{54367E66-6D72-6121-FE6C-7F9875700E3D}"/>
                </a:ext>
              </a:extLst>
            </p:cNvPr>
            <p:cNvSpPr/>
            <p:nvPr/>
          </p:nvSpPr>
          <p:spPr>
            <a:xfrm>
              <a:off x="554081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e 118">
            <a:extLst>
              <a:ext uri="{FF2B5EF4-FFF2-40B4-BE49-F238E27FC236}">
                <a16:creationId xmlns:a16="http://schemas.microsoft.com/office/drawing/2014/main" id="{A21E671B-9EAC-0B02-A142-6DA58DFA23AB}"/>
              </a:ext>
            </a:extLst>
          </p:cNvPr>
          <p:cNvGrpSpPr/>
          <p:nvPr/>
        </p:nvGrpSpPr>
        <p:grpSpPr>
          <a:xfrm>
            <a:off x="2684241" y="3748703"/>
            <a:ext cx="837680" cy="180000"/>
            <a:chOff x="4883133" y="1619442"/>
            <a:chExt cx="837680" cy="180000"/>
          </a:xfrm>
        </p:grpSpPr>
        <p:sp>
          <p:nvSpPr>
            <p:cNvPr id="120" name="Étoile : 5 branches 119">
              <a:extLst>
                <a:ext uri="{FF2B5EF4-FFF2-40B4-BE49-F238E27FC236}">
                  <a16:creationId xmlns:a16="http://schemas.microsoft.com/office/drawing/2014/main" id="{464EB32E-9756-922B-47D6-E75B8A9F958F}"/>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Étoile : 5 branches 120">
              <a:extLst>
                <a:ext uri="{FF2B5EF4-FFF2-40B4-BE49-F238E27FC236}">
                  <a16:creationId xmlns:a16="http://schemas.microsoft.com/office/drawing/2014/main" id="{15C9A6A6-1C05-BB29-6A59-8CF7B9C89CE2}"/>
                </a:ext>
              </a:extLst>
            </p:cNvPr>
            <p:cNvSpPr/>
            <p:nvPr/>
          </p:nvSpPr>
          <p:spPr>
            <a:xfrm>
              <a:off x="5106087"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Étoile : 5 branches 121">
              <a:extLst>
                <a:ext uri="{FF2B5EF4-FFF2-40B4-BE49-F238E27FC236}">
                  <a16:creationId xmlns:a16="http://schemas.microsoft.com/office/drawing/2014/main" id="{846EC63B-40FA-D0C8-E3FF-029BE5CB89A5}"/>
                </a:ext>
              </a:extLst>
            </p:cNvPr>
            <p:cNvSpPr/>
            <p:nvPr/>
          </p:nvSpPr>
          <p:spPr>
            <a:xfrm>
              <a:off x="5317859"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Étoile : 5 branches 122">
              <a:extLst>
                <a:ext uri="{FF2B5EF4-FFF2-40B4-BE49-F238E27FC236}">
                  <a16:creationId xmlns:a16="http://schemas.microsoft.com/office/drawing/2014/main" id="{FF949E4E-BDB7-ACDD-BF68-47B65D11346A}"/>
                </a:ext>
              </a:extLst>
            </p:cNvPr>
            <p:cNvSpPr/>
            <p:nvPr/>
          </p:nvSpPr>
          <p:spPr>
            <a:xfrm>
              <a:off x="554081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Rectangle : coins arrondis 123">
            <a:extLst>
              <a:ext uri="{FF2B5EF4-FFF2-40B4-BE49-F238E27FC236}">
                <a16:creationId xmlns:a16="http://schemas.microsoft.com/office/drawing/2014/main" id="{BBA70277-ED7D-822E-74F5-9CF890FE3163}"/>
              </a:ext>
            </a:extLst>
          </p:cNvPr>
          <p:cNvSpPr/>
          <p:nvPr/>
        </p:nvSpPr>
        <p:spPr>
          <a:xfrm>
            <a:off x="321819" y="1429067"/>
            <a:ext cx="7150697" cy="1949026"/>
          </a:xfrm>
          <a:prstGeom prst="roundRect">
            <a:avLst>
              <a:gd name="adj" fmla="val 3101"/>
            </a:avLst>
          </a:prstGeom>
          <a:solidFill>
            <a:schemeClr val="bg1"/>
          </a:solidFill>
          <a:ln w="19050">
            <a:solidFill>
              <a:srgbClr val="00B050"/>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25" name="ZoneTexte 124">
            <a:extLst>
              <a:ext uri="{FF2B5EF4-FFF2-40B4-BE49-F238E27FC236}">
                <a16:creationId xmlns:a16="http://schemas.microsoft.com/office/drawing/2014/main" id="{2FA0A9A4-127A-0A99-19EE-363D103AD54C}"/>
              </a:ext>
            </a:extLst>
          </p:cNvPr>
          <p:cNvSpPr txBox="1"/>
          <p:nvPr/>
        </p:nvSpPr>
        <p:spPr>
          <a:xfrm>
            <a:off x="1582783" y="1732363"/>
            <a:ext cx="4262852" cy="677349"/>
          </a:xfrm>
          <a:prstGeom prst="rect">
            <a:avLst/>
          </a:prstGeom>
          <a:noFill/>
        </p:spPr>
        <p:txBody>
          <a:bodyPr wrap="square" lIns="36000" tIns="0" rIns="36000" bIns="0" rtlCol="0" anchor="t">
            <a:spAutoFit/>
          </a:bodyPr>
          <a:lstStyle/>
          <a:p>
            <a:pPr marL="171450" indent="-171450">
              <a:lnSpc>
                <a:spcPct val="150000"/>
              </a:lnSpc>
              <a:buFontTx/>
              <a:buChar char="-"/>
              <a:defRPr/>
            </a:pPr>
            <a:r>
              <a:rPr kumimoji="0" lang="en-US" sz="1000" i="0" u="none" strike="noStrike" kern="1200" cap="none" spc="0" normalizeH="0" baseline="0" noProof="0" dirty="0">
                <a:ln>
                  <a:noFill/>
                </a:ln>
                <a:solidFill>
                  <a:schemeClr val="tx2"/>
                </a:solidFill>
                <a:effectLst/>
                <a:uLnTx/>
                <a:uFillTx/>
                <a:latin typeface="Montserrat"/>
                <a:ea typeface="+mn-ea"/>
                <a:cs typeface="+mn-cs"/>
              </a:rPr>
              <a:t>Review IAM policies </a:t>
            </a:r>
            <a:r>
              <a:rPr lang="en-US" sz="1000" dirty="0">
                <a:solidFill>
                  <a:schemeClr val="tx2"/>
                </a:solidFill>
                <a:latin typeface="Montserrat"/>
              </a:rPr>
              <a:t>and</a:t>
            </a:r>
            <a:r>
              <a:rPr kumimoji="0" lang="en-US" sz="1000" i="0" u="none" strike="noStrike" kern="1200" cap="none" spc="0" normalizeH="0" baseline="0" noProof="0" dirty="0">
                <a:ln>
                  <a:noFill/>
                </a:ln>
                <a:solidFill>
                  <a:schemeClr val="tx2"/>
                </a:solidFill>
                <a:effectLst/>
                <a:uLnTx/>
                <a:uFillTx/>
                <a:latin typeface="Montserrat"/>
                <a:ea typeface="+mn-ea"/>
                <a:cs typeface="+mn-cs"/>
              </a:rPr>
              <a:t> processes &amp; select IGA solutions</a:t>
            </a:r>
            <a:r>
              <a:rPr lang="en-US" sz="1000" dirty="0">
                <a:solidFill>
                  <a:schemeClr val="tx2"/>
                </a:solidFill>
                <a:latin typeface="Montserrat"/>
              </a:rPr>
              <a:t> </a:t>
            </a:r>
            <a:endParaRPr lang="en-US" sz="1000" i="0" u="none" strike="noStrike" kern="1200" cap="none" spc="0" normalizeH="0" baseline="0" noProof="0" dirty="0">
              <a:ln>
                <a:noFill/>
              </a:ln>
              <a:solidFill>
                <a:schemeClr val="tx2"/>
              </a:solidFill>
              <a:effectLst/>
              <a:uLnTx/>
              <a:uFillTx/>
              <a:latin typeface="Montserrat"/>
            </a:endParaRPr>
          </a:p>
          <a:p>
            <a:pPr marL="171450" indent="-171450">
              <a:lnSpc>
                <a:spcPct val="150000"/>
              </a:lnSpc>
              <a:buFontTx/>
              <a:buChar char="-"/>
              <a:defRPr/>
            </a:pPr>
            <a:r>
              <a:rPr lang="en-US" sz="1000" dirty="0">
                <a:solidFill>
                  <a:schemeClr val="tx2"/>
                </a:solidFill>
                <a:latin typeface="Montserrat"/>
              </a:rPr>
              <a:t>Integrate </a:t>
            </a:r>
            <a:r>
              <a:rPr lang="en-US" sz="1000" b="1" dirty="0">
                <a:solidFill>
                  <a:schemeClr val="tx2"/>
                </a:solidFill>
                <a:latin typeface="Montserrat"/>
              </a:rPr>
              <a:t>IGA with FR &amp; UK HRIS </a:t>
            </a:r>
            <a:r>
              <a:rPr lang="en-US" sz="1000" dirty="0">
                <a:solidFill>
                  <a:schemeClr val="tx2"/>
                </a:solidFill>
                <a:latin typeface="Montserrat"/>
              </a:rPr>
              <a:t>and add </a:t>
            </a:r>
            <a:r>
              <a:rPr lang="en-US" sz="1000" b="1" dirty="0">
                <a:solidFill>
                  <a:schemeClr val="tx2"/>
                </a:solidFill>
                <a:latin typeface="Montserrat"/>
              </a:rPr>
              <a:t>externals</a:t>
            </a:r>
            <a:r>
              <a:rPr lang="en-US" sz="1000" dirty="0">
                <a:solidFill>
                  <a:schemeClr val="tx2"/>
                </a:solidFill>
                <a:latin typeface="Montserrat"/>
              </a:rPr>
              <a:t> </a:t>
            </a:r>
          </a:p>
          <a:p>
            <a:pPr marL="171450" indent="-171450">
              <a:lnSpc>
                <a:spcPct val="150000"/>
              </a:lnSpc>
              <a:buFontTx/>
              <a:buChar char="-"/>
              <a:defRPr/>
            </a:pPr>
            <a:r>
              <a:rPr kumimoji="0" lang="en-US" sz="1000" i="0" u="none" strike="noStrike" kern="1200" cap="none" spc="0" normalizeH="0" baseline="0" noProof="0" dirty="0">
                <a:ln>
                  <a:noFill/>
                </a:ln>
                <a:solidFill>
                  <a:schemeClr val="tx2"/>
                </a:solidFill>
                <a:effectLst/>
                <a:uLnTx/>
                <a:uFillTx/>
                <a:latin typeface="Montserrat"/>
                <a:ea typeface="+mn-ea"/>
                <a:cs typeface="+mn-cs"/>
              </a:rPr>
              <a:t>Integrate </a:t>
            </a:r>
            <a:r>
              <a:rPr lang="en-US" sz="1000" b="1" dirty="0">
                <a:solidFill>
                  <a:schemeClr val="tx2"/>
                </a:solidFill>
                <a:latin typeface="Montserrat"/>
              </a:rPr>
              <a:t>IGA with Active Directory</a:t>
            </a:r>
            <a:r>
              <a:rPr lang="en-US" sz="1000" dirty="0">
                <a:solidFill>
                  <a:schemeClr val="tx2"/>
                </a:solidFill>
                <a:latin typeface="Montserrat"/>
              </a:rPr>
              <a:t> </a:t>
            </a:r>
            <a:r>
              <a:rPr lang="en-US" sz="1000" b="1" dirty="0">
                <a:solidFill>
                  <a:schemeClr val="tx2"/>
                </a:solidFill>
                <a:latin typeface="Montserrat"/>
              </a:rPr>
              <a:t>and CPEOPLE</a:t>
            </a:r>
            <a:r>
              <a:rPr lang="en-US" sz="1000" dirty="0">
                <a:solidFill>
                  <a:schemeClr val="tx2"/>
                </a:solidFill>
                <a:latin typeface="Montserrat"/>
              </a:rPr>
              <a:t> </a:t>
            </a:r>
          </a:p>
        </p:txBody>
      </p:sp>
      <p:sp>
        <p:nvSpPr>
          <p:cNvPr id="126" name="TextBox 16">
            <a:extLst>
              <a:ext uri="{FF2B5EF4-FFF2-40B4-BE49-F238E27FC236}">
                <a16:creationId xmlns:a16="http://schemas.microsoft.com/office/drawing/2014/main" id="{06919CD3-6184-5C6A-ACBE-C9E632BAF8C7}"/>
              </a:ext>
            </a:extLst>
          </p:cNvPr>
          <p:cNvSpPr txBox="1"/>
          <p:nvPr/>
        </p:nvSpPr>
        <p:spPr>
          <a:xfrm>
            <a:off x="912523" y="1475763"/>
            <a:ext cx="4787923"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Plan</a:t>
            </a:r>
            <a:endParaRPr lang="en-US" sz="1200" b="1">
              <a:solidFill>
                <a:srgbClr val="006B8D"/>
              </a:solidFill>
              <a:latin typeface="Montserrat" panose="00000500000000000000" pitchFamily="2" charset="0"/>
            </a:endParaRPr>
          </a:p>
        </p:txBody>
      </p:sp>
      <p:sp>
        <p:nvSpPr>
          <p:cNvPr id="128" name="Rectangle : coins arrondis 127">
            <a:extLst>
              <a:ext uri="{FF2B5EF4-FFF2-40B4-BE49-F238E27FC236}">
                <a16:creationId xmlns:a16="http://schemas.microsoft.com/office/drawing/2014/main" id="{17049186-91BC-E03B-907D-05D09F084AAC}"/>
              </a:ext>
            </a:extLst>
          </p:cNvPr>
          <p:cNvSpPr/>
          <p:nvPr/>
        </p:nvSpPr>
        <p:spPr>
          <a:xfrm>
            <a:off x="8596747" y="1429068"/>
            <a:ext cx="3441456" cy="899684"/>
          </a:xfrm>
          <a:prstGeom prst="roundRect">
            <a:avLst>
              <a:gd name="adj" fmla="val 3101"/>
            </a:avLst>
          </a:prstGeom>
          <a:solidFill>
            <a:schemeClr val="bg1"/>
          </a:solidFill>
          <a:ln w="19050">
            <a:solidFill>
              <a:schemeClr val="tx2">
                <a:lumMod val="40000"/>
                <a:lumOff val="60000"/>
              </a:schemeClr>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29" name="TextBox 16">
            <a:extLst>
              <a:ext uri="{FF2B5EF4-FFF2-40B4-BE49-F238E27FC236}">
                <a16:creationId xmlns:a16="http://schemas.microsoft.com/office/drawing/2014/main" id="{28DE4872-1B80-9C4A-A697-E9D79F2231B2}"/>
              </a:ext>
            </a:extLst>
          </p:cNvPr>
          <p:cNvSpPr txBox="1"/>
          <p:nvPr/>
        </p:nvSpPr>
        <p:spPr>
          <a:xfrm>
            <a:off x="8776006" y="1543864"/>
            <a:ext cx="1800000"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Security </a:t>
            </a:r>
            <a:endParaRPr lang="en-US" sz="1200" b="1">
              <a:solidFill>
                <a:srgbClr val="006B8D"/>
              </a:solidFill>
              <a:latin typeface="Montserrat" panose="00000500000000000000" pitchFamily="2" charset="0"/>
            </a:endParaRPr>
          </a:p>
        </p:txBody>
      </p:sp>
      <p:sp>
        <p:nvSpPr>
          <p:cNvPr id="130" name="ZoneTexte 129">
            <a:extLst>
              <a:ext uri="{FF2B5EF4-FFF2-40B4-BE49-F238E27FC236}">
                <a16:creationId xmlns:a16="http://schemas.microsoft.com/office/drawing/2014/main" id="{41C91BB0-4DAE-74E5-DACE-8E136E2E7476}"/>
              </a:ext>
            </a:extLst>
          </p:cNvPr>
          <p:cNvSpPr txBox="1"/>
          <p:nvPr/>
        </p:nvSpPr>
        <p:spPr>
          <a:xfrm>
            <a:off x="8957986" y="1753153"/>
            <a:ext cx="2842294" cy="307777"/>
          </a:xfrm>
          <a:prstGeom prst="rect">
            <a:avLst/>
          </a:prstGeom>
          <a:noFill/>
        </p:spPr>
        <p:txBody>
          <a:bodyPr wrap="square" lIns="36000" tIns="0" rIns="36000" bIns="0" rtlCol="0">
            <a:spAutoFit/>
          </a:bodyPr>
          <a:lstStyle/>
          <a:p>
            <a:pPr marR="0" lvl="0" algn="l" defTabSz="914400" rtl="0" eaLnBrk="1" fontAlgn="auto" latinLnBrk="0" hangingPunct="1">
              <a:lnSpc>
                <a:spcPct val="100000"/>
              </a:lnSpc>
              <a:spcBef>
                <a:spcPts val="0"/>
              </a:spcBef>
              <a:spcAft>
                <a:spcPts val="0"/>
              </a:spcAft>
              <a:buClrTx/>
              <a:buSzTx/>
              <a:tabLst/>
              <a:defRPr/>
            </a:pPr>
            <a:br>
              <a:rPr lang="en-US" sz="1000">
                <a:solidFill>
                  <a:srgbClr val="003C5A"/>
                </a:solidFill>
                <a:latin typeface="Montserrat"/>
              </a:rPr>
            </a:br>
            <a:endParaRPr lang="en-US" sz="1000">
              <a:solidFill>
                <a:srgbClr val="003C5A"/>
              </a:solidFill>
              <a:latin typeface="Montserrat"/>
            </a:endParaRPr>
          </a:p>
        </p:txBody>
      </p:sp>
      <p:sp>
        <p:nvSpPr>
          <p:cNvPr id="131" name="ZoneTexte 130">
            <a:extLst>
              <a:ext uri="{FF2B5EF4-FFF2-40B4-BE49-F238E27FC236}">
                <a16:creationId xmlns:a16="http://schemas.microsoft.com/office/drawing/2014/main" id="{25159CD4-3D3E-7F40-6097-2FA851BE913B}"/>
              </a:ext>
            </a:extLst>
          </p:cNvPr>
          <p:cNvSpPr txBox="1"/>
          <p:nvPr/>
        </p:nvSpPr>
        <p:spPr>
          <a:xfrm>
            <a:off x="391720" y="1875254"/>
            <a:ext cx="806846" cy="215444"/>
          </a:xfrm>
          <a:prstGeom prst="rect">
            <a:avLst/>
          </a:prstGeom>
          <a:noFill/>
        </p:spPr>
        <p:txBody>
          <a:bodyPr wrap="square" lIns="36000" tIns="0" rIns="36000" bIns="0" rtlCol="0">
            <a:spAutoFit/>
          </a:bodyPr>
          <a:lstStyle/>
          <a:p>
            <a:r>
              <a:rPr lang="fr-FR" sz="1400" b="1"/>
              <a:t>2023</a:t>
            </a:r>
          </a:p>
        </p:txBody>
      </p:sp>
      <p:sp>
        <p:nvSpPr>
          <p:cNvPr id="132" name="ZoneTexte 131">
            <a:extLst>
              <a:ext uri="{FF2B5EF4-FFF2-40B4-BE49-F238E27FC236}">
                <a16:creationId xmlns:a16="http://schemas.microsoft.com/office/drawing/2014/main" id="{6027344F-3BA6-0786-959E-0039057C8DF8}"/>
              </a:ext>
            </a:extLst>
          </p:cNvPr>
          <p:cNvSpPr txBox="1"/>
          <p:nvPr/>
        </p:nvSpPr>
        <p:spPr>
          <a:xfrm>
            <a:off x="391720" y="2430467"/>
            <a:ext cx="806846" cy="215444"/>
          </a:xfrm>
          <a:prstGeom prst="rect">
            <a:avLst/>
          </a:prstGeom>
          <a:noFill/>
        </p:spPr>
        <p:txBody>
          <a:bodyPr wrap="square" lIns="36000" tIns="0" rIns="36000" bIns="0" rtlCol="0">
            <a:spAutoFit/>
          </a:bodyPr>
          <a:lstStyle/>
          <a:p>
            <a:r>
              <a:rPr lang="fr-FR" sz="1400" b="1"/>
              <a:t>2024</a:t>
            </a:r>
          </a:p>
        </p:txBody>
      </p:sp>
      <p:sp>
        <p:nvSpPr>
          <p:cNvPr id="133" name="ZoneTexte 132">
            <a:extLst>
              <a:ext uri="{FF2B5EF4-FFF2-40B4-BE49-F238E27FC236}">
                <a16:creationId xmlns:a16="http://schemas.microsoft.com/office/drawing/2014/main" id="{E75025FA-41D2-A09F-5E84-91CFF3B828CE}"/>
              </a:ext>
            </a:extLst>
          </p:cNvPr>
          <p:cNvSpPr txBox="1"/>
          <p:nvPr/>
        </p:nvSpPr>
        <p:spPr>
          <a:xfrm>
            <a:off x="391720" y="2981280"/>
            <a:ext cx="806846" cy="215444"/>
          </a:xfrm>
          <a:prstGeom prst="rect">
            <a:avLst/>
          </a:prstGeom>
          <a:noFill/>
        </p:spPr>
        <p:txBody>
          <a:bodyPr wrap="square" lIns="36000" tIns="0" rIns="36000" bIns="0" rtlCol="0">
            <a:spAutoFit/>
          </a:bodyPr>
          <a:lstStyle/>
          <a:p>
            <a:r>
              <a:rPr lang="fr-FR" sz="1400" b="1"/>
              <a:t>2025</a:t>
            </a:r>
          </a:p>
        </p:txBody>
      </p:sp>
      <p:cxnSp>
        <p:nvCxnSpPr>
          <p:cNvPr id="138" name="Connecteur droit 137">
            <a:extLst>
              <a:ext uri="{FF2B5EF4-FFF2-40B4-BE49-F238E27FC236}">
                <a16:creationId xmlns:a16="http://schemas.microsoft.com/office/drawing/2014/main" id="{462DE24A-CFF4-431E-6CD4-8251A5320AD4}"/>
              </a:ext>
            </a:extLst>
          </p:cNvPr>
          <p:cNvCxnSpPr/>
          <p:nvPr/>
        </p:nvCxnSpPr>
        <p:spPr>
          <a:xfrm>
            <a:off x="408775" y="2191261"/>
            <a:ext cx="6902431"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4A373720-456A-FC4B-5293-3F1A8444FED8}"/>
              </a:ext>
            </a:extLst>
          </p:cNvPr>
          <p:cNvCxnSpPr/>
          <p:nvPr/>
        </p:nvCxnSpPr>
        <p:spPr>
          <a:xfrm>
            <a:off x="408775" y="2867536"/>
            <a:ext cx="6902431"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40" name="Rectangle : coins arrondis 139">
            <a:extLst>
              <a:ext uri="{FF2B5EF4-FFF2-40B4-BE49-F238E27FC236}">
                <a16:creationId xmlns:a16="http://schemas.microsoft.com/office/drawing/2014/main" id="{9046B55E-5686-E6B2-C33E-5CACBF6C0DAE}"/>
              </a:ext>
            </a:extLst>
          </p:cNvPr>
          <p:cNvSpPr/>
          <p:nvPr/>
        </p:nvSpPr>
        <p:spPr>
          <a:xfrm>
            <a:off x="8596747" y="2483657"/>
            <a:ext cx="3441456" cy="900000"/>
          </a:xfrm>
          <a:prstGeom prst="roundRect">
            <a:avLst>
              <a:gd name="adj" fmla="val 3101"/>
            </a:avLst>
          </a:prstGeom>
          <a:solidFill>
            <a:schemeClr val="bg1"/>
          </a:solidFill>
          <a:ln w="19050">
            <a:solidFill>
              <a:srgbClr val="FF0000"/>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42" name="ZoneTexte 141">
            <a:extLst>
              <a:ext uri="{FF2B5EF4-FFF2-40B4-BE49-F238E27FC236}">
                <a16:creationId xmlns:a16="http://schemas.microsoft.com/office/drawing/2014/main" id="{2AE0E539-67CF-8795-D4FF-6A424410588C}"/>
              </a:ext>
            </a:extLst>
          </p:cNvPr>
          <p:cNvSpPr txBox="1"/>
          <p:nvPr/>
        </p:nvSpPr>
        <p:spPr>
          <a:xfrm>
            <a:off x="8776006" y="2838246"/>
            <a:ext cx="2820814" cy="461665"/>
          </a:xfrm>
          <a:prstGeom prst="rect">
            <a:avLst/>
          </a:prstGeom>
          <a:noFill/>
        </p:spPr>
        <p:txBody>
          <a:bodyPr wrap="square" lIns="36000" tIns="0" rIns="36000" bIns="0" rtlCol="0">
            <a:spAutoFit/>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i="0" u="none" strike="noStrike" kern="1200" cap="none" spc="0" normalizeH="0" baseline="0" noProof="0">
                <a:ln>
                  <a:noFill/>
                </a:ln>
                <a:solidFill>
                  <a:srgbClr val="003C5A"/>
                </a:solidFill>
                <a:effectLst/>
                <a:uLnTx/>
                <a:uFillTx/>
                <a:latin typeface="Montserrat"/>
                <a:ea typeface="+mn-ea"/>
                <a:cs typeface="+mn-cs"/>
              </a:rPr>
              <a:t>Annual license cost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00">
                <a:solidFill>
                  <a:srgbClr val="003C5A"/>
                </a:solidFill>
                <a:latin typeface="Montserrat"/>
              </a:rPr>
              <a:t>Require support team formation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i="0" u="none" strike="noStrike" kern="1200" cap="none" spc="0" normalizeH="0" baseline="0" noProof="0">
                <a:ln>
                  <a:noFill/>
                </a:ln>
                <a:solidFill>
                  <a:srgbClr val="003C5A"/>
                </a:solidFill>
                <a:effectLst/>
                <a:uLnTx/>
                <a:uFillTx/>
                <a:latin typeface="Montserrat"/>
                <a:ea typeface="+mn-ea"/>
                <a:cs typeface="+mn-cs"/>
              </a:rPr>
              <a:t>Less customization </a:t>
            </a:r>
          </a:p>
        </p:txBody>
      </p:sp>
      <p:sp>
        <p:nvSpPr>
          <p:cNvPr id="143" name="ZoneTexte 142">
            <a:extLst>
              <a:ext uri="{FF2B5EF4-FFF2-40B4-BE49-F238E27FC236}">
                <a16:creationId xmlns:a16="http://schemas.microsoft.com/office/drawing/2014/main" id="{806C1F36-DB07-2618-5303-000827E84BBE}"/>
              </a:ext>
            </a:extLst>
          </p:cNvPr>
          <p:cNvSpPr txBox="1"/>
          <p:nvPr/>
        </p:nvSpPr>
        <p:spPr>
          <a:xfrm>
            <a:off x="8743998" y="1915664"/>
            <a:ext cx="2820814" cy="153888"/>
          </a:xfrm>
          <a:prstGeom prst="rect">
            <a:avLst/>
          </a:prstGeom>
          <a:noFill/>
        </p:spPr>
        <p:txBody>
          <a:bodyPr wrap="square" lIns="36000" tIns="0" rIns="36000" bIns="0" rtlCol="0">
            <a:spAutoFit/>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00">
                <a:solidFill>
                  <a:srgbClr val="003C5A"/>
                </a:solidFill>
                <a:latin typeface="Montserrat"/>
              </a:rPr>
              <a:t>State-of-the art implementation</a:t>
            </a:r>
            <a:endParaRPr kumimoji="0" lang="en-US" sz="1000" i="0" u="none" strike="noStrike" kern="1200" cap="none" spc="0" normalizeH="0" baseline="0" noProof="0">
              <a:ln>
                <a:noFill/>
              </a:ln>
              <a:solidFill>
                <a:srgbClr val="003C5A"/>
              </a:solidFill>
              <a:effectLst/>
              <a:uLnTx/>
              <a:uFillTx/>
              <a:latin typeface="Montserrat"/>
              <a:ea typeface="+mn-ea"/>
              <a:cs typeface="+mn-cs"/>
            </a:endParaRPr>
          </a:p>
        </p:txBody>
      </p:sp>
      <p:sp>
        <p:nvSpPr>
          <p:cNvPr id="91" name="ZoneTexte 90">
            <a:extLst>
              <a:ext uri="{FF2B5EF4-FFF2-40B4-BE49-F238E27FC236}">
                <a16:creationId xmlns:a16="http://schemas.microsoft.com/office/drawing/2014/main" id="{B01D0B38-71B1-E232-CA5B-A78256498348}"/>
              </a:ext>
            </a:extLst>
          </p:cNvPr>
          <p:cNvSpPr txBox="1"/>
          <p:nvPr/>
        </p:nvSpPr>
        <p:spPr>
          <a:xfrm>
            <a:off x="1582783" y="2407277"/>
            <a:ext cx="4262853" cy="919068"/>
          </a:xfrm>
          <a:prstGeom prst="rect">
            <a:avLst/>
          </a:prstGeom>
          <a:noFill/>
        </p:spPr>
        <p:txBody>
          <a:bodyPr wrap="square" lIns="36000" tIns="0" rIns="36000" bIns="0" rtlCol="0" anchor="t">
            <a:spAutoFit/>
          </a:bodyPr>
          <a:lstStyle/>
          <a:p>
            <a:pPr marL="171450" marR="0" lvl="0" indent="-171450" algn="l" defTabSz="914400" rtl="0" eaLnBrk="1" fontAlgn="auto" latinLnBrk="0" hangingPunct="1">
              <a:lnSpc>
                <a:spcPct val="150000"/>
              </a:lnSpc>
              <a:spcBef>
                <a:spcPts val="0"/>
              </a:spcBef>
              <a:spcAft>
                <a:spcPts val="0"/>
              </a:spcAft>
              <a:buClrTx/>
              <a:buSzTx/>
              <a:buFontTx/>
              <a:buChar char="-"/>
              <a:tabLst/>
              <a:defRPr/>
            </a:pPr>
            <a:r>
              <a:rPr kumimoji="0" lang="en-US" sz="1000" i="0" u="none" strike="noStrike" kern="1200" cap="none" spc="0" normalizeH="0" baseline="0" noProof="0" dirty="0">
                <a:ln>
                  <a:noFill/>
                </a:ln>
                <a:solidFill>
                  <a:srgbClr val="003C5A"/>
                </a:solidFill>
                <a:effectLst/>
                <a:uLnTx/>
                <a:uFillTx/>
                <a:latin typeface="Montserrat"/>
                <a:ea typeface="+mn-ea"/>
                <a:cs typeface="+mn-cs"/>
              </a:rPr>
              <a:t>Integrate </a:t>
            </a:r>
            <a:r>
              <a:rPr kumimoji="0" lang="en-US" sz="1000" b="1" i="0" u="none" strike="noStrike" kern="1200" cap="none" spc="0" normalizeH="0" baseline="0" noProof="0" dirty="0">
                <a:ln>
                  <a:noFill/>
                </a:ln>
                <a:solidFill>
                  <a:srgbClr val="003C5A"/>
                </a:solidFill>
                <a:effectLst/>
                <a:uLnTx/>
                <a:uFillTx/>
                <a:latin typeface="Montserrat"/>
                <a:ea typeface="+mn-ea"/>
                <a:cs typeface="+mn-cs"/>
              </a:rPr>
              <a:t>major applications</a:t>
            </a:r>
            <a:endParaRPr lang="fr-FR" dirty="0">
              <a:ea typeface="+mn-ea"/>
              <a:cs typeface="+mn-cs"/>
            </a:endParaRPr>
          </a:p>
          <a:p>
            <a:pPr marL="171450" marR="0" lvl="0" indent="-171450" algn="l" defTabSz="914400" rtl="0" eaLnBrk="1" fontAlgn="auto" latinLnBrk="0" hangingPunct="1">
              <a:lnSpc>
                <a:spcPct val="150000"/>
              </a:lnSpc>
              <a:spcBef>
                <a:spcPts val="0"/>
              </a:spcBef>
              <a:spcAft>
                <a:spcPts val="0"/>
              </a:spcAft>
              <a:buClrTx/>
              <a:buSzTx/>
              <a:buFontTx/>
              <a:buChar char="-"/>
              <a:tabLst/>
              <a:defRPr/>
            </a:pPr>
            <a:r>
              <a:rPr lang="en-US" sz="1000" dirty="0">
                <a:solidFill>
                  <a:srgbClr val="003C5A"/>
                </a:solidFill>
                <a:latin typeface="Montserrat"/>
              </a:rPr>
              <a:t>Start creating </a:t>
            </a:r>
            <a:r>
              <a:rPr lang="en-US" sz="1000" b="1" dirty="0">
                <a:solidFill>
                  <a:srgbClr val="003C5A"/>
                </a:solidFill>
                <a:latin typeface="Montserrat"/>
              </a:rPr>
              <a:t>roles</a:t>
            </a:r>
            <a:r>
              <a:rPr lang="en-US" sz="1000" dirty="0">
                <a:solidFill>
                  <a:srgbClr val="003C5A"/>
                </a:solidFill>
                <a:latin typeface="Montserrat"/>
              </a:rPr>
              <a:t> </a:t>
            </a:r>
            <a:r>
              <a:rPr kumimoji="0" lang="en-US" sz="1000" i="0" u="none" strike="noStrike" kern="1200" cap="none" spc="0" normalizeH="0" baseline="0" noProof="0" dirty="0">
                <a:ln>
                  <a:noFill/>
                </a:ln>
                <a:solidFill>
                  <a:srgbClr val="003C5A"/>
                </a:solidFill>
                <a:effectLst/>
                <a:uLnTx/>
                <a:uFillTx/>
                <a:latin typeface="Montserrat"/>
                <a:ea typeface="+mn-ea"/>
                <a:cs typeface="+mn-cs"/>
              </a:rPr>
              <a:t>   </a:t>
            </a:r>
            <a:endParaRPr lang="en-US" sz="1000" dirty="0">
              <a:solidFill>
                <a:srgbClr val="003C5A"/>
              </a:solidFill>
              <a:latin typeface="Montserrat"/>
            </a:endParaRPr>
          </a:p>
          <a:p>
            <a:pPr marL="171450" marR="0" lvl="0" indent="-171450" algn="l" defTabSz="914400" rtl="0" eaLnBrk="1" fontAlgn="auto" latinLnBrk="0" hangingPunct="1">
              <a:lnSpc>
                <a:spcPct val="150000"/>
              </a:lnSpc>
              <a:spcBef>
                <a:spcPts val="0"/>
              </a:spcBef>
              <a:spcAft>
                <a:spcPts val="0"/>
              </a:spcAft>
              <a:buClrTx/>
              <a:buSzTx/>
              <a:buFontTx/>
              <a:buChar char="-"/>
              <a:tabLst/>
              <a:defRPr/>
            </a:pPr>
            <a:r>
              <a:rPr kumimoji="0" lang="en-US" sz="1000" i="0" u="none" strike="noStrike" kern="1200" cap="none" spc="0" normalizeH="0" baseline="0" noProof="0" dirty="0" err="1">
                <a:ln>
                  <a:noFill/>
                </a:ln>
                <a:solidFill>
                  <a:srgbClr val="003C5A"/>
                </a:solidFill>
                <a:effectLst/>
                <a:uLnTx/>
                <a:uFillTx/>
                <a:latin typeface="Montserrat"/>
                <a:ea typeface="+mn-ea"/>
                <a:cs typeface="+mn-cs"/>
              </a:rPr>
              <a:t>Inte</a:t>
            </a:r>
            <a:r>
              <a:rPr lang="en-US" sz="1000" dirty="0">
                <a:solidFill>
                  <a:srgbClr val="003C5A"/>
                </a:solidFill>
                <a:latin typeface="Montserrat"/>
              </a:rPr>
              <a:t>grate “</a:t>
            </a:r>
            <a:r>
              <a:rPr lang="en-US" sz="1000" b="1" dirty="0">
                <a:solidFill>
                  <a:srgbClr val="003C5A"/>
                </a:solidFill>
                <a:latin typeface="Montserrat"/>
              </a:rPr>
              <a:t>global users’ repository</a:t>
            </a:r>
            <a:r>
              <a:rPr lang="en-US" sz="1000" dirty="0">
                <a:solidFill>
                  <a:srgbClr val="003C5A"/>
                </a:solidFill>
                <a:latin typeface="Montserrat"/>
              </a:rPr>
              <a:t>” and </a:t>
            </a:r>
            <a:r>
              <a:rPr lang="en-US" sz="1000" b="1" dirty="0">
                <a:solidFill>
                  <a:srgbClr val="003C5A"/>
                </a:solidFill>
                <a:latin typeface="Montserrat"/>
              </a:rPr>
              <a:t>other entities</a:t>
            </a:r>
            <a:endParaRPr kumimoji="0" lang="en-US" sz="1000" b="1" i="0" u="none" strike="noStrike" kern="1200" cap="none" spc="0" normalizeH="0" baseline="0" noProof="0" dirty="0">
              <a:ln>
                <a:noFill/>
              </a:ln>
              <a:solidFill>
                <a:srgbClr val="003C5A"/>
              </a:solidFill>
              <a:effectLst/>
              <a:uLnTx/>
              <a:uFillTx/>
              <a:latin typeface="Montserrat"/>
              <a:ea typeface="+mn-ea"/>
              <a:cs typeface="+mn-cs"/>
            </a:endParaRPr>
          </a:p>
          <a:p>
            <a:pPr marL="171450" marR="0" lvl="0" indent="-171450" algn="l" defTabSz="914400" rtl="0" eaLnBrk="1" fontAlgn="auto" latinLnBrk="0" hangingPunct="1">
              <a:lnSpc>
                <a:spcPct val="150000"/>
              </a:lnSpc>
              <a:spcBef>
                <a:spcPts val="0"/>
              </a:spcBef>
              <a:spcAft>
                <a:spcPts val="0"/>
              </a:spcAft>
              <a:buClrTx/>
              <a:buSzTx/>
              <a:buFontTx/>
              <a:buChar char="-"/>
              <a:tabLst/>
              <a:defRPr/>
            </a:pPr>
            <a:r>
              <a:rPr lang="en-US" sz="1000" dirty="0">
                <a:solidFill>
                  <a:srgbClr val="003C5A"/>
                </a:solidFill>
                <a:latin typeface="Montserrat"/>
              </a:rPr>
              <a:t>Increase applications and roles coverage</a:t>
            </a:r>
            <a:endParaRPr lang="en-US" sz="1000" dirty="0">
              <a:latin typeface="Montserrat"/>
            </a:endParaRPr>
          </a:p>
        </p:txBody>
      </p:sp>
      <p:sp>
        <p:nvSpPr>
          <p:cNvPr id="92" name="ZoneTexte 91">
            <a:extLst>
              <a:ext uri="{FF2B5EF4-FFF2-40B4-BE49-F238E27FC236}">
                <a16:creationId xmlns:a16="http://schemas.microsoft.com/office/drawing/2014/main" id="{AD856ABE-31C2-58FC-8919-4DA60835A966}"/>
              </a:ext>
            </a:extLst>
          </p:cNvPr>
          <p:cNvSpPr txBox="1"/>
          <p:nvPr/>
        </p:nvSpPr>
        <p:spPr>
          <a:xfrm rot="-5400000">
            <a:off x="994954" y="1903721"/>
            <a:ext cx="659681" cy="268471"/>
          </a:xfrm>
          <a:prstGeom prst="rect">
            <a:avLst/>
          </a:prstGeom>
          <a:noFill/>
        </p:spPr>
        <p:txBody>
          <a:bodyPr wrap="square" lIns="36000" tIns="0" rIns="36000" bIns="0" rtlCol="0" anchor="t">
            <a:spAutoFit/>
          </a:bodyPr>
          <a:lstStyle/>
          <a:p>
            <a:pPr algn="ctr">
              <a:lnSpc>
                <a:spcPct val="150000"/>
              </a:lnSpc>
              <a:defRPr/>
            </a:pPr>
            <a:r>
              <a:rPr lang="en-US" sz="1300">
                <a:solidFill>
                  <a:schemeClr val="tx2"/>
                </a:solidFill>
                <a:latin typeface="Montserrat"/>
              </a:rPr>
              <a:t>MVP</a:t>
            </a:r>
            <a:endParaRPr lang="fr-FR" sz="1300">
              <a:solidFill>
                <a:schemeClr val="tx2"/>
              </a:solidFill>
              <a:cs typeface="Calibri"/>
            </a:endParaRPr>
          </a:p>
        </p:txBody>
      </p:sp>
      <p:sp>
        <p:nvSpPr>
          <p:cNvPr id="94" name="ZoneTexte 93">
            <a:extLst>
              <a:ext uri="{FF2B5EF4-FFF2-40B4-BE49-F238E27FC236}">
                <a16:creationId xmlns:a16="http://schemas.microsoft.com/office/drawing/2014/main" id="{B66FAF15-19D2-C025-7699-73385633778A}"/>
              </a:ext>
            </a:extLst>
          </p:cNvPr>
          <p:cNvSpPr txBox="1"/>
          <p:nvPr/>
        </p:nvSpPr>
        <p:spPr>
          <a:xfrm rot="-5400000">
            <a:off x="815339" y="2763692"/>
            <a:ext cx="942708" cy="268471"/>
          </a:xfrm>
          <a:prstGeom prst="rect">
            <a:avLst/>
          </a:prstGeom>
          <a:noFill/>
        </p:spPr>
        <p:txBody>
          <a:bodyPr wrap="square" lIns="36000" tIns="0" rIns="36000" bIns="0" rtlCol="0" anchor="t">
            <a:spAutoFit/>
          </a:bodyPr>
          <a:lstStyle/>
          <a:p>
            <a:pPr algn="ctr">
              <a:lnSpc>
                <a:spcPct val="150000"/>
              </a:lnSpc>
              <a:defRPr/>
            </a:pPr>
            <a:r>
              <a:rPr lang="en-US" sz="1300">
                <a:latin typeface="Montserrat"/>
              </a:rPr>
              <a:t>Extension</a:t>
            </a:r>
            <a:endParaRPr lang="fr-FR" sz="1300">
              <a:cs typeface="Calibri"/>
            </a:endParaRPr>
          </a:p>
        </p:txBody>
      </p:sp>
      <p:sp>
        <p:nvSpPr>
          <p:cNvPr id="11" name="TextBox 16">
            <a:extLst>
              <a:ext uri="{FF2B5EF4-FFF2-40B4-BE49-F238E27FC236}">
                <a16:creationId xmlns:a16="http://schemas.microsoft.com/office/drawing/2014/main" id="{122DAF3F-75DB-73B8-E64D-7255049339B6}"/>
              </a:ext>
            </a:extLst>
          </p:cNvPr>
          <p:cNvSpPr txBox="1"/>
          <p:nvPr/>
        </p:nvSpPr>
        <p:spPr>
          <a:xfrm>
            <a:off x="8808014" y="2598453"/>
            <a:ext cx="1800000"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Limitations </a:t>
            </a:r>
            <a:endParaRPr lang="en-US" sz="1200" b="1">
              <a:solidFill>
                <a:srgbClr val="006B8D"/>
              </a:solidFill>
              <a:latin typeface="Montserrat" panose="00000500000000000000" pitchFamily="2" charset="0"/>
            </a:endParaRPr>
          </a:p>
        </p:txBody>
      </p:sp>
      <p:cxnSp>
        <p:nvCxnSpPr>
          <p:cNvPr id="6" name="Connecteur droit 5">
            <a:extLst>
              <a:ext uri="{FF2B5EF4-FFF2-40B4-BE49-F238E27FC236}">
                <a16:creationId xmlns:a16="http://schemas.microsoft.com/office/drawing/2014/main" id="{A675F7D0-3ED7-19D1-7CF5-BEBD6AEDBC01}"/>
              </a:ext>
            </a:extLst>
          </p:cNvPr>
          <p:cNvCxnSpPr>
            <a:cxnSpLocks/>
          </p:cNvCxnSpPr>
          <p:nvPr/>
        </p:nvCxnSpPr>
        <p:spPr>
          <a:xfrm>
            <a:off x="8887337" y="4016524"/>
            <a:ext cx="85310"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Connecteur droit 12">
            <a:extLst>
              <a:ext uri="{FF2B5EF4-FFF2-40B4-BE49-F238E27FC236}">
                <a16:creationId xmlns:a16="http://schemas.microsoft.com/office/drawing/2014/main" id="{DF4C68B1-2C18-30D7-C4EF-B17334D1AAEE}"/>
              </a:ext>
            </a:extLst>
          </p:cNvPr>
          <p:cNvCxnSpPr>
            <a:cxnSpLocks/>
          </p:cNvCxnSpPr>
          <p:nvPr/>
        </p:nvCxnSpPr>
        <p:spPr>
          <a:xfrm>
            <a:off x="8909109" y="5541510"/>
            <a:ext cx="85310"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Rectangle : coins arrondis 13">
            <a:extLst>
              <a:ext uri="{FF2B5EF4-FFF2-40B4-BE49-F238E27FC236}">
                <a16:creationId xmlns:a16="http://schemas.microsoft.com/office/drawing/2014/main" id="{69179A7E-0626-1378-599C-B9A99C556090}"/>
              </a:ext>
            </a:extLst>
          </p:cNvPr>
          <p:cNvSpPr/>
          <p:nvPr/>
        </p:nvSpPr>
        <p:spPr>
          <a:xfrm>
            <a:off x="8596746" y="4749771"/>
            <a:ext cx="3516681" cy="1826236"/>
          </a:xfrm>
          <a:prstGeom prst="roundRect">
            <a:avLst>
              <a:gd name="adj" fmla="val 11966"/>
            </a:avLst>
          </a:prstGeom>
          <a:solidFill>
            <a:srgbClr val="009581"/>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40" name="Rectangle : coins arrondis 14">
            <a:extLst>
              <a:ext uri="{FF2B5EF4-FFF2-40B4-BE49-F238E27FC236}">
                <a16:creationId xmlns:a16="http://schemas.microsoft.com/office/drawing/2014/main" id="{029CC6FA-F283-33BA-0E3E-9E83E2AD9FA3}"/>
              </a:ext>
            </a:extLst>
          </p:cNvPr>
          <p:cNvSpPr/>
          <p:nvPr/>
        </p:nvSpPr>
        <p:spPr>
          <a:xfrm>
            <a:off x="9507759" y="4855007"/>
            <a:ext cx="2529468" cy="1667508"/>
          </a:xfrm>
          <a:prstGeom prst="roundRect">
            <a:avLst>
              <a:gd name="adj" fmla="val 11966"/>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42" name="ZoneTexte 17">
            <a:extLst>
              <a:ext uri="{FF2B5EF4-FFF2-40B4-BE49-F238E27FC236}">
                <a16:creationId xmlns:a16="http://schemas.microsoft.com/office/drawing/2014/main" id="{63F9A36D-C877-DFF4-D498-F0992076479C}"/>
              </a:ext>
            </a:extLst>
          </p:cNvPr>
          <p:cNvSpPr txBox="1"/>
          <p:nvPr/>
        </p:nvSpPr>
        <p:spPr>
          <a:xfrm>
            <a:off x="9350119" y="5439230"/>
            <a:ext cx="1400468" cy="215444"/>
          </a:xfrm>
          <a:prstGeom prst="rect">
            <a:avLst/>
          </a:prstGeom>
          <a:noFill/>
        </p:spPr>
        <p:txBody>
          <a:bodyPr wrap="square" lIns="0" tIns="0" rIns="0" bIns="0" rtlCol="0" anchor="b">
            <a:spAutoFit/>
          </a:bodyPr>
          <a:lstStyle/>
          <a:p>
            <a:pPr algn="ctr">
              <a:defRPr/>
            </a:pPr>
            <a:r>
              <a:rPr lang="en-US" sz="1400" dirty="0">
                <a:solidFill>
                  <a:srgbClr val="009581"/>
                </a:solidFill>
                <a:latin typeface="Montserrat SemiBold"/>
              </a:rPr>
              <a:t>Technical</a:t>
            </a:r>
          </a:p>
        </p:txBody>
      </p:sp>
      <p:pic>
        <p:nvPicPr>
          <p:cNvPr id="43" name="Graphique 18" descr="Pièces avec un remplissage uni">
            <a:extLst>
              <a:ext uri="{FF2B5EF4-FFF2-40B4-BE49-F238E27FC236}">
                <a16:creationId xmlns:a16="http://schemas.microsoft.com/office/drawing/2014/main" id="{F2B6C35D-0166-B7D1-6604-27F5F0722E1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78380" y="5236126"/>
            <a:ext cx="572549" cy="572549"/>
          </a:xfrm>
          <a:prstGeom prst="rect">
            <a:avLst/>
          </a:prstGeom>
        </p:spPr>
      </p:pic>
      <p:sp>
        <p:nvSpPr>
          <p:cNvPr id="44" name="TextBox 16">
            <a:extLst>
              <a:ext uri="{FF2B5EF4-FFF2-40B4-BE49-F238E27FC236}">
                <a16:creationId xmlns:a16="http://schemas.microsoft.com/office/drawing/2014/main" id="{5FE95459-8B54-FE72-217F-8A7F41A0D3BC}"/>
              </a:ext>
            </a:extLst>
          </p:cNvPr>
          <p:cNvSpPr txBox="1"/>
          <p:nvPr/>
        </p:nvSpPr>
        <p:spPr>
          <a:xfrm>
            <a:off x="9738248" y="3756297"/>
            <a:ext cx="1800000"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Limitations </a:t>
            </a:r>
            <a:endParaRPr lang="en-US" sz="1200" b="1">
              <a:solidFill>
                <a:srgbClr val="006B8D"/>
              </a:solidFill>
              <a:latin typeface="Montserrat" panose="00000500000000000000" pitchFamily="2" charset="0"/>
            </a:endParaRPr>
          </a:p>
        </p:txBody>
      </p:sp>
      <p:sp>
        <p:nvSpPr>
          <p:cNvPr id="50" name="ZoneTexte 2">
            <a:extLst>
              <a:ext uri="{FF2B5EF4-FFF2-40B4-BE49-F238E27FC236}">
                <a16:creationId xmlns:a16="http://schemas.microsoft.com/office/drawing/2014/main" id="{E3DE395C-2BB8-B6C4-3EC6-CB4EA291A18F}"/>
              </a:ext>
            </a:extLst>
          </p:cNvPr>
          <p:cNvSpPr txBox="1"/>
          <p:nvPr/>
        </p:nvSpPr>
        <p:spPr>
          <a:xfrm>
            <a:off x="9417418" y="5913683"/>
            <a:ext cx="1400468" cy="215444"/>
          </a:xfrm>
          <a:prstGeom prst="rect">
            <a:avLst/>
          </a:prstGeom>
          <a:noFill/>
        </p:spPr>
        <p:txBody>
          <a:bodyPr wrap="square" lIns="0" tIns="0" rIns="0" bIns="0" rtlCol="0" anchor="b">
            <a:spAutoFit/>
          </a:bodyPr>
          <a:lstStyle/>
          <a:p>
            <a:pPr algn="ctr">
              <a:defRPr/>
            </a:pPr>
            <a:r>
              <a:rPr lang="en-US" sz="1400" dirty="0">
                <a:solidFill>
                  <a:srgbClr val="009581"/>
                </a:solidFill>
                <a:latin typeface="Montserrat SemiBold"/>
              </a:rPr>
              <a:t>Functional</a:t>
            </a:r>
          </a:p>
        </p:txBody>
      </p:sp>
      <p:sp>
        <p:nvSpPr>
          <p:cNvPr id="55" name="ZoneTexte 36">
            <a:extLst>
              <a:ext uri="{FF2B5EF4-FFF2-40B4-BE49-F238E27FC236}">
                <a16:creationId xmlns:a16="http://schemas.microsoft.com/office/drawing/2014/main" id="{99F155EA-0F99-F54D-8DB6-E31D815DC3ED}"/>
              </a:ext>
            </a:extLst>
          </p:cNvPr>
          <p:cNvSpPr txBox="1"/>
          <p:nvPr/>
        </p:nvSpPr>
        <p:spPr>
          <a:xfrm>
            <a:off x="9635642" y="6165068"/>
            <a:ext cx="1354060" cy="138499"/>
          </a:xfrm>
          <a:prstGeom prst="rect">
            <a:avLst/>
          </a:prstGeom>
          <a:noFill/>
        </p:spPr>
        <p:txBody>
          <a:bodyPr wrap="square" lIns="36000" tIns="0" rIns="36000" bIns="0" rtlCol="0" anchor="t">
            <a:spAutoFit/>
          </a:bodyPr>
          <a:lstStyle/>
          <a:p>
            <a:pPr defTabSz="1219170">
              <a:defRPr/>
            </a:pPr>
            <a:r>
              <a:rPr lang="en-US" sz="900" kern="0" dirty="0">
                <a:solidFill>
                  <a:srgbClr val="003C5A"/>
                </a:solidFill>
                <a:latin typeface="Montserrat"/>
              </a:rPr>
              <a:t>MVP: 100 K€</a:t>
            </a:r>
            <a:endParaRPr lang="fr-FR" dirty="0"/>
          </a:p>
        </p:txBody>
      </p:sp>
      <p:sp>
        <p:nvSpPr>
          <p:cNvPr id="64" name="ZoneTexte 37">
            <a:extLst>
              <a:ext uri="{FF2B5EF4-FFF2-40B4-BE49-F238E27FC236}">
                <a16:creationId xmlns:a16="http://schemas.microsoft.com/office/drawing/2014/main" id="{75027C2F-80AA-E684-8D8E-9AEB3CAD1DE6}"/>
              </a:ext>
            </a:extLst>
          </p:cNvPr>
          <p:cNvSpPr txBox="1"/>
          <p:nvPr/>
        </p:nvSpPr>
        <p:spPr>
          <a:xfrm>
            <a:off x="9594638" y="5675211"/>
            <a:ext cx="1285540" cy="143565"/>
          </a:xfrm>
          <a:prstGeom prst="rect">
            <a:avLst/>
          </a:prstGeom>
          <a:noFill/>
        </p:spPr>
        <p:txBody>
          <a:bodyPr wrap="square" lIns="36000" tIns="0" rIns="36000" bIns="0" rtlCol="0" anchor="t">
            <a:spAutoFit/>
          </a:bodyPr>
          <a:lstStyle/>
          <a:p>
            <a:pPr defTabSz="1219170">
              <a:defRPr/>
            </a:pPr>
            <a:r>
              <a:rPr kumimoji="0" lang="en-US" sz="900" b="0" i="0" u="none" strike="noStrike" kern="0" cap="none" spc="0" normalizeH="0" baseline="0" noProof="0" dirty="0">
                <a:ln>
                  <a:noFill/>
                </a:ln>
                <a:solidFill>
                  <a:srgbClr val="003C5A"/>
                </a:solidFill>
                <a:effectLst/>
                <a:uLnTx/>
                <a:uFillTx/>
                <a:latin typeface="Montserrat"/>
                <a:ea typeface="+mn-ea"/>
                <a:cs typeface="+mn-cs"/>
              </a:rPr>
              <a:t>MCO : </a:t>
            </a:r>
            <a:r>
              <a:rPr lang="en-US" sz="900" kern="0" dirty="0">
                <a:solidFill>
                  <a:srgbClr val="003C5A"/>
                </a:solidFill>
                <a:latin typeface="Montserrat"/>
              </a:rPr>
              <a:t>50 </a:t>
            </a:r>
            <a:r>
              <a:rPr kumimoji="0" lang="en-US" sz="900" b="0" i="0" u="none" strike="noStrike" kern="0" cap="none" spc="0" normalizeH="0" baseline="0" noProof="0" dirty="0">
                <a:ln>
                  <a:noFill/>
                </a:ln>
                <a:solidFill>
                  <a:srgbClr val="003C5A"/>
                </a:solidFill>
                <a:effectLst/>
                <a:uLnTx/>
                <a:uFillTx/>
                <a:latin typeface="Montserrat"/>
                <a:ea typeface="+mn-ea"/>
                <a:cs typeface="+mn-cs"/>
              </a:rPr>
              <a:t>K€</a:t>
            </a:r>
            <a:r>
              <a:rPr lang="en-US" sz="900" kern="0" dirty="0">
                <a:solidFill>
                  <a:srgbClr val="003C5A"/>
                </a:solidFill>
                <a:latin typeface="Montserrat"/>
              </a:rPr>
              <a:t> </a:t>
            </a:r>
            <a:endParaRPr kumimoji="0" lang="en-US" sz="933" b="0" i="0" u="none" strike="noStrike" kern="0" cap="none" spc="0" normalizeH="0" baseline="0" noProof="0" dirty="0">
              <a:ln>
                <a:noFill/>
              </a:ln>
              <a:solidFill>
                <a:srgbClr val="003C5A"/>
              </a:solidFill>
              <a:effectLst/>
              <a:uLnTx/>
              <a:uFillTx/>
              <a:latin typeface="Montserrat"/>
              <a:ea typeface="+mn-ea"/>
              <a:cs typeface="+mn-cs"/>
            </a:endParaRPr>
          </a:p>
        </p:txBody>
      </p:sp>
      <p:cxnSp>
        <p:nvCxnSpPr>
          <p:cNvPr id="69" name="Connecteur droit 11">
            <a:extLst>
              <a:ext uri="{FF2B5EF4-FFF2-40B4-BE49-F238E27FC236}">
                <a16:creationId xmlns:a16="http://schemas.microsoft.com/office/drawing/2014/main" id="{E694836E-553A-3C9C-9BAE-CFADCCB3FDA7}"/>
              </a:ext>
            </a:extLst>
          </p:cNvPr>
          <p:cNvCxnSpPr>
            <a:cxnSpLocks/>
          </p:cNvCxnSpPr>
          <p:nvPr/>
        </p:nvCxnSpPr>
        <p:spPr>
          <a:xfrm>
            <a:off x="8897233" y="3808706"/>
            <a:ext cx="85310"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70" name="Rectangle : coins arrondis 16">
            <a:extLst>
              <a:ext uri="{FF2B5EF4-FFF2-40B4-BE49-F238E27FC236}">
                <a16:creationId xmlns:a16="http://schemas.microsoft.com/office/drawing/2014/main" id="{21E9731F-B0B5-E3F7-2DAF-6EB18BC6B4ED}"/>
              </a:ext>
            </a:extLst>
          </p:cNvPr>
          <p:cNvSpPr/>
          <p:nvPr/>
        </p:nvSpPr>
        <p:spPr>
          <a:xfrm>
            <a:off x="8584870" y="3518099"/>
            <a:ext cx="3516681" cy="1177692"/>
          </a:xfrm>
          <a:prstGeom prst="roundRect">
            <a:avLst>
              <a:gd name="adj" fmla="val 11966"/>
            </a:avLst>
          </a:prstGeom>
          <a:solidFill>
            <a:srgbClr val="009581"/>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71" name="Rectangle : coins arrondis 19">
            <a:extLst>
              <a:ext uri="{FF2B5EF4-FFF2-40B4-BE49-F238E27FC236}">
                <a16:creationId xmlns:a16="http://schemas.microsoft.com/office/drawing/2014/main" id="{20B1C415-54A7-39E5-4530-A2288816B4A5}"/>
              </a:ext>
            </a:extLst>
          </p:cNvPr>
          <p:cNvSpPr/>
          <p:nvPr/>
        </p:nvSpPr>
        <p:spPr>
          <a:xfrm>
            <a:off x="9495883" y="3617008"/>
            <a:ext cx="2529468" cy="1012639"/>
          </a:xfrm>
          <a:prstGeom prst="roundRect">
            <a:avLst>
              <a:gd name="adj" fmla="val 11966"/>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pic>
        <p:nvPicPr>
          <p:cNvPr id="72" name="Graphique 40" descr="Pièces avec un remplissage uni">
            <a:extLst>
              <a:ext uri="{FF2B5EF4-FFF2-40B4-BE49-F238E27FC236}">
                <a16:creationId xmlns:a16="http://schemas.microsoft.com/office/drawing/2014/main" id="{7827A881-A19A-1EF1-18A6-441BE4EC2D8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26919" y="3622076"/>
            <a:ext cx="572549" cy="572549"/>
          </a:xfrm>
          <a:prstGeom prst="rect">
            <a:avLst/>
          </a:prstGeom>
        </p:spPr>
      </p:pic>
      <p:sp>
        <p:nvSpPr>
          <p:cNvPr id="73" name="ZoneTexte 89">
            <a:extLst>
              <a:ext uri="{FF2B5EF4-FFF2-40B4-BE49-F238E27FC236}">
                <a16:creationId xmlns:a16="http://schemas.microsoft.com/office/drawing/2014/main" id="{C1CEE58C-D071-0E73-28F0-A86BFAE956D4}"/>
              </a:ext>
            </a:extLst>
          </p:cNvPr>
          <p:cNvSpPr txBox="1"/>
          <p:nvPr/>
        </p:nvSpPr>
        <p:spPr>
          <a:xfrm>
            <a:off x="8537648" y="5820228"/>
            <a:ext cx="1008582" cy="215444"/>
          </a:xfrm>
          <a:prstGeom prst="rect">
            <a:avLst/>
          </a:prstGeom>
          <a:noFill/>
        </p:spPr>
        <p:txBody>
          <a:bodyPr wrap="square" lIns="0" tIns="0" rIns="0" bIns="0" rtlCol="0" anchor="b">
            <a:spAutoFit/>
          </a:bodyPr>
          <a:lstStyle/>
          <a:p>
            <a:pPr algn="ctr">
              <a:defRPr/>
            </a:pPr>
            <a:r>
              <a:rPr lang="en-US" sz="1400">
                <a:solidFill>
                  <a:schemeClr val="bg1"/>
                </a:solidFill>
                <a:latin typeface="Montserrat SemiBold"/>
              </a:rPr>
              <a:t>RUN</a:t>
            </a:r>
            <a:endParaRPr lang="fr-FR"/>
          </a:p>
        </p:txBody>
      </p:sp>
      <p:sp>
        <p:nvSpPr>
          <p:cNvPr id="74" name="ZoneTexte 7">
            <a:extLst>
              <a:ext uri="{FF2B5EF4-FFF2-40B4-BE49-F238E27FC236}">
                <a16:creationId xmlns:a16="http://schemas.microsoft.com/office/drawing/2014/main" id="{D94CAFD4-F019-1332-A8D2-5C219C67F7DB}"/>
              </a:ext>
            </a:extLst>
          </p:cNvPr>
          <p:cNvSpPr txBox="1"/>
          <p:nvPr/>
        </p:nvSpPr>
        <p:spPr>
          <a:xfrm>
            <a:off x="9597333" y="3699147"/>
            <a:ext cx="2103641" cy="215444"/>
          </a:xfrm>
          <a:prstGeom prst="rect">
            <a:avLst/>
          </a:prstGeom>
          <a:noFill/>
        </p:spPr>
        <p:txBody>
          <a:bodyPr wrap="square" lIns="0" tIns="0" rIns="0" bIns="0" rtlCol="0" anchor="b">
            <a:spAutoFit/>
          </a:bodyPr>
          <a:lstStyle/>
          <a:p>
            <a:pPr>
              <a:defRPr/>
            </a:pPr>
            <a:r>
              <a:rPr lang="en-US" sz="1400" dirty="0">
                <a:solidFill>
                  <a:srgbClr val="009581"/>
                </a:solidFill>
                <a:latin typeface="Montserrat SemiBold"/>
              </a:rPr>
              <a:t>Integration (MVP)</a:t>
            </a:r>
          </a:p>
        </p:txBody>
      </p:sp>
      <p:sp>
        <p:nvSpPr>
          <p:cNvPr id="75" name="ZoneTexte 71">
            <a:extLst>
              <a:ext uri="{FF2B5EF4-FFF2-40B4-BE49-F238E27FC236}">
                <a16:creationId xmlns:a16="http://schemas.microsoft.com/office/drawing/2014/main" id="{E225C995-86F4-42DC-80EB-0A44259DDE9C}"/>
              </a:ext>
            </a:extLst>
          </p:cNvPr>
          <p:cNvSpPr txBox="1"/>
          <p:nvPr/>
        </p:nvSpPr>
        <p:spPr>
          <a:xfrm>
            <a:off x="9633459" y="4957221"/>
            <a:ext cx="2103641" cy="215444"/>
          </a:xfrm>
          <a:prstGeom prst="rect">
            <a:avLst/>
          </a:prstGeom>
          <a:noFill/>
        </p:spPr>
        <p:txBody>
          <a:bodyPr wrap="square" lIns="0" tIns="0" rIns="0" bIns="0" rtlCol="0" anchor="b">
            <a:spAutoFit/>
          </a:bodyPr>
          <a:lstStyle/>
          <a:p>
            <a:pPr>
              <a:defRPr/>
            </a:pPr>
            <a:r>
              <a:rPr lang="en-US" sz="1400" dirty="0">
                <a:solidFill>
                  <a:srgbClr val="009581"/>
                </a:solidFill>
                <a:latin typeface="Montserrat SemiBold"/>
              </a:rPr>
              <a:t>Licensing</a:t>
            </a:r>
          </a:p>
        </p:txBody>
      </p:sp>
      <p:sp>
        <p:nvSpPr>
          <p:cNvPr id="76" name="ZoneTexte 73">
            <a:extLst>
              <a:ext uri="{FF2B5EF4-FFF2-40B4-BE49-F238E27FC236}">
                <a16:creationId xmlns:a16="http://schemas.microsoft.com/office/drawing/2014/main" id="{C8F1DFED-45E6-9D41-0F33-AAB260E31723}"/>
              </a:ext>
            </a:extLst>
          </p:cNvPr>
          <p:cNvSpPr txBox="1"/>
          <p:nvPr/>
        </p:nvSpPr>
        <p:spPr>
          <a:xfrm>
            <a:off x="9131781" y="5175541"/>
            <a:ext cx="2040041" cy="143565"/>
          </a:xfrm>
          <a:prstGeom prst="rect">
            <a:avLst/>
          </a:prstGeom>
          <a:noFill/>
        </p:spPr>
        <p:txBody>
          <a:bodyPr wrap="square" lIns="0" tIns="0" rIns="0" bIns="0" rtlCol="0" anchor="b">
            <a:spAutoFit/>
          </a:bodyPr>
          <a:lstStyle/>
          <a:p>
            <a:pPr algn="ctr">
              <a:defRPr/>
            </a:pPr>
            <a:r>
              <a:rPr lang="en-US" sz="900" kern="0" dirty="0">
                <a:solidFill>
                  <a:srgbClr val="003C5A"/>
                </a:solidFill>
                <a:latin typeface="Montserrat"/>
              </a:rPr>
              <a:t>250 – 300 K€ / year</a:t>
            </a:r>
          </a:p>
        </p:txBody>
      </p:sp>
      <p:sp>
        <p:nvSpPr>
          <p:cNvPr id="77" name="ZoneTexte 71">
            <a:extLst>
              <a:ext uri="{FF2B5EF4-FFF2-40B4-BE49-F238E27FC236}">
                <a16:creationId xmlns:a16="http://schemas.microsoft.com/office/drawing/2014/main" id="{2AA51EE0-41D6-65B3-2C8D-A43C2DA506FD}"/>
              </a:ext>
            </a:extLst>
          </p:cNvPr>
          <p:cNvSpPr txBox="1"/>
          <p:nvPr/>
        </p:nvSpPr>
        <p:spPr>
          <a:xfrm>
            <a:off x="9625156" y="3975017"/>
            <a:ext cx="2103641" cy="153888"/>
          </a:xfrm>
          <a:prstGeom prst="rect">
            <a:avLst/>
          </a:prstGeom>
          <a:noFill/>
        </p:spPr>
        <p:txBody>
          <a:bodyPr wrap="square" lIns="0" tIns="0" rIns="0" bIns="0" rtlCol="0" anchor="b">
            <a:spAutoFit/>
          </a:bodyPr>
          <a:lstStyle/>
          <a:p>
            <a:pPr>
              <a:defRPr/>
            </a:pPr>
            <a:r>
              <a:rPr lang="en-US" sz="1000" dirty="0">
                <a:solidFill>
                  <a:srgbClr val="009581"/>
                </a:solidFill>
                <a:latin typeface="Montserrat SemiBold"/>
              </a:rPr>
              <a:t>Change &amp; project management</a:t>
            </a:r>
          </a:p>
        </p:txBody>
      </p:sp>
      <p:sp>
        <p:nvSpPr>
          <p:cNvPr id="78" name="ZoneTexte 71">
            <a:extLst>
              <a:ext uri="{FF2B5EF4-FFF2-40B4-BE49-F238E27FC236}">
                <a16:creationId xmlns:a16="http://schemas.microsoft.com/office/drawing/2014/main" id="{B4ABFCCC-03AB-3EE0-863F-618D250F72E8}"/>
              </a:ext>
            </a:extLst>
          </p:cNvPr>
          <p:cNvSpPr txBox="1"/>
          <p:nvPr/>
        </p:nvSpPr>
        <p:spPr>
          <a:xfrm>
            <a:off x="9633459" y="4286375"/>
            <a:ext cx="2103641" cy="153888"/>
          </a:xfrm>
          <a:prstGeom prst="rect">
            <a:avLst/>
          </a:prstGeom>
          <a:noFill/>
        </p:spPr>
        <p:txBody>
          <a:bodyPr wrap="square" lIns="0" tIns="0" rIns="0" bIns="0" rtlCol="0" anchor="b">
            <a:spAutoFit/>
          </a:bodyPr>
          <a:lstStyle/>
          <a:p>
            <a:pPr>
              <a:defRPr/>
            </a:pPr>
            <a:r>
              <a:rPr lang="en-US" sz="1000" dirty="0">
                <a:solidFill>
                  <a:srgbClr val="009581"/>
                </a:solidFill>
                <a:latin typeface="Montserrat SemiBold"/>
              </a:rPr>
              <a:t>Integration</a:t>
            </a:r>
          </a:p>
        </p:txBody>
      </p:sp>
      <p:sp>
        <p:nvSpPr>
          <p:cNvPr id="79" name="ZoneTexte 9">
            <a:extLst>
              <a:ext uri="{FF2B5EF4-FFF2-40B4-BE49-F238E27FC236}">
                <a16:creationId xmlns:a16="http://schemas.microsoft.com/office/drawing/2014/main" id="{8053EFD4-1958-7698-3E5B-1B1E48624AAB}"/>
              </a:ext>
            </a:extLst>
          </p:cNvPr>
          <p:cNvSpPr txBox="1"/>
          <p:nvPr/>
        </p:nvSpPr>
        <p:spPr>
          <a:xfrm>
            <a:off x="9625156" y="4458117"/>
            <a:ext cx="1400468" cy="138499"/>
          </a:xfrm>
          <a:prstGeom prst="rect">
            <a:avLst/>
          </a:prstGeom>
          <a:noFill/>
        </p:spPr>
        <p:txBody>
          <a:bodyPr wrap="square" lIns="0" tIns="0" rIns="0" bIns="0" rtlCol="0" anchor="b">
            <a:spAutoFit/>
          </a:bodyPr>
          <a:lstStyle/>
          <a:p>
            <a:pPr defTabSz="1219170">
              <a:defRPr/>
            </a:pPr>
            <a:r>
              <a:rPr lang="en-US" sz="900" kern="0" dirty="0">
                <a:solidFill>
                  <a:srgbClr val="003C5A"/>
                </a:solidFill>
                <a:latin typeface="Montserrat"/>
              </a:rPr>
              <a:t>160  K€</a:t>
            </a:r>
          </a:p>
        </p:txBody>
      </p:sp>
      <p:sp>
        <p:nvSpPr>
          <p:cNvPr id="80" name="ZoneTexte 9">
            <a:extLst>
              <a:ext uri="{FF2B5EF4-FFF2-40B4-BE49-F238E27FC236}">
                <a16:creationId xmlns:a16="http://schemas.microsoft.com/office/drawing/2014/main" id="{EDCB76C6-A5BA-6EB1-FBB5-0C2521BAACE3}"/>
              </a:ext>
            </a:extLst>
          </p:cNvPr>
          <p:cNvSpPr txBox="1"/>
          <p:nvPr/>
        </p:nvSpPr>
        <p:spPr>
          <a:xfrm>
            <a:off x="9633459" y="4149086"/>
            <a:ext cx="1400468" cy="138499"/>
          </a:xfrm>
          <a:prstGeom prst="rect">
            <a:avLst/>
          </a:prstGeom>
          <a:noFill/>
        </p:spPr>
        <p:txBody>
          <a:bodyPr wrap="square" lIns="0" tIns="0" rIns="0" bIns="0" rtlCol="0" anchor="b">
            <a:spAutoFit/>
          </a:bodyPr>
          <a:lstStyle/>
          <a:p>
            <a:pPr defTabSz="1219170">
              <a:defRPr/>
            </a:pPr>
            <a:r>
              <a:rPr lang="en-US" sz="900" kern="0" dirty="0">
                <a:solidFill>
                  <a:srgbClr val="003C5A"/>
                </a:solidFill>
                <a:latin typeface="Montserrat"/>
              </a:rPr>
              <a:t>200  K€</a:t>
            </a:r>
          </a:p>
        </p:txBody>
      </p:sp>
      <p:sp>
        <p:nvSpPr>
          <p:cNvPr id="81" name="ZoneTexte 87">
            <a:extLst>
              <a:ext uri="{FF2B5EF4-FFF2-40B4-BE49-F238E27FC236}">
                <a16:creationId xmlns:a16="http://schemas.microsoft.com/office/drawing/2014/main" id="{4585909F-D2E7-7777-5A5F-F76E56C3D07A}"/>
              </a:ext>
            </a:extLst>
          </p:cNvPr>
          <p:cNvSpPr txBox="1"/>
          <p:nvPr/>
        </p:nvSpPr>
        <p:spPr>
          <a:xfrm>
            <a:off x="8339726" y="4260608"/>
            <a:ext cx="1400468" cy="215444"/>
          </a:xfrm>
          <a:prstGeom prst="rect">
            <a:avLst/>
          </a:prstGeom>
          <a:noFill/>
        </p:spPr>
        <p:txBody>
          <a:bodyPr wrap="square" lIns="0" tIns="0" rIns="0" bIns="0" rtlCol="0" anchor="b">
            <a:spAutoFit/>
          </a:bodyPr>
          <a:lstStyle/>
          <a:p>
            <a:pPr algn="ctr">
              <a:defRPr/>
            </a:pPr>
            <a:r>
              <a:rPr lang="en-US" sz="1400" dirty="0">
                <a:solidFill>
                  <a:schemeClr val="bg1"/>
                </a:solidFill>
                <a:latin typeface="Montserrat SemiBold"/>
              </a:rPr>
              <a:t>BUILD</a:t>
            </a:r>
            <a:endParaRPr lang="fr-FR" dirty="0"/>
          </a:p>
        </p:txBody>
      </p:sp>
      <p:sp>
        <p:nvSpPr>
          <p:cNvPr id="89" name="ZoneTexte 88">
            <a:extLst>
              <a:ext uri="{FF2B5EF4-FFF2-40B4-BE49-F238E27FC236}">
                <a16:creationId xmlns:a16="http://schemas.microsoft.com/office/drawing/2014/main" id="{CD0195B3-8902-5085-51A7-30BD28ADC3A8}"/>
              </a:ext>
            </a:extLst>
          </p:cNvPr>
          <p:cNvSpPr txBox="1"/>
          <p:nvPr/>
        </p:nvSpPr>
        <p:spPr>
          <a:xfrm>
            <a:off x="10913980" y="3718576"/>
            <a:ext cx="1400468" cy="215444"/>
          </a:xfrm>
          <a:prstGeom prst="rect">
            <a:avLst/>
          </a:prstGeom>
          <a:noFill/>
        </p:spPr>
        <p:txBody>
          <a:bodyPr wrap="square" lIns="0" tIns="0" rIns="0" bIns="0" rtlCol="0" anchor="b">
            <a:spAutoFit/>
          </a:bodyPr>
          <a:lstStyle/>
          <a:p>
            <a:pPr algn="ctr">
              <a:defRPr/>
            </a:pPr>
            <a:r>
              <a:rPr lang="en-US" sz="1400" dirty="0">
                <a:solidFill>
                  <a:srgbClr val="009581"/>
                </a:solidFill>
                <a:latin typeface="Montserrat ExtraBold" panose="00000900000000000000" pitchFamily="2" charset="0"/>
              </a:rPr>
              <a:t>~360 k€</a:t>
            </a:r>
          </a:p>
        </p:txBody>
      </p:sp>
    </p:spTree>
    <p:extLst>
      <p:ext uri="{BB962C8B-B14F-4D97-AF65-F5344CB8AC3E}">
        <p14:creationId xmlns:p14="http://schemas.microsoft.com/office/powerpoint/2010/main" val="2875428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87378A-E497-6EAF-6B71-3A17596C32F7}"/>
              </a:ext>
            </a:extLst>
          </p:cNvPr>
          <p:cNvSpPr>
            <a:spLocks noGrp="1"/>
          </p:cNvSpPr>
          <p:nvPr>
            <p:ph type="title"/>
          </p:nvPr>
        </p:nvSpPr>
        <p:spPr>
          <a:xfrm>
            <a:off x="982195" y="649659"/>
            <a:ext cx="11126787" cy="609398"/>
          </a:xfrm>
        </p:spPr>
        <p:txBody>
          <a:bodyPr/>
          <a:lstStyle/>
          <a:p>
            <a:r>
              <a:rPr lang="en-US" dirty="0">
                <a:ea typeface="+mj-lt"/>
                <a:cs typeface="+mj-lt"/>
              </a:rPr>
              <a:t>FOCUS ON SCENARIO #2.B : NEW BYCN DEVELOPMENT</a:t>
            </a:r>
            <a:endParaRPr lang="en-US" b="0" dirty="0">
              <a:ea typeface="+mj-lt"/>
              <a:cs typeface="+mj-lt"/>
            </a:endParaRPr>
          </a:p>
        </p:txBody>
      </p:sp>
      <p:sp>
        <p:nvSpPr>
          <p:cNvPr id="4" name="Espace réservé du pied de page 3">
            <a:extLst>
              <a:ext uri="{FF2B5EF4-FFF2-40B4-BE49-F238E27FC236}">
                <a16:creationId xmlns:a16="http://schemas.microsoft.com/office/drawing/2014/main" id="{3E094D7E-6FA5-74A2-3E9B-0A58F43537F2}"/>
              </a:ext>
            </a:extLst>
          </p:cNvPr>
          <p:cNvSpPr>
            <a:spLocks noGrp="1"/>
          </p:cNvSpPr>
          <p:nvPr>
            <p:ph type="ftr" sz="quarter" idx="13"/>
          </p:nvPr>
        </p:nvSpPr>
        <p:spPr/>
        <p:txBody>
          <a:bodyPr/>
          <a:lstStyle/>
          <a:p>
            <a:r>
              <a:rPr lang="en-US"/>
              <a:t>Bouygues Construction  |  </a:t>
            </a:r>
            <a:r>
              <a:rPr lang="fr-FR">
                <a:ea typeface="+mn-lt"/>
                <a:cs typeface="+mn-lt"/>
              </a:rPr>
              <a:t>02 2023</a:t>
            </a:r>
            <a:endParaRPr lang="en-US"/>
          </a:p>
        </p:txBody>
      </p:sp>
      <p:sp>
        <p:nvSpPr>
          <p:cNvPr id="5" name="Espace réservé du numéro de diapositive 4">
            <a:extLst>
              <a:ext uri="{FF2B5EF4-FFF2-40B4-BE49-F238E27FC236}">
                <a16:creationId xmlns:a16="http://schemas.microsoft.com/office/drawing/2014/main" id="{794A36AF-B3B2-98DB-F6C3-76F5B1DC7192}"/>
              </a:ext>
            </a:extLst>
          </p:cNvPr>
          <p:cNvSpPr>
            <a:spLocks noGrp="1"/>
          </p:cNvSpPr>
          <p:nvPr>
            <p:ph type="sldNum" sz="quarter" idx="14"/>
          </p:nvPr>
        </p:nvSpPr>
        <p:spPr>
          <a:xfrm>
            <a:off x="11805565" y="6594433"/>
            <a:ext cx="171522" cy="123111"/>
          </a:xfrm>
        </p:spPr>
        <p:txBody>
          <a:bodyPr/>
          <a:lstStyle/>
          <a:p>
            <a:r>
              <a:rPr lang="en-US"/>
              <a:t>| </a:t>
            </a:r>
            <a:fld id="{C2EBF694-A8F9-4F06-8F8E-D09447FAA2D5}" type="slidenum">
              <a:rPr lang="en-US" smtClean="0"/>
              <a:pPr/>
              <a:t>18</a:t>
            </a:fld>
            <a:endParaRPr lang="en-US"/>
          </a:p>
        </p:txBody>
      </p:sp>
      <p:grpSp>
        <p:nvGrpSpPr>
          <p:cNvPr id="51" name="Groupe 50">
            <a:extLst>
              <a:ext uri="{FF2B5EF4-FFF2-40B4-BE49-F238E27FC236}">
                <a16:creationId xmlns:a16="http://schemas.microsoft.com/office/drawing/2014/main" id="{E7589872-82C9-11C5-EC3D-99FD960CB6A1}"/>
              </a:ext>
            </a:extLst>
          </p:cNvPr>
          <p:cNvGrpSpPr/>
          <p:nvPr/>
        </p:nvGrpSpPr>
        <p:grpSpPr>
          <a:xfrm>
            <a:off x="154773" y="3660300"/>
            <a:ext cx="3480580" cy="1385376"/>
            <a:chOff x="1094529" y="1718464"/>
            <a:chExt cx="3480580" cy="1385376"/>
          </a:xfrm>
        </p:grpSpPr>
        <p:sp>
          <p:nvSpPr>
            <p:cNvPr id="52" name="Rectangle : coins arrondis 51">
              <a:extLst>
                <a:ext uri="{FF2B5EF4-FFF2-40B4-BE49-F238E27FC236}">
                  <a16:creationId xmlns:a16="http://schemas.microsoft.com/office/drawing/2014/main" id="{1ACE75D3-A825-1E8A-EFDF-C43B80ED2D39}"/>
                </a:ext>
              </a:extLst>
            </p:cNvPr>
            <p:cNvSpPr/>
            <p:nvPr/>
          </p:nvSpPr>
          <p:spPr>
            <a:xfrm>
              <a:off x="1306309" y="1933840"/>
              <a:ext cx="3268800" cy="1170000"/>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R="0" lvl="0" defTabSz="914400" eaLnBrk="1" fontAlgn="auto" latinLnBrk="0" hangingPunct="1">
                <a:lnSpc>
                  <a:spcPct val="120000"/>
                </a:lnSpc>
                <a:spcBef>
                  <a:spcPts val="0"/>
                </a:spcBef>
                <a:spcAft>
                  <a:spcPts val="0"/>
                </a:spcAft>
                <a:buClrTx/>
                <a:buSzTx/>
                <a:tabLst/>
                <a:defRPr/>
              </a:pPr>
              <a:endParaRPr kumimoji="0" lang="en-US" sz="1000" b="0" i="0" u="none" strike="noStrike" kern="0" cap="none" spc="0" normalizeH="0" baseline="0" noProof="0">
                <a:ln>
                  <a:noFill/>
                </a:ln>
                <a:solidFill>
                  <a:srgbClr val="003C5A"/>
                </a:solidFill>
                <a:effectLst/>
                <a:uLnTx/>
                <a:uFillTx/>
                <a:latin typeface="Montserrat"/>
                <a:ea typeface="+mn-ea"/>
                <a:cs typeface="+mn-cs"/>
              </a:endParaRPr>
            </a:p>
            <a:p>
              <a:pPr marL="171450" indent="-171450">
                <a:lnSpc>
                  <a:spcPct val="120000"/>
                </a:lnSpc>
                <a:buFont typeface="Arial" panose="020B0604020202020204" pitchFamily="34" charset="0"/>
                <a:buChar char="•"/>
                <a:defRPr/>
              </a:pPr>
              <a:r>
                <a:rPr kumimoji="0" lang="en-US" sz="1000" b="0" i="0" u="none" strike="noStrike" kern="0" cap="none" spc="0" normalizeH="0" baseline="0" noProof="0">
                  <a:ln>
                    <a:noFill/>
                  </a:ln>
                  <a:solidFill>
                    <a:srgbClr val="003C5A"/>
                  </a:solidFill>
                  <a:effectLst/>
                  <a:uLnTx/>
                  <a:uFillTx/>
                  <a:latin typeface="Montserrat"/>
                  <a:ea typeface="+mn-ea"/>
                  <a:cs typeface="+mn-cs"/>
                </a:rPr>
                <a:t>Integrate identities from master source automatically</a:t>
              </a:r>
              <a:r>
                <a:rPr lang="en-US" sz="1000" kern="0">
                  <a:solidFill>
                    <a:srgbClr val="003C5A"/>
                  </a:solidFill>
                  <a:latin typeface="Montserrat"/>
                </a:rPr>
                <a:t> </a:t>
              </a:r>
              <a:endParaRPr lang="en-US" sz="1000" b="0" i="0" u="none" strike="noStrike" kern="0" cap="none" spc="0" normalizeH="0" baseline="0" noProof="0">
                <a:ln>
                  <a:noFill/>
                </a:ln>
                <a:solidFill>
                  <a:srgbClr val="003C5A"/>
                </a:solidFill>
                <a:effectLst/>
                <a:uLnTx/>
                <a:uFillTx/>
                <a:latin typeface="Montserrat"/>
              </a:endParaRPr>
            </a:p>
            <a:p>
              <a:pPr marL="171450" marR="0" lvl="0" indent="-171450" defTabSz="91440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3C5A"/>
                  </a:solidFill>
                  <a:effectLst/>
                  <a:uLnTx/>
                  <a:uFillTx/>
                  <a:latin typeface="Montserrat"/>
                  <a:ea typeface="+mn-ea"/>
                  <a:cs typeface="+mn-cs"/>
                </a:rPr>
                <a:t>Integrate identities manually for unmanaged populations</a:t>
              </a:r>
              <a:endParaRPr lang="en-US" sz="1000" b="0" i="0" u="none" strike="noStrike" kern="0" cap="none" spc="0" normalizeH="0" baseline="0" noProof="0">
                <a:ln>
                  <a:noFill/>
                </a:ln>
                <a:solidFill>
                  <a:srgbClr val="003C5A"/>
                </a:solidFill>
                <a:effectLst/>
                <a:uLnTx/>
                <a:uFillTx/>
                <a:latin typeface="Montserrat"/>
              </a:endParaRPr>
            </a:p>
          </p:txBody>
        </p:sp>
        <p:sp>
          <p:nvSpPr>
            <p:cNvPr id="53" name="ZoneTexte 52">
              <a:extLst>
                <a:ext uri="{FF2B5EF4-FFF2-40B4-BE49-F238E27FC236}">
                  <a16:creationId xmlns:a16="http://schemas.microsoft.com/office/drawing/2014/main" id="{07D3CFDB-97DC-DC3A-F49F-9DE8A2507FBF}"/>
                </a:ext>
              </a:extLst>
            </p:cNvPr>
            <p:cNvSpPr txBox="1"/>
            <p:nvPr/>
          </p:nvSpPr>
          <p:spPr>
            <a:xfrm>
              <a:off x="1489845" y="1803034"/>
              <a:ext cx="2979692" cy="261610"/>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3C5A"/>
                  </a:solidFill>
                  <a:effectLst/>
                  <a:uLnTx/>
                  <a:uFillTx/>
                  <a:latin typeface="Montserrat"/>
                </a:rPr>
                <a:t>Identity Management</a:t>
              </a:r>
            </a:p>
          </p:txBody>
        </p:sp>
        <p:sp>
          <p:nvSpPr>
            <p:cNvPr id="54" name="Ellipse 53">
              <a:extLst>
                <a:ext uri="{FF2B5EF4-FFF2-40B4-BE49-F238E27FC236}">
                  <a16:creationId xmlns:a16="http://schemas.microsoft.com/office/drawing/2014/main" id="{7C945E41-D434-A1CA-4798-EEFFDEA591A1}"/>
                </a:ext>
              </a:extLst>
            </p:cNvPr>
            <p:cNvSpPr/>
            <p:nvPr/>
          </p:nvSpPr>
          <p:spPr>
            <a:xfrm>
              <a:off x="1094529" y="1718464"/>
              <a:ext cx="423202" cy="430751"/>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grpSp>
        <p:nvGrpSpPr>
          <p:cNvPr id="56" name="Groupe 55">
            <a:extLst>
              <a:ext uri="{FF2B5EF4-FFF2-40B4-BE49-F238E27FC236}">
                <a16:creationId xmlns:a16="http://schemas.microsoft.com/office/drawing/2014/main" id="{7606CA8A-A115-3912-3F52-33A1F24C4774}"/>
              </a:ext>
            </a:extLst>
          </p:cNvPr>
          <p:cNvGrpSpPr/>
          <p:nvPr/>
        </p:nvGrpSpPr>
        <p:grpSpPr>
          <a:xfrm>
            <a:off x="3993556" y="3654122"/>
            <a:ext cx="3478960" cy="1384252"/>
            <a:chOff x="1094529" y="1718464"/>
            <a:chExt cx="3478960" cy="1384252"/>
          </a:xfrm>
        </p:grpSpPr>
        <p:sp>
          <p:nvSpPr>
            <p:cNvPr id="57" name="Rectangle : coins arrondis 56">
              <a:extLst>
                <a:ext uri="{FF2B5EF4-FFF2-40B4-BE49-F238E27FC236}">
                  <a16:creationId xmlns:a16="http://schemas.microsoft.com/office/drawing/2014/main" id="{BAC3229C-258A-8486-09D0-1ADC05CE66DE}"/>
                </a:ext>
              </a:extLst>
            </p:cNvPr>
            <p:cNvSpPr/>
            <p:nvPr/>
          </p:nvSpPr>
          <p:spPr>
            <a:xfrm>
              <a:off x="1306309" y="1933840"/>
              <a:ext cx="3267180" cy="1168876"/>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R="0" lvl="0" defTabSz="914400" eaLnBrk="1" fontAlgn="auto" latinLnBrk="0" hangingPunct="1">
                <a:lnSpc>
                  <a:spcPct val="120000"/>
                </a:lnSpc>
                <a:spcBef>
                  <a:spcPts val="0"/>
                </a:spcBef>
                <a:spcAft>
                  <a:spcPts val="0"/>
                </a:spcAft>
                <a:buClrTx/>
                <a:buSzTx/>
                <a:tabLst/>
                <a:defRPr/>
              </a:pPr>
              <a:endParaRPr kumimoji="0" lang="en-US" sz="1000" b="0" i="0" u="none" strike="noStrike" kern="0" cap="none" spc="0" normalizeH="0" baseline="0" noProof="0">
                <a:ln>
                  <a:noFill/>
                </a:ln>
                <a:solidFill>
                  <a:srgbClr val="003C5A"/>
                </a:solidFill>
                <a:effectLst/>
                <a:uLnTx/>
                <a:uFillTx/>
                <a:latin typeface="Montserrat"/>
                <a:ea typeface="+mn-ea"/>
                <a:cs typeface="+mn-cs"/>
              </a:endParaRPr>
            </a:p>
            <a:p>
              <a:pPr marL="171450" marR="0" lvl="0" indent="-171450" defTabSz="91440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sz="1000" b="0" i="0" u="none" strike="noStrike" kern="0" cap="none" spc="0" normalizeH="0" baseline="0" noProof="0">
                <a:ln>
                  <a:noFill/>
                </a:ln>
                <a:solidFill>
                  <a:srgbClr val="003C5A"/>
                </a:solidFill>
                <a:effectLst/>
                <a:uLnTx/>
                <a:uFillTx/>
                <a:latin typeface="Montserrat"/>
              </a:endParaRPr>
            </a:p>
            <a:p>
              <a:pPr marL="171450" indent="-171450">
                <a:lnSpc>
                  <a:spcPct val="120000"/>
                </a:lnSpc>
                <a:buFont typeface="Arial" panose="020B0604020202020204" pitchFamily="34" charset="0"/>
                <a:buChar char="•"/>
                <a:defRPr/>
              </a:pPr>
              <a:r>
                <a:rPr lang="en-US" sz="1000" kern="0">
                  <a:solidFill>
                    <a:srgbClr val="003C5A"/>
                  </a:solidFill>
                  <a:latin typeface="Montserrat"/>
                </a:rPr>
                <a:t>Access request are made for each application</a:t>
              </a:r>
              <a:endParaRPr lang="en-US" sz="1000" b="0" i="0" u="none" strike="noStrike" kern="0" cap="none" spc="0" normalizeH="0" baseline="0" noProof="0">
                <a:ln>
                  <a:noFill/>
                </a:ln>
                <a:solidFill>
                  <a:srgbClr val="003C5A"/>
                </a:solidFill>
                <a:effectLst/>
                <a:uLnTx/>
                <a:uFillTx/>
                <a:latin typeface="Montserrat"/>
              </a:endParaRPr>
            </a:p>
          </p:txBody>
        </p:sp>
        <p:sp>
          <p:nvSpPr>
            <p:cNvPr id="58" name="ZoneTexte 57">
              <a:extLst>
                <a:ext uri="{FF2B5EF4-FFF2-40B4-BE49-F238E27FC236}">
                  <a16:creationId xmlns:a16="http://schemas.microsoft.com/office/drawing/2014/main" id="{8075C691-93AC-82B5-A791-37BF8B9D6A65}"/>
                </a:ext>
              </a:extLst>
            </p:cNvPr>
            <p:cNvSpPr txBox="1"/>
            <p:nvPr/>
          </p:nvSpPr>
          <p:spPr>
            <a:xfrm>
              <a:off x="1517731" y="1786174"/>
              <a:ext cx="2984448" cy="261610"/>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3C5A"/>
                  </a:solidFill>
                  <a:effectLst/>
                  <a:uLnTx/>
                  <a:uFillTx/>
                  <a:latin typeface="Montserrat"/>
                </a:rPr>
                <a:t>Authorization Management</a:t>
              </a:r>
            </a:p>
          </p:txBody>
        </p:sp>
        <p:sp>
          <p:nvSpPr>
            <p:cNvPr id="59" name="Ellipse 58">
              <a:extLst>
                <a:ext uri="{FF2B5EF4-FFF2-40B4-BE49-F238E27FC236}">
                  <a16:creationId xmlns:a16="http://schemas.microsoft.com/office/drawing/2014/main" id="{595E0BAC-B0CB-F798-7D30-CAF6EB47AF02}"/>
                </a:ext>
              </a:extLst>
            </p:cNvPr>
            <p:cNvSpPr/>
            <p:nvPr/>
          </p:nvSpPr>
          <p:spPr>
            <a:xfrm>
              <a:off x="1094529" y="1718464"/>
              <a:ext cx="423202" cy="430751"/>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grpSp>
        <p:nvGrpSpPr>
          <p:cNvPr id="60" name="Groupe 59">
            <a:extLst>
              <a:ext uri="{FF2B5EF4-FFF2-40B4-BE49-F238E27FC236}">
                <a16:creationId xmlns:a16="http://schemas.microsoft.com/office/drawing/2014/main" id="{2FB83289-3691-89A7-3468-64237576E3C4}"/>
              </a:ext>
            </a:extLst>
          </p:cNvPr>
          <p:cNvGrpSpPr/>
          <p:nvPr/>
        </p:nvGrpSpPr>
        <p:grpSpPr>
          <a:xfrm>
            <a:off x="3993556" y="5283512"/>
            <a:ext cx="3478960" cy="1385376"/>
            <a:chOff x="1094529" y="1718464"/>
            <a:chExt cx="3478960" cy="1385376"/>
          </a:xfrm>
        </p:grpSpPr>
        <p:sp>
          <p:nvSpPr>
            <p:cNvPr id="61" name="Rectangle : coins arrondis 60">
              <a:extLst>
                <a:ext uri="{FF2B5EF4-FFF2-40B4-BE49-F238E27FC236}">
                  <a16:creationId xmlns:a16="http://schemas.microsoft.com/office/drawing/2014/main" id="{14483FFB-670F-85E3-B4B2-F2B1731F3386}"/>
                </a:ext>
              </a:extLst>
            </p:cNvPr>
            <p:cNvSpPr/>
            <p:nvPr/>
          </p:nvSpPr>
          <p:spPr>
            <a:xfrm>
              <a:off x="1306309" y="1933840"/>
              <a:ext cx="3267180" cy="1170000"/>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R="0" lvl="0" defTabSz="914400" eaLnBrk="1" fontAlgn="auto" latinLnBrk="0" hangingPunct="1">
                <a:lnSpc>
                  <a:spcPct val="120000"/>
                </a:lnSpc>
                <a:spcBef>
                  <a:spcPts val="0"/>
                </a:spcBef>
                <a:spcAft>
                  <a:spcPts val="0"/>
                </a:spcAft>
                <a:buClrTx/>
                <a:buSzTx/>
                <a:tabLst/>
                <a:defRPr/>
              </a:pPr>
              <a:endParaRPr lang="en-US" sz="1000" kern="0">
                <a:solidFill>
                  <a:srgbClr val="003C5A"/>
                </a:solidFill>
                <a:latin typeface="Montserrat"/>
              </a:endParaRPr>
            </a:p>
            <a:p>
              <a:pPr marL="171450" indent="-171450">
                <a:lnSpc>
                  <a:spcPct val="120000"/>
                </a:lnSpc>
                <a:buFont typeface="Arial,Sans-Serif" panose="020B0604020202020204" pitchFamily="34" charset="0"/>
                <a:buChar char="•"/>
                <a:defRPr/>
              </a:pPr>
              <a:r>
                <a:rPr lang="en-US" sz="1000" kern="0" dirty="0">
                  <a:solidFill>
                    <a:srgbClr val="003C5A"/>
                  </a:solidFill>
                  <a:latin typeface="Montserrat"/>
                </a:rPr>
                <a:t>Improve identities controls</a:t>
              </a:r>
              <a:br>
                <a:rPr lang="en-US" sz="1000" kern="0" dirty="0">
                  <a:latin typeface="Montserrat"/>
                </a:rPr>
              </a:br>
              <a:endParaRPr lang="en-US" sz="1000" kern="0">
                <a:ea typeface="+mn-lt"/>
                <a:cs typeface="+mn-lt"/>
              </a:endParaRPr>
            </a:p>
            <a:p>
              <a:pPr marL="171450" indent="-171450">
                <a:lnSpc>
                  <a:spcPct val="120000"/>
                </a:lnSpc>
                <a:buFont typeface="Arial,Sans-Serif" panose="020B0604020202020204" pitchFamily="34" charset="0"/>
                <a:buChar char="•"/>
                <a:defRPr/>
              </a:pPr>
              <a:r>
                <a:rPr lang="en-US" sz="1000" kern="0" dirty="0">
                  <a:solidFill>
                    <a:srgbClr val="003C5A"/>
                  </a:solidFill>
                  <a:latin typeface="Montserrat"/>
                </a:rPr>
                <a:t>No access controls &amp; centralized view of user accounts/accesses</a:t>
              </a:r>
              <a:endParaRPr lang="en-US" dirty="0"/>
            </a:p>
          </p:txBody>
        </p:sp>
        <p:sp>
          <p:nvSpPr>
            <p:cNvPr id="62" name="ZoneTexte 61">
              <a:extLst>
                <a:ext uri="{FF2B5EF4-FFF2-40B4-BE49-F238E27FC236}">
                  <a16:creationId xmlns:a16="http://schemas.microsoft.com/office/drawing/2014/main" id="{286B8CAA-6AD8-B740-8DD9-B2F8684BDF41}"/>
                </a:ext>
              </a:extLst>
            </p:cNvPr>
            <p:cNvSpPr txBox="1"/>
            <p:nvPr/>
          </p:nvSpPr>
          <p:spPr>
            <a:xfrm>
              <a:off x="1515055" y="1771936"/>
              <a:ext cx="2987124" cy="261610"/>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3C5A"/>
                  </a:solidFill>
                  <a:effectLst/>
                  <a:uLnTx/>
                  <a:uFillTx/>
                  <a:latin typeface="Montserrat"/>
                </a:rPr>
                <a:t>Governance </a:t>
              </a:r>
            </a:p>
          </p:txBody>
        </p:sp>
        <p:sp>
          <p:nvSpPr>
            <p:cNvPr id="63" name="Ellipse 62">
              <a:extLst>
                <a:ext uri="{FF2B5EF4-FFF2-40B4-BE49-F238E27FC236}">
                  <a16:creationId xmlns:a16="http://schemas.microsoft.com/office/drawing/2014/main" id="{99BF722E-04F9-F89B-CFC7-862921EAC767}"/>
                </a:ext>
              </a:extLst>
            </p:cNvPr>
            <p:cNvSpPr/>
            <p:nvPr/>
          </p:nvSpPr>
          <p:spPr>
            <a:xfrm>
              <a:off x="1094529" y="1718464"/>
              <a:ext cx="423202" cy="430751"/>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grpSp>
        <p:nvGrpSpPr>
          <p:cNvPr id="65" name="Groupe 64">
            <a:extLst>
              <a:ext uri="{FF2B5EF4-FFF2-40B4-BE49-F238E27FC236}">
                <a16:creationId xmlns:a16="http://schemas.microsoft.com/office/drawing/2014/main" id="{467F14BA-E568-89CA-58F4-588B007E21BB}"/>
              </a:ext>
            </a:extLst>
          </p:cNvPr>
          <p:cNvGrpSpPr/>
          <p:nvPr/>
        </p:nvGrpSpPr>
        <p:grpSpPr>
          <a:xfrm>
            <a:off x="197174" y="5359712"/>
            <a:ext cx="3480580" cy="1359887"/>
            <a:chOff x="1094529" y="1718464"/>
            <a:chExt cx="3480580" cy="1542431"/>
          </a:xfrm>
        </p:grpSpPr>
        <p:sp>
          <p:nvSpPr>
            <p:cNvPr id="66" name="Rectangle : coins arrondis 65">
              <a:extLst>
                <a:ext uri="{FF2B5EF4-FFF2-40B4-BE49-F238E27FC236}">
                  <a16:creationId xmlns:a16="http://schemas.microsoft.com/office/drawing/2014/main" id="{3B9920E9-0FE3-8331-1099-F87E6D3848C4}"/>
                </a:ext>
              </a:extLst>
            </p:cNvPr>
            <p:cNvSpPr/>
            <p:nvPr/>
          </p:nvSpPr>
          <p:spPr>
            <a:xfrm>
              <a:off x="1306309" y="1933840"/>
              <a:ext cx="3268800" cy="1327055"/>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L="171450" indent="-171450">
                <a:buFont typeface="Arial,Sans-Serif" panose="020B0604020202020204" pitchFamily="34" charset="0"/>
                <a:buChar char="•"/>
                <a:defRPr/>
              </a:pPr>
              <a:endParaRPr lang="en-US" sz="1000" kern="0">
                <a:solidFill>
                  <a:srgbClr val="003C5A"/>
                </a:solidFill>
                <a:latin typeface="Montserrat"/>
              </a:endParaRPr>
            </a:p>
            <a:p>
              <a:pPr marL="171450" indent="-171450">
                <a:buFont typeface="Arial,Sans-Serif" panose="020B0604020202020204" pitchFamily="34" charset="0"/>
                <a:buChar char="•"/>
                <a:defRPr/>
              </a:pPr>
              <a:r>
                <a:rPr lang="en-US" sz="1000" kern="0">
                  <a:solidFill>
                    <a:srgbClr val="003C5A"/>
                  </a:solidFill>
                  <a:latin typeface="Montserrat"/>
                </a:rPr>
                <a:t>Managed AD account deactivation</a:t>
              </a:r>
              <a:br>
                <a:rPr lang="en-US" sz="1000" kern="0">
                  <a:latin typeface="Montserrat"/>
                </a:rPr>
              </a:br>
              <a:r>
                <a:rPr lang="en-US" sz="1000" kern="0">
                  <a:solidFill>
                    <a:srgbClr val="003C5A"/>
                  </a:solidFill>
                  <a:latin typeface="Montserrat"/>
                </a:rPr>
                <a:t> </a:t>
              </a:r>
              <a:endParaRPr lang="en-US" sz="1000" b="0" i="0" u="none" strike="noStrike" kern="0" cap="none" spc="0" normalizeH="0" baseline="0" noProof="0">
                <a:ln>
                  <a:noFill/>
                </a:ln>
                <a:effectLst/>
                <a:uLnTx/>
                <a:uFillTx/>
                <a:ea typeface="+mn-lt"/>
                <a:cs typeface="+mn-lt"/>
              </a:endParaRPr>
            </a:p>
            <a:p>
              <a:pPr marL="171450" indent="-171450">
                <a:buFont typeface="Arial,Sans-Serif" panose="020B0604020202020204" pitchFamily="34" charset="0"/>
                <a:buChar char="•"/>
                <a:defRPr/>
              </a:pPr>
              <a:r>
                <a:rPr lang="en-US" sz="1000" kern="0">
                  <a:solidFill>
                    <a:srgbClr val="003C5A"/>
                  </a:solidFill>
                  <a:latin typeface="Montserrat"/>
                </a:rPr>
                <a:t>Provision access manually or via script</a:t>
              </a:r>
              <a:endParaRPr lang="en-US"/>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a:solidFill>
                  <a:srgbClr val="003C5A"/>
                </a:solidFill>
                <a:latin typeface="Montserrat"/>
              </a:endParaRPr>
            </a:p>
          </p:txBody>
        </p:sp>
        <p:sp>
          <p:nvSpPr>
            <p:cNvPr id="67" name="ZoneTexte 66">
              <a:extLst>
                <a:ext uri="{FF2B5EF4-FFF2-40B4-BE49-F238E27FC236}">
                  <a16:creationId xmlns:a16="http://schemas.microsoft.com/office/drawing/2014/main" id="{6F0CCD04-051D-71E3-1F26-7109F564D1E3}"/>
                </a:ext>
              </a:extLst>
            </p:cNvPr>
            <p:cNvSpPr txBox="1"/>
            <p:nvPr/>
          </p:nvSpPr>
          <p:spPr>
            <a:xfrm>
              <a:off x="1517731" y="1803034"/>
              <a:ext cx="3022410" cy="296727"/>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b="1" kern="0">
                  <a:solidFill>
                    <a:srgbClr val="003C5A"/>
                  </a:solidFill>
                  <a:latin typeface="Montserrat"/>
                </a:rPr>
                <a:t>Applications integration</a:t>
              </a:r>
              <a:endParaRPr kumimoji="0" lang="en-US" sz="1100" b="1" i="0" u="none" strike="noStrike" kern="0" cap="none" spc="0" normalizeH="0" baseline="0" noProof="0">
                <a:ln>
                  <a:noFill/>
                </a:ln>
                <a:solidFill>
                  <a:srgbClr val="003C5A"/>
                </a:solidFill>
                <a:effectLst/>
                <a:uLnTx/>
                <a:uFillTx/>
                <a:latin typeface="Montserrat"/>
              </a:endParaRPr>
            </a:p>
          </p:txBody>
        </p:sp>
        <p:sp>
          <p:nvSpPr>
            <p:cNvPr id="68" name="Ellipse 67">
              <a:extLst>
                <a:ext uri="{FF2B5EF4-FFF2-40B4-BE49-F238E27FC236}">
                  <a16:creationId xmlns:a16="http://schemas.microsoft.com/office/drawing/2014/main" id="{01020EA2-4AFD-298B-BA2D-27F93C4D0840}"/>
                </a:ext>
              </a:extLst>
            </p:cNvPr>
            <p:cNvSpPr/>
            <p:nvPr/>
          </p:nvSpPr>
          <p:spPr>
            <a:xfrm>
              <a:off x="1094529" y="1718464"/>
              <a:ext cx="423202" cy="489989"/>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grpSp>
      <p:cxnSp>
        <p:nvCxnSpPr>
          <p:cNvPr id="21" name="Connecteur droit 20">
            <a:extLst>
              <a:ext uri="{FF2B5EF4-FFF2-40B4-BE49-F238E27FC236}">
                <a16:creationId xmlns:a16="http://schemas.microsoft.com/office/drawing/2014/main" id="{8EFA2817-94FD-76E6-F13E-C1F38A5C983B}"/>
              </a:ext>
            </a:extLst>
          </p:cNvPr>
          <p:cNvCxnSpPr>
            <a:cxnSpLocks/>
          </p:cNvCxnSpPr>
          <p:nvPr/>
        </p:nvCxnSpPr>
        <p:spPr>
          <a:xfrm>
            <a:off x="8909109" y="6661684"/>
            <a:ext cx="85310"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Image 21">
            <a:extLst>
              <a:ext uri="{FF2B5EF4-FFF2-40B4-BE49-F238E27FC236}">
                <a16:creationId xmlns:a16="http://schemas.microsoft.com/office/drawing/2014/main" id="{6FD6D37D-203B-3407-CC52-D6D04F65E98C}"/>
              </a:ext>
            </a:extLst>
          </p:cNvPr>
          <p:cNvPicPr>
            <a:picLocks noChangeAspect="1"/>
          </p:cNvPicPr>
          <p:nvPr>
            <p:custDataLst>
              <p:tags r:id="rId1"/>
            </p:custDataLst>
          </p:nvPr>
        </p:nvPicPr>
        <p:blipFill>
          <a:blip r:embed="rId5"/>
          <a:stretch>
            <a:fillRect/>
          </a:stretch>
        </p:blipFill>
        <p:spPr>
          <a:xfrm>
            <a:off x="183012" y="3672319"/>
            <a:ext cx="324000" cy="324000"/>
          </a:xfrm>
          <a:prstGeom prst="rect">
            <a:avLst/>
          </a:prstGeom>
        </p:spPr>
      </p:pic>
      <p:pic>
        <p:nvPicPr>
          <p:cNvPr id="23" name="Image 22">
            <a:extLst>
              <a:ext uri="{FF2B5EF4-FFF2-40B4-BE49-F238E27FC236}">
                <a16:creationId xmlns:a16="http://schemas.microsoft.com/office/drawing/2014/main" id="{E153610D-E606-07F8-2C9E-444F8B8F95C9}"/>
              </a:ext>
            </a:extLst>
          </p:cNvPr>
          <p:cNvPicPr>
            <a:picLocks noChangeAspect="1"/>
          </p:cNvPicPr>
          <p:nvPr>
            <p:custDataLst>
              <p:tags r:id="rId2"/>
            </p:custDataLst>
          </p:nvPr>
        </p:nvPicPr>
        <p:blipFill>
          <a:blip r:embed="rId6"/>
          <a:stretch>
            <a:fillRect/>
          </a:stretch>
        </p:blipFill>
        <p:spPr>
          <a:xfrm>
            <a:off x="4031690" y="3676703"/>
            <a:ext cx="324000" cy="324000"/>
          </a:xfrm>
          <a:prstGeom prst="rect">
            <a:avLst/>
          </a:prstGeom>
        </p:spPr>
      </p:pic>
      <p:pic>
        <p:nvPicPr>
          <p:cNvPr id="24" name="Image 23" descr="Une image contenant texte, équipement électronique, afficher&#10;&#10;Description générée automatiquement">
            <a:extLst>
              <a:ext uri="{FF2B5EF4-FFF2-40B4-BE49-F238E27FC236}">
                <a16:creationId xmlns:a16="http://schemas.microsoft.com/office/drawing/2014/main" id="{CD912CC2-2281-14E0-A194-D433A6C6D731}"/>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246775" y="5403078"/>
            <a:ext cx="324000" cy="324000"/>
          </a:xfrm>
          <a:prstGeom prst="rect">
            <a:avLst/>
          </a:prstGeom>
        </p:spPr>
      </p:pic>
      <p:pic>
        <p:nvPicPr>
          <p:cNvPr id="25" name="Picture 2" descr="Bad review free icon">
            <a:extLst>
              <a:ext uri="{FF2B5EF4-FFF2-40B4-BE49-F238E27FC236}">
                <a16:creationId xmlns:a16="http://schemas.microsoft.com/office/drawing/2014/main" id="{498B24EB-A92C-6712-97F8-8DAFCC82B6B6}"/>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4064389" y="5371883"/>
            <a:ext cx="278860" cy="288000"/>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e 25">
            <a:extLst>
              <a:ext uri="{FF2B5EF4-FFF2-40B4-BE49-F238E27FC236}">
                <a16:creationId xmlns:a16="http://schemas.microsoft.com/office/drawing/2014/main" id="{127D6DF8-938D-3EFB-6E35-32E77D98B553}"/>
              </a:ext>
            </a:extLst>
          </p:cNvPr>
          <p:cNvGrpSpPr/>
          <p:nvPr/>
        </p:nvGrpSpPr>
        <p:grpSpPr>
          <a:xfrm>
            <a:off x="6563526" y="3758725"/>
            <a:ext cx="837680" cy="180000"/>
            <a:chOff x="4883133" y="1619442"/>
            <a:chExt cx="837680" cy="180000"/>
          </a:xfrm>
        </p:grpSpPr>
        <p:sp>
          <p:nvSpPr>
            <p:cNvPr id="27" name="Étoile : 5 branches 26">
              <a:extLst>
                <a:ext uri="{FF2B5EF4-FFF2-40B4-BE49-F238E27FC236}">
                  <a16:creationId xmlns:a16="http://schemas.microsoft.com/office/drawing/2014/main" id="{C4DDC525-1685-F3B1-5A8C-7100D04D2A5F}"/>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Étoile : 5 branches 28">
              <a:extLst>
                <a:ext uri="{FF2B5EF4-FFF2-40B4-BE49-F238E27FC236}">
                  <a16:creationId xmlns:a16="http://schemas.microsoft.com/office/drawing/2014/main" id="{77D3C6E2-553E-8444-1895-504FC2420BC6}"/>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Étoile : 5 branches 29">
              <a:extLst>
                <a:ext uri="{FF2B5EF4-FFF2-40B4-BE49-F238E27FC236}">
                  <a16:creationId xmlns:a16="http://schemas.microsoft.com/office/drawing/2014/main" id="{363A96C7-B3E2-34AA-71D4-45F635AC1020}"/>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e 30">
            <a:extLst>
              <a:ext uri="{FF2B5EF4-FFF2-40B4-BE49-F238E27FC236}">
                <a16:creationId xmlns:a16="http://schemas.microsoft.com/office/drawing/2014/main" id="{EF774EC9-0F9D-39F1-C9DE-DA97D5FA673A}"/>
              </a:ext>
            </a:extLst>
          </p:cNvPr>
          <p:cNvGrpSpPr/>
          <p:nvPr/>
        </p:nvGrpSpPr>
        <p:grpSpPr>
          <a:xfrm>
            <a:off x="6563526" y="5371883"/>
            <a:ext cx="837680" cy="180000"/>
            <a:chOff x="4883133" y="1619442"/>
            <a:chExt cx="837680" cy="180000"/>
          </a:xfrm>
        </p:grpSpPr>
        <p:sp>
          <p:nvSpPr>
            <p:cNvPr id="32" name="Étoile : 5 branches 31">
              <a:extLst>
                <a:ext uri="{FF2B5EF4-FFF2-40B4-BE49-F238E27FC236}">
                  <a16:creationId xmlns:a16="http://schemas.microsoft.com/office/drawing/2014/main" id="{36C42D78-B27C-7EF9-1CFD-6BA219A30B2C}"/>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Étoile : 5 branches 33">
              <a:extLst>
                <a:ext uri="{FF2B5EF4-FFF2-40B4-BE49-F238E27FC236}">
                  <a16:creationId xmlns:a16="http://schemas.microsoft.com/office/drawing/2014/main" id="{EBB4709C-253E-8931-79F5-F9FE7CEBF2FD}"/>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Étoile : 5 branches 34">
              <a:extLst>
                <a:ext uri="{FF2B5EF4-FFF2-40B4-BE49-F238E27FC236}">
                  <a16:creationId xmlns:a16="http://schemas.microsoft.com/office/drawing/2014/main" id="{94AAF843-D937-59AA-D16B-867D9968233C}"/>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e 44">
            <a:extLst>
              <a:ext uri="{FF2B5EF4-FFF2-40B4-BE49-F238E27FC236}">
                <a16:creationId xmlns:a16="http://schemas.microsoft.com/office/drawing/2014/main" id="{8EEE10B3-83CF-B759-EDA1-B4E381FAF65B}"/>
              </a:ext>
            </a:extLst>
          </p:cNvPr>
          <p:cNvGrpSpPr/>
          <p:nvPr/>
        </p:nvGrpSpPr>
        <p:grpSpPr>
          <a:xfrm>
            <a:off x="2684241" y="5475078"/>
            <a:ext cx="837680" cy="180000"/>
            <a:chOff x="4883133" y="1619442"/>
            <a:chExt cx="837680" cy="180000"/>
          </a:xfrm>
        </p:grpSpPr>
        <p:sp>
          <p:nvSpPr>
            <p:cNvPr id="46" name="Étoile : 5 branches 45">
              <a:extLst>
                <a:ext uri="{FF2B5EF4-FFF2-40B4-BE49-F238E27FC236}">
                  <a16:creationId xmlns:a16="http://schemas.microsoft.com/office/drawing/2014/main" id="{CED1399B-CAA2-57DD-ED21-66B2ABE8236B}"/>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Étoile : 5 branches 46">
              <a:extLst>
                <a:ext uri="{FF2B5EF4-FFF2-40B4-BE49-F238E27FC236}">
                  <a16:creationId xmlns:a16="http://schemas.microsoft.com/office/drawing/2014/main" id="{EDDDEC9D-7C97-0EDC-B6E4-C0EFDDF47146}"/>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Étoile : 5 branches 47">
              <a:extLst>
                <a:ext uri="{FF2B5EF4-FFF2-40B4-BE49-F238E27FC236}">
                  <a16:creationId xmlns:a16="http://schemas.microsoft.com/office/drawing/2014/main" id="{691DF85E-AB56-C602-96AD-E68400845BC3}"/>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Étoile : 5 branches 48">
              <a:extLst>
                <a:ext uri="{FF2B5EF4-FFF2-40B4-BE49-F238E27FC236}">
                  <a16:creationId xmlns:a16="http://schemas.microsoft.com/office/drawing/2014/main" id="{54367E66-6D72-6121-FE6C-7F9875700E3D}"/>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e 118">
            <a:extLst>
              <a:ext uri="{FF2B5EF4-FFF2-40B4-BE49-F238E27FC236}">
                <a16:creationId xmlns:a16="http://schemas.microsoft.com/office/drawing/2014/main" id="{A21E671B-9EAC-0B02-A142-6DA58DFA23AB}"/>
              </a:ext>
            </a:extLst>
          </p:cNvPr>
          <p:cNvGrpSpPr/>
          <p:nvPr/>
        </p:nvGrpSpPr>
        <p:grpSpPr>
          <a:xfrm>
            <a:off x="2684241" y="3748703"/>
            <a:ext cx="837680" cy="180000"/>
            <a:chOff x="4883133" y="1619442"/>
            <a:chExt cx="837680" cy="180000"/>
          </a:xfrm>
        </p:grpSpPr>
        <p:sp>
          <p:nvSpPr>
            <p:cNvPr id="120" name="Étoile : 5 branches 119">
              <a:extLst>
                <a:ext uri="{FF2B5EF4-FFF2-40B4-BE49-F238E27FC236}">
                  <a16:creationId xmlns:a16="http://schemas.microsoft.com/office/drawing/2014/main" id="{464EB32E-9756-922B-47D6-E75B8A9F958F}"/>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Étoile : 5 branches 120">
              <a:extLst>
                <a:ext uri="{FF2B5EF4-FFF2-40B4-BE49-F238E27FC236}">
                  <a16:creationId xmlns:a16="http://schemas.microsoft.com/office/drawing/2014/main" id="{15C9A6A6-1C05-BB29-6A59-8CF7B9C89CE2}"/>
                </a:ext>
              </a:extLst>
            </p:cNvPr>
            <p:cNvSpPr/>
            <p:nvPr/>
          </p:nvSpPr>
          <p:spPr>
            <a:xfrm>
              <a:off x="5106087"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Étoile : 5 branches 121">
              <a:extLst>
                <a:ext uri="{FF2B5EF4-FFF2-40B4-BE49-F238E27FC236}">
                  <a16:creationId xmlns:a16="http://schemas.microsoft.com/office/drawing/2014/main" id="{846EC63B-40FA-D0C8-E3FF-029BE5CB89A5}"/>
                </a:ext>
              </a:extLst>
            </p:cNvPr>
            <p:cNvSpPr/>
            <p:nvPr/>
          </p:nvSpPr>
          <p:spPr>
            <a:xfrm>
              <a:off x="5317859"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Étoile : 5 branches 122">
              <a:extLst>
                <a:ext uri="{FF2B5EF4-FFF2-40B4-BE49-F238E27FC236}">
                  <a16:creationId xmlns:a16="http://schemas.microsoft.com/office/drawing/2014/main" id="{FF949E4E-BDB7-ACDD-BF68-47B65D11346A}"/>
                </a:ext>
              </a:extLst>
            </p:cNvPr>
            <p:cNvSpPr/>
            <p:nvPr/>
          </p:nvSpPr>
          <p:spPr>
            <a:xfrm>
              <a:off x="554081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Rectangle : coins arrondis 123">
            <a:extLst>
              <a:ext uri="{FF2B5EF4-FFF2-40B4-BE49-F238E27FC236}">
                <a16:creationId xmlns:a16="http://schemas.microsoft.com/office/drawing/2014/main" id="{BBA70277-ED7D-822E-74F5-9CF890FE3163}"/>
              </a:ext>
            </a:extLst>
          </p:cNvPr>
          <p:cNvSpPr/>
          <p:nvPr/>
        </p:nvSpPr>
        <p:spPr>
          <a:xfrm>
            <a:off x="321819" y="1429067"/>
            <a:ext cx="7150697" cy="1949026"/>
          </a:xfrm>
          <a:prstGeom prst="roundRect">
            <a:avLst>
              <a:gd name="adj" fmla="val 3101"/>
            </a:avLst>
          </a:prstGeom>
          <a:solidFill>
            <a:schemeClr val="bg1"/>
          </a:solidFill>
          <a:ln w="19050">
            <a:solidFill>
              <a:srgbClr val="00B050"/>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25" name="ZoneTexte 124">
            <a:extLst>
              <a:ext uri="{FF2B5EF4-FFF2-40B4-BE49-F238E27FC236}">
                <a16:creationId xmlns:a16="http://schemas.microsoft.com/office/drawing/2014/main" id="{2FA0A9A4-127A-0A99-19EE-363D103AD54C}"/>
              </a:ext>
            </a:extLst>
          </p:cNvPr>
          <p:cNvSpPr txBox="1"/>
          <p:nvPr/>
        </p:nvSpPr>
        <p:spPr>
          <a:xfrm>
            <a:off x="1582783" y="1732363"/>
            <a:ext cx="4262852" cy="668196"/>
          </a:xfrm>
          <a:prstGeom prst="rect">
            <a:avLst/>
          </a:prstGeom>
          <a:noFill/>
        </p:spPr>
        <p:txBody>
          <a:bodyPr wrap="square" lIns="36000" tIns="0" rIns="36000" bIns="0" rtlCol="0" anchor="t">
            <a:spAutoFit/>
          </a:bodyPr>
          <a:lstStyle/>
          <a:p>
            <a:pPr marL="171450" indent="-171450">
              <a:lnSpc>
                <a:spcPct val="150000"/>
              </a:lnSpc>
              <a:buFontTx/>
              <a:buChar char="-"/>
              <a:defRPr/>
            </a:pPr>
            <a:r>
              <a:rPr lang="en-US" sz="1000" dirty="0" err="1">
                <a:solidFill>
                  <a:schemeClr val="tx2"/>
                </a:solidFill>
                <a:latin typeface="Montserrat"/>
              </a:rPr>
              <a:t>Revie.w</a:t>
            </a:r>
            <a:r>
              <a:rPr kumimoji="0" lang="en-US" sz="1000" i="0" u="none" strike="noStrike" kern="1200" cap="none" spc="0" normalizeH="0" baseline="0" noProof="0" dirty="0">
                <a:ln>
                  <a:noFill/>
                </a:ln>
                <a:solidFill>
                  <a:schemeClr val="tx2"/>
                </a:solidFill>
                <a:effectLst/>
                <a:uLnTx/>
                <a:uFillTx/>
                <a:latin typeface="Montserrat"/>
                <a:ea typeface="+mn-ea"/>
                <a:cs typeface="+mn-cs"/>
              </a:rPr>
              <a:t> IAM policies </a:t>
            </a:r>
            <a:r>
              <a:rPr lang="en-US" sz="1000" dirty="0">
                <a:solidFill>
                  <a:schemeClr val="tx2"/>
                </a:solidFill>
                <a:latin typeface="Montserrat"/>
              </a:rPr>
              <a:t>and</a:t>
            </a:r>
            <a:r>
              <a:rPr kumimoji="0" lang="en-US" sz="1000" i="0" u="none" strike="noStrike" kern="1200" cap="none" spc="0" normalizeH="0" baseline="0" noProof="0" dirty="0">
                <a:ln>
                  <a:noFill/>
                </a:ln>
                <a:solidFill>
                  <a:schemeClr val="tx2"/>
                </a:solidFill>
                <a:effectLst/>
                <a:uLnTx/>
                <a:uFillTx/>
                <a:latin typeface="Montserrat"/>
                <a:ea typeface="+mn-ea"/>
                <a:cs typeface="+mn-cs"/>
              </a:rPr>
              <a:t> processes</a:t>
            </a:r>
            <a:r>
              <a:rPr lang="en-US" sz="1000" dirty="0">
                <a:solidFill>
                  <a:schemeClr val="tx2"/>
                </a:solidFill>
                <a:latin typeface="Montserrat"/>
              </a:rPr>
              <a:t> </a:t>
            </a:r>
            <a:endParaRPr lang="fr-FR" dirty="0">
              <a:solidFill>
                <a:schemeClr val="tx2"/>
              </a:solidFill>
            </a:endParaRPr>
          </a:p>
          <a:p>
            <a:pPr marL="171450" indent="-171450">
              <a:lnSpc>
                <a:spcPct val="150000"/>
              </a:lnSpc>
              <a:buFontTx/>
              <a:buChar char="-"/>
              <a:defRPr/>
            </a:pPr>
            <a:r>
              <a:rPr lang="en-US" sz="1000" dirty="0">
                <a:solidFill>
                  <a:schemeClr val="tx2"/>
                </a:solidFill>
                <a:latin typeface="Montserrat"/>
              </a:rPr>
              <a:t>Develop new solution </a:t>
            </a:r>
            <a:endParaRPr lang="en-US" dirty="0">
              <a:solidFill>
                <a:schemeClr val="tx2"/>
              </a:solidFill>
            </a:endParaRPr>
          </a:p>
          <a:p>
            <a:pPr marL="171450" indent="-171450">
              <a:lnSpc>
                <a:spcPct val="150000"/>
              </a:lnSpc>
              <a:buFontTx/>
              <a:buChar char="-"/>
              <a:defRPr/>
            </a:pPr>
            <a:r>
              <a:rPr lang="en-US" sz="1000" dirty="0">
                <a:solidFill>
                  <a:schemeClr val="tx2"/>
                </a:solidFill>
                <a:latin typeface="Montserrat"/>
              </a:rPr>
              <a:t>Integrate FR &amp; UK HRIS and on-site externals </a:t>
            </a:r>
            <a:endParaRPr lang="en-US" dirty="0">
              <a:solidFill>
                <a:schemeClr val="tx2"/>
              </a:solidFill>
            </a:endParaRPr>
          </a:p>
        </p:txBody>
      </p:sp>
      <p:sp>
        <p:nvSpPr>
          <p:cNvPr id="126" name="TextBox 16">
            <a:extLst>
              <a:ext uri="{FF2B5EF4-FFF2-40B4-BE49-F238E27FC236}">
                <a16:creationId xmlns:a16="http://schemas.microsoft.com/office/drawing/2014/main" id="{06919CD3-6184-5C6A-ACBE-C9E632BAF8C7}"/>
              </a:ext>
            </a:extLst>
          </p:cNvPr>
          <p:cNvSpPr txBox="1"/>
          <p:nvPr/>
        </p:nvSpPr>
        <p:spPr>
          <a:xfrm>
            <a:off x="912523" y="1475763"/>
            <a:ext cx="4787923"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Plan</a:t>
            </a:r>
            <a:endParaRPr lang="en-US" sz="1200" b="1">
              <a:solidFill>
                <a:srgbClr val="006B8D"/>
              </a:solidFill>
              <a:latin typeface="Montserrat" panose="00000500000000000000" pitchFamily="2" charset="0"/>
            </a:endParaRPr>
          </a:p>
        </p:txBody>
      </p:sp>
      <p:sp>
        <p:nvSpPr>
          <p:cNvPr id="128" name="Rectangle : coins arrondis 127">
            <a:extLst>
              <a:ext uri="{FF2B5EF4-FFF2-40B4-BE49-F238E27FC236}">
                <a16:creationId xmlns:a16="http://schemas.microsoft.com/office/drawing/2014/main" id="{17049186-91BC-E03B-907D-05D09F084AAC}"/>
              </a:ext>
            </a:extLst>
          </p:cNvPr>
          <p:cNvSpPr/>
          <p:nvPr/>
        </p:nvSpPr>
        <p:spPr>
          <a:xfrm>
            <a:off x="8596747" y="1429068"/>
            <a:ext cx="3441456" cy="899684"/>
          </a:xfrm>
          <a:prstGeom prst="roundRect">
            <a:avLst>
              <a:gd name="adj" fmla="val 3101"/>
            </a:avLst>
          </a:prstGeom>
          <a:solidFill>
            <a:schemeClr val="bg1"/>
          </a:solidFill>
          <a:ln w="19050">
            <a:solidFill>
              <a:schemeClr val="tx2">
                <a:lumMod val="40000"/>
                <a:lumOff val="60000"/>
              </a:schemeClr>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29" name="TextBox 16">
            <a:extLst>
              <a:ext uri="{FF2B5EF4-FFF2-40B4-BE49-F238E27FC236}">
                <a16:creationId xmlns:a16="http://schemas.microsoft.com/office/drawing/2014/main" id="{28DE4872-1B80-9C4A-A697-E9D79F2231B2}"/>
              </a:ext>
            </a:extLst>
          </p:cNvPr>
          <p:cNvSpPr txBox="1"/>
          <p:nvPr/>
        </p:nvSpPr>
        <p:spPr>
          <a:xfrm>
            <a:off x="8776006" y="1543864"/>
            <a:ext cx="1800000"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Security </a:t>
            </a:r>
            <a:endParaRPr lang="en-US" sz="1200" b="1">
              <a:solidFill>
                <a:srgbClr val="006B8D"/>
              </a:solidFill>
              <a:latin typeface="Montserrat" panose="00000500000000000000" pitchFamily="2" charset="0"/>
            </a:endParaRPr>
          </a:p>
        </p:txBody>
      </p:sp>
      <p:sp>
        <p:nvSpPr>
          <p:cNvPr id="131" name="ZoneTexte 130">
            <a:extLst>
              <a:ext uri="{FF2B5EF4-FFF2-40B4-BE49-F238E27FC236}">
                <a16:creationId xmlns:a16="http://schemas.microsoft.com/office/drawing/2014/main" id="{25159CD4-3D3E-7F40-6097-2FA851BE913B}"/>
              </a:ext>
            </a:extLst>
          </p:cNvPr>
          <p:cNvSpPr txBox="1"/>
          <p:nvPr/>
        </p:nvSpPr>
        <p:spPr>
          <a:xfrm>
            <a:off x="391720" y="1875254"/>
            <a:ext cx="806846" cy="215444"/>
          </a:xfrm>
          <a:prstGeom prst="rect">
            <a:avLst/>
          </a:prstGeom>
          <a:noFill/>
        </p:spPr>
        <p:txBody>
          <a:bodyPr wrap="square" lIns="36000" tIns="0" rIns="36000" bIns="0" rtlCol="0">
            <a:spAutoFit/>
          </a:bodyPr>
          <a:lstStyle/>
          <a:p>
            <a:r>
              <a:rPr lang="fr-FR" sz="1400" b="1"/>
              <a:t>2023</a:t>
            </a:r>
          </a:p>
        </p:txBody>
      </p:sp>
      <p:sp>
        <p:nvSpPr>
          <p:cNvPr id="132" name="ZoneTexte 131">
            <a:extLst>
              <a:ext uri="{FF2B5EF4-FFF2-40B4-BE49-F238E27FC236}">
                <a16:creationId xmlns:a16="http://schemas.microsoft.com/office/drawing/2014/main" id="{6027344F-3BA6-0786-959E-0039057C8DF8}"/>
              </a:ext>
            </a:extLst>
          </p:cNvPr>
          <p:cNvSpPr txBox="1"/>
          <p:nvPr/>
        </p:nvSpPr>
        <p:spPr>
          <a:xfrm>
            <a:off x="391720" y="2430467"/>
            <a:ext cx="806846" cy="215444"/>
          </a:xfrm>
          <a:prstGeom prst="rect">
            <a:avLst/>
          </a:prstGeom>
          <a:noFill/>
        </p:spPr>
        <p:txBody>
          <a:bodyPr wrap="square" lIns="36000" tIns="0" rIns="36000" bIns="0" rtlCol="0">
            <a:spAutoFit/>
          </a:bodyPr>
          <a:lstStyle/>
          <a:p>
            <a:r>
              <a:rPr lang="fr-FR" sz="1400" b="1"/>
              <a:t>2024</a:t>
            </a:r>
          </a:p>
        </p:txBody>
      </p:sp>
      <p:sp>
        <p:nvSpPr>
          <p:cNvPr id="133" name="ZoneTexte 132">
            <a:extLst>
              <a:ext uri="{FF2B5EF4-FFF2-40B4-BE49-F238E27FC236}">
                <a16:creationId xmlns:a16="http://schemas.microsoft.com/office/drawing/2014/main" id="{E75025FA-41D2-A09F-5E84-91CFF3B828CE}"/>
              </a:ext>
            </a:extLst>
          </p:cNvPr>
          <p:cNvSpPr txBox="1"/>
          <p:nvPr/>
        </p:nvSpPr>
        <p:spPr>
          <a:xfrm>
            <a:off x="391720" y="2981280"/>
            <a:ext cx="806846" cy="215444"/>
          </a:xfrm>
          <a:prstGeom prst="rect">
            <a:avLst/>
          </a:prstGeom>
          <a:noFill/>
        </p:spPr>
        <p:txBody>
          <a:bodyPr wrap="square" lIns="36000" tIns="0" rIns="36000" bIns="0" rtlCol="0">
            <a:spAutoFit/>
          </a:bodyPr>
          <a:lstStyle/>
          <a:p>
            <a:r>
              <a:rPr lang="fr-FR" sz="1400" b="1"/>
              <a:t>2025</a:t>
            </a:r>
          </a:p>
        </p:txBody>
      </p:sp>
      <p:cxnSp>
        <p:nvCxnSpPr>
          <p:cNvPr id="138" name="Connecteur droit 137">
            <a:extLst>
              <a:ext uri="{FF2B5EF4-FFF2-40B4-BE49-F238E27FC236}">
                <a16:creationId xmlns:a16="http://schemas.microsoft.com/office/drawing/2014/main" id="{462DE24A-CFF4-431E-6CD4-8251A5320AD4}"/>
              </a:ext>
            </a:extLst>
          </p:cNvPr>
          <p:cNvCxnSpPr/>
          <p:nvPr/>
        </p:nvCxnSpPr>
        <p:spPr>
          <a:xfrm>
            <a:off x="408775" y="2191261"/>
            <a:ext cx="6902431"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4A373720-456A-FC4B-5293-3F1A8444FED8}"/>
              </a:ext>
            </a:extLst>
          </p:cNvPr>
          <p:cNvCxnSpPr/>
          <p:nvPr/>
        </p:nvCxnSpPr>
        <p:spPr>
          <a:xfrm>
            <a:off x="408775" y="2867536"/>
            <a:ext cx="6902431"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40" name="Rectangle : coins arrondis 139">
            <a:extLst>
              <a:ext uri="{FF2B5EF4-FFF2-40B4-BE49-F238E27FC236}">
                <a16:creationId xmlns:a16="http://schemas.microsoft.com/office/drawing/2014/main" id="{9046B55E-5686-E6B2-C33E-5CACBF6C0DAE}"/>
              </a:ext>
            </a:extLst>
          </p:cNvPr>
          <p:cNvSpPr/>
          <p:nvPr/>
        </p:nvSpPr>
        <p:spPr>
          <a:xfrm>
            <a:off x="8596747" y="2483657"/>
            <a:ext cx="3441456" cy="900000"/>
          </a:xfrm>
          <a:prstGeom prst="roundRect">
            <a:avLst>
              <a:gd name="adj" fmla="val 3101"/>
            </a:avLst>
          </a:prstGeom>
          <a:solidFill>
            <a:schemeClr val="bg1"/>
          </a:solidFill>
          <a:ln w="19050">
            <a:solidFill>
              <a:srgbClr val="FF0000"/>
            </a:solid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Montserrat"/>
                <a:ea typeface="+mn-ea"/>
                <a:cs typeface="+mn-cs"/>
              </a:rPr>
              <a:t>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41" name="TextBox 16">
            <a:extLst>
              <a:ext uri="{FF2B5EF4-FFF2-40B4-BE49-F238E27FC236}">
                <a16:creationId xmlns:a16="http://schemas.microsoft.com/office/drawing/2014/main" id="{0BE4EBC8-4623-1E61-A3F6-4E885DA2E701}"/>
              </a:ext>
            </a:extLst>
          </p:cNvPr>
          <p:cNvSpPr txBox="1"/>
          <p:nvPr/>
        </p:nvSpPr>
        <p:spPr>
          <a:xfrm>
            <a:off x="8808014" y="2598453"/>
            <a:ext cx="1800000"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Limitations </a:t>
            </a:r>
            <a:endParaRPr lang="en-US" sz="1200" b="1">
              <a:solidFill>
                <a:srgbClr val="006B8D"/>
              </a:solidFill>
              <a:latin typeface="Montserrat" panose="00000500000000000000" pitchFamily="2" charset="0"/>
            </a:endParaRPr>
          </a:p>
        </p:txBody>
      </p:sp>
      <p:sp>
        <p:nvSpPr>
          <p:cNvPr id="142" name="ZoneTexte 141">
            <a:extLst>
              <a:ext uri="{FF2B5EF4-FFF2-40B4-BE49-F238E27FC236}">
                <a16:creationId xmlns:a16="http://schemas.microsoft.com/office/drawing/2014/main" id="{2AE0E539-67CF-8795-D4FF-6A424410588C}"/>
              </a:ext>
            </a:extLst>
          </p:cNvPr>
          <p:cNvSpPr txBox="1"/>
          <p:nvPr/>
        </p:nvSpPr>
        <p:spPr>
          <a:xfrm>
            <a:off x="8795798" y="2838246"/>
            <a:ext cx="3305723" cy="307777"/>
          </a:xfrm>
          <a:prstGeom prst="rect">
            <a:avLst/>
          </a:prstGeom>
          <a:noFill/>
        </p:spPr>
        <p:txBody>
          <a:bodyPr wrap="square" lIns="36000" tIns="0" rIns="36000" bIns="0" rtlCol="0" anchor="t">
            <a:spAutoFit/>
          </a:bodyPr>
          <a:lstStyle/>
          <a:p>
            <a:pPr marL="171450" indent="-171450">
              <a:buFontTx/>
              <a:buChar char="-"/>
              <a:defRPr/>
            </a:pPr>
            <a:r>
              <a:rPr lang="en-US" sz="1000" dirty="0">
                <a:solidFill>
                  <a:srgbClr val="003C5A"/>
                </a:solidFill>
                <a:latin typeface="Montserrat"/>
              </a:rPr>
              <a:t>Major improvement only Identity management</a:t>
            </a:r>
            <a:endParaRPr kumimoji="0" lang="en-US" sz="1000" i="0" u="none" strike="noStrike" kern="1200" cap="none" spc="0" normalizeH="0" baseline="0" noProof="0" dirty="0">
              <a:ln>
                <a:noFill/>
              </a:ln>
              <a:solidFill>
                <a:srgbClr val="003C5A"/>
              </a:solidFill>
              <a:effectLst/>
              <a:uLnTx/>
              <a:uFillTx/>
              <a:latin typeface="Montserrat"/>
              <a:ea typeface="+mn-ea"/>
              <a:cs typeface="+mn-cs"/>
            </a:endParaRPr>
          </a:p>
          <a:p>
            <a:pPr marL="171450" indent="-171450">
              <a:buFontTx/>
              <a:buChar char="-"/>
              <a:defRPr/>
            </a:pPr>
            <a:r>
              <a:rPr lang="en-US" sz="1000" dirty="0">
                <a:solidFill>
                  <a:srgbClr val="003C5A"/>
                </a:solidFill>
                <a:latin typeface="Montserrat"/>
              </a:rPr>
              <a:t>Complexity to control end users' licenses</a:t>
            </a:r>
            <a:endParaRPr lang="en-US" sz="1000" i="0" u="none" strike="noStrike" kern="1200" cap="none" spc="0" normalizeH="0" baseline="0" noProof="0" dirty="0">
              <a:ln>
                <a:noFill/>
              </a:ln>
              <a:solidFill>
                <a:srgbClr val="003C5A"/>
              </a:solidFill>
              <a:effectLst/>
              <a:uLnTx/>
              <a:uFillTx/>
              <a:latin typeface="Montserrat"/>
            </a:endParaRPr>
          </a:p>
        </p:txBody>
      </p:sp>
      <p:sp>
        <p:nvSpPr>
          <p:cNvPr id="143" name="ZoneTexte 142">
            <a:extLst>
              <a:ext uri="{FF2B5EF4-FFF2-40B4-BE49-F238E27FC236}">
                <a16:creationId xmlns:a16="http://schemas.microsoft.com/office/drawing/2014/main" id="{806C1F36-DB07-2618-5303-000827E84BBE}"/>
              </a:ext>
            </a:extLst>
          </p:cNvPr>
          <p:cNvSpPr txBox="1"/>
          <p:nvPr/>
        </p:nvSpPr>
        <p:spPr>
          <a:xfrm>
            <a:off x="8743998" y="1827744"/>
            <a:ext cx="2820814" cy="307777"/>
          </a:xfrm>
          <a:prstGeom prst="rect">
            <a:avLst/>
          </a:prstGeom>
          <a:noFill/>
        </p:spPr>
        <p:txBody>
          <a:bodyPr wrap="square" lIns="36000" tIns="0" rIns="36000" bIns="0" rtlCol="0" anchor="t">
            <a:spAutoFit/>
          </a:bodyPr>
          <a:lstStyle/>
          <a:p>
            <a:pPr marL="171450" indent="-171450">
              <a:buFontTx/>
              <a:buChar char="-"/>
              <a:defRPr/>
            </a:pPr>
            <a:r>
              <a:rPr lang="en-US" sz="1000" dirty="0">
                <a:solidFill>
                  <a:srgbClr val="003C5A"/>
                </a:solidFill>
                <a:latin typeface="Montserrat"/>
              </a:rPr>
              <a:t>Develop a solution meeting security requirements</a:t>
            </a:r>
            <a:endParaRPr lang="en-US" sz="1000" dirty="0">
              <a:solidFill>
                <a:srgbClr val="003C5A"/>
              </a:solidFill>
              <a:latin typeface="Montserrat"/>
              <a:cs typeface="Calibri"/>
            </a:endParaRPr>
          </a:p>
        </p:txBody>
      </p:sp>
      <p:cxnSp>
        <p:nvCxnSpPr>
          <p:cNvPr id="12" name="Connecteur droit 11">
            <a:extLst>
              <a:ext uri="{FF2B5EF4-FFF2-40B4-BE49-F238E27FC236}">
                <a16:creationId xmlns:a16="http://schemas.microsoft.com/office/drawing/2014/main" id="{01542421-25DE-3934-00C5-C3EB472D2C65}"/>
              </a:ext>
            </a:extLst>
          </p:cNvPr>
          <p:cNvCxnSpPr>
            <a:cxnSpLocks/>
          </p:cNvCxnSpPr>
          <p:nvPr/>
        </p:nvCxnSpPr>
        <p:spPr>
          <a:xfrm>
            <a:off x="8887337" y="4016524"/>
            <a:ext cx="85310"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91" name="ZoneTexte 90">
            <a:extLst>
              <a:ext uri="{FF2B5EF4-FFF2-40B4-BE49-F238E27FC236}">
                <a16:creationId xmlns:a16="http://schemas.microsoft.com/office/drawing/2014/main" id="{B01D0B38-71B1-E232-CA5B-A78256498348}"/>
              </a:ext>
            </a:extLst>
          </p:cNvPr>
          <p:cNvSpPr txBox="1"/>
          <p:nvPr/>
        </p:nvSpPr>
        <p:spPr>
          <a:xfrm>
            <a:off x="1582783" y="2407277"/>
            <a:ext cx="4262853" cy="666464"/>
          </a:xfrm>
          <a:prstGeom prst="rect">
            <a:avLst/>
          </a:prstGeom>
          <a:noFill/>
        </p:spPr>
        <p:txBody>
          <a:bodyPr wrap="square" lIns="36000" tIns="0" rIns="36000" bIns="0" rtlCol="0" anchor="t">
            <a:spAutoFit/>
          </a:bodyPr>
          <a:lstStyle/>
          <a:p>
            <a:pPr>
              <a:lnSpc>
                <a:spcPct val="150000"/>
              </a:lnSpc>
              <a:defRPr/>
            </a:pPr>
            <a:br>
              <a:rPr lang="en-US" sz="1000">
                <a:latin typeface="Montserrat"/>
              </a:rPr>
            </a:br>
            <a:r>
              <a:rPr lang="en-US" sz="1000">
                <a:solidFill>
                  <a:srgbClr val="003C5A"/>
                </a:solidFill>
                <a:latin typeface="Montserrat"/>
              </a:rPr>
              <a:t> </a:t>
            </a:r>
            <a:endParaRPr lang="en-US">
              <a:ea typeface="Calibri"/>
              <a:cs typeface="Calibri"/>
            </a:endParaRPr>
          </a:p>
          <a:p>
            <a:pPr marL="171450" marR="0" lvl="0" indent="-171450" algn="l" defTabSz="914400" rtl="0" eaLnBrk="1" fontAlgn="auto" latinLnBrk="0" hangingPunct="1">
              <a:lnSpc>
                <a:spcPct val="150000"/>
              </a:lnSpc>
              <a:spcBef>
                <a:spcPts val="0"/>
              </a:spcBef>
              <a:spcAft>
                <a:spcPts val="0"/>
              </a:spcAft>
              <a:buClrTx/>
              <a:buSzTx/>
              <a:buFontTx/>
              <a:buChar char="-"/>
              <a:tabLst/>
              <a:defRPr/>
            </a:pPr>
            <a:r>
              <a:rPr kumimoji="0" lang="en-US" sz="1000" i="0" u="none" strike="noStrike" kern="1200" cap="none" spc="0" normalizeH="0" baseline="0" noProof="0">
                <a:ln>
                  <a:noFill/>
                </a:ln>
                <a:solidFill>
                  <a:srgbClr val="003C5A"/>
                </a:solidFill>
                <a:effectLst/>
                <a:uLnTx/>
                <a:uFillTx/>
                <a:latin typeface="Montserrat"/>
                <a:ea typeface="+mn-ea"/>
                <a:cs typeface="+mn-cs"/>
              </a:rPr>
              <a:t>Inte</a:t>
            </a:r>
            <a:r>
              <a:rPr lang="en-US" sz="1000">
                <a:solidFill>
                  <a:srgbClr val="003C5A"/>
                </a:solidFill>
                <a:latin typeface="Montserrat"/>
              </a:rPr>
              <a:t>grate “</a:t>
            </a:r>
            <a:r>
              <a:rPr lang="en-US" sz="1000" b="1">
                <a:solidFill>
                  <a:srgbClr val="003C5A"/>
                </a:solidFill>
                <a:latin typeface="Montserrat"/>
              </a:rPr>
              <a:t>global users’ repository</a:t>
            </a:r>
            <a:r>
              <a:rPr lang="en-US" sz="1000">
                <a:solidFill>
                  <a:srgbClr val="003C5A"/>
                </a:solidFill>
                <a:latin typeface="Montserrat"/>
              </a:rPr>
              <a:t>” and </a:t>
            </a:r>
            <a:r>
              <a:rPr lang="en-US" sz="1000" b="1">
                <a:solidFill>
                  <a:srgbClr val="003C5A"/>
                </a:solidFill>
                <a:latin typeface="Montserrat"/>
              </a:rPr>
              <a:t>other entities</a:t>
            </a:r>
            <a:endParaRPr lang="en-US" sz="1000" b="1" i="0" u="none" strike="noStrike" kern="1200" cap="none" spc="0" normalizeH="0" baseline="0" noProof="0">
              <a:ln>
                <a:noFill/>
              </a:ln>
              <a:solidFill>
                <a:srgbClr val="003C5A"/>
              </a:solidFill>
              <a:effectLst/>
              <a:uLnTx/>
              <a:uFillTx/>
              <a:latin typeface="Montserrat"/>
            </a:endParaRPr>
          </a:p>
        </p:txBody>
      </p:sp>
      <p:sp>
        <p:nvSpPr>
          <p:cNvPr id="92" name="ZoneTexte 91">
            <a:extLst>
              <a:ext uri="{FF2B5EF4-FFF2-40B4-BE49-F238E27FC236}">
                <a16:creationId xmlns:a16="http://schemas.microsoft.com/office/drawing/2014/main" id="{AD856ABE-31C2-58FC-8919-4DA60835A966}"/>
              </a:ext>
            </a:extLst>
          </p:cNvPr>
          <p:cNvSpPr txBox="1"/>
          <p:nvPr/>
        </p:nvSpPr>
        <p:spPr>
          <a:xfrm rot="-5400000">
            <a:off x="994954" y="1903721"/>
            <a:ext cx="659681" cy="268471"/>
          </a:xfrm>
          <a:prstGeom prst="rect">
            <a:avLst/>
          </a:prstGeom>
          <a:noFill/>
        </p:spPr>
        <p:txBody>
          <a:bodyPr wrap="square" lIns="36000" tIns="0" rIns="36000" bIns="0" rtlCol="0" anchor="t">
            <a:spAutoFit/>
          </a:bodyPr>
          <a:lstStyle/>
          <a:p>
            <a:pPr algn="ctr">
              <a:lnSpc>
                <a:spcPct val="150000"/>
              </a:lnSpc>
              <a:defRPr/>
            </a:pPr>
            <a:r>
              <a:rPr lang="en-US" sz="1300">
                <a:solidFill>
                  <a:schemeClr val="tx2"/>
                </a:solidFill>
                <a:latin typeface="Montserrat"/>
              </a:rPr>
              <a:t>MVP</a:t>
            </a:r>
            <a:endParaRPr lang="fr-FR" sz="1300">
              <a:solidFill>
                <a:schemeClr val="tx2"/>
              </a:solidFill>
              <a:cs typeface="Calibri"/>
            </a:endParaRPr>
          </a:p>
        </p:txBody>
      </p:sp>
      <p:sp>
        <p:nvSpPr>
          <p:cNvPr id="94" name="ZoneTexte 93">
            <a:extLst>
              <a:ext uri="{FF2B5EF4-FFF2-40B4-BE49-F238E27FC236}">
                <a16:creationId xmlns:a16="http://schemas.microsoft.com/office/drawing/2014/main" id="{B66FAF15-19D2-C025-7699-73385633778A}"/>
              </a:ext>
            </a:extLst>
          </p:cNvPr>
          <p:cNvSpPr txBox="1"/>
          <p:nvPr/>
        </p:nvSpPr>
        <p:spPr>
          <a:xfrm rot="-5400000">
            <a:off x="815339" y="2763692"/>
            <a:ext cx="942708" cy="268471"/>
          </a:xfrm>
          <a:prstGeom prst="rect">
            <a:avLst/>
          </a:prstGeom>
          <a:noFill/>
        </p:spPr>
        <p:txBody>
          <a:bodyPr wrap="square" lIns="36000" tIns="0" rIns="36000" bIns="0" rtlCol="0" anchor="t">
            <a:spAutoFit/>
          </a:bodyPr>
          <a:lstStyle/>
          <a:p>
            <a:pPr algn="ctr">
              <a:lnSpc>
                <a:spcPct val="150000"/>
              </a:lnSpc>
              <a:defRPr/>
            </a:pPr>
            <a:r>
              <a:rPr lang="en-US" sz="1300">
                <a:latin typeface="Montserrat"/>
              </a:rPr>
              <a:t>Extension</a:t>
            </a:r>
            <a:endParaRPr lang="fr-FR" sz="1300">
              <a:cs typeface="Calibri"/>
            </a:endParaRPr>
          </a:p>
        </p:txBody>
      </p:sp>
      <p:pic>
        <p:nvPicPr>
          <p:cNvPr id="7" name="Image 6">
            <a:extLst>
              <a:ext uri="{FF2B5EF4-FFF2-40B4-BE49-F238E27FC236}">
                <a16:creationId xmlns:a16="http://schemas.microsoft.com/office/drawing/2014/main" id="{61BE6030-6066-7DA0-2E63-91A17691B6EC}"/>
              </a:ext>
            </a:extLst>
          </p:cNvPr>
          <p:cNvPicPr>
            <a:picLocks noChangeAspect="1"/>
          </p:cNvPicPr>
          <p:nvPr/>
        </p:nvPicPr>
        <p:blipFill>
          <a:blip r:embed="rId9"/>
          <a:stretch>
            <a:fillRect/>
          </a:stretch>
        </p:blipFill>
        <p:spPr>
          <a:xfrm>
            <a:off x="6780377" y="5355523"/>
            <a:ext cx="204727" cy="214252"/>
          </a:xfrm>
          <a:prstGeom prst="rect">
            <a:avLst/>
          </a:prstGeom>
        </p:spPr>
      </p:pic>
      <p:sp>
        <p:nvSpPr>
          <p:cNvPr id="16" name="Étoile : 5 branches 15">
            <a:extLst>
              <a:ext uri="{FF2B5EF4-FFF2-40B4-BE49-F238E27FC236}">
                <a16:creationId xmlns:a16="http://schemas.microsoft.com/office/drawing/2014/main" id="{7E2CE6CA-DC23-1027-51A2-CC5A842AFDFE}"/>
              </a:ext>
            </a:extLst>
          </p:cNvPr>
          <p:cNvSpPr/>
          <p:nvPr/>
        </p:nvSpPr>
        <p:spPr>
          <a:xfrm>
            <a:off x="6784496" y="3762683"/>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Connecteur droit 12">
            <a:extLst>
              <a:ext uri="{FF2B5EF4-FFF2-40B4-BE49-F238E27FC236}">
                <a16:creationId xmlns:a16="http://schemas.microsoft.com/office/drawing/2014/main" id="{34C0F499-8093-584E-ABFE-B69A19C97E1E}"/>
              </a:ext>
            </a:extLst>
          </p:cNvPr>
          <p:cNvCxnSpPr>
            <a:cxnSpLocks/>
          </p:cNvCxnSpPr>
          <p:nvPr/>
        </p:nvCxnSpPr>
        <p:spPr>
          <a:xfrm>
            <a:off x="8909109" y="5541510"/>
            <a:ext cx="85310"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Rectangle : coins arrondis 13">
            <a:extLst>
              <a:ext uri="{FF2B5EF4-FFF2-40B4-BE49-F238E27FC236}">
                <a16:creationId xmlns:a16="http://schemas.microsoft.com/office/drawing/2014/main" id="{48E3DB52-7DF9-C016-4454-A6FFD20F3481}"/>
              </a:ext>
            </a:extLst>
          </p:cNvPr>
          <p:cNvSpPr/>
          <p:nvPr/>
        </p:nvSpPr>
        <p:spPr>
          <a:xfrm>
            <a:off x="8596746" y="4749771"/>
            <a:ext cx="3516681" cy="1826236"/>
          </a:xfrm>
          <a:prstGeom prst="roundRect">
            <a:avLst>
              <a:gd name="adj" fmla="val 11966"/>
            </a:avLst>
          </a:prstGeom>
          <a:solidFill>
            <a:srgbClr val="009581"/>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9" name="Rectangle : coins arrondis 14">
            <a:extLst>
              <a:ext uri="{FF2B5EF4-FFF2-40B4-BE49-F238E27FC236}">
                <a16:creationId xmlns:a16="http://schemas.microsoft.com/office/drawing/2014/main" id="{FD34A843-AEB1-8B68-072F-87990E3D71D6}"/>
              </a:ext>
            </a:extLst>
          </p:cNvPr>
          <p:cNvSpPr/>
          <p:nvPr/>
        </p:nvSpPr>
        <p:spPr>
          <a:xfrm>
            <a:off x="9507759" y="4855007"/>
            <a:ext cx="2529468" cy="1667508"/>
          </a:xfrm>
          <a:prstGeom prst="roundRect">
            <a:avLst>
              <a:gd name="adj" fmla="val 11966"/>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42" name="ZoneTexte 17">
            <a:extLst>
              <a:ext uri="{FF2B5EF4-FFF2-40B4-BE49-F238E27FC236}">
                <a16:creationId xmlns:a16="http://schemas.microsoft.com/office/drawing/2014/main" id="{741ED778-5482-F40F-7573-BD2D0B0323D3}"/>
              </a:ext>
            </a:extLst>
          </p:cNvPr>
          <p:cNvSpPr txBox="1"/>
          <p:nvPr/>
        </p:nvSpPr>
        <p:spPr>
          <a:xfrm>
            <a:off x="9350119" y="5439230"/>
            <a:ext cx="1400468" cy="215444"/>
          </a:xfrm>
          <a:prstGeom prst="rect">
            <a:avLst/>
          </a:prstGeom>
          <a:noFill/>
        </p:spPr>
        <p:txBody>
          <a:bodyPr wrap="square" lIns="0" tIns="0" rIns="0" bIns="0" rtlCol="0" anchor="b">
            <a:spAutoFit/>
          </a:bodyPr>
          <a:lstStyle/>
          <a:p>
            <a:pPr algn="ctr">
              <a:defRPr/>
            </a:pPr>
            <a:r>
              <a:rPr lang="en-US" sz="1400">
                <a:solidFill>
                  <a:srgbClr val="009581"/>
                </a:solidFill>
                <a:latin typeface="Montserrat SemiBold"/>
              </a:rPr>
              <a:t>Technical</a:t>
            </a:r>
          </a:p>
        </p:txBody>
      </p:sp>
      <p:pic>
        <p:nvPicPr>
          <p:cNvPr id="44" name="Graphique 18" descr="Pièces avec un remplissage uni">
            <a:extLst>
              <a:ext uri="{FF2B5EF4-FFF2-40B4-BE49-F238E27FC236}">
                <a16:creationId xmlns:a16="http://schemas.microsoft.com/office/drawing/2014/main" id="{713B6A0C-F037-E64A-67CD-ED3C7CF683B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78380" y="5236126"/>
            <a:ext cx="572549" cy="572549"/>
          </a:xfrm>
          <a:prstGeom prst="rect">
            <a:avLst/>
          </a:prstGeom>
        </p:spPr>
      </p:pic>
      <p:sp>
        <p:nvSpPr>
          <p:cNvPr id="55" name="TextBox 16">
            <a:extLst>
              <a:ext uri="{FF2B5EF4-FFF2-40B4-BE49-F238E27FC236}">
                <a16:creationId xmlns:a16="http://schemas.microsoft.com/office/drawing/2014/main" id="{A80C8F9E-2B24-3464-50E1-D06BA4DAFD6A}"/>
              </a:ext>
            </a:extLst>
          </p:cNvPr>
          <p:cNvSpPr txBox="1"/>
          <p:nvPr/>
        </p:nvSpPr>
        <p:spPr>
          <a:xfrm>
            <a:off x="9738248" y="3756297"/>
            <a:ext cx="1800000" cy="184666"/>
          </a:xfrm>
          <a:prstGeom prst="rect">
            <a:avLst/>
          </a:prstGeom>
          <a:noFill/>
          <a:ln w="19050">
            <a:noFill/>
          </a:ln>
        </p:spPr>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6B8D"/>
                </a:solidFill>
                <a:effectLst/>
                <a:uLnTx/>
                <a:uFillTx/>
                <a:latin typeface="Montserrat" panose="00000500000000000000" pitchFamily="2" charset="0"/>
                <a:ea typeface="+mn-ea"/>
                <a:cs typeface="+mn-cs"/>
              </a:rPr>
              <a:t>Limitations </a:t>
            </a:r>
            <a:endParaRPr lang="en-US" sz="1200" b="1">
              <a:solidFill>
                <a:srgbClr val="006B8D"/>
              </a:solidFill>
              <a:latin typeface="Montserrat" panose="00000500000000000000" pitchFamily="2" charset="0"/>
            </a:endParaRPr>
          </a:p>
        </p:txBody>
      </p:sp>
      <p:sp>
        <p:nvSpPr>
          <p:cNvPr id="69" name="ZoneTexte 2">
            <a:extLst>
              <a:ext uri="{FF2B5EF4-FFF2-40B4-BE49-F238E27FC236}">
                <a16:creationId xmlns:a16="http://schemas.microsoft.com/office/drawing/2014/main" id="{4B982F18-5A62-809A-F217-AC4CDB5694F7}"/>
              </a:ext>
            </a:extLst>
          </p:cNvPr>
          <p:cNvSpPr txBox="1"/>
          <p:nvPr/>
        </p:nvSpPr>
        <p:spPr>
          <a:xfrm>
            <a:off x="9417418" y="5913683"/>
            <a:ext cx="1400468" cy="215444"/>
          </a:xfrm>
          <a:prstGeom prst="rect">
            <a:avLst/>
          </a:prstGeom>
          <a:noFill/>
        </p:spPr>
        <p:txBody>
          <a:bodyPr wrap="square" lIns="0" tIns="0" rIns="0" bIns="0" rtlCol="0" anchor="b">
            <a:spAutoFit/>
          </a:bodyPr>
          <a:lstStyle/>
          <a:p>
            <a:pPr algn="ctr">
              <a:defRPr/>
            </a:pPr>
            <a:r>
              <a:rPr lang="en-US" sz="1400">
                <a:solidFill>
                  <a:srgbClr val="009581"/>
                </a:solidFill>
                <a:latin typeface="Montserrat SemiBold"/>
              </a:rPr>
              <a:t>Functional</a:t>
            </a:r>
          </a:p>
        </p:txBody>
      </p:sp>
      <p:sp>
        <p:nvSpPr>
          <p:cNvPr id="71" name="ZoneTexte 36">
            <a:extLst>
              <a:ext uri="{FF2B5EF4-FFF2-40B4-BE49-F238E27FC236}">
                <a16:creationId xmlns:a16="http://schemas.microsoft.com/office/drawing/2014/main" id="{5F37A013-5F59-2546-F74A-9CC50F6CA551}"/>
              </a:ext>
            </a:extLst>
          </p:cNvPr>
          <p:cNvSpPr txBox="1"/>
          <p:nvPr/>
        </p:nvSpPr>
        <p:spPr>
          <a:xfrm>
            <a:off x="9635642" y="6165068"/>
            <a:ext cx="1354060" cy="138499"/>
          </a:xfrm>
          <a:prstGeom prst="rect">
            <a:avLst/>
          </a:prstGeom>
          <a:noFill/>
        </p:spPr>
        <p:txBody>
          <a:bodyPr wrap="square" lIns="36000" tIns="0" rIns="36000" bIns="0" rtlCol="0" anchor="t">
            <a:spAutoFit/>
          </a:bodyPr>
          <a:lstStyle/>
          <a:p>
            <a:pPr defTabSz="1219170">
              <a:defRPr/>
            </a:pPr>
            <a:r>
              <a:rPr lang="en-US" sz="900" kern="0" dirty="0">
                <a:solidFill>
                  <a:srgbClr val="003C5A"/>
                </a:solidFill>
                <a:latin typeface="Montserrat"/>
              </a:rPr>
              <a:t>MVP: 150 K€</a:t>
            </a:r>
            <a:endParaRPr lang="fr-FR" dirty="0"/>
          </a:p>
        </p:txBody>
      </p:sp>
      <p:sp>
        <p:nvSpPr>
          <p:cNvPr id="76" name="ZoneTexte 37">
            <a:extLst>
              <a:ext uri="{FF2B5EF4-FFF2-40B4-BE49-F238E27FC236}">
                <a16:creationId xmlns:a16="http://schemas.microsoft.com/office/drawing/2014/main" id="{39FE8105-160D-D1EF-A72B-3879272DAB31}"/>
              </a:ext>
            </a:extLst>
          </p:cNvPr>
          <p:cNvSpPr txBox="1"/>
          <p:nvPr/>
        </p:nvSpPr>
        <p:spPr>
          <a:xfrm>
            <a:off x="9594638" y="5675211"/>
            <a:ext cx="1285540" cy="143565"/>
          </a:xfrm>
          <a:prstGeom prst="rect">
            <a:avLst/>
          </a:prstGeom>
          <a:noFill/>
        </p:spPr>
        <p:txBody>
          <a:bodyPr wrap="square" lIns="36000" tIns="0" rIns="36000" bIns="0" rtlCol="0" anchor="t">
            <a:spAutoFit/>
          </a:bodyPr>
          <a:lstStyle/>
          <a:p>
            <a:pPr defTabSz="1219170">
              <a:defRPr/>
            </a:pPr>
            <a:r>
              <a:rPr kumimoji="0" lang="en-US" sz="900" b="0" i="0" u="none" strike="noStrike" kern="0" cap="none" spc="0" normalizeH="0" baseline="0" noProof="0" dirty="0">
                <a:ln>
                  <a:noFill/>
                </a:ln>
                <a:solidFill>
                  <a:srgbClr val="003C5A"/>
                </a:solidFill>
                <a:effectLst/>
                <a:uLnTx/>
                <a:uFillTx/>
                <a:latin typeface="Montserrat"/>
                <a:ea typeface="+mn-ea"/>
                <a:cs typeface="+mn-cs"/>
              </a:rPr>
              <a:t>MCO : </a:t>
            </a:r>
            <a:r>
              <a:rPr lang="en-US" sz="900" kern="0" dirty="0">
                <a:solidFill>
                  <a:srgbClr val="003C5A"/>
                </a:solidFill>
                <a:latin typeface="Montserrat"/>
              </a:rPr>
              <a:t>50 </a:t>
            </a:r>
            <a:r>
              <a:rPr kumimoji="0" lang="en-US" sz="900" b="0" i="0" u="none" strike="noStrike" kern="0" cap="none" spc="0" normalizeH="0" baseline="0" noProof="0" dirty="0">
                <a:ln>
                  <a:noFill/>
                </a:ln>
                <a:solidFill>
                  <a:srgbClr val="003C5A"/>
                </a:solidFill>
                <a:effectLst/>
                <a:uLnTx/>
                <a:uFillTx/>
                <a:latin typeface="Montserrat"/>
                <a:ea typeface="+mn-ea"/>
                <a:cs typeface="+mn-cs"/>
              </a:rPr>
              <a:t>K€</a:t>
            </a:r>
            <a:r>
              <a:rPr lang="en-US" sz="900" kern="0" dirty="0">
                <a:solidFill>
                  <a:srgbClr val="003C5A"/>
                </a:solidFill>
                <a:latin typeface="Montserrat"/>
              </a:rPr>
              <a:t> </a:t>
            </a:r>
            <a:endParaRPr kumimoji="0" lang="en-US" sz="933" b="0" i="0" u="none" strike="noStrike" kern="0" cap="none" spc="0" normalizeH="0" baseline="0" noProof="0" dirty="0">
              <a:ln>
                <a:noFill/>
              </a:ln>
              <a:solidFill>
                <a:srgbClr val="003C5A"/>
              </a:solidFill>
              <a:effectLst/>
              <a:uLnTx/>
              <a:uFillTx/>
              <a:latin typeface="Montserrat"/>
              <a:ea typeface="+mn-ea"/>
              <a:cs typeface="+mn-cs"/>
            </a:endParaRPr>
          </a:p>
        </p:txBody>
      </p:sp>
      <p:cxnSp>
        <p:nvCxnSpPr>
          <p:cNvPr id="78" name="Connecteur droit 11">
            <a:extLst>
              <a:ext uri="{FF2B5EF4-FFF2-40B4-BE49-F238E27FC236}">
                <a16:creationId xmlns:a16="http://schemas.microsoft.com/office/drawing/2014/main" id="{0DAAD319-301B-91E8-1775-CDD34FA99557}"/>
              </a:ext>
            </a:extLst>
          </p:cNvPr>
          <p:cNvCxnSpPr>
            <a:cxnSpLocks/>
          </p:cNvCxnSpPr>
          <p:nvPr/>
        </p:nvCxnSpPr>
        <p:spPr>
          <a:xfrm>
            <a:off x="8897233" y="3808706"/>
            <a:ext cx="85310"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80" name="Rectangle : coins arrondis 16">
            <a:extLst>
              <a:ext uri="{FF2B5EF4-FFF2-40B4-BE49-F238E27FC236}">
                <a16:creationId xmlns:a16="http://schemas.microsoft.com/office/drawing/2014/main" id="{D6962698-DDD5-5407-5E09-47BAB6D9C73A}"/>
              </a:ext>
            </a:extLst>
          </p:cNvPr>
          <p:cNvSpPr/>
          <p:nvPr/>
        </p:nvSpPr>
        <p:spPr>
          <a:xfrm>
            <a:off x="8584870" y="3518099"/>
            <a:ext cx="3516681" cy="1177692"/>
          </a:xfrm>
          <a:prstGeom prst="roundRect">
            <a:avLst>
              <a:gd name="adj" fmla="val 11966"/>
            </a:avLst>
          </a:prstGeom>
          <a:solidFill>
            <a:srgbClr val="009581"/>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82" name="Rectangle : coins arrondis 19">
            <a:extLst>
              <a:ext uri="{FF2B5EF4-FFF2-40B4-BE49-F238E27FC236}">
                <a16:creationId xmlns:a16="http://schemas.microsoft.com/office/drawing/2014/main" id="{3FC3BFFA-EED1-2871-FF09-F4257187FEA4}"/>
              </a:ext>
            </a:extLst>
          </p:cNvPr>
          <p:cNvSpPr/>
          <p:nvPr/>
        </p:nvSpPr>
        <p:spPr>
          <a:xfrm>
            <a:off x="9495883" y="3617008"/>
            <a:ext cx="2529468" cy="1012639"/>
          </a:xfrm>
          <a:prstGeom prst="roundRect">
            <a:avLst>
              <a:gd name="adj" fmla="val 11966"/>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pic>
        <p:nvPicPr>
          <p:cNvPr id="84" name="Graphique 40" descr="Pièces avec un remplissage uni">
            <a:extLst>
              <a:ext uri="{FF2B5EF4-FFF2-40B4-BE49-F238E27FC236}">
                <a16:creationId xmlns:a16="http://schemas.microsoft.com/office/drawing/2014/main" id="{DB8B4597-CCBD-A31C-14DE-0657480F308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26919" y="3622076"/>
            <a:ext cx="572549" cy="572549"/>
          </a:xfrm>
          <a:prstGeom prst="rect">
            <a:avLst/>
          </a:prstGeom>
        </p:spPr>
      </p:pic>
      <p:sp>
        <p:nvSpPr>
          <p:cNvPr id="86" name="ZoneTexte 87">
            <a:extLst>
              <a:ext uri="{FF2B5EF4-FFF2-40B4-BE49-F238E27FC236}">
                <a16:creationId xmlns:a16="http://schemas.microsoft.com/office/drawing/2014/main" id="{186D24FE-DCD0-EC64-1250-78A9FFB1AC43}"/>
              </a:ext>
            </a:extLst>
          </p:cNvPr>
          <p:cNvSpPr txBox="1"/>
          <p:nvPr/>
        </p:nvSpPr>
        <p:spPr>
          <a:xfrm>
            <a:off x="8339726" y="4260608"/>
            <a:ext cx="1400468" cy="215444"/>
          </a:xfrm>
          <a:prstGeom prst="rect">
            <a:avLst/>
          </a:prstGeom>
          <a:noFill/>
        </p:spPr>
        <p:txBody>
          <a:bodyPr wrap="square" lIns="0" tIns="0" rIns="0" bIns="0" rtlCol="0" anchor="b">
            <a:spAutoFit/>
          </a:bodyPr>
          <a:lstStyle/>
          <a:p>
            <a:pPr algn="ctr">
              <a:defRPr/>
            </a:pPr>
            <a:r>
              <a:rPr lang="en-US" sz="1400" dirty="0">
                <a:solidFill>
                  <a:schemeClr val="bg1"/>
                </a:solidFill>
                <a:latin typeface="Montserrat SemiBold"/>
              </a:rPr>
              <a:t>BUILD</a:t>
            </a:r>
            <a:endParaRPr lang="fr-FR" dirty="0"/>
          </a:p>
        </p:txBody>
      </p:sp>
      <p:sp>
        <p:nvSpPr>
          <p:cNvPr id="89" name="ZoneTexte 89">
            <a:extLst>
              <a:ext uri="{FF2B5EF4-FFF2-40B4-BE49-F238E27FC236}">
                <a16:creationId xmlns:a16="http://schemas.microsoft.com/office/drawing/2014/main" id="{50A2CE39-8F03-C15E-0360-1A620F023589}"/>
              </a:ext>
            </a:extLst>
          </p:cNvPr>
          <p:cNvSpPr txBox="1"/>
          <p:nvPr/>
        </p:nvSpPr>
        <p:spPr>
          <a:xfrm>
            <a:off x="8537648" y="5820228"/>
            <a:ext cx="1008582" cy="215444"/>
          </a:xfrm>
          <a:prstGeom prst="rect">
            <a:avLst/>
          </a:prstGeom>
          <a:noFill/>
        </p:spPr>
        <p:txBody>
          <a:bodyPr wrap="square" lIns="0" tIns="0" rIns="0" bIns="0" rtlCol="0" anchor="b">
            <a:spAutoFit/>
          </a:bodyPr>
          <a:lstStyle/>
          <a:p>
            <a:pPr algn="ctr">
              <a:defRPr/>
            </a:pPr>
            <a:r>
              <a:rPr lang="en-US" sz="1400">
                <a:solidFill>
                  <a:schemeClr val="bg1"/>
                </a:solidFill>
                <a:latin typeface="Montserrat SemiBold"/>
              </a:rPr>
              <a:t>RUN</a:t>
            </a:r>
            <a:endParaRPr lang="fr-FR"/>
          </a:p>
        </p:txBody>
      </p:sp>
      <p:sp>
        <p:nvSpPr>
          <p:cNvPr id="95" name="ZoneTexte 7">
            <a:extLst>
              <a:ext uri="{FF2B5EF4-FFF2-40B4-BE49-F238E27FC236}">
                <a16:creationId xmlns:a16="http://schemas.microsoft.com/office/drawing/2014/main" id="{069A5ABF-E178-087C-B5EB-7308E9CB095B}"/>
              </a:ext>
            </a:extLst>
          </p:cNvPr>
          <p:cNvSpPr txBox="1"/>
          <p:nvPr/>
        </p:nvSpPr>
        <p:spPr>
          <a:xfrm>
            <a:off x="9597333" y="3699147"/>
            <a:ext cx="2103641" cy="215444"/>
          </a:xfrm>
          <a:prstGeom prst="rect">
            <a:avLst/>
          </a:prstGeom>
          <a:noFill/>
        </p:spPr>
        <p:txBody>
          <a:bodyPr wrap="square" lIns="0" tIns="0" rIns="0" bIns="0" rtlCol="0" anchor="b">
            <a:spAutoFit/>
          </a:bodyPr>
          <a:lstStyle/>
          <a:p>
            <a:pPr>
              <a:defRPr/>
            </a:pPr>
            <a:r>
              <a:rPr lang="en-US" sz="1400" dirty="0">
                <a:solidFill>
                  <a:srgbClr val="009581"/>
                </a:solidFill>
                <a:latin typeface="Montserrat SemiBold"/>
              </a:rPr>
              <a:t>Integration (MVP)</a:t>
            </a:r>
          </a:p>
        </p:txBody>
      </p:sp>
      <p:sp>
        <p:nvSpPr>
          <p:cNvPr id="99" name="ZoneTexte 9">
            <a:extLst>
              <a:ext uri="{FF2B5EF4-FFF2-40B4-BE49-F238E27FC236}">
                <a16:creationId xmlns:a16="http://schemas.microsoft.com/office/drawing/2014/main" id="{A121E860-7F6A-9995-39E3-A8E25C21B692}"/>
              </a:ext>
            </a:extLst>
          </p:cNvPr>
          <p:cNvSpPr txBox="1"/>
          <p:nvPr/>
        </p:nvSpPr>
        <p:spPr>
          <a:xfrm>
            <a:off x="10911638" y="3720351"/>
            <a:ext cx="1400468" cy="215444"/>
          </a:xfrm>
          <a:prstGeom prst="rect">
            <a:avLst/>
          </a:prstGeom>
          <a:noFill/>
        </p:spPr>
        <p:txBody>
          <a:bodyPr wrap="square" lIns="0" tIns="0" rIns="0" bIns="0" rtlCol="0" anchor="b">
            <a:spAutoFit/>
          </a:bodyPr>
          <a:lstStyle/>
          <a:p>
            <a:pPr algn="ctr">
              <a:defRPr/>
            </a:pPr>
            <a:r>
              <a:rPr lang="en-US" sz="1400" dirty="0">
                <a:solidFill>
                  <a:srgbClr val="009581"/>
                </a:solidFill>
                <a:latin typeface="Montserrat ExtraBold"/>
              </a:rPr>
              <a:t>~710 k€</a:t>
            </a:r>
          </a:p>
        </p:txBody>
      </p:sp>
      <p:sp>
        <p:nvSpPr>
          <p:cNvPr id="101" name="ZoneTexte 71">
            <a:extLst>
              <a:ext uri="{FF2B5EF4-FFF2-40B4-BE49-F238E27FC236}">
                <a16:creationId xmlns:a16="http://schemas.microsoft.com/office/drawing/2014/main" id="{A57F32FD-B738-0F89-BE85-6DAB2BD1FB08}"/>
              </a:ext>
            </a:extLst>
          </p:cNvPr>
          <p:cNvSpPr txBox="1"/>
          <p:nvPr/>
        </p:nvSpPr>
        <p:spPr>
          <a:xfrm>
            <a:off x="9633459" y="4957221"/>
            <a:ext cx="2103641" cy="215444"/>
          </a:xfrm>
          <a:prstGeom prst="rect">
            <a:avLst/>
          </a:prstGeom>
          <a:noFill/>
        </p:spPr>
        <p:txBody>
          <a:bodyPr wrap="square" lIns="0" tIns="0" rIns="0" bIns="0" rtlCol="0" anchor="b">
            <a:spAutoFit/>
          </a:bodyPr>
          <a:lstStyle/>
          <a:p>
            <a:pPr>
              <a:defRPr/>
            </a:pPr>
            <a:r>
              <a:rPr lang="en-US" sz="1400" dirty="0">
                <a:solidFill>
                  <a:srgbClr val="009581"/>
                </a:solidFill>
                <a:latin typeface="Montserrat SemiBold"/>
              </a:rPr>
              <a:t>Licensing</a:t>
            </a:r>
          </a:p>
        </p:txBody>
      </p:sp>
      <p:sp>
        <p:nvSpPr>
          <p:cNvPr id="103" name="ZoneTexte 73">
            <a:extLst>
              <a:ext uri="{FF2B5EF4-FFF2-40B4-BE49-F238E27FC236}">
                <a16:creationId xmlns:a16="http://schemas.microsoft.com/office/drawing/2014/main" id="{1796292D-3CD0-E375-3902-D97E4CC6079D}"/>
              </a:ext>
            </a:extLst>
          </p:cNvPr>
          <p:cNvSpPr txBox="1"/>
          <p:nvPr/>
        </p:nvSpPr>
        <p:spPr>
          <a:xfrm>
            <a:off x="8702010" y="5175541"/>
            <a:ext cx="2040041" cy="143565"/>
          </a:xfrm>
          <a:prstGeom prst="rect">
            <a:avLst/>
          </a:prstGeom>
          <a:noFill/>
        </p:spPr>
        <p:txBody>
          <a:bodyPr wrap="square" lIns="0" tIns="0" rIns="0" bIns="0" rtlCol="0" anchor="b">
            <a:spAutoFit/>
          </a:bodyPr>
          <a:lstStyle/>
          <a:p>
            <a:pPr algn="ctr">
              <a:defRPr/>
            </a:pPr>
            <a:r>
              <a:rPr lang="en-US" sz="900" kern="0" dirty="0">
                <a:solidFill>
                  <a:srgbClr val="003C5A"/>
                </a:solidFill>
                <a:latin typeface="Montserrat"/>
              </a:rPr>
              <a:t>N/A</a:t>
            </a:r>
            <a:endParaRPr lang="en-US" sz="933" kern="0" dirty="0">
              <a:solidFill>
                <a:srgbClr val="003C5A"/>
              </a:solidFill>
              <a:latin typeface="Montserrat"/>
            </a:endParaRPr>
          </a:p>
        </p:txBody>
      </p:sp>
      <p:sp>
        <p:nvSpPr>
          <p:cNvPr id="3" name="ZoneTexte 71">
            <a:extLst>
              <a:ext uri="{FF2B5EF4-FFF2-40B4-BE49-F238E27FC236}">
                <a16:creationId xmlns:a16="http://schemas.microsoft.com/office/drawing/2014/main" id="{8D5ADE4F-5AD4-0C0C-739D-ED44418AC88E}"/>
              </a:ext>
            </a:extLst>
          </p:cNvPr>
          <p:cNvSpPr txBox="1"/>
          <p:nvPr/>
        </p:nvSpPr>
        <p:spPr>
          <a:xfrm>
            <a:off x="9625156" y="3975017"/>
            <a:ext cx="2103641" cy="153888"/>
          </a:xfrm>
          <a:prstGeom prst="rect">
            <a:avLst/>
          </a:prstGeom>
          <a:noFill/>
        </p:spPr>
        <p:txBody>
          <a:bodyPr wrap="square" lIns="0" tIns="0" rIns="0" bIns="0" rtlCol="0" anchor="b">
            <a:spAutoFit/>
          </a:bodyPr>
          <a:lstStyle/>
          <a:p>
            <a:pPr>
              <a:defRPr/>
            </a:pPr>
            <a:r>
              <a:rPr lang="en-US" sz="1000" dirty="0">
                <a:solidFill>
                  <a:srgbClr val="009581"/>
                </a:solidFill>
                <a:latin typeface="Montserrat SemiBold"/>
              </a:rPr>
              <a:t>Change &amp; project management</a:t>
            </a:r>
          </a:p>
        </p:txBody>
      </p:sp>
      <p:sp>
        <p:nvSpPr>
          <p:cNvPr id="6" name="ZoneTexte 71">
            <a:extLst>
              <a:ext uri="{FF2B5EF4-FFF2-40B4-BE49-F238E27FC236}">
                <a16:creationId xmlns:a16="http://schemas.microsoft.com/office/drawing/2014/main" id="{764EA2ED-B77C-8029-33CB-130C1BA464A6}"/>
              </a:ext>
            </a:extLst>
          </p:cNvPr>
          <p:cNvSpPr txBox="1"/>
          <p:nvPr/>
        </p:nvSpPr>
        <p:spPr>
          <a:xfrm>
            <a:off x="9633459" y="4286375"/>
            <a:ext cx="2103641" cy="153888"/>
          </a:xfrm>
          <a:prstGeom prst="rect">
            <a:avLst/>
          </a:prstGeom>
          <a:noFill/>
        </p:spPr>
        <p:txBody>
          <a:bodyPr wrap="square" lIns="0" tIns="0" rIns="0" bIns="0" rtlCol="0" anchor="b">
            <a:spAutoFit/>
          </a:bodyPr>
          <a:lstStyle/>
          <a:p>
            <a:pPr>
              <a:defRPr/>
            </a:pPr>
            <a:r>
              <a:rPr lang="en-US" sz="1000" dirty="0">
                <a:solidFill>
                  <a:srgbClr val="009581"/>
                </a:solidFill>
                <a:latin typeface="Montserrat SemiBold"/>
              </a:rPr>
              <a:t>Development</a:t>
            </a:r>
          </a:p>
        </p:txBody>
      </p:sp>
      <p:sp>
        <p:nvSpPr>
          <p:cNvPr id="8" name="ZoneTexte 9">
            <a:extLst>
              <a:ext uri="{FF2B5EF4-FFF2-40B4-BE49-F238E27FC236}">
                <a16:creationId xmlns:a16="http://schemas.microsoft.com/office/drawing/2014/main" id="{C51AB61A-A228-3524-31BB-596048412EC8}"/>
              </a:ext>
            </a:extLst>
          </p:cNvPr>
          <p:cNvSpPr txBox="1"/>
          <p:nvPr/>
        </p:nvSpPr>
        <p:spPr>
          <a:xfrm>
            <a:off x="9625156" y="4458117"/>
            <a:ext cx="1400468" cy="138499"/>
          </a:xfrm>
          <a:prstGeom prst="rect">
            <a:avLst/>
          </a:prstGeom>
          <a:noFill/>
        </p:spPr>
        <p:txBody>
          <a:bodyPr wrap="square" lIns="0" tIns="0" rIns="0" bIns="0" rtlCol="0" anchor="b">
            <a:spAutoFit/>
          </a:bodyPr>
          <a:lstStyle/>
          <a:p>
            <a:pPr defTabSz="1219170">
              <a:defRPr/>
            </a:pPr>
            <a:r>
              <a:rPr lang="en-US" sz="900" kern="0" dirty="0">
                <a:solidFill>
                  <a:srgbClr val="003C5A"/>
                </a:solidFill>
                <a:latin typeface="Montserrat"/>
              </a:rPr>
              <a:t>480  K€</a:t>
            </a:r>
          </a:p>
        </p:txBody>
      </p:sp>
      <p:sp>
        <p:nvSpPr>
          <p:cNvPr id="9" name="ZoneTexte 9">
            <a:extLst>
              <a:ext uri="{FF2B5EF4-FFF2-40B4-BE49-F238E27FC236}">
                <a16:creationId xmlns:a16="http://schemas.microsoft.com/office/drawing/2014/main" id="{8909D16A-CE1B-1978-798F-FACEF149C49F}"/>
              </a:ext>
            </a:extLst>
          </p:cNvPr>
          <p:cNvSpPr txBox="1"/>
          <p:nvPr/>
        </p:nvSpPr>
        <p:spPr>
          <a:xfrm>
            <a:off x="9633459" y="4149086"/>
            <a:ext cx="1400468" cy="138499"/>
          </a:xfrm>
          <a:prstGeom prst="rect">
            <a:avLst/>
          </a:prstGeom>
          <a:noFill/>
        </p:spPr>
        <p:txBody>
          <a:bodyPr wrap="square" lIns="0" tIns="0" rIns="0" bIns="0" rtlCol="0" anchor="b">
            <a:spAutoFit/>
          </a:bodyPr>
          <a:lstStyle/>
          <a:p>
            <a:pPr defTabSz="1219170">
              <a:defRPr/>
            </a:pPr>
            <a:r>
              <a:rPr lang="en-US" sz="900" kern="0" dirty="0">
                <a:solidFill>
                  <a:srgbClr val="003C5A"/>
                </a:solidFill>
                <a:latin typeface="Montserrat"/>
              </a:rPr>
              <a:t>230  K€</a:t>
            </a:r>
          </a:p>
        </p:txBody>
      </p:sp>
    </p:spTree>
    <p:extLst>
      <p:ext uri="{BB962C8B-B14F-4D97-AF65-F5344CB8AC3E}">
        <p14:creationId xmlns:p14="http://schemas.microsoft.com/office/powerpoint/2010/main" val="3139623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E4D9B1-5F10-22AE-326A-DACC2401E99C}"/>
              </a:ext>
            </a:extLst>
          </p:cNvPr>
          <p:cNvSpPr>
            <a:spLocks noGrp="1"/>
          </p:cNvSpPr>
          <p:nvPr>
            <p:ph type="title"/>
          </p:nvPr>
        </p:nvSpPr>
        <p:spPr/>
        <p:txBody>
          <a:bodyPr/>
          <a:lstStyle/>
          <a:p>
            <a:r>
              <a:rPr lang="en-US" sz="3600"/>
              <a:t>Scenarios comparison :  functional view</a:t>
            </a:r>
          </a:p>
        </p:txBody>
      </p:sp>
      <p:sp>
        <p:nvSpPr>
          <p:cNvPr id="4" name="Espace réservé du pied de page 3">
            <a:extLst>
              <a:ext uri="{FF2B5EF4-FFF2-40B4-BE49-F238E27FC236}">
                <a16:creationId xmlns:a16="http://schemas.microsoft.com/office/drawing/2014/main" id="{B0064A75-F5D3-0F3B-5B69-B2D3FD351776}"/>
              </a:ext>
            </a:extLst>
          </p:cNvPr>
          <p:cNvSpPr>
            <a:spLocks noGrp="1"/>
          </p:cNvSpPr>
          <p:nvPr>
            <p:ph type="ftr" sz="quarter" idx="13"/>
          </p:nvPr>
        </p:nvSpPr>
        <p:spPr/>
        <p:txBody>
          <a:bodyPr/>
          <a:lstStyle/>
          <a:p>
            <a:r>
              <a:rPr lang="en-US"/>
              <a:t>Bouygues Construction  |  </a:t>
            </a:r>
            <a:r>
              <a:rPr lang="en-US" err="1"/>
              <a:t>Mois</a:t>
            </a:r>
            <a:r>
              <a:rPr lang="en-US"/>
              <a:t> </a:t>
            </a:r>
            <a:r>
              <a:rPr lang="en-US" err="1"/>
              <a:t>Année</a:t>
            </a:r>
            <a:endParaRPr lang="en-US"/>
          </a:p>
        </p:txBody>
      </p:sp>
      <p:sp>
        <p:nvSpPr>
          <p:cNvPr id="5" name="Espace réservé du numéro de diapositive 4">
            <a:extLst>
              <a:ext uri="{FF2B5EF4-FFF2-40B4-BE49-F238E27FC236}">
                <a16:creationId xmlns:a16="http://schemas.microsoft.com/office/drawing/2014/main" id="{FE8B2E85-0A06-29D0-7964-4BE5AFE2CB20}"/>
              </a:ext>
            </a:extLst>
          </p:cNvPr>
          <p:cNvSpPr>
            <a:spLocks noGrp="1"/>
          </p:cNvSpPr>
          <p:nvPr>
            <p:ph type="sldNum" sz="quarter" idx="14"/>
          </p:nvPr>
        </p:nvSpPr>
        <p:spPr>
          <a:xfrm>
            <a:off x="11805565" y="6594433"/>
            <a:ext cx="171522" cy="123111"/>
          </a:xfrm>
        </p:spPr>
        <p:txBody>
          <a:bodyPr/>
          <a:lstStyle/>
          <a:p>
            <a:r>
              <a:rPr lang="en-US"/>
              <a:t>| </a:t>
            </a:r>
            <a:fld id="{C2EBF694-A8F9-4F06-8F8E-D09447FAA2D5}" type="slidenum">
              <a:rPr lang="en-US" smtClean="0"/>
              <a:pPr/>
              <a:t>19</a:t>
            </a:fld>
            <a:endParaRPr lang="en-US"/>
          </a:p>
        </p:txBody>
      </p:sp>
      <p:sp>
        <p:nvSpPr>
          <p:cNvPr id="8" name="Rectangle : coins arrondis 7">
            <a:extLst>
              <a:ext uri="{FF2B5EF4-FFF2-40B4-BE49-F238E27FC236}">
                <a16:creationId xmlns:a16="http://schemas.microsoft.com/office/drawing/2014/main" id="{FE049321-F4BC-3861-32FA-5737A11FB297}"/>
              </a:ext>
            </a:extLst>
          </p:cNvPr>
          <p:cNvSpPr/>
          <p:nvPr/>
        </p:nvSpPr>
        <p:spPr>
          <a:xfrm>
            <a:off x="163192" y="3357254"/>
            <a:ext cx="1682496"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rgbClr val="427296"/>
                </a:solidFill>
                <a:latin typeface="Montserrat"/>
              </a:rPr>
              <a:t>Applications integration</a:t>
            </a:r>
          </a:p>
        </p:txBody>
      </p:sp>
      <p:sp>
        <p:nvSpPr>
          <p:cNvPr id="9" name="Rectangle : coins arrondis 8">
            <a:extLst>
              <a:ext uri="{FF2B5EF4-FFF2-40B4-BE49-F238E27FC236}">
                <a16:creationId xmlns:a16="http://schemas.microsoft.com/office/drawing/2014/main" id="{D7EAAB94-080C-06B5-A618-BA1DFE68D83A}"/>
              </a:ext>
            </a:extLst>
          </p:cNvPr>
          <p:cNvSpPr/>
          <p:nvPr/>
        </p:nvSpPr>
        <p:spPr>
          <a:xfrm>
            <a:off x="163192" y="2682109"/>
            <a:ext cx="1682496"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rgbClr val="427296"/>
                </a:solidFill>
                <a:latin typeface="Montserrat"/>
              </a:rPr>
              <a:t>Authorization Management</a:t>
            </a:r>
          </a:p>
        </p:txBody>
      </p:sp>
      <p:sp>
        <p:nvSpPr>
          <p:cNvPr id="10" name="Rectangle : coins arrondis 9">
            <a:extLst>
              <a:ext uri="{FF2B5EF4-FFF2-40B4-BE49-F238E27FC236}">
                <a16:creationId xmlns:a16="http://schemas.microsoft.com/office/drawing/2014/main" id="{AFD3C616-32AC-60BB-1E22-4A523C4683A5}"/>
              </a:ext>
            </a:extLst>
          </p:cNvPr>
          <p:cNvSpPr/>
          <p:nvPr/>
        </p:nvSpPr>
        <p:spPr>
          <a:xfrm>
            <a:off x="163192" y="2007771"/>
            <a:ext cx="1682496"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rgbClr val="427296"/>
                </a:solidFill>
                <a:latin typeface="Montserrat"/>
              </a:rPr>
              <a:t>Identity Management</a:t>
            </a:r>
          </a:p>
        </p:txBody>
      </p:sp>
      <p:sp>
        <p:nvSpPr>
          <p:cNvPr id="14" name="Rectangle : coins arrondis 13">
            <a:extLst>
              <a:ext uri="{FF2B5EF4-FFF2-40B4-BE49-F238E27FC236}">
                <a16:creationId xmlns:a16="http://schemas.microsoft.com/office/drawing/2014/main" id="{168DBD64-0090-31AA-AB61-CA989C44B1CF}"/>
              </a:ext>
            </a:extLst>
          </p:cNvPr>
          <p:cNvSpPr/>
          <p:nvPr/>
        </p:nvSpPr>
        <p:spPr>
          <a:xfrm>
            <a:off x="163192" y="4028070"/>
            <a:ext cx="1682496"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rgbClr val="427296"/>
                </a:solidFill>
                <a:latin typeface="Montserrat"/>
              </a:rPr>
              <a:t>Governance</a:t>
            </a:r>
          </a:p>
        </p:txBody>
      </p:sp>
      <p:sp>
        <p:nvSpPr>
          <p:cNvPr id="17" name="Rectangle : coins arrondis 16">
            <a:extLst>
              <a:ext uri="{FF2B5EF4-FFF2-40B4-BE49-F238E27FC236}">
                <a16:creationId xmlns:a16="http://schemas.microsoft.com/office/drawing/2014/main" id="{B2C4C21E-B321-7522-0365-CF0D573EC0FC}"/>
              </a:ext>
            </a:extLst>
          </p:cNvPr>
          <p:cNvSpPr/>
          <p:nvPr/>
        </p:nvSpPr>
        <p:spPr>
          <a:xfrm>
            <a:off x="6657154" y="2007770"/>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18" name="Rectangle : coins arrondis 17">
            <a:extLst>
              <a:ext uri="{FF2B5EF4-FFF2-40B4-BE49-F238E27FC236}">
                <a16:creationId xmlns:a16="http://schemas.microsoft.com/office/drawing/2014/main" id="{CBFD3272-AA23-3CF3-2AF9-4ED82514FF4C}"/>
              </a:ext>
            </a:extLst>
          </p:cNvPr>
          <p:cNvSpPr/>
          <p:nvPr/>
        </p:nvSpPr>
        <p:spPr>
          <a:xfrm>
            <a:off x="4360326" y="1998311"/>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21" name="Rectangle : coins arrondis 20">
            <a:extLst>
              <a:ext uri="{FF2B5EF4-FFF2-40B4-BE49-F238E27FC236}">
                <a16:creationId xmlns:a16="http://schemas.microsoft.com/office/drawing/2014/main" id="{A9532246-CA67-1B5F-0F00-D0302AA340A6}"/>
              </a:ext>
            </a:extLst>
          </p:cNvPr>
          <p:cNvSpPr/>
          <p:nvPr/>
        </p:nvSpPr>
        <p:spPr>
          <a:xfrm>
            <a:off x="2063498" y="2031149"/>
            <a:ext cx="2160000" cy="52445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22" name="Rectangle : coins arrondis 21">
            <a:extLst>
              <a:ext uri="{FF2B5EF4-FFF2-40B4-BE49-F238E27FC236}">
                <a16:creationId xmlns:a16="http://schemas.microsoft.com/office/drawing/2014/main" id="{F509FBBD-5974-3CB2-334E-A47629FCAA04}"/>
              </a:ext>
            </a:extLst>
          </p:cNvPr>
          <p:cNvSpPr/>
          <p:nvPr/>
        </p:nvSpPr>
        <p:spPr>
          <a:xfrm>
            <a:off x="4360326" y="2682109"/>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23" name="Rectangle : coins arrondis 22">
            <a:extLst>
              <a:ext uri="{FF2B5EF4-FFF2-40B4-BE49-F238E27FC236}">
                <a16:creationId xmlns:a16="http://schemas.microsoft.com/office/drawing/2014/main" id="{0F1F6FFA-A7D2-2E3E-6D27-1BD44EA94DC6}"/>
              </a:ext>
            </a:extLst>
          </p:cNvPr>
          <p:cNvSpPr/>
          <p:nvPr/>
        </p:nvSpPr>
        <p:spPr>
          <a:xfrm>
            <a:off x="6657154" y="2682109"/>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27" name="Rectangle : coins arrondis 26">
            <a:extLst>
              <a:ext uri="{FF2B5EF4-FFF2-40B4-BE49-F238E27FC236}">
                <a16:creationId xmlns:a16="http://schemas.microsoft.com/office/drawing/2014/main" id="{C4E28874-36A5-1C18-5551-BF98192BE59E}"/>
              </a:ext>
            </a:extLst>
          </p:cNvPr>
          <p:cNvSpPr/>
          <p:nvPr/>
        </p:nvSpPr>
        <p:spPr>
          <a:xfrm>
            <a:off x="6657154" y="3366538"/>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28" name="Rectangle : coins arrondis 27">
            <a:extLst>
              <a:ext uri="{FF2B5EF4-FFF2-40B4-BE49-F238E27FC236}">
                <a16:creationId xmlns:a16="http://schemas.microsoft.com/office/drawing/2014/main" id="{7FD9EEFD-4A54-0D6F-5E48-2A4D9A5925F0}"/>
              </a:ext>
            </a:extLst>
          </p:cNvPr>
          <p:cNvSpPr/>
          <p:nvPr/>
        </p:nvSpPr>
        <p:spPr>
          <a:xfrm>
            <a:off x="4360326" y="3357079"/>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31" name="Rectangle : coins arrondis 30">
            <a:extLst>
              <a:ext uri="{FF2B5EF4-FFF2-40B4-BE49-F238E27FC236}">
                <a16:creationId xmlns:a16="http://schemas.microsoft.com/office/drawing/2014/main" id="{66B3C8E4-1507-21DF-8507-9D7F89C85A94}"/>
              </a:ext>
            </a:extLst>
          </p:cNvPr>
          <p:cNvSpPr/>
          <p:nvPr/>
        </p:nvSpPr>
        <p:spPr>
          <a:xfrm>
            <a:off x="2063498" y="1376430"/>
            <a:ext cx="2160000" cy="524453"/>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ontserrat"/>
                <a:ea typeface="+mn-ea"/>
                <a:cs typeface="+mn-cs"/>
              </a:rPr>
              <a:t>Current situation</a:t>
            </a:r>
          </a:p>
        </p:txBody>
      </p:sp>
      <p:sp>
        <p:nvSpPr>
          <p:cNvPr id="32" name="Rectangle : coins arrondis 31">
            <a:extLst>
              <a:ext uri="{FF2B5EF4-FFF2-40B4-BE49-F238E27FC236}">
                <a16:creationId xmlns:a16="http://schemas.microsoft.com/office/drawing/2014/main" id="{E4401FA3-290A-07FB-6AB4-3F1A0922071A}"/>
              </a:ext>
            </a:extLst>
          </p:cNvPr>
          <p:cNvSpPr/>
          <p:nvPr/>
        </p:nvSpPr>
        <p:spPr>
          <a:xfrm>
            <a:off x="4360326" y="4037355"/>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33" name="Rectangle : coins arrondis 32">
            <a:extLst>
              <a:ext uri="{FF2B5EF4-FFF2-40B4-BE49-F238E27FC236}">
                <a16:creationId xmlns:a16="http://schemas.microsoft.com/office/drawing/2014/main" id="{39A67B1F-84D7-AD87-CDFC-597FF2772DA3}"/>
              </a:ext>
            </a:extLst>
          </p:cNvPr>
          <p:cNvSpPr/>
          <p:nvPr/>
        </p:nvSpPr>
        <p:spPr>
          <a:xfrm>
            <a:off x="6657154" y="4037355"/>
            <a:ext cx="2160000" cy="5244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35" name="Rectangle : coins arrondis 34">
            <a:extLst>
              <a:ext uri="{FF2B5EF4-FFF2-40B4-BE49-F238E27FC236}">
                <a16:creationId xmlns:a16="http://schemas.microsoft.com/office/drawing/2014/main" id="{B054FF80-ED67-1216-CFCE-55BE94A95F59}"/>
              </a:ext>
            </a:extLst>
          </p:cNvPr>
          <p:cNvSpPr/>
          <p:nvPr/>
        </p:nvSpPr>
        <p:spPr>
          <a:xfrm>
            <a:off x="2063498" y="3362789"/>
            <a:ext cx="2160000" cy="52445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40" name="Rectangle : coins arrondis 39">
            <a:extLst>
              <a:ext uri="{FF2B5EF4-FFF2-40B4-BE49-F238E27FC236}">
                <a16:creationId xmlns:a16="http://schemas.microsoft.com/office/drawing/2014/main" id="{DEEBBABA-56BA-BBA7-89B1-A67B84FBC1DF}"/>
              </a:ext>
            </a:extLst>
          </p:cNvPr>
          <p:cNvSpPr/>
          <p:nvPr/>
        </p:nvSpPr>
        <p:spPr>
          <a:xfrm>
            <a:off x="4360326" y="1376430"/>
            <a:ext cx="2160000" cy="524453"/>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ontserrat"/>
                <a:ea typeface="+mn-ea"/>
                <a:cs typeface="+mn-cs"/>
              </a:rPr>
              <a:t>#2.B New Development</a:t>
            </a:r>
          </a:p>
        </p:txBody>
      </p:sp>
      <p:sp>
        <p:nvSpPr>
          <p:cNvPr id="41" name="Rectangle : coins arrondis 40">
            <a:extLst>
              <a:ext uri="{FF2B5EF4-FFF2-40B4-BE49-F238E27FC236}">
                <a16:creationId xmlns:a16="http://schemas.microsoft.com/office/drawing/2014/main" id="{2E0B9563-BB71-F133-C899-11D735B63A2C}"/>
              </a:ext>
            </a:extLst>
          </p:cNvPr>
          <p:cNvSpPr/>
          <p:nvPr/>
        </p:nvSpPr>
        <p:spPr>
          <a:xfrm>
            <a:off x="6657154" y="1376430"/>
            <a:ext cx="2160000" cy="524453"/>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ontserrat"/>
                <a:ea typeface="+mn-ea"/>
                <a:cs typeface="+mn-cs"/>
              </a:rPr>
              <a:t>#1.A IGA Solution</a:t>
            </a:r>
          </a:p>
        </p:txBody>
      </p:sp>
      <p:sp>
        <p:nvSpPr>
          <p:cNvPr id="44" name="Ellipse 43">
            <a:extLst>
              <a:ext uri="{FF2B5EF4-FFF2-40B4-BE49-F238E27FC236}">
                <a16:creationId xmlns:a16="http://schemas.microsoft.com/office/drawing/2014/main" id="{087417FE-82F1-4B2C-954C-FC782CD3218A}"/>
              </a:ext>
            </a:extLst>
          </p:cNvPr>
          <p:cNvSpPr/>
          <p:nvPr/>
        </p:nvSpPr>
        <p:spPr>
          <a:xfrm>
            <a:off x="38424" y="4579668"/>
            <a:ext cx="109728" cy="1036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a:ln>
                <a:noFill/>
              </a:ln>
              <a:solidFill>
                <a:prstClr val="white"/>
              </a:solidFill>
              <a:effectLst/>
              <a:uLnTx/>
              <a:uFillTx/>
              <a:latin typeface="Montserrat"/>
              <a:ea typeface="+mn-ea"/>
              <a:cs typeface="+mn-cs"/>
            </a:endParaRPr>
          </a:p>
        </p:txBody>
      </p:sp>
      <p:sp>
        <p:nvSpPr>
          <p:cNvPr id="59" name="Rectangle : coins arrondis 58">
            <a:extLst>
              <a:ext uri="{FF2B5EF4-FFF2-40B4-BE49-F238E27FC236}">
                <a16:creationId xmlns:a16="http://schemas.microsoft.com/office/drawing/2014/main" id="{C44D08B4-B584-8F4F-F5FF-7ACB1677CE74}"/>
              </a:ext>
            </a:extLst>
          </p:cNvPr>
          <p:cNvSpPr/>
          <p:nvPr/>
        </p:nvSpPr>
        <p:spPr>
          <a:xfrm>
            <a:off x="2063498" y="4028070"/>
            <a:ext cx="2160000" cy="52445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sp>
        <p:nvSpPr>
          <p:cNvPr id="60" name="Rectangle : coins arrondis 59">
            <a:extLst>
              <a:ext uri="{FF2B5EF4-FFF2-40B4-BE49-F238E27FC236}">
                <a16:creationId xmlns:a16="http://schemas.microsoft.com/office/drawing/2014/main" id="{0FC26DC1-81D4-986E-DF30-366F9F6F841D}"/>
              </a:ext>
            </a:extLst>
          </p:cNvPr>
          <p:cNvSpPr/>
          <p:nvPr/>
        </p:nvSpPr>
        <p:spPr>
          <a:xfrm>
            <a:off x="2064555" y="4689680"/>
            <a:ext cx="2155847" cy="2027864"/>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a:solidFill>
                  <a:srgbClr val="427296"/>
                </a:solidFill>
                <a:latin typeface="Montserrat"/>
              </a:rPr>
              <a:t>No changes</a:t>
            </a:r>
            <a:endParaRPr lang="fr-FR"/>
          </a:p>
          <a:p>
            <a:pPr algn="ctr">
              <a:defRPr/>
            </a:pPr>
            <a:endParaRPr lang="en-US" sz="1400" b="1">
              <a:solidFill>
                <a:srgbClr val="427296"/>
              </a:solidFill>
              <a:latin typeface="Montserrat"/>
            </a:endParaRPr>
          </a:p>
          <a:p>
            <a:pPr marL="171450" indent="-171450">
              <a:buFont typeface="Arial"/>
              <a:buChar char="•"/>
              <a:defRPr/>
            </a:pPr>
            <a:r>
              <a:rPr lang="en-US" sz="900">
                <a:solidFill>
                  <a:srgbClr val="427296"/>
                </a:solidFill>
                <a:latin typeface="Montserrat"/>
              </a:rPr>
              <a:t>Many manual steps in joiners’ processes</a:t>
            </a:r>
            <a:endParaRPr lang="en-US" sz="900">
              <a:solidFill>
                <a:srgbClr val="FFFFFF"/>
              </a:solidFill>
              <a:latin typeface="Calibri"/>
              <a:cs typeface="Calibri"/>
            </a:endParaRPr>
          </a:p>
          <a:p>
            <a:pPr marL="171450" indent="-171450">
              <a:buFont typeface="Arial"/>
              <a:buChar char="•"/>
              <a:defRPr/>
            </a:pPr>
            <a:r>
              <a:rPr lang="en-US" sz="900">
                <a:solidFill>
                  <a:srgbClr val="427296"/>
                </a:solidFill>
                <a:latin typeface="Montserrat"/>
              </a:rPr>
              <a:t>Difficulties to remove unused licenses </a:t>
            </a:r>
            <a:endParaRPr lang="en-US" sz="900">
              <a:solidFill>
                <a:srgbClr val="FFFFFF"/>
              </a:solidFill>
              <a:latin typeface="Calibri"/>
              <a:cs typeface="Calibri"/>
            </a:endParaRPr>
          </a:p>
          <a:p>
            <a:pPr marL="171450" indent="-171450">
              <a:buFont typeface="Arial"/>
              <a:buChar char="•"/>
              <a:defRPr/>
            </a:pPr>
            <a:r>
              <a:rPr lang="en-US" sz="900">
                <a:solidFill>
                  <a:srgbClr val="427296"/>
                </a:solidFill>
                <a:latin typeface="Montserrat"/>
              </a:rPr>
              <a:t>Orphan accounts</a:t>
            </a:r>
          </a:p>
        </p:txBody>
      </p:sp>
      <p:sp>
        <p:nvSpPr>
          <p:cNvPr id="61" name="Rectangle : coins arrondis 60">
            <a:extLst>
              <a:ext uri="{FF2B5EF4-FFF2-40B4-BE49-F238E27FC236}">
                <a16:creationId xmlns:a16="http://schemas.microsoft.com/office/drawing/2014/main" id="{369B05F1-75C6-D005-B751-55065E3108F5}"/>
              </a:ext>
            </a:extLst>
          </p:cNvPr>
          <p:cNvSpPr/>
          <p:nvPr/>
        </p:nvSpPr>
        <p:spPr>
          <a:xfrm>
            <a:off x="2063498" y="2682108"/>
            <a:ext cx="2160000" cy="52445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a:ln>
                <a:noFill/>
              </a:ln>
              <a:solidFill>
                <a:prstClr val="white"/>
              </a:solidFill>
              <a:effectLst/>
              <a:uLnTx/>
              <a:uFillTx/>
              <a:latin typeface="Montserrat"/>
              <a:ea typeface="+mn-ea"/>
              <a:cs typeface="+mn-cs"/>
            </a:endParaRPr>
          </a:p>
        </p:txBody>
      </p:sp>
      <p:grpSp>
        <p:nvGrpSpPr>
          <p:cNvPr id="98" name="Groupe 97">
            <a:extLst>
              <a:ext uri="{FF2B5EF4-FFF2-40B4-BE49-F238E27FC236}">
                <a16:creationId xmlns:a16="http://schemas.microsoft.com/office/drawing/2014/main" id="{657A119A-A563-DCE6-0955-8154AEB44AC2}"/>
              </a:ext>
            </a:extLst>
          </p:cNvPr>
          <p:cNvGrpSpPr/>
          <p:nvPr/>
        </p:nvGrpSpPr>
        <p:grpSpPr>
          <a:xfrm>
            <a:off x="2434753" y="2120475"/>
            <a:ext cx="1363248" cy="285666"/>
            <a:chOff x="4883133" y="1619442"/>
            <a:chExt cx="837680" cy="180000"/>
          </a:xfrm>
        </p:grpSpPr>
        <p:sp>
          <p:nvSpPr>
            <p:cNvPr id="99" name="Étoile : 5 branches 98">
              <a:extLst>
                <a:ext uri="{FF2B5EF4-FFF2-40B4-BE49-F238E27FC236}">
                  <a16:creationId xmlns:a16="http://schemas.microsoft.com/office/drawing/2014/main" id="{8115AFA8-86B7-4703-ED21-B8AB0FB43BAF}"/>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Étoile : 5 branches 99">
              <a:extLst>
                <a:ext uri="{FF2B5EF4-FFF2-40B4-BE49-F238E27FC236}">
                  <a16:creationId xmlns:a16="http://schemas.microsoft.com/office/drawing/2014/main" id="{69B9324B-7390-68F3-DCA0-443E99C5496D}"/>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Étoile : 5 branches 100">
              <a:extLst>
                <a:ext uri="{FF2B5EF4-FFF2-40B4-BE49-F238E27FC236}">
                  <a16:creationId xmlns:a16="http://schemas.microsoft.com/office/drawing/2014/main" id="{AA2945A8-825C-3A23-C3B3-EB5A7DF16C5D}"/>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Étoile : 5 branches 101">
              <a:extLst>
                <a:ext uri="{FF2B5EF4-FFF2-40B4-BE49-F238E27FC236}">
                  <a16:creationId xmlns:a16="http://schemas.microsoft.com/office/drawing/2014/main" id="{C7A9AAD0-763D-FA68-425C-81D99BFA409E}"/>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4" name="Connecteur droit 23">
            <a:extLst>
              <a:ext uri="{FF2B5EF4-FFF2-40B4-BE49-F238E27FC236}">
                <a16:creationId xmlns:a16="http://schemas.microsoft.com/office/drawing/2014/main" id="{7F0E8E41-72DF-27D8-2B8A-9D437FAC382D}"/>
              </a:ext>
            </a:extLst>
          </p:cNvPr>
          <p:cNvCxnSpPr>
            <a:cxnSpLocks/>
          </p:cNvCxnSpPr>
          <p:nvPr/>
        </p:nvCxnSpPr>
        <p:spPr>
          <a:xfrm flipV="1">
            <a:off x="93288" y="1998311"/>
            <a:ext cx="0" cy="2637275"/>
          </a:xfrm>
          <a:prstGeom prst="line">
            <a:avLst/>
          </a:prstGeom>
          <a:ln w="38100">
            <a:solidFill>
              <a:srgbClr val="006B8D"/>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251D6C37-F8B6-EF82-A75F-82ADF17683ED}"/>
              </a:ext>
            </a:extLst>
          </p:cNvPr>
          <p:cNvCxnSpPr>
            <a:cxnSpLocks/>
          </p:cNvCxnSpPr>
          <p:nvPr/>
        </p:nvCxnSpPr>
        <p:spPr>
          <a:xfrm flipH="1">
            <a:off x="148152" y="4601446"/>
            <a:ext cx="7980923" cy="30035"/>
          </a:xfrm>
          <a:prstGeom prst="line">
            <a:avLst/>
          </a:prstGeom>
          <a:ln w="38100">
            <a:solidFill>
              <a:srgbClr val="006B8D"/>
            </a:solidFill>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3B87084A-44CA-53D2-5DBB-1B90C1447A44}"/>
              </a:ext>
            </a:extLst>
          </p:cNvPr>
          <p:cNvCxnSpPr>
            <a:cxnSpLocks/>
          </p:cNvCxnSpPr>
          <p:nvPr/>
        </p:nvCxnSpPr>
        <p:spPr>
          <a:xfrm>
            <a:off x="163191" y="2602095"/>
            <a:ext cx="864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9A7AE33D-F8FF-7B01-9FF6-26D2247DEB37}"/>
              </a:ext>
            </a:extLst>
          </p:cNvPr>
          <p:cNvCxnSpPr>
            <a:cxnSpLocks/>
          </p:cNvCxnSpPr>
          <p:nvPr/>
        </p:nvCxnSpPr>
        <p:spPr>
          <a:xfrm>
            <a:off x="163191" y="3286095"/>
            <a:ext cx="864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123D3620-9193-B981-B28C-EEF53A415160}"/>
              </a:ext>
            </a:extLst>
          </p:cNvPr>
          <p:cNvCxnSpPr>
            <a:cxnSpLocks/>
          </p:cNvCxnSpPr>
          <p:nvPr/>
        </p:nvCxnSpPr>
        <p:spPr>
          <a:xfrm>
            <a:off x="163191" y="3952095"/>
            <a:ext cx="864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0" name="Forme libre : forme 49">
            <a:extLst>
              <a:ext uri="{FF2B5EF4-FFF2-40B4-BE49-F238E27FC236}">
                <a16:creationId xmlns:a16="http://schemas.microsoft.com/office/drawing/2014/main" id="{5EF07589-F749-D4C9-A388-AA638D7AE056}"/>
              </a:ext>
            </a:extLst>
          </p:cNvPr>
          <p:cNvSpPr/>
          <p:nvPr/>
        </p:nvSpPr>
        <p:spPr>
          <a:xfrm>
            <a:off x="9116147" y="0"/>
            <a:ext cx="3075853" cy="6858000"/>
          </a:xfrm>
          <a:custGeom>
            <a:avLst/>
            <a:gdLst>
              <a:gd name="connsiteX0" fmla="*/ 228253 w 2532592"/>
              <a:gd name="connsiteY0" fmla="*/ 0 h 6858000"/>
              <a:gd name="connsiteX1" fmla="*/ 2532592 w 2532592"/>
              <a:gd name="connsiteY1" fmla="*/ 0 h 6858000"/>
              <a:gd name="connsiteX2" fmla="*/ 2532592 w 2532592"/>
              <a:gd name="connsiteY2" fmla="*/ 6858000 h 6858000"/>
              <a:gd name="connsiteX3" fmla="*/ 0 w 2532592"/>
              <a:gd name="connsiteY3" fmla="*/ 6858000 h 6858000"/>
              <a:gd name="connsiteX4" fmla="*/ 14591 w 2532592"/>
              <a:gd name="connsiteY4" fmla="*/ 6367282 h 6858000"/>
              <a:gd name="connsiteX5" fmla="*/ 121837 w 2532592"/>
              <a:gd name="connsiteY5" fmla="*/ 30953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2592" h="6858000">
                <a:moveTo>
                  <a:pt x="228253" y="0"/>
                </a:moveTo>
                <a:lnTo>
                  <a:pt x="2532592" y="0"/>
                </a:lnTo>
                <a:lnTo>
                  <a:pt x="2532592" y="6858000"/>
                </a:lnTo>
                <a:lnTo>
                  <a:pt x="0" y="6858000"/>
                </a:lnTo>
                <a:lnTo>
                  <a:pt x="14591" y="6367282"/>
                </a:lnTo>
                <a:cubicBezTo>
                  <a:pt x="48450" y="5282510"/>
                  <a:pt x="84654" y="4190457"/>
                  <a:pt x="121837" y="3095371"/>
                </a:cubicBezTo>
                <a:close/>
              </a:path>
            </a:pathLst>
          </a:cu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grpSp>
        <p:nvGrpSpPr>
          <p:cNvPr id="12" name="Groupe 11">
            <a:extLst>
              <a:ext uri="{FF2B5EF4-FFF2-40B4-BE49-F238E27FC236}">
                <a16:creationId xmlns:a16="http://schemas.microsoft.com/office/drawing/2014/main" id="{FB20FC45-ACB4-A449-0BE4-B81DCAF21918}"/>
              </a:ext>
            </a:extLst>
          </p:cNvPr>
          <p:cNvGrpSpPr/>
          <p:nvPr/>
        </p:nvGrpSpPr>
        <p:grpSpPr>
          <a:xfrm>
            <a:off x="2434753" y="2772275"/>
            <a:ext cx="1363248" cy="285666"/>
            <a:chOff x="4883133" y="1619442"/>
            <a:chExt cx="837680" cy="180000"/>
          </a:xfrm>
        </p:grpSpPr>
        <p:sp>
          <p:nvSpPr>
            <p:cNvPr id="13" name="Étoile : 5 branches 12">
              <a:extLst>
                <a:ext uri="{FF2B5EF4-FFF2-40B4-BE49-F238E27FC236}">
                  <a16:creationId xmlns:a16="http://schemas.microsoft.com/office/drawing/2014/main" id="{12658080-F873-3F91-8F39-9D9A07DCCA81}"/>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Étoile : 5 branches 14">
              <a:extLst>
                <a:ext uri="{FF2B5EF4-FFF2-40B4-BE49-F238E27FC236}">
                  <a16:creationId xmlns:a16="http://schemas.microsoft.com/office/drawing/2014/main" id="{DEE345C4-928E-CDF9-C4F3-B53A6FF41AFB}"/>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Étoile : 5 branches 15">
              <a:extLst>
                <a:ext uri="{FF2B5EF4-FFF2-40B4-BE49-F238E27FC236}">
                  <a16:creationId xmlns:a16="http://schemas.microsoft.com/office/drawing/2014/main" id="{8C4378F4-E761-E23C-6E55-E5F7B4B498C4}"/>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Étoile : 5 branches 18">
              <a:extLst>
                <a:ext uri="{FF2B5EF4-FFF2-40B4-BE49-F238E27FC236}">
                  <a16:creationId xmlns:a16="http://schemas.microsoft.com/office/drawing/2014/main" id="{EE33E7E0-7801-95C9-F7F4-4C096936EAFD}"/>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e 19">
            <a:extLst>
              <a:ext uri="{FF2B5EF4-FFF2-40B4-BE49-F238E27FC236}">
                <a16:creationId xmlns:a16="http://schemas.microsoft.com/office/drawing/2014/main" id="{939B3FCD-25A1-87E8-C134-704EFE4DA0A9}"/>
              </a:ext>
            </a:extLst>
          </p:cNvPr>
          <p:cNvGrpSpPr/>
          <p:nvPr/>
        </p:nvGrpSpPr>
        <p:grpSpPr>
          <a:xfrm>
            <a:off x="2434753" y="3446435"/>
            <a:ext cx="1363248" cy="285666"/>
            <a:chOff x="4883133" y="1619442"/>
            <a:chExt cx="837680" cy="180000"/>
          </a:xfrm>
        </p:grpSpPr>
        <p:sp>
          <p:nvSpPr>
            <p:cNvPr id="26" name="Étoile : 5 branches 25">
              <a:extLst>
                <a:ext uri="{FF2B5EF4-FFF2-40B4-BE49-F238E27FC236}">
                  <a16:creationId xmlns:a16="http://schemas.microsoft.com/office/drawing/2014/main" id="{090D5D66-92DF-3755-7CE9-8112C4909718}"/>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Étoile : 5 branches 28">
              <a:extLst>
                <a:ext uri="{FF2B5EF4-FFF2-40B4-BE49-F238E27FC236}">
                  <a16:creationId xmlns:a16="http://schemas.microsoft.com/office/drawing/2014/main" id="{C54C4DA5-3EB1-0830-A847-DE8E3E2A0B62}"/>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Étoile : 5 branches 29">
              <a:extLst>
                <a:ext uri="{FF2B5EF4-FFF2-40B4-BE49-F238E27FC236}">
                  <a16:creationId xmlns:a16="http://schemas.microsoft.com/office/drawing/2014/main" id="{8139E4C2-964D-11D7-8408-13909568926C}"/>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Étoile : 5 branches 33">
              <a:extLst>
                <a:ext uri="{FF2B5EF4-FFF2-40B4-BE49-F238E27FC236}">
                  <a16:creationId xmlns:a16="http://schemas.microsoft.com/office/drawing/2014/main" id="{51A7FDC2-6B85-1781-A47A-12789F0A6837}"/>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e 65">
            <a:extLst>
              <a:ext uri="{FF2B5EF4-FFF2-40B4-BE49-F238E27FC236}">
                <a16:creationId xmlns:a16="http://schemas.microsoft.com/office/drawing/2014/main" id="{9383F04F-B55E-302C-B0F9-A9194D0B46E0}"/>
              </a:ext>
            </a:extLst>
          </p:cNvPr>
          <p:cNvGrpSpPr/>
          <p:nvPr/>
        </p:nvGrpSpPr>
        <p:grpSpPr>
          <a:xfrm>
            <a:off x="2434753" y="4111721"/>
            <a:ext cx="1363248" cy="285666"/>
            <a:chOff x="4883133" y="1619442"/>
            <a:chExt cx="837680" cy="180000"/>
          </a:xfrm>
        </p:grpSpPr>
        <p:sp>
          <p:nvSpPr>
            <p:cNvPr id="67" name="Étoile : 5 branches 66">
              <a:extLst>
                <a:ext uri="{FF2B5EF4-FFF2-40B4-BE49-F238E27FC236}">
                  <a16:creationId xmlns:a16="http://schemas.microsoft.com/office/drawing/2014/main" id="{4682069F-E3FD-FF0D-D27A-2596EFCDEA17}"/>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Étoile : 5 branches 67">
              <a:extLst>
                <a:ext uri="{FF2B5EF4-FFF2-40B4-BE49-F238E27FC236}">
                  <a16:creationId xmlns:a16="http://schemas.microsoft.com/office/drawing/2014/main" id="{CD7EB411-3E02-B6A4-CBF5-C54B4FDB52C7}"/>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Étoile : 5 branches 68">
              <a:extLst>
                <a:ext uri="{FF2B5EF4-FFF2-40B4-BE49-F238E27FC236}">
                  <a16:creationId xmlns:a16="http://schemas.microsoft.com/office/drawing/2014/main" id="{20DBCEB8-E052-C21C-83B3-52AF44E9432A}"/>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Étoile : 5 branches 69">
              <a:extLst>
                <a:ext uri="{FF2B5EF4-FFF2-40B4-BE49-F238E27FC236}">
                  <a16:creationId xmlns:a16="http://schemas.microsoft.com/office/drawing/2014/main" id="{2A0F22E7-536D-1E7F-E52E-C947AB831694}"/>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e 70">
            <a:extLst>
              <a:ext uri="{FF2B5EF4-FFF2-40B4-BE49-F238E27FC236}">
                <a16:creationId xmlns:a16="http://schemas.microsoft.com/office/drawing/2014/main" id="{C703DCE8-6754-70E9-B45E-ABAED1AECC0F}"/>
              </a:ext>
            </a:extLst>
          </p:cNvPr>
          <p:cNvGrpSpPr/>
          <p:nvPr/>
        </p:nvGrpSpPr>
        <p:grpSpPr>
          <a:xfrm>
            <a:off x="4758702" y="4111721"/>
            <a:ext cx="1363248" cy="285666"/>
            <a:chOff x="4883133" y="1619442"/>
            <a:chExt cx="837680" cy="180000"/>
          </a:xfrm>
        </p:grpSpPr>
        <p:sp>
          <p:nvSpPr>
            <p:cNvPr id="82" name="Étoile : 5 branches 81">
              <a:extLst>
                <a:ext uri="{FF2B5EF4-FFF2-40B4-BE49-F238E27FC236}">
                  <a16:creationId xmlns:a16="http://schemas.microsoft.com/office/drawing/2014/main" id="{3A62987E-A7E8-C716-3777-F87F4935A6F0}"/>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Étoile : 5 branches 82">
              <a:extLst>
                <a:ext uri="{FF2B5EF4-FFF2-40B4-BE49-F238E27FC236}">
                  <a16:creationId xmlns:a16="http://schemas.microsoft.com/office/drawing/2014/main" id="{2D8759FF-D8D2-9D90-F83F-755A7FCEFA23}"/>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Étoile : 5 branches 83">
              <a:extLst>
                <a:ext uri="{FF2B5EF4-FFF2-40B4-BE49-F238E27FC236}">
                  <a16:creationId xmlns:a16="http://schemas.microsoft.com/office/drawing/2014/main" id="{9704B5BE-AEEB-3DD1-7E38-FC6CD7DC1092}"/>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Étoile : 5 branches 84">
              <a:extLst>
                <a:ext uri="{FF2B5EF4-FFF2-40B4-BE49-F238E27FC236}">
                  <a16:creationId xmlns:a16="http://schemas.microsoft.com/office/drawing/2014/main" id="{4F68A446-5A81-4B72-03DD-DA8FD21F40AB}"/>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e 85">
            <a:extLst>
              <a:ext uri="{FF2B5EF4-FFF2-40B4-BE49-F238E27FC236}">
                <a16:creationId xmlns:a16="http://schemas.microsoft.com/office/drawing/2014/main" id="{00AF4E9E-7FCB-E8B6-E82E-367863559597}"/>
              </a:ext>
            </a:extLst>
          </p:cNvPr>
          <p:cNvGrpSpPr/>
          <p:nvPr/>
        </p:nvGrpSpPr>
        <p:grpSpPr>
          <a:xfrm>
            <a:off x="4758702" y="3446861"/>
            <a:ext cx="1363248" cy="285666"/>
            <a:chOff x="4883133" y="1619442"/>
            <a:chExt cx="837680" cy="180000"/>
          </a:xfrm>
        </p:grpSpPr>
        <p:sp>
          <p:nvSpPr>
            <p:cNvPr id="87" name="Étoile : 5 branches 86">
              <a:extLst>
                <a:ext uri="{FF2B5EF4-FFF2-40B4-BE49-F238E27FC236}">
                  <a16:creationId xmlns:a16="http://schemas.microsoft.com/office/drawing/2014/main" id="{30F8E42E-077D-A629-5351-68A0AFD6D3AB}"/>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Étoile : 5 branches 112">
              <a:extLst>
                <a:ext uri="{FF2B5EF4-FFF2-40B4-BE49-F238E27FC236}">
                  <a16:creationId xmlns:a16="http://schemas.microsoft.com/office/drawing/2014/main" id="{E7E86BAA-5FAE-E59F-E933-C17A24B67F70}"/>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Étoile : 5 branches 113">
              <a:extLst>
                <a:ext uri="{FF2B5EF4-FFF2-40B4-BE49-F238E27FC236}">
                  <a16:creationId xmlns:a16="http://schemas.microsoft.com/office/drawing/2014/main" id="{4E4362E1-BC20-46C5-C19E-F5D647FCEB8A}"/>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Étoile : 5 branches 114">
              <a:extLst>
                <a:ext uri="{FF2B5EF4-FFF2-40B4-BE49-F238E27FC236}">
                  <a16:creationId xmlns:a16="http://schemas.microsoft.com/office/drawing/2014/main" id="{3AB378B8-000E-5664-7E6B-095BB347E045}"/>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6" name="Groupe 115">
            <a:extLst>
              <a:ext uri="{FF2B5EF4-FFF2-40B4-BE49-F238E27FC236}">
                <a16:creationId xmlns:a16="http://schemas.microsoft.com/office/drawing/2014/main" id="{963F3096-3663-7FA9-6723-0FEDF893E2FB}"/>
              </a:ext>
            </a:extLst>
          </p:cNvPr>
          <p:cNvGrpSpPr/>
          <p:nvPr/>
        </p:nvGrpSpPr>
        <p:grpSpPr>
          <a:xfrm>
            <a:off x="4758702" y="2774798"/>
            <a:ext cx="1363248" cy="285666"/>
            <a:chOff x="4883133" y="1619442"/>
            <a:chExt cx="837680" cy="180000"/>
          </a:xfrm>
        </p:grpSpPr>
        <p:sp>
          <p:nvSpPr>
            <p:cNvPr id="117" name="Étoile : 5 branches 116">
              <a:extLst>
                <a:ext uri="{FF2B5EF4-FFF2-40B4-BE49-F238E27FC236}">
                  <a16:creationId xmlns:a16="http://schemas.microsoft.com/office/drawing/2014/main" id="{5BD86BE3-D2C2-CD6C-31E8-47AA756F170E}"/>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Étoile : 5 branches 117">
              <a:extLst>
                <a:ext uri="{FF2B5EF4-FFF2-40B4-BE49-F238E27FC236}">
                  <a16:creationId xmlns:a16="http://schemas.microsoft.com/office/drawing/2014/main" id="{0B0F604C-74EB-AF00-0472-2E537A278E46}"/>
                </a:ext>
              </a:extLst>
            </p:cNvPr>
            <p:cNvSpPr/>
            <p:nvPr/>
          </p:nvSpPr>
          <p:spPr>
            <a:xfrm>
              <a:off x="5106087"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Étoile : 5 branches 138">
              <a:extLst>
                <a:ext uri="{FF2B5EF4-FFF2-40B4-BE49-F238E27FC236}">
                  <a16:creationId xmlns:a16="http://schemas.microsoft.com/office/drawing/2014/main" id="{A8A90B44-D587-9633-5F7C-6E2914C386C1}"/>
                </a:ext>
              </a:extLst>
            </p:cNvPr>
            <p:cNvSpPr/>
            <p:nvPr/>
          </p:nvSpPr>
          <p:spPr>
            <a:xfrm>
              <a:off x="5317859"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Étoile : 5 branches 139">
              <a:extLst>
                <a:ext uri="{FF2B5EF4-FFF2-40B4-BE49-F238E27FC236}">
                  <a16:creationId xmlns:a16="http://schemas.microsoft.com/office/drawing/2014/main" id="{CF33A060-5C11-D370-55B7-E6F49F8F5EAD}"/>
                </a:ext>
              </a:extLst>
            </p:cNvPr>
            <p:cNvSpPr/>
            <p:nvPr/>
          </p:nvSpPr>
          <p:spPr>
            <a:xfrm>
              <a:off x="5540813" y="1619442"/>
              <a:ext cx="180000" cy="180000"/>
            </a:xfrm>
            <a:prstGeom prst="star5">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 name="Groupe 140">
            <a:extLst>
              <a:ext uri="{FF2B5EF4-FFF2-40B4-BE49-F238E27FC236}">
                <a16:creationId xmlns:a16="http://schemas.microsoft.com/office/drawing/2014/main" id="{40561D8A-D786-5483-38C0-3138739F1AEB}"/>
              </a:ext>
            </a:extLst>
          </p:cNvPr>
          <p:cNvGrpSpPr/>
          <p:nvPr/>
        </p:nvGrpSpPr>
        <p:grpSpPr>
          <a:xfrm>
            <a:off x="4758702" y="2095546"/>
            <a:ext cx="1363248" cy="285666"/>
            <a:chOff x="4883133" y="1619442"/>
            <a:chExt cx="837680" cy="180000"/>
          </a:xfrm>
        </p:grpSpPr>
        <p:sp>
          <p:nvSpPr>
            <p:cNvPr id="142" name="Étoile : 5 branches 141">
              <a:extLst>
                <a:ext uri="{FF2B5EF4-FFF2-40B4-BE49-F238E27FC236}">
                  <a16:creationId xmlns:a16="http://schemas.microsoft.com/office/drawing/2014/main" id="{CEE5D913-7E36-BF14-9C28-DB5D2398D557}"/>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Étoile : 5 branches 142">
              <a:extLst>
                <a:ext uri="{FF2B5EF4-FFF2-40B4-BE49-F238E27FC236}">
                  <a16:creationId xmlns:a16="http://schemas.microsoft.com/office/drawing/2014/main" id="{E8362AA6-E367-2B49-51CE-A4EFDFB59CEB}"/>
                </a:ext>
              </a:extLst>
            </p:cNvPr>
            <p:cNvSpPr/>
            <p:nvPr/>
          </p:nvSpPr>
          <p:spPr>
            <a:xfrm>
              <a:off x="5106087"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Étoile : 5 branches 143">
              <a:extLst>
                <a:ext uri="{FF2B5EF4-FFF2-40B4-BE49-F238E27FC236}">
                  <a16:creationId xmlns:a16="http://schemas.microsoft.com/office/drawing/2014/main" id="{E6771DCA-35B9-D359-E06C-7CC9D33E4499}"/>
                </a:ext>
              </a:extLst>
            </p:cNvPr>
            <p:cNvSpPr/>
            <p:nvPr/>
          </p:nvSpPr>
          <p:spPr>
            <a:xfrm>
              <a:off x="5317859"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Étoile : 5 branches 144">
              <a:extLst>
                <a:ext uri="{FF2B5EF4-FFF2-40B4-BE49-F238E27FC236}">
                  <a16:creationId xmlns:a16="http://schemas.microsoft.com/office/drawing/2014/main" id="{00893232-A78F-8A84-E1CB-1D0927EDCC02}"/>
                </a:ext>
              </a:extLst>
            </p:cNvPr>
            <p:cNvSpPr/>
            <p:nvPr/>
          </p:nvSpPr>
          <p:spPr>
            <a:xfrm>
              <a:off x="5540813"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 name="Groupe 145">
            <a:extLst>
              <a:ext uri="{FF2B5EF4-FFF2-40B4-BE49-F238E27FC236}">
                <a16:creationId xmlns:a16="http://schemas.microsoft.com/office/drawing/2014/main" id="{2491D533-79E4-7410-C011-17F77B588B3C}"/>
              </a:ext>
            </a:extLst>
          </p:cNvPr>
          <p:cNvGrpSpPr/>
          <p:nvPr/>
        </p:nvGrpSpPr>
        <p:grpSpPr>
          <a:xfrm>
            <a:off x="7045898" y="2095546"/>
            <a:ext cx="1363248" cy="285666"/>
            <a:chOff x="4883133" y="1619442"/>
            <a:chExt cx="837680" cy="180000"/>
          </a:xfrm>
        </p:grpSpPr>
        <p:sp>
          <p:nvSpPr>
            <p:cNvPr id="147" name="Étoile : 5 branches 146">
              <a:extLst>
                <a:ext uri="{FF2B5EF4-FFF2-40B4-BE49-F238E27FC236}">
                  <a16:creationId xmlns:a16="http://schemas.microsoft.com/office/drawing/2014/main" id="{9B582A0C-5A3D-82D2-37B1-628FA2AAD809}"/>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Étoile : 5 branches 147">
              <a:extLst>
                <a:ext uri="{FF2B5EF4-FFF2-40B4-BE49-F238E27FC236}">
                  <a16:creationId xmlns:a16="http://schemas.microsoft.com/office/drawing/2014/main" id="{653AC89C-A9CA-9431-8603-E68D5C2A8E45}"/>
                </a:ext>
              </a:extLst>
            </p:cNvPr>
            <p:cNvSpPr/>
            <p:nvPr/>
          </p:nvSpPr>
          <p:spPr>
            <a:xfrm>
              <a:off x="5106087"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Étoile : 5 branches 148">
              <a:extLst>
                <a:ext uri="{FF2B5EF4-FFF2-40B4-BE49-F238E27FC236}">
                  <a16:creationId xmlns:a16="http://schemas.microsoft.com/office/drawing/2014/main" id="{3D834C5D-364D-BD45-6071-492BDA42CD54}"/>
                </a:ext>
              </a:extLst>
            </p:cNvPr>
            <p:cNvSpPr/>
            <p:nvPr/>
          </p:nvSpPr>
          <p:spPr>
            <a:xfrm>
              <a:off x="5317859"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Étoile : 5 branches 149">
              <a:extLst>
                <a:ext uri="{FF2B5EF4-FFF2-40B4-BE49-F238E27FC236}">
                  <a16:creationId xmlns:a16="http://schemas.microsoft.com/office/drawing/2014/main" id="{5F999D91-91D4-E837-C271-BDB5E688BFE2}"/>
                </a:ext>
              </a:extLst>
            </p:cNvPr>
            <p:cNvSpPr/>
            <p:nvPr/>
          </p:nvSpPr>
          <p:spPr>
            <a:xfrm>
              <a:off x="5540813"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e 150">
            <a:extLst>
              <a:ext uri="{FF2B5EF4-FFF2-40B4-BE49-F238E27FC236}">
                <a16:creationId xmlns:a16="http://schemas.microsoft.com/office/drawing/2014/main" id="{95110B9B-2A22-0901-8514-543D4DD719AF}"/>
              </a:ext>
            </a:extLst>
          </p:cNvPr>
          <p:cNvGrpSpPr/>
          <p:nvPr/>
        </p:nvGrpSpPr>
        <p:grpSpPr>
          <a:xfrm>
            <a:off x="7045898" y="2797880"/>
            <a:ext cx="1363248" cy="285666"/>
            <a:chOff x="4883133" y="1619442"/>
            <a:chExt cx="837680" cy="180000"/>
          </a:xfrm>
        </p:grpSpPr>
        <p:sp>
          <p:nvSpPr>
            <p:cNvPr id="152" name="Étoile : 5 branches 151">
              <a:extLst>
                <a:ext uri="{FF2B5EF4-FFF2-40B4-BE49-F238E27FC236}">
                  <a16:creationId xmlns:a16="http://schemas.microsoft.com/office/drawing/2014/main" id="{7631BEA0-3A18-8B23-4183-FB2C0D9CC1F2}"/>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Étoile : 5 branches 152">
              <a:extLst>
                <a:ext uri="{FF2B5EF4-FFF2-40B4-BE49-F238E27FC236}">
                  <a16:creationId xmlns:a16="http://schemas.microsoft.com/office/drawing/2014/main" id="{8510EECA-AE82-2BEB-5C88-0C91CD9C2A71}"/>
                </a:ext>
              </a:extLst>
            </p:cNvPr>
            <p:cNvSpPr/>
            <p:nvPr/>
          </p:nvSpPr>
          <p:spPr>
            <a:xfrm>
              <a:off x="5106087"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Étoile : 5 branches 153">
              <a:extLst>
                <a:ext uri="{FF2B5EF4-FFF2-40B4-BE49-F238E27FC236}">
                  <a16:creationId xmlns:a16="http://schemas.microsoft.com/office/drawing/2014/main" id="{75FE036A-5404-E5B1-9BA5-39B83BD8524E}"/>
                </a:ext>
              </a:extLst>
            </p:cNvPr>
            <p:cNvSpPr/>
            <p:nvPr/>
          </p:nvSpPr>
          <p:spPr>
            <a:xfrm>
              <a:off x="5317859"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Étoile : 5 branches 154">
              <a:extLst>
                <a:ext uri="{FF2B5EF4-FFF2-40B4-BE49-F238E27FC236}">
                  <a16:creationId xmlns:a16="http://schemas.microsoft.com/office/drawing/2014/main" id="{AA31F6A9-D5D5-9159-07F5-3F33349C14A4}"/>
                </a:ext>
              </a:extLst>
            </p:cNvPr>
            <p:cNvSpPr/>
            <p:nvPr/>
          </p:nvSpPr>
          <p:spPr>
            <a:xfrm>
              <a:off x="5540813"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6" name="Groupe 155">
            <a:extLst>
              <a:ext uri="{FF2B5EF4-FFF2-40B4-BE49-F238E27FC236}">
                <a16:creationId xmlns:a16="http://schemas.microsoft.com/office/drawing/2014/main" id="{353F59B0-29F8-3259-3D01-7BE84061CACF}"/>
              </a:ext>
            </a:extLst>
          </p:cNvPr>
          <p:cNvGrpSpPr/>
          <p:nvPr/>
        </p:nvGrpSpPr>
        <p:grpSpPr>
          <a:xfrm>
            <a:off x="7045898" y="3441900"/>
            <a:ext cx="1363248" cy="285666"/>
            <a:chOff x="4883133" y="1619442"/>
            <a:chExt cx="837680" cy="180000"/>
          </a:xfrm>
        </p:grpSpPr>
        <p:sp>
          <p:nvSpPr>
            <p:cNvPr id="157" name="Étoile : 5 branches 156">
              <a:extLst>
                <a:ext uri="{FF2B5EF4-FFF2-40B4-BE49-F238E27FC236}">
                  <a16:creationId xmlns:a16="http://schemas.microsoft.com/office/drawing/2014/main" id="{66CB7998-E3EF-8749-1C98-999BD5F7F681}"/>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Étoile : 5 branches 157">
              <a:extLst>
                <a:ext uri="{FF2B5EF4-FFF2-40B4-BE49-F238E27FC236}">
                  <a16:creationId xmlns:a16="http://schemas.microsoft.com/office/drawing/2014/main" id="{71FEBAA8-DC06-8AFA-BC7D-4CDE39AB7DAC}"/>
                </a:ext>
              </a:extLst>
            </p:cNvPr>
            <p:cNvSpPr/>
            <p:nvPr/>
          </p:nvSpPr>
          <p:spPr>
            <a:xfrm>
              <a:off x="5106087"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Étoile : 5 branches 158">
              <a:extLst>
                <a:ext uri="{FF2B5EF4-FFF2-40B4-BE49-F238E27FC236}">
                  <a16:creationId xmlns:a16="http://schemas.microsoft.com/office/drawing/2014/main" id="{92BAFE3E-3BF8-36E6-01FF-BD3DA3086B72}"/>
                </a:ext>
              </a:extLst>
            </p:cNvPr>
            <p:cNvSpPr/>
            <p:nvPr/>
          </p:nvSpPr>
          <p:spPr>
            <a:xfrm>
              <a:off x="5317859"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Étoile : 5 branches 159">
              <a:extLst>
                <a:ext uri="{FF2B5EF4-FFF2-40B4-BE49-F238E27FC236}">
                  <a16:creationId xmlns:a16="http://schemas.microsoft.com/office/drawing/2014/main" id="{537A50FF-F86C-BDFF-E700-284D9FBE3B7A}"/>
                </a:ext>
              </a:extLst>
            </p:cNvPr>
            <p:cNvSpPr/>
            <p:nvPr/>
          </p:nvSpPr>
          <p:spPr>
            <a:xfrm>
              <a:off x="5540813"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oupe 160">
            <a:extLst>
              <a:ext uri="{FF2B5EF4-FFF2-40B4-BE49-F238E27FC236}">
                <a16:creationId xmlns:a16="http://schemas.microsoft.com/office/drawing/2014/main" id="{053AF137-BFC6-3619-EA74-9AB57F12FF1A}"/>
              </a:ext>
            </a:extLst>
          </p:cNvPr>
          <p:cNvGrpSpPr/>
          <p:nvPr/>
        </p:nvGrpSpPr>
        <p:grpSpPr>
          <a:xfrm>
            <a:off x="7045898" y="4105778"/>
            <a:ext cx="1363248" cy="285666"/>
            <a:chOff x="4883133" y="1619442"/>
            <a:chExt cx="837680" cy="180000"/>
          </a:xfrm>
        </p:grpSpPr>
        <p:sp>
          <p:nvSpPr>
            <p:cNvPr id="162" name="Étoile : 5 branches 161">
              <a:extLst>
                <a:ext uri="{FF2B5EF4-FFF2-40B4-BE49-F238E27FC236}">
                  <a16:creationId xmlns:a16="http://schemas.microsoft.com/office/drawing/2014/main" id="{5B641AAE-E10D-6D6E-DD76-FD432B76F3F8}"/>
                </a:ext>
              </a:extLst>
            </p:cNvPr>
            <p:cNvSpPr/>
            <p:nvPr/>
          </p:nvSpPr>
          <p:spPr>
            <a:xfrm>
              <a:off x="4883133" y="1619442"/>
              <a:ext cx="180000" cy="180000"/>
            </a:xfrm>
            <a:prstGeom prst="star5">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Étoile : 5 branches 162">
              <a:extLst>
                <a:ext uri="{FF2B5EF4-FFF2-40B4-BE49-F238E27FC236}">
                  <a16:creationId xmlns:a16="http://schemas.microsoft.com/office/drawing/2014/main" id="{61200F33-74CF-8575-2B27-75098AC1C35D}"/>
                </a:ext>
              </a:extLst>
            </p:cNvPr>
            <p:cNvSpPr/>
            <p:nvPr/>
          </p:nvSpPr>
          <p:spPr>
            <a:xfrm>
              <a:off x="5106087"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Étoile : 5 branches 163">
              <a:extLst>
                <a:ext uri="{FF2B5EF4-FFF2-40B4-BE49-F238E27FC236}">
                  <a16:creationId xmlns:a16="http://schemas.microsoft.com/office/drawing/2014/main" id="{91C1FFD3-1212-073B-BC27-114FF4F1EE32}"/>
                </a:ext>
              </a:extLst>
            </p:cNvPr>
            <p:cNvSpPr/>
            <p:nvPr/>
          </p:nvSpPr>
          <p:spPr>
            <a:xfrm>
              <a:off x="5317859"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Étoile : 5 branches 164">
              <a:extLst>
                <a:ext uri="{FF2B5EF4-FFF2-40B4-BE49-F238E27FC236}">
                  <a16:creationId xmlns:a16="http://schemas.microsoft.com/office/drawing/2014/main" id="{47C50331-E165-5D1F-5C08-5DDD8927006F}"/>
                </a:ext>
              </a:extLst>
            </p:cNvPr>
            <p:cNvSpPr/>
            <p:nvPr/>
          </p:nvSpPr>
          <p:spPr>
            <a:xfrm>
              <a:off x="5540813" y="1619442"/>
              <a:ext cx="180000" cy="180000"/>
            </a:xfrm>
            <a:prstGeom prst="star5">
              <a:avLst/>
            </a:prstGeom>
            <a:solidFill>
              <a:srgbClr val="427296"/>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6" name="Rectangle : coins arrondis 165">
            <a:extLst>
              <a:ext uri="{FF2B5EF4-FFF2-40B4-BE49-F238E27FC236}">
                <a16:creationId xmlns:a16="http://schemas.microsoft.com/office/drawing/2014/main" id="{B9F1E48A-ACAF-F5EB-3841-4492ACF22F4E}"/>
              </a:ext>
            </a:extLst>
          </p:cNvPr>
          <p:cNvSpPr/>
          <p:nvPr/>
        </p:nvSpPr>
        <p:spPr>
          <a:xfrm>
            <a:off x="4360326" y="4689679"/>
            <a:ext cx="2155846" cy="202786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a:solidFill>
                  <a:srgbClr val="427296"/>
                </a:solidFill>
                <a:latin typeface="Montserrat"/>
              </a:rPr>
              <a:t>Improvement on identity management</a:t>
            </a:r>
            <a:endParaRPr lang="fr-FR" sz="1400">
              <a:cs typeface="Calibri"/>
            </a:endParaRPr>
          </a:p>
          <a:p>
            <a:pPr algn="ctr">
              <a:defRPr/>
            </a:pPr>
            <a:endParaRPr lang="en-US" sz="1400" b="1">
              <a:solidFill>
                <a:srgbClr val="427296"/>
              </a:solidFill>
              <a:latin typeface="Montserrat"/>
            </a:endParaRPr>
          </a:p>
          <a:p>
            <a:pPr marL="171450" indent="-171450">
              <a:buFont typeface="Arial"/>
              <a:buChar char="•"/>
              <a:defRPr/>
            </a:pPr>
            <a:r>
              <a:rPr lang="en-US" sz="900">
                <a:solidFill>
                  <a:srgbClr val="427296"/>
                </a:solidFill>
                <a:latin typeface="Montserrat"/>
              </a:rPr>
              <a:t>Automate internals identities’ integration </a:t>
            </a:r>
            <a:endParaRPr lang="en-US" sz="900">
              <a:cs typeface="Calibri"/>
            </a:endParaRPr>
          </a:p>
          <a:p>
            <a:pPr marL="171450" indent="-171450">
              <a:buFont typeface="Arial"/>
              <a:buChar char="•"/>
              <a:defRPr/>
            </a:pPr>
            <a:r>
              <a:rPr lang="en-US" sz="900">
                <a:solidFill>
                  <a:srgbClr val="427296"/>
                </a:solidFill>
                <a:latin typeface="Montserrat"/>
              </a:rPr>
              <a:t>Improvement on identity controls </a:t>
            </a:r>
          </a:p>
          <a:p>
            <a:pPr>
              <a:defRPr/>
            </a:pPr>
            <a:endParaRPr lang="en-US" sz="1000">
              <a:solidFill>
                <a:srgbClr val="427296"/>
              </a:solidFill>
              <a:latin typeface="Montserrat"/>
            </a:endParaRPr>
          </a:p>
          <a:p>
            <a:pPr>
              <a:defRPr/>
            </a:pPr>
            <a:r>
              <a:rPr lang="en-US" sz="1000">
                <a:solidFill>
                  <a:srgbClr val="427296"/>
                </a:solidFill>
                <a:latin typeface="Montserrat"/>
              </a:rPr>
              <a:t> </a:t>
            </a:r>
          </a:p>
        </p:txBody>
      </p:sp>
      <p:sp>
        <p:nvSpPr>
          <p:cNvPr id="3" name="Rectangle : coins arrondis 2">
            <a:extLst>
              <a:ext uri="{FF2B5EF4-FFF2-40B4-BE49-F238E27FC236}">
                <a16:creationId xmlns:a16="http://schemas.microsoft.com/office/drawing/2014/main" id="{77D74CB6-AFB9-0892-E7D9-D494AF53364C}"/>
              </a:ext>
            </a:extLst>
          </p:cNvPr>
          <p:cNvSpPr/>
          <p:nvPr/>
        </p:nvSpPr>
        <p:spPr>
          <a:xfrm>
            <a:off x="6658420" y="4689678"/>
            <a:ext cx="2155846" cy="202786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a:solidFill>
                  <a:srgbClr val="427296"/>
                </a:solidFill>
                <a:latin typeface="Montserrat"/>
              </a:rPr>
              <a:t>Ability to cover identities &amp; access (mid-term) </a:t>
            </a:r>
            <a:endParaRPr lang="fr-FR" sz="1400">
              <a:cs typeface="Calibri"/>
            </a:endParaRPr>
          </a:p>
          <a:p>
            <a:pPr marL="171450" indent="-171450">
              <a:buFont typeface="Arial"/>
              <a:buChar char="•"/>
              <a:defRPr/>
            </a:pPr>
            <a:r>
              <a:rPr lang="en-US" sz="900">
                <a:solidFill>
                  <a:srgbClr val="427296"/>
                </a:solidFill>
                <a:latin typeface="Montserrat"/>
              </a:rPr>
              <a:t>Automate internals identities’ integration </a:t>
            </a:r>
            <a:endParaRPr lang="en-US" sz="900">
              <a:ea typeface="+mn-lt"/>
              <a:cs typeface="+mn-lt"/>
            </a:endParaRPr>
          </a:p>
          <a:p>
            <a:pPr marL="171450" indent="-171450">
              <a:buFont typeface="Arial"/>
              <a:buChar char="•"/>
              <a:defRPr/>
            </a:pPr>
            <a:r>
              <a:rPr lang="en-US" sz="900">
                <a:solidFill>
                  <a:srgbClr val="427296"/>
                </a:solidFill>
                <a:latin typeface="Montserrat"/>
              </a:rPr>
              <a:t>Manage access with roles and rules </a:t>
            </a:r>
            <a:endParaRPr lang="en-US" sz="900">
              <a:ea typeface="+mn-lt"/>
              <a:cs typeface="+mn-lt"/>
            </a:endParaRPr>
          </a:p>
          <a:p>
            <a:pPr marL="171450" indent="-171450">
              <a:buFont typeface="Arial"/>
              <a:buChar char="•"/>
              <a:defRPr/>
            </a:pPr>
            <a:r>
              <a:rPr lang="en-US" sz="900">
                <a:solidFill>
                  <a:srgbClr val="427296"/>
                </a:solidFill>
                <a:latin typeface="Montserrat"/>
              </a:rPr>
              <a:t>(de)Provision access automatically </a:t>
            </a:r>
            <a:endParaRPr lang="en-US" sz="900">
              <a:cs typeface="Calibri"/>
            </a:endParaRPr>
          </a:p>
          <a:p>
            <a:pPr>
              <a:defRPr/>
            </a:pPr>
            <a:endParaRPr lang="en-US" sz="900">
              <a:solidFill>
                <a:srgbClr val="427296"/>
              </a:solidFill>
              <a:latin typeface="Montserrat"/>
            </a:endParaRPr>
          </a:p>
          <a:p>
            <a:pPr>
              <a:defRPr/>
            </a:pPr>
            <a:endParaRPr lang="en-US" sz="900">
              <a:solidFill>
                <a:srgbClr val="427296"/>
              </a:solidFill>
              <a:latin typeface="Montserrat"/>
            </a:endParaRPr>
          </a:p>
        </p:txBody>
      </p:sp>
      <p:pic>
        <p:nvPicPr>
          <p:cNvPr id="36" name="Picture 41">
            <a:extLst>
              <a:ext uri="{FF2B5EF4-FFF2-40B4-BE49-F238E27FC236}">
                <a16:creationId xmlns:a16="http://schemas.microsoft.com/office/drawing/2014/main" id="{8C8169A9-006D-8025-2B97-5889AECD0137}"/>
              </a:ext>
            </a:extLst>
          </p:cNvPr>
          <p:cNvPicPr>
            <a:picLocks noChangeAspect="1"/>
          </p:cNvPicPr>
          <p:nvPr/>
        </p:nvPicPr>
        <p:blipFill>
          <a:blip r:embed="rId3"/>
          <a:stretch>
            <a:fillRect/>
          </a:stretch>
        </p:blipFill>
        <p:spPr>
          <a:xfrm>
            <a:off x="5118025" y="4105778"/>
            <a:ext cx="890242" cy="882342"/>
          </a:xfrm>
          <a:prstGeom prst="rect">
            <a:avLst/>
          </a:prstGeom>
        </p:spPr>
      </p:pic>
    </p:spTree>
    <p:extLst>
      <p:ext uri="{BB962C8B-B14F-4D97-AF65-F5344CB8AC3E}">
        <p14:creationId xmlns:p14="http://schemas.microsoft.com/office/powerpoint/2010/main" val="3147682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E4D9B1-5F10-22AE-326A-DACC2401E99C}"/>
              </a:ext>
            </a:extLst>
          </p:cNvPr>
          <p:cNvSpPr>
            <a:spLocks noGrp="1"/>
          </p:cNvSpPr>
          <p:nvPr>
            <p:ph type="title"/>
          </p:nvPr>
        </p:nvSpPr>
        <p:spPr/>
        <p:txBody>
          <a:bodyPr/>
          <a:lstStyle/>
          <a:p>
            <a:r>
              <a:rPr lang="en-US" sz="3600"/>
              <a:t>Scenarios comparison :  financial view</a:t>
            </a:r>
          </a:p>
        </p:txBody>
      </p:sp>
      <p:sp>
        <p:nvSpPr>
          <p:cNvPr id="4" name="Espace réservé du pied de page 3">
            <a:extLst>
              <a:ext uri="{FF2B5EF4-FFF2-40B4-BE49-F238E27FC236}">
                <a16:creationId xmlns:a16="http://schemas.microsoft.com/office/drawing/2014/main" id="{B0064A75-F5D3-0F3B-5B69-B2D3FD351776}"/>
              </a:ext>
            </a:extLst>
          </p:cNvPr>
          <p:cNvSpPr>
            <a:spLocks noGrp="1"/>
          </p:cNvSpPr>
          <p:nvPr>
            <p:ph type="ftr" sz="quarter" idx="13"/>
          </p:nvPr>
        </p:nvSpPr>
        <p:spPr/>
        <p:txBody>
          <a:bodyPr/>
          <a:lstStyle/>
          <a:p>
            <a:r>
              <a:rPr lang="en-US"/>
              <a:t>Bouygues Construction  |  </a:t>
            </a:r>
            <a:r>
              <a:rPr lang="en-US" err="1"/>
              <a:t>Mois</a:t>
            </a:r>
            <a:r>
              <a:rPr lang="en-US"/>
              <a:t> </a:t>
            </a:r>
            <a:r>
              <a:rPr lang="en-US" err="1"/>
              <a:t>Année</a:t>
            </a:r>
            <a:endParaRPr lang="en-US"/>
          </a:p>
        </p:txBody>
      </p:sp>
      <p:sp>
        <p:nvSpPr>
          <p:cNvPr id="5" name="Espace réservé du numéro de diapositive 4">
            <a:extLst>
              <a:ext uri="{FF2B5EF4-FFF2-40B4-BE49-F238E27FC236}">
                <a16:creationId xmlns:a16="http://schemas.microsoft.com/office/drawing/2014/main" id="{FE8B2E85-0A06-29D0-7964-4BE5AFE2CB20}"/>
              </a:ext>
            </a:extLst>
          </p:cNvPr>
          <p:cNvSpPr>
            <a:spLocks noGrp="1"/>
          </p:cNvSpPr>
          <p:nvPr>
            <p:ph type="sldNum" sz="quarter" idx="14"/>
          </p:nvPr>
        </p:nvSpPr>
        <p:spPr>
          <a:xfrm>
            <a:off x="11805565" y="6594433"/>
            <a:ext cx="171522" cy="123111"/>
          </a:xfrm>
        </p:spPr>
        <p:txBody>
          <a:bodyPr/>
          <a:lstStyle/>
          <a:p>
            <a:r>
              <a:rPr lang="en-US"/>
              <a:t>| </a:t>
            </a:r>
            <a:fld id="{C2EBF694-A8F9-4F06-8F8E-D09447FAA2D5}" type="slidenum">
              <a:rPr lang="en-US" smtClean="0"/>
              <a:pPr/>
              <a:t>20</a:t>
            </a:fld>
            <a:endParaRPr lang="en-US"/>
          </a:p>
        </p:txBody>
      </p:sp>
      <p:sp>
        <p:nvSpPr>
          <p:cNvPr id="31" name="Rectangle : coins arrondis 30">
            <a:extLst>
              <a:ext uri="{FF2B5EF4-FFF2-40B4-BE49-F238E27FC236}">
                <a16:creationId xmlns:a16="http://schemas.microsoft.com/office/drawing/2014/main" id="{66B3C8E4-1507-21DF-8507-9D7F89C85A94}"/>
              </a:ext>
            </a:extLst>
          </p:cNvPr>
          <p:cNvSpPr/>
          <p:nvPr/>
        </p:nvSpPr>
        <p:spPr>
          <a:xfrm>
            <a:off x="2063498" y="1376430"/>
            <a:ext cx="2160000" cy="524453"/>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ontserrat"/>
                <a:ea typeface="+mn-ea"/>
                <a:cs typeface="+mn-cs"/>
              </a:rPr>
              <a:t>Current situation</a:t>
            </a:r>
          </a:p>
        </p:txBody>
      </p:sp>
      <p:sp>
        <p:nvSpPr>
          <p:cNvPr id="40" name="Rectangle : coins arrondis 39">
            <a:extLst>
              <a:ext uri="{FF2B5EF4-FFF2-40B4-BE49-F238E27FC236}">
                <a16:creationId xmlns:a16="http://schemas.microsoft.com/office/drawing/2014/main" id="{DEEBBABA-56BA-BBA7-89B1-A67B84FBC1DF}"/>
              </a:ext>
            </a:extLst>
          </p:cNvPr>
          <p:cNvSpPr/>
          <p:nvPr/>
        </p:nvSpPr>
        <p:spPr>
          <a:xfrm>
            <a:off x="4360326" y="1376430"/>
            <a:ext cx="2160000" cy="524453"/>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ontserrat"/>
                <a:ea typeface="+mn-ea"/>
                <a:cs typeface="+mn-cs"/>
              </a:rPr>
              <a:t>#2.B New Development</a:t>
            </a:r>
          </a:p>
        </p:txBody>
      </p:sp>
      <p:sp>
        <p:nvSpPr>
          <p:cNvPr id="41" name="Rectangle : coins arrondis 40">
            <a:extLst>
              <a:ext uri="{FF2B5EF4-FFF2-40B4-BE49-F238E27FC236}">
                <a16:creationId xmlns:a16="http://schemas.microsoft.com/office/drawing/2014/main" id="{2E0B9563-BB71-F133-C899-11D735B63A2C}"/>
              </a:ext>
            </a:extLst>
          </p:cNvPr>
          <p:cNvSpPr/>
          <p:nvPr/>
        </p:nvSpPr>
        <p:spPr>
          <a:xfrm>
            <a:off x="6657154" y="1376430"/>
            <a:ext cx="2160000" cy="524453"/>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ontserrat"/>
                <a:ea typeface="+mn-ea"/>
                <a:cs typeface="+mn-cs"/>
              </a:rPr>
              <a:t>#1.A IGA Solution</a:t>
            </a:r>
          </a:p>
        </p:txBody>
      </p:sp>
      <p:sp>
        <p:nvSpPr>
          <p:cNvPr id="50" name="Forme libre : forme 49">
            <a:extLst>
              <a:ext uri="{FF2B5EF4-FFF2-40B4-BE49-F238E27FC236}">
                <a16:creationId xmlns:a16="http://schemas.microsoft.com/office/drawing/2014/main" id="{5EF07589-F749-D4C9-A388-AA638D7AE056}"/>
              </a:ext>
            </a:extLst>
          </p:cNvPr>
          <p:cNvSpPr/>
          <p:nvPr/>
        </p:nvSpPr>
        <p:spPr>
          <a:xfrm>
            <a:off x="9116147" y="0"/>
            <a:ext cx="3075853" cy="6858000"/>
          </a:xfrm>
          <a:custGeom>
            <a:avLst/>
            <a:gdLst>
              <a:gd name="connsiteX0" fmla="*/ 228253 w 2532592"/>
              <a:gd name="connsiteY0" fmla="*/ 0 h 6858000"/>
              <a:gd name="connsiteX1" fmla="*/ 2532592 w 2532592"/>
              <a:gd name="connsiteY1" fmla="*/ 0 h 6858000"/>
              <a:gd name="connsiteX2" fmla="*/ 2532592 w 2532592"/>
              <a:gd name="connsiteY2" fmla="*/ 6858000 h 6858000"/>
              <a:gd name="connsiteX3" fmla="*/ 0 w 2532592"/>
              <a:gd name="connsiteY3" fmla="*/ 6858000 h 6858000"/>
              <a:gd name="connsiteX4" fmla="*/ 14591 w 2532592"/>
              <a:gd name="connsiteY4" fmla="*/ 6367282 h 6858000"/>
              <a:gd name="connsiteX5" fmla="*/ 121837 w 2532592"/>
              <a:gd name="connsiteY5" fmla="*/ 30953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2592" h="6858000">
                <a:moveTo>
                  <a:pt x="228253" y="0"/>
                </a:moveTo>
                <a:lnTo>
                  <a:pt x="2532592" y="0"/>
                </a:lnTo>
                <a:lnTo>
                  <a:pt x="2532592" y="6858000"/>
                </a:lnTo>
                <a:lnTo>
                  <a:pt x="0" y="6858000"/>
                </a:lnTo>
                <a:lnTo>
                  <a:pt x="14591" y="6367282"/>
                </a:lnTo>
                <a:cubicBezTo>
                  <a:pt x="48450" y="5282510"/>
                  <a:pt x="84654" y="4190457"/>
                  <a:pt x="121837" y="3095371"/>
                </a:cubicBezTo>
                <a:close/>
              </a:path>
            </a:pathLst>
          </a:cu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7" name="Rectangle : coins arrondis 6">
            <a:extLst>
              <a:ext uri="{FF2B5EF4-FFF2-40B4-BE49-F238E27FC236}">
                <a16:creationId xmlns:a16="http://schemas.microsoft.com/office/drawing/2014/main" id="{E9BBDF34-8AA4-04E9-8225-E94AF082F8EA}"/>
              </a:ext>
            </a:extLst>
          </p:cNvPr>
          <p:cNvSpPr/>
          <p:nvPr/>
        </p:nvSpPr>
        <p:spPr>
          <a:xfrm>
            <a:off x="2052460" y="1968251"/>
            <a:ext cx="2155847" cy="47967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b="1">
                <a:solidFill>
                  <a:srgbClr val="427296"/>
                </a:solidFill>
                <a:latin typeface="Montserrat"/>
              </a:rPr>
              <a:t>No changes</a:t>
            </a:r>
            <a:endParaRPr lang="en-US" sz="700">
              <a:solidFill>
                <a:srgbClr val="427296"/>
              </a:solidFill>
              <a:latin typeface="Montserrat"/>
            </a:endParaRPr>
          </a:p>
        </p:txBody>
      </p:sp>
      <p:sp>
        <p:nvSpPr>
          <p:cNvPr id="36" name="Rectangle : coins arrondis 35">
            <a:extLst>
              <a:ext uri="{FF2B5EF4-FFF2-40B4-BE49-F238E27FC236}">
                <a16:creationId xmlns:a16="http://schemas.microsoft.com/office/drawing/2014/main" id="{12FE477B-5E7D-0EAF-A7AD-ABA443A67BFF}"/>
              </a:ext>
            </a:extLst>
          </p:cNvPr>
          <p:cNvSpPr/>
          <p:nvPr/>
        </p:nvSpPr>
        <p:spPr>
          <a:xfrm>
            <a:off x="4348231" y="1968250"/>
            <a:ext cx="2155846" cy="47967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b="1">
                <a:solidFill>
                  <a:srgbClr val="427296"/>
                </a:solidFill>
                <a:latin typeface="Montserrat"/>
              </a:rPr>
              <a:t>Improvement on identity management</a:t>
            </a:r>
          </a:p>
        </p:txBody>
      </p:sp>
      <p:sp>
        <p:nvSpPr>
          <p:cNvPr id="43" name="Rectangle : coins arrondis 42">
            <a:extLst>
              <a:ext uri="{FF2B5EF4-FFF2-40B4-BE49-F238E27FC236}">
                <a16:creationId xmlns:a16="http://schemas.microsoft.com/office/drawing/2014/main" id="{2B407E70-3B6F-BDAC-FA28-1582AE8C430E}"/>
              </a:ext>
            </a:extLst>
          </p:cNvPr>
          <p:cNvSpPr/>
          <p:nvPr/>
        </p:nvSpPr>
        <p:spPr>
          <a:xfrm>
            <a:off x="6646325" y="1968249"/>
            <a:ext cx="2155846" cy="47967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b="1">
                <a:solidFill>
                  <a:srgbClr val="427296"/>
                </a:solidFill>
                <a:latin typeface="Montserrat"/>
              </a:rPr>
              <a:t>Ability to cover identities &amp; access (mid-term)</a:t>
            </a:r>
            <a:endParaRPr lang="fr-FR" sz="1100">
              <a:cs typeface="Calibri"/>
            </a:endParaRPr>
          </a:p>
        </p:txBody>
      </p:sp>
      <p:sp>
        <p:nvSpPr>
          <p:cNvPr id="46" name="Rectangle 45">
            <a:extLst>
              <a:ext uri="{FF2B5EF4-FFF2-40B4-BE49-F238E27FC236}">
                <a16:creationId xmlns:a16="http://schemas.microsoft.com/office/drawing/2014/main" id="{047773A3-0B09-E5B9-E07E-217961E79454}"/>
              </a:ext>
            </a:extLst>
          </p:cNvPr>
          <p:cNvSpPr/>
          <p:nvPr/>
        </p:nvSpPr>
        <p:spPr>
          <a:xfrm>
            <a:off x="362313" y="2510982"/>
            <a:ext cx="1496665" cy="720000"/>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rgbClr val="427296"/>
                </a:solidFill>
                <a:latin typeface="Montserrat"/>
              </a:rPr>
              <a:t>Hypothesis</a:t>
            </a:r>
          </a:p>
        </p:txBody>
      </p:sp>
      <p:sp>
        <p:nvSpPr>
          <p:cNvPr id="48" name="Rectangle 47">
            <a:extLst>
              <a:ext uri="{FF2B5EF4-FFF2-40B4-BE49-F238E27FC236}">
                <a16:creationId xmlns:a16="http://schemas.microsoft.com/office/drawing/2014/main" id="{4EBDFC18-3055-2860-63A5-BBA9DD798129}"/>
              </a:ext>
            </a:extLst>
          </p:cNvPr>
          <p:cNvSpPr/>
          <p:nvPr/>
        </p:nvSpPr>
        <p:spPr>
          <a:xfrm>
            <a:off x="362313" y="3378104"/>
            <a:ext cx="1496665" cy="1424527"/>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rgbClr val="427296"/>
                </a:solidFill>
                <a:latin typeface="Montserrat"/>
              </a:rPr>
              <a:t>Estimated</a:t>
            </a:r>
          </a:p>
          <a:p>
            <a:pPr algn="ctr"/>
            <a:r>
              <a:rPr lang="en-US" sz="1400" b="1">
                <a:solidFill>
                  <a:srgbClr val="427296"/>
                </a:solidFill>
                <a:latin typeface="Montserrat"/>
              </a:rPr>
              <a:t>costs</a:t>
            </a:r>
            <a:endParaRPr lang="en-US"/>
          </a:p>
        </p:txBody>
      </p:sp>
      <p:sp>
        <p:nvSpPr>
          <p:cNvPr id="51" name="Rectangle 50">
            <a:extLst>
              <a:ext uri="{FF2B5EF4-FFF2-40B4-BE49-F238E27FC236}">
                <a16:creationId xmlns:a16="http://schemas.microsoft.com/office/drawing/2014/main" id="{3E22EFBF-8296-7C00-7FF0-E426E2A753C8}"/>
              </a:ext>
            </a:extLst>
          </p:cNvPr>
          <p:cNvSpPr/>
          <p:nvPr/>
        </p:nvSpPr>
        <p:spPr>
          <a:xfrm>
            <a:off x="362313" y="4947655"/>
            <a:ext cx="1496665" cy="1769891"/>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rgbClr val="427296"/>
                </a:solidFill>
                <a:latin typeface="Montserrat"/>
              </a:rPr>
              <a:t>Estimated benefits</a:t>
            </a:r>
          </a:p>
        </p:txBody>
      </p:sp>
      <p:sp>
        <p:nvSpPr>
          <p:cNvPr id="52" name="Rectangle 51">
            <a:extLst>
              <a:ext uri="{FF2B5EF4-FFF2-40B4-BE49-F238E27FC236}">
                <a16:creationId xmlns:a16="http://schemas.microsoft.com/office/drawing/2014/main" id="{75B43E6D-EBF8-24EB-5523-94A978CCC5B5}"/>
              </a:ext>
            </a:extLst>
          </p:cNvPr>
          <p:cNvSpPr/>
          <p:nvPr/>
        </p:nvSpPr>
        <p:spPr>
          <a:xfrm>
            <a:off x="2058841" y="2510981"/>
            <a:ext cx="6758777" cy="720000"/>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b="1" dirty="0">
                <a:solidFill>
                  <a:srgbClr val="427296"/>
                </a:solidFill>
                <a:latin typeface="Montserrat"/>
              </a:rPr>
              <a:t># users : 20.000</a:t>
            </a:r>
          </a:p>
          <a:p>
            <a:pPr algn="ctr"/>
            <a:r>
              <a:rPr lang="fr-FR" sz="1400" b="1" dirty="0">
                <a:solidFill>
                  <a:srgbClr val="427296"/>
                </a:solidFill>
                <a:latin typeface="Montserrat"/>
              </a:rPr>
              <a:t> </a:t>
            </a:r>
            <a:r>
              <a:rPr lang="en-US" sz="1000" b="1" dirty="0">
                <a:solidFill>
                  <a:srgbClr val="427296"/>
                </a:solidFill>
                <a:latin typeface="Montserrat"/>
              </a:rPr>
              <a:t>#identities creation in CPEOPLE : 12 000 (2022)</a:t>
            </a:r>
          </a:p>
        </p:txBody>
      </p:sp>
      <p:sp>
        <p:nvSpPr>
          <p:cNvPr id="53" name="Rectangle 52">
            <a:extLst>
              <a:ext uri="{FF2B5EF4-FFF2-40B4-BE49-F238E27FC236}">
                <a16:creationId xmlns:a16="http://schemas.microsoft.com/office/drawing/2014/main" id="{68A4340D-EA15-FB90-1E21-AE05BF06AC77}"/>
              </a:ext>
            </a:extLst>
          </p:cNvPr>
          <p:cNvSpPr/>
          <p:nvPr/>
        </p:nvSpPr>
        <p:spPr>
          <a:xfrm>
            <a:off x="2058841" y="3378103"/>
            <a:ext cx="2114891" cy="1424527"/>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900" b="1" dirty="0">
              <a:solidFill>
                <a:srgbClr val="FF0000"/>
              </a:solidFill>
              <a:latin typeface="Montserrat"/>
              <a:cs typeface="Calibri"/>
            </a:endParaRPr>
          </a:p>
        </p:txBody>
      </p:sp>
      <p:sp>
        <p:nvSpPr>
          <p:cNvPr id="54" name="Rectangle 53">
            <a:extLst>
              <a:ext uri="{FF2B5EF4-FFF2-40B4-BE49-F238E27FC236}">
                <a16:creationId xmlns:a16="http://schemas.microsoft.com/office/drawing/2014/main" id="{8F05C743-DE92-C6C9-31DB-B0860532A194}"/>
              </a:ext>
            </a:extLst>
          </p:cNvPr>
          <p:cNvSpPr/>
          <p:nvPr/>
        </p:nvSpPr>
        <p:spPr>
          <a:xfrm>
            <a:off x="2058841" y="4947654"/>
            <a:ext cx="2114891" cy="1769891"/>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a:solidFill>
                  <a:srgbClr val="427296"/>
                </a:solidFill>
                <a:latin typeface="Montserrat"/>
              </a:rPr>
              <a:t>N/A</a:t>
            </a:r>
            <a:endParaRPr lang="fr-FR"/>
          </a:p>
        </p:txBody>
      </p:sp>
      <p:sp>
        <p:nvSpPr>
          <p:cNvPr id="3" name="Rectangle 2">
            <a:extLst>
              <a:ext uri="{FF2B5EF4-FFF2-40B4-BE49-F238E27FC236}">
                <a16:creationId xmlns:a16="http://schemas.microsoft.com/office/drawing/2014/main" id="{C823FCF8-0713-D30B-0BA5-79798A558894}"/>
              </a:ext>
            </a:extLst>
          </p:cNvPr>
          <p:cNvSpPr/>
          <p:nvPr/>
        </p:nvSpPr>
        <p:spPr>
          <a:xfrm>
            <a:off x="4374529" y="3368207"/>
            <a:ext cx="2114891" cy="1424527"/>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900" dirty="0">
              <a:solidFill>
                <a:srgbClr val="427296"/>
              </a:solidFill>
              <a:latin typeface="Montserrat"/>
              <a:cs typeface="Calibri"/>
            </a:endParaRPr>
          </a:p>
        </p:txBody>
      </p:sp>
      <p:sp>
        <p:nvSpPr>
          <p:cNvPr id="6" name="Rectangle 5">
            <a:extLst>
              <a:ext uri="{FF2B5EF4-FFF2-40B4-BE49-F238E27FC236}">
                <a16:creationId xmlns:a16="http://schemas.microsoft.com/office/drawing/2014/main" id="{448C29D5-ECB8-D196-FB5A-305B08ADF734}"/>
              </a:ext>
            </a:extLst>
          </p:cNvPr>
          <p:cNvSpPr/>
          <p:nvPr/>
        </p:nvSpPr>
        <p:spPr>
          <a:xfrm>
            <a:off x="4374529" y="4937758"/>
            <a:ext cx="2114891" cy="1769891"/>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br>
              <a:rPr lang="en-US" sz="900" dirty="0">
                <a:solidFill>
                  <a:srgbClr val="427296"/>
                </a:solidFill>
                <a:latin typeface="Montserrat"/>
              </a:rPr>
            </a:br>
            <a:br>
              <a:rPr lang="en-US" sz="900" dirty="0">
                <a:latin typeface="Montserrat"/>
              </a:rPr>
            </a:br>
            <a:endParaRPr lang="en-US" sz="900">
              <a:solidFill>
                <a:srgbClr val="427296"/>
              </a:solidFill>
              <a:latin typeface="Montserrat"/>
              <a:ea typeface="+mn-lt"/>
              <a:cs typeface="+mn-lt"/>
            </a:endParaRPr>
          </a:p>
          <a:p>
            <a:br>
              <a:rPr lang="en-US" sz="900" dirty="0">
                <a:solidFill>
                  <a:srgbClr val="427296"/>
                </a:solidFill>
                <a:latin typeface="Montserrat"/>
              </a:rPr>
            </a:br>
            <a:endParaRPr lang="en-US" sz="900" dirty="0">
              <a:solidFill>
                <a:srgbClr val="427296"/>
              </a:solidFill>
              <a:latin typeface="Montserrat"/>
            </a:endParaRPr>
          </a:p>
          <a:p>
            <a:br>
              <a:rPr lang="en-US" sz="900" dirty="0">
                <a:solidFill>
                  <a:srgbClr val="427296"/>
                </a:solidFill>
                <a:latin typeface="Montserrat"/>
                <a:ea typeface="+mn-lt"/>
                <a:cs typeface="+mn-lt"/>
              </a:rPr>
            </a:br>
            <a:br>
              <a:rPr lang="en-US" sz="900" dirty="0">
                <a:latin typeface="Montserrat"/>
                <a:ea typeface="+mn-lt"/>
                <a:cs typeface="+mn-lt"/>
              </a:rPr>
            </a:br>
            <a:endParaRPr lang="en-US" sz="900">
              <a:latin typeface="Montserrat"/>
              <a:ea typeface="+mn-lt"/>
              <a:cs typeface="+mn-lt"/>
            </a:endParaRPr>
          </a:p>
        </p:txBody>
      </p:sp>
      <p:sp>
        <p:nvSpPr>
          <p:cNvPr id="8" name="Rectangle 7">
            <a:extLst>
              <a:ext uri="{FF2B5EF4-FFF2-40B4-BE49-F238E27FC236}">
                <a16:creationId xmlns:a16="http://schemas.microsoft.com/office/drawing/2014/main" id="{C5530A5D-D48E-B3FA-CD18-FE07879A9538}"/>
              </a:ext>
            </a:extLst>
          </p:cNvPr>
          <p:cNvSpPr/>
          <p:nvPr/>
        </p:nvSpPr>
        <p:spPr>
          <a:xfrm>
            <a:off x="6690217" y="3378102"/>
            <a:ext cx="2114891" cy="1424527"/>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900" dirty="0">
              <a:solidFill>
                <a:srgbClr val="427296"/>
              </a:solidFill>
              <a:latin typeface="Montserrat"/>
              <a:cs typeface="Calibri"/>
            </a:endParaRPr>
          </a:p>
        </p:txBody>
      </p:sp>
      <p:sp>
        <p:nvSpPr>
          <p:cNvPr id="9" name="Rectangle 8">
            <a:extLst>
              <a:ext uri="{FF2B5EF4-FFF2-40B4-BE49-F238E27FC236}">
                <a16:creationId xmlns:a16="http://schemas.microsoft.com/office/drawing/2014/main" id="{179F9C3C-1D0D-FFB1-53A8-7F9AEBEE74B8}"/>
              </a:ext>
            </a:extLst>
          </p:cNvPr>
          <p:cNvSpPr/>
          <p:nvPr/>
        </p:nvSpPr>
        <p:spPr>
          <a:xfrm>
            <a:off x="6690217" y="4947653"/>
            <a:ext cx="2114891" cy="1769891"/>
          </a:xfrm>
          <a:prstGeom prst="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000" b="1" dirty="0">
              <a:solidFill>
                <a:srgbClr val="427296"/>
              </a:solidFill>
              <a:latin typeface="Montserrat"/>
              <a:cs typeface="Calibri"/>
            </a:endParaRPr>
          </a:p>
          <a:p>
            <a:endParaRPr lang="en-US" sz="1000" b="1" dirty="0">
              <a:solidFill>
                <a:srgbClr val="427296"/>
              </a:solidFill>
              <a:latin typeface="Montserrat"/>
              <a:cs typeface="Calibri"/>
            </a:endParaRPr>
          </a:p>
        </p:txBody>
      </p:sp>
      <p:sp>
        <p:nvSpPr>
          <p:cNvPr id="10" name="TextBox 9">
            <a:extLst>
              <a:ext uri="{FF2B5EF4-FFF2-40B4-BE49-F238E27FC236}">
                <a16:creationId xmlns:a16="http://schemas.microsoft.com/office/drawing/2014/main" id="{D2F09960-E570-8046-9531-1F2F355BF395}"/>
              </a:ext>
            </a:extLst>
          </p:cNvPr>
          <p:cNvSpPr txBox="1"/>
          <p:nvPr/>
        </p:nvSpPr>
        <p:spPr>
          <a:xfrm>
            <a:off x="4413662" y="5961617"/>
            <a:ext cx="1731729" cy="800219"/>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cs typeface="Calibri"/>
              </a:rPr>
              <a:t>Accounts &amp; related licenses cleaning</a:t>
            </a:r>
            <a:endParaRPr lang="en-US" sz="1000" dirty="0">
              <a:ea typeface="+mn-lt"/>
              <a:cs typeface="+mn-lt"/>
            </a:endParaRPr>
          </a:p>
          <a:p>
            <a:pPr marL="91440" indent="-91440">
              <a:buFont typeface="Arial,Sans-Serif"/>
              <a:buChar char="•"/>
            </a:pPr>
            <a:r>
              <a:rPr lang="en-US" sz="900" dirty="0">
                <a:solidFill>
                  <a:srgbClr val="427296"/>
                </a:solidFill>
                <a:latin typeface="Montserrat"/>
                <a:cs typeface="Calibri"/>
              </a:rPr>
              <a:t>Office 365 licenses : ~50 K€</a:t>
            </a:r>
            <a:br>
              <a:rPr lang="en-US" sz="900" dirty="0">
                <a:latin typeface="Montserrat"/>
                <a:cs typeface="Calibri"/>
              </a:rPr>
            </a:br>
            <a:endParaRPr lang="en-US" sz="900" dirty="0">
              <a:ea typeface="+mn-lt"/>
              <a:cs typeface="+mn-lt"/>
            </a:endParaRPr>
          </a:p>
          <a:p>
            <a:pPr algn="l"/>
            <a:endParaRPr lang="en-US" sz="1400" dirty="0">
              <a:cs typeface="Calibri"/>
            </a:endParaRPr>
          </a:p>
        </p:txBody>
      </p:sp>
      <p:sp>
        <p:nvSpPr>
          <p:cNvPr id="11" name="TextBox 10">
            <a:extLst>
              <a:ext uri="{FF2B5EF4-FFF2-40B4-BE49-F238E27FC236}">
                <a16:creationId xmlns:a16="http://schemas.microsoft.com/office/drawing/2014/main" id="{50FF9CD8-E41D-F2D1-8E85-2FC3C66ADFE3}"/>
              </a:ext>
            </a:extLst>
          </p:cNvPr>
          <p:cNvSpPr txBox="1"/>
          <p:nvPr/>
        </p:nvSpPr>
        <p:spPr>
          <a:xfrm>
            <a:off x="4413662" y="4938156"/>
            <a:ext cx="2048404" cy="861774"/>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cs typeface="Calibri"/>
              </a:rPr>
              <a:t>Improvements</a:t>
            </a:r>
            <a:endParaRPr lang="en-US" sz="1000" dirty="0">
              <a:ea typeface="+mn-lt"/>
              <a:cs typeface="+mn-lt"/>
            </a:endParaRPr>
          </a:p>
          <a:p>
            <a:pPr marL="171450" indent="-171450">
              <a:buFont typeface="Arial,Sans-Serif"/>
              <a:buChar char="•"/>
            </a:pPr>
            <a:r>
              <a:rPr lang="en-US" sz="900" dirty="0">
                <a:solidFill>
                  <a:srgbClr val="427296"/>
                </a:solidFill>
                <a:latin typeface="Montserrat"/>
                <a:cs typeface="Calibri"/>
              </a:rPr>
              <a:t>Automate processes for</a:t>
            </a:r>
            <a:br>
              <a:rPr lang="en-US" sz="900" dirty="0">
                <a:solidFill>
                  <a:srgbClr val="427296"/>
                </a:solidFill>
                <a:latin typeface="Montserrat"/>
                <a:cs typeface="Calibri"/>
              </a:rPr>
            </a:br>
            <a:r>
              <a:rPr lang="en-US" sz="900" dirty="0">
                <a:solidFill>
                  <a:srgbClr val="427296"/>
                </a:solidFill>
                <a:latin typeface="Montserrat"/>
                <a:cs typeface="Calibri"/>
              </a:rPr>
              <a:t>identities (internals)</a:t>
            </a:r>
            <a:br>
              <a:rPr lang="en-US" sz="900" dirty="0">
                <a:solidFill>
                  <a:srgbClr val="427296"/>
                </a:solidFill>
                <a:latin typeface="Montserrat"/>
                <a:cs typeface="Calibri"/>
              </a:rPr>
            </a:br>
            <a:r>
              <a:rPr lang="en-US" sz="900" dirty="0">
                <a:solidFill>
                  <a:srgbClr val="427296"/>
                </a:solidFill>
                <a:latin typeface="Montserrat"/>
                <a:cs typeface="Calibri"/>
              </a:rPr>
              <a:t>(1 manual operation vs 3 actually</a:t>
            </a:r>
            <a:r>
              <a:rPr lang="en-US" sz="900" dirty="0">
                <a:solidFill>
                  <a:srgbClr val="427296"/>
                </a:solidFill>
                <a:latin typeface="Montserrat"/>
                <a:cs typeface="Calibri"/>
                <a:sym typeface="Wingdings" panose="05000000000000000000" pitchFamily="2" charset="2"/>
              </a:rPr>
              <a:t> / scope limited to AD)</a:t>
            </a:r>
            <a:endParaRPr lang="en-US" sz="900" dirty="0">
              <a:cs typeface="Calibri"/>
            </a:endParaRPr>
          </a:p>
          <a:p>
            <a:endParaRPr lang="en-US" sz="1000" b="1" dirty="0">
              <a:solidFill>
                <a:srgbClr val="427296"/>
              </a:solidFill>
              <a:latin typeface="Montserrat"/>
              <a:cs typeface="Calibri"/>
            </a:endParaRPr>
          </a:p>
        </p:txBody>
      </p:sp>
      <p:sp>
        <p:nvSpPr>
          <p:cNvPr id="12" name="TextBox 11">
            <a:extLst>
              <a:ext uri="{FF2B5EF4-FFF2-40B4-BE49-F238E27FC236}">
                <a16:creationId xmlns:a16="http://schemas.microsoft.com/office/drawing/2014/main" id="{88BAE004-9B35-FFA7-BBF8-E86A5D811F51}"/>
              </a:ext>
            </a:extLst>
          </p:cNvPr>
          <p:cNvSpPr txBox="1"/>
          <p:nvPr/>
        </p:nvSpPr>
        <p:spPr>
          <a:xfrm>
            <a:off x="6729350" y="4938157"/>
            <a:ext cx="2068196" cy="846386"/>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cs typeface="Calibri"/>
              </a:rPr>
              <a:t>Improvements </a:t>
            </a:r>
            <a:endParaRPr lang="en-US" sz="1000" dirty="0">
              <a:ea typeface="+mn-lt"/>
              <a:cs typeface="+mn-lt"/>
            </a:endParaRPr>
          </a:p>
          <a:p>
            <a:pPr marL="171450" indent="-171450">
              <a:buFont typeface="Arial,Sans-Serif"/>
              <a:buChar char="•"/>
            </a:pPr>
            <a:r>
              <a:rPr lang="en-US" sz="900" dirty="0">
                <a:solidFill>
                  <a:srgbClr val="427296"/>
                </a:solidFill>
                <a:latin typeface="Montserrat"/>
                <a:cs typeface="Calibri"/>
              </a:rPr>
              <a:t>Automate processes for</a:t>
            </a:r>
            <a:br>
              <a:rPr lang="en-US" sz="900" dirty="0">
                <a:latin typeface="Montserrat"/>
                <a:cs typeface="Calibri"/>
              </a:rPr>
            </a:br>
            <a:r>
              <a:rPr lang="en-US" sz="900" dirty="0">
                <a:solidFill>
                  <a:srgbClr val="427296"/>
                </a:solidFill>
                <a:latin typeface="Montserrat"/>
                <a:cs typeface="Calibri"/>
              </a:rPr>
              <a:t>identities (internals) &amp; accesses</a:t>
            </a:r>
            <a:br>
              <a:rPr lang="en-US" sz="900" dirty="0">
                <a:solidFill>
                  <a:srgbClr val="427296"/>
                </a:solidFill>
                <a:latin typeface="Montserrat"/>
                <a:cs typeface="Calibri"/>
              </a:rPr>
            </a:br>
            <a:r>
              <a:rPr lang="en-US" sz="900" dirty="0">
                <a:solidFill>
                  <a:srgbClr val="427296"/>
                </a:solidFill>
                <a:latin typeface="Montserrat"/>
                <a:cs typeface="Calibri"/>
              </a:rPr>
              <a:t>Full automation for internals</a:t>
            </a:r>
            <a:endParaRPr lang="en-US" sz="900" dirty="0">
              <a:ea typeface="+mn-lt"/>
              <a:cs typeface="+mn-lt"/>
            </a:endParaRPr>
          </a:p>
          <a:p>
            <a:pPr marL="171450" indent="-171450">
              <a:buFont typeface="Arial,Sans-Serif"/>
              <a:buChar char="•"/>
            </a:pPr>
            <a:r>
              <a:rPr lang="en-US" sz="900" dirty="0">
                <a:solidFill>
                  <a:srgbClr val="427296"/>
                </a:solidFill>
                <a:latin typeface="Montserrat"/>
                <a:cs typeface="Calibri"/>
              </a:rPr>
              <a:t>Users' experience</a:t>
            </a:r>
            <a:endParaRPr lang="en-US" sz="900" dirty="0">
              <a:ea typeface="+mn-lt"/>
              <a:cs typeface="+mn-lt"/>
            </a:endParaRPr>
          </a:p>
          <a:p>
            <a:pPr marL="171450" indent="-171450">
              <a:buFont typeface="Arial,Sans-Serif"/>
              <a:buChar char="•"/>
            </a:pPr>
            <a:r>
              <a:rPr lang="en-US" sz="900" dirty="0">
                <a:solidFill>
                  <a:srgbClr val="427296"/>
                </a:solidFill>
                <a:latin typeface="Montserrat"/>
                <a:cs typeface="Calibri"/>
              </a:rPr>
              <a:t>Enable zero-trust</a:t>
            </a:r>
            <a:endParaRPr lang="en-US" sz="900" dirty="0">
              <a:cs typeface="Calibri"/>
            </a:endParaRPr>
          </a:p>
        </p:txBody>
      </p:sp>
      <p:sp>
        <p:nvSpPr>
          <p:cNvPr id="13" name="TextBox 12">
            <a:extLst>
              <a:ext uri="{FF2B5EF4-FFF2-40B4-BE49-F238E27FC236}">
                <a16:creationId xmlns:a16="http://schemas.microsoft.com/office/drawing/2014/main" id="{8257AFEE-BB70-DA7E-49AE-D673AE558E7C}"/>
              </a:ext>
            </a:extLst>
          </p:cNvPr>
          <p:cNvSpPr txBox="1"/>
          <p:nvPr/>
        </p:nvSpPr>
        <p:spPr>
          <a:xfrm>
            <a:off x="6729350" y="5951720"/>
            <a:ext cx="1731729" cy="707886"/>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cs typeface="Calibri"/>
              </a:rPr>
              <a:t>Accounts &amp; related licenses cleaning</a:t>
            </a:r>
            <a:endParaRPr lang="en-US" sz="1000" dirty="0">
              <a:ea typeface="+mn-lt"/>
              <a:cs typeface="+mn-lt"/>
            </a:endParaRPr>
          </a:p>
          <a:p>
            <a:pPr marL="91440" indent="-91440">
              <a:buFont typeface="Arial,Sans-Serif"/>
              <a:buChar char="•"/>
            </a:pPr>
            <a:r>
              <a:rPr lang="en-US" sz="900" dirty="0">
                <a:solidFill>
                  <a:srgbClr val="427296"/>
                </a:solidFill>
                <a:latin typeface="Montserrat"/>
                <a:cs typeface="Calibri"/>
              </a:rPr>
              <a:t>Office 365 licenses : 50 K€ </a:t>
            </a:r>
            <a:r>
              <a:rPr lang="en-US" sz="1000" dirty="0">
                <a:solidFill>
                  <a:srgbClr val="427296"/>
                </a:solidFill>
                <a:latin typeface="Montserrat"/>
                <a:cs typeface="Calibri"/>
              </a:rPr>
              <a:t> </a:t>
            </a:r>
            <a:endParaRPr lang="en-US" sz="1000" dirty="0">
              <a:ea typeface="+mn-lt"/>
              <a:cs typeface="+mn-lt"/>
            </a:endParaRPr>
          </a:p>
          <a:p>
            <a:pPr marL="91440" indent="-91440">
              <a:buFont typeface="Arial,Sans-Serif"/>
              <a:buChar char="•"/>
            </a:pPr>
            <a:r>
              <a:rPr lang="en-US" sz="900" dirty="0">
                <a:solidFill>
                  <a:srgbClr val="427296"/>
                </a:solidFill>
                <a:latin typeface="Montserrat"/>
                <a:cs typeface="Calibri"/>
              </a:rPr>
              <a:t>+ Integrated applications</a:t>
            </a:r>
            <a:r>
              <a:rPr lang="en-US" sz="1000" dirty="0">
                <a:solidFill>
                  <a:srgbClr val="427296"/>
                </a:solidFill>
                <a:latin typeface="Montserrat"/>
                <a:cs typeface="Calibri"/>
              </a:rPr>
              <a:t> </a:t>
            </a:r>
            <a:br>
              <a:rPr lang="en-US" sz="1000" dirty="0">
                <a:solidFill>
                  <a:srgbClr val="427296"/>
                </a:solidFill>
                <a:latin typeface="Montserrat"/>
                <a:cs typeface="Calibri"/>
              </a:rPr>
            </a:br>
            <a:r>
              <a:rPr lang="en-US" sz="600" dirty="0">
                <a:solidFill>
                  <a:srgbClr val="427296"/>
                </a:solidFill>
                <a:latin typeface="Montserrat"/>
                <a:cs typeface="Calibri"/>
              </a:rPr>
              <a:t>RETEX at least 10%o f existing accounts</a:t>
            </a:r>
            <a:endParaRPr lang="en-US" sz="600" dirty="0">
              <a:cs typeface="Calibri"/>
            </a:endParaRPr>
          </a:p>
        </p:txBody>
      </p:sp>
      <p:sp>
        <p:nvSpPr>
          <p:cNvPr id="14" name="TextBox 10">
            <a:extLst>
              <a:ext uri="{FF2B5EF4-FFF2-40B4-BE49-F238E27FC236}">
                <a16:creationId xmlns:a16="http://schemas.microsoft.com/office/drawing/2014/main" id="{A1DC58DF-265C-6C9A-51FA-5C1B2632D12F}"/>
              </a:ext>
            </a:extLst>
          </p:cNvPr>
          <p:cNvSpPr txBox="1"/>
          <p:nvPr/>
        </p:nvSpPr>
        <p:spPr>
          <a:xfrm>
            <a:off x="4393429" y="3453583"/>
            <a:ext cx="2585922" cy="569387"/>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rPr>
              <a:t>BUILD (MVP) : 710 K€</a:t>
            </a:r>
          </a:p>
          <a:p>
            <a:pPr marL="173990" indent="-173990">
              <a:buFont typeface="Arial"/>
              <a:buChar char="•"/>
            </a:pPr>
            <a:r>
              <a:rPr lang="en-US" sz="900" dirty="0">
                <a:solidFill>
                  <a:srgbClr val="427296"/>
                </a:solidFill>
                <a:latin typeface="Montserrat"/>
                <a:cs typeface="Calibri"/>
              </a:rPr>
              <a:t>Change &amp; project : 230 K€</a:t>
            </a:r>
            <a:br>
              <a:rPr lang="en-US" sz="900" dirty="0">
                <a:solidFill>
                  <a:srgbClr val="427296"/>
                </a:solidFill>
                <a:latin typeface="Montserrat"/>
                <a:cs typeface="Calibri"/>
              </a:rPr>
            </a:br>
            <a:r>
              <a:rPr lang="en-US" sz="900" dirty="0">
                <a:solidFill>
                  <a:srgbClr val="427296"/>
                </a:solidFill>
                <a:latin typeface="Montserrat"/>
                <a:cs typeface="Calibri"/>
              </a:rPr>
              <a:t>management </a:t>
            </a:r>
          </a:p>
          <a:p>
            <a:pPr marL="173990" indent="-173990">
              <a:buFont typeface="Arial"/>
              <a:buChar char="•"/>
            </a:pPr>
            <a:r>
              <a:rPr lang="en-US" sz="900" dirty="0">
                <a:solidFill>
                  <a:srgbClr val="427296"/>
                </a:solidFill>
                <a:latin typeface="Montserrat"/>
                <a:cs typeface="Calibri"/>
              </a:rPr>
              <a:t>Development : 480 K€</a:t>
            </a:r>
            <a:endParaRPr lang="en-US" sz="900" b="1" dirty="0">
              <a:solidFill>
                <a:srgbClr val="427296"/>
              </a:solidFill>
              <a:latin typeface="Montserrat"/>
              <a:cs typeface="Calibri"/>
            </a:endParaRPr>
          </a:p>
        </p:txBody>
      </p:sp>
      <p:sp>
        <p:nvSpPr>
          <p:cNvPr id="15" name="TextBox 10">
            <a:extLst>
              <a:ext uri="{FF2B5EF4-FFF2-40B4-BE49-F238E27FC236}">
                <a16:creationId xmlns:a16="http://schemas.microsoft.com/office/drawing/2014/main" id="{C979D965-E12C-4A24-98D3-BA9E7A18AB36}"/>
              </a:ext>
            </a:extLst>
          </p:cNvPr>
          <p:cNvSpPr txBox="1"/>
          <p:nvPr/>
        </p:nvSpPr>
        <p:spPr>
          <a:xfrm>
            <a:off x="6729350" y="3453583"/>
            <a:ext cx="2585922" cy="569387"/>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rPr>
              <a:t>BUILD (MVP) : 360 K€</a:t>
            </a:r>
          </a:p>
          <a:p>
            <a:pPr marL="173990" indent="-173990">
              <a:buFont typeface="Arial"/>
              <a:buChar char="•"/>
            </a:pPr>
            <a:r>
              <a:rPr lang="en-US" sz="900" dirty="0">
                <a:solidFill>
                  <a:srgbClr val="427296"/>
                </a:solidFill>
                <a:latin typeface="Montserrat"/>
                <a:cs typeface="Calibri"/>
              </a:rPr>
              <a:t>Change &amp; project  : 200 K€</a:t>
            </a:r>
            <a:br>
              <a:rPr lang="en-US" sz="900" dirty="0">
                <a:solidFill>
                  <a:srgbClr val="427296"/>
                </a:solidFill>
                <a:latin typeface="Montserrat"/>
                <a:cs typeface="Calibri"/>
              </a:rPr>
            </a:br>
            <a:r>
              <a:rPr lang="en-US" sz="900" dirty="0">
                <a:solidFill>
                  <a:srgbClr val="427296"/>
                </a:solidFill>
                <a:latin typeface="Montserrat"/>
                <a:cs typeface="Calibri"/>
              </a:rPr>
              <a:t>management</a:t>
            </a:r>
          </a:p>
          <a:p>
            <a:pPr marL="173990" indent="-173990">
              <a:buFont typeface="Arial"/>
              <a:buChar char="•"/>
            </a:pPr>
            <a:r>
              <a:rPr lang="en-US" sz="900" dirty="0">
                <a:solidFill>
                  <a:srgbClr val="427296"/>
                </a:solidFill>
                <a:latin typeface="Montserrat"/>
                <a:cs typeface="Calibri"/>
              </a:rPr>
              <a:t>Integration :  160 K€</a:t>
            </a:r>
          </a:p>
        </p:txBody>
      </p:sp>
      <p:sp>
        <p:nvSpPr>
          <p:cNvPr id="16" name="TextBox 10">
            <a:extLst>
              <a:ext uri="{FF2B5EF4-FFF2-40B4-BE49-F238E27FC236}">
                <a16:creationId xmlns:a16="http://schemas.microsoft.com/office/drawing/2014/main" id="{BC2C671C-F700-C40F-3D79-3279876F6500}"/>
              </a:ext>
            </a:extLst>
          </p:cNvPr>
          <p:cNvSpPr txBox="1"/>
          <p:nvPr/>
        </p:nvSpPr>
        <p:spPr>
          <a:xfrm>
            <a:off x="4393429" y="4126704"/>
            <a:ext cx="2048404" cy="569387"/>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cs typeface="Calibri"/>
              </a:rPr>
              <a:t>RUN : 200 K€</a:t>
            </a:r>
          </a:p>
          <a:p>
            <a:pPr marL="171450" indent="-171450">
              <a:buFont typeface="Arial"/>
              <a:buChar char="•"/>
            </a:pPr>
            <a:r>
              <a:rPr lang="en-US" sz="900" dirty="0">
                <a:solidFill>
                  <a:srgbClr val="427296"/>
                </a:solidFill>
                <a:latin typeface="Montserrat"/>
                <a:cs typeface="Calibri"/>
              </a:rPr>
              <a:t>Licenses : 0 K€</a:t>
            </a:r>
          </a:p>
          <a:p>
            <a:pPr marL="171450" indent="-171450">
              <a:buFont typeface="Arial"/>
              <a:buChar char="•"/>
            </a:pPr>
            <a:r>
              <a:rPr lang="en-US" sz="900" dirty="0">
                <a:solidFill>
                  <a:srgbClr val="427296"/>
                </a:solidFill>
                <a:latin typeface="Montserrat"/>
                <a:cs typeface="Calibri"/>
              </a:rPr>
              <a:t>Technical :  50 K€</a:t>
            </a:r>
          </a:p>
          <a:p>
            <a:pPr marL="171450" indent="-171450">
              <a:buFont typeface="Arial"/>
              <a:buChar char="•"/>
            </a:pPr>
            <a:r>
              <a:rPr lang="en-US" sz="900" dirty="0">
                <a:solidFill>
                  <a:srgbClr val="427296"/>
                </a:solidFill>
                <a:latin typeface="Montserrat"/>
                <a:cs typeface="Calibri"/>
              </a:rPr>
              <a:t>Functional : 150 K€ </a:t>
            </a:r>
          </a:p>
        </p:txBody>
      </p:sp>
      <p:sp>
        <p:nvSpPr>
          <p:cNvPr id="17" name="TextBox 10">
            <a:extLst>
              <a:ext uri="{FF2B5EF4-FFF2-40B4-BE49-F238E27FC236}">
                <a16:creationId xmlns:a16="http://schemas.microsoft.com/office/drawing/2014/main" id="{4DE39CED-A529-31C3-7C17-B5B5D7813ED3}"/>
              </a:ext>
            </a:extLst>
          </p:cNvPr>
          <p:cNvSpPr txBox="1"/>
          <p:nvPr/>
        </p:nvSpPr>
        <p:spPr>
          <a:xfrm>
            <a:off x="6729350" y="4126704"/>
            <a:ext cx="2048404" cy="569387"/>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cs typeface="Calibri"/>
              </a:rPr>
              <a:t>RUN : 450 K€</a:t>
            </a:r>
          </a:p>
          <a:p>
            <a:pPr marL="171450" indent="-171450">
              <a:buFont typeface="Arial"/>
              <a:buChar char="•"/>
            </a:pPr>
            <a:r>
              <a:rPr lang="en-US" sz="900" dirty="0">
                <a:solidFill>
                  <a:srgbClr val="427296"/>
                </a:solidFill>
                <a:latin typeface="Montserrat"/>
                <a:cs typeface="Calibri"/>
              </a:rPr>
              <a:t>Licenses : 250-300 K€ / year</a:t>
            </a:r>
          </a:p>
          <a:p>
            <a:pPr marL="171450" indent="-171450">
              <a:buFont typeface="Arial"/>
              <a:buChar char="•"/>
            </a:pPr>
            <a:r>
              <a:rPr lang="en-US" sz="900" dirty="0">
                <a:solidFill>
                  <a:srgbClr val="427296"/>
                </a:solidFill>
                <a:latin typeface="Montserrat"/>
                <a:cs typeface="Calibri"/>
              </a:rPr>
              <a:t>Technical : 50 K€</a:t>
            </a:r>
          </a:p>
          <a:p>
            <a:pPr marL="171450" indent="-171450">
              <a:buFont typeface="Arial"/>
              <a:buChar char="•"/>
            </a:pPr>
            <a:r>
              <a:rPr lang="en-US" sz="900" dirty="0">
                <a:solidFill>
                  <a:srgbClr val="427296"/>
                </a:solidFill>
                <a:latin typeface="Montserrat"/>
                <a:cs typeface="Calibri"/>
              </a:rPr>
              <a:t>Functional : 100 K€</a:t>
            </a:r>
          </a:p>
        </p:txBody>
      </p:sp>
      <p:sp>
        <p:nvSpPr>
          <p:cNvPr id="18" name="TextBox 10">
            <a:extLst>
              <a:ext uri="{FF2B5EF4-FFF2-40B4-BE49-F238E27FC236}">
                <a16:creationId xmlns:a16="http://schemas.microsoft.com/office/drawing/2014/main" id="{E8A02FBE-282E-C3BC-9D25-0C077EA44A87}"/>
              </a:ext>
            </a:extLst>
          </p:cNvPr>
          <p:cNvSpPr txBox="1"/>
          <p:nvPr/>
        </p:nvSpPr>
        <p:spPr>
          <a:xfrm>
            <a:off x="2052417" y="3453583"/>
            <a:ext cx="2585922" cy="315471"/>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50" b="1" dirty="0">
                <a:solidFill>
                  <a:srgbClr val="427296"/>
                </a:solidFill>
                <a:latin typeface="Montserrat"/>
              </a:rPr>
              <a:t>BUILD : 0 €</a:t>
            </a:r>
          </a:p>
          <a:p>
            <a:pPr marL="173990" indent="-173990">
              <a:buFont typeface="Arial"/>
              <a:buChar char="•"/>
            </a:pPr>
            <a:r>
              <a:rPr lang="en-US" sz="1000" dirty="0">
                <a:solidFill>
                  <a:srgbClr val="427296"/>
                </a:solidFill>
                <a:latin typeface="Montserrat"/>
                <a:cs typeface="Calibri"/>
              </a:rPr>
              <a:t>Integration :  0K€</a:t>
            </a:r>
            <a:endParaRPr lang="en-US" sz="900" dirty="0">
              <a:solidFill>
                <a:srgbClr val="427296"/>
              </a:solidFill>
              <a:latin typeface="Montserrat"/>
              <a:cs typeface="Calibri"/>
            </a:endParaRPr>
          </a:p>
        </p:txBody>
      </p:sp>
      <p:sp>
        <p:nvSpPr>
          <p:cNvPr id="19" name="TextBox 10">
            <a:extLst>
              <a:ext uri="{FF2B5EF4-FFF2-40B4-BE49-F238E27FC236}">
                <a16:creationId xmlns:a16="http://schemas.microsoft.com/office/drawing/2014/main" id="{1D7C8A45-C4A7-EA23-F4C6-45D7E8CAEC4D}"/>
              </a:ext>
            </a:extLst>
          </p:cNvPr>
          <p:cNvSpPr txBox="1"/>
          <p:nvPr/>
        </p:nvSpPr>
        <p:spPr>
          <a:xfrm>
            <a:off x="2052417" y="4126704"/>
            <a:ext cx="2048404" cy="569387"/>
          </a:xfrm>
          <a:prstGeom prst="rect">
            <a:avLst/>
          </a:prstGeom>
          <a:noFill/>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p>
            <a:r>
              <a:rPr lang="en-US" sz="1000" b="1" dirty="0">
                <a:solidFill>
                  <a:srgbClr val="427296"/>
                </a:solidFill>
                <a:latin typeface="Montserrat"/>
                <a:cs typeface="Calibri"/>
              </a:rPr>
              <a:t>RUN : 350 K€</a:t>
            </a:r>
          </a:p>
          <a:p>
            <a:pPr marL="171450" indent="-171450">
              <a:buFont typeface="Arial"/>
              <a:buChar char="•"/>
            </a:pPr>
            <a:r>
              <a:rPr lang="en-US" sz="900" dirty="0">
                <a:solidFill>
                  <a:srgbClr val="427296"/>
                </a:solidFill>
                <a:latin typeface="Montserrat"/>
                <a:cs typeface="Calibri"/>
              </a:rPr>
              <a:t>Licenses : 0 K€</a:t>
            </a:r>
          </a:p>
          <a:p>
            <a:pPr marL="171450" indent="-171450">
              <a:buFont typeface="Arial"/>
              <a:buChar char="•"/>
            </a:pPr>
            <a:r>
              <a:rPr lang="en-US" sz="900" dirty="0">
                <a:solidFill>
                  <a:srgbClr val="427296"/>
                </a:solidFill>
                <a:latin typeface="Montserrat"/>
                <a:cs typeface="Calibri"/>
              </a:rPr>
              <a:t>Technical : 350 K€ (CPEOPLE)</a:t>
            </a:r>
          </a:p>
          <a:p>
            <a:pPr marL="171450" indent="-171450">
              <a:buFont typeface="Arial"/>
              <a:buChar char="•"/>
            </a:pPr>
            <a:r>
              <a:rPr lang="en-US" sz="900" dirty="0">
                <a:solidFill>
                  <a:srgbClr val="427296"/>
                </a:solidFill>
                <a:latin typeface="Montserrat"/>
                <a:cs typeface="Calibri"/>
              </a:rPr>
              <a:t>Functional : Unknown</a:t>
            </a:r>
            <a:endParaRPr lang="en-US" sz="900" b="1" dirty="0">
              <a:solidFill>
                <a:srgbClr val="FF0000"/>
              </a:solidFill>
              <a:latin typeface="Montserrat"/>
              <a:cs typeface="Calibri"/>
            </a:endParaRPr>
          </a:p>
        </p:txBody>
      </p:sp>
    </p:spTree>
    <p:extLst>
      <p:ext uri="{BB962C8B-B14F-4D97-AF65-F5344CB8AC3E}">
        <p14:creationId xmlns:p14="http://schemas.microsoft.com/office/powerpoint/2010/main" val="291688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DE5454-8004-1910-DA99-9A8A76AA3C33}"/>
              </a:ext>
            </a:extLst>
          </p:cNvPr>
          <p:cNvSpPr>
            <a:spLocks noGrp="1"/>
          </p:cNvSpPr>
          <p:nvPr>
            <p:ph type="title"/>
          </p:nvPr>
        </p:nvSpPr>
        <p:spPr/>
        <p:txBody>
          <a:bodyPr/>
          <a:lstStyle/>
          <a:p>
            <a:r>
              <a:rPr lang="fr-FR" dirty="0" err="1"/>
              <a:t>Gartner’S</a:t>
            </a:r>
            <a:r>
              <a:rPr lang="fr-FR" dirty="0"/>
              <a:t> </a:t>
            </a:r>
            <a:r>
              <a:rPr lang="fr-FR" dirty="0" err="1"/>
              <a:t>QuotES</a:t>
            </a:r>
            <a:endParaRPr lang="fr-FR" dirty="0"/>
          </a:p>
        </p:txBody>
      </p:sp>
      <p:sp>
        <p:nvSpPr>
          <p:cNvPr id="3" name="Espace réservé du texte 2">
            <a:extLst>
              <a:ext uri="{FF2B5EF4-FFF2-40B4-BE49-F238E27FC236}">
                <a16:creationId xmlns:a16="http://schemas.microsoft.com/office/drawing/2014/main" id="{0D357B80-9C47-6644-07D1-3534AF57432D}"/>
              </a:ext>
            </a:extLst>
          </p:cNvPr>
          <p:cNvSpPr>
            <a:spLocks noGrp="1"/>
          </p:cNvSpPr>
          <p:nvPr>
            <p:ph type="body" sz="quarter" idx="12"/>
          </p:nvPr>
        </p:nvSpPr>
        <p:spPr/>
        <p:txBody>
          <a:bodyPr/>
          <a:lstStyle/>
          <a:p>
            <a:r>
              <a:rPr lang="en-US" sz="1200" b="0" dirty="0"/>
              <a:t>“Do not attempt to deploy IGA tools by yourself or with a limited team; expect a significant amount of professional services. […]. </a:t>
            </a:r>
            <a:r>
              <a:rPr lang="en-US" sz="1200" dirty="0"/>
              <a:t>Expect long implementation times</a:t>
            </a:r>
            <a:r>
              <a:rPr lang="en-US" sz="1200" b="0" dirty="0"/>
              <a:t>, augmented by necessary process changes that require executive sponsorship.”</a:t>
            </a:r>
          </a:p>
          <a:p>
            <a:endParaRPr lang="en-US" sz="1200" dirty="0"/>
          </a:p>
          <a:p>
            <a:pPr algn="l"/>
            <a:r>
              <a:rPr lang="en-US" sz="1200" b="0" i="0" u="none" strike="noStrike" baseline="0" dirty="0">
                <a:solidFill>
                  <a:srgbClr val="424242"/>
                </a:solidFill>
              </a:rPr>
              <a:t>“With the increased threat landscape, more successful IGA adoptions have chosen a </a:t>
            </a:r>
            <a:r>
              <a:rPr lang="en-US" sz="1200" i="0" u="none" strike="noStrike" baseline="0" dirty="0">
                <a:solidFill>
                  <a:srgbClr val="424242"/>
                </a:solidFill>
              </a:rPr>
              <a:t>bigger focus on security and risk management</a:t>
            </a:r>
            <a:r>
              <a:rPr lang="en-US" sz="1200" b="0" i="0" u="none" strike="noStrike" baseline="0" dirty="0">
                <a:solidFill>
                  <a:srgbClr val="424242"/>
                </a:solidFill>
              </a:rPr>
              <a:t>, instead of process automation.”</a:t>
            </a:r>
          </a:p>
          <a:p>
            <a:pPr algn="l"/>
            <a:endParaRPr lang="en-US" sz="1200" b="0" dirty="0">
              <a:solidFill>
                <a:srgbClr val="424242"/>
              </a:solidFill>
            </a:endParaRPr>
          </a:p>
          <a:p>
            <a:pPr algn="l"/>
            <a:r>
              <a:rPr lang="en-US" sz="1200" b="0" i="0" u="none" strike="noStrike" baseline="0" dirty="0">
                <a:solidFill>
                  <a:srgbClr val="424242"/>
                </a:solidFill>
              </a:rPr>
              <a:t>“IGA should be deployed using a “</a:t>
            </a:r>
            <a:r>
              <a:rPr lang="en-US" sz="1200" i="0" u="none" strike="noStrike" baseline="0" dirty="0">
                <a:solidFill>
                  <a:srgbClr val="424242"/>
                </a:solidFill>
              </a:rPr>
              <a:t>broad and shallow</a:t>
            </a:r>
            <a:r>
              <a:rPr lang="en-US" sz="1200" b="0" i="0" u="none" strike="noStrike" baseline="0" dirty="0">
                <a:solidFill>
                  <a:srgbClr val="424242"/>
                </a:solidFill>
              </a:rPr>
              <a:t>” approach, rather than “narrow and deep,” by rolling out “minimum viable” capabilities across </a:t>
            </a:r>
            <a:r>
              <a:rPr lang="en-US" sz="1200" i="0" u="none" strike="noStrike" baseline="0" dirty="0">
                <a:solidFill>
                  <a:srgbClr val="424242"/>
                </a:solidFill>
              </a:rPr>
              <a:t>multiple target systems for all users</a:t>
            </a:r>
            <a:r>
              <a:rPr lang="en-US" sz="1200" b="0" i="0" u="none" strike="noStrike" baseline="0" dirty="0">
                <a:solidFill>
                  <a:srgbClr val="424242"/>
                </a:solidFill>
              </a:rPr>
              <a:t>, then increasing the depth of capabilities incrementally. […] It is also a best practice to start with higher value governance capabilities, like analytics for flagging dormant and unused accounts, and have automation targeted later in the program, after data quality problems and bigger risks of unnecessary privileges are </a:t>
            </a:r>
            <a:r>
              <a:rPr lang="fr-FR" sz="1200" b="0" i="0" u="none" strike="noStrike" baseline="0" dirty="0" err="1">
                <a:solidFill>
                  <a:srgbClr val="424242"/>
                </a:solidFill>
              </a:rPr>
              <a:t>mitigated</a:t>
            </a:r>
            <a:r>
              <a:rPr lang="fr-FR" sz="1200" b="0" i="0" u="none" strike="noStrike" baseline="0" dirty="0">
                <a:solidFill>
                  <a:srgbClr val="424242"/>
                </a:solidFill>
              </a:rPr>
              <a:t>.</a:t>
            </a:r>
            <a:r>
              <a:rPr lang="en-US" sz="1200" b="0" i="0" u="none" strike="noStrike" baseline="0" dirty="0">
                <a:solidFill>
                  <a:srgbClr val="424242"/>
                </a:solidFill>
              </a:rPr>
              <a:t>”</a:t>
            </a:r>
            <a:endParaRPr lang="fr-FR" sz="1200" dirty="0"/>
          </a:p>
        </p:txBody>
      </p:sp>
      <p:sp>
        <p:nvSpPr>
          <p:cNvPr id="4" name="Espace réservé du pied de page 3">
            <a:extLst>
              <a:ext uri="{FF2B5EF4-FFF2-40B4-BE49-F238E27FC236}">
                <a16:creationId xmlns:a16="http://schemas.microsoft.com/office/drawing/2014/main" id="{FD7DB8B4-D04F-D7F4-8385-8E0154D8DC3E}"/>
              </a:ext>
            </a:extLst>
          </p:cNvPr>
          <p:cNvSpPr>
            <a:spLocks noGrp="1"/>
          </p:cNvSpPr>
          <p:nvPr>
            <p:ph type="ftr" sz="quarter" idx="13"/>
          </p:nvPr>
        </p:nvSpPr>
        <p:spPr/>
        <p:txBody>
          <a:bodyPr/>
          <a:lstStyle/>
          <a:p>
            <a:r>
              <a:rPr lang="fr-FR"/>
              <a:t>Bouygues Construction  |  Mois Année</a:t>
            </a:r>
          </a:p>
        </p:txBody>
      </p:sp>
      <p:sp>
        <p:nvSpPr>
          <p:cNvPr id="5" name="Espace réservé du numéro de diapositive 4">
            <a:extLst>
              <a:ext uri="{FF2B5EF4-FFF2-40B4-BE49-F238E27FC236}">
                <a16:creationId xmlns:a16="http://schemas.microsoft.com/office/drawing/2014/main" id="{62D469B0-B266-B33A-6C37-CF820E625392}"/>
              </a:ext>
            </a:extLst>
          </p:cNvPr>
          <p:cNvSpPr>
            <a:spLocks noGrp="1"/>
          </p:cNvSpPr>
          <p:nvPr>
            <p:ph type="sldNum" sz="quarter" idx="14"/>
          </p:nvPr>
        </p:nvSpPr>
        <p:spPr/>
        <p:txBody>
          <a:bodyPr/>
          <a:lstStyle/>
          <a:p>
            <a:r>
              <a:rPr lang="fr-FR"/>
              <a:t>| </a:t>
            </a:r>
            <a:fld id="{C2EBF694-A8F9-4F06-8F8E-D09447FAA2D5}" type="slidenum">
              <a:rPr smtClean="0"/>
              <a:pPr/>
              <a:t>21</a:t>
            </a:fld>
            <a:endParaRPr/>
          </a:p>
        </p:txBody>
      </p:sp>
      <p:pic>
        <p:nvPicPr>
          <p:cNvPr id="7" name="Image 6">
            <a:extLst>
              <a:ext uri="{FF2B5EF4-FFF2-40B4-BE49-F238E27FC236}">
                <a16:creationId xmlns:a16="http://schemas.microsoft.com/office/drawing/2014/main" id="{0D8C13B6-B762-960C-4A42-7BFA6BA2A722}"/>
              </a:ext>
            </a:extLst>
          </p:cNvPr>
          <p:cNvPicPr>
            <a:picLocks noChangeAspect="1"/>
          </p:cNvPicPr>
          <p:nvPr/>
        </p:nvPicPr>
        <p:blipFill rotWithShape="1">
          <a:blip r:embed="rId2"/>
          <a:srcRect b="11072"/>
          <a:stretch/>
        </p:blipFill>
        <p:spPr>
          <a:xfrm>
            <a:off x="1894979" y="3667645"/>
            <a:ext cx="6728622" cy="2395930"/>
          </a:xfrm>
          <a:prstGeom prst="rect">
            <a:avLst/>
          </a:prstGeom>
        </p:spPr>
      </p:pic>
    </p:spTree>
    <p:extLst>
      <p:ext uri="{BB962C8B-B14F-4D97-AF65-F5344CB8AC3E}">
        <p14:creationId xmlns:p14="http://schemas.microsoft.com/office/powerpoint/2010/main" val="516331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1D5A5FB-E803-A1D7-A14B-C78BF44B803F}"/>
              </a:ext>
            </a:extLst>
          </p:cNvPr>
          <p:cNvSpPr/>
          <p:nvPr/>
        </p:nvSpPr>
        <p:spPr>
          <a:xfrm>
            <a:off x="0" y="1199905"/>
            <a:ext cx="12212338" cy="567585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F241B97D-C18F-63B7-E6D3-2CD1806DAF3D}"/>
              </a:ext>
            </a:extLst>
          </p:cNvPr>
          <p:cNvSpPr>
            <a:spLocks noGrp="1"/>
          </p:cNvSpPr>
          <p:nvPr>
            <p:ph type="title"/>
          </p:nvPr>
        </p:nvSpPr>
        <p:spPr/>
        <p:txBody>
          <a:bodyPr/>
          <a:lstStyle/>
          <a:p>
            <a:r>
              <a:rPr lang="en-US" sz="3600" dirty="0"/>
              <a:t>Focus on Partners &amp; Guest Management</a:t>
            </a:r>
            <a:endParaRPr lang="fr-FR" sz="3600" dirty="0"/>
          </a:p>
        </p:txBody>
      </p:sp>
      <p:sp>
        <p:nvSpPr>
          <p:cNvPr id="4" name="Espace réservé du pied de page 3">
            <a:extLst>
              <a:ext uri="{FF2B5EF4-FFF2-40B4-BE49-F238E27FC236}">
                <a16:creationId xmlns:a16="http://schemas.microsoft.com/office/drawing/2014/main" id="{65F98A51-77B8-4C4F-B0C6-5A74353321B2}"/>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808CCAD2-0755-A68D-9BA5-8129641A2A36}"/>
              </a:ext>
            </a:extLst>
          </p:cNvPr>
          <p:cNvSpPr>
            <a:spLocks noGrp="1"/>
          </p:cNvSpPr>
          <p:nvPr>
            <p:ph type="sldNum" sz="quarter" idx="14"/>
          </p:nvPr>
        </p:nvSpPr>
        <p:spPr/>
        <p:txBody>
          <a:bodyPr/>
          <a:lstStyle/>
          <a:p>
            <a:r>
              <a:rPr lang="fr-FR"/>
              <a:t>| </a:t>
            </a:r>
            <a:fld id="{C2EBF694-A8F9-4F06-8F8E-D09447FAA2D5}" type="slidenum">
              <a:rPr smtClean="0"/>
              <a:pPr/>
              <a:t>22</a:t>
            </a:fld>
            <a:endParaRPr/>
          </a:p>
        </p:txBody>
      </p:sp>
      <p:grpSp>
        <p:nvGrpSpPr>
          <p:cNvPr id="17" name="Groupe 16">
            <a:extLst>
              <a:ext uri="{FF2B5EF4-FFF2-40B4-BE49-F238E27FC236}">
                <a16:creationId xmlns:a16="http://schemas.microsoft.com/office/drawing/2014/main" id="{AC09A1B9-1800-E5E6-8EE8-A73841F4A51B}"/>
              </a:ext>
            </a:extLst>
          </p:cNvPr>
          <p:cNvGrpSpPr/>
          <p:nvPr/>
        </p:nvGrpSpPr>
        <p:grpSpPr>
          <a:xfrm>
            <a:off x="290200" y="2513889"/>
            <a:ext cx="5475333" cy="4203654"/>
            <a:chOff x="290200" y="2501845"/>
            <a:chExt cx="5475333" cy="3794687"/>
          </a:xfrm>
        </p:grpSpPr>
        <p:sp>
          <p:nvSpPr>
            <p:cNvPr id="119" name="Rectangle : coins arrondis 118">
              <a:extLst>
                <a:ext uri="{FF2B5EF4-FFF2-40B4-BE49-F238E27FC236}">
                  <a16:creationId xmlns:a16="http://schemas.microsoft.com/office/drawing/2014/main" id="{C8E7EABD-8FC0-FCD0-EB8E-4CBB23AD3982}"/>
                </a:ext>
              </a:extLst>
            </p:cNvPr>
            <p:cNvSpPr/>
            <p:nvPr/>
          </p:nvSpPr>
          <p:spPr>
            <a:xfrm>
              <a:off x="501979" y="2520891"/>
              <a:ext cx="5263554" cy="3775641"/>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R="0" lvl="0" defTabSz="914400" eaLnBrk="1" fontAlgn="auto" latinLnBrk="0" hangingPunct="1">
                <a:lnSpc>
                  <a:spcPct val="120000"/>
                </a:lnSpc>
                <a:spcBef>
                  <a:spcPts val="0"/>
                </a:spcBef>
                <a:spcAft>
                  <a:spcPts val="0"/>
                </a:spcAft>
                <a:buClrTx/>
                <a:buSzTx/>
                <a:tabLst/>
                <a:defRPr/>
              </a:pPr>
              <a:endParaRPr kumimoji="0" lang="en-US" sz="1000" b="0" i="0" u="none" strike="noStrike" kern="0" cap="none" spc="0" normalizeH="0" baseline="0" noProof="0" dirty="0">
                <a:ln>
                  <a:noFill/>
                </a:ln>
                <a:solidFill>
                  <a:srgbClr val="003C5A"/>
                </a:solidFill>
                <a:effectLst/>
                <a:uLnTx/>
                <a:uFillTx/>
                <a:latin typeface="Montserrat"/>
                <a:ea typeface="+mn-ea"/>
                <a:cs typeface="+mn-cs"/>
              </a:endParaRPr>
            </a:p>
          </p:txBody>
        </p:sp>
        <p:sp>
          <p:nvSpPr>
            <p:cNvPr id="120" name="ZoneTexte 119">
              <a:extLst>
                <a:ext uri="{FF2B5EF4-FFF2-40B4-BE49-F238E27FC236}">
                  <a16:creationId xmlns:a16="http://schemas.microsoft.com/office/drawing/2014/main" id="{5B860494-0EC7-579C-EF13-ABDFFA40662C}"/>
                </a:ext>
              </a:extLst>
            </p:cNvPr>
            <p:cNvSpPr txBox="1"/>
            <p:nvPr/>
          </p:nvSpPr>
          <p:spPr>
            <a:xfrm>
              <a:off x="1004168" y="2501845"/>
              <a:ext cx="4515657" cy="430887"/>
            </a:xfrm>
            <a:prstGeom prst="rect">
              <a:avLst/>
            </a:prstGeom>
            <a:solidFill>
              <a:srgbClr val="F2F2F2"/>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3C5A"/>
                  </a:solidFill>
                  <a:effectLst/>
                  <a:uLnTx/>
                  <a:uFillTx/>
                  <a:latin typeface="Montserrat"/>
                </a:rPr>
                <a:t>Why are Guests’ accounts not usually managed in IGA      solutions ?</a:t>
              </a:r>
            </a:p>
          </p:txBody>
        </p:sp>
        <p:sp>
          <p:nvSpPr>
            <p:cNvPr id="122" name="Ellipse 121">
              <a:extLst>
                <a:ext uri="{FF2B5EF4-FFF2-40B4-BE49-F238E27FC236}">
                  <a16:creationId xmlns:a16="http://schemas.microsoft.com/office/drawing/2014/main" id="{EC899E67-5671-DC24-BD76-A26973430374}"/>
                </a:ext>
              </a:extLst>
            </p:cNvPr>
            <p:cNvSpPr/>
            <p:nvPr/>
          </p:nvSpPr>
          <p:spPr>
            <a:xfrm>
              <a:off x="290200" y="2512501"/>
              <a:ext cx="540000" cy="456451"/>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pic>
          <p:nvPicPr>
            <p:cNvPr id="123" name="Image 122" descr="Ampoule et engrenage contour">
              <a:extLst>
                <a:ext uri="{FF2B5EF4-FFF2-40B4-BE49-F238E27FC236}">
                  <a16:creationId xmlns:a16="http://schemas.microsoft.com/office/drawing/2014/main" id="{CB56C8CE-AAF3-4923-709B-8F93DA62A793}"/>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39801" y="2536952"/>
              <a:ext cx="432000" cy="432000"/>
            </a:xfrm>
            <a:prstGeom prst="rect">
              <a:avLst/>
            </a:prstGeom>
          </p:spPr>
        </p:pic>
      </p:grpSp>
      <p:sp>
        <p:nvSpPr>
          <p:cNvPr id="135" name="Rectangle 134">
            <a:extLst>
              <a:ext uri="{FF2B5EF4-FFF2-40B4-BE49-F238E27FC236}">
                <a16:creationId xmlns:a16="http://schemas.microsoft.com/office/drawing/2014/main" id="{5F4BFF7B-5D48-F9EC-0616-74B5B479AC65}"/>
              </a:ext>
            </a:extLst>
          </p:cNvPr>
          <p:cNvSpPr/>
          <p:nvPr/>
        </p:nvSpPr>
        <p:spPr>
          <a:xfrm>
            <a:off x="1291473" y="1378616"/>
            <a:ext cx="10087727" cy="734096"/>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2"/>
                </a:solidFill>
              </a:rPr>
              <a:t>BYCN grant access to some of its resources to third-party via guests’ mechanisms (BCC, Azure AD). </a:t>
            </a:r>
          </a:p>
        </p:txBody>
      </p:sp>
      <p:sp>
        <p:nvSpPr>
          <p:cNvPr id="136" name="Rectangle 135">
            <a:extLst>
              <a:ext uri="{FF2B5EF4-FFF2-40B4-BE49-F238E27FC236}">
                <a16:creationId xmlns:a16="http://schemas.microsoft.com/office/drawing/2014/main" id="{01BBF87B-3747-6466-C1C8-F71C938E4464}"/>
              </a:ext>
            </a:extLst>
          </p:cNvPr>
          <p:cNvSpPr/>
          <p:nvPr/>
        </p:nvSpPr>
        <p:spPr>
          <a:xfrm>
            <a:off x="13659" y="1378616"/>
            <a:ext cx="1277813" cy="734096"/>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Context :</a:t>
            </a:r>
          </a:p>
        </p:txBody>
      </p:sp>
      <p:sp>
        <p:nvSpPr>
          <p:cNvPr id="130" name="Rectangle : coins arrondis 129">
            <a:extLst>
              <a:ext uri="{FF2B5EF4-FFF2-40B4-BE49-F238E27FC236}">
                <a16:creationId xmlns:a16="http://schemas.microsoft.com/office/drawing/2014/main" id="{CA0D82E6-82B2-2EF6-ABF3-C2C58EA8837D}"/>
              </a:ext>
            </a:extLst>
          </p:cNvPr>
          <p:cNvSpPr/>
          <p:nvPr/>
        </p:nvSpPr>
        <p:spPr>
          <a:xfrm>
            <a:off x="6782815" y="2519012"/>
            <a:ext cx="5263200" cy="4198531"/>
          </a:xfrm>
          <a:prstGeom prst="roundRect">
            <a:avLst/>
          </a:prstGeom>
          <a:noFill/>
          <a:ln w="19050" cap="flat" cmpd="sng" algn="ctr">
            <a:solidFill>
              <a:srgbClr val="003C5A"/>
            </a:solidFill>
            <a:prstDash val="solid"/>
            <a:miter lim="800000"/>
          </a:ln>
          <a:effectLst/>
        </p:spPr>
        <p:txBody>
          <a:bodyPr lIns="91440" tIns="45720" rIns="91440" bIns="45720" rtlCol="0" anchor="t"/>
          <a:lstStyle/>
          <a:p>
            <a:pPr marR="0" lvl="0" defTabSz="914400" eaLnBrk="1" fontAlgn="auto" latinLnBrk="0" hangingPunct="1">
              <a:lnSpc>
                <a:spcPct val="120000"/>
              </a:lnSpc>
              <a:spcBef>
                <a:spcPts val="0"/>
              </a:spcBef>
              <a:spcAft>
                <a:spcPts val="0"/>
              </a:spcAft>
              <a:buClrTx/>
              <a:buSzTx/>
              <a:tabLst/>
              <a:defRPr/>
            </a:pPr>
            <a:endParaRPr kumimoji="0" lang="en-US" sz="1000" b="0" i="0" u="none" strike="noStrike" kern="0" cap="none" spc="0" normalizeH="0" baseline="0" noProof="0" dirty="0">
              <a:ln>
                <a:noFill/>
              </a:ln>
              <a:solidFill>
                <a:srgbClr val="003C5A"/>
              </a:solidFill>
              <a:effectLst/>
              <a:uLnTx/>
              <a:uFillTx/>
              <a:latin typeface="Montserrat"/>
              <a:ea typeface="+mn-ea"/>
              <a:cs typeface="+mn-cs"/>
            </a:endParaRPr>
          </a:p>
        </p:txBody>
      </p:sp>
      <p:sp>
        <p:nvSpPr>
          <p:cNvPr id="131" name="ZoneTexte 130">
            <a:extLst>
              <a:ext uri="{FF2B5EF4-FFF2-40B4-BE49-F238E27FC236}">
                <a16:creationId xmlns:a16="http://schemas.microsoft.com/office/drawing/2014/main" id="{EF4453CF-48C0-DD45-3FBA-832C4AE2C3C1}"/>
              </a:ext>
            </a:extLst>
          </p:cNvPr>
          <p:cNvSpPr txBox="1"/>
          <p:nvPr/>
        </p:nvSpPr>
        <p:spPr>
          <a:xfrm>
            <a:off x="7456746" y="2408269"/>
            <a:ext cx="3922453" cy="430887"/>
          </a:xfrm>
          <a:prstGeom prst="rect">
            <a:avLst/>
          </a:prstGeom>
          <a:solidFill>
            <a:srgbClr val="F2F2F2"/>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3C5A"/>
                </a:solidFill>
                <a:effectLst/>
                <a:uLnTx/>
                <a:uFillTx/>
                <a:latin typeface="Montserrat"/>
              </a:rPr>
              <a:t>How BYCN plan </a:t>
            </a:r>
            <a:r>
              <a:rPr lang="en-US" sz="1100" b="1" kern="0" dirty="0">
                <a:solidFill>
                  <a:srgbClr val="003C5A"/>
                </a:solidFill>
                <a:latin typeface="Montserrat"/>
              </a:rPr>
              <a:t>to manage </a:t>
            </a:r>
            <a:r>
              <a:rPr kumimoji="0" lang="en-US" sz="1100" b="1" i="0" u="none" strike="noStrike" kern="0" cap="none" spc="0" normalizeH="0" baseline="0" noProof="0" dirty="0">
                <a:ln>
                  <a:noFill/>
                </a:ln>
                <a:solidFill>
                  <a:srgbClr val="003C5A"/>
                </a:solidFill>
                <a:effectLst/>
                <a:uLnTx/>
                <a:uFillTx/>
                <a:latin typeface="Montserrat"/>
              </a:rPr>
              <a:t>these accounts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rgbClr val="003C5A"/>
              </a:solidFill>
              <a:effectLst/>
              <a:uLnTx/>
              <a:uFillTx/>
              <a:latin typeface="Montserrat"/>
            </a:endParaRPr>
          </a:p>
        </p:txBody>
      </p:sp>
      <p:grpSp>
        <p:nvGrpSpPr>
          <p:cNvPr id="27" name="Groupe 26">
            <a:extLst>
              <a:ext uri="{FF2B5EF4-FFF2-40B4-BE49-F238E27FC236}">
                <a16:creationId xmlns:a16="http://schemas.microsoft.com/office/drawing/2014/main" id="{F894FFDE-2B1F-8D81-E333-F90C717C5556}"/>
              </a:ext>
            </a:extLst>
          </p:cNvPr>
          <p:cNvGrpSpPr/>
          <p:nvPr/>
        </p:nvGrpSpPr>
        <p:grpSpPr>
          <a:xfrm>
            <a:off x="6685555" y="2536077"/>
            <a:ext cx="540000" cy="540000"/>
            <a:chOff x="6685555" y="2536077"/>
            <a:chExt cx="540000" cy="540000"/>
          </a:xfrm>
        </p:grpSpPr>
        <p:sp>
          <p:nvSpPr>
            <p:cNvPr id="132" name="Ellipse 131">
              <a:extLst>
                <a:ext uri="{FF2B5EF4-FFF2-40B4-BE49-F238E27FC236}">
                  <a16:creationId xmlns:a16="http://schemas.microsoft.com/office/drawing/2014/main" id="{B405453D-412F-381C-0716-B7A2BCB67273}"/>
                </a:ext>
              </a:extLst>
            </p:cNvPr>
            <p:cNvSpPr/>
            <p:nvPr/>
          </p:nvSpPr>
          <p:spPr>
            <a:xfrm>
              <a:off x="6685555" y="2536077"/>
              <a:ext cx="540000" cy="540000"/>
            </a:xfrm>
            <a:prstGeom prst="ellipse">
              <a:avLst/>
            </a:prstGeom>
            <a:solidFill>
              <a:srgbClr val="003C5A"/>
            </a:solidFill>
            <a:ln w="28575" cap="flat" cmpd="sng" algn="ctr">
              <a:noFill/>
              <a:prstDash val="solid"/>
              <a:miter lim="800000"/>
            </a:ln>
            <a:effectLst>
              <a:outerShdw blurRad="177800" dist="165100" dir="4680000" sx="93000" sy="93000" algn="ctr" rotWithShape="0">
                <a:srgbClr val="00B9FF">
                  <a:alpha val="1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1300" cap="none" spc="130" normalizeH="0" baseline="0" noProof="0">
                <a:ln>
                  <a:noFill/>
                </a:ln>
                <a:solidFill>
                  <a:prstClr val="white"/>
                </a:solidFill>
                <a:effectLst/>
                <a:uLnTx/>
                <a:uFillTx/>
                <a:latin typeface="Montserrat" panose="00000500000000000000" pitchFamily="2" charset="0"/>
                <a:ea typeface="+mn-ea"/>
                <a:cs typeface="+mn-cs"/>
              </a:endParaRPr>
            </a:p>
          </p:txBody>
        </p:sp>
        <p:pic>
          <p:nvPicPr>
            <p:cNvPr id="133" name="Image 132" descr="Engrenages contour">
              <a:extLst>
                <a:ext uri="{FF2B5EF4-FFF2-40B4-BE49-F238E27FC236}">
                  <a16:creationId xmlns:a16="http://schemas.microsoft.com/office/drawing/2014/main" id="{B9BD1E74-1A0A-7FE8-DE77-4A9435BA07CC}"/>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6721214" y="2589453"/>
              <a:ext cx="432000" cy="432000"/>
            </a:xfrm>
            <a:prstGeom prst="rect">
              <a:avLst/>
            </a:prstGeom>
          </p:spPr>
        </p:pic>
      </p:grpSp>
      <p:sp>
        <p:nvSpPr>
          <p:cNvPr id="7" name="Rectangle : coins arrondis 6">
            <a:extLst>
              <a:ext uri="{FF2B5EF4-FFF2-40B4-BE49-F238E27FC236}">
                <a16:creationId xmlns:a16="http://schemas.microsoft.com/office/drawing/2014/main" id="{E64CE6DE-1863-EF54-AC54-0C7980F1ED5B}"/>
              </a:ext>
            </a:extLst>
          </p:cNvPr>
          <p:cNvSpPr/>
          <p:nvPr/>
        </p:nvSpPr>
        <p:spPr>
          <a:xfrm>
            <a:off x="7122714" y="2979508"/>
            <a:ext cx="4675132" cy="1276206"/>
          </a:xfrm>
          <a:prstGeom prst="roundRect">
            <a:avLst/>
          </a:prstGeom>
          <a:noFill/>
          <a:ln>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defRPr/>
            </a:pPr>
            <a:r>
              <a:rPr kumimoji="0" lang="en-US" sz="1000" b="1" i="0" u="none" strike="noStrike" kern="0" cap="none" spc="0" normalizeH="0" baseline="0" noProof="0" dirty="0">
                <a:ln>
                  <a:noFill/>
                </a:ln>
                <a:solidFill>
                  <a:srgbClr val="003C5A"/>
                </a:solidFill>
                <a:effectLst/>
                <a:uLnTx/>
                <a:uFillTx/>
                <a:latin typeface="Montserrat"/>
                <a:ea typeface="+mn-ea"/>
                <a:cs typeface="+mn-cs"/>
              </a:rPr>
              <a:t>Migration from users in BCC to Azure Active Directory  (AAD)</a:t>
            </a:r>
            <a:r>
              <a:rPr kumimoji="0" lang="en-US" sz="1000" b="0" i="0" u="none" strike="noStrike" kern="0" cap="none" spc="0" normalizeH="0" baseline="0" noProof="0" dirty="0">
                <a:ln>
                  <a:noFill/>
                </a:ln>
                <a:solidFill>
                  <a:srgbClr val="003C5A"/>
                </a:solidFill>
                <a:effectLst/>
                <a:uLnTx/>
                <a:uFillTx/>
                <a:latin typeface="Montserrat"/>
                <a:ea typeface="+mn-ea"/>
                <a:cs typeface="+mn-cs"/>
              </a:rPr>
              <a:t> </a:t>
            </a:r>
            <a:r>
              <a:rPr lang="en-US" sz="1000" kern="0" dirty="0">
                <a:solidFill>
                  <a:srgbClr val="003C5A"/>
                </a:solidFill>
                <a:latin typeface="Montserrat"/>
              </a:rPr>
              <a:t>to </a:t>
            </a:r>
            <a:r>
              <a:rPr kumimoji="0" lang="en-US" sz="1000" b="0" i="0" u="none" strike="noStrike" kern="0" cap="none" spc="0" normalizeH="0" baseline="0" noProof="0" dirty="0">
                <a:ln>
                  <a:noFill/>
                </a:ln>
                <a:solidFill>
                  <a:srgbClr val="003C5A"/>
                </a:solidFill>
                <a:effectLst/>
                <a:uLnTx/>
                <a:uFillTx/>
                <a:latin typeface="Montserrat"/>
                <a:ea typeface="+mn-ea"/>
                <a:cs typeface="+mn-cs"/>
              </a:rPr>
              <a:t>centralize partners &amp; gests accessing BYCN IS</a:t>
            </a:r>
            <a:br>
              <a:rPr kumimoji="0" lang="en-US" sz="1000" b="0" i="0" u="none" strike="noStrike" kern="0" cap="none" spc="0" normalizeH="0" baseline="0" noProof="0" dirty="0">
                <a:ln>
                  <a:noFill/>
                </a:ln>
                <a:solidFill>
                  <a:srgbClr val="003C5A"/>
                </a:solidFill>
                <a:effectLst/>
                <a:uLnTx/>
                <a:uFillTx/>
                <a:latin typeface="Montserrat"/>
                <a:ea typeface="+mn-ea"/>
                <a:cs typeface="+mn-cs"/>
              </a:rPr>
            </a:br>
            <a:br>
              <a:rPr kumimoji="0" lang="en-US" sz="1000" b="0" i="0" u="none" strike="noStrike" kern="0" cap="none" spc="0" normalizeH="0" baseline="0" noProof="0" dirty="0">
                <a:ln>
                  <a:noFill/>
                </a:ln>
                <a:solidFill>
                  <a:srgbClr val="003C5A"/>
                </a:solidFill>
                <a:effectLst/>
                <a:uLnTx/>
                <a:uFillTx/>
                <a:latin typeface="Montserrat"/>
                <a:ea typeface="+mn-ea"/>
                <a:cs typeface="+mn-cs"/>
              </a:rPr>
            </a:br>
            <a:r>
              <a:rPr lang="en-US" sz="1000" b="1" kern="0" dirty="0">
                <a:solidFill>
                  <a:srgbClr val="003C5A"/>
                </a:solidFill>
                <a:latin typeface="Montserrat"/>
              </a:rPr>
              <a:t>Azure </a:t>
            </a:r>
            <a:r>
              <a:rPr lang="en-US" sz="1000" kern="0" dirty="0">
                <a:solidFill>
                  <a:srgbClr val="003C5A"/>
                </a:solidFill>
                <a:latin typeface="Montserrat"/>
              </a:rPr>
              <a:t>access packages</a:t>
            </a:r>
            <a:r>
              <a:rPr lang="en-US" sz="1000" b="1" kern="0" dirty="0">
                <a:solidFill>
                  <a:srgbClr val="003C5A"/>
                </a:solidFill>
                <a:latin typeface="Montserrat"/>
              </a:rPr>
              <a:t> to link users and the applications</a:t>
            </a:r>
            <a:br>
              <a:rPr lang="en-US" sz="1000" b="1" kern="0" dirty="0">
                <a:solidFill>
                  <a:srgbClr val="003C5A"/>
                </a:solidFill>
                <a:latin typeface="Montserrat"/>
              </a:rPr>
            </a:br>
            <a:endParaRPr lang="en-US" sz="1000" b="0" i="0" u="none" strike="noStrike" kern="0" cap="none" spc="0" normalizeH="0" baseline="0" noProof="0" dirty="0">
              <a:ln>
                <a:noFill/>
              </a:ln>
              <a:solidFill>
                <a:srgbClr val="003C5A"/>
              </a:solidFill>
              <a:effectLst/>
              <a:uLnTx/>
              <a:uFillTx/>
              <a:latin typeface="Montserrat"/>
            </a:endParaRPr>
          </a:p>
          <a:p>
            <a:pPr marL="171450" marR="0" lvl="0" indent="-171450" defTabSz="914400" eaLnBrk="1" fontAlgn="auto" latinLnBrk="0" hangingPunct="1">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003C5A"/>
                </a:solidFill>
                <a:effectLst/>
                <a:uLnTx/>
                <a:uFillTx/>
                <a:latin typeface="Montserrat"/>
                <a:ea typeface="+mn-ea"/>
                <a:cs typeface="+mn-cs"/>
              </a:rPr>
              <a:t>Acquisition of additional AAD licenses</a:t>
            </a:r>
            <a:r>
              <a:rPr kumimoji="0" lang="en-US" sz="1000" b="0" i="0" u="none" strike="noStrike" kern="0" cap="none" spc="0" normalizeH="0" baseline="0" noProof="0" dirty="0">
                <a:ln>
                  <a:noFill/>
                </a:ln>
                <a:solidFill>
                  <a:srgbClr val="003C5A"/>
                </a:solidFill>
                <a:effectLst/>
                <a:uLnTx/>
                <a:uFillTx/>
                <a:latin typeface="Montserrat"/>
                <a:ea typeface="+mn-ea"/>
                <a:cs typeface="+mn-cs"/>
              </a:rPr>
              <a:t> to enable resource the review partners/guests’ permissions </a:t>
            </a:r>
            <a:endParaRPr lang="en-US" sz="1000" b="0" i="0" u="none" strike="noStrike" kern="0" cap="none" spc="0" normalizeH="0" baseline="0" noProof="0" dirty="0">
              <a:ln>
                <a:noFill/>
              </a:ln>
              <a:solidFill>
                <a:srgbClr val="003C5A"/>
              </a:solidFill>
              <a:effectLst/>
              <a:uLnTx/>
              <a:uFillTx/>
              <a:latin typeface="Montserrat"/>
            </a:endParaRPr>
          </a:p>
        </p:txBody>
      </p:sp>
      <p:sp>
        <p:nvSpPr>
          <p:cNvPr id="10" name="Rectangle : coins arrondis 9">
            <a:extLst>
              <a:ext uri="{FF2B5EF4-FFF2-40B4-BE49-F238E27FC236}">
                <a16:creationId xmlns:a16="http://schemas.microsoft.com/office/drawing/2014/main" id="{1C5FF481-C58E-B25E-70D3-6524D35DA226}"/>
              </a:ext>
            </a:extLst>
          </p:cNvPr>
          <p:cNvSpPr/>
          <p:nvPr/>
        </p:nvSpPr>
        <p:spPr>
          <a:xfrm>
            <a:off x="7122714" y="4555374"/>
            <a:ext cx="4675132" cy="1333954"/>
          </a:xfrm>
          <a:prstGeom prst="roundRect">
            <a:avLst/>
          </a:prstGeom>
          <a:noFill/>
          <a:ln>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50000"/>
              </a:lnSpc>
              <a:spcBef>
                <a:spcPts val="0"/>
              </a:spcBef>
              <a:spcAft>
                <a:spcPts val="0"/>
              </a:spcAft>
              <a:buClrTx/>
              <a:buSzTx/>
              <a:tabLst/>
              <a:defRPr/>
            </a:pPr>
            <a:r>
              <a:rPr kumimoji="0" lang="en-US" sz="1000" b="1" i="0" u="none" strike="noStrike" kern="1200" cap="none" spc="0" normalizeH="0" baseline="0" noProof="0" dirty="0">
                <a:ln>
                  <a:noFill/>
                </a:ln>
                <a:solidFill>
                  <a:srgbClr val="003C5A"/>
                </a:solidFill>
                <a:effectLst/>
                <a:uLnTx/>
                <a:uFillTx/>
                <a:latin typeface="Montserrat"/>
                <a:ea typeface="+mn-ea"/>
                <a:cs typeface="+mn-cs"/>
              </a:rPr>
              <a:t>Processes and policies must be formalized </a:t>
            </a:r>
            <a:r>
              <a:rPr kumimoji="0" lang="en-US" sz="1000" i="0" u="none" strike="noStrike" kern="1200" cap="none" spc="0" normalizeH="0" baseline="0" noProof="0" dirty="0">
                <a:ln>
                  <a:noFill/>
                </a:ln>
                <a:solidFill>
                  <a:srgbClr val="003C5A"/>
                </a:solidFill>
                <a:effectLst/>
                <a:uLnTx/>
                <a:uFillTx/>
                <a:latin typeface="Montserrat"/>
                <a:ea typeface="+mn-ea"/>
                <a:cs typeface="+mn-cs"/>
              </a:rPr>
              <a:t>to clearly indicate roles and responsibilities such as :</a:t>
            </a:r>
          </a:p>
          <a:p>
            <a:pPr marL="628650" lvl="1" indent="-171450">
              <a:buFontTx/>
              <a:buChar char="-"/>
              <a:defRPr/>
            </a:pPr>
            <a:r>
              <a:rPr lang="en-US" sz="1000" dirty="0">
                <a:solidFill>
                  <a:srgbClr val="003C5A"/>
                </a:solidFill>
                <a:latin typeface="Montserrat"/>
              </a:rPr>
              <a:t>Reviewer that will periodically controls partners &amp; guests’ accesses</a:t>
            </a:r>
            <a:endParaRPr lang="en-US" sz="1000" b="1" dirty="0">
              <a:solidFill>
                <a:srgbClr val="003C5A"/>
              </a:solidFill>
              <a:latin typeface="Montserrat"/>
            </a:endParaRPr>
          </a:p>
          <a:p>
            <a:pPr marL="628650" lvl="1" indent="-171450">
              <a:buFontTx/>
              <a:buChar char="-"/>
              <a:defRPr/>
            </a:pPr>
            <a:r>
              <a:rPr kumimoji="0" lang="en-US" sz="1000" i="0" u="none" strike="noStrike" kern="1200" cap="none" spc="0" normalizeH="0" baseline="0" noProof="0" dirty="0">
                <a:ln>
                  <a:noFill/>
                </a:ln>
                <a:solidFill>
                  <a:srgbClr val="003C5A"/>
                </a:solidFill>
                <a:effectLst/>
                <a:uLnTx/>
                <a:uFillTx/>
                <a:latin typeface="Montserrat"/>
                <a:ea typeface="+mn-ea"/>
                <a:cs typeface="+mn-cs"/>
              </a:rPr>
              <a:t>Applications are </a:t>
            </a:r>
            <a:r>
              <a:rPr lang="en-US" sz="1000" dirty="0">
                <a:solidFill>
                  <a:srgbClr val="003C5A"/>
                </a:solidFill>
                <a:latin typeface="Montserrat"/>
              </a:rPr>
              <a:t>responsible for creating in AAD their partner/guest users</a:t>
            </a:r>
          </a:p>
          <a:p>
            <a:pPr>
              <a:defRPr/>
            </a:pPr>
            <a:r>
              <a:rPr lang="en-US" sz="1000" b="1" dirty="0">
                <a:solidFill>
                  <a:srgbClr val="003C5A"/>
                </a:solidFill>
                <a:latin typeface="Montserrat"/>
              </a:rPr>
              <a:t>Training and </a:t>
            </a:r>
            <a:r>
              <a:rPr lang="en-US" sz="1000" b="1">
                <a:solidFill>
                  <a:srgbClr val="003C5A"/>
                </a:solidFill>
                <a:latin typeface="Montserrat"/>
              </a:rPr>
              <a:t>change management </a:t>
            </a:r>
            <a:endParaRPr kumimoji="0" lang="en-US" sz="1000" i="0" u="none" strike="noStrike" kern="1200" cap="none" spc="0" normalizeH="0" baseline="0" noProof="0" dirty="0">
              <a:ln>
                <a:noFill/>
              </a:ln>
              <a:solidFill>
                <a:srgbClr val="003C5A"/>
              </a:solidFill>
              <a:effectLst/>
              <a:uLnTx/>
              <a:uFillTx/>
              <a:latin typeface="Montserrat"/>
              <a:ea typeface="+mn-ea"/>
              <a:cs typeface="+mn-cs"/>
            </a:endParaRPr>
          </a:p>
        </p:txBody>
      </p:sp>
      <p:sp>
        <p:nvSpPr>
          <p:cNvPr id="12" name="ZoneTexte 11">
            <a:extLst>
              <a:ext uri="{FF2B5EF4-FFF2-40B4-BE49-F238E27FC236}">
                <a16:creationId xmlns:a16="http://schemas.microsoft.com/office/drawing/2014/main" id="{D32F4626-6F09-E622-4851-578A3E25D627}"/>
              </a:ext>
            </a:extLst>
          </p:cNvPr>
          <p:cNvSpPr txBox="1"/>
          <p:nvPr/>
        </p:nvSpPr>
        <p:spPr>
          <a:xfrm>
            <a:off x="7322815" y="2869441"/>
            <a:ext cx="2733675" cy="153888"/>
          </a:xfrm>
          <a:prstGeom prst="rect">
            <a:avLst/>
          </a:prstGeom>
          <a:solidFill>
            <a:schemeClr val="tx2"/>
          </a:solidFill>
        </p:spPr>
        <p:txBody>
          <a:bodyPr wrap="square" lIns="36000" tIns="0" rIns="36000" bIns="0" rtlCol="0">
            <a:spAutoFit/>
          </a:bodyPr>
          <a:lstStyle/>
          <a:p>
            <a:r>
              <a:rPr lang="en-US" sz="1000" kern="0" dirty="0">
                <a:solidFill>
                  <a:schemeClr val="bg1"/>
                </a:solidFill>
                <a:latin typeface="Montserrat"/>
              </a:rPr>
              <a:t>On-going technical initiatives</a:t>
            </a:r>
          </a:p>
        </p:txBody>
      </p:sp>
      <p:sp>
        <p:nvSpPr>
          <p:cNvPr id="6" name="Rectangle 5">
            <a:extLst>
              <a:ext uri="{FF2B5EF4-FFF2-40B4-BE49-F238E27FC236}">
                <a16:creationId xmlns:a16="http://schemas.microsoft.com/office/drawing/2014/main" id="{1193AD3C-585B-007B-4EF1-0AB36793D735}"/>
              </a:ext>
            </a:extLst>
          </p:cNvPr>
          <p:cNvSpPr/>
          <p:nvPr/>
        </p:nvSpPr>
        <p:spPr>
          <a:xfrm>
            <a:off x="3375892" y="4015317"/>
            <a:ext cx="2268000" cy="900000"/>
          </a:xfrm>
          <a:prstGeom prst="rect">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droite 7">
            <a:extLst>
              <a:ext uri="{FF2B5EF4-FFF2-40B4-BE49-F238E27FC236}">
                <a16:creationId xmlns:a16="http://schemas.microsoft.com/office/drawing/2014/main" id="{50A70124-D85F-499B-B16E-752C07F7AD71}"/>
              </a:ext>
            </a:extLst>
          </p:cNvPr>
          <p:cNvSpPr/>
          <p:nvPr/>
        </p:nvSpPr>
        <p:spPr>
          <a:xfrm>
            <a:off x="3010327" y="4279266"/>
            <a:ext cx="252000" cy="334948"/>
          </a:xfrm>
          <a:prstGeom prst="rightArrow">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8EB0BFE-F30A-2C75-DD0B-4D3243864966}"/>
              </a:ext>
            </a:extLst>
          </p:cNvPr>
          <p:cNvSpPr/>
          <p:nvPr/>
        </p:nvSpPr>
        <p:spPr>
          <a:xfrm>
            <a:off x="581454" y="5187878"/>
            <a:ext cx="2347200" cy="787070"/>
          </a:xfrm>
          <a:prstGeom prst="rect">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89A8A4A6-274B-A3A8-5019-E4324200291E}"/>
              </a:ext>
            </a:extLst>
          </p:cNvPr>
          <p:cNvSpPr/>
          <p:nvPr/>
        </p:nvSpPr>
        <p:spPr>
          <a:xfrm>
            <a:off x="3375892" y="5187877"/>
            <a:ext cx="2268000" cy="787071"/>
          </a:xfrm>
          <a:prstGeom prst="rect">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droite 12">
            <a:extLst>
              <a:ext uri="{FF2B5EF4-FFF2-40B4-BE49-F238E27FC236}">
                <a16:creationId xmlns:a16="http://schemas.microsoft.com/office/drawing/2014/main" id="{E0D68788-016C-A3C4-0A9A-0767A0B769C1}"/>
              </a:ext>
            </a:extLst>
          </p:cNvPr>
          <p:cNvSpPr/>
          <p:nvPr/>
        </p:nvSpPr>
        <p:spPr>
          <a:xfrm>
            <a:off x="3010328" y="5413938"/>
            <a:ext cx="251669" cy="334948"/>
          </a:xfrm>
          <a:prstGeom prst="rightArrow">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1E53110E-3F57-681A-3CAB-852F205B0192}"/>
              </a:ext>
            </a:extLst>
          </p:cNvPr>
          <p:cNvSpPr/>
          <p:nvPr/>
        </p:nvSpPr>
        <p:spPr>
          <a:xfrm>
            <a:off x="581454" y="3429000"/>
            <a:ext cx="2346004" cy="308419"/>
          </a:xfrm>
          <a:prstGeom prst="rect">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kern="0" dirty="0">
                <a:solidFill>
                  <a:srgbClr val="003C5A"/>
                </a:solidFill>
                <a:latin typeface="Montserrat"/>
              </a:rPr>
              <a:t>Guest management characteristics</a:t>
            </a:r>
          </a:p>
        </p:txBody>
      </p:sp>
      <p:sp>
        <p:nvSpPr>
          <p:cNvPr id="21" name="Rectangle 20">
            <a:extLst>
              <a:ext uri="{FF2B5EF4-FFF2-40B4-BE49-F238E27FC236}">
                <a16:creationId xmlns:a16="http://schemas.microsoft.com/office/drawing/2014/main" id="{3BAE160A-A352-78F1-1B61-6B4F5DF9B95E}"/>
              </a:ext>
            </a:extLst>
          </p:cNvPr>
          <p:cNvSpPr/>
          <p:nvPr/>
        </p:nvSpPr>
        <p:spPr>
          <a:xfrm>
            <a:off x="3375892" y="3429000"/>
            <a:ext cx="2268000" cy="308419"/>
          </a:xfrm>
          <a:prstGeom prst="rect">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kern="0" dirty="0">
                <a:solidFill>
                  <a:srgbClr val="003C5A"/>
                </a:solidFill>
                <a:latin typeface="Montserrat"/>
              </a:rPr>
              <a:t>IGA solution impacts</a:t>
            </a:r>
          </a:p>
        </p:txBody>
      </p:sp>
      <p:sp>
        <p:nvSpPr>
          <p:cNvPr id="24" name="ZoneTexte 23">
            <a:extLst>
              <a:ext uri="{FF2B5EF4-FFF2-40B4-BE49-F238E27FC236}">
                <a16:creationId xmlns:a16="http://schemas.microsoft.com/office/drawing/2014/main" id="{8CE53DD5-588E-60B1-9837-20DC5866D2B3}"/>
              </a:ext>
            </a:extLst>
          </p:cNvPr>
          <p:cNvSpPr txBox="1"/>
          <p:nvPr/>
        </p:nvSpPr>
        <p:spPr>
          <a:xfrm>
            <a:off x="3384796" y="4080232"/>
            <a:ext cx="1936468" cy="461665"/>
          </a:xfrm>
          <a:prstGeom prst="rect">
            <a:avLst/>
          </a:prstGeom>
          <a:noFill/>
        </p:spPr>
        <p:txBody>
          <a:bodyPr wrap="square" lIns="36000" tIns="0" rIns="36000" bIns="0" rtlCol="0">
            <a:spAutoFit/>
          </a:bodyPr>
          <a:lstStyle/>
          <a:p>
            <a:pPr marL="0" lvl="1">
              <a:defRPr/>
            </a:pPr>
            <a:r>
              <a:rPr lang="en-US" sz="1000" kern="0" dirty="0">
                <a:solidFill>
                  <a:srgbClr val="003C5A"/>
                </a:solidFill>
                <a:latin typeface="Montserrat"/>
              </a:rPr>
              <a:t>The needed number of licenses and the overall cost.</a:t>
            </a:r>
          </a:p>
          <a:p>
            <a:pPr marL="0" lvl="1">
              <a:defRPr/>
            </a:pPr>
            <a:r>
              <a:rPr lang="en-US" sz="1000" b="1" kern="0" dirty="0">
                <a:solidFill>
                  <a:srgbClr val="003C5A"/>
                </a:solidFill>
                <a:latin typeface="Montserrat"/>
              </a:rPr>
              <a:t>More than 200 K€ per year, </a:t>
            </a:r>
            <a:endParaRPr lang="fr-FR" sz="1000" dirty="0"/>
          </a:p>
        </p:txBody>
      </p:sp>
      <p:sp>
        <p:nvSpPr>
          <p:cNvPr id="25" name="ZoneTexte 24">
            <a:extLst>
              <a:ext uri="{FF2B5EF4-FFF2-40B4-BE49-F238E27FC236}">
                <a16:creationId xmlns:a16="http://schemas.microsoft.com/office/drawing/2014/main" id="{9174892C-BC57-B171-3AAB-A84695791895}"/>
              </a:ext>
            </a:extLst>
          </p:cNvPr>
          <p:cNvSpPr txBox="1"/>
          <p:nvPr/>
        </p:nvSpPr>
        <p:spPr>
          <a:xfrm>
            <a:off x="581454" y="5336313"/>
            <a:ext cx="2268000" cy="769441"/>
          </a:xfrm>
          <a:prstGeom prst="rect">
            <a:avLst/>
          </a:prstGeom>
          <a:noFill/>
        </p:spPr>
        <p:txBody>
          <a:bodyPr wrap="square" lIns="36000" tIns="0" rIns="36000" bIns="0" rtlCol="0">
            <a:spAutoFit/>
          </a:bodyPr>
          <a:lstStyle/>
          <a:p>
            <a:pPr marL="0" lvl="1">
              <a:defRPr/>
            </a:pPr>
            <a:r>
              <a:rPr kumimoji="0" lang="en-US" sz="1000" b="0" i="0" u="none" strike="noStrike" kern="0" cap="none" spc="0" normalizeH="0" baseline="0" noProof="0" dirty="0">
                <a:ln>
                  <a:noFill/>
                </a:ln>
                <a:solidFill>
                  <a:srgbClr val="003C5A"/>
                </a:solidFill>
                <a:effectLst/>
                <a:uLnTx/>
                <a:uFillTx/>
                <a:latin typeface="Montserrat"/>
                <a:ea typeface="+mn-ea"/>
                <a:cs typeface="+mn-cs"/>
              </a:rPr>
              <a:t>Partners &amp; Guests accesses can be granted by anyone in the company (ex : teams)</a:t>
            </a:r>
          </a:p>
          <a:p>
            <a:pPr marL="0" lvl="1">
              <a:defRPr/>
            </a:pPr>
            <a:endParaRPr lang="en-US" sz="1000" kern="0" dirty="0">
              <a:solidFill>
                <a:srgbClr val="003C5A"/>
              </a:solidFill>
              <a:latin typeface="Montserrat"/>
            </a:endParaRPr>
          </a:p>
          <a:p>
            <a:pPr marL="0" lvl="1">
              <a:defRPr/>
            </a:pPr>
            <a:endParaRPr lang="fr-FR" sz="1000" dirty="0"/>
          </a:p>
        </p:txBody>
      </p:sp>
      <p:sp>
        <p:nvSpPr>
          <p:cNvPr id="26" name="ZoneTexte 25">
            <a:extLst>
              <a:ext uri="{FF2B5EF4-FFF2-40B4-BE49-F238E27FC236}">
                <a16:creationId xmlns:a16="http://schemas.microsoft.com/office/drawing/2014/main" id="{72F0A095-B2F7-27EA-2C60-2FE2D78FC0F3}"/>
              </a:ext>
            </a:extLst>
          </p:cNvPr>
          <p:cNvSpPr txBox="1"/>
          <p:nvPr/>
        </p:nvSpPr>
        <p:spPr>
          <a:xfrm>
            <a:off x="3456810" y="5341764"/>
            <a:ext cx="2187082" cy="461665"/>
          </a:xfrm>
          <a:prstGeom prst="rect">
            <a:avLst/>
          </a:prstGeom>
          <a:noFill/>
        </p:spPr>
        <p:txBody>
          <a:bodyPr wrap="square" lIns="36000" tIns="0" rIns="36000" bIns="0" rtlCol="0">
            <a:spAutoFit/>
          </a:bodyPr>
          <a:lstStyle/>
          <a:p>
            <a:pPr marL="0" lvl="1">
              <a:defRPr/>
            </a:pPr>
            <a:r>
              <a:rPr lang="en-US" sz="1000" b="1" i="0" u="none" strike="noStrike" kern="0" cap="none" spc="0" normalizeH="0" baseline="0" noProof="0" dirty="0">
                <a:ln>
                  <a:noFill/>
                </a:ln>
                <a:solidFill>
                  <a:srgbClr val="003C5A"/>
                </a:solidFill>
                <a:effectLst/>
                <a:uLnTx/>
                <a:uFillTx/>
                <a:latin typeface="Montserrat"/>
              </a:rPr>
              <a:t>Complexity</a:t>
            </a:r>
            <a:r>
              <a:rPr lang="en-US" sz="1000" b="0" i="0" u="none" strike="noStrike" kern="0" cap="none" spc="0" normalizeH="0" baseline="0" noProof="0" dirty="0">
                <a:ln>
                  <a:noFill/>
                </a:ln>
                <a:solidFill>
                  <a:srgbClr val="003C5A"/>
                </a:solidFill>
                <a:effectLst/>
                <a:uLnTx/>
                <a:uFillTx/>
                <a:latin typeface="Montserrat"/>
              </a:rPr>
              <a:t> and data model </a:t>
            </a:r>
            <a:r>
              <a:rPr lang="en-US" sz="1000" kern="0" dirty="0">
                <a:solidFill>
                  <a:srgbClr val="003C5A"/>
                </a:solidFill>
                <a:latin typeface="Montserrat"/>
              </a:rPr>
              <a:t>maintenance </a:t>
            </a:r>
            <a:r>
              <a:rPr lang="en-US" sz="1000" b="0" i="0" u="none" strike="noStrike" kern="0" cap="none" spc="0" normalizeH="0" baseline="0" noProof="0" dirty="0">
                <a:ln>
                  <a:noFill/>
                </a:ln>
                <a:solidFill>
                  <a:srgbClr val="003C5A"/>
                </a:solidFill>
                <a:effectLst/>
                <a:uLnTx/>
                <a:uFillTx/>
                <a:latin typeface="Montserrat"/>
              </a:rPr>
              <a:t>can lead to </a:t>
            </a:r>
            <a:r>
              <a:rPr lang="en-US" sz="1000" b="1" i="0" u="none" strike="noStrike" kern="0" cap="none" spc="0" normalizeH="0" baseline="0" noProof="0" dirty="0">
                <a:ln>
                  <a:noFill/>
                </a:ln>
                <a:solidFill>
                  <a:srgbClr val="003C5A"/>
                </a:solidFill>
                <a:effectLst/>
                <a:uLnTx/>
                <a:uFillTx/>
                <a:latin typeface="Montserrat"/>
              </a:rPr>
              <a:t>exploitation overload </a:t>
            </a:r>
            <a:endParaRPr lang="fr-FR" sz="1000" b="1" dirty="0"/>
          </a:p>
        </p:txBody>
      </p:sp>
      <p:sp>
        <p:nvSpPr>
          <p:cNvPr id="28" name="Rectangle 27">
            <a:extLst>
              <a:ext uri="{FF2B5EF4-FFF2-40B4-BE49-F238E27FC236}">
                <a16:creationId xmlns:a16="http://schemas.microsoft.com/office/drawing/2014/main" id="{FADEE27B-B0B9-4470-E303-17FB83922C53}"/>
              </a:ext>
            </a:extLst>
          </p:cNvPr>
          <p:cNvSpPr/>
          <p:nvPr/>
        </p:nvSpPr>
        <p:spPr>
          <a:xfrm>
            <a:off x="584024" y="4015317"/>
            <a:ext cx="2347200" cy="900000"/>
          </a:xfrm>
          <a:prstGeom prst="rect">
            <a:avLst/>
          </a:prstGeom>
          <a:solidFill>
            <a:schemeClr val="bg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defRPr/>
            </a:pPr>
            <a:endParaRPr lang="fr-FR" sz="1000" dirty="0"/>
          </a:p>
        </p:txBody>
      </p:sp>
      <p:sp>
        <p:nvSpPr>
          <p:cNvPr id="29" name="ZoneTexte 28">
            <a:extLst>
              <a:ext uri="{FF2B5EF4-FFF2-40B4-BE49-F238E27FC236}">
                <a16:creationId xmlns:a16="http://schemas.microsoft.com/office/drawing/2014/main" id="{7454FCF7-4E0A-827C-44F4-AFF06714800F}"/>
              </a:ext>
            </a:extLst>
          </p:cNvPr>
          <p:cNvSpPr txBox="1"/>
          <p:nvPr/>
        </p:nvSpPr>
        <p:spPr>
          <a:xfrm>
            <a:off x="658946" y="4067050"/>
            <a:ext cx="2255304" cy="769441"/>
          </a:xfrm>
          <a:prstGeom prst="rect">
            <a:avLst/>
          </a:prstGeom>
          <a:noFill/>
        </p:spPr>
        <p:txBody>
          <a:bodyPr wrap="square" lIns="36000" tIns="0" rIns="36000" bIns="0" rtlCol="0">
            <a:spAutoFit/>
          </a:bodyPr>
          <a:lstStyle/>
          <a:p>
            <a:pPr marL="0" lvl="1">
              <a:defRPr/>
            </a:pPr>
            <a:r>
              <a:rPr kumimoji="0" lang="en-US" sz="1000" strike="noStrike" kern="0" cap="none" spc="0" normalizeH="0" baseline="0" noProof="0" dirty="0">
                <a:ln>
                  <a:noFill/>
                </a:ln>
                <a:solidFill>
                  <a:srgbClr val="003C5A"/>
                </a:solidFill>
                <a:effectLst/>
                <a:uLnTx/>
                <a:uFillTx/>
                <a:latin typeface="Montserrat"/>
                <a:ea typeface="+mn-ea"/>
                <a:cs typeface="+mn-cs"/>
              </a:rPr>
              <a:t>The number of managed identities significantly increases </a:t>
            </a:r>
          </a:p>
          <a:p>
            <a:pPr marL="0" lvl="1">
              <a:defRPr/>
            </a:pPr>
            <a:r>
              <a:rPr kumimoji="0" lang="en-US" sz="1000" b="1" i="1" u="none" strike="noStrike" kern="0" cap="none" spc="0" normalizeH="0" baseline="0" noProof="0" dirty="0">
                <a:ln>
                  <a:noFill/>
                </a:ln>
                <a:solidFill>
                  <a:srgbClr val="003C5A"/>
                </a:solidFill>
                <a:effectLst/>
                <a:uLnTx/>
                <a:uFillTx/>
                <a:latin typeface="Montserrat"/>
                <a:ea typeface="+mn-ea"/>
                <a:cs typeface="+mn-cs"/>
              </a:rPr>
              <a:t>In </a:t>
            </a:r>
            <a:r>
              <a:rPr kumimoji="0" lang="en-US" sz="1000" b="1" i="1" u="none" strike="noStrike" kern="0" cap="none" spc="0" normalizeH="0" baseline="0" noProof="0" dirty="0" err="1">
                <a:ln>
                  <a:noFill/>
                </a:ln>
                <a:solidFill>
                  <a:srgbClr val="003C5A"/>
                </a:solidFill>
                <a:effectLst/>
                <a:uLnTx/>
                <a:uFillTx/>
                <a:latin typeface="Montserrat"/>
                <a:ea typeface="+mn-ea"/>
                <a:cs typeface="+mn-cs"/>
              </a:rPr>
              <a:t>ou</a:t>
            </a:r>
            <a:r>
              <a:rPr lang="en-US" sz="1000" b="1" i="1" kern="0" dirty="0">
                <a:solidFill>
                  <a:srgbClr val="003C5A"/>
                </a:solidFill>
                <a:latin typeface="Montserrat"/>
              </a:rPr>
              <a:t>r context,</a:t>
            </a:r>
            <a:r>
              <a:rPr kumimoji="0" lang="en-US" sz="1000" b="1" i="1" u="none" strike="noStrike" kern="0" cap="none" spc="0" normalizeH="0" baseline="0" noProof="0" dirty="0">
                <a:ln>
                  <a:noFill/>
                </a:ln>
                <a:solidFill>
                  <a:srgbClr val="003C5A"/>
                </a:solidFill>
                <a:effectLst/>
                <a:uLnTx/>
                <a:uFillTx/>
                <a:latin typeface="Montserrat"/>
                <a:ea typeface="+mn-ea"/>
                <a:cs typeface="+mn-cs"/>
              </a:rPr>
              <a:t> More than 15 000 </a:t>
            </a:r>
            <a:r>
              <a:rPr kumimoji="0" lang="en-US" sz="1000" b="1" i="1" u="none" strike="noStrike" kern="0" cap="none" normalizeH="0" noProof="0" dirty="0">
                <a:ln>
                  <a:noFill/>
                </a:ln>
                <a:solidFill>
                  <a:srgbClr val="003C5A"/>
                </a:solidFill>
                <a:effectLst/>
                <a:uLnTx/>
                <a:uFillTx/>
                <a:latin typeface="Montserrat"/>
                <a:ea typeface="+mn-ea"/>
                <a:cs typeface="+mn-cs"/>
              </a:rPr>
              <a:t>guests</a:t>
            </a:r>
            <a:r>
              <a:rPr kumimoji="0" lang="en-US" sz="1000" b="1" i="1" u="none" strike="noStrike" kern="0" cap="none" spc="0" normalizeH="0" baseline="0" noProof="0" dirty="0">
                <a:ln>
                  <a:noFill/>
                </a:ln>
                <a:solidFill>
                  <a:srgbClr val="003C5A"/>
                </a:solidFill>
                <a:effectLst/>
                <a:uLnTx/>
                <a:uFillTx/>
                <a:latin typeface="Montserrat"/>
                <a:ea typeface="+mn-ea"/>
                <a:cs typeface="+mn-cs"/>
              </a:rPr>
              <a:t> </a:t>
            </a:r>
            <a:r>
              <a:rPr kumimoji="0" lang="en-US" sz="1000" i="0" u="none" strike="noStrike" kern="0" cap="none" spc="0" normalizeH="0" baseline="0" noProof="0" dirty="0">
                <a:ln>
                  <a:noFill/>
                </a:ln>
                <a:solidFill>
                  <a:srgbClr val="003C5A"/>
                </a:solidFill>
                <a:effectLst/>
                <a:uLnTx/>
                <a:uFillTx/>
                <a:latin typeface="Montserrat"/>
                <a:ea typeface="+mn-ea"/>
                <a:cs typeface="+mn-cs"/>
              </a:rPr>
              <a:t>only in Azure, not including </a:t>
            </a:r>
            <a:r>
              <a:rPr lang="en-US" sz="1000" kern="0" dirty="0">
                <a:solidFill>
                  <a:srgbClr val="003C5A"/>
                </a:solidFill>
                <a:latin typeface="Montserrat"/>
              </a:rPr>
              <a:t>BCC users</a:t>
            </a:r>
            <a:endParaRPr lang="fr-FR" sz="1000" dirty="0"/>
          </a:p>
        </p:txBody>
      </p:sp>
      <p:sp>
        <p:nvSpPr>
          <p:cNvPr id="30" name="ZoneTexte 29">
            <a:extLst>
              <a:ext uri="{FF2B5EF4-FFF2-40B4-BE49-F238E27FC236}">
                <a16:creationId xmlns:a16="http://schemas.microsoft.com/office/drawing/2014/main" id="{4B8677EA-7A6C-4D4B-B61E-F4DC2A1783F6}"/>
              </a:ext>
            </a:extLst>
          </p:cNvPr>
          <p:cNvSpPr txBox="1"/>
          <p:nvPr/>
        </p:nvSpPr>
        <p:spPr>
          <a:xfrm>
            <a:off x="4685484" y="4814699"/>
            <a:ext cx="981817" cy="92333"/>
          </a:xfrm>
          <a:prstGeom prst="rect">
            <a:avLst/>
          </a:prstGeom>
          <a:noFill/>
        </p:spPr>
        <p:txBody>
          <a:bodyPr wrap="square" lIns="36000" tIns="0" rIns="36000" bIns="0" rtlCol="0">
            <a:spAutoFit/>
          </a:bodyPr>
          <a:lstStyle/>
          <a:p>
            <a:pPr marL="0" lvl="1">
              <a:defRPr/>
            </a:pPr>
            <a:r>
              <a:rPr lang="en-US" sz="600" kern="0" dirty="0">
                <a:solidFill>
                  <a:srgbClr val="003C5A"/>
                </a:solidFill>
                <a:latin typeface="Montserrat"/>
              </a:rPr>
              <a:t>Estimation 15€/account</a:t>
            </a:r>
            <a:endParaRPr lang="fr-FR" sz="600" dirty="0"/>
          </a:p>
        </p:txBody>
      </p:sp>
      <p:sp>
        <p:nvSpPr>
          <p:cNvPr id="15" name="ZoneTexte 14">
            <a:extLst>
              <a:ext uri="{FF2B5EF4-FFF2-40B4-BE49-F238E27FC236}">
                <a16:creationId xmlns:a16="http://schemas.microsoft.com/office/drawing/2014/main" id="{62AC0436-05FE-0BDF-6767-44A20C8529CB}"/>
              </a:ext>
            </a:extLst>
          </p:cNvPr>
          <p:cNvSpPr txBox="1"/>
          <p:nvPr/>
        </p:nvSpPr>
        <p:spPr>
          <a:xfrm>
            <a:off x="7322815" y="4476550"/>
            <a:ext cx="2733675" cy="153888"/>
          </a:xfrm>
          <a:prstGeom prst="rect">
            <a:avLst/>
          </a:prstGeom>
          <a:solidFill>
            <a:schemeClr val="tx2"/>
          </a:solidFill>
        </p:spPr>
        <p:txBody>
          <a:bodyPr wrap="square" lIns="36000" tIns="0" rIns="36000" bIns="0" rtlCol="0">
            <a:spAutoFit/>
          </a:bodyPr>
          <a:lstStyle/>
          <a:p>
            <a:r>
              <a:rPr lang="en-US" sz="1000" kern="0" dirty="0">
                <a:solidFill>
                  <a:schemeClr val="bg1"/>
                </a:solidFill>
                <a:latin typeface="Montserrat"/>
              </a:rPr>
              <a:t>Initiatives to start</a:t>
            </a:r>
          </a:p>
        </p:txBody>
      </p:sp>
      <p:sp>
        <p:nvSpPr>
          <p:cNvPr id="3" name="ZoneTexte 2">
            <a:extLst>
              <a:ext uri="{FF2B5EF4-FFF2-40B4-BE49-F238E27FC236}">
                <a16:creationId xmlns:a16="http://schemas.microsoft.com/office/drawing/2014/main" id="{519CC63E-34F7-7E5C-D59B-01B2310D57EB}"/>
              </a:ext>
            </a:extLst>
          </p:cNvPr>
          <p:cNvSpPr txBox="1"/>
          <p:nvPr/>
        </p:nvSpPr>
        <p:spPr>
          <a:xfrm>
            <a:off x="7225555" y="6097667"/>
            <a:ext cx="4384991" cy="369332"/>
          </a:xfrm>
          <a:prstGeom prst="rect">
            <a:avLst/>
          </a:prstGeom>
          <a:noFill/>
        </p:spPr>
        <p:txBody>
          <a:bodyPr wrap="square" lIns="36000" tIns="0" rIns="36000" bIns="0" rtlCol="0">
            <a:spAutoFit/>
          </a:bodyPr>
          <a:lstStyle/>
          <a:p>
            <a:pPr algn="ctr"/>
            <a:r>
              <a:rPr lang="en-US" sz="1200" b="1" kern="0" dirty="0">
                <a:solidFill>
                  <a:srgbClr val="FF5A28"/>
                </a:solidFill>
                <a:latin typeface="Montserrat"/>
              </a:rPr>
              <a:t>BYCN strategy is aligned with the market tendances for the management of its partners and guests</a:t>
            </a:r>
          </a:p>
        </p:txBody>
      </p:sp>
    </p:spTree>
    <p:extLst>
      <p:ext uri="{BB962C8B-B14F-4D97-AF65-F5344CB8AC3E}">
        <p14:creationId xmlns:p14="http://schemas.microsoft.com/office/powerpoint/2010/main" val="4281062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5EFD9-E248-0346-1367-3217EA5D299A}"/>
              </a:ext>
            </a:extLst>
          </p:cNvPr>
          <p:cNvSpPr>
            <a:spLocks noGrp="1"/>
          </p:cNvSpPr>
          <p:nvPr>
            <p:ph type="title"/>
          </p:nvPr>
        </p:nvSpPr>
        <p:spPr/>
        <p:txBody>
          <a:bodyPr/>
          <a:lstStyle/>
          <a:p>
            <a:r>
              <a:rPr lang="en-US" dirty="0"/>
              <a:t>Roadmap for the Scenario #1.A IGA</a:t>
            </a:r>
          </a:p>
        </p:txBody>
      </p:sp>
      <p:sp>
        <p:nvSpPr>
          <p:cNvPr id="4" name="Footer Placeholder 3">
            <a:extLst>
              <a:ext uri="{FF2B5EF4-FFF2-40B4-BE49-F238E27FC236}">
                <a16:creationId xmlns:a16="http://schemas.microsoft.com/office/drawing/2014/main" id="{3C012392-EA04-3D75-FF85-2BF5DA8786FD}"/>
              </a:ext>
            </a:extLst>
          </p:cNvPr>
          <p:cNvSpPr>
            <a:spLocks noGrp="1"/>
          </p:cNvSpPr>
          <p:nvPr>
            <p:ph type="ftr" sz="quarter" idx="13"/>
          </p:nvPr>
        </p:nvSpPr>
        <p:spPr>
          <a:xfrm>
            <a:off x="9470175" y="6602151"/>
            <a:ext cx="2340000" cy="246221"/>
          </a:xfrm>
        </p:spPr>
        <p:txBody>
          <a:bodyPr/>
          <a:lstStyle/>
          <a:p>
            <a:r>
              <a:rPr lang="fr-FR" dirty="0">
                <a:ea typeface="+mn-lt"/>
                <a:cs typeface="+mn-lt"/>
              </a:rPr>
              <a:t>Bouygues Construction  |  </a:t>
            </a:r>
            <a:r>
              <a:rPr lang="fr-FR" dirty="0">
                <a:latin typeface="Calibri"/>
                <a:cs typeface="Calibri"/>
              </a:rPr>
              <a:t>02 2023</a:t>
            </a:r>
            <a:endParaRPr lang="fr-FR" dirty="0">
              <a:ea typeface="+mn-lt"/>
              <a:cs typeface="+mn-lt"/>
            </a:endParaRPr>
          </a:p>
          <a:p>
            <a:endParaRPr lang="fr-FR" dirty="0">
              <a:latin typeface="Montserrat"/>
            </a:endParaRPr>
          </a:p>
        </p:txBody>
      </p:sp>
      <p:sp>
        <p:nvSpPr>
          <p:cNvPr id="5" name="Slide Number Placeholder 4">
            <a:extLst>
              <a:ext uri="{FF2B5EF4-FFF2-40B4-BE49-F238E27FC236}">
                <a16:creationId xmlns:a16="http://schemas.microsoft.com/office/drawing/2014/main" id="{1A6A669A-1766-88CC-3521-4A2B0DC3A49D}"/>
              </a:ext>
            </a:extLst>
          </p:cNvPr>
          <p:cNvSpPr>
            <a:spLocks noGrp="1"/>
          </p:cNvSpPr>
          <p:nvPr>
            <p:ph type="sldNum" sz="quarter" idx="14"/>
          </p:nvPr>
        </p:nvSpPr>
        <p:spPr/>
        <p:txBody>
          <a:bodyPr/>
          <a:lstStyle/>
          <a:p>
            <a:r>
              <a:rPr lang="fr-FR"/>
              <a:t>| </a:t>
            </a:r>
            <a:fld id="{C2EBF694-A8F9-4F06-8F8E-D09447FAA2D5}" type="slidenum">
              <a:rPr smtClean="0"/>
              <a:pPr/>
              <a:t>23</a:t>
            </a:fld>
            <a:endParaRPr/>
          </a:p>
        </p:txBody>
      </p:sp>
      <p:sp>
        <p:nvSpPr>
          <p:cNvPr id="109" name="Rectangle : coins arrondis 100">
            <a:extLst>
              <a:ext uri="{FF2B5EF4-FFF2-40B4-BE49-F238E27FC236}">
                <a16:creationId xmlns:a16="http://schemas.microsoft.com/office/drawing/2014/main" id="{1ED030D1-EB85-6731-4F84-76996296E165}"/>
              </a:ext>
            </a:extLst>
          </p:cNvPr>
          <p:cNvSpPr/>
          <p:nvPr/>
        </p:nvSpPr>
        <p:spPr>
          <a:xfrm>
            <a:off x="1243012" y="1838111"/>
            <a:ext cx="1139215" cy="4734139"/>
          </a:xfrm>
          <a:prstGeom prst="roundRect">
            <a:avLst/>
          </a:prstGeom>
          <a:noFill/>
          <a:ln>
            <a:solidFill>
              <a:schemeClr val="accent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dirty="0">
              <a:latin typeface="Montserrat"/>
            </a:endParaRPr>
          </a:p>
        </p:txBody>
      </p:sp>
      <p:cxnSp>
        <p:nvCxnSpPr>
          <p:cNvPr id="110" name="Connecteur droit 3">
            <a:extLst>
              <a:ext uri="{FF2B5EF4-FFF2-40B4-BE49-F238E27FC236}">
                <a16:creationId xmlns:a16="http://schemas.microsoft.com/office/drawing/2014/main" id="{6DE96583-FF03-4BDA-19A8-DFCE5B3EAB82}"/>
              </a:ext>
            </a:extLst>
          </p:cNvPr>
          <p:cNvCxnSpPr/>
          <p:nvPr/>
        </p:nvCxnSpPr>
        <p:spPr>
          <a:xfrm>
            <a:off x="5171009" y="1192719"/>
            <a:ext cx="0" cy="55388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Connecteur droit 4">
            <a:extLst>
              <a:ext uri="{FF2B5EF4-FFF2-40B4-BE49-F238E27FC236}">
                <a16:creationId xmlns:a16="http://schemas.microsoft.com/office/drawing/2014/main" id="{0450F487-55E4-F3D9-8152-28D683069468}"/>
              </a:ext>
            </a:extLst>
          </p:cNvPr>
          <p:cNvCxnSpPr/>
          <p:nvPr/>
        </p:nvCxnSpPr>
        <p:spPr>
          <a:xfrm>
            <a:off x="9046723" y="1192719"/>
            <a:ext cx="0" cy="5538821"/>
          </a:xfrm>
          <a:prstGeom prst="line">
            <a:avLst/>
          </a:prstGeom>
        </p:spPr>
        <p:style>
          <a:lnRef idx="1">
            <a:schemeClr val="accent1"/>
          </a:lnRef>
          <a:fillRef idx="0">
            <a:schemeClr val="accent1"/>
          </a:fillRef>
          <a:effectRef idx="0">
            <a:schemeClr val="accent1"/>
          </a:effectRef>
          <a:fontRef idx="minor">
            <a:schemeClr val="tx1"/>
          </a:fontRef>
        </p:style>
      </p:cxnSp>
      <p:sp>
        <p:nvSpPr>
          <p:cNvPr id="112" name="Rectangle : coins arrondis 5">
            <a:extLst>
              <a:ext uri="{FF2B5EF4-FFF2-40B4-BE49-F238E27FC236}">
                <a16:creationId xmlns:a16="http://schemas.microsoft.com/office/drawing/2014/main" id="{4EA13815-9E2D-F07C-D371-40C2EB50A718}"/>
              </a:ext>
            </a:extLst>
          </p:cNvPr>
          <p:cNvSpPr/>
          <p:nvPr/>
        </p:nvSpPr>
        <p:spPr>
          <a:xfrm>
            <a:off x="2448365" y="1902867"/>
            <a:ext cx="9227697" cy="662184"/>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Montserrat"/>
            </a:endParaRPr>
          </a:p>
        </p:txBody>
      </p:sp>
      <p:pic>
        <p:nvPicPr>
          <p:cNvPr id="113" name="Image 12">
            <a:extLst>
              <a:ext uri="{FF2B5EF4-FFF2-40B4-BE49-F238E27FC236}">
                <a16:creationId xmlns:a16="http://schemas.microsoft.com/office/drawing/2014/main" id="{116CF8D8-AF6C-A18F-9107-6367D3708FFB}"/>
              </a:ext>
            </a:extLst>
          </p:cNvPr>
          <p:cNvPicPr>
            <a:picLocks noChangeAspect="1"/>
          </p:cNvPicPr>
          <p:nvPr/>
        </p:nvPicPr>
        <p:blipFill>
          <a:blip r:embed="rId2"/>
          <a:stretch>
            <a:fillRect/>
          </a:stretch>
        </p:blipFill>
        <p:spPr>
          <a:xfrm>
            <a:off x="357009" y="1936673"/>
            <a:ext cx="468000" cy="468000"/>
          </a:xfrm>
          <a:prstGeom prst="rect">
            <a:avLst/>
          </a:prstGeom>
        </p:spPr>
      </p:pic>
      <p:pic>
        <p:nvPicPr>
          <p:cNvPr id="114" name="Image 13">
            <a:extLst>
              <a:ext uri="{FF2B5EF4-FFF2-40B4-BE49-F238E27FC236}">
                <a16:creationId xmlns:a16="http://schemas.microsoft.com/office/drawing/2014/main" id="{2B6BA5E4-16B5-57C0-CB65-7E22258CAC2B}"/>
              </a:ext>
            </a:extLst>
          </p:cNvPr>
          <p:cNvPicPr>
            <a:picLocks noChangeAspect="1"/>
          </p:cNvPicPr>
          <p:nvPr/>
        </p:nvPicPr>
        <p:blipFill>
          <a:blip r:embed="rId3"/>
          <a:stretch>
            <a:fillRect/>
          </a:stretch>
        </p:blipFill>
        <p:spPr>
          <a:xfrm>
            <a:off x="304025" y="3086850"/>
            <a:ext cx="468000" cy="468000"/>
          </a:xfrm>
          <a:prstGeom prst="rect">
            <a:avLst/>
          </a:prstGeom>
        </p:spPr>
      </p:pic>
      <p:sp>
        <p:nvSpPr>
          <p:cNvPr id="115" name="Rectangle : coins arrondis 15">
            <a:extLst>
              <a:ext uri="{FF2B5EF4-FFF2-40B4-BE49-F238E27FC236}">
                <a16:creationId xmlns:a16="http://schemas.microsoft.com/office/drawing/2014/main" id="{843BB6A0-434A-2F6A-11B8-4859FDE6EF18}"/>
              </a:ext>
            </a:extLst>
          </p:cNvPr>
          <p:cNvSpPr/>
          <p:nvPr/>
        </p:nvSpPr>
        <p:spPr>
          <a:xfrm>
            <a:off x="2448365" y="3126975"/>
            <a:ext cx="9227698" cy="662184"/>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Montserrat"/>
            </a:endParaRPr>
          </a:p>
        </p:txBody>
      </p:sp>
      <p:sp>
        <p:nvSpPr>
          <p:cNvPr id="116" name="Rectangle : coins arrondis 16">
            <a:extLst>
              <a:ext uri="{FF2B5EF4-FFF2-40B4-BE49-F238E27FC236}">
                <a16:creationId xmlns:a16="http://schemas.microsoft.com/office/drawing/2014/main" id="{E4919564-B388-2788-26B6-A78280AD7DD3}"/>
              </a:ext>
            </a:extLst>
          </p:cNvPr>
          <p:cNvSpPr/>
          <p:nvPr/>
        </p:nvSpPr>
        <p:spPr>
          <a:xfrm>
            <a:off x="2448363" y="4224376"/>
            <a:ext cx="9227699" cy="662184"/>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Montserrat"/>
            </a:endParaRPr>
          </a:p>
        </p:txBody>
      </p:sp>
      <p:sp>
        <p:nvSpPr>
          <p:cNvPr id="117" name="Rectangle : coins arrondis 17">
            <a:extLst>
              <a:ext uri="{FF2B5EF4-FFF2-40B4-BE49-F238E27FC236}">
                <a16:creationId xmlns:a16="http://schemas.microsoft.com/office/drawing/2014/main" id="{B109CBA9-EBA6-C3F6-CCE3-149FEEEB4006}"/>
              </a:ext>
            </a:extLst>
          </p:cNvPr>
          <p:cNvSpPr/>
          <p:nvPr/>
        </p:nvSpPr>
        <p:spPr>
          <a:xfrm>
            <a:off x="2483855" y="5535068"/>
            <a:ext cx="9192207" cy="103718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Montserrat"/>
            </a:endParaRPr>
          </a:p>
        </p:txBody>
      </p:sp>
      <p:sp>
        <p:nvSpPr>
          <p:cNvPr id="118" name="Rectangle 117">
            <a:extLst>
              <a:ext uri="{FF2B5EF4-FFF2-40B4-BE49-F238E27FC236}">
                <a16:creationId xmlns:a16="http://schemas.microsoft.com/office/drawing/2014/main" id="{A4986EAB-1305-76EE-24F2-13410B632F94}"/>
              </a:ext>
            </a:extLst>
          </p:cNvPr>
          <p:cNvSpPr/>
          <p:nvPr/>
        </p:nvSpPr>
        <p:spPr>
          <a:xfrm>
            <a:off x="6229654" y="1301148"/>
            <a:ext cx="1697311" cy="330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a:solidFill>
                  <a:schemeClr val="tx1"/>
                </a:solidFill>
              </a:rPr>
              <a:t>2024 </a:t>
            </a:r>
            <a:endParaRPr lang="en-US">
              <a:solidFill>
                <a:schemeClr val="tx1"/>
              </a:solidFill>
            </a:endParaRPr>
          </a:p>
        </p:txBody>
      </p:sp>
      <p:sp>
        <p:nvSpPr>
          <p:cNvPr id="119" name="Rectangle 118">
            <a:extLst>
              <a:ext uri="{FF2B5EF4-FFF2-40B4-BE49-F238E27FC236}">
                <a16:creationId xmlns:a16="http://schemas.microsoft.com/office/drawing/2014/main" id="{0912D7CE-F144-0B21-3019-9AB8C1727760}"/>
              </a:ext>
            </a:extLst>
          </p:cNvPr>
          <p:cNvSpPr/>
          <p:nvPr/>
        </p:nvSpPr>
        <p:spPr>
          <a:xfrm>
            <a:off x="10065054" y="1311044"/>
            <a:ext cx="1011676" cy="327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a:solidFill>
                  <a:schemeClr val="tx1"/>
                </a:solidFill>
              </a:rPr>
              <a:t>2025</a:t>
            </a:r>
          </a:p>
        </p:txBody>
      </p:sp>
      <p:sp>
        <p:nvSpPr>
          <p:cNvPr id="120" name="Rectangle : coins arrondis 21">
            <a:extLst>
              <a:ext uri="{FF2B5EF4-FFF2-40B4-BE49-F238E27FC236}">
                <a16:creationId xmlns:a16="http://schemas.microsoft.com/office/drawing/2014/main" id="{701A2E33-F0EA-F99E-41BA-405EDA3E22E8}"/>
              </a:ext>
            </a:extLst>
          </p:cNvPr>
          <p:cNvSpPr/>
          <p:nvPr/>
        </p:nvSpPr>
        <p:spPr>
          <a:xfrm>
            <a:off x="2647287" y="1926321"/>
            <a:ext cx="1236457" cy="180000"/>
          </a:xfrm>
          <a:prstGeom prst="round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User registration definition</a:t>
            </a:r>
          </a:p>
        </p:txBody>
      </p:sp>
      <p:sp>
        <p:nvSpPr>
          <p:cNvPr id="121" name="Rectangle : coins arrondis 33">
            <a:extLst>
              <a:ext uri="{FF2B5EF4-FFF2-40B4-BE49-F238E27FC236}">
                <a16:creationId xmlns:a16="http://schemas.microsoft.com/office/drawing/2014/main" id="{B1A6EA8D-3433-5F86-B8AD-C2E0D952BA96}"/>
              </a:ext>
            </a:extLst>
          </p:cNvPr>
          <p:cNvSpPr/>
          <p:nvPr/>
        </p:nvSpPr>
        <p:spPr>
          <a:xfrm>
            <a:off x="1304568" y="4372024"/>
            <a:ext cx="1014448" cy="338553"/>
          </a:xfrm>
          <a:prstGeom prst="roundRect">
            <a:avLst/>
          </a:prstGeom>
          <a:noFill/>
          <a:ln w="19050">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Applications selections &amp; prioritization</a:t>
            </a:r>
          </a:p>
        </p:txBody>
      </p:sp>
      <p:pic>
        <p:nvPicPr>
          <p:cNvPr id="122" name="Image 46" descr="Une image contenant texte, équipement électronique, afficher&#10;&#10;Description générée automatiquement">
            <a:extLst>
              <a:ext uri="{FF2B5EF4-FFF2-40B4-BE49-F238E27FC236}">
                <a16:creationId xmlns:a16="http://schemas.microsoft.com/office/drawing/2014/main" id="{ABE08B41-ACF1-830E-B6CC-1370FBE4FFD3}"/>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51114" y="4162931"/>
            <a:ext cx="468000" cy="468000"/>
          </a:xfrm>
          <a:prstGeom prst="rect">
            <a:avLst/>
          </a:prstGeom>
        </p:spPr>
      </p:pic>
      <p:sp>
        <p:nvSpPr>
          <p:cNvPr id="123" name="Rectangle : coins arrondis 48">
            <a:extLst>
              <a:ext uri="{FF2B5EF4-FFF2-40B4-BE49-F238E27FC236}">
                <a16:creationId xmlns:a16="http://schemas.microsoft.com/office/drawing/2014/main" id="{94FD226B-53F6-CEE4-3A9B-C4BADC59EE9A}"/>
              </a:ext>
            </a:extLst>
          </p:cNvPr>
          <p:cNvSpPr/>
          <p:nvPr/>
        </p:nvSpPr>
        <p:spPr>
          <a:xfrm>
            <a:off x="2960824" y="2164945"/>
            <a:ext cx="1692253" cy="180000"/>
          </a:xfrm>
          <a:prstGeom prst="round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Automatic FR HR synchronization</a:t>
            </a:r>
          </a:p>
        </p:txBody>
      </p:sp>
      <p:sp>
        <p:nvSpPr>
          <p:cNvPr id="124" name="Rectangle : coins arrondis 55">
            <a:extLst>
              <a:ext uri="{FF2B5EF4-FFF2-40B4-BE49-F238E27FC236}">
                <a16:creationId xmlns:a16="http://schemas.microsoft.com/office/drawing/2014/main" id="{8F6D7C45-4429-FE69-3147-CDE3D52A673A}"/>
              </a:ext>
            </a:extLst>
          </p:cNvPr>
          <p:cNvSpPr/>
          <p:nvPr/>
        </p:nvSpPr>
        <p:spPr>
          <a:xfrm>
            <a:off x="3291039" y="2368399"/>
            <a:ext cx="1692253" cy="180000"/>
          </a:xfrm>
          <a:prstGeom prst="round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External FR identities manual entries</a:t>
            </a:r>
          </a:p>
        </p:txBody>
      </p:sp>
      <p:sp>
        <p:nvSpPr>
          <p:cNvPr id="125" name="Rectangle : coins arrondis 57">
            <a:extLst>
              <a:ext uri="{FF2B5EF4-FFF2-40B4-BE49-F238E27FC236}">
                <a16:creationId xmlns:a16="http://schemas.microsoft.com/office/drawing/2014/main" id="{DEF98A42-A2C1-7486-4913-F0E0C1BE7FF8}"/>
              </a:ext>
            </a:extLst>
          </p:cNvPr>
          <p:cNvSpPr/>
          <p:nvPr/>
        </p:nvSpPr>
        <p:spPr>
          <a:xfrm>
            <a:off x="9100563" y="2274427"/>
            <a:ext cx="1692253" cy="180000"/>
          </a:xfrm>
          <a:prstGeom prst="round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Automatic Global employees repository synchronization</a:t>
            </a:r>
          </a:p>
        </p:txBody>
      </p:sp>
      <p:sp>
        <p:nvSpPr>
          <p:cNvPr id="126" name="Rectangle : coins arrondis 58">
            <a:extLst>
              <a:ext uri="{FF2B5EF4-FFF2-40B4-BE49-F238E27FC236}">
                <a16:creationId xmlns:a16="http://schemas.microsoft.com/office/drawing/2014/main" id="{2773A65F-E8CF-FA8F-E347-F36F365615F9}"/>
              </a:ext>
            </a:extLst>
          </p:cNvPr>
          <p:cNvSpPr/>
          <p:nvPr/>
        </p:nvSpPr>
        <p:spPr>
          <a:xfrm>
            <a:off x="9126620" y="2016321"/>
            <a:ext cx="1692253" cy="180000"/>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HR unmanaged identities</a:t>
            </a:r>
          </a:p>
        </p:txBody>
      </p:sp>
      <p:sp>
        <p:nvSpPr>
          <p:cNvPr id="127" name="Rectangle : coins arrondis 60">
            <a:extLst>
              <a:ext uri="{FF2B5EF4-FFF2-40B4-BE49-F238E27FC236}">
                <a16:creationId xmlns:a16="http://schemas.microsoft.com/office/drawing/2014/main" id="{2DC5ED72-6A06-512C-AEF6-DBF216714032}"/>
              </a:ext>
            </a:extLst>
          </p:cNvPr>
          <p:cNvSpPr/>
          <p:nvPr/>
        </p:nvSpPr>
        <p:spPr>
          <a:xfrm>
            <a:off x="5280274" y="3557332"/>
            <a:ext cx="1507335" cy="190158"/>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Applicative profiles creation/review for selected apps</a:t>
            </a:r>
          </a:p>
        </p:txBody>
      </p:sp>
      <p:sp>
        <p:nvSpPr>
          <p:cNvPr id="128" name="Rectangle : coins arrondis 61">
            <a:extLst>
              <a:ext uri="{FF2B5EF4-FFF2-40B4-BE49-F238E27FC236}">
                <a16:creationId xmlns:a16="http://schemas.microsoft.com/office/drawing/2014/main" id="{2A6E8166-28A7-0FF5-0D26-B9806916A299}"/>
              </a:ext>
            </a:extLst>
          </p:cNvPr>
          <p:cNvSpPr/>
          <p:nvPr/>
        </p:nvSpPr>
        <p:spPr>
          <a:xfrm>
            <a:off x="5899984" y="3301660"/>
            <a:ext cx="1507335" cy="190158"/>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Initial business roles list</a:t>
            </a:r>
          </a:p>
        </p:txBody>
      </p:sp>
      <p:sp>
        <p:nvSpPr>
          <p:cNvPr id="129" name="Rectangle : coins arrondis 63">
            <a:extLst>
              <a:ext uri="{FF2B5EF4-FFF2-40B4-BE49-F238E27FC236}">
                <a16:creationId xmlns:a16="http://schemas.microsoft.com/office/drawing/2014/main" id="{4419A7EE-A268-E765-23F1-80BEB2829753}"/>
              </a:ext>
            </a:extLst>
          </p:cNvPr>
          <p:cNvSpPr/>
          <p:nvPr/>
        </p:nvSpPr>
        <p:spPr>
          <a:xfrm>
            <a:off x="7325451" y="3569584"/>
            <a:ext cx="733939" cy="190158"/>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Publish roles</a:t>
            </a:r>
          </a:p>
        </p:txBody>
      </p:sp>
      <p:sp>
        <p:nvSpPr>
          <p:cNvPr id="130" name="Rectangle : coins arrondis 65">
            <a:extLst>
              <a:ext uri="{FF2B5EF4-FFF2-40B4-BE49-F238E27FC236}">
                <a16:creationId xmlns:a16="http://schemas.microsoft.com/office/drawing/2014/main" id="{6060D273-3214-E6C2-88E8-E88FAB89BA63}"/>
              </a:ext>
            </a:extLst>
          </p:cNvPr>
          <p:cNvSpPr/>
          <p:nvPr/>
        </p:nvSpPr>
        <p:spPr>
          <a:xfrm>
            <a:off x="7761245" y="3297621"/>
            <a:ext cx="1507335" cy="190158"/>
          </a:xfrm>
          <a:prstGeom prst="round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Applicative profiles creation/review new apps</a:t>
            </a:r>
          </a:p>
        </p:txBody>
      </p:sp>
      <p:sp>
        <p:nvSpPr>
          <p:cNvPr id="131" name="Rectangle : coins arrondis 66">
            <a:extLst>
              <a:ext uri="{FF2B5EF4-FFF2-40B4-BE49-F238E27FC236}">
                <a16:creationId xmlns:a16="http://schemas.microsoft.com/office/drawing/2014/main" id="{EC5E0E78-D2F1-BABF-9439-E5D543CAE317}"/>
              </a:ext>
            </a:extLst>
          </p:cNvPr>
          <p:cNvSpPr/>
          <p:nvPr/>
        </p:nvSpPr>
        <p:spPr>
          <a:xfrm>
            <a:off x="9376384" y="3303755"/>
            <a:ext cx="1507335" cy="190158"/>
          </a:xfrm>
          <a:prstGeom prst="round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business roles enhancement / add</a:t>
            </a:r>
          </a:p>
        </p:txBody>
      </p:sp>
      <p:sp>
        <p:nvSpPr>
          <p:cNvPr id="132" name="Rectangle : coins arrondis 67">
            <a:extLst>
              <a:ext uri="{FF2B5EF4-FFF2-40B4-BE49-F238E27FC236}">
                <a16:creationId xmlns:a16="http://schemas.microsoft.com/office/drawing/2014/main" id="{9B5B506C-C623-1017-D632-9626B134CCD9}"/>
              </a:ext>
            </a:extLst>
          </p:cNvPr>
          <p:cNvSpPr/>
          <p:nvPr/>
        </p:nvSpPr>
        <p:spPr>
          <a:xfrm>
            <a:off x="10948926" y="3306243"/>
            <a:ext cx="733939" cy="190158"/>
          </a:xfrm>
          <a:prstGeom prst="round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Publish roles</a:t>
            </a:r>
          </a:p>
        </p:txBody>
      </p:sp>
      <p:sp>
        <p:nvSpPr>
          <p:cNvPr id="133" name="Rectangle : coins arrondis 68">
            <a:extLst>
              <a:ext uri="{FF2B5EF4-FFF2-40B4-BE49-F238E27FC236}">
                <a16:creationId xmlns:a16="http://schemas.microsoft.com/office/drawing/2014/main" id="{4BB668C4-EAD9-1A48-3833-71AA6CB03121}"/>
              </a:ext>
            </a:extLst>
          </p:cNvPr>
          <p:cNvSpPr/>
          <p:nvPr/>
        </p:nvSpPr>
        <p:spPr>
          <a:xfrm>
            <a:off x="3666576" y="4331338"/>
            <a:ext cx="956181" cy="338553"/>
          </a:xfrm>
          <a:prstGeom prst="roundRect">
            <a:avLst/>
          </a:prstGeom>
          <a:noFill/>
          <a:ln w="19050">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AD &amp; CPEOPLE</a:t>
            </a:r>
          </a:p>
          <a:p>
            <a:pPr algn="ctr"/>
            <a:r>
              <a:rPr lang="en-US" sz="600" dirty="0">
                <a:solidFill>
                  <a:schemeClr val="tx1"/>
                </a:solidFill>
                <a:latin typeface="Montserrat"/>
              </a:rPr>
              <a:t>connectors</a:t>
            </a:r>
          </a:p>
        </p:txBody>
      </p:sp>
      <p:sp>
        <p:nvSpPr>
          <p:cNvPr id="134" name="Rectangle : coins arrondis 69">
            <a:extLst>
              <a:ext uri="{FF2B5EF4-FFF2-40B4-BE49-F238E27FC236}">
                <a16:creationId xmlns:a16="http://schemas.microsoft.com/office/drawing/2014/main" id="{E6C2BCC9-2949-ADFD-5958-B0E7EBABB6B6}"/>
              </a:ext>
            </a:extLst>
          </p:cNvPr>
          <p:cNvSpPr/>
          <p:nvPr/>
        </p:nvSpPr>
        <p:spPr>
          <a:xfrm>
            <a:off x="4911998" y="4331338"/>
            <a:ext cx="6604589" cy="338553"/>
          </a:xfrm>
          <a:prstGeom prst="roundRect">
            <a:avLst/>
          </a:prstGeom>
          <a:noFill/>
          <a:ln w="19050">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New applications integration</a:t>
            </a:r>
          </a:p>
        </p:txBody>
      </p:sp>
      <p:grpSp>
        <p:nvGrpSpPr>
          <p:cNvPr id="135" name="Groupe 70">
            <a:extLst>
              <a:ext uri="{FF2B5EF4-FFF2-40B4-BE49-F238E27FC236}">
                <a16:creationId xmlns:a16="http://schemas.microsoft.com/office/drawing/2014/main" id="{4C5A5854-F34C-B2C6-933F-828F49D981C1}"/>
              </a:ext>
            </a:extLst>
          </p:cNvPr>
          <p:cNvGrpSpPr/>
          <p:nvPr/>
        </p:nvGrpSpPr>
        <p:grpSpPr>
          <a:xfrm>
            <a:off x="3533552" y="5790457"/>
            <a:ext cx="1694017" cy="428323"/>
            <a:chOff x="3533552" y="5790457"/>
            <a:chExt cx="1694017" cy="485914"/>
          </a:xfrm>
        </p:grpSpPr>
        <p:sp>
          <p:nvSpPr>
            <p:cNvPr id="170" name="Rectangle : coins arrondis 71">
              <a:extLst>
                <a:ext uri="{FF2B5EF4-FFF2-40B4-BE49-F238E27FC236}">
                  <a16:creationId xmlns:a16="http://schemas.microsoft.com/office/drawing/2014/main" id="{C6B3C4E3-D155-C448-FE47-7EDE10478D57}"/>
                </a:ext>
              </a:extLst>
            </p:cNvPr>
            <p:cNvSpPr/>
            <p:nvPr/>
          </p:nvSpPr>
          <p:spPr>
            <a:xfrm>
              <a:off x="3533552" y="5790457"/>
              <a:ext cx="1694017" cy="442175"/>
            </a:xfrm>
            <a:prstGeom prst="roundRect">
              <a:avLst>
                <a:gd name="adj" fmla="val 10679"/>
              </a:avLst>
            </a:prstGeom>
            <a:solidFill>
              <a:schemeClr val="bg1"/>
            </a:solidFill>
            <a:ln w="19050" cap="flat" cmpd="sng" algn="ctr">
              <a:solidFill>
                <a:srgbClr val="7030A0"/>
              </a:solidFill>
              <a:prstDash val="solid"/>
              <a:miter lim="800000"/>
            </a:ln>
            <a:effectLst/>
          </p:spPr>
          <p:txBody>
            <a:bodyPr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3C5A"/>
                </a:solidFill>
                <a:effectLst/>
                <a:uLnTx/>
                <a:uFillTx/>
                <a:latin typeface="Montserrat"/>
                <a:ea typeface="+mn-ea"/>
                <a:cs typeface="+mn-cs"/>
              </a:endParaRPr>
            </a:p>
          </p:txBody>
        </p:sp>
        <p:sp>
          <p:nvSpPr>
            <p:cNvPr id="171" name="ZoneTexte 72">
              <a:extLst>
                <a:ext uri="{FF2B5EF4-FFF2-40B4-BE49-F238E27FC236}">
                  <a16:creationId xmlns:a16="http://schemas.microsoft.com/office/drawing/2014/main" id="{05D69447-0D7A-D13C-1852-341A3ECEAADD}"/>
                </a:ext>
              </a:extLst>
            </p:cNvPr>
            <p:cNvSpPr txBox="1"/>
            <p:nvPr/>
          </p:nvSpPr>
          <p:spPr>
            <a:xfrm>
              <a:off x="3608350" y="5979586"/>
              <a:ext cx="1596359" cy="296785"/>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dirty="0">
                  <a:ln>
                    <a:noFill/>
                  </a:ln>
                  <a:solidFill>
                    <a:srgbClr val="003C5A"/>
                  </a:solidFill>
                  <a:effectLst/>
                  <a:uLnTx/>
                  <a:uFillTx/>
                  <a:latin typeface="Montserrat"/>
                </a:rPr>
                <a:t>1</a:t>
              </a:r>
              <a:r>
                <a:rPr kumimoji="0" lang="en-US" sz="550" b="1" i="0" u="none" strike="noStrike" kern="1200" cap="none" spc="0" normalizeH="0" baseline="30000" noProof="0" dirty="0">
                  <a:ln>
                    <a:noFill/>
                  </a:ln>
                  <a:solidFill>
                    <a:srgbClr val="003C5A"/>
                  </a:solidFill>
                  <a:effectLst/>
                  <a:uLnTx/>
                  <a:uFillTx/>
                  <a:latin typeface="Montserrat"/>
                </a:rPr>
                <a:t>st</a:t>
              </a:r>
              <a:r>
                <a:rPr kumimoji="0" lang="en-US" sz="550" b="1" i="0" u="none" strike="noStrike" kern="1200" cap="none" spc="0" normalizeH="0" baseline="0" noProof="0" dirty="0">
                  <a:ln>
                    <a:noFill/>
                  </a:ln>
                  <a:solidFill>
                    <a:srgbClr val="003C5A"/>
                  </a:solidFill>
                  <a:effectLst/>
                  <a:uLnTx/>
                  <a:uFillTx/>
                  <a:latin typeface="Montserrat"/>
                </a:rPr>
                <a:t> and 2</a:t>
              </a:r>
              <a:r>
                <a:rPr kumimoji="0" lang="en-US" sz="550" b="1" i="0" u="none" strike="noStrike" kern="1200" cap="none" spc="0" normalizeH="0" baseline="30000" noProof="0" dirty="0">
                  <a:ln>
                    <a:noFill/>
                  </a:ln>
                  <a:solidFill>
                    <a:srgbClr val="003C5A"/>
                  </a:solidFill>
                  <a:effectLst/>
                  <a:uLnTx/>
                  <a:uFillTx/>
                  <a:latin typeface="Montserrat"/>
                </a:rPr>
                <a:t>nd</a:t>
              </a:r>
              <a:r>
                <a:rPr kumimoji="0" lang="en-US" sz="550" b="1" i="0" u="none" strike="noStrike" kern="1200" cap="none" spc="0" normalizeH="0" baseline="0" noProof="0" dirty="0">
                  <a:ln>
                    <a:noFill/>
                  </a:ln>
                  <a:solidFill>
                    <a:srgbClr val="003C5A"/>
                  </a:solidFill>
                  <a:effectLst/>
                  <a:uLnTx/>
                  <a:uFillTx/>
                  <a:latin typeface="Montserrat"/>
                </a:rPr>
                <a:t> level (license office 365) FR users</a:t>
              </a:r>
              <a:endParaRPr lang="en-US" sz="550" b="1" i="0" u="none" strike="noStrike" kern="1200" cap="none" spc="0" normalizeH="0" baseline="0" noProof="0" dirty="0">
                <a:ln>
                  <a:noFill/>
                </a:ln>
                <a:solidFill>
                  <a:srgbClr val="003C5A"/>
                </a:solidFill>
                <a:effectLst/>
                <a:uLnTx/>
                <a:uFillTx/>
                <a:latin typeface="Montserrat"/>
              </a:endParaRPr>
            </a:p>
          </p:txBody>
        </p:sp>
        <p:pic>
          <p:nvPicPr>
            <p:cNvPr id="172" name="Picture 171" descr="Bad review free icon">
              <a:extLst>
                <a:ext uri="{FF2B5EF4-FFF2-40B4-BE49-F238E27FC236}">
                  <a16:creationId xmlns:a16="http://schemas.microsoft.com/office/drawing/2014/main" id="{14CEBD1B-33BE-90D7-4951-C8CD3CB851B7}"/>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301031" y="5849659"/>
              <a:ext cx="132548" cy="15529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6" name="Groupe 78">
            <a:extLst>
              <a:ext uri="{FF2B5EF4-FFF2-40B4-BE49-F238E27FC236}">
                <a16:creationId xmlns:a16="http://schemas.microsoft.com/office/drawing/2014/main" id="{7CB94F74-28DB-5035-7B9A-BEFD3B2DC64F}"/>
              </a:ext>
            </a:extLst>
          </p:cNvPr>
          <p:cNvGrpSpPr/>
          <p:nvPr/>
        </p:nvGrpSpPr>
        <p:grpSpPr>
          <a:xfrm>
            <a:off x="7212382" y="5565089"/>
            <a:ext cx="1694017" cy="428323"/>
            <a:chOff x="7212382" y="5565089"/>
            <a:chExt cx="1694017" cy="485914"/>
          </a:xfrm>
        </p:grpSpPr>
        <p:sp>
          <p:nvSpPr>
            <p:cNvPr id="167" name="Rectangle : coins arrondis 79">
              <a:extLst>
                <a:ext uri="{FF2B5EF4-FFF2-40B4-BE49-F238E27FC236}">
                  <a16:creationId xmlns:a16="http://schemas.microsoft.com/office/drawing/2014/main" id="{2714AC6E-58C7-B4A9-C87F-243240DD037A}"/>
                </a:ext>
              </a:extLst>
            </p:cNvPr>
            <p:cNvSpPr/>
            <p:nvPr/>
          </p:nvSpPr>
          <p:spPr>
            <a:xfrm>
              <a:off x="7212382" y="5565089"/>
              <a:ext cx="1694017" cy="442175"/>
            </a:xfrm>
            <a:prstGeom prst="roundRect">
              <a:avLst>
                <a:gd name="adj" fmla="val 10679"/>
              </a:avLst>
            </a:prstGeom>
            <a:solidFill>
              <a:schemeClr val="bg1"/>
            </a:solidFill>
            <a:ln w="19050" cap="flat" cmpd="sng" algn="ctr">
              <a:solidFill>
                <a:srgbClr val="7030A0"/>
              </a:solidFill>
              <a:prstDash val="solid"/>
              <a:miter lim="800000"/>
            </a:ln>
            <a:effectLst/>
          </p:spPr>
          <p:txBody>
            <a:bodyPr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3C5A"/>
                </a:solidFill>
                <a:effectLst/>
                <a:uLnTx/>
                <a:uFillTx/>
                <a:latin typeface="Montserrat"/>
                <a:ea typeface="+mn-ea"/>
                <a:cs typeface="+mn-cs"/>
              </a:endParaRPr>
            </a:p>
          </p:txBody>
        </p:sp>
        <p:sp>
          <p:nvSpPr>
            <p:cNvPr id="168" name="ZoneTexte 80">
              <a:extLst>
                <a:ext uri="{FF2B5EF4-FFF2-40B4-BE49-F238E27FC236}">
                  <a16:creationId xmlns:a16="http://schemas.microsoft.com/office/drawing/2014/main" id="{5297EE02-7F32-8757-C4C2-D8AE21B5C1E5}"/>
                </a:ext>
              </a:extLst>
            </p:cNvPr>
            <p:cNvSpPr txBox="1"/>
            <p:nvPr/>
          </p:nvSpPr>
          <p:spPr>
            <a:xfrm>
              <a:off x="7287180" y="5754218"/>
              <a:ext cx="1596359" cy="296785"/>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kumimoji="0" lang="en-US" sz="550" b="1" i="0" u="none" strike="noStrike" kern="1200" cap="none" spc="0" normalizeH="0" baseline="0" noProof="0" dirty="0">
                  <a:ln>
                    <a:noFill/>
                  </a:ln>
                  <a:solidFill>
                    <a:srgbClr val="003C5A"/>
                  </a:solidFill>
                  <a:effectLst/>
                  <a:uLnTx/>
                  <a:uFillTx/>
                  <a:latin typeface="Montserrat"/>
                </a:rPr>
                <a:t>1</a:t>
              </a:r>
              <a:r>
                <a:rPr kumimoji="0" lang="en-US" sz="550" b="1" i="0" u="none" strike="noStrike" kern="1200" cap="none" spc="0" normalizeH="0" baseline="30000" noProof="0" dirty="0">
                  <a:ln>
                    <a:noFill/>
                  </a:ln>
                  <a:solidFill>
                    <a:srgbClr val="003C5A"/>
                  </a:solidFill>
                  <a:effectLst/>
                  <a:uLnTx/>
                  <a:uFillTx/>
                  <a:latin typeface="Montserrat"/>
                </a:rPr>
                <a:t>st</a:t>
              </a:r>
              <a:r>
                <a:rPr kumimoji="0" lang="en-US" sz="550" b="1" i="0" u="none" strike="noStrike" kern="1200" cap="none" spc="0" normalizeH="0" baseline="0" noProof="0" dirty="0">
                  <a:ln>
                    <a:noFill/>
                  </a:ln>
                  <a:solidFill>
                    <a:srgbClr val="003C5A"/>
                  </a:solidFill>
                  <a:effectLst/>
                  <a:uLnTx/>
                  <a:uFillTx/>
                  <a:latin typeface="Montserrat"/>
                </a:rPr>
                <a:t> and 2</a:t>
              </a:r>
              <a:r>
                <a:rPr kumimoji="0" lang="en-US" sz="550" b="1" i="0" u="none" strike="noStrike" kern="1200" cap="none" spc="0" normalizeH="0" baseline="30000" noProof="0" dirty="0">
                  <a:ln>
                    <a:noFill/>
                  </a:ln>
                  <a:solidFill>
                    <a:srgbClr val="003C5A"/>
                  </a:solidFill>
                  <a:effectLst/>
                  <a:uLnTx/>
                  <a:uFillTx/>
                  <a:latin typeface="Montserrat"/>
                </a:rPr>
                <a:t>nd</a:t>
              </a:r>
              <a:r>
                <a:rPr kumimoji="0" lang="en-US" sz="550" b="1" i="0" u="none" strike="noStrike" kern="1200" cap="none" spc="0" normalizeH="0" baseline="0" noProof="0" dirty="0">
                  <a:ln>
                    <a:noFill/>
                  </a:ln>
                  <a:solidFill>
                    <a:srgbClr val="003C5A"/>
                  </a:solidFill>
                  <a:effectLst/>
                  <a:uLnTx/>
                  <a:uFillTx/>
                  <a:latin typeface="Montserrat"/>
                </a:rPr>
                <a:t> level (license office 365) </a:t>
              </a:r>
              <a:r>
                <a:rPr lang="en-US" sz="550" b="1" dirty="0">
                  <a:solidFill>
                    <a:srgbClr val="003C5A"/>
                  </a:solidFill>
                  <a:latin typeface="Montserrat"/>
                </a:rPr>
                <a:t>new entity </a:t>
              </a:r>
              <a:r>
                <a:rPr kumimoji="0" lang="en-US" sz="550" b="1" i="0" u="none" strike="noStrike" kern="1200" cap="none" spc="0" normalizeH="0" baseline="0" noProof="0" dirty="0">
                  <a:ln>
                    <a:noFill/>
                  </a:ln>
                  <a:solidFill>
                    <a:srgbClr val="003C5A"/>
                  </a:solidFill>
                  <a:effectLst/>
                  <a:uLnTx/>
                  <a:uFillTx/>
                  <a:latin typeface="Montserrat"/>
                </a:rPr>
                <a:t> users</a:t>
              </a:r>
              <a:endParaRPr lang="en-US" sz="550" b="1" i="0" u="none" strike="noStrike" kern="1200" cap="none" spc="0" normalizeH="0" baseline="0" noProof="0" dirty="0">
                <a:ln>
                  <a:noFill/>
                </a:ln>
                <a:solidFill>
                  <a:srgbClr val="003C5A"/>
                </a:solidFill>
                <a:effectLst/>
                <a:uLnTx/>
                <a:uFillTx/>
                <a:latin typeface="Montserrat"/>
              </a:endParaRPr>
            </a:p>
          </p:txBody>
        </p:sp>
        <p:pic>
          <p:nvPicPr>
            <p:cNvPr id="169" name="Picture 168" descr="Bad review free icon">
              <a:extLst>
                <a:ext uri="{FF2B5EF4-FFF2-40B4-BE49-F238E27FC236}">
                  <a16:creationId xmlns:a16="http://schemas.microsoft.com/office/drawing/2014/main" id="{F91B0904-038C-0A35-3E9C-D9E8AF8DFA03}"/>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979861" y="5624291"/>
              <a:ext cx="132548" cy="15529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7" name="Groupe 83">
            <a:extLst>
              <a:ext uri="{FF2B5EF4-FFF2-40B4-BE49-F238E27FC236}">
                <a16:creationId xmlns:a16="http://schemas.microsoft.com/office/drawing/2014/main" id="{6FEB19BF-814A-20F8-EA69-C28AD299B5F2}"/>
              </a:ext>
            </a:extLst>
          </p:cNvPr>
          <p:cNvGrpSpPr/>
          <p:nvPr/>
        </p:nvGrpSpPr>
        <p:grpSpPr>
          <a:xfrm>
            <a:off x="9850327" y="5559692"/>
            <a:ext cx="1694017" cy="428323"/>
            <a:chOff x="9850327" y="5559692"/>
            <a:chExt cx="1694017" cy="485914"/>
          </a:xfrm>
        </p:grpSpPr>
        <p:sp>
          <p:nvSpPr>
            <p:cNvPr id="164" name="Rectangle : coins arrondis 84">
              <a:extLst>
                <a:ext uri="{FF2B5EF4-FFF2-40B4-BE49-F238E27FC236}">
                  <a16:creationId xmlns:a16="http://schemas.microsoft.com/office/drawing/2014/main" id="{A8DEB62C-7A6E-B8CB-E7C2-ED7FC76B1764}"/>
                </a:ext>
              </a:extLst>
            </p:cNvPr>
            <p:cNvSpPr/>
            <p:nvPr/>
          </p:nvSpPr>
          <p:spPr>
            <a:xfrm>
              <a:off x="9850327" y="5559692"/>
              <a:ext cx="1694017" cy="442175"/>
            </a:xfrm>
            <a:prstGeom prst="roundRect">
              <a:avLst>
                <a:gd name="adj" fmla="val 10679"/>
              </a:avLst>
            </a:prstGeom>
            <a:solidFill>
              <a:schemeClr val="bg1"/>
            </a:solidFill>
            <a:ln w="19050" cap="flat" cmpd="sng" algn="ctr">
              <a:solidFill>
                <a:srgbClr val="7030A0"/>
              </a:solidFill>
              <a:prstDash val="solid"/>
              <a:miter lim="800000"/>
            </a:ln>
            <a:effectLst/>
          </p:spPr>
          <p:txBody>
            <a:bodyPr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3C5A"/>
                </a:solidFill>
                <a:effectLst/>
                <a:uLnTx/>
                <a:uFillTx/>
                <a:latin typeface="Montserrat"/>
                <a:ea typeface="+mn-ea"/>
                <a:cs typeface="+mn-cs"/>
              </a:endParaRPr>
            </a:p>
          </p:txBody>
        </p:sp>
        <p:sp>
          <p:nvSpPr>
            <p:cNvPr id="165" name="ZoneTexte 85">
              <a:extLst>
                <a:ext uri="{FF2B5EF4-FFF2-40B4-BE49-F238E27FC236}">
                  <a16:creationId xmlns:a16="http://schemas.microsoft.com/office/drawing/2014/main" id="{C711010A-7B85-EA34-335E-16FC53F37A84}"/>
                </a:ext>
              </a:extLst>
            </p:cNvPr>
            <p:cNvSpPr txBox="1"/>
            <p:nvPr/>
          </p:nvSpPr>
          <p:spPr>
            <a:xfrm>
              <a:off x="9925125" y="5748821"/>
              <a:ext cx="1596359" cy="296785"/>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dirty="0">
                  <a:ln>
                    <a:noFill/>
                  </a:ln>
                  <a:solidFill>
                    <a:srgbClr val="003C5A"/>
                  </a:solidFill>
                  <a:effectLst/>
                  <a:uLnTx/>
                  <a:uFillTx/>
                  <a:latin typeface="Montserrat"/>
                </a:rPr>
                <a:t>1</a:t>
              </a:r>
              <a:r>
                <a:rPr kumimoji="0" lang="en-US" sz="550" b="1" i="0" u="none" strike="noStrike" kern="1200" cap="none" spc="0" normalizeH="0" baseline="30000" noProof="0" dirty="0">
                  <a:ln>
                    <a:noFill/>
                  </a:ln>
                  <a:solidFill>
                    <a:srgbClr val="003C5A"/>
                  </a:solidFill>
                  <a:effectLst/>
                  <a:uLnTx/>
                  <a:uFillTx/>
                  <a:latin typeface="Montserrat"/>
                </a:rPr>
                <a:t>st</a:t>
              </a:r>
              <a:r>
                <a:rPr kumimoji="0" lang="en-US" sz="550" b="1" i="0" u="none" strike="noStrike" kern="1200" cap="none" spc="0" normalizeH="0" baseline="0" noProof="0" dirty="0">
                  <a:ln>
                    <a:noFill/>
                  </a:ln>
                  <a:solidFill>
                    <a:srgbClr val="003C5A"/>
                  </a:solidFill>
                  <a:effectLst/>
                  <a:uLnTx/>
                  <a:uFillTx/>
                  <a:latin typeface="Montserrat"/>
                </a:rPr>
                <a:t> and 2</a:t>
              </a:r>
              <a:r>
                <a:rPr kumimoji="0" lang="en-US" sz="550" b="1" i="0" u="none" strike="noStrike" kern="1200" cap="none" spc="0" normalizeH="0" baseline="30000" noProof="0" dirty="0">
                  <a:ln>
                    <a:noFill/>
                  </a:ln>
                  <a:solidFill>
                    <a:srgbClr val="003C5A"/>
                  </a:solidFill>
                  <a:effectLst/>
                  <a:uLnTx/>
                  <a:uFillTx/>
                  <a:latin typeface="Montserrat"/>
                </a:rPr>
                <a:t>nd</a:t>
              </a:r>
              <a:r>
                <a:rPr kumimoji="0" lang="en-US" sz="550" b="1" i="0" u="none" strike="noStrike" kern="1200" cap="none" spc="0" normalizeH="0" baseline="0" noProof="0" dirty="0">
                  <a:ln>
                    <a:noFill/>
                  </a:ln>
                  <a:solidFill>
                    <a:srgbClr val="003C5A"/>
                  </a:solidFill>
                  <a:effectLst/>
                  <a:uLnTx/>
                  <a:uFillTx/>
                  <a:latin typeface="Montserrat"/>
                </a:rPr>
                <a:t> level (license office 365) new entity users</a:t>
              </a:r>
              <a:endParaRPr lang="en-US" sz="550" b="1" i="0" u="none" strike="noStrike" kern="1200" cap="none" spc="0" normalizeH="0" baseline="0" noProof="0" dirty="0">
                <a:ln>
                  <a:noFill/>
                </a:ln>
                <a:solidFill>
                  <a:srgbClr val="003C5A"/>
                </a:solidFill>
                <a:effectLst/>
                <a:uLnTx/>
                <a:uFillTx/>
                <a:latin typeface="Montserrat"/>
              </a:endParaRPr>
            </a:p>
          </p:txBody>
        </p:sp>
        <p:pic>
          <p:nvPicPr>
            <p:cNvPr id="166" name="Picture 165" descr="Bad review free icon">
              <a:extLst>
                <a:ext uri="{FF2B5EF4-FFF2-40B4-BE49-F238E27FC236}">
                  <a16:creationId xmlns:a16="http://schemas.microsoft.com/office/drawing/2014/main" id="{CACE1C7F-A11D-3C24-31C5-CC1820C9DB8A}"/>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0617806" y="5618894"/>
              <a:ext cx="132548" cy="15529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8" name="Groupe 87">
            <a:extLst>
              <a:ext uri="{FF2B5EF4-FFF2-40B4-BE49-F238E27FC236}">
                <a16:creationId xmlns:a16="http://schemas.microsoft.com/office/drawing/2014/main" id="{257F1636-EBF7-223D-2BE8-AEF583D320B4}"/>
              </a:ext>
            </a:extLst>
          </p:cNvPr>
          <p:cNvGrpSpPr/>
          <p:nvPr/>
        </p:nvGrpSpPr>
        <p:grpSpPr>
          <a:xfrm>
            <a:off x="6347274" y="6051158"/>
            <a:ext cx="1694017" cy="389768"/>
            <a:chOff x="6347274" y="6051158"/>
            <a:chExt cx="1694017" cy="442175"/>
          </a:xfrm>
        </p:grpSpPr>
        <p:sp>
          <p:nvSpPr>
            <p:cNvPr id="161" name="Rectangle : coins arrondis 88">
              <a:extLst>
                <a:ext uri="{FF2B5EF4-FFF2-40B4-BE49-F238E27FC236}">
                  <a16:creationId xmlns:a16="http://schemas.microsoft.com/office/drawing/2014/main" id="{3D5A8589-429B-6C11-F16E-E44382094B01}"/>
                </a:ext>
              </a:extLst>
            </p:cNvPr>
            <p:cNvSpPr/>
            <p:nvPr/>
          </p:nvSpPr>
          <p:spPr>
            <a:xfrm>
              <a:off x="6347274" y="6051158"/>
              <a:ext cx="1694017" cy="442175"/>
            </a:xfrm>
            <a:prstGeom prst="roundRect">
              <a:avLst>
                <a:gd name="adj" fmla="val 10679"/>
              </a:avLst>
            </a:prstGeom>
            <a:solidFill>
              <a:schemeClr val="bg1"/>
            </a:solidFill>
            <a:ln w="19050" cap="flat" cmpd="sng" algn="ctr">
              <a:solidFill>
                <a:srgbClr val="7030A0"/>
              </a:solidFill>
              <a:prstDash val="solid"/>
              <a:miter lim="800000"/>
            </a:ln>
            <a:effectLst/>
          </p:spPr>
          <p:txBody>
            <a:bodyPr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3C5A"/>
                </a:solidFill>
                <a:effectLst/>
                <a:uLnTx/>
                <a:uFillTx/>
                <a:latin typeface="Montserrat"/>
                <a:ea typeface="+mn-ea"/>
                <a:cs typeface="+mn-cs"/>
              </a:endParaRPr>
            </a:p>
          </p:txBody>
        </p:sp>
        <p:sp>
          <p:nvSpPr>
            <p:cNvPr id="162" name="ZoneTexte 89">
              <a:extLst>
                <a:ext uri="{FF2B5EF4-FFF2-40B4-BE49-F238E27FC236}">
                  <a16:creationId xmlns:a16="http://schemas.microsoft.com/office/drawing/2014/main" id="{4E100F0D-566F-2AD3-2F64-B4D32D11F8C0}"/>
                </a:ext>
              </a:extLst>
            </p:cNvPr>
            <p:cNvSpPr txBox="1"/>
            <p:nvPr/>
          </p:nvSpPr>
          <p:spPr>
            <a:xfrm>
              <a:off x="6422072" y="6240287"/>
              <a:ext cx="1596359" cy="200767"/>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dirty="0">
                  <a:ln>
                    <a:noFill/>
                  </a:ln>
                  <a:solidFill>
                    <a:srgbClr val="003C5A"/>
                  </a:solidFill>
                  <a:effectLst/>
                  <a:uLnTx/>
                  <a:uFillTx/>
                  <a:latin typeface="Montserrat"/>
                </a:rPr>
                <a:t>3</a:t>
              </a:r>
              <a:r>
                <a:rPr kumimoji="0" lang="en-US" sz="550" b="1" i="0" u="none" strike="noStrike" kern="1200" cap="none" spc="0" normalizeH="0" baseline="30000" noProof="0" dirty="0">
                  <a:ln>
                    <a:noFill/>
                  </a:ln>
                  <a:solidFill>
                    <a:srgbClr val="003C5A"/>
                  </a:solidFill>
                  <a:effectLst/>
                  <a:uLnTx/>
                  <a:uFillTx/>
                  <a:latin typeface="Montserrat"/>
                </a:rPr>
                <a:t>rd</a:t>
              </a:r>
              <a:r>
                <a:rPr kumimoji="0" lang="en-US" sz="550" b="1" i="0" u="none" strike="noStrike" kern="1200" cap="none" spc="0" normalizeH="0" baseline="0" noProof="0" dirty="0">
                  <a:ln>
                    <a:noFill/>
                  </a:ln>
                  <a:solidFill>
                    <a:srgbClr val="003C5A"/>
                  </a:solidFill>
                  <a:effectLst/>
                  <a:uLnTx/>
                  <a:uFillTx/>
                  <a:latin typeface="Montserrat"/>
                </a:rPr>
                <a:t> level control FR users</a:t>
              </a:r>
              <a:endParaRPr lang="en-US" sz="550" b="1" i="0" u="none" strike="noStrike" kern="1200" cap="none" spc="0" normalizeH="0" baseline="0" noProof="0" dirty="0">
                <a:ln>
                  <a:noFill/>
                </a:ln>
                <a:solidFill>
                  <a:srgbClr val="003C5A"/>
                </a:solidFill>
                <a:effectLst/>
                <a:uLnTx/>
                <a:uFillTx/>
                <a:latin typeface="Montserrat"/>
              </a:endParaRPr>
            </a:p>
          </p:txBody>
        </p:sp>
        <p:pic>
          <p:nvPicPr>
            <p:cNvPr id="163" name="Picture 162" descr="Bad review free icon">
              <a:extLst>
                <a:ext uri="{FF2B5EF4-FFF2-40B4-BE49-F238E27FC236}">
                  <a16:creationId xmlns:a16="http://schemas.microsoft.com/office/drawing/2014/main" id="{6E9EBF53-ECE5-6504-0308-94658D5BF2AE}"/>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114753" y="6110360"/>
              <a:ext cx="132548" cy="15529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9" name="Groupe 96">
            <a:extLst>
              <a:ext uri="{FF2B5EF4-FFF2-40B4-BE49-F238E27FC236}">
                <a16:creationId xmlns:a16="http://schemas.microsoft.com/office/drawing/2014/main" id="{8F283245-EB84-6E2E-A631-6263B8F187CF}"/>
              </a:ext>
            </a:extLst>
          </p:cNvPr>
          <p:cNvGrpSpPr/>
          <p:nvPr/>
        </p:nvGrpSpPr>
        <p:grpSpPr>
          <a:xfrm>
            <a:off x="9058204" y="6080011"/>
            <a:ext cx="2617859" cy="389768"/>
            <a:chOff x="9058204" y="6080011"/>
            <a:chExt cx="2617859" cy="442175"/>
          </a:xfrm>
        </p:grpSpPr>
        <p:sp>
          <p:nvSpPr>
            <p:cNvPr id="158" name="Rectangle : coins arrondis 97">
              <a:extLst>
                <a:ext uri="{FF2B5EF4-FFF2-40B4-BE49-F238E27FC236}">
                  <a16:creationId xmlns:a16="http://schemas.microsoft.com/office/drawing/2014/main" id="{96E96B0A-CE97-BA60-18F5-340CA68606E5}"/>
                </a:ext>
              </a:extLst>
            </p:cNvPr>
            <p:cNvSpPr/>
            <p:nvPr/>
          </p:nvSpPr>
          <p:spPr>
            <a:xfrm>
              <a:off x="9058204" y="6080011"/>
              <a:ext cx="2617859" cy="442175"/>
            </a:xfrm>
            <a:prstGeom prst="roundRect">
              <a:avLst>
                <a:gd name="adj" fmla="val 10679"/>
              </a:avLst>
            </a:prstGeom>
            <a:solidFill>
              <a:schemeClr val="bg1"/>
            </a:solidFill>
            <a:ln w="19050" cap="flat" cmpd="sng" algn="ctr">
              <a:solidFill>
                <a:srgbClr val="7030A0"/>
              </a:solidFill>
              <a:prstDash val="dash"/>
              <a:miter lim="800000"/>
            </a:ln>
            <a:effectLst/>
          </p:spPr>
          <p:txBody>
            <a:bodyPr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3C5A"/>
                </a:solidFill>
                <a:effectLst/>
                <a:uLnTx/>
                <a:uFillTx/>
                <a:latin typeface="Montserrat"/>
                <a:ea typeface="+mn-ea"/>
                <a:cs typeface="+mn-cs"/>
              </a:endParaRPr>
            </a:p>
          </p:txBody>
        </p:sp>
        <p:sp>
          <p:nvSpPr>
            <p:cNvPr id="159" name="ZoneTexte 98">
              <a:extLst>
                <a:ext uri="{FF2B5EF4-FFF2-40B4-BE49-F238E27FC236}">
                  <a16:creationId xmlns:a16="http://schemas.microsoft.com/office/drawing/2014/main" id="{3F88CD86-D890-E68A-3E04-67E49994C1E1}"/>
                </a:ext>
              </a:extLst>
            </p:cNvPr>
            <p:cNvSpPr txBox="1"/>
            <p:nvPr/>
          </p:nvSpPr>
          <p:spPr>
            <a:xfrm>
              <a:off x="9217556" y="6269140"/>
              <a:ext cx="2299032" cy="200767"/>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dirty="0">
                  <a:ln>
                    <a:noFill/>
                  </a:ln>
                  <a:solidFill>
                    <a:srgbClr val="003C5A"/>
                  </a:solidFill>
                  <a:effectLst/>
                  <a:uLnTx/>
                  <a:uFillTx/>
                  <a:latin typeface="Montserrat"/>
                </a:rPr>
                <a:t>3</a:t>
              </a:r>
              <a:r>
                <a:rPr kumimoji="0" lang="en-US" sz="550" b="1" i="0" u="none" strike="noStrike" kern="1200" cap="none" spc="0" normalizeH="0" baseline="30000" noProof="0" dirty="0">
                  <a:ln>
                    <a:noFill/>
                  </a:ln>
                  <a:solidFill>
                    <a:srgbClr val="003C5A"/>
                  </a:solidFill>
                  <a:effectLst/>
                  <a:uLnTx/>
                  <a:uFillTx/>
                  <a:latin typeface="Montserrat"/>
                </a:rPr>
                <a:t>rd</a:t>
              </a:r>
              <a:r>
                <a:rPr kumimoji="0" lang="en-US" sz="550" b="1" i="0" u="none" strike="noStrike" kern="1200" cap="none" spc="0" normalizeH="0" baseline="0" noProof="0" dirty="0">
                  <a:ln>
                    <a:noFill/>
                  </a:ln>
                  <a:solidFill>
                    <a:srgbClr val="003C5A"/>
                  </a:solidFill>
                  <a:effectLst/>
                  <a:uLnTx/>
                  <a:uFillTx/>
                  <a:latin typeface="Montserrat"/>
                </a:rPr>
                <a:t> level control integrated identities and business roles</a:t>
              </a:r>
              <a:endParaRPr lang="en-US" sz="550" b="1" i="0" u="none" strike="noStrike" kern="1200" cap="none" spc="0" normalizeH="0" baseline="0" noProof="0" dirty="0">
                <a:ln>
                  <a:noFill/>
                </a:ln>
                <a:solidFill>
                  <a:srgbClr val="003C5A"/>
                </a:solidFill>
                <a:effectLst/>
                <a:uLnTx/>
                <a:uFillTx/>
                <a:latin typeface="Montserrat"/>
              </a:endParaRPr>
            </a:p>
          </p:txBody>
        </p:sp>
        <p:pic>
          <p:nvPicPr>
            <p:cNvPr id="160" name="Picture 159" descr="Bad review free icon">
              <a:extLst>
                <a:ext uri="{FF2B5EF4-FFF2-40B4-BE49-F238E27FC236}">
                  <a16:creationId xmlns:a16="http://schemas.microsoft.com/office/drawing/2014/main" id="{1B074E41-548B-09C1-183B-1F517AF9381A}"/>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0268889" y="6139213"/>
              <a:ext cx="132548" cy="155299"/>
            </a:xfrm>
            <a:prstGeom prst="rect">
              <a:avLst/>
            </a:prstGeom>
            <a:noFill/>
            <a:extLst>
              <a:ext uri="{909E8E84-426E-40DD-AFC4-6F175D3DCCD1}">
                <a14:hiddenFill xmlns:a14="http://schemas.microsoft.com/office/drawing/2010/main">
                  <a:solidFill>
                    <a:srgbClr val="FFFFFF"/>
                  </a:solidFill>
                </a14:hiddenFill>
              </a:ext>
            </a:extLst>
          </p:spPr>
        </p:pic>
      </p:grpSp>
      <p:pic>
        <p:nvPicPr>
          <p:cNvPr id="140" name="Picture 139" descr="Bad review free icon">
            <a:extLst>
              <a:ext uri="{FF2B5EF4-FFF2-40B4-BE49-F238E27FC236}">
                <a16:creationId xmlns:a16="http://schemas.microsoft.com/office/drawing/2014/main" id="{715F2EA1-5EA1-88C1-5C93-9E46975B7840}"/>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48736" y="5525973"/>
            <a:ext cx="453146" cy="468000"/>
          </a:xfrm>
          <a:prstGeom prst="rect">
            <a:avLst/>
          </a:prstGeom>
          <a:noFill/>
          <a:extLst>
            <a:ext uri="{909E8E84-426E-40DD-AFC4-6F175D3DCCD1}">
              <a14:hiddenFill xmlns:a14="http://schemas.microsoft.com/office/drawing/2010/main">
                <a:solidFill>
                  <a:srgbClr val="FFFFFF"/>
                </a:solidFill>
              </a14:hiddenFill>
            </a:ext>
          </a:extLst>
        </p:spPr>
      </p:pic>
      <p:sp>
        <p:nvSpPr>
          <p:cNvPr id="141" name="ZoneTexte 102">
            <a:extLst>
              <a:ext uri="{FF2B5EF4-FFF2-40B4-BE49-F238E27FC236}">
                <a16:creationId xmlns:a16="http://schemas.microsoft.com/office/drawing/2014/main" id="{7EF934D1-0B2A-851E-9DDE-6AD7B65B6B84}"/>
              </a:ext>
            </a:extLst>
          </p:cNvPr>
          <p:cNvSpPr txBox="1"/>
          <p:nvPr/>
        </p:nvSpPr>
        <p:spPr>
          <a:xfrm>
            <a:off x="1325267" y="1541994"/>
            <a:ext cx="887442" cy="276999"/>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latin typeface="Montserrat"/>
              </a:rPr>
              <a:t>Enablers</a:t>
            </a:r>
          </a:p>
        </p:txBody>
      </p:sp>
      <p:grpSp>
        <p:nvGrpSpPr>
          <p:cNvPr id="142" name="Groupe 103">
            <a:extLst>
              <a:ext uri="{FF2B5EF4-FFF2-40B4-BE49-F238E27FC236}">
                <a16:creationId xmlns:a16="http://schemas.microsoft.com/office/drawing/2014/main" id="{E3D9466A-03EB-748C-4BC3-1D8A9201BB1F}"/>
              </a:ext>
            </a:extLst>
          </p:cNvPr>
          <p:cNvGrpSpPr/>
          <p:nvPr/>
        </p:nvGrpSpPr>
        <p:grpSpPr>
          <a:xfrm>
            <a:off x="1202836" y="5559692"/>
            <a:ext cx="1726598" cy="587188"/>
            <a:chOff x="1202836" y="5559692"/>
            <a:chExt cx="1307563" cy="587188"/>
          </a:xfrm>
        </p:grpSpPr>
        <p:sp>
          <p:nvSpPr>
            <p:cNvPr id="154" name="Rectangle : coins arrondis 104">
              <a:extLst>
                <a:ext uri="{FF2B5EF4-FFF2-40B4-BE49-F238E27FC236}">
                  <a16:creationId xmlns:a16="http://schemas.microsoft.com/office/drawing/2014/main" id="{9CE0CE2A-4FF4-A393-2AEF-4626C793A380}"/>
                </a:ext>
              </a:extLst>
            </p:cNvPr>
            <p:cNvSpPr/>
            <p:nvPr/>
          </p:nvSpPr>
          <p:spPr>
            <a:xfrm>
              <a:off x="1295554" y="5559692"/>
              <a:ext cx="1179077" cy="546546"/>
            </a:xfrm>
            <a:prstGeom prst="roundRect">
              <a:avLst>
                <a:gd name="adj" fmla="val 10679"/>
              </a:avLst>
            </a:prstGeom>
            <a:solidFill>
              <a:schemeClr val="bg1"/>
            </a:solidFill>
            <a:ln w="19050" cap="flat" cmpd="sng" algn="ctr">
              <a:solidFill>
                <a:schemeClr val="accent1"/>
              </a:solidFill>
              <a:prstDash val="solid"/>
              <a:miter lim="800000"/>
            </a:ln>
            <a:effectLst/>
          </p:spPr>
          <p:txBody>
            <a:bodyPr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3C5A"/>
                </a:solidFill>
                <a:effectLst/>
                <a:uLnTx/>
                <a:uFillTx/>
                <a:latin typeface="Montserrat"/>
                <a:ea typeface="+mn-ea"/>
                <a:cs typeface="+mn-cs"/>
              </a:endParaRPr>
            </a:p>
          </p:txBody>
        </p:sp>
        <p:pic>
          <p:nvPicPr>
            <p:cNvPr id="155" name="Image 105">
              <a:extLst>
                <a:ext uri="{FF2B5EF4-FFF2-40B4-BE49-F238E27FC236}">
                  <a16:creationId xmlns:a16="http://schemas.microsoft.com/office/drawing/2014/main" id="{6F7FFF16-527B-0290-FF06-F62014C94FA7}"/>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1726092" y="5569611"/>
              <a:ext cx="180166" cy="180166"/>
            </a:xfrm>
            <a:prstGeom prst="rect">
              <a:avLst/>
            </a:prstGeom>
          </p:spPr>
        </p:pic>
        <p:sp>
          <p:nvSpPr>
            <p:cNvPr id="156" name="ZoneTexte 106">
              <a:extLst>
                <a:ext uri="{FF2B5EF4-FFF2-40B4-BE49-F238E27FC236}">
                  <a16:creationId xmlns:a16="http://schemas.microsoft.com/office/drawing/2014/main" id="{F61277C5-348D-092C-18CF-98AA52DA5448}"/>
                </a:ext>
              </a:extLst>
            </p:cNvPr>
            <p:cNvSpPr txBox="1"/>
            <p:nvPr/>
          </p:nvSpPr>
          <p:spPr>
            <a:xfrm>
              <a:off x="1202836" y="5685438"/>
              <a:ext cx="1307563" cy="184666"/>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 b="1" i="0" u="none" strike="noStrike" kern="1200" cap="none" spc="0" normalizeH="0" baseline="0" noProof="0" dirty="0">
                  <a:ln>
                    <a:noFill/>
                  </a:ln>
                  <a:solidFill>
                    <a:srgbClr val="003C5A"/>
                  </a:solidFill>
                  <a:effectLst/>
                  <a:uLnTx/>
                  <a:uFillTx/>
                  <a:latin typeface="Montserrat"/>
                </a:rPr>
                <a:t>Governance</a:t>
              </a:r>
              <a:endParaRPr lang="en-US" sz="600" b="1" i="0" u="none" strike="noStrike" kern="1200" cap="none" spc="0" normalizeH="0" baseline="0" noProof="0" dirty="0">
                <a:ln>
                  <a:noFill/>
                </a:ln>
                <a:solidFill>
                  <a:srgbClr val="003C5A"/>
                </a:solidFill>
                <a:effectLst/>
                <a:uLnTx/>
                <a:uFillTx/>
                <a:latin typeface="Montserrat"/>
              </a:endParaRPr>
            </a:p>
          </p:txBody>
        </p:sp>
        <p:sp>
          <p:nvSpPr>
            <p:cNvPr id="157" name="ZoneTexte 107">
              <a:extLst>
                <a:ext uri="{FF2B5EF4-FFF2-40B4-BE49-F238E27FC236}">
                  <a16:creationId xmlns:a16="http://schemas.microsoft.com/office/drawing/2014/main" id="{4F2EEDCE-A299-75B9-A92F-89DE35400D7A}"/>
                </a:ext>
              </a:extLst>
            </p:cNvPr>
            <p:cNvSpPr txBox="1"/>
            <p:nvPr/>
          </p:nvSpPr>
          <p:spPr>
            <a:xfrm>
              <a:off x="1551436" y="5800631"/>
              <a:ext cx="777655" cy="346249"/>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Tx/>
                <a:buSzTx/>
                <a:tabLst/>
                <a:defRPr/>
              </a:pPr>
              <a:r>
                <a:rPr kumimoji="0" lang="en-US" sz="550" b="0" i="0" u="none" strike="noStrike" kern="1200" cap="none" spc="0" normalizeH="0" baseline="0" dirty="0">
                  <a:ln>
                    <a:noFill/>
                  </a:ln>
                  <a:solidFill>
                    <a:srgbClr val="003C5A"/>
                  </a:solidFill>
                  <a:effectLst/>
                  <a:uLnTx/>
                  <a:uFillTx/>
                  <a:latin typeface="Montserrat"/>
                </a:rPr>
                <a:t>IAM policies definition</a:t>
              </a:r>
              <a:endParaRPr lang="en-US" sz="550" b="0" i="0" u="none" strike="noStrike" kern="1200" cap="none" spc="0" normalizeH="0" baseline="0" dirty="0">
                <a:ln>
                  <a:noFill/>
                </a:ln>
                <a:solidFill>
                  <a:srgbClr val="003C5A"/>
                </a:solidFill>
                <a:effectLst/>
                <a:uLnTx/>
                <a:uFillTx/>
                <a:latin typeface="Montserrat"/>
              </a:endParaRPr>
            </a:p>
            <a:p>
              <a:pPr marR="0" lvl="0" algn="l" defTabSz="914400" rtl="0" eaLnBrk="1" fontAlgn="auto" latinLnBrk="0" hangingPunct="1">
                <a:lnSpc>
                  <a:spcPct val="100000"/>
                </a:lnSpc>
                <a:spcBef>
                  <a:spcPts val="0"/>
                </a:spcBef>
                <a:spcAft>
                  <a:spcPts val="0"/>
                </a:spcAft>
                <a:buClrTx/>
                <a:buSzTx/>
                <a:tabLst/>
                <a:defRPr/>
              </a:pPr>
              <a:r>
                <a:rPr kumimoji="0" lang="en-US" sz="550" b="0" i="0" u="none" strike="noStrike" kern="1200" cap="none" spc="0" normalizeH="0" baseline="0" dirty="0">
                  <a:ln>
                    <a:noFill/>
                  </a:ln>
                  <a:solidFill>
                    <a:srgbClr val="003C5A"/>
                  </a:solidFill>
                  <a:effectLst/>
                  <a:uLnTx/>
                  <a:uFillTx/>
                  <a:latin typeface="Montserrat"/>
                </a:rPr>
                <a:t>KPI construction</a:t>
              </a:r>
              <a:endParaRPr lang="en-US" sz="550" b="0" i="0" u="none" strike="noStrike" kern="1200" cap="none" spc="0" normalizeH="0" baseline="0" dirty="0">
                <a:ln>
                  <a:noFill/>
                </a:ln>
                <a:solidFill>
                  <a:srgbClr val="003C5A"/>
                </a:solidFill>
                <a:effectLst/>
                <a:uLnTx/>
                <a:uFillTx/>
                <a:latin typeface="Montserrat"/>
              </a:endParaRPr>
            </a:p>
            <a:p>
              <a:pPr marR="0" lvl="0" algn="l" defTabSz="914400" rtl="0" eaLnBrk="1" fontAlgn="auto" latinLnBrk="0" hangingPunct="1">
                <a:lnSpc>
                  <a:spcPct val="100000"/>
                </a:lnSpc>
                <a:spcBef>
                  <a:spcPts val="0"/>
                </a:spcBef>
                <a:spcAft>
                  <a:spcPts val="0"/>
                </a:spcAft>
                <a:buClrTx/>
                <a:buSzTx/>
                <a:tabLst/>
                <a:defRPr/>
              </a:pPr>
              <a:r>
                <a:rPr lang="en-US" sz="550" dirty="0">
                  <a:solidFill>
                    <a:srgbClr val="003C5A"/>
                  </a:solidFill>
                  <a:latin typeface="Montserrat"/>
                </a:rPr>
                <a:t>Sprint definition</a:t>
              </a:r>
              <a:endParaRPr lang="en-US" sz="550" b="0" i="0" u="none" strike="noStrike" kern="1200" cap="none" spc="0" normalizeH="0" baseline="0" dirty="0">
                <a:ln>
                  <a:noFill/>
                </a:ln>
                <a:solidFill>
                  <a:srgbClr val="003C5A"/>
                </a:solidFill>
                <a:effectLst/>
                <a:uLnTx/>
                <a:uFillTx/>
                <a:latin typeface="Montserrat"/>
              </a:endParaRPr>
            </a:p>
          </p:txBody>
        </p:sp>
      </p:grpSp>
      <p:grpSp>
        <p:nvGrpSpPr>
          <p:cNvPr id="143" name="Groupe 119">
            <a:extLst>
              <a:ext uri="{FF2B5EF4-FFF2-40B4-BE49-F238E27FC236}">
                <a16:creationId xmlns:a16="http://schemas.microsoft.com/office/drawing/2014/main" id="{CACAE12C-B137-6BE2-FF35-590D3D002481}"/>
              </a:ext>
            </a:extLst>
          </p:cNvPr>
          <p:cNvGrpSpPr/>
          <p:nvPr/>
        </p:nvGrpSpPr>
        <p:grpSpPr>
          <a:xfrm>
            <a:off x="1391687" y="2023535"/>
            <a:ext cx="849963" cy="588356"/>
            <a:chOff x="1391687" y="2023535"/>
            <a:chExt cx="849963" cy="588356"/>
          </a:xfrm>
        </p:grpSpPr>
        <p:sp>
          <p:nvSpPr>
            <p:cNvPr id="149" name="Rectangle : coins arrondis 114">
              <a:extLst>
                <a:ext uri="{FF2B5EF4-FFF2-40B4-BE49-F238E27FC236}">
                  <a16:creationId xmlns:a16="http://schemas.microsoft.com/office/drawing/2014/main" id="{D2B59079-935A-FB4C-7E04-F628146C6585}"/>
                </a:ext>
              </a:extLst>
            </p:cNvPr>
            <p:cNvSpPr/>
            <p:nvPr/>
          </p:nvSpPr>
          <p:spPr>
            <a:xfrm>
              <a:off x="1391687" y="2023535"/>
              <a:ext cx="849963" cy="570711"/>
            </a:xfrm>
            <a:prstGeom prst="roundRect">
              <a:avLst>
                <a:gd name="adj" fmla="val 10679"/>
              </a:avLst>
            </a:prstGeom>
            <a:solidFill>
              <a:schemeClr val="bg1"/>
            </a:solidFill>
            <a:ln w="19050" cap="flat" cmpd="sng" algn="ctr">
              <a:solidFill>
                <a:schemeClr val="accent1"/>
              </a:solidFill>
              <a:prstDash val="solid"/>
              <a:miter lim="800000"/>
            </a:ln>
            <a:effectLst/>
          </p:spPr>
          <p:txBody>
            <a:bodyPr lIns="91440" tIns="45720" rIns="91440" bIns="45720" rtlCol="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3C5A"/>
                </a:solidFill>
                <a:effectLst/>
                <a:uLnTx/>
                <a:uFillTx/>
                <a:latin typeface="Montserrat"/>
                <a:ea typeface="+mn-ea"/>
                <a:cs typeface="+mn-cs"/>
              </a:endParaRPr>
            </a:p>
          </p:txBody>
        </p:sp>
        <p:grpSp>
          <p:nvGrpSpPr>
            <p:cNvPr id="150" name="Groupe 118">
              <a:extLst>
                <a:ext uri="{FF2B5EF4-FFF2-40B4-BE49-F238E27FC236}">
                  <a16:creationId xmlns:a16="http://schemas.microsoft.com/office/drawing/2014/main" id="{FE4AE241-2F7C-1025-E31D-87FA0A46571A}"/>
                </a:ext>
              </a:extLst>
            </p:cNvPr>
            <p:cNvGrpSpPr/>
            <p:nvPr/>
          </p:nvGrpSpPr>
          <p:grpSpPr>
            <a:xfrm>
              <a:off x="1399184" y="2023535"/>
              <a:ext cx="842466" cy="588356"/>
              <a:chOff x="1399184" y="2023535"/>
              <a:chExt cx="842466" cy="588356"/>
            </a:xfrm>
          </p:grpSpPr>
          <p:sp>
            <p:nvSpPr>
              <p:cNvPr id="151" name="ZoneTexte 115">
                <a:extLst>
                  <a:ext uri="{FF2B5EF4-FFF2-40B4-BE49-F238E27FC236}">
                    <a16:creationId xmlns:a16="http://schemas.microsoft.com/office/drawing/2014/main" id="{10CDA804-C160-5C8E-1594-C29074E6817B}"/>
                  </a:ext>
                </a:extLst>
              </p:cNvPr>
              <p:cNvSpPr txBox="1"/>
              <p:nvPr/>
            </p:nvSpPr>
            <p:spPr>
              <a:xfrm>
                <a:off x="1528871" y="2088796"/>
                <a:ext cx="493616" cy="184666"/>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 b="1" i="0" u="none" strike="noStrike" kern="1200" cap="none" spc="0" normalizeH="0" baseline="0" noProof="0" dirty="0">
                    <a:ln>
                      <a:noFill/>
                    </a:ln>
                    <a:solidFill>
                      <a:srgbClr val="003C5A"/>
                    </a:solidFill>
                    <a:effectLst/>
                    <a:uLnTx/>
                    <a:uFillTx/>
                    <a:latin typeface="Montserrat"/>
                  </a:rPr>
                  <a:t>Tooling</a:t>
                </a:r>
                <a:endParaRPr lang="en-US" sz="600" b="1" i="0" u="none" strike="noStrike" kern="1200" cap="none" spc="0" normalizeH="0" baseline="0" noProof="0" dirty="0">
                  <a:ln>
                    <a:noFill/>
                  </a:ln>
                  <a:solidFill>
                    <a:srgbClr val="003C5A"/>
                  </a:solidFill>
                  <a:effectLst/>
                  <a:uLnTx/>
                  <a:uFillTx/>
                  <a:latin typeface="Montserrat"/>
                </a:endParaRPr>
              </a:p>
            </p:txBody>
          </p:sp>
          <p:sp>
            <p:nvSpPr>
              <p:cNvPr id="152" name="ZoneTexte 116">
                <a:extLst>
                  <a:ext uri="{FF2B5EF4-FFF2-40B4-BE49-F238E27FC236}">
                    <a16:creationId xmlns:a16="http://schemas.microsoft.com/office/drawing/2014/main" id="{10524D6F-54D7-E68F-A59D-E5FDC36ECFE4}"/>
                  </a:ext>
                </a:extLst>
              </p:cNvPr>
              <p:cNvSpPr txBox="1"/>
              <p:nvPr/>
            </p:nvSpPr>
            <p:spPr>
              <a:xfrm>
                <a:off x="1399184" y="2181004"/>
                <a:ext cx="842466" cy="430887"/>
              </a:xfrm>
              <a:prstGeom prst="rect">
                <a:avLst/>
              </a:prstGeom>
              <a:noFill/>
              <a:ln>
                <a:noFill/>
              </a:ln>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Tx/>
                  <a:buSzTx/>
                  <a:tabLst/>
                  <a:defRPr/>
                </a:pPr>
                <a:r>
                  <a:rPr lang="en-US" sz="550" dirty="0">
                    <a:solidFill>
                      <a:srgbClr val="003C5A"/>
                    </a:solidFill>
                    <a:latin typeface="Montserrat"/>
                  </a:rPr>
                  <a:t>R</a:t>
                </a:r>
                <a:r>
                  <a:rPr kumimoji="0" lang="en-US" sz="550" b="0" i="0" u="none" strike="noStrike" kern="1200" cap="none" spc="0" normalizeH="0" baseline="0" noProof="0" dirty="0">
                    <a:ln>
                      <a:noFill/>
                    </a:ln>
                    <a:solidFill>
                      <a:srgbClr val="003C5A"/>
                    </a:solidFill>
                    <a:effectLst/>
                    <a:uLnTx/>
                    <a:uFillTx/>
                    <a:latin typeface="Montserrat"/>
                  </a:rPr>
                  <a:t>FI /RFP</a:t>
                </a:r>
                <a:endParaRPr lang="en-US" sz="550" b="0" i="0" u="none" strike="noStrike" kern="1200" cap="none" spc="0" normalizeH="0" baseline="0" noProof="0" dirty="0">
                  <a:ln>
                    <a:noFill/>
                  </a:ln>
                  <a:solidFill>
                    <a:srgbClr val="003C5A"/>
                  </a:solidFill>
                  <a:effectLst/>
                  <a:uLnTx/>
                  <a:uFillTx/>
                  <a:latin typeface="Montserrat"/>
                </a:endParaRPr>
              </a:p>
              <a:p>
                <a:pPr marR="0" lvl="0" algn="l" defTabSz="914400" rtl="0" eaLnBrk="1" fontAlgn="auto" latinLnBrk="0" hangingPunct="1">
                  <a:lnSpc>
                    <a:spcPct val="100000"/>
                  </a:lnSpc>
                  <a:spcBef>
                    <a:spcPts val="0"/>
                  </a:spcBef>
                  <a:spcAft>
                    <a:spcPts val="0"/>
                  </a:spcAft>
                  <a:buClrTx/>
                  <a:buSzTx/>
                  <a:tabLst/>
                  <a:defRPr/>
                </a:pPr>
                <a:r>
                  <a:rPr lang="en-US" sz="550" dirty="0">
                    <a:solidFill>
                      <a:srgbClr val="003C5A"/>
                    </a:solidFill>
                    <a:latin typeface="Montserrat"/>
                  </a:rPr>
                  <a:t>Product choice</a:t>
                </a:r>
                <a:r>
                  <a:rPr kumimoji="0" lang="en-US" sz="550" b="0" i="0" u="none" strike="noStrike" kern="1200" cap="none" spc="0" normalizeH="0" baseline="0" noProof="0" dirty="0">
                    <a:ln>
                      <a:noFill/>
                    </a:ln>
                    <a:solidFill>
                      <a:srgbClr val="003C5A"/>
                    </a:solidFill>
                    <a:effectLst/>
                    <a:uLnTx/>
                    <a:uFillTx/>
                    <a:latin typeface="Montserrat"/>
                  </a:rPr>
                  <a:t> / POC</a:t>
                </a:r>
                <a:endParaRPr lang="en-US" sz="550" b="0" i="0" u="none" strike="noStrike" kern="1200" cap="none" spc="0" normalizeH="0" baseline="0" noProof="0" dirty="0">
                  <a:ln>
                    <a:noFill/>
                  </a:ln>
                  <a:solidFill>
                    <a:srgbClr val="003C5A"/>
                  </a:solidFill>
                  <a:effectLst/>
                  <a:uLnTx/>
                  <a:uFillTx/>
                  <a:latin typeface="Montserrat"/>
                </a:endParaRPr>
              </a:p>
              <a:p>
                <a:pPr marR="0" lvl="0" algn="l" defTabSz="914400" rtl="0" eaLnBrk="1" fontAlgn="auto" latinLnBrk="0" hangingPunct="1">
                  <a:lnSpc>
                    <a:spcPct val="100000"/>
                  </a:lnSpc>
                  <a:spcBef>
                    <a:spcPts val="0"/>
                  </a:spcBef>
                  <a:spcAft>
                    <a:spcPts val="0"/>
                  </a:spcAft>
                  <a:buClrTx/>
                  <a:buSzTx/>
                  <a:tabLst/>
                  <a:defRPr/>
                </a:pPr>
                <a:r>
                  <a:rPr lang="en-US" sz="550" dirty="0">
                    <a:solidFill>
                      <a:srgbClr val="003C5A"/>
                    </a:solidFill>
                    <a:latin typeface="Montserrat"/>
                  </a:rPr>
                  <a:t>I</a:t>
                </a:r>
                <a:r>
                  <a:rPr kumimoji="0" lang="en-US" sz="550" b="0" i="0" u="none" strike="noStrike" kern="1200" cap="none" spc="0" normalizeH="0" baseline="0" noProof="0" dirty="0">
                    <a:ln>
                      <a:noFill/>
                    </a:ln>
                    <a:solidFill>
                      <a:srgbClr val="003C5A"/>
                    </a:solidFill>
                    <a:effectLst/>
                    <a:uLnTx/>
                    <a:uFillTx/>
                    <a:latin typeface="Montserrat"/>
                  </a:rPr>
                  <a:t>ntegrator choice</a:t>
                </a:r>
                <a:endParaRPr lang="en-US" sz="550" b="0" i="0" u="none" strike="noStrike" kern="1200" cap="none" spc="0" normalizeH="0" baseline="0" noProof="0" dirty="0">
                  <a:ln>
                    <a:noFill/>
                  </a:ln>
                  <a:solidFill>
                    <a:srgbClr val="003C5A"/>
                  </a:solidFill>
                  <a:effectLst/>
                  <a:uLnTx/>
                  <a:uFillTx/>
                  <a:latin typeface="Montserrat"/>
                </a:endParaRPr>
              </a:p>
            </p:txBody>
          </p:sp>
          <p:pic>
            <p:nvPicPr>
              <p:cNvPr id="153" name="Picture 152" descr="Settings free icon">
                <a:extLst>
                  <a:ext uri="{FF2B5EF4-FFF2-40B4-BE49-F238E27FC236}">
                    <a16:creationId xmlns:a16="http://schemas.microsoft.com/office/drawing/2014/main" id="{6687CC1E-501B-1389-EDD8-84880858DA50}"/>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744523" y="2023535"/>
                <a:ext cx="118279" cy="118279"/>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44" name="ZoneTexte 121">
            <a:extLst>
              <a:ext uri="{FF2B5EF4-FFF2-40B4-BE49-F238E27FC236}">
                <a16:creationId xmlns:a16="http://schemas.microsoft.com/office/drawing/2014/main" id="{5F00562C-0B69-1B8E-B680-F94206AEB39F}"/>
              </a:ext>
            </a:extLst>
          </p:cNvPr>
          <p:cNvSpPr txBox="1"/>
          <p:nvPr/>
        </p:nvSpPr>
        <p:spPr>
          <a:xfrm>
            <a:off x="5080895" y="1393480"/>
            <a:ext cx="770284" cy="338554"/>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chemeClr val="bg2">
                    <a:lumMod val="25000"/>
                  </a:schemeClr>
                </a:solidFill>
                <a:latin typeface="Montserrat"/>
              </a:rPr>
              <a:t>MVP</a:t>
            </a:r>
          </a:p>
        </p:txBody>
      </p:sp>
      <p:grpSp>
        <p:nvGrpSpPr>
          <p:cNvPr id="145" name="Groupe 122">
            <a:extLst>
              <a:ext uri="{FF2B5EF4-FFF2-40B4-BE49-F238E27FC236}">
                <a16:creationId xmlns:a16="http://schemas.microsoft.com/office/drawing/2014/main" id="{5B331370-7833-F8CF-467A-CFE44C41681D}"/>
              </a:ext>
            </a:extLst>
          </p:cNvPr>
          <p:cNvGrpSpPr/>
          <p:nvPr/>
        </p:nvGrpSpPr>
        <p:grpSpPr>
          <a:xfrm>
            <a:off x="5206463" y="1665616"/>
            <a:ext cx="72000" cy="5097134"/>
            <a:chOff x="5206463" y="1665616"/>
            <a:chExt cx="72000" cy="4581108"/>
          </a:xfrm>
        </p:grpSpPr>
        <p:cxnSp>
          <p:nvCxnSpPr>
            <p:cNvPr id="147" name="Connecteur droit 123">
              <a:extLst>
                <a:ext uri="{FF2B5EF4-FFF2-40B4-BE49-F238E27FC236}">
                  <a16:creationId xmlns:a16="http://schemas.microsoft.com/office/drawing/2014/main" id="{BB789EF6-FE66-B8AD-2441-08A3C83F8AEF}"/>
                </a:ext>
              </a:extLst>
            </p:cNvPr>
            <p:cNvCxnSpPr>
              <a:cxnSpLocks/>
              <a:endCxn id="125" idx="0"/>
            </p:cNvCxnSpPr>
            <p:nvPr/>
          </p:nvCxnSpPr>
          <p:spPr>
            <a:xfrm>
              <a:off x="5225564" y="1665616"/>
              <a:ext cx="16899" cy="4509108"/>
            </a:xfrm>
            <a:prstGeom prst="line">
              <a:avLst/>
            </a:prstGeom>
            <a:ln w="19050">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148" name="Ellipse 124">
              <a:extLst>
                <a:ext uri="{FF2B5EF4-FFF2-40B4-BE49-F238E27FC236}">
                  <a16:creationId xmlns:a16="http://schemas.microsoft.com/office/drawing/2014/main" id="{9D5CB030-292D-A07B-E6F3-567F3847869A}"/>
                </a:ext>
              </a:extLst>
            </p:cNvPr>
            <p:cNvSpPr/>
            <p:nvPr/>
          </p:nvSpPr>
          <p:spPr>
            <a:xfrm>
              <a:off x="5206463" y="6174724"/>
              <a:ext cx="72000" cy="72000"/>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sp>
        <p:nvSpPr>
          <p:cNvPr id="146" name="Rectangle : coins arrondis 59">
            <a:extLst>
              <a:ext uri="{FF2B5EF4-FFF2-40B4-BE49-F238E27FC236}">
                <a16:creationId xmlns:a16="http://schemas.microsoft.com/office/drawing/2014/main" id="{5D609979-DA6B-18A6-87CC-0B4B036C6FC7}"/>
              </a:ext>
            </a:extLst>
          </p:cNvPr>
          <p:cNvSpPr/>
          <p:nvPr/>
        </p:nvSpPr>
        <p:spPr>
          <a:xfrm>
            <a:off x="1310034" y="3377188"/>
            <a:ext cx="1544979" cy="215715"/>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600" dirty="0">
                <a:solidFill>
                  <a:schemeClr val="tx1"/>
                </a:solidFill>
                <a:latin typeface="Montserrat"/>
              </a:rPr>
              <a:t>Basic joiner access</a:t>
            </a:r>
          </a:p>
        </p:txBody>
      </p:sp>
      <p:sp>
        <p:nvSpPr>
          <p:cNvPr id="173" name="Rectangle 172">
            <a:extLst>
              <a:ext uri="{FF2B5EF4-FFF2-40B4-BE49-F238E27FC236}">
                <a16:creationId xmlns:a16="http://schemas.microsoft.com/office/drawing/2014/main" id="{4C7B7A63-016B-7381-1D67-E4DCCC9387A9}"/>
              </a:ext>
            </a:extLst>
          </p:cNvPr>
          <p:cNvSpPr/>
          <p:nvPr/>
        </p:nvSpPr>
        <p:spPr>
          <a:xfrm>
            <a:off x="2691427" y="1311044"/>
            <a:ext cx="1697311" cy="330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tx1"/>
                </a:solidFill>
              </a:rPr>
              <a:t>2023 </a:t>
            </a:r>
            <a:endParaRPr lang="en-US" dirty="0">
              <a:solidFill>
                <a:schemeClr val="tx1"/>
              </a:solidFill>
            </a:endParaRPr>
          </a:p>
        </p:txBody>
      </p:sp>
    </p:spTree>
    <p:extLst>
      <p:ext uri="{BB962C8B-B14F-4D97-AF65-F5344CB8AC3E}">
        <p14:creationId xmlns:p14="http://schemas.microsoft.com/office/powerpoint/2010/main" val="2857753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773ECE-D7A5-4FC7-F4E1-C147025060C5}"/>
              </a:ext>
            </a:extLst>
          </p:cNvPr>
          <p:cNvSpPr>
            <a:spLocks noGrp="1"/>
          </p:cNvSpPr>
          <p:nvPr>
            <p:ph type="title"/>
          </p:nvPr>
        </p:nvSpPr>
        <p:spPr/>
        <p:txBody>
          <a:bodyPr/>
          <a:lstStyle/>
          <a:p>
            <a:r>
              <a:rPr lang="en-US" sz="3600" dirty="0"/>
              <a:t>Unit of Work : Integration of new identities</a:t>
            </a:r>
          </a:p>
        </p:txBody>
      </p:sp>
      <p:sp>
        <p:nvSpPr>
          <p:cNvPr id="4" name="Espace réservé du pied de page 3">
            <a:extLst>
              <a:ext uri="{FF2B5EF4-FFF2-40B4-BE49-F238E27FC236}">
                <a16:creationId xmlns:a16="http://schemas.microsoft.com/office/drawing/2014/main" id="{9A96FD00-A3BC-1AC6-CE83-C1D31C302DFE}"/>
              </a:ext>
            </a:extLst>
          </p:cNvPr>
          <p:cNvSpPr>
            <a:spLocks noGrp="1"/>
          </p:cNvSpPr>
          <p:nvPr>
            <p:ph type="ftr" sz="quarter" idx="13"/>
          </p:nvPr>
        </p:nvSpPr>
        <p:spPr/>
        <p:txBody>
          <a:bodyPr/>
          <a:lstStyle/>
          <a:p>
            <a:r>
              <a:rPr lang="fr-FR"/>
              <a:t>Bouygues Construction  |  Mois Année</a:t>
            </a:r>
          </a:p>
        </p:txBody>
      </p:sp>
      <p:sp>
        <p:nvSpPr>
          <p:cNvPr id="5" name="Espace réservé du numéro de diapositive 4">
            <a:extLst>
              <a:ext uri="{FF2B5EF4-FFF2-40B4-BE49-F238E27FC236}">
                <a16:creationId xmlns:a16="http://schemas.microsoft.com/office/drawing/2014/main" id="{4D0D0DF1-A890-3180-3636-F3552DEF9E2C}"/>
              </a:ext>
            </a:extLst>
          </p:cNvPr>
          <p:cNvSpPr>
            <a:spLocks noGrp="1"/>
          </p:cNvSpPr>
          <p:nvPr>
            <p:ph type="sldNum" sz="quarter" idx="14"/>
          </p:nvPr>
        </p:nvSpPr>
        <p:spPr/>
        <p:txBody>
          <a:bodyPr/>
          <a:lstStyle/>
          <a:p>
            <a:r>
              <a:rPr lang="fr-FR"/>
              <a:t>| </a:t>
            </a:r>
            <a:fld id="{C2EBF694-A8F9-4F06-8F8E-D09447FAA2D5}" type="slidenum">
              <a:rPr smtClean="0"/>
              <a:pPr/>
              <a:t>24</a:t>
            </a:fld>
            <a:endParaRPr/>
          </a:p>
        </p:txBody>
      </p:sp>
      <p:sp>
        <p:nvSpPr>
          <p:cNvPr id="23" name="Rectangle : coins arrondis 22">
            <a:extLst>
              <a:ext uri="{FF2B5EF4-FFF2-40B4-BE49-F238E27FC236}">
                <a16:creationId xmlns:a16="http://schemas.microsoft.com/office/drawing/2014/main" id="{F53F0C28-4E9B-3EF0-FCC2-BF35AFFD07FE}"/>
              </a:ext>
            </a:extLst>
          </p:cNvPr>
          <p:cNvSpPr/>
          <p:nvPr>
            <p:custDataLst>
              <p:tags r:id="rId1"/>
            </p:custDataLst>
          </p:nvPr>
        </p:nvSpPr>
        <p:spPr>
          <a:xfrm>
            <a:off x="679711" y="1278530"/>
            <a:ext cx="4684738" cy="4101786"/>
          </a:xfrm>
          <a:prstGeom prst="roundRect">
            <a:avLst>
              <a:gd name="adj" fmla="val 1796"/>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24" name="TextBox 16">
            <a:extLst>
              <a:ext uri="{FF2B5EF4-FFF2-40B4-BE49-F238E27FC236}">
                <a16:creationId xmlns:a16="http://schemas.microsoft.com/office/drawing/2014/main" id="{FD4D6B69-8D38-329D-280A-B7C2B5E674E6}"/>
              </a:ext>
            </a:extLst>
          </p:cNvPr>
          <p:cNvSpPr txBox="1"/>
          <p:nvPr>
            <p:custDataLst>
              <p:tags r:id="rId2"/>
            </p:custDataLst>
          </p:nvPr>
        </p:nvSpPr>
        <p:spPr>
          <a:xfrm>
            <a:off x="914437" y="2206988"/>
            <a:ext cx="4150995" cy="1492716"/>
          </a:xfrm>
          <a:prstGeom prst="rect">
            <a:avLst/>
          </a:prstGeom>
          <a:noFill/>
        </p:spPr>
        <p:txBody>
          <a:bodyPr wrap="square" lIns="0" tIns="0" rIns="0" bIns="0" rtlCol="0">
            <a:spAutoFit/>
          </a:bodyPr>
          <a:lstStyle/>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Review local J/M/J processes</a:t>
            </a:r>
          </a:p>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Extraction Internals and externals </a:t>
            </a:r>
          </a:p>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Control data quality</a:t>
            </a:r>
          </a:p>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Integrate identities</a:t>
            </a:r>
          </a:p>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Validate</a:t>
            </a:r>
          </a:p>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Change management</a:t>
            </a:r>
          </a:p>
        </p:txBody>
      </p:sp>
      <p:sp>
        <p:nvSpPr>
          <p:cNvPr id="25" name="Rectangle : avec coins arrondis en haut 24">
            <a:extLst>
              <a:ext uri="{FF2B5EF4-FFF2-40B4-BE49-F238E27FC236}">
                <a16:creationId xmlns:a16="http://schemas.microsoft.com/office/drawing/2014/main" id="{949C5D88-2296-8EFA-4127-14B519F4AD8D}"/>
              </a:ext>
            </a:extLst>
          </p:cNvPr>
          <p:cNvSpPr/>
          <p:nvPr>
            <p:custDataLst>
              <p:tags r:id="rId3"/>
            </p:custDataLst>
          </p:nvPr>
        </p:nvSpPr>
        <p:spPr>
          <a:xfrm>
            <a:off x="679711" y="1278530"/>
            <a:ext cx="4684738" cy="694026"/>
          </a:xfrm>
          <a:prstGeom prst="round2SameRect">
            <a:avLst>
              <a:gd name="adj1" fmla="val 14129"/>
              <a:gd name="adj2" fmla="val 0"/>
            </a:avLst>
          </a:prstGeom>
          <a:solidFill>
            <a:srgbClr val="003C5A">
              <a:lumMod val="75000"/>
              <a:lumOff val="2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26" name="ZoneTexte 25">
            <a:extLst>
              <a:ext uri="{FF2B5EF4-FFF2-40B4-BE49-F238E27FC236}">
                <a16:creationId xmlns:a16="http://schemas.microsoft.com/office/drawing/2014/main" id="{D2EFBC85-59A6-B81A-EFB9-5D540B505B83}"/>
              </a:ext>
            </a:extLst>
          </p:cNvPr>
          <p:cNvSpPr txBox="1"/>
          <p:nvPr>
            <p:custDataLst>
              <p:tags r:id="rId4"/>
            </p:custDataLst>
          </p:nvPr>
        </p:nvSpPr>
        <p:spPr>
          <a:xfrm>
            <a:off x="914437" y="1447828"/>
            <a:ext cx="3876181" cy="215444"/>
          </a:xfrm>
          <a:prstGeom prst="rect">
            <a:avLst/>
          </a:prstGeom>
          <a:noFill/>
        </p:spPr>
        <p:txBody>
          <a:bodyPr wrap="square" lIns="0" tIns="0" rIns="0" bIns="0" rtlCol="0" anchor="b">
            <a:spAutoFit/>
          </a:bodyPr>
          <a:lstStyle/>
          <a:p>
            <a:r>
              <a:rPr lang="en-US" sz="1400" dirty="0">
                <a:solidFill>
                  <a:prstClr val="white"/>
                </a:solidFill>
                <a:latin typeface="Montserrat SemiBold"/>
              </a:rPr>
              <a:t>Description</a:t>
            </a:r>
          </a:p>
        </p:txBody>
      </p:sp>
      <p:cxnSp>
        <p:nvCxnSpPr>
          <p:cNvPr id="27" name="Connecteur droit 26">
            <a:extLst>
              <a:ext uri="{FF2B5EF4-FFF2-40B4-BE49-F238E27FC236}">
                <a16:creationId xmlns:a16="http://schemas.microsoft.com/office/drawing/2014/main" id="{9D20F7EC-2ADA-1ECE-4BE3-24528FCB19F3}"/>
              </a:ext>
            </a:extLst>
          </p:cNvPr>
          <p:cNvCxnSpPr>
            <a:cxnSpLocks/>
          </p:cNvCxnSpPr>
          <p:nvPr>
            <p:custDataLst>
              <p:tags r:id="rId5"/>
            </p:custDataLst>
          </p:nvPr>
        </p:nvCxnSpPr>
        <p:spPr>
          <a:xfrm>
            <a:off x="951838" y="1805162"/>
            <a:ext cx="321523" cy="0"/>
          </a:xfrm>
          <a:prstGeom prst="line">
            <a:avLst/>
          </a:prstGeom>
          <a:noFill/>
          <a:ln w="76200" cap="rnd" cmpd="sng" algn="ctr">
            <a:solidFill>
              <a:sysClr val="window" lastClr="FFFFFF"/>
            </a:solidFill>
            <a:prstDash val="solid"/>
            <a:miter lim="800000"/>
          </a:ln>
          <a:effectLst/>
        </p:spPr>
      </p:cxnSp>
      <p:sp>
        <p:nvSpPr>
          <p:cNvPr id="28" name="Rectangle : coins arrondis 27">
            <a:extLst>
              <a:ext uri="{FF2B5EF4-FFF2-40B4-BE49-F238E27FC236}">
                <a16:creationId xmlns:a16="http://schemas.microsoft.com/office/drawing/2014/main" id="{E370CBFD-10D1-2B51-BAE7-8313BC7884D2}"/>
              </a:ext>
            </a:extLst>
          </p:cNvPr>
          <p:cNvSpPr/>
          <p:nvPr>
            <p:custDataLst>
              <p:tags r:id="rId6"/>
            </p:custDataLst>
          </p:nvPr>
        </p:nvSpPr>
        <p:spPr>
          <a:xfrm>
            <a:off x="679711" y="5653881"/>
            <a:ext cx="11032460" cy="857932"/>
          </a:xfrm>
          <a:prstGeom prst="roundRect">
            <a:avLst>
              <a:gd name="adj" fmla="val 12820"/>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lIns="108000" tIns="180000" rIns="108000" bIns="180000" numCol="1" spcCol="144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rgbClr val="003C5A"/>
                </a:solidFill>
                <a:effectLst/>
                <a:uLnTx/>
                <a:uFillTx/>
                <a:latin typeface="Montserrat SemiBold"/>
                <a:ea typeface="+mn-ea"/>
                <a:cs typeface="+mn-cs"/>
              </a:rPr>
              <a:t>Comments</a:t>
            </a:r>
          </a:p>
          <a:p>
            <a:pPr marL="0" marR="0" lvl="0" indent="0" defTabSz="914400" eaLnBrk="1" fontAlgn="auto" latinLnBrk="0" hangingPunct="1">
              <a:lnSpc>
                <a:spcPct val="100000"/>
              </a:lnSpc>
              <a:spcBef>
                <a:spcPts val="0"/>
              </a:spcBef>
              <a:spcAft>
                <a:spcPts val="400"/>
              </a:spcAft>
              <a:buClr>
                <a:srgbClr val="00B0F0"/>
              </a:buClr>
              <a:buSzTx/>
              <a:buFontTx/>
              <a:buNone/>
              <a:tabLst/>
              <a:defRPr/>
            </a:pPr>
            <a:r>
              <a:rPr kumimoji="0" lang="en-US" sz="1050" b="0" i="0" u="none" strike="noStrike" kern="0" cap="none" spc="0" normalizeH="0" baseline="0" noProof="0" dirty="0">
                <a:ln>
                  <a:noFill/>
                </a:ln>
                <a:solidFill>
                  <a:srgbClr val="003C5A"/>
                </a:solidFill>
                <a:effectLst/>
                <a:uLnTx/>
                <a:uFillTx/>
                <a:latin typeface="Montserrat"/>
                <a:ea typeface="+mn-ea"/>
                <a:cs typeface="+mn-cs"/>
              </a:rPr>
              <a:t>* Product cost can be reassessed depending on the volume of identities to integrate </a:t>
            </a:r>
          </a:p>
        </p:txBody>
      </p:sp>
      <p:sp>
        <p:nvSpPr>
          <p:cNvPr id="29" name="Rectangle : coins arrondis 28">
            <a:extLst>
              <a:ext uri="{FF2B5EF4-FFF2-40B4-BE49-F238E27FC236}">
                <a16:creationId xmlns:a16="http://schemas.microsoft.com/office/drawing/2014/main" id="{C120A87B-89D9-AB17-5772-F22945B3E7CF}"/>
              </a:ext>
            </a:extLst>
          </p:cNvPr>
          <p:cNvSpPr/>
          <p:nvPr>
            <p:custDataLst>
              <p:tags r:id="rId7"/>
            </p:custDataLst>
          </p:nvPr>
        </p:nvSpPr>
        <p:spPr>
          <a:xfrm>
            <a:off x="5705106" y="2973184"/>
            <a:ext cx="4838124" cy="2297447"/>
          </a:xfrm>
          <a:prstGeom prst="roundRect">
            <a:avLst>
              <a:gd name="adj" fmla="val 11966"/>
            </a:avLst>
          </a:prstGeom>
          <a:solidFill>
            <a:srgbClr val="009581"/>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0" name="Rectangle : coins arrondis 29">
            <a:extLst>
              <a:ext uri="{FF2B5EF4-FFF2-40B4-BE49-F238E27FC236}">
                <a16:creationId xmlns:a16="http://schemas.microsoft.com/office/drawing/2014/main" id="{C60DD8BE-0BA3-3FF4-0490-20A9F63C3749}"/>
              </a:ext>
            </a:extLst>
          </p:cNvPr>
          <p:cNvSpPr/>
          <p:nvPr>
            <p:custDataLst>
              <p:tags r:id="rId8"/>
            </p:custDataLst>
          </p:nvPr>
        </p:nvSpPr>
        <p:spPr>
          <a:xfrm>
            <a:off x="6827825" y="2973184"/>
            <a:ext cx="4884346" cy="2297447"/>
          </a:xfrm>
          <a:prstGeom prst="roundRect">
            <a:avLst>
              <a:gd name="adj" fmla="val 7343"/>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1" name="ZoneTexte 30">
            <a:extLst>
              <a:ext uri="{FF2B5EF4-FFF2-40B4-BE49-F238E27FC236}">
                <a16:creationId xmlns:a16="http://schemas.microsoft.com/office/drawing/2014/main" id="{05B1248C-C0E4-8F3F-DDB1-DADA9FAF39A7}"/>
              </a:ext>
            </a:extLst>
          </p:cNvPr>
          <p:cNvSpPr txBox="1"/>
          <p:nvPr>
            <p:custDataLst>
              <p:tags r:id="rId9"/>
            </p:custDataLst>
          </p:nvPr>
        </p:nvSpPr>
        <p:spPr>
          <a:xfrm>
            <a:off x="7091414" y="3162216"/>
            <a:ext cx="2275355" cy="215444"/>
          </a:xfrm>
          <a:prstGeom prst="rect">
            <a:avLst/>
          </a:prstGeom>
          <a:noFill/>
        </p:spPr>
        <p:txBody>
          <a:bodyPr wrap="square" lIns="0" tIns="0" rIns="0" bIns="0" rtlCol="0" anchor="b">
            <a:spAutoFit/>
          </a:bodyPr>
          <a:lstStyle/>
          <a:p>
            <a:r>
              <a:rPr lang="en-US" sz="1400" dirty="0">
                <a:solidFill>
                  <a:srgbClr val="009581"/>
                </a:solidFill>
                <a:latin typeface="Montserrat SemiBold"/>
              </a:rPr>
              <a:t>Budget estimation</a:t>
            </a:r>
          </a:p>
        </p:txBody>
      </p:sp>
      <p:cxnSp>
        <p:nvCxnSpPr>
          <p:cNvPr id="32" name="Connecteur droit 31">
            <a:extLst>
              <a:ext uri="{FF2B5EF4-FFF2-40B4-BE49-F238E27FC236}">
                <a16:creationId xmlns:a16="http://schemas.microsoft.com/office/drawing/2014/main" id="{6BEF1EFA-658B-C79E-9C84-EDD78DAC3E44}"/>
              </a:ext>
            </a:extLst>
          </p:cNvPr>
          <p:cNvCxnSpPr>
            <a:cxnSpLocks/>
          </p:cNvCxnSpPr>
          <p:nvPr>
            <p:custDataLst>
              <p:tags r:id="rId10"/>
            </p:custDataLst>
          </p:nvPr>
        </p:nvCxnSpPr>
        <p:spPr>
          <a:xfrm>
            <a:off x="7123689" y="3493720"/>
            <a:ext cx="187607" cy="0"/>
          </a:xfrm>
          <a:prstGeom prst="line">
            <a:avLst/>
          </a:prstGeom>
          <a:noFill/>
          <a:ln w="76200" cap="rnd" cmpd="sng" algn="ctr">
            <a:solidFill>
              <a:srgbClr val="009581"/>
            </a:solidFill>
            <a:prstDash val="solid"/>
            <a:miter lim="800000"/>
          </a:ln>
          <a:effectLst/>
        </p:spPr>
      </p:cxnSp>
      <p:pic>
        <p:nvPicPr>
          <p:cNvPr id="33" name="Graphique 32">
            <a:extLst>
              <a:ext uri="{FF2B5EF4-FFF2-40B4-BE49-F238E27FC236}">
                <a16:creationId xmlns:a16="http://schemas.microsoft.com/office/drawing/2014/main" id="{991C5F4D-EEC4-7C2F-A976-4D474E0E9468}"/>
              </a:ext>
            </a:extLst>
          </p:cNvPr>
          <p:cNvPicPr>
            <a:picLocks noChangeAspect="1"/>
          </p:cNvPicPr>
          <p:nvPr>
            <p:custDataLst>
              <p:tags r:id="rId11"/>
            </p:custDataLst>
          </p:nvPr>
        </p:nvPicPr>
        <p:blipFill>
          <a:blip r:embed="rId19">
            <a:extLst>
              <a:ext uri="{96DAC541-7B7A-43D3-8B79-37D633B846F1}">
                <asvg:svgBlip xmlns:asvg="http://schemas.microsoft.com/office/drawing/2016/SVG/main" r:embed="rId20"/>
              </a:ext>
            </a:extLst>
          </a:blip>
          <a:stretch>
            <a:fillRect/>
          </a:stretch>
        </p:blipFill>
        <p:spPr>
          <a:xfrm>
            <a:off x="5968696" y="3986420"/>
            <a:ext cx="512610" cy="512610"/>
          </a:xfrm>
          <a:prstGeom prst="rect">
            <a:avLst/>
          </a:prstGeom>
        </p:spPr>
      </p:pic>
      <p:sp>
        <p:nvSpPr>
          <p:cNvPr id="34" name="Rectangle : coins arrondis 33">
            <a:extLst>
              <a:ext uri="{FF2B5EF4-FFF2-40B4-BE49-F238E27FC236}">
                <a16:creationId xmlns:a16="http://schemas.microsoft.com/office/drawing/2014/main" id="{1EBA4CEE-2856-502D-332A-84A19527423B}"/>
              </a:ext>
            </a:extLst>
          </p:cNvPr>
          <p:cNvSpPr/>
          <p:nvPr>
            <p:custDataLst>
              <p:tags r:id="rId12"/>
            </p:custDataLst>
          </p:nvPr>
        </p:nvSpPr>
        <p:spPr>
          <a:xfrm>
            <a:off x="5599175" y="1318821"/>
            <a:ext cx="6007064" cy="1649129"/>
          </a:xfrm>
          <a:prstGeom prst="roundRect">
            <a:avLst>
              <a:gd name="adj" fmla="val 6500"/>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5" name="Rectangle : coins arrondis 1">
            <a:extLst>
              <a:ext uri="{FF2B5EF4-FFF2-40B4-BE49-F238E27FC236}">
                <a16:creationId xmlns:a16="http://schemas.microsoft.com/office/drawing/2014/main" id="{1485D39D-955A-A29E-5A1B-5C13867AAF92}"/>
              </a:ext>
            </a:extLst>
          </p:cNvPr>
          <p:cNvSpPr/>
          <p:nvPr>
            <p:custDataLst>
              <p:tags r:id="rId13"/>
            </p:custDataLst>
          </p:nvPr>
        </p:nvSpPr>
        <p:spPr>
          <a:xfrm>
            <a:off x="5968696" y="1635732"/>
            <a:ext cx="5457687" cy="809085"/>
          </a:xfrm>
          <a:prstGeom prst="roundRect">
            <a:avLst>
              <a:gd name="adj" fmla="val 9611"/>
            </a:avLst>
          </a:prstGeom>
          <a:solidFill>
            <a:srgbClr val="003C5A">
              <a:lumMod val="75000"/>
              <a:lumOff val="25000"/>
            </a:srgbClr>
          </a:solid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B9FF"/>
              </a:solidFill>
              <a:effectLst/>
              <a:uLnTx/>
              <a:uFillTx/>
              <a:latin typeface="Montserrat SemiBold"/>
              <a:ea typeface="+mn-ea"/>
              <a:cs typeface="+mn-cs"/>
            </a:endParaRPr>
          </a:p>
        </p:txBody>
      </p:sp>
      <p:sp>
        <p:nvSpPr>
          <p:cNvPr id="36" name="Rectangle : coins arrondis 1">
            <a:extLst>
              <a:ext uri="{FF2B5EF4-FFF2-40B4-BE49-F238E27FC236}">
                <a16:creationId xmlns:a16="http://schemas.microsoft.com/office/drawing/2014/main" id="{C88542D9-F5A8-A56E-B183-2E90ACDE97F3}"/>
              </a:ext>
            </a:extLst>
          </p:cNvPr>
          <p:cNvSpPr/>
          <p:nvPr>
            <p:custDataLst>
              <p:tags r:id="rId14"/>
            </p:custDataLst>
          </p:nvPr>
        </p:nvSpPr>
        <p:spPr>
          <a:xfrm>
            <a:off x="5968696" y="1877259"/>
            <a:ext cx="1775526" cy="326030"/>
          </a:xfrm>
          <a:prstGeom prst="roundRect">
            <a:avLst>
              <a:gd name="adj" fmla="val 9611"/>
            </a:avLst>
          </a:prstGeom>
          <a:no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Montserrat SemiBold"/>
                <a:ea typeface="+mn-ea"/>
                <a:cs typeface="+mn-cs"/>
              </a:rPr>
              <a:t>Stakeholders</a:t>
            </a:r>
          </a:p>
        </p:txBody>
      </p:sp>
      <p:sp>
        <p:nvSpPr>
          <p:cNvPr id="37" name="Rectangle : coins arrondis 1">
            <a:extLst>
              <a:ext uri="{FF2B5EF4-FFF2-40B4-BE49-F238E27FC236}">
                <a16:creationId xmlns:a16="http://schemas.microsoft.com/office/drawing/2014/main" id="{5DDD8FDE-F004-7441-3ECF-52EB8310FC33}"/>
              </a:ext>
            </a:extLst>
          </p:cNvPr>
          <p:cNvSpPr/>
          <p:nvPr>
            <p:custDataLst>
              <p:tags r:id="rId15"/>
            </p:custDataLst>
          </p:nvPr>
        </p:nvSpPr>
        <p:spPr>
          <a:xfrm>
            <a:off x="7744222" y="1773958"/>
            <a:ext cx="3543615" cy="532632"/>
          </a:xfrm>
          <a:prstGeom prst="roundRect">
            <a:avLst>
              <a:gd name="adj" fmla="val 9611"/>
            </a:avLst>
          </a:prstGeom>
          <a:solidFill>
            <a:sysClr val="window" lastClr="FFFFFF"/>
          </a:solid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3C5A"/>
                </a:solidFill>
                <a:effectLst/>
                <a:uLnTx/>
                <a:uFillTx/>
                <a:latin typeface="Montserrat SemiBold"/>
                <a:ea typeface="+mn-ea"/>
                <a:cs typeface="+mn-cs"/>
              </a:rPr>
              <a:t>HR / IT / Business manager</a:t>
            </a:r>
          </a:p>
        </p:txBody>
      </p:sp>
      <p:sp>
        <p:nvSpPr>
          <p:cNvPr id="38" name="ZoneTexte 37">
            <a:extLst>
              <a:ext uri="{FF2B5EF4-FFF2-40B4-BE49-F238E27FC236}">
                <a16:creationId xmlns:a16="http://schemas.microsoft.com/office/drawing/2014/main" id="{28549FD6-7118-7170-F63E-93C71253C15B}"/>
              </a:ext>
            </a:extLst>
          </p:cNvPr>
          <p:cNvSpPr txBox="1"/>
          <p:nvPr>
            <p:custDataLst>
              <p:tags r:id="rId16"/>
            </p:custDataLst>
          </p:nvPr>
        </p:nvSpPr>
        <p:spPr>
          <a:xfrm>
            <a:off x="7114262" y="3696060"/>
            <a:ext cx="1808941" cy="969496"/>
          </a:xfrm>
          <a:prstGeom prst="rect">
            <a:avLst/>
          </a:prstGeom>
          <a:noFill/>
        </p:spPr>
        <p:txBody>
          <a:bodyPr wrap="square" lIns="0" tIns="0" rIns="0" bIns="0" rtlCol="0" anchor="b">
            <a:spAutoFit/>
          </a:bodyPr>
          <a:lstStyle/>
          <a:p>
            <a:pPr>
              <a:spcAft>
                <a:spcPts val="600"/>
              </a:spcAft>
              <a:buClr>
                <a:srgbClr val="00B5E2"/>
              </a:buClr>
              <a:defRPr/>
            </a:pPr>
            <a:r>
              <a:rPr lang="en-US" sz="1200" dirty="0">
                <a:solidFill>
                  <a:srgbClr val="003C5A"/>
                </a:solidFill>
                <a:latin typeface="Montserrat SemiBold"/>
              </a:rPr>
              <a:t>Product cost</a:t>
            </a:r>
          </a:p>
          <a:p>
            <a:pPr>
              <a:spcAft>
                <a:spcPts val="600"/>
              </a:spcAft>
              <a:buClr>
                <a:srgbClr val="00B5E2"/>
              </a:buClr>
              <a:defRPr/>
            </a:pPr>
            <a:r>
              <a:rPr lang="en-US" sz="1200" dirty="0">
                <a:solidFill>
                  <a:srgbClr val="003C5A"/>
                </a:solidFill>
                <a:latin typeface="Montserrat"/>
              </a:rPr>
              <a:t>N/A*</a:t>
            </a:r>
          </a:p>
          <a:p>
            <a:pPr>
              <a:spcAft>
                <a:spcPts val="600"/>
              </a:spcAft>
              <a:buClr>
                <a:srgbClr val="00B5E2"/>
              </a:buClr>
              <a:defRPr/>
            </a:pPr>
            <a:r>
              <a:rPr lang="en-US" sz="1200" dirty="0">
                <a:solidFill>
                  <a:srgbClr val="003C5A"/>
                </a:solidFill>
                <a:latin typeface="Montserrat SemiBold"/>
              </a:rPr>
              <a:t>Project cost</a:t>
            </a:r>
          </a:p>
          <a:p>
            <a:pPr>
              <a:spcAft>
                <a:spcPts val="600"/>
              </a:spcAft>
              <a:buClr>
                <a:srgbClr val="00B5E2"/>
              </a:buClr>
              <a:defRPr/>
            </a:pPr>
            <a:r>
              <a:rPr lang="en-US" sz="1200" dirty="0">
                <a:solidFill>
                  <a:srgbClr val="003C5A"/>
                </a:solidFill>
                <a:latin typeface="Montserrat"/>
              </a:rPr>
              <a:t>10-22 K€</a:t>
            </a:r>
            <a:endParaRPr lang="en-US" sz="1200" dirty="0">
              <a:solidFill>
                <a:srgbClr val="003C5A"/>
              </a:solidFill>
              <a:latin typeface="Montserrat SemiBold"/>
            </a:endParaRPr>
          </a:p>
        </p:txBody>
      </p:sp>
      <p:sp>
        <p:nvSpPr>
          <p:cNvPr id="39" name="ZoneTexte 38">
            <a:extLst>
              <a:ext uri="{FF2B5EF4-FFF2-40B4-BE49-F238E27FC236}">
                <a16:creationId xmlns:a16="http://schemas.microsoft.com/office/drawing/2014/main" id="{82389501-EDD2-4C81-B1B4-512745331A29}"/>
              </a:ext>
            </a:extLst>
          </p:cNvPr>
          <p:cNvSpPr txBox="1"/>
          <p:nvPr>
            <p:custDataLst>
              <p:tags r:id="rId17"/>
            </p:custDataLst>
          </p:nvPr>
        </p:nvSpPr>
        <p:spPr>
          <a:xfrm>
            <a:off x="9186085" y="3696060"/>
            <a:ext cx="2526086" cy="969496"/>
          </a:xfrm>
          <a:prstGeom prst="rect">
            <a:avLst/>
          </a:prstGeom>
          <a:noFill/>
        </p:spPr>
        <p:txBody>
          <a:bodyPr wrap="square" lIns="0" tIns="0" rIns="0" bIns="0" rtlCol="0" anchor="b">
            <a:spAutoFit/>
          </a:bodyPr>
          <a:lstStyle/>
          <a:p>
            <a:pPr>
              <a:spcAft>
                <a:spcPts val="600"/>
              </a:spcAft>
              <a:buClr>
                <a:srgbClr val="00B5E2"/>
              </a:buClr>
              <a:defRPr/>
            </a:pPr>
            <a:r>
              <a:rPr lang="en-US" sz="1200" dirty="0">
                <a:solidFill>
                  <a:srgbClr val="003C5A"/>
                </a:solidFill>
                <a:latin typeface="Montserrat SemiBold"/>
              </a:rPr>
              <a:t>Product recurring cost</a:t>
            </a:r>
          </a:p>
          <a:p>
            <a:pPr>
              <a:spcAft>
                <a:spcPts val="600"/>
              </a:spcAft>
              <a:buClr>
                <a:srgbClr val="00B5E2"/>
              </a:buClr>
              <a:defRPr/>
            </a:pPr>
            <a:r>
              <a:rPr lang="en-US" sz="1200" dirty="0">
                <a:solidFill>
                  <a:srgbClr val="003C5A"/>
                </a:solidFill>
                <a:latin typeface="Montserrat"/>
              </a:rPr>
              <a:t>N/A*</a:t>
            </a:r>
            <a:endParaRPr lang="en-US" sz="1200" dirty="0">
              <a:solidFill>
                <a:srgbClr val="003C5A"/>
              </a:solidFill>
              <a:latin typeface="Montserrat SemiBold"/>
            </a:endParaRPr>
          </a:p>
          <a:p>
            <a:pPr>
              <a:spcAft>
                <a:spcPts val="600"/>
              </a:spcAft>
              <a:buClr>
                <a:srgbClr val="00B5E2"/>
              </a:buClr>
              <a:defRPr/>
            </a:pPr>
            <a:r>
              <a:rPr lang="en-US" sz="1200" dirty="0">
                <a:solidFill>
                  <a:srgbClr val="003C5A"/>
                </a:solidFill>
                <a:latin typeface="Montserrat SemiBold"/>
              </a:rPr>
              <a:t>Run recurring cost</a:t>
            </a:r>
          </a:p>
          <a:p>
            <a:pPr>
              <a:spcAft>
                <a:spcPts val="600"/>
              </a:spcAft>
              <a:buClr>
                <a:srgbClr val="00B5E2"/>
              </a:buClr>
              <a:defRPr/>
            </a:pPr>
            <a:r>
              <a:rPr lang="en-US" sz="1200" dirty="0">
                <a:solidFill>
                  <a:srgbClr val="003C5A"/>
                </a:solidFill>
                <a:latin typeface="Montserrat"/>
              </a:rPr>
              <a:t>N/A</a:t>
            </a:r>
            <a:endParaRPr lang="en-US" sz="1200" dirty="0">
              <a:solidFill>
                <a:srgbClr val="003C5A"/>
              </a:solidFill>
              <a:latin typeface="Montserrat SemiBold"/>
            </a:endParaRPr>
          </a:p>
        </p:txBody>
      </p:sp>
    </p:spTree>
    <p:extLst>
      <p:ext uri="{BB962C8B-B14F-4D97-AF65-F5344CB8AC3E}">
        <p14:creationId xmlns:p14="http://schemas.microsoft.com/office/powerpoint/2010/main" val="863268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4887C0-CD24-0C20-EBF0-3B19B654A7D5}"/>
              </a:ext>
            </a:extLst>
          </p:cNvPr>
          <p:cNvSpPr>
            <a:spLocks noGrp="1"/>
          </p:cNvSpPr>
          <p:nvPr>
            <p:ph type="title"/>
          </p:nvPr>
        </p:nvSpPr>
        <p:spPr/>
        <p:txBody>
          <a:bodyPr/>
          <a:lstStyle/>
          <a:p>
            <a:r>
              <a:rPr lang="fr-FR" sz="3600" dirty="0"/>
              <a:t>Unit of </a:t>
            </a:r>
            <a:r>
              <a:rPr lang="fr-FR" sz="3600" dirty="0" err="1"/>
              <a:t>work</a:t>
            </a:r>
            <a:r>
              <a:rPr lang="fr-FR" sz="3600" dirty="0"/>
              <a:t> : Business </a:t>
            </a:r>
            <a:r>
              <a:rPr lang="fr-FR" sz="3600" dirty="0" err="1"/>
              <a:t>roles</a:t>
            </a:r>
            <a:endParaRPr lang="fr-FR" sz="3600" dirty="0"/>
          </a:p>
        </p:txBody>
      </p:sp>
      <p:sp>
        <p:nvSpPr>
          <p:cNvPr id="4" name="Espace réservé du pied de page 3">
            <a:extLst>
              <a:ext uri="{FF2B5EF4-FFF2-40B4-BE49-F238E27FC236}">
                <a16:creationId xmlns:a16="http://schemas.microsoft.com/office/drawing/2014/main" id="{EF40D226-D674-7F47-36D0-A25BF7F0C2CD}"/>
              </a:ext>
            </a:extLst>
          </p:cNvPr>
          <p:cNvSpPr>
            <a:spLocks noGrp="1"/>
          </p:cNvSpPr>
          <p:nvPr>
            <p:ph type="ftr" sz="quarter" idx="13"/>
          </p:nvPr>
        </p:nvSpPr>
        <p:spPr/>
        <p:txBody>
          <a:bodyPr/>
          <a:lstStyle/>
          <a:p>
            <a:r>
              <a:rPr lang="fr-FR"/>
              <a:t>Bouygues Construction  |  Mois Année</a:t>
            </a:r>
          </a:p>
        </p:txBody>
      </p:sp>
      <p:sp>
        <p:nvSpPr>
          <p:cNvPr id="5" name="Espace réservé du numéro de diapositive 4">
            <a:extLst>
              <a:ext uri="{FF2B5EF4-FFF2-40B4-BE49-F238E27FC236}">
                <a16:creationId xmlns:a16="http://schemas.microsoft.com/office/drawing/2014/main" id="{817E8E17-AF6D-4E56-F818-2E48305EDD69}"/>
              </a:ext>
            </a:extLst>
          </p:cNvPr>
          <p:cNvSpPr>
            <a:spLocks noGrp="1"/>
          </p:cNvSpPr>
          <p:nvPr>
            <p:ph type="sldNum" sz="quarter" idx="14"/>
          </p:nvPr>
        </p:nvSpPr>
        <p:spPr/>
        <p:txBody>
          <a:bodyPr/>
          <a:lstStyle/>
          <a:p>
            <a:r>
              <a:rPr lang="fr-FR"/>
              <a:t>| </a:t>
            </a:r>
            <a:fld id="{C2EBF694-A8F9-4F06-8F8E-D09447FAA2D5}" type="slidenum">
              <a:rPr smtClean="0"/>
              <a:pPr/>
              <a:t>25</a:t>
            </a:fld>
            <a:endParaRPr/>
          </a:p>
        </p:txBody>
      </p:sp>
      <p:sp>
        <p:nvSpPr>
          <p:cNvPr id="23" name="Rectangle : coins arrondis 22">
            <a:extLst>
              <a:ext uri="{FF2B5EF4-FFF2-40B4-BE49-F238E27FC236}">
                <a16:creationId xmlns:a16="http://schemas.microsoft.com/office/drawing/2014/main" id="{A9F380A5-2A7A-5424-A444-FA87D4DBFC6D}"/>
              </a:ext>
            </a:extLst>
          </p:cNvPr>
          <p:cNvSpPr/>
          <p:nvPr>
            <p:custDataLst>
              <p:tags r:id="rId1"/>
            </p:custDataLst>
          </p:nvPr>
        </p:nvSpPr>
        <p:spPr>
          <a:xfrm>
            <a:off x="661238" y="1277032"/>
            <a:ext cx="4684738" cy="3363986"/>
          </a:xfrm>
          <a:prstGeom prst="roundRect">
            <a:avLst>
              <a:gd name="adj" fmla="val 2269"/>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24" name="TextBox 16">
            <a:extLst>
              <a:ext uri="{FF2B5EF4-FFF2-40B4-BE49-F238E27FC236}">
                <a16:creationId xmlns:a16="http://schemas.microsoft.com/office/drawing/2014/main" id="{FFFBD433-CF2E-0343-7919-F47FB3A15D87}"/>
              </a:ext>
            </a:extLst>
          </p:cNvPr>
          <p:cNvSpPr txBox="1"/>
          <p:nvPr>
            <p:custDataLst>
              <p:tags r:id="rId2"/>
            </p:custDataLst>
          </p:nvPr>
        </p:nvSpPr>
        <p:spPr>
          <a:xfrm>
            <a:off x="895964" y="2134007"/>
            <a:ext cx="4150995" cy="1733808"/>
          </a:xfrm>
          <a:prstGeom prst="rect">
            <a:avLst/>
          </a:prstGeom>
          <a:noFill/>
        </p:spPr>
        <p:txBody>
          <a:bodyPr wrap="square" lIns="0" tIns="0" rIns="0" bIns="0" rtlCol="0">
            <a:spAutoFit/>
          </a:bodyPr>
          <a:lstStyle/>
          <a:p>
            <a:pPr>
              <a:spcAft>
                <a:spcPts val="400"/>
              </a:spcAft>
              <a:buClr>
                <a:srgbClr val="00B0F0"/>
              </a:buClr>
            </a:pPr>
            <a:r>
              <a:rPr lang="en-US" sz="1200" dirty="0">
                <a:solidFill>
                  <a:srgbClr val="003C5A"/>
                </a:solidFill>
                <a:latin typeface="Montserrat"/>
              </a:rPr>
              <a:t>For each domain :</a:t>
            </a:r>
          </a:p>
          <a:p>
            <a:pPr marL="228600" indent="-228600">
              <a:spcAft>
                <a:spcPts val="400"/>
              </a:spcAft>
              <a:buClr>
                <a:srgbClr val="00B0F0"/>
              </a:buClr>
              <a:buFontTx/>
              <a:buAutoNum type="arabicPeriod"/>
            </a:pPr>
            <a:r>
              <a:rPr lang="en-US" sz="1200" dirty="0">
                <a:solidFill>
                  <a:srgbClr val="003C5A"/>
                </a:solidFill>
                <a:latin typeface="Montserrat"/>
              </a:rPr>
              <a:t>Identify 3 to 4 macro business roles per domain</a:t>
            </a:r>
          </a:p>
          <a:p>
            <a:pPr marL="228600" indent="-228600">
              <a:spcAft>
                <a:spcPts val="400"/>
              </a:spcAft>
              <a:buClr>
                <a:srgbClr val="00B0F0"/>
              </a:buClr>
              <a:buFontTx/>
              <a:buAutoNum type="arabicPeriod"/>
            </a:pPr>
            <a:r>
              <a:rPr lang="en-US" sz="1200" dirty="0">
                <a:solidFill>
                  <a:srgbClr val="003C5A"/>
                </a:solidFill>
                <a:latin typeface="Montserrat"/>
              </a:rPr>
              <a:t>Specify accesses needed per role</a:t>
            </a:r>
          </a:p>
          <a:p>
            <a:pPr marL="228600" indent="-228600">
              <a:spcAft>
                <a:spcPts val="400"/>
              </a:spcAft>
              <a:buClr>
                <a:srgbClr val="00B0F0"/>
              </a:buClr>
              <a:buFontTx/>
              <a:buAutoNum type="arabicPeriod"/>
            </a:pPr>
            <a:r>
              <a:rPr lang="en-US" sz="1200" dirty="0">
                <a:solidFill>
                  <a:srgbClr val="003C5A"/>
                </a:solidFill>
                <a:latin typeface="Montserrat"/>
              </a:rPr>
              <a:t>Collect in each applicative referential users' permissions (e-g applicative profiles) for the domain</a:t>
            </a:r>
          </a:p>
          <a:p>
            <a:pPr marL="228600" indent="-228600">
              <a:spcAft>
                <a:spcPts val="400"/>
              </a:spcAft>
              <a:buClr>
                <a:srgbClr val="00B0F0"/>
              </a:buClr>
              <a:buFontTx/>
              <a:buAutoNum type="arabicPeriod"/>
            </a:pPr>
            <a:r>
              <a:rPr lang="en-US" sz="1200" dirty="0">
                <a:solidFill>
                  <a:srgbClr val="003C5A"/>
                </a:solidFill>
                <a:latin typeface="Montserrat"/>
              </a:rPr>
              <a:t>Compare accesses and validate with businesses</a:t>
            </a:r>
          </a:p>
          <a:p>
            <a:pPr marL="228600" indent="-228600">
              <a:spcAft>
                <a:spcPts val="400"/>
              </a:spcAft>
              <a:buClr>
                <a:srgbClr val="00B0F0"/>
              </a:buClr>
              <a:buFontTx/>
              <a:buAutoNum type="arabicPeriod"/>
            </a:pPr>
            <a:r>
              <a:rPr lang="en-US" sz="1200" dirty="0">
                <a:solidFill>
                  <a:srgbClr val="003C5A"/>
                </a:solidFill>
                <a:latin typeface="Montserrat"/>
              </a:rPr>
              <a:t>Review roles periodically to add/remove access</a:t>
            </a:r>
          </a:p>
        </p:txBody>
      </p:sp>
      <p:sp>
        <p:nvSpPr>
          <p:cNvPr id="25" name="Rectangle : avec coins arrondis en haut 24">
            <a:extLst>
              <a:ext uri="{FF2B5EF4-FFF2-40B4-BE49-F238E27FC236}">
                <a16:creationId xmlns:a16="http://schemas.microsoft.com/office/drawing/2014/main" id="{403662B1-9536-6F30-0259-35B613C51677}"/>
              </a:ext>
            </a:extLst>
          </p:cNvPr>
          <p:cNvSpPr/>
          <p:nvPr>
            <p:custDataLst>
              <p:tags r:id="rId3"/>
            </p:custDataLst>
          </p:nvPr>
        </p:nvSpPr>
        <p:spPr>
          <a:xfrm>
            <a:off x="661238" y="1277032"/>
            <a:ext cx="4684738" cy="574416"/>
          </a:xfrm>
          <a:prstGeom prst="round2SameRect">
            <a:avLst>
              <a:gd name="adj1" fmla="val 14129"/>
              <a:gd name="adj2" fmla="val 0"/>
            </a:avLst>
          </a:prstGeom>
          <a:solidFill>
            <a:srgbClr val="003C5A">
              <a:lumMod val="75000"/>
              <a:lumOff val="2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26" name="ZoneTexte 25">
            <a:extLst>
              <a:ext uri="{FF2B5EF4-FFF2-40B4-BE49-F238E27FC236}">
                <a16:creationId xmlns:a16="http://schemas.microsoft.com/office/drawing/2014/main" id="{98B6B282-688B-A45C-7E16-520BCCCA68AE}"/>
              </a:ext>
            </a:extLst>
          </p:cNvPr>
          <p:cNvSpPr txBox="1"/>
          <p:nvPr>
            <p:custDataLst>
              <p:tags r:id="rId4"/>
            </p:custDataLst>
          </p:nvPr>
        </p:nvSpPr>
        <p:spPr>
          <a:xfrm>
            <a:off x="895964" y="1446330"/>
            <a:ext cx="3876181" cy="215444"/>
          </a:xfrm>
          <a:prstGeom prst="rect">
            <a:avLst/>
          </a:prstGeom>
          <a:noFill/>
        </p:spPr>
        <p:txBody>
          <a:bodyPr wrap="square" lIns="0" tIns="0" rIns="0" bIns="0" rtlCol="0" anchor="b">
            <a:spAutoFit/>
          </a:bodyPr>
          <a:lstStyle/>
          <a:p>
            <a:r>
              <a:rPr lang="en-US" sz="1400" dirty="0">
                <a:solidFill>
                  <a:prstClr val="white"/>
                </a:solidFill>
                <a:latin typeface="Montserrat SemiBold"/>
              </a:rPr>
              <a:t>Description</a:t>
            </a:r>
          </a:p>
        </p:txBody>
      </p:sp>
      <p:cxnSp>
        <p:nvCxnSpPr>
          <p:cNvPr id="27" name="Connecteur droit 26">
            <a:extLst>
              <a:ext uri="{FF2B5EF4-FFF2-40B4-BE49-F238E27FC236}">
                <a16:creationId xmlns:a16="http://schemas.microsoft.com/office/drawing/2014/main" id="{AA0F3154-C7B3-334E-815E-EB1301572FF5}"/>
              </a:ext>
            </a:extLst>
          </p:cNvPr>
          <p:cNvCxnSpPr>
            <a:cxnSpLocks/>
          </p:cNvCxnSpPr>
          <p:nvPr>
            <p:custDataLst>
              <p:tags r:id="rId5"/>
            </p:custDataLst>
          </p:nvPr>
        </p:nvCxnSpPr>
        <p:spPr>
          <a:xfrm>
            <a:off x="933365" y="1803664"/>
            <a:ext cx="321523" cy="0"/>
          </a:xfrm>
          <a:prstGeom prst="line">
            <a:avLst/>
          </a:prstGeom>
          <a:noFill/>
          <a:ln w="76200" cap="rnd" cmpd="sng" algn="ctr">
            <a:solidFill>
              <a:sysClr val="window" lastClr="FFFFFF"/>
            </a:solidFill>
            <a:prstDash val="solid"/>
            <a:miter lim="800000"/>
          </a:ln>
          <a:effectLst/>
        </p:spPr>
      </p:cxnSp>
      <p:sp>
        <p:nvSpPr>
          <p:cNvPr id="28" name="Rectangle : coins arrondis 27">
            <a:extLst>
              <a:ext uri="{FF2B5EF4-FFF2-40B4-BE49-F238E27FC236}">
                <a16:creationId xmlns:a16="http://schemas.microsoft.com/office/drawing/2014/main" id="{616CF01E-420C-37F8-47A5-8508444B183B}"/>
              </a:ext>
            </a:extLst>
          </p:cNvPr>
          <p:cNvSpPr/>
          <p:nvPr>
            <p:custDataLst>
              <p:tags r:id="rId6"/>
            </p:custDataLst>
          </p:nvPr>
        </p:nvSpPr>
        <p:spPr>
          <a:xfrm>
            <a:off x="5580702" y="1306098"/>
            <a:ext cx="6007064" cy="1364915"/>
          </a:xfrm>
          <a:prstGeom prst="roundRect">
            <a:avLst>
              <a:gd name="adj" fmla="val 6500"/>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29" name="Rectangle : coins arrondis 1">
            <a:extLst>
              <a:ext uri="{FF2B5EF4-FFF2-40B4-BE49-F238E27FC236}">
                <a16:creationId xmlns:a16="http://schemas.microsoft.com/office/drawing/2014/main" id="{12A74EA8-9090-EDF8-12F6-5CA3DE1B7541}"/>
              </a:ext>
            </a:extLst>
          </p:cNvPr>
          <p:cNvSpPr/>
          <p:nvPr>
            <p:custDataLst>
              <p:tags r:id="rId7"/>
            </p:custDataLst>
          </p:nvPr>
        </p:nvSpPr>
        <p:spPr>
          <a:xfrm>
            <a:off x="5950223" y="1653870"/>
            <a:ext cx="5457687" cy="669646"/>
          </a:xfrm>
          <a:prstGeom prst="roundRect">
            <a:avLst>
              <a:gd name="adj" fmla="val 9611"/>
            </a:avLst>
          </a:prstGeom>
          <a:solidFill>
            <a:srgbClr val="003C5A">
              <a:lumMod val="75000"/>
              <a:lumOff val="25000"/>
            </a:srgbClr>
          </a:solid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B9FF"/>
              </a:solidFill>
              <a:effectLst/>
              <a:uLnTx/>
              <a:uFillTx/>
              <a:latin typeface="Montserrat SemiBold"/>
              <a:ea typeface="+mn-ea"/>
              <a:cs typeface="+mn-cs"/>
            </a:endParaRPr>
          </a:p>
        </p:txBody>
      </p:sp>
      <p:sp>
        <p:nvSpPr>
          <p:cNvPr id="30" name="Rectangle : coins arrondis 1">
            <a:extLst>
              <a:ext uri="{FF2B5EF4-FFF2-40B4-BE49-F238E27FC236}">
                <a16:creationId xmlns:a16="http://schemas.microsoft.com/office/drawing/2014/main" id="{EC35FEAE-2DB5-DEE3-EAC4-5AA8046CA2AA}"/>
              </a:ext>
            </a:extLst>
          </p:cNvPr>
          <p:cNvSpPr/>
          <p:nvPr>
            <p:custDataLst>
              <p:tags r:id="rId8"/>
            </p:custDataLst>
          </p:nvPr>
        </p:nvSpPr>
        <p:spPr>
          <a:xfrm>
            <a:off x="5950223" y="1895396"/>
            <a:ext cx="1775526" cy="269841"/>
          </a:xfrm>
          <a:prstGeom prst="roundRect">
            <a:avLst>
              <a:gd name="adj" fmla="val 9611"/>
            </a:avLst>
          </a:prstGeom>
          <a:no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Montserrat SemiBold"/>
                <a:ea typeface="+mn-ea"/>
                <a:cs typeface="+mn-cs"/>
              </a:rPr>
              <a:t>Stakeholders</a:t>
            </a:r>
          </a:p>
        </p:txBody>
      </p:sp>
      <p:sp>
        <p:nvSpPr>
          <p:cNvPr id="31" name="Rectangle : coins arrondis 1">
            <a:extLst>
              <a:ext uri="{FF2B5EF4-FFF2-40B4-BE49-F238E27FC236}">
                <a16:creationId xmlns:a16="http://schemas.microsoft.com/office/drawing/2014/main" id="{20428FCE-B0C7-245B-AFFD-1C3934F2EB5C}"/>
              </a:ext>
            </a:extLst>
          </p:cNvPr>
          <p:cNvSpPr/>
          <p:nvPr>
            <p:custDataLst>
              <p:tags r:id="rId9"/>
            </p:custDataLst>
          </p:nvPr>
        </p:nvSpPr>
        <p:spPr>
          <a:xfrm>
            <a:off x="7725749" y="1792095"/>
            <a:ext cx="3543615" cy="440837"/>
          </a:xfrm>
          <a:prstGeom prst="roundRect">
            <a:avLst>
              <a:gd name="adj" fmla="val 9611"/>
            </a:avLst>
          </a:prstGeom>
          <a:solidFill>
            <a:sysClr val="window" lastClr="FFFFFF"/>
          </a:solid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3C5A"/>
                </a:solidFill>
                <a:effectLst/>
                <a:uLnTx/>
                <a:uFillTx/>
                <a:latin typeface="Montserrat SemiBold"/>
                <a:ea typeface="+mn-ea"/>
                <a:cs typeface="+mn-cs"/>
              </a:rPr>
              <a:t>IT  / Security</a:t>
            </a:r>
          </a:p>
        </p:txBody>
      </p:sp>
      <p:sp>
        <p:nvSpPr>
          <p:cNvPr id="32" name="Rectangle : coins arrondis 31">
            <a:extLst>
              <a:ext uri="{FF2B5EF4-FFF2-40B4-BE49-F238E27FC236}">
                <a16:creationId xmlns:a16="http://schemas.microsoft.com/office/drawing/2014/main" id="{C658BEB7-3176-D855-2CCE-390291B9076B}"/>
              </a:ext>
            </a:extLst>
          </p:cNvPr>
          <p:cNvSpPr/>
          <p:nvPr>
            <p:custDataLst>
              <p:tags r:id="rId10"/>
            </p:custDataLst>
          </p:nvPr>
        </p:nvSpPr>
        <p:spPr>
          <a:xfrm>
            <a:off x="661238" y="5585476"/>
            <a:ext cx="11035720" cy="885846"/>
          </a:xfrm>
          <a:prstGeom prst="roundRect">
            <a:avLst>
              <a:gd name="adj" fmla="val 12820"/>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lIns="108000" tIns="180000" rIns="108000" bIns="180000" numCol="1" spcCol="144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rgbClr val="003C5A"/>
                </a:solidFill>
                <a:effectLst/>
                <a:uLnTx/>
                <a:uFillTx/>
                <a:latin typeface="Montserrat SemiBold"/>
                <a:ea typeface="+mn-ea"/>
                <a:cs typeface="+mn-cs"/>
              </a:rPr>
              <a:t>Comments</a:t>
            </a:r>
          </a:p>
          <a:p>
            <a:pPr marL="171450" marR="0" lvl="0" indent="-171450" defTabSz="914400" eaLnBrk="1" fontAlgn="auto" latinLnBrk="0" hangingPunct="1">
              <a:lnSpc>
                <a:spcPct val="100000"/>
              </a:lnSpc>
              <a:spcBef>
                <a:spcPts val="0"/>
              </a:spcBef>
              <a:spcAft>
                <a:spcPts val="400"/>
              </a:spcAft>
              <a:buClr>
                <a:srgbClr val="00B0F0"/>
              </a:buClr>
              <a:buSzTx/>
              <a:buFont typeface="Arial" panose="020B0604020202020204" pitchFamily="34" charset="0"/>
              <a:buChar char="•"/>
              <a:tabLst/>
              <a:defRPr/>
            </a:pPr>
            <a:r>
              <a:rPr kumimoji="0" lang="en-US" sz="1050" b="0" i="0" u="none" strike="noStrike" kern="0" cap="none" spc="0" normalizeH="0" baseline="0" noProof="0" dirty="0">
                <a:ln>
                  <a:noFill/>
                </a:ln>
                <a:solidFill>
                  <a:srgbClr val="003C5A"/>
                </a:solidFill>
                <a:effectLst/>
                <a:uLnTx/>
                <a:uFillTx/>
                <a:latin typeface="Montserrat"/>
                <a:ea typeface="+mn-ea"/>
                <a:cs typeface="+mn-cs"/>
              </a:rPr>
              <a:t>IGA solution can help by offering a 360° view of user accesses (integrated app)</a:t>
            </a:r>
          </a:p>
          <a:p>
            <a:pPr marL="171450" marR="0" lvl="0" indent="-171450" defTabSz="914400" eaLnBrk="1" fontAlgn="auto" latinLnBrk="0" hangingPunct="1">
              <a:lnSpc>
                <a:spcPct val="100000"/>
              </a:lnSpc>
              <a:spcBef>
                <a:spcPts val="0"/>
              </a:spcBef>
              <a:spcAft>
                <a:spcPts val="400"/>
              </a:spcAft>
              <a:buClr>
                <a:srgbClr val="00B0F0"/>
              </a:buClr>
              <a:buSzTx/>
              <a:buFont typeface="Arial" panose="020B0604020202020204" pitchFamily="34" charset="0"/>
              <a:buChar char="•"/>
              <a:tabLst/>
              <a:defRPr/>
            </a:pPr>
            <a:r>
              <a:rPr kumimoji="0" lang="en-US" sz="1050" b="0" i="0" u="none" strike="noStrike" kern="0" cap="none" spc="0" normalizeH="0" baseline="0" noProof="0" dirty="0">
                <a:ln>
                  <a:noFill/>
                </a:ln>
                <a:solidFill>
                  <a:srgbClr val="003C5A"/>
                </a:solidFill>
                <a:effectLst/>
                <a:uLnTx/>
                <a:uFillTx/>
                <a:latin typeface="Montserrat"/>
                <a:ea typeface="+mn-ea"/>
                <a:cs typeface="+mn-cs"/>
              </a:rPr>
              <a:t>SAP ECC has defined a list of business roles in its application</a:t>
            </a:r>
          </a:p>
        </p:txBody>
      </p:sp>
      <p:sp>
        <p:nvSpPr>
          <p:cNvPr id="33" name="Rectangle : coins arrondis 32">
            <a:extLst>
              <a:ext uri="{FF2B5EF4-FFF2-40B4-BE49-F238E27FC236}">
                <a16:creationId xmlns:a16="http://schemas.microsoft.com/office/drawing/2014/main" id="{84EFCEAE-A3E4-AF68-3197-5B55C0446AC3}"/>
              </a:ext>
            </a:extLst>
          </p:cNvPr>
          <p:cNvSpPr/>
          <p:nvPr>
            <p:custDataLst>
              <p:tags r:id="rId11"/>
            </p:custDataLst>
          </p:nvPr>
        </p:nvSpPr>
        <p:spPr>
          <a:xfrm>
            <a:off x="5686633" y="3049743"/>
            <a:ext cx="4838124" cy="1901501"/>
          </a:xfrm>
          <a:prstGeom prst="roundRect">
            <a:avLst>
              <a:gd name="adj" fmla="val 11966"/>
            </a:avLst>
          </a:prstGeom>
          <a:solidFill>
            <a:srgbClr val="009581"/>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4" name="Rectangle : coins arrondis 33">
            <a:extLst>
              <a:ext uri="{FF2B5EF4-FFF2-40B4-BE49-F238E27FC236}">
                <a16:creationId xmlns:a16="http://schemas.microsoft.com/office/drawing/2014/main" id="{E661765F-FD10-D454-E171-A1D6BDABF4C2}"/>
              </a:ext>
            </a:extLst>
          </p:cNvPr>
          <p:cNvSpPr/>
          <p:nvPr>
            <p:custDataLst>
              <p:tags r:id="rId12"/>
            </p:custDataLst>
          </p:nvPr>
        </p:nvSpPr>
        <p:spPr>
          <a:xfrm>
            <a:off x="6809352" y="3049743"/>
            <a:ext cx="4884346" cy="1901501"/>
          </a:xfrm>
          <a:prstGeom prst="roundRect">
            <a:avLst>
              <a:gd name="adj" fmla="val 7343"/>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5" name="ZoneTexte 34">
            <a:extLst>
              <a:ext uri="{FF2B5EF4-FFF2-40B4-BE49-F238E27FC236}">
                <a16:creationId xmlns:a16="http://schemas.microsoft.com/office/drawing/2014/main" id="{47078509-9FF5-54FC-F68A-B749D642DE9D}"/>
              </a:ext>
            </a:extLst>
          </p:cNvPr>
          <p:cNvSpPr txBox="1"/>
          <p:nvPr>
            <p:custDataLst>
              <p:tags r:id="rId13"/>
            </p:custDataLst>
          </p:nvPr>
        </p:nvSpPr>
        <p:spPr>
          <a:xfrm>
            <a:off x="7072941" y="3238775"/>
            <a:ext cx="2275355" cy="215444"/>
          </a:xfrm>
          <a:prstGeom prst="rect">
            <a:avLst/>
          </a:prstGeom>
          <a:noFill/>
        </p:spPr>
        <p:txBody>
          <a:bodyPr wrap="square" lIns="0" tIns="0" rIns="0" bIns="0" rtlCol="0" anchor="b">
            <a:spAutoFit/>
          </a:bodyPr>
          <a:lstStyle/>
          <a:p>
            <a:r>
              <a:rPr lang="en-US" sz="1400" dirty="0">
                <a:solidFill>
                  <a:srgbClr val="009581"/>
                </a:solidFill>
                <a:latin typeface="Montserrat SemiBold"/>
              </a:rPr>
              <a:t>Budget estimation</a:t>
            </a:r>
          </a:p>
        </p:txBody>
      </p:sp>
      <p:cxnSp>
        <p:nvCxnSpPr>
          <p:cNvPr id="36" name="Connecteur droit 35">
            <a:extLst>
              <a:ext uri="{FF2B5EF4-FFF2-40B4-BE49-F238E27FC236}">
                <a16:creationId xmlns:a16="http://schemas.microsoft.com/office/drawing/2014/main" id="{669B3CA1-87D0-F7B8-801A-6FBE3C54AA19}"/>
              </a:ext>
            </a:extLst>
          </p:cNvPr>
          <p:cNvCxnSpPr>
            <a:cxnSpLocks/>
          </p:cNvCxnSpPr>
          <p:nvPr>
            <p:custDataLst>
              <p:tags r:id="rId14"/>
            </p:custDataLst>
          </p:nvPr>
        </p:nvCxnSpPr>
        <p:spPr>
          <a:xfrm>
            <a:off x="7105216" y="3570279"/>
            <a:ext cx="187607" cy="0"/>
          </a:xfrm>
          <a:prstGeom prst="line">
            <a:avLst/>
          </a:prstGeom>
          <a:noFill/>
          <a:ln w="76200" cap="rnd" cmpd="sng" algn="ctr">
            <a:solidFill>
              <a:srgbClr val="009581"/>
            </a:solidFill>
            <a:prstDash val="solid"/>
            <a:miter lim="800000"/>
          </a:ln>
          <a:effectLst/>
        </p:spPr>
      </p:cxnSp>
      <p:pic>
        <p:nvPicPr>
          <p:cNvPr id="37" name="Graphique 36">
            <a:extLst>
              <a:ext uri="{FF2B5EF4-FFF2-40B4-BE49-F238E27FC236}">
                <a16:creationId xmlns:a16="http://schemas.microsoft.com/office/drawing/2014/main" id="{3A716509-FF55-5695-29EE-65293F0E27D8}"/>
              </a:ext>
            </a:extLst>
          </p:cNvPr>
          <p:cNvPicPr>
            <a:picLocks noChangeAspect="1"/>
          </p:cNvPicPr>
          <p:nvPr>
            <p:custDataLst>
              <p:tags r:id="rId15"/>
            </p:custDataLst>
          </p:nvPr>
        </p:nvPicPr>
        <p:blipFill>
          <a:blip r:embed="rId19">
            <a:extLst>
              <a:ext uri="{96DAC541-7B7A-43D3-8B79-37D633B846F1}">
                <asvg:svgBlip xmlns:asvg="http://schemas.microsoft.com/office/drawing/2016/SVG/main" r:embed="rId20"/>
              </a:ext>
            </a:extLst>
          </a:blip>
          <a:stretch>
            <a:fillRect/>
          </a:stretch>
        </p:blipFill>
        <p:spPr>
          <a:xfrm>
            <a:off x="5950223" y="4062979"/>
            <a:ext cx="512610" cy="424266"/>
          </a:xfrm>
          <a:prstGeom prst="rect">
            <a:avLst/>
          </a:prstGeom>
        </p:spPr>
      </p:pic>
      <p:sp>
        <p:nvSpPr>
          <p:cNvPr id="38" name="ZoneTexte 37">
            <a:extLst>
              <a:ext uri="{FF2B5EF4-FFF2-40B4-BE49-F238E27FC236}">
                <a16:creationId xmlns:a16="http://schemas.microsoft.com/office/drawing/2014/main" id="{823D84DB-FD32-001F-5B21-B61B6AA36C83}"/>
              </a:ext>
            </a:extLst>
          </p:cNvPr>
          <p:cNvSpPr txBox="1"/>
          <p:nvPr>
            <p:custDataLst>
              <p:tags r:id="rId16"/>
            </p:custDataLst>
          </p:nvPr>
        </p:nvSpPr>
        <p:spPr>
          <a:xfrm>
            <a:off x="7095789" y="3920587"/>
            <a:ext cx="1808941" cy="969496"/>
          </a:xfrm>
          <a:prstGeom prst="rect">
            <a:avLst/>
          </a:prstGeom>
          <a:noFill/>
        </p:spPr>
        <p:txBody>
          <a:bodyPr wrap="square" lIns="0" tIns="0" rIns="0" bIns="0" rtlCol="0" anchor="b">
            <a:spAutoFit/>
          </a:bodyPr>
          <a:lstStyle/>
          <a:p>
            <a:pPr>
              <a:spcAft>
                <a:spcPts val="600"/>
              </a:spcAft>
              <a:buClr>
                <a:srgbClr val="00B5E2"/>
              </a:buClr>
              <a:defRPr/>
            </a:pPr>
            <a:r>
              <a:rPr lang="en-US" sz="1200" dirty="0">
                <a:solidFill>
                  <a:srgbClr val="003C5A"/>
                </a:solidFill>
                <a:latin typeface="Montserrat SemiBold"/>
              </a:rPr>
              <a:t>Product cost</a:t>
            </a:r>
          </a:p>
          <a:p>
            <a:pPr>
              <a:spcAft>
                <a:spcPts val="600"/>
              </a:spcAft>
              <a:buClr>
                <a:srgbClr val="00B5E2"/>
              </a:buClr>
              <a:defRPr/>
            </a:pPr>
            <a:r>
              <a:rPr lang="en-US" sz="1200" dirty="0">
                <a:solidFill>
                  <a:srgbClr val="003C5A"/>
                </a:solidFill>
                <a:latin typeface="Montserrat"/>
              </a:rPr>
              <a:t>N/A</a:t>
            </a:r>
          </a:p>
          <a:p>
            <a:pPr>
              <a:spcAft>
                <a:spcPts val="600"/>
              </a:spcAft>
              <a:buClr>
                <a:srgbClr val="00B5E2"/>
              </a:buClr>
              <a:defRPr/>
            </a:pPr>
            <a:r>
              <a:rPr lang="en-US" sz="1200" dirty="0">
                <a:solidFill>
                  <a:srgbClr val="003C5A"/>
                </a:solidFill>
                <a:latin typeface="Montserrat SemiBold"/>
              </a:rPr>
              <a:t>Project cost</a:t>
            </a:r>
          </a:p>
          <a:p>
            <a:pPr>
              <a:spcAft>
                <a:spcPts val="600"/>
              </a:spcAft>
              <a:buClr>
                <a:srgbClr val="00B5E2"/>
              </a:buClr>
              <a:defRPr/>
            </a:pPr>
            <a:r>
              <a:rPr lang="en-US" sz="1200" dirty="0">
                <a:solidFill>
                  <a:srgbClr val="003C5A"/>
                </a:solidFill>
                <a:latin typeface="Montserrat"/>
              </a:rPr>
              <a:t>4,5 K€ / role</a:t>
            </a:r>
            <a:endParaRPr lang="en-US" sz="1200" dirty="0">
              <a:solidFill>
                <a:srgbClr val="003C5A"/>
              </a:solidFill>
              <a:latin typeface="Montserrat SemiBold"/>
            </a:endParaRPr>
          </a:p>
        </p:txBody>
      </p:sp>
      <p:sp>
        <p:nvSpPr>
          <p:cNvPr id="39" name="ZoneTexte 38">
            <a:extLst>
              <a:ext uri="{FF2B5EF4-FFF2-40B4-BE49-F238E27FC236}">
                <a16:creationId xmlns:a16="http://schemas.microsoft.com/office/drawing/2014/main" id="{512D8F70-14A3-7045-00E0-B9F5EE0CCC29}"/>
              </a:ext>
            </a:extLst>
          </p:cNvPr>
          <p:cNvSpPr txBox="1"/>
          <p:nvPr>
            <p:custDataLst>
              <p:tags r:id="rId17"/>
            </p:custDataLst>
          </p:nvPr>
        </p:nvSpPr>
        <p:spPr>
          <a:xfrm>
            <a:off x="9167612" y="3920587"/>
            <a:ext cx="2526086" cy="969496"/>
          </a:xfrm>
          <a:prstGeom prst="rect">
            <a:avLst/>
          </a:prstGeom>
          <a:noFill/>
        </p:spPr>
        <p:txBody>
          <a:bodyPr wrap="square" lIns="0" tIns="0" rIns="0" bIns="0" rtlCol="0" anchor="b">
            <a:spAutoFit/>
          </a:bodyPr>
          <a:lstStyle/>
          <a:p>
            <a:pPr>
              <a:spcAft>
                <a:spcPts val="600"/>
              </a:spcAft>
              <a:buClr>
                <a:srgbClr val="00B5E2"/>
              </a:buClr>
              <a:defRPr/>
            </a:pPr>
            <a:r>
              <a:rPr lang="en-US" sz="1200" dirty="0">
                <a:solidFill>
                  <a:srgbClr val="003C5A"/>
                </a:solidFill>
                <a:latin typeface="Montserrat SemiBold"/>
              </a:rPr>
              <a:t>Product recurring cost</a:t>
            </a:r>
          </a:p>
          <a:p>
            <a:pPr>
              <a:spcAft>
                <a:spcPts val="600"/>
              </a:spcAft>
              <a:buClr>
                <a:srgbClr val="00B5E2"/>
              </a:buClr>
              <a:defRPr/>
            </a:pPr>
            <a:r>
              <a:rPr lang="en-US" sz="1200" dirty="0">
                <a:solidFill>
                  <a:srgbClr val="003C5A"/>
                </a:solidFill>
                <a:latin typeface="Montserrat"/>
              </a:rPr>
              <a:t>N/A</a:t>
            </a:r>
            <a:endParaRPr lang="en-US" sz="1200" dirty="0">
              <a:solidFill>
                <a:srgbClr val="003C5A"/>
              </a:solidFill>
              <a:latin typeface="Montserrat SemiBold"/>
            </a:endParaRPr>
          </a:p>
          <a:p>
            <a:pPr>
              <a:spcAft>
                <a:spcPts val="600"/>
              </a:spcAft>
              <a:buClr>
                <a:srgbClr val="00B5E2"/>
              </a:buClr>
              <a:defRPr/>
            </a:pPr>
            <a:r>
              <a:rPr lang="en-US" sz="1200" dirty="0">
                <a:solidFill>
                  <a:srgbClr val="003C5A"/>
                </a:solidFill>
                <a:latin typeface="Montserrat SemiBold"/>
              </a:rPr>
              <a:t>Run recurring cost</a:t>
            </a:r>
          </a:p>
          <a:p>
            <a:pPr>
              <a:spcAft>
                <a:spcPts val="600"/>
              </a:spcAft>
              <a:buClr>
                <a:srgbClr val="00B5E2"/>
              </a:buClr>
              <a:defRPr/>
            </a:pPr>
            <a:r>
              <a:rPr lang="en-US" sz="1200" dirty="0">
                <a:solidFill>
                  <a:srgbClr val="003C5A"/>
                </a:solidFill>
                <a:latin typeface="Montserrat"/>
              </a:rPr>
              <a:t>2 K€ / team</a:t>
            </a:r>
          </a:p>
        </p:txBody>
      </p:sp>
    </p:spTree>
    <p:extLst>
      <p:ext uri="{BB962C8B-B14F-4D97-AF65-F5344CB8AC3E}">
        <p14:creationId xmlns:p14="http://schemas.microsoft.com/office/powerpoint/2010/main" val="3925659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E0F8FC-B225-27FB-E154-87980632FDFD}"/>
              </a:ext>
            </a:extLst>
          </p:cNvPr>
          <p:cNvSpPr>
            <a:spLocks noGrp="1"/>
          </p:cNvSpPr>
          <p:nvPr>
            <p:ph type="title"/>
          </p:nvPr>
        </p:nvSpPr>
        <p:spPr/>
        <p:txBody>
          <a:bodyPr/>
          <a:lstStyle/>
          <a:p>
            <a:r>
              <a:rPr lang="fr-FR" dirty="0"/>
              <a:t>Unit of </a:t>
            </a:r>
            <a:r>
              <a:rPr lang="fr-FR" dirty="0" err="1"/>
              <a:t>work</a:t>
            </a:r>
            <a:r>
              <a:rPr lang="fr-FR" dirty="0"/>
              <a:t> : applications </a:t>
            </a:r>
            <a:r>
              <a:rPr lang="fr-FR" dirty="0" err="1"/>
              <a:t>integration</a:t>
            </a:r>
            <a:endParaRPr lang="fr-FR" dirty="0"/>
          </a:p>
        </p:txBody>
      </p:sp>
      <p:sp>
        <p:nvSpPr>
          <p:cNvPr id="4" name="Espace réservé du pied de page 3">
            <a:extLst>
              <a:ext uri="{FF2B5EF4-FFF2-40B4-BE49-F238E27FC236}">
                <a16:creationId xmlns:a16="http://schemas.microsoft.com/office/drawing/2014/main" id="{7D0888D9-EAED-FB13-B2F3-F0B921607498}"/>
              </a:ext>
            </a:extLst>
          </p:cNvPr>
          <p:cNvSpPr>
            <a:spLocks noGrp="1"/>
          </p:cNvSpPr>
          <p:nvPr>
            <p:ph type="ftr" sz="quarter" idx="13"/>
          </p:nvPr>
        </p:nvSpPr>
        <p:spPr/>
        <p:txBody>
          <a:bodyPr/>
          <a:lstStyle/>
          <a:p>
            <a:r>
              <a:rPr lang="fr-FR"/>
              <a:t>Bouygues Construction  |  Mois Année</a:t>
            </a:r>
          </a:p>
        </p:txBody>
      </p:sp>
      <p:sp>
        <p:nvSpPr>
          <p:cNvPr id="5" name="Espace réservé du numéro de diapositive 4">
            <a:extLst>
              <a:ext uri="{FF2B5EF4-FFF2-40B4-BE49-F238E27FC236}">
                <a16:creationId xmlns:a16="http://schemas.microsoft.com/office/drawing/2014/main" id="{428FB642-99AD-F722-B680-5B88764CBA50}"/>
              </a:ext>
            </a:extLst>
          </p:cNvPr>
          <p:cNvSpPr>
            <a:spLocks noGrp="1"/>
          </p:cNvSpPr>
          <p:nvPr>
            <p:ph type="sldNum" sz="quarter" idx="14"/>
          </p:nvPr>
        </p:nvSpPr>
        <p:spPr/>
        <p:txBody>
          <a:bodyPr/>
          <a:lstStyle/>
          <a:p>
            <a:r>
              <a:rPr lang="fr-FR"/>
              <a:t>| </a:t>
            </a:r>
            <a:fld id="{C2EBF694-A8F9-4F06-8F8E-D09447FAA2D5}" type="slidenum">
              <a:rPr smtClean="0"/>
              <a:pPr/>
              <a:t>26</a:t>
            </a:fld>
            <a:endParaRPr/>
          </a:p>
        </p:txBody>
      </p:sp>
      <p:sp>
        <p:nvSpPr>
          <p:cNvPr id="23" name="Rectangle : coins arrondis 22">
            <a:extLst>
              <a:ext uri="{FF2B5EF4-FFF2-40B4-BE49-F238E27FC236}">
                <a16:creationId xmlns:a16="http://schemas.microsoft.com/office/drawing/2014/main" id="{B2F9E151-11DD-C744-5FEC-397367464603}"/>
              </a:ext>
            </a:extLst>
          </p:cNvPr>
          <p:cNvSpPr/>
          <p:nvPr>
            <p:custDataLst>
              <p:tags r:id="rId1"/>
            </p:custDataLst>
          </p:nvPr>
        </p:nvSpPr>
        <p:spPr>
          <a:xfrm>
            <a:off x="679711" y="1278530"/>
            <a:ext cx="4684738" cy="4101786"/>
          </a:xfrm>
          <a:prstGeom prst="roundRect">
            <a:avLst>
              <a:gd name="adj" fmla="val 1796"/>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24" name="TextBox 16">
            <a:extLst>
              <a:ext uri="{FF2B5EF4-FFF2-40B4-BE49-F238E27FC236}">
                <a16:creationId xmlns:a16="http://schemas.microsoft.com/office/drawing/2014/main" id="{629A5535-4B0C-620D-BD37-951B21513287}"/>
              </a:ext>
            </a:extLst>
          </p:cNvPr>
          <p:cNvSpPr txBox="1"/>
          <p:nvPr>
            <p:custDataLst>
              <p:tags r:id="rId2"/>
            </p:custDataLst>
          </p:nvPr>
        </p:nvSpPr>
        <p:spPr>
          <a:xfrm>
            <a:off x="914437" y="2206988"/>
            <a:ext cx="4150995" cy="2677656"/>
          </a:xfrm>
          <a:prstGeom prst="rect">
            <a:avLst/>
          </a:prstGeom>
          <a:noFill/>
        </p:spPr>
        <p:txBody>
          <a:bodyPr wrap="square" lIns="0" tIns="0" rIns="0" bIns="0" rtlCol="0">
            <a:spAutoFit/>
          </a:bodyPr>
          <a:lstStyle/>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Simple connector :</a:t>
            </a:r>
          </a:p>
          <a:p>
            <a:pPr marL="628650" lvl="1" indent="-171450">
              <a:spcAft>
                <a:spcPts val="600"/>
              </a:spcAft>
              <a:buClr>
                <a:srgbClr val="00B0F0"/>
              </a:buClr>
              <a:buFont typeface="Arial" panose="020B0604020202020204" pitchFamily="34" charset="0"/>
              <a:buChar char="•"/>
            </a:pPr>
            <a:r>
              <a:rPr lang="en-US" sz="1200" dirty="0">
                <a:solidFill>
                  <a:srgbClr val="003C5A"/>
                </a:solidFill>
                <a:latin typeface="Montserrat"/>
              </a:rPr>
              <a:t>Applications for which connectors</a:t>
            </a:r>
            <a:br>
              <a:rPr lang="en-US" sz="1200" dirty="0">
                <a:solidFill>
                  <a:srgbClr val="003C5A"/>
                </a:solidFill>
                <a:latin typeface="Montserrat"/>
              </a:rPr>
            </a:br>
            <a:r>
              <a:rPr lang="en-US" sz="1200" dirty="0">
                <a:solidFill>
                  <a:srgbClr val="003C5A"/>
                </a:solidFill>
                <a:latin typeface="Montserrat"/>
              </a:rPr>
              <a:t>are already developed</a:t>
            </a:r>
            <a:br>
              <a:rPr lang="en-US" sz="1200" dirty="0">
                <a:solidFill>
                  <a:srgbClr val="003C5A"/>
                </a:solidFill>
                <a:latin typeface="Montserrat"/>
              </a:rPr>
            </a:br>
            <a:endParaRPr lang="en-US" sz="1200" dirty="0">
              <a:solidFill>
                <a:srgbClr val="003C5A"/>
              </a:solidFill>
              <a:latin typeface="Montserrat"/>
            </a:endParaRPr>
          </a:p>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Medium :</a:t>
            </a:r>
          </a:p>
          <a:p>
            <a:pPr marL="628650" lvl="1" indent="-171450">
              <a:spcAft>
                <a:spcPts val="600"/>
              </a:spcAft>
              <a:buClr>
                <a:srgbClr val="00B0F0"/>
              </a:buClr>
              <a:buFont typeface="Arial" panose="020B0604020202020204" pitchFamily="34" charset="0"/>
              <a:buChar char="•"/>
            </a:pPr>
            <a:r>
              <a:rPr lang="en-US" sz="1200" dirty="0">
                <a:solidFill>
                  <a:srgbClr val="003C5A"/>
                </a:solidFill>
                <a:latin typeface="Montserrat"/>
              </a:rPr>
              <a:t>Applications with standardized interface</a:t>
            </a:r>
            <a:br>
              <a:rPr lang="en-US" sz="1200" dirty="0">
                <a:solidFill>
                  <a:srgbClr val="003C5A"/>
                </a:solidFill>
                <a:latin typeface="Montserrat"/>
              </a:rPr>
            </a:br>
            <a:r>
              <a:rPr lang="en-US" sz="1200" dirty="0">
                <a:solidFill>
                  <a:srgbClr val="003C5A"/>
                </a:solidFill>
                <a:latin typeface="Montserrat"/>
              </a:rPr>
              <a:t>(API REST, CSV, SCIM, etc.) </a:t>
            </a:r>
            <a:br>
              <a:rPr lang="en-US" sz="1200" dirty="0">
                <a:solidFill>
                  <a:srgbClr val="003C5A"/>
                </a:solidFill>
                <a:latin typeface="Montserrat"/>
              </a:rPr>
            </a:br>
            <a:endParaRPr lang="en-US" sz="1200" dirty="0">
              <a:solidFill>
                <a:srgbClr val="003C5A"/>
              </a:solidFill>
              <a:latin typeface="Montserrat"/>
            </a:endParaRPr>
          </a:p>
          <a:p>
            <a:pPr marL="171450" indent="-171450">
              <a:spcAft>
                <a:spcPts val="600"/>
              </a:spcAft>
              <a:buClr>
                <a:srgbClr val="00B0F0"/>
              </a:buClr>
              <a:buFont typeface="Arial" panose="020B0604020202020204" pitchFamily="34" charset="0"/>
              <a:buChar char="•"/>
            </a:pPr>
            <a:r>
              <a:rPr lang="en-US" sz="1200" dirty="0">
                <a:solidFill>
                  <a:srgbClr val="003C5A"/>
                </a:solidFill>
                <a:latin typeface="Montserrat"/>
              </a:rPr>
              <a:t>Complex : </a:t>
            </a:r>
          </a:p>
          <a:p>
            <a:pPr marL="628650" lvl="1" indent="-171450">
              <a:spcAft>
                <a:spcPts val="600"/>
              </a:spcAft>
              <a:buClr>
                <a:srgbClr val="00B0F0"/>
              </a:buClr>
              <a:buFont typeface="Arial" panose="020B0604020202020204" pitchFamily="34" charset="0"/>
              <a:buChar char="•"/>
            </a:pPr>
            <a:r>
              <a:rPr lang="en-US" sz="1200" dirty="0">
                <a:solidFill>
                  <a:srgbClr val="003C5A"/>
                </a:solidFill>
                <a:latin typeface="Montserrat"/>
              </a:rPr>
              <a:t>Applications that cannot be categorized as simple or medium. </a:t>
            </a:r>
          </a:p>
          <a:p>
            <a:pPr marL="628650" lvl="1" indent="-171450">
              <a:spcAft>
                <a:spcPts val="600"/>
              </a:spcAft>
              <a:buClr>
                <a:srgbClr val="00B0F0"/>
              </a:buClr>
              <a:buFont typeface="Arial" panose="020B0604020202020204" pitchFamily="34" charset="0"/>
              <a:buChar char="•"/>
            </a:pPr>
            <a:endParaRPr lang="en-US" sz="1200" dirty="0">
              <a:solidFill>
                <a:srgbClr val="003C5A"/>
              </a:solidFill>
              <a:latin typeface="Montserrat"/>
            </a:endParaRPr>
          </a:p>
        </p:txBody>
      </p:sp>
      <p:sp>
        <p:nvSpPr>
          <p:cNvPr id="25" name="Rectangle : avec coins arrondis en haut 24">
            <a:extLst>
              <a:ext uri="{FF2B5EF4-FFF2-40B4-BE49-F238E27FC236}">
                <a16:creationId xmlns:a16="http://schemas.microsoft.com/office/drawing/2014/main" id="{ED3ADDCF-D540-AEA8-F750-D676DF2F4063}"/>
              </a:ext>
            </a:extLst>
          </p:cNvPr>
          <p:cNvSpPr/>
          <p:nvPr>
            <p:custDataLst>
              <p:tags r:id="rId3"/>
            </p:custDataLst>
          </p:nvPr>
        </p:nvSpPr>
        <p:spPr>
          <a:xfrm>
            <a:off x="679711" y="1278530"/>
            <a:ext cx="4684738" cy="694026"/>
          </a:xfrm>
          <a:prstGeom prst="round2SameRect">
            <a:avLst>
              <a:gd name="adj1" fmla="val 14129"/>
              <a:gd name="adj2" fmla="val 0"/>
            </a:avLst>
          </a:prstGeom>
          <a:solidFill>
            <a:srgbClr val="003C5A">
              <a:lumMod val="75000"/>
              <a:lumOff val="2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26" name="ZoneTexte 25">
            <a:extLst>
              <a:ext uri="{FF2B5EF4-FFF2-40B4-BE49-F238E27FC236}">
                <a16:creationId xmlns:a16="http://schemas.microsoft.com/office/drawing/2014/main" id="{D07FBBBF-A83E-C6A5-588A-45418FE27053}"/>
              </a:ext>
            </a:extLst>
          </p:cNvPr>
          <p:cNvSpPr txBox="1"/>
          <p:nvPr>
            <p:custDataLst>
              <p:tags r:id="rId4"/>
            </p:custDataLst>
          </p:nvPr>
        </p:nvSpPr>
        <p:spPr>
          <a:xfrm>
            <a:off x="914437" y="1447828"/>
            <a:ext cx="3876181" cy="215444"/>
          </a:xfrm>
          <a:prstGeom prst="rect">
            <a:avLst/>
          </a:prstGeom>
          <a:noFill/>
        </p:spPr>
        <p:txBody>
          <a:bodyPr wrap="square" lIns="0" tIns="0" rIns="0" bIns="0" rtlCol="0" anchor="b">
            <a:spAutoFit/>
          </a:bodyPr>
          <a:lstStyle/>
          <a:p>
            <a:r>
              <a:rPr lang="en-US" sz="1400" dirty="0">
                <a:solidFill>
                  <a:prstClr val="white"/>
                </a:solidFill>
                <a:latin typeface="Montserrat SemiBold"/>
              </a:rPr>
              <a:t>Description</a:t>
            </a:r>
          </a:p>
        </p:txBody>
      </p:sp>
      <p:cxnSp>
        <p:nvCxnSpPr>
          <p:cNvPr id="27" name="Connecteur droit 26">
            <a:extLst>
              <a:ext uri="{FF2B5EF4-FFF2-40B4-BE49-F238E27FC236}">
                <a16:creationId xmlns:a16="http://schemas.microsoft.com/office/drawing/2014/main" id="{9556BDD3-740B-381F-7061-085E88FF0150}"/>
              </a:ext>
            </a:extLst>
          </p:cNvPr>
          <p:cNvCxnSpPr>
            <a:cxnSpLocks/>
          </p:cNvCxnSpPr>
          <p:nvPr>
            <p:custDataLst>
              <p:tags r:id="rId5"/>
            </p:custDataLst>
          </p:nvPr>
        </p:nvCxnSpPr>
        <p:spPr>
          <a:xfrm>
            <a:off x="951838" y="1805162"/>
            <a:ext cx="321523" cy="0"/>
          </a:xfrm>
          <a:prstGeom prst="line">
            <a:avLst/>
          </a:prstGeom>
          <a:noFill/>
          <a:ln w="76200" cap="rnd" cmpd="sng" algn="ctr">
            <a:solidFill>
              <a:sysClr val="window" lastClr="FFFFFF"/>
            </a:solidFill>
            <a:prstDash val="solid"/>
            <a:miter lim="800000"/>
          </a:ln>
          <a:effectLst/>
        </p:spPr>
      </p:cxnSp>
      <p:sp>
        <p:nvSpPr>
          <p:cNvPr id="28" name="Rectangle : coins arrondis 27">
            <a:extLst>
              <a:ext uri="{FF2B5EF4-FFF2-40B4-BE49-F238E27FC236}">
                <a16:creationId xmlns:a16="http://schemas.microsoft.com/office/drawing/2014/main" id="{EE33DA30-8BFC-73E0-25F7-C6AB6DD34226}"/>
              </a:ext>
            </a:extLst>
          </p:cNvPr>
          <p:cNvSpPr/>
          <p:nvPr>
            <p:custDataLst>
              <p:tags r:id="rId6"/>
            </p:custDataLst>
          </p:nvPr>
        </p:nvSpPr>
        <p:spPr>
          <a:xfrm>
            <a:off x="679711" y="5653881"/>
            <a:ext cx="11032460" cy="857932"/>
          </a:xfrm>
          <a:prstGeom prst="roundRect">
            <a:avLst>
              <a:gd name="adj" fmla="val 12820"/>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lIns="108000" tIns="180000" rIns="108000" bIns="180000" numCol="1" spcCol="144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rgbClr val="003C5A"/>
                </a:solidFill>
                <a:effectLst/>
                <a:uLnTx/>
                <a:uFillTx/>
                <a:latin typeface="Montserrat SemiBold"/>
                <a:ea typeface="+mn-ea"/>
                <a:cs typeface="+mn-cs"/>
              </a:rPr>
              <a:t>Comments</a:t>
            </a:r>
          </a:p>
          <a:p>
            <a:pPr marL="171450" marR="0" lvl="0" indent="-171450" defTabSz="914400" eaLnBrk="1" fontAlgn="auto" latinLnBrk="0" hangingPunct="1">
              <a:lnSpc>
                <a:spcPct val="100000"/>
              </a:lnSpc>
              <a:spcBef>
                <a:spcPts val="0"/>
              </a:spcBef>
              <a:spcAft>
                <a:spcPts val="400"/>
              </a:spcAft>
              <a:buClr>
                <a:srgbClr val="00B0F0"/>
              </a:buClr>
              <a:buSzTx/>
              <a:buFont typeface="Arial" panose="020B0604020202020204" pitchFamily="34" charset="0"/>
              <a:buChar char="•"/>
              <a:tabLst/>
              <a:defRPr/>
            </a:pPr>
            <a:r>
              <a:rPr kumimoji="0" lang="en-US" sz="1050" b="0" i="0" u="none" strike="noStrike" kern="0" cap="none" spc="0" normalizeH="0" baseline="0" noProof="0" dirty="0">
                <a:ln>
                  <a:noFill/>
                </a:ln>
                <a:solidFill>
                  <a:srgbClr val="003C5A"/>
                </a:solidFill>
                <a:effectLst/>
                <a:uLnTx/>
                <a:uFillTx/>
                <a:latin typeface="Montserrat"/>
                <a:ea typeface="+mn-ea"/>
                <a:cs typeface="+mn-cs"/>
              </a:rPr>
              <a:t>Costs regarding target application are not referenced here.  </a:t>
            </a:r>
          </a:p>
        </p:txBody>
      </p:sp>
      <p:sp>
        <p:nvSpPr>
          <p:cNvPr id="29" name="Rectangle : coins arrondis 28">
            <a:extLst>
              <a:ext uri="{FF2B5EF4-FFF2-40B4-BE49-F238E27FC236}">
                <a16:creationId xmlns:a16="http://schemas.microsoft.com/office/drawing/2014/main" id="{8EF4C0D5-972C-3924-3A15-C5C6885DDAB6}"/>
              </a:ext>
            </a:extLst>
          </p:cNvPr>
          <p:cNvSpPr/>
          <p:nvPr>
            <p:custDataLst>
              <p:tags r:id="rId7"/>
            </p:custDataLst>
          </p:nvPr>
        </p:nvSpPr>
        <p:spPr>
          <a:xfrm>
            <a:off x="5705106" y="2973184"/>
            <a:ext cx="4838124" cy="2297447"/>
          </a:xfrm>
          <a:prstGeom prst="roundRect">
            <a:avLst>
              <a:gd name="adj" fmla="val 11966"/>
            </a:avLst>
          </a:prstGeom>
          <a:solidFill>
            <a:srgbClr val="009581"/>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0" name="Rectangle : coins arrondis 29">
            <a:extLst>
              <a:ext uri="{FF2B5EF4-FFF2-40B4-BE49-F238E27FC236}">
                <a16:creationId xmlns:a16="http://schemas.microsoft.com/office/drawing/2014/main" id="{DE096D7F-5205-6B6A-5235-5E1E308F4E57}"/>
              </a:ext>
            </a:extLst>
          </p:cNvPr>
          <p:cNvSpPr/>
          <p:nvPr>
            <p:custDataLst>
              <p:tags r:id="rId8"/>
            </p:custDataLst>
          </p:nvPr>
        </p:nvSpPr>
        <p:spPr>
          <a:xfrm>
            <a:off x="6827825" y="2973184"/>
            <a:ext cx="4884346" cy="2297447"/>
          </a:xfrm>
          <a:prstGeom prst="roundRect">
            <a:avLst>
              <a:gd name="adj" fmla="val 7343"/>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1" name="ZoneTexte 30">
            <a:extLst>
              <a:ext uri="{FF2B5EF4-FFF2-40B4-BE49-F238E27FC236}">
                <a16:creationId xmlns:a16="http://schemas.microsoft.com/office/drawing/2014/main" id="{ECFF66EA-4F70-AD16-63E5-CF51E50566C8}"/>
              </a:ext>
            </a:extLst>
          </p:cNvPr>
          <p:cNvSpPr txBox="1"/>
          <p:nvPr>
            <p:custDataLst>
              <p:tags r:id="rId9"/>
            </p:custDataLst>
          </p:nvPr>
        </p:nvSpPr>
        <p:spPr>
          <a:xfrm>
            <a:off x="7091414" y="3162216"/>
            <a:ext cx="2275355" cy="215444"/>
          </a:xfrm>
          <a:prstGeom prst="rect">
            <a:avLst/>
          </a:prstGeom>
          <a:noFill/>
        </p:spPr>
        <p:txBody>
          <a:bodyPr wrap="square" lIns="0" tIns="0" rIns="0" bIns="0" rtlCol="0" anchor="b">
            <a:spAutoFit/>
          </a:bodyPr>
          <a:lstStyle/>
          <a:p>
            <a:r>
              <a:rPr lang="en-US" sz="1400" dirty="0">
                <a:solidFill>
                  <a:srgbClr val="009581"/>
                </a:solidFill>
                <a:latin typeface="Montserrat SemiBold"/>
              </a:rPr>
              <a:t>Budget estimation</a:t>
            </a:r>
          </a:p>
        </p:txBody>
      </p:sp>
      <p:cxnSp>
        <p:nvCxnSpPr>
          <p:cNvPr id="32" name="Connecteur droit 31">
            <a:extLst>
              <a:ext uri="{FF2B5EF4-FFF2-40B4-BE49-F238E27FC236}">
                <a16:creationId xmlns:a16="http://schemas.microsoft.com/office/drawing/2014/main" id="{E4DB9A84-EA50-329B-0671-198B31EC3FE9}"/>
              </a:ext>
            </a:extLst>
          </p:cNvPr>
          <p:cNvCxnSpPr>
            <a:cxnSpLocks/>
          </p:cNvCxnSpPr>
          <p:nvPr>
            <p:custDataLst>
              <p:tags r:id="rId10"/>
            </p:custDataLst>
          </p:nvPr>
        </p:nvCxnSpPr>
        <p:spPr>
          <a:xfrm>
            <a:off x="7123689" y="3493720"/>
            <a:ext cx="187607" cy="0"/>
          </a:xfrm>
          <a:prstGeom prst="line">
            <a:avLst/>
          </a:prstGeom>
          <a:noFill/>
          <a:ln w="76200" cap="rnd" cmpd="sng" algn="ctr">
            <a:solidFill>
              <a:srgbClr val="009581"/>
            </a:solidFill>
            <a:prstDash val="solid"/>
            <a:miter lim="800000"/>
          </a:ln>
          <a:effectLst/>
        </p:spPr>
      </p:cxnSp>
      <p:pic>
        <p:nvPicPr>
          <p:cNvPr id="33" name="Graphique 32">
            <a:extLst>
              <a:ext uri="{FF2B5EF4-FFF2-40B4-BE49-F238E27FC236}">
                <a16:creationId xmlns:a16="http://schemas.microsoft.com/office/drawing/2014/main" id="{B2DA713B-509E-223A-C6CF-F4C1BDC44A82}"/>
              </a:ext>
            </a:extLst>
          </p:cNvPr>
          <p:cNvPicPr>
            <a:picLocks noChangeAspect="1"/>
          </p:cNvPicPr>
          <p:nvPr>
            <p:custDataLst>
              <p:tags r:id="rId11"/>
            </p:custDataLst>
          </p:nvPr>
        </p:nvPicPr>
        <p:blipFill>
          <a:blip r:embed="rId19">
            <a:extLst>
              <a:ext uri="{96DAC541-7B7A-43D3-8B79-37D633B846F1}">
                <asvg:svgBlip xmlns:asvg="http://schemas.microsoft.com/office/drawing/2016/SVG/main" r:embed="rId20"/>
              </a:ext>
            </a:extLst>
          </a:blip>
          <a:stretch>
            <a:fillRect/>
          </a:stretch>
        </p:blipFill>
        <p:spPr>
          <a:xfrm>
            <a:off x="5968696" y="3986420"/>
            <a:ext cx="512610" cy="512610"/>
          </a:xfrm>
          <a:prstGeom prst="rect">
            <a:avLst/>
          </a:prstGeom>
        </p:spPr>
      </p:pic>
      <p:sp>
        <p:nvSpPr>
          <p:cNvPr id="34" name="Rectangle : coins arrondis 33">
            <a:extLst>
              <a:ext uri="{FF2B5EF4-FFF2-40B4-BE49-F238E27FC236}">
                <a16:creationId xmlns:a16="http://schemas.microsoft.com/office/drawing/2014/main" id="{4B280DAB-6499-BDB9-1564-787B1F219C10}"/>
              </a:ext>
            </a:extLst>
          </p:cNvPr>
          <p:cNvSpPr/>
          <p:nvPr>
            <p:custDataLst>
              <p:tags r:id="rId12"/>
            </p:custDataLst>
          </p:nvPr>
        </p:nvSpPr>
        <p:spPr>
          <a:xfrm>
            <a:off x="5708367" y="1200473"/>
            <a:ext cx="6007064" cy="1649129"/>
          </a:xfrm>
          <a:prstGeom prst="roundRect">
            <a:avLst>
              <a:gd name="adj" fmla="val 6500"/>
            </a:avLst>
          </a:prstGeom>
          <a:solidFill>
            <a:sysClr val="window" lastClr="FFFFFF"/>
          </a:solidFill>
          <a:ln w="12700" cap="flat" cmpd="sng" algn="ctr">
            <a:noFill/>
            <a:prstDash val="solid"/>
            <a:miter lim="800000"/>
          </a:ln>
          <a:effectLst>
            <a:outerShdw blurRad="381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ontserrat"/>
              <a:ea typeface="+mn-ea"/>
              <a:cs typeface="+mn-cs"/>
            </a:endParaRPr>
          </a:p>
        </p:txBody>
      </p:sp>
      <p:sp>
        <p:nvSpPr>
          <p:cNvPr id="35" name="Rectangle : coins arrondis 1">
            <a:extLst>
              <a:ext uri="{FF2B5EF4-FFF2-40B4-BE49-F238E27FC236}">
                <a16:creationId xmlns:a16="http://schemas.microsoft.com/office/drawing/2014/main" id="{285EDA2E-6E0C-E02D-0930-8123A03C3517}"/>
              </a:ext>
            </a:extLst>
          </p:cNvPr>
          <p:cNvSpPr/>
          <p:nvPr>
            <p:custDataLst>
              <p:tags r:id="rId13"/>
            </p:custDataLst>
          </p:nvPr>
        </p:nvSpPr>
        <p:spPr>
          <a:xfrm>
            <a:off x="5972710" y="1525165"/>
            <a:ext cx="5457687" cy="809085"/>
          </a:xfrm>
          <a:prstGeom prst="roundRect">
            <a:avLst>
              <a:gd name="adj" fmla="val 9611"/>
            </a:avLst>
          </a:prstGeom>
          <a:solidFill>
            <a:srgbClr val="003C5A">
              <a:lumMod val="75000"/>
              <a:lumOff val="25000"/>
            </a:srgbClr>
          </a:solid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B9FF"/>
              </a:solidFill>
              <a:effectLst/>
              <a:uLnTx/>
              <a:uFillTx/>
              <a:latin typeface="Montserrat SemiBold"/>
              <a:ea typeface="+mn-ea"/>
              <a:cs typeface="+mn-cs"/>
            </a:endParaRPr>
          </a:p>
        </p:txBody>
      </p:sp>
      <p:sp>
        <p:nvSpPr>
          <p:cNvPr id="36" name="Rectangle : coins arrondis 1">
            <a:extLst>
              <a:ext uri="{FF2B5EF4-FFF2-40B4-BE49-F238E27FC236}">
                <a16:creationId xmlns:a16="http://schemas.microsoft.com/office/drawing/2014/main" id="{25B7F3C6-0D46-0204-6C71-5C89C2465236}"/>
              </a:ext>
            </a:extLst>
          </p:cNvPr>
          <p:cNvSpPr/>
          <p:nvPr>
            <p:custDataLst>
              <p:tags r:id="rId14"/>
            </p:custDataLst>
          </p:nvPr>
        </p:nvSpPr>
        <p:spPr>
          <a:xfrm>
            <a:off x="5972710" y="1766692"/>
            <a:ext cx="1775526" cy="326030"/>
          </a:xfrm>
          <a:prstGeom prst="roundRect">
            <a:avLst>
              <a:gd name="adj" fmla="val 9611"/>
            </a:avLst>
          </a:prstGeom>
          <a:no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Montserrat SemiBold"/>
                <a:ea typeface="+mn-ea"/>
                <a:cs typeface="+mn-cs"/>
              </a:rPr>
              <a:t>Stakeholders</a:t>
            </a:r>
          </a:p>
        </p:txBody>
      </p:sp>
      <p:sp>
        <p:nvSpPr>
          <p:cNvPr id="37" name="Rectangle : coins arrondis 1">
            <a:extLst>
              <a:ext uri="{FF2B5EF4-FFF2-40B4-BE49-F238E27FC236}">
                <a16:creationId xmlns:a16="http://schemas.microsoft.com/office/drawing/2014/main" id="{A2D3C645-2F41-18E3-BDA2-4C04C115D2BE}"/>
              </a:ext>
            </a:extLst>
          </p:cNvPr>
          <p:cNvSpPr/>
          <p:nvPr>
            <p:custDataLst>
              <p:tags r:id="rId15"/>
            </p:custDataLst>
          </p:nvPr>
        </p:nvSpPr>
        <p:spPr>
          <a:xfrm>
            <a:off x="7748236" y="1663391"/>
            <a:ext cx="3543615" cy="532632"/>
          </a:xfrm>
          <a:prstGeom prst="roundRect">
            <a:avLst>
              <a:gd name="adj" fmla="val 9611"/>
            </a:avLst>
          </a:prstGeom>
          <a:solidFill>
            <a:sysClr val="window" lastClr="FFFFFF"/>
          </a:solidFill>
          <a:ln w="12700" cap="flat" cmpd="sng" algn="ctr">
            <a:noFill/>
            <a:prstDash val="solid"/>
            <a:miter lim="800000"/>
          </a:ln>
          <a:effectLst>
            <a:outerShdw blurRad="190500" algn="ctr" rotWithShape="0">
              <a:srgbClr val="003C5A">
                <a:alpha val="1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3C5A"/>
                </a:solidFill>
                <a:effectLst/>
                <a:uLnTx/>
                <a:uFillTx/>
                <a:latin typeface="Montserrat SemiBold"/>
                <a:ea typeface="+mn-ea"/>
                <a:cs typeface="+mn-cs"/>
              </a:rPr>
              <a:t>IT / Application owner</a:t>
            </a:r>
          </a:p>
        </p:txBody>
      </p:sp>
      <p:sp>
        <p:nvSpPr>
          <p:cNvPr id="38" name="ZoneTexte 37">
            <a:extLst>
              <a:ext uri="{FF2B5EF4-FFF2-40B4-BE49-F238E27FC236}">
                <a16:creationId xmlns:a16="http://schemas.microsoft.com/office/drawing/2014/main" id="{04A0BB51-B16A-DA8D-0AF6-A0102493A72B}"/>
              </a:ext>
            </a:extLst>
          </p:cNvPr>
          <p:cNvSpPr txBox="1"/>
          <p:nvPr>
            <p:custDataLst>
              <p:tags r:id="rId16"/>
            </p:custDataLst>
          </p:nvPr>
        </p:nvSpPr>
        <p:spPr>
          <a:xfrm>
            <a:off x="7114262" y="3698610"/>
            <a:ext cx="1808941" cy="1492716"/>
          </a:xfrm>
          <a:prstGeom prst="rect">
            <a:avLst/>
          </a:prstGeom>
          <a:noFill/>
        </p:spPr>
        <p:txBody>
          <a:bodyPr wrap="square" lIns="0" tIns="0" rIns="0" bIns="0" rtlCol="0" anchor="b">
            <a:spAutoFit/>
          </a:bodyPr>
          <a:lstStyle/>
          <a:p>
            <a:pPr>
              <a:spcAft>
                <a:spcPts val="600"/>
              </a:spcAft>
              <a:buClr>
                <a:srgbClr val="00B5E2"/>
              </a:buClr>
              <a:defRPr/>
            </a:pPr>
            <a:r>
              <a:rPr lang="en-US" sz="1200" dirty="0">
                <a:solidFill>
                  <a:srgbClr val="003C5A"/>
                </a:solidFill>
                <a:latin typeface="Montserrat SemiBold"/>
              </a:rPr>
              <a:t>Product cost</a:t>
            </a:r>
          </a:p>
          <a:p>
            <a:pPr>
              <a:spcAft>
                <a:spcPts val="600"/>
              </a:spcAft>
              <a:buClr>
                <a:srgbClr val="00B5E2"/>
              </a:buClr>
              <a:defRPr/>
            </a:pPr>
            <a:r>
              <a:rPr lang="en-US" sz="1200" dirty="0">
                <a:solidFill>
                  <a:srgbClr val="003C5A"/>
                </a:solidFill>
                <a:latin typeface="Montserrat"/>
              </a:rPr>
              <a:t>N/A</a:t>
            </a:r>
          </a:p>
          <a:p>
            <a:pPr>
              <a:spcAft>
                <a:spcPts val="600"/>
              </a:spcAft>
              <a:buClr>
                <a:srgbClr val="00B5E2"/>
              </a:buClr>
              <a:defRPr/>
            </a:pPr>
            <a:r>
              <a:rPr lang="en-US" sz="1200" dirty="0">
                <a:solidFill>
                  <a:srgbClr val="003C5A"/>
                </a:solidFill>
                <a:latin typeface="Montserrat SemiBold"/>
              </a:rPr>
              <a:t>Project cost</a:t>
            </a:r>
          </a:p>
          <a:p>
            <a:pPr>
              <a:spcAft>
                <a:spcPts val="600"/>
              </a:spcAft>
              <a:buClr>
                <a:srgbClr val="00B5E2"/>
              </a:buClr>
              <a:defRPr/>
            </a:pPr>
            <a:r>
              <a:rPr lang="en-US" sz="1200" dirty="0">
                <a:solidFill>
                  <a:srgbClr val="003C5A"/>
                </a:solidFill>
                <a:latin typeface="Montserrat"/>
              </a:rPr>
              <a:t>Simple : 1-5 K€</a:t>
            </a:r>
          </a:p>
          <a:p>
            <a:pPr>
              <a:spcAft>
                <a:spcPts val="600"/>
              </a:spcAft>
              <a:buClr>
                <a:srgbClr val="00B5E2"/>
              </a:buClr>
              <a:defRPr/>
            </a:pPr>
            <a:r>
              <a:rPr lang="en-US" sz="1200" dirty="0">
                <a:solidFill>
                  <a:srgbClr val="003C5A"/>
                </a:solidFill>
                <a:latin typeface="Montserrat"/>
              </a:rPr>
              <a:t>Medium : 10-15 K€</a:t>
            </a:r>
          </a:p>
          <a:p>
            <a:pPr>
              <a:spcAft>
                <a:spcPts val="600"/>
              </a:spcAft>
              <a:buClr>
                <a:srgbClr val="00B5E2"/>
              </a:buClr>
              <a:defRPr/>
            </a:pPr>
            <a:r>
              <a:rPr lang="en-US" sz="1200" dirty="0">
                <a:solidFill>
                  <a:srgbClr val="003C5A"/>
                </a:solidFill>
                <a:latin typeface="Montserrat"/>
              </a:rPr>
              <a:t>Complex : 15-30 K€</a:t>
            </a:r>
          </a:p>
        </p:txBody>
      </p:sp>
      <p:sp>
        <p:nvSpPr>
          <p:cNvPr id="39" name="ZoneTexte 38">
            <a:extLst>
              <a:ext uri="{FF2B5EF4-FFF2-40B4-BE49-F238E27FC236}">
                <a16:creationId xmlns:a16="http://schemas.microsoft.com/office/drawing/2014/main" id="{7946526E-2DD7-C4FC-4361-956715E9E235}"/>
              </a:ext>
            </a:extLst>
          </p:cNvPr>
          <p:cNvSpPr txBox="1"/>
          <p:nvPr>
            <p:custDataLst>
              <p:tags r:id="rId17"/>
            </p:custDataLst>
          </p:nvPr>
        </p:nvSpPr>
        <p:spPr>
          <a:xfrm>
            <a:off x="9186085" y="3696060"/>
            <a:ext cx="2526086" cy="969496"/>
          </a:xfrm>
          <a:prstGeom prst="rect">
            <a:avLst/>
          </a:prstGeom>
          <a:noFill/>
        </p:spPr>
        <p:txBody>
          <a:bodyPr wrap="square" lIns="0" tIns="0" rIns="0" bIns="0" rtlCol="0" anchor="b">
            <a:spAutoFit/>
          </a:bodyPr>
          <a:lstStyle/>
          <a:p>
            <a:pPr>
              <a:spcAft>
                <a:spcPts val="600"/>
              </a:spcAft>
              <a:buClr>
                <a:srgbClr val="00B5E2"/>
              </a:buClr>
              <a:defRPr/>
            </a:pPr>
            <a:r>
              <a:rPr lang="en-US" sz="1200" dirty="0">
                <a:solidFill>
                  <a:srgbClr val="003C5A"/>
                </a:solidFill>
                <a:latin typeface="Montserrat SemiBold"/>
              </a:rPr>
              <a:t>Product recurring cost</a:t>
            </a:r>
          </a:p>
          <a:p>
            <a:pPr>
              <a:spcAft>
                <a:spcPts val="600"/>
              </a:spcAft>
              <a:buClr>
                <a:srgbClr val="00B5E2"/>
              </a:buClr>
              <a:defRPr/>
            </a:pPr>
            <a:r>
              <a:rPr lang="en-US" sz="1200" dirty="0">
                <a:solidFill>
                  <a:srgbClr val="003C5A"/>
                </a:solidFill>
                <a:latin typeface="Montserrat"/>
              </a:rPr>
              <a:t>N/A</a:t>
            </a:r>
            <a:endParaRPr lang="en-US" sz="1200" dirty="0">
              <a:solidFill>
                <a:srgbClr val="003C5A"/>
              </a:solidFill>
              <a:latin typeface="Montserrat SemiBold"/>
            </a:endParaRPr>
          </a:p>
          <a:p>
            <a:pPr>
              <a:spcAft>
                <a:spcPts val="600"/>
              </a:spcAft>
              <a:buClr>
                <a:srgbClr val="00B5E2"/>
              </a:buClr>
              <a:defRPr/>
            </a:pPr>
            <a:r>
              <a:rPr lang="en-US" sz="1200" dirty="0">
                <a:solidFill>
                  <a:srgbClr val="003C5A"/>
                </a:solidFill>
                <a:latin typeface="Montserrat SemiBold"/>
              </a:rPr>
              <a:t>Run recurring cost</a:t>
            </a:r>
          </a:p>
          <a:p>
            <a:pPr>
              <a:spcAft>
                <a:spcPts val="600"/>
              </a:spcAft>
              <a:buClr>
                <a:srgbClr val="00B5E2"/>
              </a:buClr>
              <a:defRPr/>
            </a:pPr>
            <a:r>
              <a:rPr lang="en-US" sz="1200" dirty="0">
                <a:solidFill>
                  <a:srgbClr val="003C5A"/>
                </a:solidFill>
                <a:latin typeface="Montserrat"/>
              </a:rPr>
              <a:t>N/A</a:t>
            </a:r>
          </a:p>
        </p:txBody>
      </p:sp>
    </p:spTree>
    <p:extLst>
      <p:ext uri="{BB962C8B-B14F-4D97-AF65-F5344CB8AC3E}">
        <p14:creationId xmlns:p14="http://schemas.microsoft.com/office/powerpoint/2010/main" val="123161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D46DBA-57D1-15F1-253D-30965B15798E}"/>
              </a:ext>
            </a:extLst>
          </p:cNvPr>
          <p:cNvSpPr>
            <a:spLocks noGrp="1"/>
          </p:cNvSpPr>
          <p:nvPr>
            <p:ph type="title"/>
          </p:nvPr>
        </p:nvSpPr>
        <p:spPr/>
        <p:txBody>
          <a:bodyPr/>
          <a:lstStyle/>
          <a:p>
            <a:r>
              <a:rPr lang="fr-FR"/>
              <a:t>Application </a:t>
            </a:r>
            <a:r>
              <a:rPr lang="fr-FR" err="1"/>
              <a:t>integration</a:t>
            </a:r>
            <a:endParaRPr lang="fr-FR"/>
          </a:p>
        </p:txBody>
      </p:sp>
      <p:sp>
        <p:nvSpPr>
          <p:cNvPr id="4" name="Espace réservé du pied de page 3">
            <a:extLst>
              <a:ext uri="{FF2B5EF4-FFF2-40B4-BE49-F238E27FC236}">
                <a16:creationId xmlns:a16="http://schemas.microsoft.com/office/drawing/2014/main" id="{EDB440F5-B04F-A73A-76ED-8C5225A922D3}"/>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F107BF04-667A-0631-FDB3-C75E96094839}"/>
              </a:ext>
            </a:extLst>
          </p:cNvPr>
          <p:cNvSpPr>
            <a:spLocks noGrp="1"/>
          </p:cNvSpPr>
          <p:nvPr>
            <p:ph type="sldNum" sz="quarter" idx="14"/>
          </p:nvPr>
        </p:nvSpPr>
        <p:spPr/>
        <p:txBody>
          <a:bodyPr/>
          <a:lstStyle/>
          <a:p>
            <a:r>
              <a:rPr lang="fr-FR"/>
              <a:t>| </a:t>
            </a:r>
            <a:fld id="{C2EBF694-A8F9-4F06-8F8E-D09447FAA2D5}" type="slidenum">
              <a:rPr dirty="0" smtClean="0"/>
              <a:pPr/>
              <a:t>27</a:t>
            </a:fld>
            <a:endParaRPr/>
          </a:p>
        </p:txBody>
      </p:sp>
      <p:sp>
        <p:nvSpPr>
          <p:cNvPr id="6" name="Rectangle 5">
            <a:extLst>
              <a:ext uri="{FF2B5EF4-FFF2-40B4-BE49-F238E27FC236}">
                <a16:creationId xmlns:a16="http://schemas.microsoft.com/office/drawing/2014/main" id="{9C726AC1-A12B-CA23-79B1-DA9D3D0DFBDF}"/>
              </a:ext>
            </a:extLst>
          </p:cNvPr>
          <p:cNvSpPr/>
          <p:nvPr/>
        </p:nvSpPr>
        <p:spPr>
          <a:xfrm>
            <a:off x="1354677" y="1769314"/>
            <a:ext cx="2874248" cy="3805933"/>
          </a:xfrm>
          <a:prstGeom prst="rect">
            <a:avLst/>
          </a:pr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t>The development of a connector is made via multiples steps:</a:t>
            </a:r>
            <a:b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br>
            <a:endPar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t>Data synchronization</a:t>
            </a:r>
            <a:b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br>
            <a:endPar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t>Data quality work</a:t>
            </a:r>
            <a:b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br>
            <a:endPar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t>Development and integration</a:t>
            </a:r>
            <a:b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br>
            <a:endPar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t>The estimated workload is usually between </a:t>
            </a:r>
            <a:r>
              <a:rPr kumimoji="0" lang="en-US" sz="1200" b="1" i="0" u="none" strike="noStrike" kern="1200" cap="none" spc="0" normalizeH="0" baseline="0" noProof="0">
                <a:ln>
                  <a:noFill/>
                </a:ln>
                <a:solidFill>
                  <a:prstClr val="white"/>
                </a:solidFill>
                <a:effectLst/>
                <a:uLnTx/>
                <a:uFillTx/>
                <a:latin typeface="Montserrat" panose="00000500000000000000" pitchFamily="2" charset="0"/>
                <a:ea typeface="+mn-ea"/>
                <a:cs typeface="+mn-cs"/>
              </a:rPr>
              <a:t>2 and </a:t>
            </a:r>
            <a:r>
              <a:rPr lang="en-US" sz="1200" b="1">
                <a:solidFill>
                  <a:prstClr val="white"/>
                </a:solidFill>
                <a:latin typeface="Montserrat" panose="00000500000000000000" pitchFamily="2" charset="0"/>
              </a:rPr>
              <a:t>20</a:t>
            </a:r>
            <a:r>
              <a:rPr kumimoji="0" lang="en-US" sz="1200" b="1" i="0" u="none" strike="noStrike" kern="1200" cap="none" spc="0" normalizeH="0" baseline="0" noProof="0">
                <a:ln>
                  <a:noFill/>
                </a:ln>
                <a:solidFill>
                  <a:prstClr val="white"/>
                </a:solidFill>
                <a:effectLst/>
                <a:uLnTx/>
                <a:uFillTx/>
                <a:latin typeface="Montserrat" panose="00000500000000000000" pitchFamily="2" charset="0"/>
                <a:ea typeface="+mn-ea"/>
                <a:cs typeface="+mn-cs"/>
              </a:rPr>
              <a:t> man days</a:t>
            </a:r>
            <a:r>
              <a:rPr kumimoji="0" lang="en-US" sz="1200" b="0" i="0" u="none" strike="noStrike" kern="1200" cap="none" spc="0" normalizeH="0" baseline="0" noProof="0">
                <a:ln>
                  <a:noFill/>
                </a:ln>
                <a:solidFill>
                  <a:prstClr val="white"/>
                </a:solidFill>
                <a:effectLst/>
                <a:uLnTx/>
                <a:uFillTx/>
                <a:latin typeface="Montserrat" panose="00000500000000000000" pitchFamily="2" charset="0"/>
                <a:ea typeface="+mn-ea"/>
                <a:cs typeface="+mn-cs"/>
              </a:rPr>
              <a:t> per connector</a:t>
            </a:r>
            <a:endParaRPr kumimoji="0" lang="en-US" sz="1200" b="1"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7" name="Rectangle 6">
            <a:extLst>
              <a:ext uri="{FF2B5EF4-FFF2-40B4-BE49-F238E27FC236}">
                <a16:creationId xmlns:a16="http://schemas.microsoft.com/office/drawing/2014/main" id="{20C3CD5F-FA7B-571A-7B1A-B202375F1F4A}"/>
              </a:ext>
            </a:extLst>
          </p:cNvPr>
          <p:cNvSpPr/>
          <p:nvPr/>
        </p:nvSpPr>
        <p:spPr>
          <a:xfrm>
            <a:off x="4381179" y="1769314"/>
            <a:ext cx="5813739" cy="3805933"/>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rgbClr val="003C5A"/>
                </a:solidFill>
                <a:effectLst/>
                <a:uLnTx/>
                <a:uFillTx/>
                <a:latin typeface="Montserrat" panose="00000500000000000000" pitchFamily="2" charset="0"/>
                <a:ea typeface="+mn-ea"/>
                <a:cs typeface="+mn-cs"/>
              </a:rPr>
              <a:t>Agile methodology for connectors development</a:t>
            </a:r>
          </a:p>
        </p:txBody>
      </p:sp>
      <p:sp>
        <p:nvSpPr>
          <p:cNvPr id="8" name="Flèche : en arc 7">
            <a:extLst>
              <a:ext uri="{FF2B5EF4-FFF2-40B4-BE49-F238E27FC236}">
                <a16:creationId xmlns:a16="http://schemas.microsoft.com/office/drawing/2014/main" id="{CB79244D-04A5-7F6C-4571-DC5FFD6403A0}"/>
              </a:ext>
            </a:extLst>
          </p:cNvPr>
          <p:cNvSpPr/>
          <p:nvPr/>
        </p:nvSpPr>
        <p:spPr>
          <a:xfrm rot="21415888" flipH="1">
            <a:off x="6134907" y="2708029"/>
            <a:ext cx="2502527" cy="2427731"/>
          </a:xfrm>
          <a:prstGeom prst="circularArrow">
            <a:avLst>
              <a:gd name="adj1" fmla="val 12500"/>
              <a:gd name="adj2" fmla="val 1142319"/>
              <a:gd name="adj3" fmla="val 20457681"/>
              <a:gd name="adj4" fmla="val 4431777"/>
              <a:gd name="adj5" fmla="val 12500"/>
            </a:avLst>
          </a:prstGeom>
          <a:solidFill>
            <a:srgbClr val="16419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3C5A"/>
              </a:solidFill>
              <a:effectLst/>
              <a:uLnTx/>
              <a:uFillTx/>
              <a:latin typeface="Montserrat"/>
              <a:ea typeface="+mn-ea"/>
              <a:cs typeface="+mn-cs"/>
            </a:endParaRPr>
          </a:p>
        </p:txBody>
      </p:sp>
      <p:sp>
        <p:nvSpPr>
          <p:cNvPr id="9" name="Flèche : droite 8">
            <a:extLst>
              <a:ext uri="{FF2B5EF4-FFF2-40B4-BE49-F238E27FC236}">
                <a16:creationId xmlns:a16="http://schemas.microsoft.com/office/drawing/2014/main" id="{31A87531-9ABD-44FE-1A9A-386B3054DC93}"/>
              </a:ext>
            </a:extLst>
          </p:cNvPr>
          <p:cNvSpPr/>
          <p:nvPr/>
        </p:nvSpPr>
        <p:spPr>
          <a:xfrm>
            <a:off x="5564887" y="4502300"/>
            <a:ext cx="3385188" cy="633046"/>
          </a:xfrm>
          <a:prstGeom prst="rightArrow">
            <a:avLst/>
          </a:prstGeom>
          <a:solidFill>
            <a:srgbClr val="16419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0" name="ZoneTexte 9">
            <a:extLst>
              <a:ext uri="{FF2B5EF4-FFF2-40B4-BE49-F238E27FC236}">
                <a16:creationId xmlns:a16="http://schemas.microsoft.com/office/drawing/2014/main" id="{A1C25E5E-B04F-0D45-D0E6-92C2898176C7}"/>
              </a:ext>
            </a:extLst>
          </p:cNvPr>
          <p:cNvSpPr txBox="1"/>
          <p:nvPr/>
        </p:nvSpPr>
        <p:spPr>
          <a:xfrm>
            <a:off x="6196450" y="4994669"/>
            <a:ext cx="1891904"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003C5A"/>
                </a:solidFill>
                <a:effectLst/>
                <a:uLnTx/>
                <a:uFillTx/>
                <a:latin typeface="Montserrat"/>
                <a:ea typeface="+mn-ea"/>
                <a:cs typeface="+mn-cs"/>
              </a:rPr>
              <a:t>Product management</a:t>
            </a:r>
          </a:p>
        </p:txBody>
      </p:sp>
      <p:sp>
        <p:nvSpPr>
          <p:cNvPr id="11" name="ZoneTexte 10">
            <a:extLst>
              <a:ext uri="{FF2B5EF4-FFF2-40B4-BE49-F238E27FC236}">
                <a16:creationId xmlns:a16="http://schemas.microsoft.com/office/drawing/2014/main" id="{EA8117B7-4762-EE26-13C6-7C72A54FFB6D}"/>
              </a:ext>
            </a:extLst>
          </p:cNvPr>
          <p:cNvSpPr txBox="1"/>
          <p:nvPr/>
        </p:nvSpPr>
        <p:spPr>
          <a:xfrm>
            <a:off x="6712253" y="3598728"/>
            <a:ext cx="134783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12B1B"/>
                </a:solidFill>
                <a:effectLst/>
                <a:uLnTx/>
                <a:uFillTx/>
                <a:latin typeface="Montserrat"/>
                <a:ea typeface="+mn-ea"/>
                <a:cs typeface="+mn-cs"/>
              </a:rPr>
              <a:t>Connector development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12B1B"/>
                </a:solidFill>
                <a:effectLst/>
                <a:uLnTx/>
                <a:uFillTx/>
                <a:latin typeface="Montserrat"/>
                <a:ea typeface="+mn-ea"/>
                <a:cs typeface="+mn-cs"/>
              </a:rPr>
              <a:t>sprint</a:t>
            </a:r>
          </a:p>
        </p:txBody>
      </p:sp>
      <p:sp>
        <p:nvSpPr>
          <p:cNvPr id="12" name="Ellipse 11">
            <a:extLst>
              <a:ext uri="{FF2B5EF4-FFF2-40B4-BE49-F238E27FC236}">
                <a16:creationId xmlns:a16="http://schemas.microsoft.com/office/drawing/2014/main" id="{D74CEFF8-0861-2212-E518-3DB17D1FCA92}"/>
              </a:ext>
            </a:extLst>
          </p:cNvPr>
          <p:cNvSpPr/>
          <p:nvPr/>
        </p:nvSpPr>
        <p:spPr>
          <a:xfrm>
            <a:off x="8373935" y="3961216"/>
            <a:ext cx="180000" cy="180000"/>
          </a:xfrm>
          <a:prstGeom prst="ellipse">
            <a:avLst/>
          </a:prstGeom>
          <a:solidFill>
            <a:schemeClr val="bg1"/>
          </a:solidFill>
          <a:ln w="28575">
            <a:solidFill>
              <a:srgbClr val="16419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3" name="Ellipse 12">
            <a:extLst>
              <a:ext uri="{FF2B5EF4-FFF2-40B4-BE49-F238E27FC236}">
                <a16:creationId xmlns:a16="http://schemas.microsoft.com/office/drawing/2014/main" id="{8181FB2F-F8CE-92AF-E5EE-3CDC8855302E}"/>
              </a:ext>
            </a:extLst>
          </p:cNvPr>
          <p:cNvSpPr/>
          <p:nvPr/>
        </p:nvSpPr>
        <p:spPr>
          <a:xfrm>
            <a:off x="8244860" y="3235065"/>
            <a:ext cx="180000" cy="180000"/>
          </a:xfrm>
          <a:prstGeom prst="ellipse">
            <a:avLst/>
          </a:prstGeom>
          <a:solidFill>
            <a:schemeClr val="bg1"/>
          </a:solidFill>
          <a:ln w="28575">
            <a:solidFill>
              <a:srgbClr val="16419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4" name="Ellipse 13">
            <a:extLst>
              <a:ext uri="{FF2B5EF4-FFF2-40B4-BE49-F238E27FC236}">
                <a16:creationId xmlns:a16="http://schemas.microsoft.com/office/drawing/2014/main" id="{6CE59D4F-E4D2-F502-9FB9-7A24AC1F12A6}"/>
              </a:ext>
            </a:extLst>
          </p:cNvPr>
          <p:cNvSpPr/>
          <p:nvPr/>
        </p:nvSpPr>
        <p:spPr>
          <a:xfrm>
            <a:off x="7481561" y="2785012"/>
            <a:ext cx="180000" cy="180000"/>
          </a:xfrm>
          <a:prstGeom prst="ellipse">
            <a:avLst/>
          </a:prstGeom>
          <a:solidFill>
            <a:schemeClr val="bg1"/>
          </a:solidFill>
          <a:ln w="28575">
            <a:solidFill>
              <a:srgbClr val="16419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5" name="Ellipse 14">
            <a:extLst>
              <a:ext uri="{FF2B5EF4-FFF2-40B4-BE49-F238E27FC236}">
                <a16:creationId xmlns:a16="http://schemas.microsoft.com/office/drawing/2014/main" id="{B48646AD-F12B-20E7-5BD3-C3472054987E}"/>
              </a:ext>
            </a:extLst>
          </p:cNvPr>
          <p:cNvSpPr/>
          <p:nvPr/>
        </p:nvSpPr>
        <p:spPr>
          <a:xfrm>
            <a:off x="6665552" y="2940758"/>
            <a:ext cx="180000" cy="180000"/>
          </a:xfrm>
          <a:prstGeom prst="ellipse">
            <a:avLst/>
          </a:prstGeom>
          <a:solidFill>
            <a:schemeClr val="bg1"/>
          </a:solidFill>
          <a:ln w="28575">
            <a:solidFill>
              <a:srgbClr val="16419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6" name="ZoneTexte 15">
            <a:extLst>
              <a:ext uri="{FF2B5EF4-FFF2-40B4-BE49-F238E27FC236}">
                <a16:creationId xmlns:a16="http://schemas.microsoft.com/office/drawing/2014/main" id="{D56FCBE7-CCFC-2F7D-D229-3B2C6F97C5E4}"/>
              </a:ext>
            </a:extLst>
          </p:cNvPr>
          <p:cNvSpPr txBox="1"/>
          <p:nvPr/>
        </p:nvSpPr>
        <p:spPr>
          <a:xfrm>
            <a:off x="8553934" y="3912716"/>
            <a:ext cx="162408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C5A"/>
                </a:solidFill>
                <a:effectLst/>
                <a:uLnTx/>
                <a:uFillTx/>
                <a:latin typeface="Montserrat"/>
                <a:ea typeface="+mn-ea"/>
                <a:cs typeface="+mn-cs"/>
              </a:rPr>
              <a:t>Analysis &amp; history management</a:t>
            </a:r>
          </a:p>
        </p:txBody>
      </p:sp>
      <p:sp>
        <p:nvSpPr>
          <p:cNvPr id="17" name="ZoneTexte 16">
            <a:extLst>
              <a:ext uri="{FF2B5EF4-FFF2-40B4-BE49-F238E27FC236}">
                <a16:creationId xmlns:a16="http://schemas.microsoft.com/office/drawing/2014/main" id="{DC4B872C-6FD0-799C-D338-76B01899EB36}"/>
              </a:ext>
            </a:extLst>
          </p:cNvPr>
          <p:cNvSpPr txBox="1"/>
          <p:nvPr/>
        </p:nvSpPr>
        <p:spPr>
          <a:xfrm>
            <a:off x="8463935" y="3186565"/>
            <a:ext cx="162408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C5A"/>
                </a:solidFill>
                <a:effectLst/>
                <a:uLnTx/>
                <a:uFillTx/>
                <a:latin typeface="Montserrat"/>
                <a:ea typeface="+mn-ea"/>
                <a:cs typeface="+mn-cs"/>
              </a:rPr>
              <a:t>Development </a:t>
            </a:r>
          </a:p>
        </p:txBody>
      </p:sp>
      <p:sp>
        <p:nvSpPr>
          <p:cNvPr id="18" name="ZoneTexte 17">
            <a:extLst>
              <a:ext uri="{FF2B5EF4-FFF2-40B4-BE49-F238E27FC236}">
                <a16:creationId xmlns:a16="http://schemas.microsoft.com/office/drawing/2014/main" id="{542D4477-CB44-1BA9-CCA5-650F30E1689A}"/>
              </a:ext>
            </a:extLst>
          </p:cNvPr>
          <p:cNvSpPr txBox="1"/>
          <p:nvPr/>
        </p:nvSpPr>
        <p:spPr>
          <a:xfrm>
            <a:off x="7712547" y="2735480"/>
            <a:ext cx="162408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C5A"/>
                </a:solidFill>
                <a:effectLst/>
                <a:uLnTx/>
                <a:uFillTx/>
                <a:latin typeface="Montserrat"/>
                <a:ea typeface="+mn-ea"/>
                <a:cs typeface="+mn-cs"/>
              </a:rPr>
              <a:t>Deployment </a:t>
            </a:r>
          </a:p>
        </p:txBody>
      </p:sp>
      <p:sp>
        <p:nvSpPr>
          <p:cNvPr id="19" name="ZoneTexte 18">
            <a:extLst>
              <a:ext uri="{FF2B5EF4-FFF2-40B4-BE49-F238E27FC236}">
                <a16:creationId xmlns:a16="http://schemas.microsoft.com/office/drawing/2014/main" id="{BD150296-137A-AEFC-0BB5-ECAC86BDABEF}"/>
              </a:ext>
            </a:extLst>
          </p:cNvPr>
          <p:cNvSpPr txBox="1"/>
          <p:nvPr/>
        </p:nvSpPr>
        <p:spPr>
          <a:xfrm>
            <a:off x="5085059" y="2753450"/>
            <a:ext cx="162408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C5A"/>
                </a:solidFill>
                <a:effectLst/>
                <a:uLnTx/>
                <a:uFillTx/>
                <a:latin typeface="Montserrat"/>
                <a:ea typeface="+mn-ea"/>
                <a:cs typeface="+mn-cs"/>
              </a:rPr>
              <a:t>Data quality</a:t>
            </a:r>
          </a:p>
        </p:txBody>
      </p:sp>
      <p:sp>
        <p:nvSpPr>
          <p:cNvPr id="20" name="Rectangle 19">
            <a:extLst>
              <a:ext uri="{FF2B5EF4-FFF2-40B4-BE49-F238E27FC236}">
                <a16:creationId xmlns:a16="http://schemas.microsoft.com/office/drawing/2014/main" id="{C179A1EF-C79E-D7C4-1595-5628790BF1B0}"/>
              </a:ext>
            </a:extLst>
          </p:cNvPr>
          <p:cNvSpPr/>
          <p:nvPr/>
        </p:nvSpPr>
        <p:spPr>
          <a:xfrm>
            <a:off x="4735759" y="4374381"/>
            <a:ext cx="791121" cy="897287"/>
          </a:xfrm>
          <a:prstGeom prst="rect">
            <a:avLst/>
          </a:prstGeom>
          <a:solidFill>
            <a:schemeClr val="bg1"/>
          </a:solidFill>
          <a:ln>
            <a:solidFill>
              <a:srgbClr val="16419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12B1B"/>
                </a:solidFill>
                <a:effectLst/>
                <a:uLnTx/>
                <a:uFillTx/>
                <a:latin typeface="Montserrat"/>
                <a:ea typeface="+mn-ea"/>
                <a:cs typeface="+mn-cs"/>
              </a:rPr>
              <a:t>Backlog</a:t>
            </a:r>
          </a:p>
        </p:txBody>
      </p:sp>
      <p:sp>
        <p:nvSpPr>
          <p:cNvPr id="21" name="Rectangle 20">
            <a:extLst>
              <a:ext uri="{FF2B5EF4-FFF2-40B4-BE49-F238E27FC236}">
                <a16:creationId xmlns:a16="http://schemas.microsoft.com/office/drawing/2014/main" id="{FA67C8C1-267B-62B6-27E1-2A71F15573E7}"/>
              </a:ext>
            </a:extLst>
          </p:cNvPr>
          <p:cNvSpPr/>
          <p:nvPr/>
        </p:nvSpPr>
        <p:spPr>
          <a:xfrm>
            <a:off x="8939050" y="4374381"/>
            <a:ext cx="1214088" cy="897287"/>
          </a:xfrm>
          <a:prstGeom prst="rect">
            <a:avLst/>
          </a:prstGeom>
          <a:solidFill>
            <a:schemeClr val="bg1"/>
          </a:solidFill>
          <a:ln>
            <a:solidFill>
              <a:srgbClr val="16419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12B1B"/>
                </a:solidFill>
                <a:effectLst/>
                <a:uLnTx/>
                <a:uFillTx/>
                <a:latin typeface="Montserrat"/>
                <a:ea typeface="+mn-ea"/>
                <a:cs typeface="+mn-cs"/>
              </a:rPr>
              <a:t>IGA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12B1B"/>
                </a:solidFill>
                <a:effectLst/>
                <a:uLnTx/>
                <a:uFillTx/>
                <a:latin typeface="Montserrat"/>
                <a:ea typeface="+mn-ea"/>
                <a:cs typeface="+mn-cs"/>
              </a:rPr>
              <a:t>scope extension</a:t>
            </a:r>
          </a:p>
        </p:txBody>
      </p:sp>
    </p:spTree>
    <p:extLst>
      <p:ext uri="{BB962C8B-B14F-4D97-AF65-F5344CB8AC3E}">
        <p14:creationId xmlns:p14="http://schemas.microsoft.com/office/powerpoint/2010/main" val="1890125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6EBCCA-E355-4619-7D75-60886C3A9E38}"/>
              </a:ext>
            </a:extLst>
          </p:cNvPr>
          <p:cNvSpPr>
            <a:spLocks noGrp="1"/>
          </p:cNvSpPr>
          <p:nvPr>
            <p:ph type="title"/>
          </p:nvPr>
        </p:nvSpPr>
        <p:spPr/>
        <p:txBody>
          <a:bodyPr/>
          <a:lstStyle/>
          <a:p>
            <a:r>
              <a:rPr lang="en-US"/>
              <a:t>General definition</a:t>
            </a:r>
          </a:p>
        </p:txBody>
      </p:sp>
      <p:sp>
        <p:nvSpPr>
          <p:cNvPr id="4" name="Espace réservé du pied de page 3">
            <a:extLst>
              <a:ext uri="{FF2B5EF4-FFF2-40B4-BE49-F238E27FC236}">
                <a16:creationId xmlns:a16="http://schemas.microsoft.com/office/drawing/2014/main" id="{8ABA63EB-AA14-486A-6EC3-4897CC8E23C8}"/>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0CF430F3-68A1-2684-DDFB-7FE5DBB4387F}"/>
              </a:ext>
            </a:extLst>
          </p:cNvPr>
          <p:cNvSpPr>
            <a:spLocks noGrp="1"/>
          </p:cNvSpPr>
          <p:nvPr>
            <p:ph type="sldNum" sz="quarter" idx="14"/>
          </p:nvPr>
        </p:nvSpPr>
        <p:spPr/>
        <p:txBody>
          <a:bodyPr/>
          <a:lstStyle/>
          <a:p>
            <a:r>
              <a:rPr lang="fr-FR"/>
              <a:t>| </a:t>
            </a:r>
            <a:fld id="{C2EBF694-A8F9-4F06-8F8E-D09447FAA2D5}" type="slidenum">
              <a:rPr smtClean="0"/>
              <a:pPr/>
              <a:t>28</a:t>
            </a:fld>
            <a:endParaRPr/>
          </a:p>
        </p:txBody>
      </p:sp>
      <p:grpSp>
        <p:nvGrpSpPr>
          <p:cNvPr id="6" name="Groupe 5">
            <a:extLst>
              <a:ext uri="{FF2B5EF4-FFF2-40B4-BE49-F238E27FC236}">
                <a16:creationId xmlns:a16="http://schemas.microsoft.com/office/drawing/2014/main" id="{04C679A8-668C-953B-3A87-25AD4A180C69}"/>
              </a:ext>
            </a:extLst>
          </p:cNvPr>
          <p:cNvGrpSpPr/>
          <p:nvPr/>
        </p:nvGrpSpPr>
        <p:grpSpPr>
          <a:xfrm>
            <a:off x="679570" y="1458802"/>
            <a:ext cx="5242965" cy="550180"/>
            <a:chOff x="679570" y="1349944"/>
            <a:chExt cx="5242965" cy="550180"/>
          </a:xfrm>
        </p:grpSpPr>
        <p:sp>
          <p:nvSpPr>
            <p:cNvPr id="7" name="Rectangle : coins arrondis 3">
              <a:extLst>
                <a:ext uri="{FF2B5EF4-FFF2-40B4-BE49-F238E27FC236}">
                  <a16:creationId xmlns:a16="http://schemas.microsoft.com/office/drawing/2014/main" id="{F5832A50-4A05-1DAF-6DEF-524B2451F087}"/>
                </a:ext>
              </a:extLst>
            </p:cNvPr>
            <p:cNvSpPr/>
            <p:nvPr>
              <p:custDataLst>
                <p:tags r:id="rId27"/>
              </p:custDataLst>
            </p:nvPr>
          </p:nvSpPr>
          <p:spPr>
            <a:xfrm>
              <a:off x="679571" y="1349944"/>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User identity</a:t>
              </a:r>
            </a:p>
          </p:txBody>
        </p:sp>
        <p:sp>
          <p:nvSpPr>
            <p:cNvPr id="8" name="TextBox 16">
              <a:extLst>
                <a:ext uri="{FF2B5EF4-FFF2-40B4-BE49-F238E27FC236}">
                  <a16:creationId xmlns:a16="http://schemas.microsoft.com/office/drawing/2014/main" id="{BEA530EA-BE94-67D0-B4CF-662585CE587A}"/>
                </a:ext>
              </a:extLst>
            </p:cNvPr>
            <p:cNvSpPr txBox="1"/>
            <p:nvPr>
              <p:custDataLst>
                <p:tags r:id="rId28"/>
              </p:custDataLst>
            </p:nvPr>
          </p:nvSpPr>
          <p:spPr>
            <a:xfrm>
              <a:off x="679570" y="1592347"/>
              <a:ext cx="5242965" cy="307777"/>
            </a:xfrm>
            <a:prstGeom prst="rect">
              <a:avLst/>
            </a:prstGeom>
            <a:noFill/>
          </p:spPr>
          <p:txBody>
            <a:bodyPr wrap="square" lIns="0" tIns="0" rIns="0" bIns="0" rtlCol="0">
              <a:spAutoFit/>
            </a:bodyPr>
            <a:lstStyle/>
            <a:p>
              <a:pPr marL="0" algn="just" defTabSz="914400" rtl="0" eaLnBrk="1" latinLnBrk="0" hangingPunct="1"/>
              <a:r>
                <a:rPr lang="en-US" sz="1000" kern="1200">
                  <a:solidFill>
                    <a:schemeClr val="dk1"/>
                  </a:solidFill>
                  <a:effectLst/>
                  <a:latin typeface="+mn-lt"/>
                  <a:ea typeface="+mn-ea"/>
                  <a:cs typeface="+mn-cs"/>
                </a:rPr>
                <a:t>A user identity is a physical person (intern, service provider, temp worker, partner, etc.) who by its function require an access.</a:t>
              </a:r>
            </a:p>
          </p:txBody>
        </p:sp>
      </p:grpSp>
      <p:grpSp>
        <p:nvGrpSpPr>
          <p:cNvPr id="9" name="Groupe 8">
            <a:extLst>
              <a:ext uri="{FF2B5EF4-FFF2-40B4-BE49-F238E27FC236}">
                <a16:creationId xmlns:a16="http://schemas.microsoft.com/office/drawing/2014/main" id="{91A5FAD1-207B-B5D3-1722-BECB56034239}"/>
              </a:ext>
            </a:extLst>
          </p:cNvPr>
          <p:cNvGrpSpPr/>
          <p:nvPr/>
        </p:nvGrpSpPr>
        <p:grpSpPr>
          <a:xfrm>
            <a:off x="679570" y="2352201"/>
            <a:ext cx="5242965" cy="406807"/>
            <a:chOff x="679570" y="2146832"/>
            <a:chExt cx="5242965" cy="406807"/>
          </a:xfrm>
        </p:grpSpPr>
        <p:sp>
          <p:nvSpPr>
            <p:cNvPr id="10" name="Rectangle : coins arrondis 3">
              <a:extLst>
                <a:ext uri="{FF2B5EF4-FFF2-40B4-BE49-F238E27FC236}">
                  <a16:creationId xmlns:a16="http://schemas.microsoft.com/office/drawing/2014/main" id="{466A9103-1E27-AC46-6DDE-2DCAC55AD863}"/>
                </a:ext>
              </a:extLst>
            </p:cNvPr>
            <p:cNvSpPr/>
            <p:nvPr>
              <p:custDataLst>
                <p:tags r:id="rId25"/>
              </p:custDataLst>
            </p:nvPr>
          </p:nvSpPr>
          <p:spPr>
            <a:xfrm>
              <a:off x="679571" y="2146832"/>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fr-FR" sz="1200" b="1">
                  <a:solidFill>
                    <a:srgbClr val="008BBF"/>
                  </a:solidFill>
                  <a:latin typeface="Montserrat" panose="00000500000000000000" pitchFamily="2" charset="0"/>
                </a:rPr>
                <a:t>Identifier</a:t>
              </a:r>
            </a:p>
          </p:txBody>
        </p:sp>
        <p:sp>
          <p:nvSpPr>
            <p:cNvPr id="11" name="TextBox 16">
              <a:extLst>
                <a:ext uri="{FF2B5EF4-FFF2-40B4-BE49-F238E27FC236}">
                  <a16:creationId xmlns:a16="http://schemas.microsoft.com/office/drawing/2014/main" id="{41B54C9B-2649-2451-7217-5C599FC54598}"/>
                </a:ext>
              </a:extLst>
            </p:cNvPr>
            <p:cNvSpPr txBox="1"/>
            <p:nvPr>
              <p:custDataLst>
                <p:tags r:id="rId26"/>
              </p:custDataLst>
            </p:nvPr>
          </p:nvSpPr>
          <p:spPr>
            <a:xfrm>
              <a:off x="679570" y="2389235"/>
              <a:ext cx="5242965" cy="164404"/>
            </a:xfrm>
            <a:prstGeom prst="rect">
              <a:avLst/>
            </a:prstGeom>
            <a:noFill/>
          </p:spPr>
          <p:txBody>
            <a:bodyPr wrap="square" lIns="0" tIns="0" rIns="0" bIns="0" rtlCol="0">
              <a:spAutoFit/>
            </a:bodyPr>
            <a:lstStyle/>
            <a:p>
              <a:pPr marL="0" indent="-228600" algn="just" defTabSz="914400" rtl="0" eaLnBrk="1" latinLnBrk="0" hangingPunct="1">
                <a:lnSpc>
                  <a:spcPct val="115000"/>
                </a:lnSpc>
                <a:spcBef>
                  <a:spcPts val="200"/>
                </a:spcBef>
                <a:spcAft>
                  <a:spcPts val="200"/>
                </a:spcAft>
              </a:pPr>
              <a:r>
                <a:rPr lang="en-US" sz="1000" kern="1200">
                  <a:solidFill>
                    <a:schemeClr val="dk1"/>
                  </a:solidFill>
                  <a:effectLst/>
                  <a:latin typeface="+mn-lt"/>
                  <a:ea typeface="+mn-ea"/>
                  <a:cs typeface="+mn-cs"/>
                </a:rPr>
                <a:t>Unique attribute to </a:t>
              </a:r>
              <a:r>
                <a:rPr lang="en-US" sz="1000">
                  <a:solidFill>
                    <a:schemeClr val="dk1"/>
                  </a:solidFill>
                </a:rPr>
                <a:t>identify a user in a system</a:t>
              </a:r>
              <a:endParaRPr lang="en-US" sz="1000" kern="1200">
                <a:solidFill>
                  <a:schemeClr val="dk1"/>
                </a:solidFill>
                <a:effectLst/>
                <a:latin typeface="+mn-lt"/>
                <a:ea typeface="+mn-ea"/>
                <a:cs typeface="+mn-cs"/>
              </a:endParaRPr>
            </a:p>
          </p:txBody>
        </p:sp>
      </p:grpSp>
      <p:grpSp>
        <p:nvGrpSpPr>
          <p:cNvPr id="12" name="Groupe 11">
            <a:extLst>
              <a:ext uri="{FF2B5EF4-FFF2-40B4-BE49-F238E27FC236}">
                <a16:creationId xmlns:a16="http://schemas.microsoft.com/office/drawing/2014/main" id="{429ED5C9-A2AF-FC86-4DC3-644605F4A910}"/>
              </a:ext>
            </a:extLst>
          </p:cNvPr>
          <p:cNvGrpSpPr/>
          <p:nvPr/>
        </p:nvGrpSpPr>
        <p:grpSpPr>
          <a:xfrm>
            <a:off x="679570" y="3841737"/>
            <a:ext cx="5242965" cy="396291"/>
            <a:chOff x="679570" y="3755833"/>
            <a:chExt cx="5242965" cy="396291"/>
          </a:xfrm>
        </p:grpSpPr>
        <p:sp>
          <p:nvSpPr>
            <p:cNvPr id="13" name="Rectangle : coins arrondis 3">
              <a:extLst>
                <a:ext uri="{FF2B5EF4-FFF2-40B4-BE49-F238E27FC236}">
                  <a16:creationId xmlns:a16="http://schemas.microsoft.com/office/drawing/2014/main" id="{D2436839-48AD-DEDE-8099-8C3B4E5DD852}"/>
                </a:ext>
              </a:extLst>
            </p:cNvPr>
            <p:cNvSpPr/>
            <p:nvPr>
              <p:custDataLst>
                <p:tags r:id="rId23"/>
              </p:custDataLst>
            </p:nvPr>
          </p:nvSpPr>
          <p:spPr>
            <a:xfrm>
              <a:off x="679571" y="3755833"/>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Authorization</a:t>
              </a:r>
            </a:p>
          </p:txBody>
        </p:sp>
        <p:sp>
          <p:nvSpPr>
            <p:cNvPr id="14" name="TextBox 16">
              <a:extLst>
                <a:ext uri="{FF2B5EF4-FFF2-40B4-BE49-F238E27FC236}">
                  <a16:creationId xmlns:a16="http://schemas.microsoft.com/office/drawing/2014/main" id="{C3AD751A-96A7-D4BF-CC56-D9C9ACD4EF8C}"/>
                </a:ext>
              </a:extLst>
            </p:cNvPr>
            <p:cNvSpPr txBox="1"/>
            <p:nvPr>
              <p:custDataLst>
                <p:tags r:id="rId24"/>
              </p:custDataLst>
            </p:nvPr>
          </p:nvSpPr>
          <p:spPr>
            <a:xfrm>
              <a:off x="679570" y="3998236"/>
              <a:ext cx="5242965" cy="153888"/>
            </a:xfrm>
            <a:prstGeom prst="rect">
              <a:avLst/>
            </a:prstGeom>
            <a:noFill/>
          </p:spPr>
          <p:txBody>
            <a:bodyPr wrap="square" lIns="0" tIns="0" rIns="0" bIns="0" rtlCol="0">
              <a:spAutoFit/>
            </a:bodyPr>
            <a:lstStyle/>
            <a:p>
              <a:pPr algn="just"/>
              <a:r>
                <a:rPr lang="en-US" sz="1000">
                  <a:effectLst/>
                </a:rPr>
                <a:t>The processes of granting users permissions and verifying them</a:t>
              </a:r>
              <a:endParaRPr lang="en-US" sz="1000">
                <a:effectLst/>
                <a:latin typeface="Times New Roman" panose="02020603050405020304" pitchFamily="18" charset="0"/>
                <a:ea typeface="Times New Roman" panose="02020603050405020304" pitchFamily="18" charset="0"/>
              </a:endParaRPr>
            </a:p>
          </p:txBody>
        </p:sp>
      </p:grpSp>
      <p:grpSp>
        <p:nvGrpSpPr>
          <p:cNvPr id="15" name="Groupe 14">
            <a:extLst>
              <a:ext uri="{FF2B5EF4-FFF2-40B4-BE49-F238E27FC236}">
                <a16:creationId xmlns:a16="http://schemas.microsoft.com/office/drawing/2014/main" id="{347A6EE4-D055-EB68-B239-6B0FDD1080D0}"/>
              </a:ext>
            </a:extLst>
          </p:cNvPr>
          <p:cNvGrpSpPr/>
          <p:nvPr/>
        </p:nvGrpSpPr>
        <p:grpSpPr>
          <a:xfrm>
            <a:off x="679570" y="4581247"/>
            <a:ext cx="5242965" cy="377458"/>
            <a:chOff x="679570" y="4457619"/>
            <a:chExt cx="5242965" cy="377458"/>
          </a:xfrm>
        </p:grpSpPr>
        <p:sp>
          <p:nvSpPr>
            <p:cNvPr id="16" name="Rectangle : coins arrondis 3">
              <a:extLst>
                <a:ext uri="{FF2B5EF4-FFF2-40B4-BE49-F238E27FC236}">
                  <a16:creationId xmlns:a16="http://schemas.microsoft.com/office/drawing/2014/main" id="{E4958F1A-7DB8-09F4-FED4-C144C5ECAD51}"/>
                </a:ext>
              </a:extLst>
            </p:cNvPr>
            <p:cNvSpPr/>
            <p:nvPr>
              <p:custDataLst>
                <p:tags r:id="rId21"/>
              </p:custDataLst>
            </p:nvPr>
          </p:nvSpPr>
          <p:spPr>
            <a:xfrm>
              <a:off x="679571" y="4457619"/>
              <a:ext cx="4232241"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Authentication</a:t>
              </a:r>
            </a:p>
          </p:txBody>
        </p:sp>
        <p:sp>
          <p:nvSpPr>
            <p:cNvPr id="17" name="TextBox 16">
              <a:extLst>
                <a:ext uri="{FF2B5EF4-FFF2-40B4-BE49-F238E27FC236}">
                  <a16:creationId xmlns:a16="http://schemas.microsoft.com/office/drawing/2014/main" id="{23FD2DB1-B051-B5C8-7C38-14C537AD6036}"/>
                </a:ext>
              </a:extLst>
            </p:cNvPr>
            <p:cNvSpPr txBox="1"/>
            <p:nvPr>
              <p:custDataLst>
                <p:tags r:id="rId22"/>
              </p:custDataLst>
            </p:nvPr>
          </p:nvSpPr>
          <p:spPr>
            <a:xfrm>
              <a:off x="679570" y="4670673"/>
              <a:ext cx="5242965" cy="164404"/>
            </a:xfrm>
            <a:prstGeom prst="rect">
              <a:avLst/>
            </a:prstGeom>
            <a:noFill/>
          </p:spPr>
          <p:txBody>
            <a:bodyPr wrap="square" lIns="0" tIns="0" rIns="0" bIns="0" rtlCol="0">
              <a:spAutoFit/>
            </a:bodyPr>
            <a:lstStyle/>
            <a:p>
              <a:pPr marL="0" indent="-228600" algn="just" defTabSz="914400" rtl="0" eaLnBrk="1" latinLnBrk="0" hangingPunct="1">
                <a:lnSpc>
                  <a:spcPct val="115000"/>
                </a:lnSpc>
                <a:spcBef>
                  <a:spcPts val="200"/>
                </a:spcBef>
                <a:spcAft>
                  <a:spcPts val="200"/>
                </a:spcAft>
              </a:pPr>
              <a:r>
                <a:rPr lang="en-US" sz="1000" kern="1200">
                  <a:solidFill>
                    <a:schemeClr val="dk1"/>
                  </a:solidFill>
                  <a:effectLst/>
                  <a:latin typeface="+mn-lt"/>
                  <a:ea typeface="+mn-ea"/>
                  <a:cs typeface="+mn-cs"/>
                </a:rPr>
                <a:t>The processes of verifying account’s authenticity</a:t>
              </a:r>
            </a:p>
          </p:txBody>
        </p:sp>
      </p:grpSp>
      <p:grpSp>
        <p:nvGrpSpPr>
          <p:cNvPr id="18" name="Groupe 17">
            <a:extLst>
              <a:ext uri="{FF2B5EF4-FFF2-40B4-BE49-F238E27FC236}">
                <a16:creationId xmlns:a16="http://schemas.microsoft.com/office/drawing/2014/main" id="{04BF3A0C-E9F2-C28E-C4F4-9B347DC1989D}"/>
              </a:ext>
            </a:extLst>
          </p:cNvPr>
          <p:cNvGrpSpPr/>
          <p:nvPr/>
        </p:nvGrpSpPr>
        <p:grpSpPr>
          <a:xfrm>
            <a:off x="679570" y="5301924"/>
            <a:ext cx="5242965" cy="396291"/>
            <a:chOff x="679570" y="5188709"/>
            <a:chExt cx="5242965" cy="396291"/>
          </a:xfrm>
        </p:grpSpPr>
        <p:sp>
          <p:nvSpPr>
            <p:cNvPr id="19" name="Rectangle : coins arrondis 3">
              <a:extLst>
                <a:ext uri="{FF2B5EF4-FFF2-40B4-BE49-F238E27FC236}">
                  <a16:creationId xmlns:a16="http://schemas.microsoft.com/office/drawing/2014/main" id="{1530A303-E1EC-5436-CF52-C517C43702A2}"/>
                </a:ext>
              </a:extLst>
            </p:cNvPr>
            <p:cNvSpPr/>
            <p:nvPr>
              <p:custDataLst>
                <p:tags r:id="rId19"/>
              </p:custDataLst>
            </p:nvPr>
          </p:nvSpPr>
          <p:spPr>
            <a:xfrm>
              <a:off x="679571" y="5188709"/>
              <a:ext cx="4232241"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fr-FR" sz="1200" b="1">
                  <a:solidFill>
                    <a:srgbClr val="008BBF"/>
                  </a:solidFill>
                  <a:latin typeface="Montserrat" panose="00000500000000000000" pitchFamily="2" charset="0"/>
                </a:rPr>
                <a:t>Access model</a:t>
              </a:r>
            </a:p>
          </p:txBody>
        </p:sp>
        <p:sp>
          <p:nvSpPr>
            <p:cNvPr id="20" name="TextBox 16">
              <a:extLst>
                <a:ext uri="{FF2B5EF4-FFF2-40B4-BE49-F238E27FC236}">
                  <a16:creationId xmlns:a16="http://schemas.microsoft.com/office/drawing/2014/main" id="{433D6C4F-BE52-5250-E909-344AD3EB57FC}"/>
                </a:ext>
              </a:extLst>
            </p:cNvPr>
            <p:cNvSpPr txBox="1"/>
            <p:nvPr>
              <p:custDataLst>
                <p:tags r:id="rId20"/>
              </p:custDataLst>
            </p:nvPr>
          </p:nvSpPr>
          <p:spPr>
            <a:xfrm>
              <a:off x="679570" y="5431112"/>
              <a:ext cx="5242965" cy="153888"/>
            </a:xfrm>
            <a:prstGeom prst="rect">
              <a:avLst/>
            </a:prstGeom>
            <a:noFill/>
          </p:spPr>
          <p:txBody>
            <a:bodyPr wrap="square" lIns="0" tIns="0" rIns="0" bIns="0" rtlCol="0">
              <a:spAutoFit/>
            </a:bodyPr>
            <a:lstStyle/>
            <a:p>
              <a:pPr algn="just"/>
              <a:r>
                <a:rPr lang="en-US" sz="1000">
                  <a:effectLst/>
                </a:rPr>
                <a:t>Sets of rules defining user permission in function of criteria</a:t>
              </a:r>
              <a:endParaRPr lang="en-US" sz="1000">
                <a:effectLst/>
                <a:latin typeface="Times New Roman" panose="02020603050405020304" pitchFamily="18" charset="0"/>
                <a:ea typeface="Times New Roman" panose="02020603050405020304" pitchFamily="18" charset="0"/>
              </a:endParaRPr>
            </a:p>
          </p:txBody>
        </p:sp>
      </p:grpSp>
      <p:grpSp>
        <p:nvGrpSpPr>
          <p:cNvPr id="21" name="Groupe 20">
            <a:extLst>
              <a:ext uri="{FF2B5EF4-FFF2-40B4-BE49-F238E27FC236}">
                <a16:creationId xmlns:a16="http://schemas.microsoft.com/office/drawing/2014/main" id="{9C3E922D-30E6-2F9C-85DC-09ED6B8ECD5C}"/>
              </a:ext>
            </a:extLst>
          </p:cNvPr>
          <p:cNvGrpSpPr/>
          <p:nvPr/>
        </p:nvGrpSpPr>
        <p:grpSpPr>
          <a:xfrm>
            <a:off x="679570" y="3102227"/>
            <a:ext cx="5242965" cy="396291"/>
            <a:chOff x="679570" y="2836951"/>
            <a:chExt cx="5242965" cy="396291"/>
          </a:xfrm>
        </p:grpSpPr>
        <p:sp>
          <p:nvSpPr>
            <p:cNvPr id="22" name="Rectangle : coins arrondis 3">
              <a:extLst>
                <a:ext uri="{FF2B5EF4-FFF2-40B4-BE49-F238E27FC236}">
                  <a16:creationId xmlns:a16="http://schemas.microsoft.com/office/drawing/2014/main" id="{6D7CAC05-6885-0374-815B-88B3A017464C}"/>
                </a:ext>
              </a:extLst>
            </p:cNvPr>
            <p:cNvSpPr/>
            <p:nvPr>
              <p:custDataLst>
                <p:tags r:id="rId17"/>
              </p:custDataLst>
            </p:nvPr>
          </p:nvSpPr>
          <p:spPr>
            <a:xfrm>
              <a:off x="679571" y="2836951"/>
              <a:ext cx="4232241"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Account</a:t>
              </a:r>
            </a:p>
          </p:txBody>
        </p:sp>
        <p:sp>
          <p:nvSpPr>
            <p:cNvPr id="23" name="TextBox 16">
              <a:extLst>
                <a:ext uri="{FF2B5EF4-FFF2-40B4-BE49-F238E27FC236}">
                  <a16:creationId xmlns:a16="http://schemas.microsoft.com/office/drawing/2014/main" id="{730CC955-E61D-EA2B-1C14-8C3C731F89BA}"/>
                </a:ext>
              </a:extLst>
            </p:cNvPr>
            <p:cNvSpPr txBox="1"/>
            <p:nvPr>
              <p:custDataLst>
                <p:tags r:id="rId18"/>
              </p:custDataLst>
            </p:nvPr>
          </p:nvSpPr>
          <p:spPr>
            <a:xfrm>
              <a:off x="679570" y="3079354"/>
              <a:ext cx="5242965" cy="153888"/>
            </a:xfrm>
            <a:prstGeom prst="rect">
              <a:avLst/>
            </a:prstGeom>
            <a:noFill/>
          </p:spPr>
          <p:txBody>
            <a:bodyPr wrap="square" lIns="0" tIns="0" rIns="0" bIns="0" rtlCol="0">
              <a:spAutoFit/>
            </a:bodyPr>
            <a:lstStyle/>
            <a:p>
              <a:pPr algn="just"/>
              <a:r>
                <a:rPr lang="en-US" sz="1000">
                  <a:effectLst/>
                </a:rPr>
                <a:t>User’s identity for a given system</a:t>
              </a:r>
              <a:endParaRPr lang="en-US" sz="1000">
                <a:effectLst/>
                <a:latin typeface="Times New Roman" panose="02020603050405020304" pitchFamily="18" charset="0"/>
                <a:ea typeface="Times New Roman" panose="02020603050405020304" pitchFamily="18" charset="0"/>
              </a:endParaRPr>
            </a:p>
          </p:txBody>
        </p:sp>
      </p:grpSp>
      <p:grpSp>
        <p:nvGrpSpPr>
          <p:cNvPr id="24" name="Groupe 23">
            <a:extLst>
              <a:ext uri="{FF2B5EF4-FFF2-40B4-BE49-F238E27FC236}">
                <a16:creationId xmlns:a16="http://schemas.microsoft.com/office/drawing/2014/main" id="{776912FD-F51A-5397-F42D-3D916B1465AE}"/>
              </a:ext>
            </a:extLst>
          </p:cNvPr>
          <p:cNvGrpSpPr/>
          <p:nvPr/>
        </p:nvGrpSpPr>
        <p:grpSpPr>
          <a:xfrm>
            <a:off x="679570" y="6041434"/>
            <a:ext cx="5242965" cy="396291"/>
            <a:chOff x="679570" y="5932576"/>
            <a:chExt cx="5242965" cy="396291"/>
          </a:xfrm>
        </p:grpSpPr>
        <p:sp>
          <p:nvSpPr>
            <p:cNvPr id="25" name="Rectangle : coins arrondis 3">
              <a:extLst>
                <a:ext uri="{FF2B5EF4-FFF2-40B4-BE49-F238E27FC236}">
                  <a16:creationId xmlns:a16="http://schemas.microsoft.com/office/drawing/2014/main" id="{60A78D77-31A5-69B2-E8E4-9A3788D8AAEA}"/>
                </a:ext>
              </a:extLst>
            </p:cNvPr>
            <p:cNvSpPr/>
            <p:nvPr>
              <p:custDataLst>
                <p:tags r:id="rId15"/>
              </p:custDataLst>
            </p:nvPr>
          </p:nvSpPr>
          <p:spPr>
            <a:xfrm>
              <a:off x="679571" y="5932576"/>
              <a:ext cx="4232241"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fr-FR" sz="1200" b="1">
                  <a:solidFill>
                    <a:srgbClr val="008BBF"/>
                  </a:solidFill>
                  <a:latin typeface="Montserrat" panose="00000500000000000000" pitchFamily="2" charset="0"/>
                </a:rPr>
                <a:t>Permission</a:t>
              </a:r>
            </a:p>
          </p:txBody>
        </p:sp>
        <p:sp>
          <p:nvSpPr>
            <p:cNvPr id="26" name="TextBox 16">
              <a:extLst>
                <a:ext uri="{FF2B5EF4-FFF2-40B4-BE49-F238E27FC236}">
                  <a16:creationId xmlns:a16="http://schemas.microsoft.com/office/drawing/2014/main" id="{2FFFDFD6-24B5-683A-7F64-B2C6270F263E}"/>
                </a:ext>
              </a:extLst>
            </p:cNvPr>
            <p:cNvSpPr txBox="1"/>
            <p:nvPr>
              <p:custDataLst>
                <p:tags r:id="rId16"/>
              </p:custDataLst>
            </p:nvPr>
          </p:nvSpPr>
          <p:spPr>
            <a:xfrm>
              <a:off x="679570" y="6174979"/>
              <a:ext cx="5242965" cy="153888"/>
            </a:xfrm>
            <a:prstGeom prst="rect">
              <a:avLst/>
            </a:prstGeom>
            <a:noFill/>
          </p:spPr>
          <p:txBody>
            <a:bodyPr wrap="square" lIns="0" tIns="0" rIns="0" bIns="0" rtlCol="0">
              <a:spAutoFit/>
            </a:bodyPr>
            <a:lstStyle/>
            <a:p>
              <a:pPr algn="just"/>
              <a:r>
                <a:rPr lang="en-US" sz="1000"/>
                <a:t>A</a:t>
              </a:r>
              <a:r>
                <a:rPr lang="en-US" sz="1000">
                  <a:effectLst/>
                </a:rPr>
                <a:t>llowed action for a specific asset (ex: read file, click button, etc.)</a:t>
              </a:r>
              <a:endParaRPr lang="en-US" sz="1000">
                <a:effectLst/>
                <a:latin typeface="Times New Roman" panose="02020603050405020304" pitchFamily="18" charset="0"/>
                <a:ea typeface="Times New Roman" panose="02020603050405020304" pitchFamily="18" charset="0"/>
              </a:endParaRPr>
            </a:p>
          </p:txBody>
        </p:sp>
      </p:grpSp>
      <p:grpSp>
        <p:nvGrpSpPr>
          <p:cNvPr id="27" name="Groupe 26">
            <a:extLst>
              <a:ext uri="{FF2B5EF4-FFF2-40B4-BE49-F238E27FC236}">
                <a16:creationId xmlns:a16="http://schemas.microsoft.com/office/drawing/2014/main" id="{954D38D7-7E16-4CB7-6D93-789687817940}"/>
              </a:ext>
            </a:extLst>
          </p:cNvPr>
          <p:cNvGrpSpPr/>
          <p:nvPr/>
        </p:nvGrpSpPr>
        <p:grpSpPr>
          <a:xfrm>
            <a:off x="6433098" y="1458802"/>
            <a:ext cx="5242965" cy="396291"/>
            <a:chOff x="6433098" y="1349944"/>
            <a:chExt cx="5242965" cy="396291"/>
          </a:xfrm>
        </p:grpSpPr>
        <p:sp>
          <p:nvSpPr>
            <p:cNvPr id="28" name="Rectangle : coins arrondis 3">
              <a:extLst>
                <a:ext uri="{FF2B5EF4-FFF2-40B4-BE49-F238E27FC236}">
                  <a16:creationId xmlns:a16="http://schemas.microsoft.com/office/drawing/2014/main" id="{43A45988-FF76-72DD-E596-0226CCF5B2DE}"/>
                </a:ext>
              </a:extLst>
            </p:cNvPr>
            <p:cNvSpPr/>
            <p:nvPr>
              <p:custDataLst>
                <p:tags r:id="rId13"/>
              </p:custDataLst>
            </p:nvPr>
          </p:nvSpPr>
          <p:spPr>
            <a:xfrm>
              <a:off x="6433098" y="1349944"/>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fr-FR" sz="1200" b="1">
                  <a:solidFill>
                    <a:srgbClr val="008BBF"/>
                  </a:solidFill>
                  <a:latin typeface="Montserrat" panose="00000500000000000000" pitchFamily="2" charset="0"/>
                </a:rPr>
                <a:t>Applicative profile</a:t>
              </a:r>
            </a:p>
          </p:txBody>
        </p:sp>
        <p:sp>
          <p:nvSpPr>
            <p:cNvPr id="29" name="TextBox 16">
              <a:extLst>
                <a:ext uri="{FF2B5EF4-FFF2-40B4-BE49-F238E27FC236}">
                  <a16:creationId xmlns:a16="http://schemas.microsoft.com/office/drawing/2014/main" id="{1744E888-5D2E-497D-7106-F8C8AC9D697E}"/>
                </a:ext>
              </a:extLst>
            </p:cNvPr>
            <p:cNvSpPr txBox="1"/>
            <p:nvPr>
              <p:custDataLst>
                <p:tags r:id="rId14"/>
              </p:custDataLst>
            </p:nvPr>
          </p:nvSpPr>
          <p:spPr>
            <a:xfrm>
              <a:off x="6433098" y="1592347"/>
              <a:ext cx="5242965" cy="153888"/>
            </a:xfrm>
            <a:prstGeom prst="rect">
              <a:avLst/>
            </a:prstGeom>
            <a:noFill/>
          </p:spPr>
          <p:txBody>
            <a:bodyPr wrap="square" lIns="0" tIns="0" rIns="0" bIns="0" rtlCol="0">
              <a:spAutoFit/>
            </a:bodyPr>
            <a:lstStyle/>
            <a:p>
              <a:pPr algn="just"/>
              <a:r>
                <a:rPr lang="en-US" sz="1000">
                  <a:effectLst/>
                </a:rPr>
                <a:t>Set of permissions given in an application </a:t>
              </a:r>
              <a:endParaRPr lang="en-US" sz="1000">
                <a:effectLst/>
                <a:latin typeface="Times New Roman" panose="02020603050405020304" pitchFamily="18" charset="0"/>
                <a:ea typeface="Times New Roman" panose="02020603050405020304" pitchFamily="18" charset="0"/>
              </a:endParaRPr>
            </a:p>
          </p:txBody>
        </p:sp>
      </p:grpSp>
      <p:grpSp>
        <p:nvGrpSpPr>
          <p:cNvPr id="30" name="Groupe 29">
            <a:extLst>
              <a:ext uri="{FF2B5EF4-FFF2-40B4-BE49-F238E27FC236}">
                <a16:creationId xmlns:a16="http://schemas.microsoft.com/office/drawing/2014/main" id="{3FA7F79C-E187-AE62-0EFC-F06E04FA6443}"/>
              </a:ext>
            </a:extLst>
          </p:cNvPr>
          <p:cNvGrpSpPr/>
          <p:nvPr/>
        </p:nvGrpSpPr>
        <p:grpSpPr>
          <a:xfrm>
            <a:off x="6433098" y="2128581"/>
            <a:ext cx="5242965" cy="550180"/>
            <a:chOff x="6433098" y="2122316"/>
            <a:chExt cx="5242965" cy="550180"/>
          </a:xfrm>
        </p:grpSpPr>
        <p:sp>
          <p:nvSpPr>
            <p:cNvPr id="31" name="Rectangle : coins arrondis 3">
              <a:extLst>
                <a:ext uri="{FF2B5EF4-FFF2-40B4-BE49-F238E27FC236}">
                  <a16:creationId xmlns:a16="http://schemas.microsoft.com/office/drawing/2014/main" id="{E6BD49BA-227F-5CC9-0A09-4475D9B60FF9}"/>
                </a:ext>
              </a:extLst>
            </p:cNvPr>
            <p:cNvSpPr/>
            <p:nvPr>
              <p:custDataLst>
                <p:tags r:id="rId11"/>
              </p:custDataLst>
            </p:nvPr>
          </p:nvSpPr>
          <p:spPr>
            <a:xfrm>
              <a:off x="6433098" y="2122316"/>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Business role</a:t>
              </a:r>
            </a:p>
          </p:txBody>
        </p:sp>
        <p:sp>
          <p:nvSpPr>
            <p:cNvPr id="32" name="TextBox 16">
              <a:extLst>
                <a:ext uri="{FF2B5EF4-FFF2-40B4-BE49-F238E27FC236}">
                  <a16:creationId xmlns:a16="http://schemas.microsoft.com/office/drawing/2014/main" id="{24426B3C-62A8-1F09-FC07-A663EB8329F1}"/>
                </a:ext>
              </a:extLst>
            </p:cNvPr>
            <p:cNvSpPr txBox="1"/>
            <p:nvPr>
              <p:custDataLst>
                <p:tags r:id="rId12"/>
              </p:custDataLst>
            </p:nvPr>
          </p:nvSpPr>
          <p:spPr>
            <a:xfrm>
              <a:off x="6433098" y="2364719"/>
              <a:ext cx="5242965" cy="307777"/>
            </a:xfrm>
            <a:prstGeom prst="rect">
              <a:avLst/>
            </a:prstGeom>
            <a:noFill/>
          </p:spPr>
          <p:txBody>
            <a:bodyPr wrap="square" lIns="0" tIns="0" rIns="0" bIns="0" rtlCol="0">
              <a:spAutoFit/>
            </a:bodyPr>
            <a:lstStyle/>
            <a:p>
              <a:pPr algn="just"/>
              <a:r>
                <a:rPr lang="en-US" sz="1000">
                  <a:effectLst/>
                </a:rPr>
                <a:t>Functional</a:t>
              </a:r>
              <a:r>
                <a:rPr lang="en-US" sz="1000"/>
                <a:t> collection of applicative profiles which contains the necessary permissions to perform  the activities associated to the role</a:t>
              </a:r>
              <a:endParaRPr lang="en-US" sz="1000">
                <a:effectLst/>
                <a:latin typeface="Times New Roman" panose="02020603050405020304" pitchFamily="18" charset="0"/>
                <a:ea typeface="Times New Roman" panose="02020603050405020304" pitchFamily="18" charset="0"/>
              </a:endParaRPr>
            </a:p>
          </p:txBody>
        </p:sp>
      </p:grpSp>
      <p:grpSp>
        <p:nvGrpSpPr>
          <p:cNvPr id="33" name="Groupe 32">
            <a:extLst>
              <a:ext uri="{FF2B5EF4-FFF2-40B4-BE49-F238E27FC236}">
                <a16:creationId xmlns:a16="http://schemas.microsoft.com/office/drawing/2014/main" id="{059DE630-F7D7-730E-C29E-2DEA0E834F65}"/>
              </a:ext>
            </a:extLst>
          </p:cNvPr>
          <p:cNvGrpSpPr/>
          <p:nvPr/>
        </p:nvGrpSpPr>
        <p:grpSpPr>
          <a:xfrm>
            <a:off x="6433098" y="3775917"/>
            <a:ext cx="5242965" cy="396291"/>
            <a:chOff x="6433098" y="3667060"/>
            <a:chExt cx="5242965" cy="396291"/>
          </a:xfrm>
        </p:grpSpPr>
        <p:sp>
          <p:nvSpPr>
            <p:cNvPr id="34" name="Rectangle : coins arrondis 3">
              <a:extLst>
                <a:ext uri="{FF2B5EF4-FFF2-40B4-BE49-F238E27FC236}">
                  <a16:creationId xmlns:a16="http://schemas.microsoft.com/office/drawing/2014/main" id="{CB1513C2-5C2E-2C44-3891-91A756ABD2E7}"/>
                </a:ext>
              </a:extLst>
            </p:cNvPr>
            <p:cNvSpPr/>
            <p:nvPr>
              <p:custDataLst>
                <p:tags r:id="rId9"/>
              </p:custDataLst>
            </p:nvPr>
          </p:nvSpPr>
          <p:spPr>
            <a:xfrm>
              <a:off x="6433098" y="3667060"/>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fr-FR" sz="1200" b="1">
                  <a:solidFill>
                    <a:srgbClr val="008BBF"/>
                  </a:solidFill>
                  <a:latin typeface="Montserrat" panose="00000500000000000000" pitchFamily="2" charset="0"/>
                </a:rPr>
                <a:t>User provisioning</a:t>
              </a:r>
            </a:p>
          </p:txBody>
        </p:sp>
        <p:sp>
          <p:nvSpPr>
            <p:cNvPr id="35" name="TextBox 16">
              <a:extLst>
                <a:ext uri="{FF2B5EF4-FFF2-40B4-BE49-F238E27FC236}">
                  <a16:creationId xmlns:a16="http://schemas.microsoft.com/office/drawing/2014/main" id="{456F3DDC-8239-8569-7078-E3E984A9330E}"/>
                </a:ext>
              </a:extLst>
            </p:cNvPr>
            <p:cNvSpPr txBox="1"/>
            <p:nvPr>
              <p:custDataLst>
                <p:tags r:id="rId10"/>
              </p:custDataLst>
            </p:nvPr>
          </p:nvSpPr>
          <p:spPr>
            <a:xfrm>
              <a:off x="6433098" y="3909463"/>
              <a:ext cx="5242965" cy="153888"/>
            </a:xfrm>
            <a:prstGeom prst="rect">
              <a:avLst/>
            </a:prstGeom>
            <a:noFill/>
          </p:spPr>
          <p:txBody>
            <a:bodyPr wrap="square" lIns="0" tIns="0" rIns="0" bIns="0" rtlCol="0">
              <a:spAutoFit/>
            </a:bodyPr>
            <a:lstStyle/>
            <a:p>
              <a:pPr algn="just"/>
              <a:r>
                <a:rPr lang="en-US" sz="1000">
                  <a:effectLst/>
                </a:rPr>
                <a:t>The processes of creating and modify</a:t>
              </a:r>
              <a:r>
                <a:rPr lang="en-US" sz="1000"/>
                <a:t>ing a user account in a system</a:t>
              </a:r>
              <a:endParaRPr lang="en-US" sz="1000">
                <a:effectLst/>
                <a:latin typeface="Times New Roman" panose="02020603050405020304" pitchFamily="18" charset="0"/>
                <a:ea typeface="Times New Roman" panose="02020603050405020304" pitchFamily="18" charset="0"/>
              </a:endParaRPr>
            </a:p>
          </p:txBody>
        </p:sp>
      </p:grpSp>
      <p:grpSp>
        <p:nvGrpSpPr>
          <p:cNvPr id="36" name="Groupe 35">
            <a:extLst>
              <a:ext uri="{FF2B5EF4-FFF2-40B4-BE49-F238E27FC236}">
                <a16:creationId xmlns:a16="http://schemas.microsoft.com/office/drawing/2014/main" id="{D2FA123D-3800-08E7-0092-70BBE35BE3D1}"/>
              </a:ext>
            </a:extLst>
          </p:cNvPr>
          <p:cNvGrpSpPr/>
          <p:nvPr/>
        </p:nvGrpSpPr>
        <p:grpSpPr>
          <a:xfrm>
            <a:off x="6433098" y="4445696"/>
            <a:ext cx="5242965" cy="396291"/>
            <a:chOff x="6433098" y="4439432"/>
            <a:chExt cx="5242965" cy="396291"/>
          </a:xfrm>
        </p:grpSpPr>
        <p:sp>
          <p:nvSpPr>
            <p:cNvPr id="37" name="Rectangle : coins arrondis 3">
              <a:extLst>
                <a:ext uri="{FF2B5EF4-FFF2-40B4-BE49-F238E27FC236}">
                  <a16:creationId xmlns:a16="http://schemas.microsoft.com/office/drawing/2014/main" id="{D4A45422-2222-0E4E-D434-585E8AD302E9}"/>
                </a:ext>
              </a:extLst>
            </p:cNvPr>
            <p:cNvSpPr/>
            <p:nvPr>
              <p:custDataLst>
                <p:tags r:id="rId7"/>
              </p:custDataLst>
            </p:nvPr>
          </p:nvSpPr>
          <p:spPr>
            <a:xfrm>
              <a:off x="6433098" y="4439432"/>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User deprovisioning</a:t>
              </a:r>
            </a:p>
          </p:txBody>
        </p:sp>
        <p:sp>
          <p:nvSpPr>
            <p:cNvPr id="38" name="TextBox 16">
              <a:extLst>
                <a:ext uri="{FF2B5EF4-FFF2-40B4-BE49-F238E27FC236}">
                  <a16:creationId xmlns:a16="http://schemas.microsoft.com/office/drawing/2014/main" id="{663F8821-6FFC-E990-B2AB-1E24167A0C18}"/>
                </a:ext>
              </a:extLst>
            </p:cNvPr>
            <p:cNvSpPr txBox="1"/>
            <p:nvPr>
              <p:custDataLst>
                <p:tags r:id="rId8"/>
              </p:custDataLst>
            </p:nvPr>
          </p:nvSpPr>
          <p:spPr>
            <a:xfrm>
              <a:off x="6433098" y="4681835"/>
              <a:ext cx="5242965" cy="153888"/>
            </a:xfrm>
            <a:prstGeom prst="rect">
              <a:avLst/>
            </a:prstGeom>
            <a:noFill/>
          </p:spPr>
          <p:txBody>
            <a:bodyPr wrap="square" lIns="0" tIns="0" rIns="0" bIns="0" rtlCol="0">
              <a:spAutoFit/>
            </a:bodyPr>
            <a:lstStyle/>
            <a:p>
              <a:pPr algn="just"/>
              <a:r>
                <a:rPr lang="en-US" sz="1000"/>
                <a:t>The processes of de-activating and/or deleting a user account in a system</a:t>
              </a:r>
            </a:p>
          </p:txBody>
        </p:sp>
      </p:grpSp>
      <p:grpSp>
        <p:nvGrpSpPr>
          <p:cNvPr id="39" name="Groupe 38">
            <a:extLst>
              <a:ext uri="{FF2B5EF4-FFF2-40B4-BE49-F238E27FC236}">
                <a16:creationId xmlns:a16="http://schemas.microsoft.com/office/drawing/2014/main" id="{B002B4CD-1021-56FF-8F93-817CC3727B3A}"/>
              </a:ext>
            </a:extLst>
          </p:cNvPr>
          <p:cNvGrpSpPr/>
          <p:nvPr/>
        </p:nvGrpSpPr>
        <p:grpSpPr>
          <a:xfrm>
            <a:off x="6433098" y="5115475"/>
            <a:ext cx="5242965" cy="550180"/>
            <a:chOff x="6433098" y="5057915"/>
            <a:chExt cx="5242965" cy="550180"/>
          </a:xfrm>
        </p:grpSpPr>
        <p:sp>
          <p:nvSpPr>
            <p:cNvPr id="40" name="Rectangle : coins arrondis 3">
              <a:extLst>
                <a:ext uri="{FF2B5EF4-FFF2-40B4-BE49-F238E27FC236}">
                  <a16:creationId xmlns:a16="http://schemas.microsoft.com/office/drawing/2014/main" id="{5BE2C7E9-175D-F424-24EC-BBBA2C283F79}"/>
                </a:ext>
              </a:extLst>
            </p:cNvPr>
            <p:cNvSpPr/>
            <p:nvPr>
              <p:custDataLst>
                <p:tags r:id="rId5"/>
              </p:custDataLst>
            </p:nvPr>
          </p:nvSpPr>
          <p:spPr>
            <a:xfrm>
              <a:off x="6433098" y="5057915"/>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Least privilege principle</a:t>
              </a:r>
            </a:p>
          </p:txBody>
        </p:sp>
        <p:sp>
          <p:nvSpPr>
            <p:cNvPr id="41" name="TextBox 16">
              <a:extLst>
                <a:ext uri="{FF2B5EF4-FFF2-40B4-BE49-F238E27FC236}">
                  <a16:creationId xmlns:a16="http://schemas.microsoft.com/office/drawing/2014/main" id="{D4913F5A-2B26-A578-60F1-C85169998CBF}"/>
                </a:ext>
              </a:extLst>
            </p:cNvPr>
            <p:cNvSpPr txBox="1"/>
            <p:nvPr>
              <p:custDataLst>
                <p:tags r:id="rId6"/>
              </p:custDataLst>
            </p:nvPr>
          </p:nvSpPr>
          <p:spPr>
            <a:xfrm>
              <a:off x="6433098" y="5300318"/>
              <a:ext cx="5242965" cy="307777"/>
            </a:xfrm>
            <a:prstGeom prst="rect">
              <a:avLst/>
            </a:prstGeom>
            <a:noFill/>
          </p:spPr>
          <p:txBody>
            <a:bodyPr wrap="square" lIns="0" tIns="0" rIns="0" bIns="0" rtlCol="0">
              <a:spAutoFit/>
            </a:bodyPr>
            <a:lstStyle/>
            <a:p>
              <a:pPr algn="just"/>
              <a:r>
                <a:rPr lang="en-US" sz="1000"/>
                <a:t>Principle of granting a user only the permissions required to perform their functions</a:t>
              </a:r>
              <a:r>
                <a:rPr lang="fr-FR" sz="1000">
                  <a:effectLst/>
                </a:rPr>
                <a:t>.</a:t>
              </a:r>
              <a:endParaRPr lang="fr-FR" sz="1000">
                <a:effectLst/>
                <a:latin typeface="Times New Roman" panose="02020603050405020304" pitchFamily="18" charset="0"/>
                <a:ea typeface="Times New Roman" panose="02020603050405020304" pitchFamily="18" charset="0"/>
              </a:endParaRPr>
            </a:p>
          </p:txBody>
        </p:sp>
      </p:grpSp>
      <p:grpSp>
        <p:nvGrpSpPr>
          <p:cNvPr id="42" name="Groupe 41">
            <a:extLst>
              <a:ext uri="{FF2B5EF4-FFF2-40B4-BE49-F238E27FC236}">
                <a16:creationId xmlns:a16="http://schemas.microsoft.com/office/drawing/2014/main" id="{98D8ED7F-477E-65DF-BB99-CDFFE0F01070}"/>
              </a:ext>
            </a:extLst>
          </p:cNvPr>
          <p:cNvGrpSpPr/>
          <p:nvPr/>
        </p:nvGrpSpPr>
        <p:grpSpPr>
          <a:xfrm>
            <a:off x="6433098" y="5939145"/>
            <a:ext cx="5242965" cy="396291"/>
            <a:chOff x="6433098" y="5830287"/>
            <a:chExt cx="5242965" cy="396291"/>
          </a:xfrm>
        </p:grpSpPr>
        <p:sp>
          <p:nvSpPr>
            <p:cNvPr id="43" name="Rectangle : coins arrondis 3">
              <a:extLst>
                <a:ext uri="{FF2B5EF4-FFF2-40B4-BE49-F238E27FC236}">
                  <a16:creationId xmlns:a16="http://schemas.microsoft.com/office/drawing/2014/main" id="{9C49D90D-1EEE-2C46-42C9-3F72E6A574AF}"/>
                </a:ext>
              </a:extLst>
            </p:cNvPr>
            <p:cNvSpPr/>
            <p:nvPr>
              <p:custDataLst>
                <p:tags r:id="rId3"/>
              </p:custDataLst>
            </p:nvPr>
          </p:nvSpPr>
          <p:spPr>
            <a:xfrm>
              <a:off x="6433098" y="5830287"/>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Access recertification</a:t>
              </a:r>
            </a:p>
          </p:txBody>
        </p:sp>
        <p:sp>
          <p:nvSpPr>
            <p:cNvPr id="44" name="TextBox 16">
              <a:extLst>
                <a:ext uri="{FF2B5EF4-FFF2-40B4-BE49-F238E27FC236}">
                  <a16:creationId xmlns:a16="http://schemas.microsoft.com/office/drawing/2014/main" id="{325FB509-7139-8AC7-59C9-9AD97E487A14}"/>
                </a:ext>
              </a:extLst>
            </p:cNvPr>
            <p:cNvSpPr txBox="1"/>
            <p:nvPr>
              <p:custDataLst>
                <p:tags r:id="rId4"/>
              </p:custDataLst>
            </p:nvPr>
          </p:nvSpPr>
          <p:spPr>
            <a:xfrm>
              <a:off x="6433098" y="6072690"/>
              <a:ext cx="5242965" cy="153888"/>
            </a:xfrm>
            <a:prstGeom prst="rect">
              <a:avLst/>
            </a:prstGeom>
            <a:noFill/>
          </p:spPr>
          <p:txBody>
            <a:bodyPr wrap="square" lIns="0" tIns="0" rIns="0" bIns="0" rtlCol="0">
              <a:spAutoFit/>
            </a:bodyPr>
            <a:lstStyle/>
            <a:p>
              <a:pPr algn="just"/>
              <a:r>
                <a:rPr lang="en-US" sz="1000">
                  <a:effectLst/>
                </a:rPr>
                <a:t>Verification that actual users’ permissions are aligned with policies and rules</a:t>
              </a:r>
              <a:endParaRPr lang="en-US" sz="1000">
                <a:effectLst/>
                <a:latin typeface="Times New Roman" panose="02020603050405020304" pitchFamily="18" charset="0"/>
                <a:ea typeface="Times New Roman" panose="02020603050405020304" pitchFamily="18" charset="0"/>
              </a:endParaRPr>
            </a:p>
          </p:txBody>
        </p:sp>
      </p:grpSp>
      <p:grpSp>
        <p:nvGrpSpPr>
          <p:cNvPr id="45" name="Groupe 44">
            <a:extLst>
              <a:ext uri="{FF2B5EF4-FFF2-40B4-BE49-F238E27FC236}">
                <a16:creationId xmlns:a16="http://schemas.microsoft.com/office/drawing/2014/main" id="{6F5F75C9-76E8-E860-2300-A39A2CDCEB8E}"/>
              </a:ext>
            </a:extLst>
          </p:cNvPr>
          <p:cNvGrpSpPr/>
          <p:nvPr/>
        </p:nvGrpSpPr>
        <p:grpSpPr>
          <a:xfrm>
            <a:off x="6433098" y="2952249"/>
            <a:ext cx="5242965" cy="550180"/>
            <a:chOff x="6433098" y="2879621"/>
            <a:chExt cx="5242965" cy="550180"/>
          </a:xfrm>
        </p:grpSpPr>
        <p:sp>
          <p:nvSpPr>
            <p:cNvPr id="46" name="Rectangle : coins arrondis 3">
              <a:extLst>
                <a:ext uri="{FF2B5EF4-FFF2-40B4-BE49-F238E27FC236}">
                  <a16:creationId xmlns:a16="http://schemas.microsoft.com/office/drawing/2014/main" id="{8DC57BA0-4DB2-CF2C-178F-CCD57E0A7E67}"/>
                </a:ext>
              </a:extLst>
            </p:cNvPr>
            <p:cNvSpPr/>
            <p:nvPr>
              <p:custDataLst>
                <p:tags r:id="rId1"/>
              </p:custDataLst>
            </p:nvPr>
          </p:nvSpPr>
          <p:spPr>
            <a:xfrm>
              <a:off x="6433098" y="2879621"/>
              <a:ext cx="4232240" cy="1846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p>
              <a:pPr lvl="0" algn="just"/>
              <a:r>
                <a:rPr lang="en-US" sz="1200" b="1">
                  <a:solidFill>
                    <a:srgbClr val="008BBF"/>
                  </a:solidFill>
                  <a:latin typeface="Montserrat" panose="00000500000000000000" pitchFamily="2" charset="0"/>
                </a:rPr>
                <a:t>Identity Governance and Administration</a:t>
              </a:r>
            </a:p>
          </p:txBody>
        </p:sp>
        <p:sp>
          <p:nvSpPr>
            <p:cNvPr id="47" name="TextBox 16">
              <a:extLst>
                <a:ext uri="{FF2B5EF4-FFF2-40B4-BE49-F238E27FC236}">
                  <a16:creationId xmlns:a16="http://schemas.microsoft.com/office/drawing/2014/main" id="{815B3F70-85CD-5B42-2E61-D724C6725197}"/>
                </a:ext>
              </a:extLst>
            </p:cNvPr>
            <p:cNvSpPr txBox="1"/>
            <p:nvPr>
              <p:custDataLst>
                <p:tags r:id="rId2"/>
              </p:custDataLst>
            </p:nvPr>
          </p:nvSpPr>
          <p:spPr>
            <a:xfrm>
              <a:off x="6433098" y="3122024"/>
              <a:ext cx="5242965" cy="307777"/>
            </a:xfrm>
            <a:prstGeom prst="rect">
              <a:avLst/>
            </a:prstGeom>
            <a:noFill/>
          </p:spPr>
          <p:txBody>
            <a:bodyPr wrap="square" lIns="0" tIns="0" rIns="0" bIns="0" rtlCol="0">
              <a:spAutoFit/>
            </a:bodyPr>
            <a:lstStyle/>
            <a:p>
              <a:pPr algn="just"/>
              <a:r>
                <a:rPr lang="en-US" sz="1000">
                  <a:effectLst/>
                </a:rPr>
                <a:t>Set of policies, processes and tools to mange users' identitie</a:t>
              </a:r>
              <a:r>
                <a:rPr lang="en-US" sz="1000"/>
                <a:t>s and authorization across the information system</a:t>
              </a:r>
              <a:endParaRPr lang="en-US" sz="10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3520417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DDB560-D86B-7632-AB3B-7DD086EB51D6}"/>
              </a:ext>
            </a:extLst>
          </p:cNvPr>
          <p:cNvSpPr>
            <a:spLocks noGrp="1"/>
          </p:cNvSpPr>
          <p:nvPr>
            <p:ph type="title"/>
          </p:nvPr>
        </p:nvSpPr>
        <p:spPr/>
        <p:txBody>
          <a:bodyPr/>
          <a:lstStyle/>
          <a:p>
            <a:r>
              <a:rPr lang="en-US"/>
              <a:t>BYCN Eco-system</a:t>
            </a:r>
          </a:p>
        </p:txBody>
      </p:sp>
      <p:sp>
        <p:nvSpPr>
          <p:cNvPr id="4" name="Espace réservé du pied de page 3">
            <a:extLst>
              <a:ext uri="{FF2B5EF4-FFF2-40B4-BE49-F238E27FC236}">
                <a16:creationId xmlns:a16="http://schemas.microsoft.com/office/drawing/2014/main" id="{9A3B7778-6CBC-851F-8E67-930C529121BD}"/>
              </a:ext>
            </a:extLst>
          </p:cNvPr>
          <p:cNvSpPr>
            <a:spLocks noGrp="1"/>
          </p:cNvSpPr>
          <p:nvPr>
            <p:ph type="ftr" sz="quarter" idx="13"/>
          </p:nvPr>
        </p:nvSpPr>
        <p:spPr/>
        <p:txBody>
          <a:bodyPr/>
          <a:lstStyle/>
          <a:p>
            <a:r>
              <a:rPr lang="fr-FR"/>
              <a:t>Bouygues Construction  |  </a:t>
            </a:r>
            <a:r>
              <a:rPr lang="fr-FR">
                <a:ea typeface="+mn-lt"/>
                <a:cs typeface="+mn-lt"/>
              </a:rPr>
              <a:t>02 2023</a:t>
            </a:r>
            <a:endParaRPr lang="fr-FR"/>
          </a:p>
        </p:txBody>
      </p:sp>
      <p:sp>
        <p:nvSpPr>
          <p:cNvPr id="5" name="Espace réservé du numéro de diapositive 4">
            <a:extLst>
              <a:ext uri="{FF2B5EF4-FFF2-40B4-BE49-F238E27FC236}">
                <a16:creationId xmlns:a16="http://schemas.microsoft.com/office/drawing/2014/main" id="{952C82A8-433A-D75A-9509-BA4FFCC7B794}"/>
              </a:ext>
            </a:extLst>
          </p:cNvPr>
          <p:cNvSpPr>
            <a:spLocks noGrp="1"/>
          </p:cNvSpPr>
          <p:nvPr>
            <p:ph type="sldNum" sz="quarter" idx="14"/>
          </p:nvPr>
        </p:nvSpPr>
        <p:spPr/>
        <p:txBody>
          <a:bodyPr/>
          <a:lstStyle/>
          <a:p>
            <a:r>
              <a:rPr lang="fr-FR"/>
              <a:t>| </a:t>
            </a:r>
            <a:fld id="{C2EBF694-A8F9-4F06-8F8E-D09447FAA2D5}" type="slidenum">
              <a:rPr smtClean="0"/>
              <a:pPr/>
              <a:t>29</a:t>
            </a:fld>
            <a:endParaRPr/>
          </a:p>
        </p:txBody>
      </p:sp>
      <p:graphicFrame>
        <p:nvGraphicFramePr>
          <p:cNvPr id="6" name="Tableau 5">
            <a:extLst>
              <a:ext uri="{FF2B5EF4-FFF2-40B4-BE49-F238E27FC236}">
                <a16:creationId xmlns:a16="http://schemas.microsoft.com/office/drawing/2014/main" id="{20FA8023-F0FF-CED7-4793-0513D39317ED}"/>
              </a:ext>
            </a:extLst>
          </p:cNvPr>
          <p:cNvGraphicFramePr>
            <a:graphicFrameLocks noGrp="1"/>
          </p:cNvGraphicFramePr>
          <p:nvPr>
            <p:extLst>
              <p:ext uri="{D42A27DB-BD31-4B8C-83A1-F6EECF244321}">
                <p14:modId xmlns:p14="http://schemas.microsoft.com/office/powerpoint/2010/main" val="1199344514"/>
              </p:ext>
            </p:extLst>
          </p:nvPr>
        </p:nvGraphicFramePr>
        <p:xfrm>
          <a:off x="959191" y="1916078"/>
          <a:ext cx="9192529" cy="4064371"/>
        </p:xfrm>
        <a:graphic>
          <a:graphicData uri="http://schemas.openxmlformats.org/drawingml/2006/table">
            <a:tbl>
              <a:tblPr firstRow="1" firstCol="1" bandRow="1">
                <a:tableStyleId>{7DF18680-E054-41AD-8BC1-D1AEF772440D}</a:tableStyleId>
              </a:tblPr>
              <a:tblGrid>
                <a:gridCol w="2993456">
                  <a:extLst>
                    <a:ext uri="{9D8B030D-6E8A-4147-A177-3AD203B41FA5}">
                      <a16:colId xmlns:a16="http://schemas.microsoft.com/office/drawing/2014/main" val="3132273381"/>
                    </a:ext>
                  </a:extLst>
                </a:gridCol>
                <a:gridCol w="4486492">
                  <a:extLst>
                    <a:ext uri="{9D8B030D-6E8A-4147-A177-3AD203B41FA5}">
                      <a16:colId xmlns:a16="http://schemas.microsoft.com/office/drawing/2014/main" val="1803399556"/>
                    </a:ext>
                  </a:extLst>
                </a:gridCol>
                <a:gridCol w="1712581">
                  <a:extLst>
                    <a:ext uri="{9D8B030D-6E8A-4147-A177-3AD203B41FA5}">
                      <a16:colId xmlns:a16="http://schemas.microsoft.com/office/drawing/2014/main" val="2898105648"/>
                    </a:ext>
                  </a:extLst>
                </a:gridCol>
              </a:tblGrid>
              <a:tr h="444895">
                <a:tc>
                  <a:txBody>
                    <a:bodyPr/>
                    <a:lstStyle/>
                    <a:p>
                      <a:pPr algn="ctr" rtl="0" fontAlgn="ctr"/>
                      <a:r>
                        <a:rPr lang="en-US" sz="1200" u="none" strike="noStrike" noProof="0">
                          <a:effectLst/>
                        </a:rPr>
                        <a:t>Name</a:t>
                      </a:r>
                      <a:endParaRPr lang="en-US" sz="12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Description</a:t>
                      </a:r>
                      <a:endParaRPr lang="en-US" sz="12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Scope</a:t>
                      </a:r>
                      <a:endParaRPr lang="en-US" sz="12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247833704"/>
                  </a:ext>
                </a:extLst>
              </a:tr>
              <a:tr h="301623">
                <a:tc>
                  <a:txBody>
                    <a:bodyPr/>
                    <a:lstStyle/>
                    <a:p>
                      <a:pPr algn="l" rtl="0" fontAlgn="ctr"/>
                      <a:r>
                        <a:rPr lang="en-US" sz="1400" u="none" strike="noStrike" noProof="0">
                          <a:effectLst/>
                        </a:rPr>
                        <a:t>SESAME</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Create a unique identifier</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766068899"/>
                  </a:ext>
                </a:extLst>
              </a:tr>
              <a:tr h="301623">
                <a:tc>
                  <a:txBody>
                    <a:bodyPr/>
                    <a:lstStyle/>
                    <a:p>
                      <a:pPr algn="l" rtl="0" fontAlgn="ctr"/>
                      <a:r>
                        <a:rPr lang="en-US" sz="1400" u="none" strike="noStrike" noProof="0">
                          <a:effectLst/>
                        </a:rPr>
                        <a:t>RUBIS (SOPRA HR)</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HR IS France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France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2101315594"/>
                  </a:ext>
                </a:extLst>
              </a:tr>
              <a:tr h="301623">
                <a:tc>
                  <a:txBody>
                    <a:bodyPr/>
                    <a:lstStyle/>
                    <a:p>
                      <a:pPr algn="l" rtl="0" fontAlgn="ctr"/>
                      <a:r>
                        <a:rPr lang="en-US" sz="1400" u="none" strike="noStrike" noProof="0">
                          <a:effectLst/>
                        </a:rPr>
                        <a:t>CHORUS</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Synchronize local HR systems in Succes Factor </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1191731995"/>
                  </a:ext>
                </a:extLst>
              </a:tr>
              <a:tr h="301623">
                <a:tc>
                  <a:txBody>
                    <a:bodyPr/>
                    <a:lstStyle/>
                    <a:p>
                      <a:pPr algn="l" rtl="0" fontAlgn="ctr"/>
                      <a:r>
                        <a:rPr lang="en-US" sz="1400" u="none" strike="noStrike" noProof="0">
                          <a:effectLst/>
                        </a:rPr>
                        <a:t>Success Factor</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Database for ByLearn</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2897594900"/>
                  </a:ext>
                </a:extLst>
              </a:tr>
              <a:tr h="301623">
                <a:tc>
                  <a:txBody>
                    <a:bodyPr/>
                    <a:lstStyle/>
                    <a:p>
                      <a:pPr algn="l" rtl="0" fontAlgn="ctr"/>
                      <a:r>
                        <a:rPr lang="en-US" sz="1400" u="none" strike="noStrike" noProof="0">
                          <a:effectLst/>
                        </a:rPr>
                        <a:t>CPeople / Argos / Community People</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User repository</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858210754"/>
                  </a:ext>
                </a:extLst>
              </a:tr>
              <a:tr h="301623">
                <a:tc>
                  <a:txBody>
                    <a:bodyPr/>
                    <a:lstStyle/>
                    <a:p>
                      <a:pPr algn="l" rtl="0" fontAlgn="ctr"/>
                      <a:r>
                        <a:rPr lang="en-US" sz="1400" u="none" strike="noStrike" noProof="0">
                          <a:effectLst/>
                        </a:rPr>
                        <a:t>SCO Portal</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kern="1200" noProof="0">
                          <a:solidFill>
                            <a:schemeClr val="dk1"/>
                          </a:solidFill>
                          <a:effectLst/>
                          <a:latin typeface="+mn-lt"/>
                          <a:ea typeface="+mn-ea"/>
                          <a:cs typeface="+mn-cs"/>
                        </a:rPr>
                        <a:t>Request AD account and email address</a:t>
                      </a:r>
                    </a:p>
                  </a:txBody>
                  <a:tcPr marL="6350" marR="6350" marT="6350" marB="0" anchor="ctr"/>
                </a:tc>
                <a:tc>
                  <a:txBody>
                    <a:bodyPr/>
                    <a:lstStyle/>
                    <a:p>
                      <a:pPr algn="ctr" rtl="0" fontAlgn="ctr"/>
                      <a:r>
                        <a:rPr lang="en-US" sz="1200" u="none" strike="noStrike" noProof="0">
                          <a:effectLst/>
                        </a:rPr>
                        <a:t>Worlwilde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4198060574"/>
                  </a:ext>
                </a:extLst>
              </a:tr>
              <a:tr h="301623">
                <a:tc>
                  <a:txBody>
                    <a:bodyPr/>
                    <a:lstStyle/>
                    <a:p>
                      <a:pPr algn="l" rtl="0" fontAlgn="ctr"/>
                      <a:r>
                        <a:rPr lang="en-US" sz="1400" u="none" strike="noStrike" noProof="0">
                          <a:effectLst/>
                        </a:rPr>
                        <a:t>Groupie</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kern="1200" noProof="0">
                          <a:solidFill>
                            <a:schemeClr val="dk1"/>
                          </a:solidFill>
                          <a:effectLst/>
                          <a:latin typeface="+mn-lt"/>
                          <a:ea typeface="+mn-ea"/>
                          <a:cs typeface="+mn-cs"/>
                        </a:rPr>
                        <a:t>Manage AD group</a:t>
                      </a: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428493300"/>
                  </a:ext>
                </a:extLst>
              </a:tr>
              <a:tr h="301623">
                <a:tc>
                  <a:txBody>
                    <a:bodyPr/>
                    <a:lstStyle/>
                    <a:p>
                      <a:pPr algn="l" rtl="0" fontAlgn="ctr"/>
                      <a:r>
                        <a:rPr lang="en-US" sz="1400" u="none" strike="noStrike" noProof="0">
                          <a:effectLst/>
                        </a:rPr>
                        <a:t>OASIS</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ITSM</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941985165"/>
                  </a:ext>
                </a:extLst>
              </a:tr>
              <a:tr h="301623">
                <a:tc>
                  <a:txBody>
                    <a:bodyPr/>
                    <a:lstStyle/>
                    <a:p>
                      <a:pPr algn="l" rtl="0" fontAlgn="ctr"/>
                      <a:r>
                        <a:rPr lang="en-US" sz="1400" u="none" strike="noStrike" noProof="0">
                          <a:effectLst/>
                        </a:rPr>
                        <a:t>AD &amp; Azure AD</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Directory service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526013636"/>
                  </a:ext>
                </a:extLst>
              </a:tr>
              <a:tr h="301623">
                <a:tc>
                  <a:txBody>
                    <a:bodyPr/>
                    <a:lstStyle/>
                    <a:p>
                      <a:pPr algn="l" rtl="0" fontAlgn="ctr"/>
                      <a:r>
                        <a:rPr lang="en-US" sz="1400" u="none" strike="noStrike" noProof="0">
                          <a:effectLst/>
                        </a:rPr>
                        <a:t>AD Externe</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Decommissioned</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N/A</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2068140975"/>
                  </a:ext>
                </a:extLst>
              </a:tr>
              <a:tr h="301623">
                <a:tc>
                  <a:txBody>
                    <a:bodyPr/>
                    <a:lstStyle/>
                    <a:p>
                      <a:pPr algn="l" rtl="0" fontAlgn="ctr"/>
                      <a:r>
                        <a:rPr lang="en-US" sz="1400" u="none" strike="noStrike" noProof="0">
                          <a:effectLst/>
                        </a:rPr>
                        <a:t>AD Cleanup</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Cleanup and deletion of inactive AD account</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290161971"/>
                  </a:ext>
                </a:extLst>
              </a:tr>
              <a:tr h="301623">
                <a:tc>
                  <a:txBody>
                    <a:bodyPr/>
                    <a:lstStyle/>
                    <a:p>
                      <a:pPr algn="l" rtl="0" fontAlgn="ctr"/>
                      <a:r>
                        <a:rPr lang="en-US" sz="1400" u="none" strike="noStrike" noProof="0">
                          <a:effectLst/>
                        </a:rPr>
                        <a:t>PUMA</a:t>
                      </a:r>
                      <a:endParaRPr lang="en-US" sz="1400" b="1" i="0" u="none" strike="noStrike" noProof="0">
                        <a:solidFill>
                          <a:srgbClr val="FFFFFF"/>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l" rtl="0" fontAlgn="ctr"/>
                      <a:r>
                        <a:rPr lang="en-US" sz="1200" u="none" strike="noStrike" noProof="0">
                          <a:effectLst/>
                        </a:rPr>
                        <a:t>Manage on site collaborators (affectation, activities, etc.)</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rtl="0" fontAlgn="ctr"/>
                      <a:r>
                        <a:rPr lang="en-US" sz="1200" u="none" strike="noStrike" noProof="0">
                          <a:effectLst/>
                        </a:rPr>
                        <a:t>Worldwide</a:t>
                      </a:r>
                      <a:endParaRPr lang="en-US" sz="1200" b="0" i="0" u="none" strike="noStrike" noProof="0">
                        <a:solidFill>
                          <a:srgbClr val="003C5A"/>
                        </a:solidFill>
                        <a:effectLst/>
                        <a:latin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791507645"/>
                  </a:ext>
                </a:extLst>
              </a:tr>
            </a:tbl>
          </a:graphicData>
        </a:graphic>
      </p:graphicFrame>
    </p:spTree>
    <p:extLst>
      <p:ext uri="{BB962C8B-B14F-4D97-AF65-F5344CB8AC3E}">
        <p14:creationId xmlns:p14="http://schemas.microsoft.com/office/powerpoint/2010/main" val="33280608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5"/>
</p:tagLst>
</file>

<file path=ppt/tags/tag2.xml><?xml version="1.0" encoding="utf-8"?>
<p:tagLst xmlns:a="http://schemas.openxmlformats.org/drawingml/2006/main" xmlns:r="http://schemas.openxmlformats.org/officeDocument/2006/relationships" xmlns:p="http://schemas.openxmlformats.org/presentationml/2006/main">
  <p:tag name="NUM" val="5"/>
</p:tagLst>
</file>

<file path=ppt/tags/tag3.xml><?xml version="1.0" encoding="utf-8"?>
<p:tagLst xmlns:a="http://schemas.openxmlformats.org/drawingml/2006/main" xmlns:r="http://schemas.openxmlformats.org/officeDocument/2006/relationships" xmlns:p="http://schemas.openxmlformats.org/presentationml/2006/main">
  <p:tag name="NUM" val="5"/>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ags/tag7.xml><?xml version="1.0" encoding="utf-8"?>
<p:tagLst xmlns:a="http://schemas.openxmlformats.org/drawingml/2006/main" xmlns:r="http://schemas.openxmlformats.org/officeDocument/2006/relationships" xmlns:p="http://schemas.openxmlformats.org/presentationml/2006/main">
  <p:tag name="NUM" val="5"/>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5"/>
</p:tagLst>
</file>

<file path=ppt/tags/tag10.xml><?xml version="1.0" encoding="utf-8"?>
<p:tagLst xmlns:a="http://schemas.openxmlformats.org/drawingml/2006/main" xmlns:r="http://schemas.openxmlformats.org/officeDocument/2006/relationships" xmlns:p="http://schemas.openxmlformats.org/presentationml/2006/main">
  <p:tag name="NUM" val="5"/>
</p:tagLst>
</file>

<file path=ppt/tags/tag11.xml><?xml version="1.0" encoding="utf-8"?>
<p:tagLst xmlns:a="http://schemas.openxmlformats.org/drawingml/2006/main" xmlns:r="http://schemas.openxmlformats.org/officeDocument/2006/relationships" xmlns:p="http://schemas.openxmlformats.org/presentationml/2006/main">
  <p:tag name="NUM" val="5"/>
</p:tagLst>
</file>

<file path=ppt/tags/tag12.xml><?xml version="1.0" encoding="utf-8"?>
<p:tagLst xmlns:a="http://schemas.openxmlformats.org/drawingml/2006/main" xmlns:r="http://schemas.openxmlformats.org/officeDocument/2006/relationships" xmlns:p="http://schemas.openxmlformats.org/presentationml/2006/main">
  <p:tag name="NUM" val="5"/>
</p:tagLst>
</file>

<file path=ppt/tags/tag13.xml><?xml version="1.0" encoding="utf-8"?>
<p:tagLst xmlns:a="http://schemas.openxmlformats.org/drawingml/2006/main" xmlns:r="http://schemas.openxmlformats.org/officeDocument/2006/relationships" xmlns:p="http://schemas.openxmlformats.org/presentationml/2006/main">
  <p:tag name="NUM" val="5"/>
</p:tagLst>
</file>

<file path=ppt/tags/tag14.xml><?xml version="1.0" encoding="utf-8"?>
<p:tagLst xmlns:a="http://schemas.openxmlformats.org/drawingml/2006/main" xmlns:r="http://schemas.openxmlformats.org/officeDocument/2006/relationships" xmlns:p="http://schemas.openxmlformats.org/presentationml/2006/main">
  <p:tag name="NUM" val="5"/>
</p:tagLst>
</file>

<file path=ppt/tags/tag15.xml><?xml version="1.0" encoding="utf-8"?>
<p:tagLst xmlns:a="http://schemas.openxmlformats.org/drawingml/2006/main" xmlns:r="http://schemas.openxmlformats.org/officeDocument/2006/relationships" xmlns:p="http://schemas.openxmlformats.org/presentationml/2006/main">
  <p:tag name="NUM" val="5"/>
</p:tagLst>
</file>

<file path=ppt/tags/tag16.xml><?xml version="1.0" encoding="utf-8"?>
<p:tagLst xmlns:a="http://schemas.openxmlformats.org/drawingml/2006/main" xmlns:r="http://schemas.openxmlformats.org/officeDocument/2006/relationships" xmlns:p="http://schemas.openxmlformats.org/presentationml/2006/main">
  <p:tag name="NUM" val="5"/>
</p:tagLst>
</file>

<file path=ppt/tags/tag17.xml><?xml version="1.0" encoding="utf-8"?>
<p:tagLst xmlns:a="http://schemas.openxmlformats.org/drawingml/2006/main" xmlns:r="http://schemas.openxmlformats.org/officeDocument/2006/relationships" xmlns:p="http://schemas.openxmlformats.org/presentationml/2006/main">
  <p:tag name="NUM" val="5"/>
</p:tagLst>
</file>

<file path=ppt/tags/tag1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9.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30.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3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2.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33.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3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7.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9.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40.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4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42.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43.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4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45.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46.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47.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48.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49.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50.xml><?xml version="1.0" encoding="utf-8"?>
<p:tagLst xmlns:a="http://schemas.openxmlformats.org/drawingml/2006/main" xmlns:r="http://schemas.openxmlformats.org/officeDocument/2006/relationships" xmlns:p="http://schemas.openxmlformats.org/presentationml/2006/main">
  <p:tag name="POWER_USER_TAGS_ICONS" val="alternatives*process*path*complexity*choice*running*suitcase*scenarios*people"/>
</p:tagLst>
</file>

<file path=ppt/tags/tag5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52.xml><?xml version="1.0" encoding="utf-8"?>
<p:tagLst xmlns:a="http://schemas.openxmlformats.org/drawingml/2006/main" xmlns:r="http://schemas.openxmlformats.org/officeDocument/2006/relationships" xmlns:p="http://schemas.openxmlformats.org/presentationml/2006/main">
  <p:tag name="NUM" val="14"/>
</p:tagLst>
</file>

<file path=ppt/tags/tag53.xml><?xml version="1.0" encoding="utf-8"?>
<p:tagLst xmlns:a="http://schemas.openxmlformats.org/drawingml/2006/main" xmlns:r="http://schemas.openxmlformats.org/officeDocument/2006/relationships" xmlns:p="http://schemas.openxmlformats.org/presentationml/2006/main">
  <p:tag name="NUM" val="15"/>
</p:tagLst>
</file>

<file path=ppt/tags/tag54.xml><?xml version="1.0" encoding="utf-8"?>
<p:tagLst xmlns:a="http://schemas.openxmlformats.org/drawingml/2006/main" xmlns:r="http://schemas.openxmlformats.org/officeDocument/2006/relationships" xmlns:p="http://schemas.openxmlformats.org/presentationml/2006/main">
  <p:tag name="NUM" val="14"/>
</p:tagLst>
</file>

<file path=ppt/tags/tag55.xml><?xml version="1.0" encoding="utf-8"?>
<p:tagLst xmlns:a="http://schemas.openxmlformats.org/drawingml/2006/main" xmlns:r="http://schemas.openxmlformats.org/officeDocument/2006/relationships" xmlns:p="http://schemas.openxmlformats.org/presentationml/2006/main">
  <p:tag name="NUM" val="15"/>
</p:tagLst>
</file>

<file path=ppt/tags/tag56.xml><?xml version="1.0" encoding="utf-8"?>
<p:tagLst xmlns:a="http://schemas.openxmlformats.org/drawingml/2006/main" xmlns:r="http://schemas.openxmlformats.org/officeDocument/2006/relationships" xmlns:p="http://schemas.openxmlformats.org/presentationml/2006/main">
  <p:tag name="NUM" val="14"/>
</p:tagLst>
</file>

<file path=ppt/tags/tag57.xml><?xml version="1.0" encoding="utf-8"?>
<p:tagLst xmlns:a="http://schemas.openxmlformats.org/drawingml/2006/main" xmlns:r="http://schemas.openxmlformats.org/officeDocument/2006/relationships" xmlns:p="http://schemas.openxmlformats.org/presentationml/2006/main">
  <p:tag name="NUM" val="14"/>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5"/>
</p:tagLst>
</file>

<file path=ppt/tags/tag62.xml><?xml version="1.0" encoding="utf-8"?>
<p:tagLst xmlns:a="http://schemas.openxmlformats.org/drawingml/2006/main" xmlns:r="http://schemas.openxmlformats.org/officeDocument/2006/relationships" xmlns:p="http://schemas.openxmlformats.org/presentationml/2006/main">
  <p:tag name="NUM" val="6"/>
</p:tagLst>
</file>

<file path=ppt/tags/tag63.xml><?xml version="1.0" encoding="utf-8"?>
<p:tagLst xmlns:a="http://schemas.openxmlformats.org/drawingml/2006/main" xmlns:r="http://schemas.openxmlformats.org/officeDocument/2006/relationships" xmlns:p="http://schemas.openxmlformats.org/presentationml/2006/main">
  <p:tag name="NUM" val="25"/>
</p:tagLst>
</file>

<file path=ppt/tags/tag64.xml><?xml version="1.0" encoding="utf-8"?>
<p:tagLst xmlns:a="http://schemas.openxmlformats.org/drawingml/2006/main" xmlns:r="http://schemas.openxmlformats.org/officeDocument/2006/relationships" xmlns:p="http://schemas.openxmlformats.org/presentationml/2006/main">
  <p:tag name="NUM" val="8"/>
</p:tagLst>
</file>

<file path=ppt/tags/tag65.xml><?xml version="1.0" encoding="utf-8"?>
<p:tagLst xmlns:a="http://schemas.openxmlformats.org/drawingml/2006/main" xmlns:r="http://schemas.openxmlformats.org/officeDocument/2006/relationships" xmlns:p="http://schemas.openxmlformats.org/presentationml/2006/main">
  <p:tag name="NUM" val="9"/>
</p:tagLst>
</file>

<file path=ppt/tags/tag66.xml><?xml version="1.0" encoding="utf-8"?>
<p:tagLst xmlns:a="http://schemas.openxmlformats.org/drawingml/2006/main" xmlns:r="http://schemas.openxmlformats.org/officeDocument/2006/relationships" xmlns:p="http://schemas.openxmlformats.org/presentationml/2006/main">
  <p:tag name="NUM" val="10"/>
</p:tagLst>
</file>

<file path=ppt/tags/tag67.xml><?xml version="1.0" encoding="utf-8"?>
<p:tagLst xmlns:a="http://schemas.openxmlformats.org/drawingml/2006/main" xmlns:r="http://schemas.openxmlformats.org/officeDocument/2006/relationships" xmlns:p="http://schemas.openxmlformats.org/presentationml/2006/main">
  <p:tag name="NUM" val="11"/>
</p:tagLst>
</file>

<file path=ppt/tags/tag68.xml><?xml version="1.0" encoding="utf-8"?>
<p:tagLst xmlns:a="http://schemas.openxmlformats.org/drawingml/2006/main" xmlns:r="http://schemas.openxmlformats.org/officeDocument/2006/relationships" xmlns:p="http://schemas.openxmlformats.org/presentationml/2006/main">
  <p:tag name="NUM" val="12"/>
</p:tagLst>
</file>

<file path=ppt/tags/tag69.xml><?xml version="1.0" encoding="utf-8"?>
<p:tagLst xmlns:a="http://schemas.openxmlformats.org/drawingml/2006/main" xmlns:r="http://schemas.openxmlformats.org/officeDocument/2006/relationships" xmlns:p="http://schemas.openxmlformats.org/presentationml/2006/main">
  <p:tag name="NUM" val="13"/>
</p:tagLst>
</file>

<file path=ppt/tags/tag70.xml><?xml version="1.0" encoding="utf-8"?>
<p:tagLst xmlns:a="http://schemas.openxmlformats.org/drawingml/2006/main" xmlns:r="http://schemas.openxmlformats.org/officeDocument/2006/relationships" xmlns:p="http://schemas.openxmlformats.org/presentationml/2006/main">
  <p:tag name="NUM" val="14"/>
</p:tagLst>
</file>

<file path=ppt/tags/tag71.xml><?xml version="1.0" encoding="utf-8"?>
<p:tagLst xmlns:a="http://schemas.openxmlformats.org/drawingml/2006/main" xmlns:r="http://schemas.openxmlformats.org/officeDocument/2006/relationships" xmlns:p="http://schemas.openxmlformats.org/presentationml/2006/main">
  <p:tag name="NUM" val="15"/>
</p:tagLst>
</file>

<file path=ppt/tags/tag72.xml><?xml version="1.0" encoding="utf-8"?>
<p:tagLst xmlns:a="http://schemas.openxmlformats.org/drawingml/2006/main" xmlns:r="http://schemas.openxmlformats.org/officeDocument/2006/relationships" xmlns:p="http://schemas.openxmlformats.org/presentationml/2006/main">
  <p:tag name="NUM" val="16"/>
</p:tagLst>
</file>

<file path=ppt/tags/tag73.xml><?xml version="1.0" encoding="utf-8"?>
<p:tagLst xmlns:a="http://schemas.openxmlformats.org/drawingml/2006/main" xmlns:r="http://schemas.openxmlformats.org/officeDocument/2006/relationships" xmlns:p="http://schemas.openxmlformats.org/presentationml/2006/main">
  <p:tag name="NUM" val="22"/>
</p:tagLst>
</file>

<file path=ppt/tags/tag74.xml><?xml version="1.0" encoding="utf-8"?>
<p:tagLst xmlns:a="http://schemas.openxmlformats.org/drawingml/2006/main" xmlns:r="http://schemas.openxmlformats.org/officeDocument/2006/relationships" xmlns:p="http://schemas.openxmlformats.org/presentationml/2006/main">
  <p:tag name="NUM" val="23"/>
</p:tagLst>
</file>

<file path=ppt/tags/tag75.xml><?xml version="1.0" encoding="utf-8"?>
<p:tagLst xmlns:a="http://schemas.openxmlformats.org/drawingml/2006/main" xmlns:r="http://schemas.openxmlformats.org/officeDocument/2006/relationships" xmlns:p="http://schemas.openxmlformats.org/presentationml/2006/main">
  <p:tag name="NUM" val="2"/>
</p:tagLst>
</file>

<file path=ppt/tags/tag76.xml><?xml version="1.0" encoding="utf-8"?>
<p:tagLst xmlns:a="http://schemas.openxmlformats.org/drawingml/2006/main" xmlns:r="http://schemas.openxmlformats.org/officeDocument/2006/relationships" xmlns:p="http://schemas.openxmlformats.org/presentationml/2006/main">
  <p:tag name="NUM" val="3"/>
</p:tagLst>
</file>

<file path=ppt/tags/tag77.xml><?xml version="1.0" encoding="utf-8"?>
<p:tagLst xmlns:a="http://schemas.openxmlformats.org/drawingml/2006/main" xmlns:r="http://schemas.openxmlformats.org/officeDocument/2006/relationships" xmlns:p="http://schemas.openxmlformats.org/presentationml/2006/main">
  <p:tag name="NUM" val="4"/>
</p:tagLst>
</file>

<file path=ppt/tags/tag78.xml><?xml version="1.0" encoding="utf-8"?>
<p:tagLst xmlns:a="http://schemas.openxmlformats.org/drawingml/2006/main" xmlns:r="http://schemas.openxmlformats.org/officeDocument/2006/relationships" xmlns:p="http://schemas.openxmlformats.org/presentationml/2006/main">
  <p:tag name="NUM" val="5"/>
</p:tagLst>
</file>

<file path=ppt/tags/tag79.xml><?xml version="1.0" encoding="utf-8"?>
<p:tagLst xmlns:a="http://schemas.openxmlformats.org/drawingml/2006/main" xmlns:r="http://schemas.openxmlformats.org/officeDocument/2006/relationships" xmlns:p="http://schemas.openxmlformats.org/presentationml/2006/main">
  <p:tag name="NUM" val="6"/>
</p:tagLst>
</file>

<file path=ppt/tags/tag80.xml><?xml version="1.0" encoding="utf-8"?>
<p:tagLst xmlns:a="http://schemas.openxmlformats.org/drawingml/2006/main" xmlns:r="http://schemas.openxmlformats.org/officeDocument/2006/relationships" xmlns:p="http://schemas.openxmlformats.org/presentationml/2006/main">
  <p:tag name="NUM" val="13"/>
</p:tagLst>
</file>

<file path=ppt/tags/tag81.xml><?xml version="1.0" encoding="utf-8"?>
<p:tagLst xmlns:a="http://schemas.openxmlformats.org/drawingml/2006/main" xmlns:r="http://schemas.openxmlformats.org/officeDocument/2006/relationships" xmlns:p="http://schemas.openxmlformats.org/presentationml/2006/main">
  <p:tag name="NUM" val="14"/>
</p:tagLst>
</file>

<file path=ppt/tags/tag82.xml><?xml version="1.0" encoding="utf-8"?>
<p:tagLst xmlns:a="http://schemas.openxmlformats.org/drawingml/2006/main" xmlns:r="http://schemas.openxmlformats.org/officeDocument/2006/relationships" xmlns:p="http://schemas.openxmlformats.org/presentationml/2006/main">
  <p:tag name="NUM" val="15"/>
</p:tagLst>
</file>

<file path=ppt/tags/tag83.xml><?xml version="1.0" encoding="utf-8"?>
<p:tagLst xmlns:a="http://schemas.openxmlformats.org/drawingml/2006/main" xmlns:r="http://schemas.openxmlformats.org/officeDocument/2006/relationships" xmlns:p="http://schemas.openxmlformats.org/presentationml/2006/main">
  <p:tag name="NUM" val="16"/>
</p:tagLst>
</file>

<file path=ppt/tags/tag84.xml><?xml version="1.0" encoding="utf-8"?>
<p:tagLst xmlns:a="http://schemas.openxmlformats.org/drawingml/2006/main" xmlns:r="http://schemas.openxmlformats.org/officeDocument/2006/relationships" xmlns:p="http://schemas.openxmlformats.org/presentationml/2006/main">
  <p:tag name="NUM" val="26"/>
</p:tagLst>
</file>

<file path=ppt/tags/tag85.xml><?xml version="1.0" encoding="utf-8"?>
<p:tagLst xmlns:a="http://schemas.openxmlformats.org/drawingml/2006/main" xmlns:r="http://schemas.openxmlformats.org/officeDocument/2006/relationships" xmlns:p="http://schemas.openxmlformats.org/presentationml/2006/main">
  <p:tag name="NUM" val="8"/>
</p:tagLst>
</file>

<file path=ppt/tags/tag86.xml><?xml version="1.0" encoding="utf-8"?>
<p:tagLst xmlns:a="http://schemas.openxmlformats.org/drawingml/2006/main" xmlns:r="http://schemas.openxmlformats.org/officeDocument/2006/relationships" xmlns:p="http://schemas.openxmlformats.org/presentationml/2006/main">
  <p:tag name="NUM" val="9"/>
</p:tagLst>
</file>

<file path=ppt/tags/tag87.xml><?xml version="1.0" encoding="utf-8"?>
<p:tagLst xmlns:a="http://schemas.openxmlformats.org/drawingml/2006/main" xmlns:r="http://schemas.openxmlformats.org/officeDocument/2006/relationships" xmlns:p="http://schemas.openxmlformats.org/presentationml/2006/main">
  <p:tag name="NUM" val="10"/>
</p:tagLst>
</file>

<file path=ppt/tags/tag88.xml><?xml version="1.0" encoding="utf-8"?>
<p:tagLst xmlns:a="http://schemas.openxmlformats.org/drawingml/2006/main" xmlns:r="http://schemas.openxmlformats.org/officeDocument/2006/relationships" xmlns:p="http://schemas.openxmlformats.org/presentationml/2006/main">
  <p:tag name="NUM" val="11"/>
</p:tagLst>
</file>

<file path=ppt/tags/tag89.xml><?xml version="1.0" encoding="utf-8"?>
<p:tagLst xmlns:a="http://schemas.openxmlformats.org/drawingml/2006/main" xmlns:r="http://schemas.openxmlformats.org/officeDocument/2006/relationships" xmlns:p="http://schemas.openxmlformats.org/presentationml/2006/main">
  <p:tag name="NUM" val="12"/>
</p:tagLst>
</file>

<file path=ppt/tags/tag90.xml><?xml version="1.0" encoding="utf-8"?>
<p:tagLst xmlns:a="http://schemas.openxmlformats.org/drawingml/2006/main" xmlns:r="http://schemas.openxmlformats.org/officeDocument/2006/relationships" xmlns:p="http://schemas.openxmlformats.org/presentationml/2006/main">
  <p:tag name="NUM" val="22"/>
</p:tagLst>
</file>

<file path=ppt/tags/tag91.xml><?xml version="1.0" encoding="utf-8"?>
<p:tagLst xmlns:a="http://schemas.openxmlformats.org/drawingml/2006/main" xmlns:r="http://schemas.openxmlformats.org/officeDocument/2006/relationships" xmlns:p="http://schemas.openxmlformats.org/presentationml/2006/main">
  <p:tag name="NUM" val="23"/>
</p:tagLst>
</file>

<file path=ppt/tags/tag92.xml><?xml version="1.0" encoding="utf-8"?>
<p:tagLst xmlns:a="http://schemas.openxmlformats.org/drawingml/2006/main" xmlns:r="http://schemas.openxmlformats.org/officeDocument/2006/relationships" xmlns:p="http://schemas.openxmlformats.org/presentationml/2006/main">
  <p:tag name="NUM" val="2"/>
</p:tagLst>
</file>

<file path=ppt/tags/tag93.xml><?xml version="1.0" encoding="utf-8"?>
<p:tagLst xmlns:a="http://schemas.openxmlformats.org/drawingml/2006/main" xmlns:r="http://schemas.openxmlformats.org/officeDocument/2006/relationships" xmlns:p="http://schemas.openxmlformats.org/presentationml/2006/main">
  <p:tag name="NUM" val="3"/>
</p:tagLst>
</file>

<file path=ppt/tags/tag94.xml><?xml version="1.0" encoding="utf-8"?>
<p:tagLst xmlns:a="http://schemas.openxmlformats.org/drawingml/2006/main" xmlns:r="http://schemas.openxmlformats.org/officeDocument/2006/relationships" xmlns:p="http://schemas.openxmlformats.org/presentationml/2006/main">
  <p:tag name="NUM" val="4"/>
</p:tagLst>
</file>

<file path=ppt/tags/tag95.xml><?xml version="1.0" encoding="utf-8"?>
<p:tagLst xmlns:a="http://schemas.openxmlformats.org/drawingml/2006/main" xmlns:r="http://schemas.openxmlformats.org/officeDocument/2006/relationships" xmlns:p="http://schemas.openxmlformats.org/presentationml/2006/main">
  <p:tag name="NUM" val="5"/>
</p:tagLst>
</file>

<file path=ppt/tags/tag96.xml><?xml version="1.0" encoding="utf-8"?>
<p:tagLst xmlns:a="http://schemas.openxmlformats.org/drawingml/2006/main" xmlns:r="http://schemas.openxmlformats.org/officeDocument/2006/relationships" xmlns:p="http://schemas.openxmlformats.org/presentationml/2006/main">
  <p:tag name="NUM" val="6"/>
</p:tagLst>
</file>

<file path=ppt/tags/tag97.xml><?xml version="1.0" encoding="utf-8"?>
<p:tagLst xmlns:a="http://schemas.openxmlformats.org/drawingml/2006/main" xmlns:r="http://schemas.openxmlformats.org/officeDocument/2006/relationships" xmlns:p="http://schemas.openxmlformats.org/presentationml/2006/main">
  <p:tag name="NUM" val="25"/>
</p:tagLst>
</file>

<file path=ppt/tags/tag98.xml><?xml version="1.0" encoding="utf-8"?>
<p:tagLst xmlns:a="http://schemas.openxmlformats.org/drawingml/2006/main" xmlns:r="http://schemas.openxmlformats.org/officeDocument/2006/relationships" xmlns:p="http://schemas.openxmlformats.org/presentationml/2006/main">
  <p:tag name="NUM" val="8"/>
</p:tagLst>
</file>

<file path=ppt/tags/tag99.xml><?xml version="1.0" encoding="utf-8"?>
<p:tagLst xmlns:a="http://schemas.openxmlformats.org/drawingml/2006/main" xmlns:r="http://schemas.openxmlformats.org/officeDocument/2006/relationships" xmlns:p="http://schemas.openxmlformats.org/presentationml/2006/main">
  <p:tag name="NUM" val="9"/>
</p:tagLst>
</file>

<file path=ppt/tags/tag100.xml><?xml version="1.0" encoding="utf-8"?>
<p:tagLst xmlns:a="http://schemas.openxmlformats.org/drawingml/2006/main" xmlns:r="http://schemas.openxmlformats.org/officeDocument/2006/relationships" xmlns:p="http://schemas.openxmlformats.org/presentationml/2006/main">
  <p:tag name="NUM" val="10"/>
</p:tagLst>
</file>

<file path=ppt/tags/tag101.xml><?xml version="1.0" encoding="utf-8"?>
<p:tagLst xmlns:a="http://schemas.openxmlformats.org/drawingml/2006/main" xmlns:r="http://schemas.openxmlformats.org/officeDocument/2006/relationships" xmlns:p="http://schemas.openxmlformats.org/presentationml/2006/main">
  <p:tag name="NUM" val="11"/>
</p:tagLst>
</file>

<file path=ppt/tags/tag102.xml><?xml version="1.0" encoding="utf-8"?>
<p:tagLst xmlns:a="http://schemas.openxmlformats.org/drawingml/2006/main" xmlns:r="http://schemas.openxmlformats.org/officeDocument/2006/relationships" xmlns:p="http://schemas.openxmlformats.org/presentationml/2006/main">
  <p:tag name="NUM" val="12"/>
</p:tagLst>
</file>

<file path=ppt/tags/tag103.xml><?xml version="1.0" encoding="utf-8"?>
<p:tagLst xmlns:a="http://schemas.openxmlformats.org/drawingml/2006/main" xmlns:r="http://schemas.openxmlformats.org/officeDocument/2006/relationships" xmlns:p="http://schemas.openxmlformats.org/presentationml/2006/main">
  <p:tag name="NUM" val="13"/>
</p:tagLst>
</file>

<file path=ppt/tags/tag104.xml><?xml version="1.0" encoding="utf-8"?>
<p:tagLst xmlns:a="http://schemas.openxmlformats.org/drawingml/2006/main" xmlns:r="http://schemas.openxmlformats.org/officeDocument/2006/relationships" xmlns:p="http://schemas.openxmlformats.org/presentationml/2006/main">
  <p:tag name="NUM" val="14"/>
</p:tagLst>
</file>

<file path=ppt/tags/tag105.xml><?xml version="1.0" encoding="utf-8"?>
<p:tagLst xmlns:a="http://schemas.openxmlformats.org/drawingml/2006/main" xmlns:r="http://schemas.openxmlformats.org/officeDocument/2006/relationships" xmlns:p="http://schemas.openxmlformats.org/presentationml/2006/main">
  <p:tag name="NUM" val="15"/>
</p:tagLst>
</file>

<file path=ppt/tags/tag106.xml><?xml version="1.0" encoding="utf-8"?>
<p:tagLst xmlns:a="http://schemas.openxmlformats.org/drawingml/2006/main" xmlns:r="http://schemas.openxmlformats.org/officeDocument/2006/relationships" xmlns:p="http://schemas.openxmlformats.org/presentationml/2006/main">
  <p:tag name="NUM" val="16"/>
</p:tagLst>
</file>

<file path=ppt/tags/tag107.xml><?xml version="1.0" encoding="utf-8"?>
<p:tagLst xmlns:a="http://schemas.openxmlformats.org/drawingml/2006/main" xmlns:r="http://schemas.openxmlformats.org/officeDocument/2006/relationships" xmlns:p="http://schemas.openxmlformats.org/presentationml/2006/main">
  <p:tag name="NUM" val="22"/>
</p:tagLst>
</file>

<file path=ppt/tags/tag108.xml><?xml version="1.0" encoding="utf-8"?>
<p:tagLst xmlns:a="http://schemas.openxmlformats.org/drawingml/2006/main" xmlns:r="http://schemas.openxmlformats.org/officeDocument/2006/relationships" xmlns:p="http://schemas.openxmlformats.org/presentationml/2006/main">
  <p:tag name="NUM" val="23"/>
</p:tagLst>
</file>

<file path=ppt/tags/tag109.xml><?xml version="1.0" encoding="utf-8"?>
<p:tagLst xmlns:a="http://schemas.openxmlformats.org/drawingml/2006/main" xmlns:r="http://schemas.openxmlformats.org/officeDocument/2006/relationships" xmlns:p="http://schemas.openxmlformats.org/presentationml/2006/main">
  <p:tag name="NUM" val="23"/>
</p:tagLst>
</file>

<file path=ppt/tags/tag110.xml><?xml version="1.0" encoding="utf-8"?>
<p:tagLst xmlns:a="http://schemas.openxmlformats.org/drawingml/2006/main" xmlns:r="http://schemas.openxmlformats.org/officeDocument/2006/relationships" xmlns:p="http://schemas.openxmlformats.org/presentationml/2006/main">
  <p:tag name="NUM" val="24"/>
</p:tagLst>
</file>

<file path=ppt/tags/tag111.xml><?xml version="1.0" encoding="utf-8"?>
<p:tagLst xmlns:a="http://schemas.openxmlformats.org/drawingml/2006/main" xmlns:r="http://schemas.openxmlformats.org/officeDocument/2006/relationships" xmlns:p="http://schemas.openxmlformats.org/presentationml/2006/main">
  <p:tag name="NUM" val="29"/>
</p:tagLst>
</file>

<file path=ppt/tags/tag112.xml><?xml version="1.0" encoding="utf-8"?>
<p:tagLst xmlns:a="http://schemas.openxmlformats.org/drawingml/2006/main" xmlns:r="http://schemas.openxmlformats.org/officeDocument/2006/relationships" xmlns:p="http://schemas.openxmlformats.org/presentationml/2006/main">
  <p:tag name="NUM" val="30"/>
</p:tagLst>
</file>

<file path=ppt/tags/tag113.xml><?xml version="1.0" encoding="utf-8"?>
<p:tagLst xmlns:a="http://schemas.openxmlformats.org/drawingml/2006/main" xmlns:r="http://schemas.openxmlformats.org/officeDocument/2006/relationships" xmlns:p="http://schemas.openxmlformats.org/presentationml/2006/main">
  <p:tag name="NUM" val="27"/>
</p:tagLst>
</file>

<file path=ppt/tags/tag114.xml><?xml version="1.0" encoding="utf-8"?>
<p:tagLst xmlns:a="http://schemas.openxmlformats.org/drawingml/2006/main" xmlns:r="http://schemas.openxmlformats.org/officeDocument/2006/relationships" xmlns:p="http://schemas.openxmlformats.org/presentationml/2006/main">
  <p:tag name="NUM" val="28"/>
</p:tagLst>
</file>

<file path=ppt/tags/tag115.xml><?xml version="1.0" encoding="utf-8"?>
<p:tagLst xmlns:a="http://schemas.openxmlformats.org/drawingml/2006/main" xmlns:r="http://schemas.openxmlformats.org/officeDocument/2006/relationships" xmlns:p="http://schemas.openxmlformats.org/presentationml/2006/main">
  <p:tag name="NUM" val="25"/>
</p:tagLst>
</file>

<file path=ppt/tags/tag116.xml><?xml version="1.0" encoding="utf-8"?>
<p:tagLst xmlns:a="http://schemas.openxmlformats.org/drawingml/2006/main" xmlns:r="http://schemas.openxmlformats.org/officeDocument/2006/relationships" xmlns:p="http://schemas.openxmlformats.org/presentationml/2006/main">
  <p:tag name="NUM" val="26"/>
</p:tagLst>
</file>

<file path=ppt/tags/tag117.xml><?xml version="1.0" encoding="utf-8"?>
<p:tagLst xmlns:a="http://schemas.openxmlformats.org/drawingml/2006/main" xmlns:r="http://schemas.openxmlformats.org/officeDocument/2006/relationships" xmlns:p="http://schemas.openxmlformats.org/presentationml/2006/main">
  <p:tag name="NUM" val="23"/>
</p:tagLst>
</file>

<file path=ppt/tags/tag118.xml><?xml version="1.0" encoding="utf-8"?>
<p:tagLst xmlns:a="http://schemas.openxmlformats.org/drawingml/2006/main" xmlns:r="http://schemas.openxmlformats.org/officeDocument/2006/relationships" xmlns:p="http://schemas.openxmlformats.org/presentationml/2006/main">
  <p:tag name="NUM" val="24"/>
</p:tagLst>
</file>

<file path=ppt/tags/tag119.xml><?xml version="1.0" encoding="utf-8"?>
<p:tagLst xmlns:a="http://schemas.openxmlformats.org/drawingml/2006/main" xmlns:r="http://schemas.openxmlformats.org/officeDocument/2006/relationships" xmlns:p="http://schemas.openxmlformats.org/presentationml/2006/main">
  <p:tag name="NUM" val="19"/>
</p:tagLst>
</file>

<file path=ppt/tags/tag120.xml><?xml version="1.0" encoding="utf-8"?>
<p:tagLst xmlns:a="http://schemas.openxmlformats.org/drawingml/2006/main" xmlns:r="http://schemas.openxmlformats.org/officeDocument/2006/relationships" xmlns:p="http://schemas.openxmlformats.org/presentationml/2006/main">
  <p:tag name="NUM" val="20"/>
</p:tagLst>
</file>

<file path=ppt/tags/tag121.xml><?xml version="1.0" encoding="utf-8"?>
<p:tagLst xmlns:a="http://schemas.openxmlformats.org/drawingml/2006/main" xmlns:r="http://schemas.openxmlformats.org/officeDocument/2006/relationships" xmlns:p="http://schemas.openxmlformats.org/presentationml/2006/main">
  <p:tag name="NUM" val="17"/>
</p:tagLst>
</file>

<file path=ppt/tags/tag122.xml><?xml version="1.0" encoding="utf-8"?>
<p:tagLst xmlns:a="http://schemas.openxmlformats.org/drawingml/2006/main" xmlns:r="http://schemas.openxmlformats.org/officeDocument/2006/relationships" xmlns:p="http://schemas.openxmlformats.org/presentationml/2006/main">
  <p:tag name="NUM" val="18"/>
</p:tagLst>
</file>

<file path=ppt/tags/tag123.xml><?xml version="1.0" encoding="utf-8"?>
<p:tagLst xmlns:a="http://schemas.openxmlformats.org/drawingml/2006/main" xmlns:r="http://schemas.openxmlformats.org/officeDocument/2006/relationships" xmlns:p="http://schemas.openxmlformats.org/presentationml/2006/main">
  <p:tag name="NUM" val="15"/>
</p:tagLst>
</file>

<file path=ppt/tags/tag124.xml><?xml version="1.0" encoding="utf-8"?>
<p:tagLst xmlns:a="http://schemas.openxmlformats.org/drawingml/2006/main" xmlns:r="http://schemas.openxmlformats.org/officeDocument/2006/relationships" xmlns:p="http://schemas.openxmlformats.org/presentationml/2006/main">
  <p:tag name="NUM" val="16"/>
</p:tagLst>
</file>

<file path=ppt/tags/tag125.xml><?xml version="1.0" encoding="utf-8"?>
<p:tagLst xmlns:a="http://schemas.openxmlformats.org/drawingml/2006/main" xmlns:r="http://schemas.openxmlformats.org/officeDocument/2006/relationships" xmlns:p="http://schemas.openxmlformats.org/presentationml/2006/main">
  <p:tag name="NUM" val="13"/>
</p:tagLst>
</file>

<file path=ppt/tags/tag126.xml><?xml version="1.0" encoding="utf-8"?>
<p:tagLst xmlns:a="http://schemas.openxmlformats.org/drawingml/2006/main" xmlns:r="http://schemas.openxmlformats.org/officeDocument/2006/relationships" xmlns:p="http://schemas.openxmlformats.org/presentationml/2006/main">
  <p:tag name="NUM" val="14"/>
</p:tagLst>
</file>

<file path=ppt/tags/tag127.xml><?xml version="1.0" encoding="utf-8"?>
<p:tagLst xmlns:a="http://schemas.openxmlformats.org/drawingml/2006/main" xmlns:r="http://schemas.openxmlformats.org/officeDocument/2006/relationships" xmlns:p="http://schemas.openxmlformats.org/presentationml/2006/main">
  <p:tag name="NUM" val="11"/>
</p:tagLst>
</file>

<file path=ppt/tags/tag128.xml><?xml version="1.0" encoding="utf-8"?>
<p:tagLst xmlns:a="http://schemas.openxmlformats.org/drawingml/2006/main" xmlns:r="http://schemas.openxmlformats.org/officeDocument/2006/relationships" xmlns:p="http://schemas.openxmlformats.org/presentationml/2006/main">
  <p:tag name="NUM" val="12"/>
</p:tagLst>
</file>

<file path=ppt/tags/tag129.xml><?xml version="1.0" encoding="utf-8"?>
<p:tagLst xmlns:a="http://schemas.openxmlformats.org/drawingml/2006/main" xmlns:r="http://schemas.openxmlformats.org/officeDocument/2006/relationships" xmlns:p="http://schemas.openxmlformats.org/presentationml/2006/main">
  <p:tag name="NUM" val="9"/>
</p:tagLst>
</file>

<file path=ppt/tags/tag130.xml><?xml version="1.0" encoding="utf-8"?>
<p:tagLst xmlns:a="http://schemas.openxmlformats.org/drawingml/2006/main" xmlns:r="http://schemas.openxmlformats.org/officeDocument/2006/relationships" xmlns:p="http://schemas.openxmlformats.org/presentationml/2006/main">
  <p:tag name="NUM" val="10"/>
</p:tagLst>
</file>

<file path=ppt/tags/tag131.xml><?xml version="1.0" encoding="utf-8"?>
<p:tagLst xmlns:a="http://schemas.openxmlformats.org/drawingml/2006/main" xmlns:r="http://schemas.openxmlformats.org/officeDocument/2006/relationships" xmlns:p="http://schemas.openxmlformats.org/presentationml/2006/main">
  <p:tag name="NUM" val="7"/>
</p:tagLst>
</file>

<file path=ppt/tags/tag132.xml><?xml version="1.0" encoding="utf-8"?>
<p:tagLst xmlns:a="http://schemas.openxmlformats.org/drawingml/2006/main" xmlns:r="http://schemas.openxmlformats.org/officeDocument/2006/relationships" xmlns:p="http://schemas.openxmlformats.org/presentationml/2006/main">
  <p:tag name="NUM" val="8"/>
</p:tagLst>
</file>

<file path=ppt/tags/tag133.xml><?xml version="1.0" encoding="utf-8"?>
<p:tagLst xmlns:a="http://schemas.openxmlformats.org/drawingml/2006/main" xmlns:r="http://schemas.openxmlformats.org/officeDocument/2006/relationships" xmlns:p="http://schemas.openxmlformats.org/presentationml/2006/main">
  <p:tag name="NUM" val="5"/>
</p:tagLst>
</file>

<file path=ppt/tags/tag134.xml><?xml version="1.0" encoding="utf-8"?>
<p:tagLst xmlns:a="http://schemas.openxmlformats.org/drawingml/2006/main" xmlns:r="http://schemas.openxmlformats.org/officeDocument/2006/relationships" xmlns:p="http://schemas.openxmlformats.org/presentationml/2006/main">
  <p:tag name="NUM" val="6"/>
</p:tagLst>
</file>

<file path=ppt/tags/tag135.xml><?xml version="1.0" encoding="utf-8"?>
<p:tagLst xmlns:a="http://schemas.openxmlformats.org/drawingml/2006/main" xmlns:r="http://schemas.openxmlformats.org/officeDocument/2006/relationships" xmlns:p="http://schemas.openxmlformats.org/presentationml/2006/main">
  <p:tag name="NUM" val="3"/>
</p:tagLst>
</file>

<file path=ppt/tags/tag136.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Bouygues">
  <a:themeElements>
    <a:clrScheme name="Bouygues IP_Couleurs">
      <a:dk1>
        <a:srgbClr val="000000"/>
      </a:dk1>
      <a:lt1>
        <a:sysClr val="window" lastClr="FFFFFF"/>
      </a:lt1>
      <a:dk2>
        <a:srgbClr val="FF5A28"/>
      </a:dk2>
      <a:lt2>
        <a:srgbClr val="EDEDED"/>
      </a:lt2>
      <a:accent1>
        <a:srgbClr val="006B8D"/>
      </a:accent1>
      <a:accent2>
        <a:srgbClr val="009580"/>
      </a:accent2>
      <a:accent3>
        <a:srgbClr val="80B32A"/>
      </a:accent3>
      <a:accent4>
        <a:srgbClr val="6496BB"/>
      </a:accent4>
      <a:accent5>
        <a:srgbClr val="FF801E"/>
      </a:accent5>
      <a:accent6>
        <a:srgbClr val="FFDB97"/>
      </a:accent6>
      <a:hlink>
        <a:srgbClr val="000000"/>
      </a:hlink>
      <a:folHlink>
        <a:srgbClr val="000000"/>
      </a:folHlink>
    </a:clrScheme>
    <a:fontScheme name="Bouygues IP_Polices">
      <a:majorFont>
        <a:latin typeface="Barlow Condense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2"/>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0" rIns="36000" bIns="0" rtlCol="0">
        <a:spAutoFit/>
      </a:bodyPr>
      <a:lstStyle>
        <a:defPPr>
          <a:defRPr sz="1400" dirty="0" err="1" smtClean="0"/>
        </a:defPPr>
      </a:lstStyle>
    </a:txDef>
  </a:objectDefaults>
  <a:extraClrSchemeLst/>
  <a:extLst>
    <a:ext uri="{05A4C25C-085E-4340-85A3-A5531E510DB2}">
      <thm15:themeFamily xmlns:thm15="http://schemas.microsoft.com/office/thememl/2012/main" name="BYCN_CloudSecurity_cadrage" id="{31D13315-40DC-41BF-B437-2ADB67AEAB21}" vid="{3A082C47-0FAF-43D0-A538-351A1BE75D4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fd14c3e0d22c58c23ac04c57ff2f82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3244a9b4a5729db8bab5b77e93dd427c"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5</Value>
      <Value>4</Value>
      <Value>3</Value>
      <Value>2</Value>
      <Value>1</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Projects</TermName>
          <TermId xmlns="http://schemas.microsoft.com/office/infopath/2007/PartnerControls">b7cc1373-d160-4aa3-bf26-3372b93dfcbf</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 IT</TermName>
          <TermId xmlns="http://schemas.microsoft.com/office/infopath/2007/PartnerControls">5d3357b4-3368-461d-bd54-7eef5bc1db4c</TermId>
        </TermInfo>
      </Terms>
    </bc25f8494e694b549ba275b5de656855>
    <_dlc_DocId xmlns="55b30ecb-2f58-4ebc-8d15-16073e63dc56">CWKSP-501984039-26647</_dlc_DocId>
    <_dlc_DocIdUrl xmlns="55b30ecb-2f58-4ebc-8d15-16073e63dc56">
      <Url>https://bouyguesconstruction.sharepoint.com/sites/bycnitarchitecture/_layouts/15/DocIdRedir.aspx?ID=CWKSP-501984039-26647</Url>
      <Description>CWKSP-501984039-26647</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5.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6.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7.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E51612FF-7570-472F-9D55-4DADB511F95F}"/>
</file>

<file path=customXml/itemProps2.xml><?xml version="1.0" encoding="utf-8"?>
<ds:datastoreItem xmlns:ds="http://schemas.openxmlformats.org/officeDocument/2006/customXml" ds:itemID="{557E2FE9-E1DD-4195-99EF-FA23CF2E358A}">
  <ds:schemaRefs>
    <ds:schemaRef ds:uri="http://purl.org/dc/elements/1.1/"/>
    <ds:schemaRef ds:uri="http://purl.org/dc/dcmitype/"/>
    <ds:schemaRef ds:uri="95235cfd-2d18-42eb-8ffc-01f090d3b392"/>
    <ds:schemaRef ds:uri="http://schemas.microsoft.com/office/2006/documentManagement/types"/>
    <ds:schemaRef ds:uri="http://purl.org/dc/terms/"/>
    <ds:schemaRef ds:uri="c43f221b-e1ac-49e1-9181-d4e5bc53767c"/>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E808C592-89B5-410B-A560-2F888DD2D7F6}">
  <ds:schemaRefs>
    <ds:schemaRef ds:uri="http://schemas.microsoft.com/sharepoint/v3/contenttype/forms"/>
  </ds:schemaRefs>
</ds:datastoreItem>
</file>

<file path=customXml/itemProps4.xml><?xml version="1.0" encoding="utf-8"?>
<ds:datastoreItem xmlns:ds="http://schemas.openxmlformats.org/officeDocument/2006/customXml" ds:itemID="{F3556761-8531-433F-92D5-C1D651AC1304}">
  <ds:schemaRefs>
    <ds:schemaRef ds:uri="Microsoft.SharePoint.Taxonomy.ContentTypeSync"/>
  </ds:schemaRefs>
</ds:datastoreItem>
</file>

<file path=customXml/itemProps5.xml><?xml version="1.0" encoding="utf-8"?>
<ds:datastoreItem xmlns:ds="http://schemas.openxmlformats.org/officeDocument/2006/customXml" ds:itemID="{25E75387-3596-4E84-A84F-567F3FD791FB}">
  <ds:schemaRefs>
    <ds:schemaRef ds:uri="http://schemas.microsoft.com/sharepoint/events"/>
  </ds:schemaRefs>
</ds:datastoreItem>
</file>

<file path=customXml/itemProps6.xml><?xml version="1.0" encoding="utf-8"?>
<ds:datastoreItem xmlns:ds="http://schemas.openxmlformats.org/officeDocument/2006/customXml" ds:itemID="{B115CE49-FC42-4A88-92FD-F60FD1431A63}"/>
</file>

<file path=customXml/itemProps7.xml><?xml version="1.0" encoding="utf-8"?>
<ds:datastoreItem xmlns:ds="http://schemas.openxmlformats.org/officeDocument/2006/customXml" ds:itemID="{C40FEA2E-A61C-4D5D-8FC7-FF55680E3F3A}"/>
</file>

<file path=docProps/app.xml><?xml version="1.0" encoding="utf-8"?>
<Properties xmlns="http://schemas.openxmlformats.org/officeDocument/2006/extended-properties" xmlns:vt="http://schemas.openxmlformats.org/officeDocument/2006/docPropsVTypes">
  <TotalTime>0</TotalTime>
  <Words>4257</Words>
  <Application>Microsoft Office PowerPoint</Application>
  <PresentationFormat>Grand écran</PresentationFormat>
  <Paragraphs>898</Paragraphs>
  <Slides>29</Slides>
  <Notes>16</Notes>
  <HiddenSlides>0</HiddenSlides>
  <MMClips>0</MMClips>
  <ScaleCrop>false</ScaleCrop>
  <HeadingPairs>
    <vt:vector size="4" baseType="variant">
      <vt:variant>
        <vt:lpstr>Thème</vt:lpstr>
      </vt:variant>
      <vt:variant>
        <vt:i4>1</vt:i4>
      </vt:variant>
      <vt:variant>
        <vt:lpstr>Titres des diapositives</vt:lpstr>
      </vt:variant>
      <vt:variant>
        <vt:i4>29</vt:i4>
      </vt:variant>
    </vt:vector>
  </HeadingPairs>
  <TitlesOfParts>
    <vt:vector size="30" baseType="lpstr">
      <vt:lpstr>Bouygues</vt:lpstr>
      <vt:lpstr>Présentation PowerPoint</vt:lpstr>
      <vt:lpstr>Présentation PowerPoint</vt:lpstr>
      <vt:lpstr>IAM : Global overview</vt:lpstr>
      <vt:lpstr>IAM : Global overview</vt:lpstr>
      <vt:lpstr>Focus on Employees vs Suppliers / partners / B2B</vt:lpstr>
      <vt:lpstr>IAM : Global overview</vt:lpstr>
      <vt:lpstr>What is Identity Governance &amp; administration (IGA) </vt:lpstr>
      <vt:lpstr>BYCN current situation regarding IGA</vt:lpstr>
      <vt:lpstr>Feedbacks from BYCN Stakeholders</vt:lpstr>
      <vt:lpstr>HOW IGA WORKS ? GLOBAL OVERVIEW</vt:lpstr>
      <vt:lpstr>HOW IGA WORKS ? GLOBAL OVERVIEW</vt:lpstr>
      <vt:lpstr>HOW IGA WORKS ? GLOBAL OVERVIEW</vt:lpstr>
      <vt:lpstr>How IGA works ?  More detailed view </vt:lpstr>
      <vt:lpstr>To be efficient an IGA program must include evolutions for joiner/Mover/leaver processes</vt:lpstr>
      <vt:lpstr>FoUR scenarios identified to implement IGA in BYCN</vt:lpstr>
      <vt:lpstr>EXCLUSION OF TWO SCENARIOS DUE TO LIMITATIONS</vt:lpstr>
      <vt:lpstr>Focus on scenario #1.A : Dedicated IGA solution</vt:lpstr>
      <vt:lpstr>FOCUS ON SCENARIO #2.B : NEW BYCN DEVELOPMENT</vt:lpstr>
      <vt:lpstr>Scenarios comparison :  functional view</vt:lpstr>
      <vt:lpstr>Scenarios comparison :  financial view</vt:lpstr>
      <vt:lpstr>Gartner’S QuotES</vt:lpstr>
      <vt:lpstr>Focus on Partners &amp; Guest Management</vt:lpstr>
      <vt:lpstr>Roadmap for the Scenario #1.A IGA</vt:lpstr>
      <vt:lpstr>Unit of Work : Integration of new identities</vt:lpstr>
      <vt:lpstr>Unit of work : Business roles</vt:lpstr>
      <vt:lpstr>Unit of work : applications integration</vt:lpstr>
      <vt:lpstr>Application integration</vt:lpstr>
      <vt:lpstr>General definition</vt:lpstr>
      <vt:lpstr>BYCN Eco-system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MEUNIER, Xavier (Bouygues Construction IT)</dc:creator>
  <cp:lastModifiedBy>ORIOT, Charles</cp:lastModifiedBy>
  <cp:revision>677</cp:revision>
  <dcterms:created xsi:type="dcterms:W3CDTF">2021-04-23T06:38:36Z</dcterms:created>
  <dcterms:modified xsi:type="dcterms:W3CDTF">2023-09-11T10:37:31Z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pportServices">
    <vt:lpwstr>4;#Information system|8b8e0a5c-68c6-49a0-9a87-082189b363f2</vt:lpwstr>
  </property>
  <property fmtid="{D5CDD505-2E9C-101B-9397-08002B2CF9AE}" pid="3" name="Organisation">
    <vt:lpwstr>3;#BYCN IT|5d3357b4-3368-461d-bd54-7eef5bc1db4c</vt:lpwstr>
  </property>
  <property fmtid="{D5CDD505-2E9C-101B-9397-08002B2CF9AE}" pid="4" name="_dlc_DocIdItemGuid">
    <vt:lpwstr>71d4bca6-cc25-4ac0-8cfb-b14a067c2527</vt:lpwstr>
  </property>
  <property fmtid="{D5CDD505-2E9C-101B-9397-08002B2CF9AE}" pid="5" name="WorkspaceClassification">
    <vt:lpwstr>2;#Projects|b7cc1373-d160-4aa3-bf26-3372b93dfcbf</vt:lpwstr>
  </property>
  <property fmtid="{D5CDD505-2E9C-101B-9397-08002B2CF9AE}" pid="6" name="ArchiveClassificationPlan">
    <vt:lpwstr>1;#00 00 A classer|06ef1ee2-e7bf-4474-9d1e-c5fbf4f3b42b</vt:lpwstr>
  </property>
  <property fmtid="{D5CDD505-2E9C-101B-9397-08002B2CF9AE}" pid="7" name="ClassificationLevel">
    <vt:lpwstr>5;#Internal|86d58d27-cc8e-4bfd-a785-ea3ef4347509</vt:lpwstr>
  </property>
  <property fmtid="{D5CDD505-2E9C-101B-9397-08002B2CF9AE}" pid="8" name="ContentTypeId">
    <vt:lpwstr>0x01010004BBCBFDEBB3864BA0EFED7044CA4B2801004C8FE6902124594285FC1C1285DCF30B</vt:lpwstr>
  </property>
  <property fmtid="{D5CDD505-2E9C-101B-9397-08002B2CF9AE}" pid="9" name="MediaServiceImageTags">
    <vt:lpwstr/>
  </property>
  <property fmtid="{D5CDD505-2E9C-101B-9397-08002B2CF9AE}" pid="10" name="lcf76f155ced4ddcb4097134ff3c332f">
    <vt:lpwstr/>
  </property>
  <property fmtid="{D5CDD505-2E9C-101B-9397-08002B2CF9AE}" pid="11" name="MSIP_Label_9129a12a-aa62-47da-b212-6dbe54eb6e4b_SetDate">
    <vt:lpwstr>2023-02-01T14:15:54Z</vt:lpwstr>
  </property>
  <property fmtid="{D5CDD505-2E9C-101B-9397-08002B2CF9AE}" pid="12" name="MSIP_Label_9129a12a-aa62-47da-b212-6dbe54eb6e4b_Name">
    <vt:lpwstr>N3</vt:lpwstr>
  </property>
  <property fmtid="{D5CDD505-2E9C-101B-9397-08002B2CF9AE}" pid="13" name="MSIP_Label_9129a12a-aa62-47da-b212-6dbe54eb6e4b_SiteId">
    <vt:lpwstr>4a3d9983-e936-4837-9552-9d9126a92eb0</vt:lpwstr>
  </property>
  <property fmtid="{D5CDD505-2E9C-101B-9397-08002B2CF9AE}" pid="14" name="MSIP_Label_9129a12a-aa62-47da-b212-6dbe54eb6e4b_Method">
    <vt:lpwstr>Standard</vt:lpwstr>
  </property>
  <property fmtid="{D5CDD505-2E9C-101B-9397-08002B2CF9AE}" pid="15" name="MSIP_Label_9129a12a-aa62-47da-b212-6dbe54eb6e4b_Enabled">
    <vt:lpwstr>true</vt:lpwstr>
  </property>
  <property fmtid="{D5CDD505-2E9C-101B-9397-08002B2CF9AE}" pid="16" name="MSIP_Label_9129a12a-aa62-47da-b212-6dbe54eb6e4b_ContentBits">
    <vt:lpwstr>0</vt:lpwstr>
  </property>
  <property fmtid="{D5CDD505-2E9C-101B-9397-08002B2CF9AE}" pid="17" name="MSIP_Label_9129a12a-aa62-47da-b212-6dbe54eb6e4b_ActionId">
    <vt:lpwstr>72b2fb36-2b14-404e-9884-b37252929b96</vt:lpwstr>
  </property>
  <property fmtid="{D5CDD505-2E9C-101B-9397-08002B2CF9AE}" pid="18" name="aa574486944c4b4183531de588537b4d">
    <vt:lpwstr>Internal|86d58d27-cc8e-4bfd-a785-ea3ef4347509</vt:lpwstr>
  </property>
  <property fmtid="{D5CDD505-2E9C-101B-9397-08002B2CF9AE}" pid="19" name="xd_ProgID">
    <vt:lpwstr/>
  </property>
  <property fmtid="{D5CDD505-2E9C-101B-9397-08002B2CF9AE}" pid="20" name="_dlc_DocId">
    <vt:lpwstr>CWKSP-1572697757-1450</vt:lpwstr>
  </property>
  <property fmtid="{D5CDD505-2E9C-101B-9397-08002B2CF9AE}" pid="21" name="_SourceUrl">
    <vt:lpwstr/>
  </property>
  <property fmtid="{D5CDD505-2E9C-101B-9397-08002B2CF9AE}" pid="22" name="_SharedFileIndex">
    <vt:lpwstr/>
  </property>
  <property fmtid="{D5CDD505-2E9C-101B-9397-08002B2CF9AE}" pid="23" name="ComplianceAssetId">
    <vt:lpwstr/>
  </property>
  <property fmtid="{D5CDD505-2E9C-101B-9397-08002B2CF9AE}" pid="24" name="TemplateUrl">
    <vt:lpwstr/>
  </property>
  <property fmtid="{D5CDD505-2E9C-101B-9397-08002B2CF9AE}" pid="25" name="_ExtendedDescription">
    <vt:lpwstr/>
  </property>
  <property fmtid="{D5CDD505-2E9C-101B-9397-08002B2CF9AE}" pid="26" name="TriggerFlowInfo">
    <vt:lpwstr/>
  </property>
  <property fmtid="{D5CDD505-2E9C-101B-9397-08002B2CF9AE}" pid="27" name="_dlc_DocIdUrl">
    <vt:lpwstr>https://bouyguesconstruction.sharepoint.com/sites/bycnitbycnitdacdsarchitecture/_layouts/15/DocIdRedir.aspx?ID=CWKSP-1572697757-1450, CWKSP-1572697757-1450</vt:lpwstr>
  </property>
  <property fmtid="{D5CDD505-2E9C-101B-9397-08002B2CF9AE}" pid="28" name="ComUnityFolder">
    <vt:lpwstr>, </vt:lpwstr>
  </property>
  <property fmtid="{D5CDD505-2E9C-101B-9397-08002B2CF9AE}" pid="29" name="b1c94e71d43e47329629adb2299a7407">
    <vt:lpwstr>Projects|b7cc1373-d160-4aa3-bf26-3372b93dfcbf</vt:lpwstr>
  </property>
  <property fmtid="{D5CDD505-2E9C-101B-9397-08002B2CF9AE}" pid="30" name="xd_Signature">
    <vt:bool>false</vt:bool>
  </property>
  <property fmtid="{D5CDD505-2E9C-101B-9397-08002B2CF9AE}" pid="31" name="n052ae6ce5fe48d585b4ce219bb73d0e">
    <vt:lpwstr>Information system|8b8e0a5c-68c6-49a0-9a87-082189b363f2</vt:lpwstr>
  </property>
  <property fmtid="{D5CDD505-2E9C-101B-9397-08002B2CF9AE}" pid="32" name="b7665f99c0fe44919cb3218cc8e5302c">
    <vt:lpwstr>00 00 A classer|06ef1ee2-e7bf-4474-9d1e-c5fbf4f3b42b</vt:lpwstr>
  </property>
  <property fmtid="{D5CDD505-2E9C-101B-9397-08002B2CF9AE}" pid="33" name="bc25f8494e694b549ba275b5de656855">
    <vt:lpwstr>BYCN IT|5d3357b4-3368-461d-bd54-7eef5bc1db4c</vt:lpwstr>
  </property>
</Properties>
</file>